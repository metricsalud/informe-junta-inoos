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1.xml" ContentType="application/vnd.openxmlformats-officedocument.drawingml.chartshapes+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3.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notesSlides/notesSlide6.xml" ContentType="application/vnd.openxmlformats-officedocument.presentationml.notesSlid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1.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22.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3.xml" ContentType="application/vnd.openxmlformats-officedocument.drawingml.chart+xml"/>
  <Override PartName="/ppt/charts/style23.xml" ContentType="application/vnd.ms-office.chartstyle+xml"/>
  <Override PartName="/ppt/charts/colors23.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4.xml" ContentType="application/vnd.openxmlformats-officedocument.drawingml.chart+xml"/>
  <Override PartName="/ppt/charts/style24.xml" ContentType="application/vnd.ms-office.chartstyle+xml"/>
  <Override PartName="/ppt/charts/colors24.xml" ContentType="application/vnd.ms-office.chartcolorstyle+xml"/>
  <Override PartName="/ppt/charts/chart25.xml" ContentType="application/vnd.openxmlformats-officedocument.drawingml.chart+xml"/>
  <Override PartName="/ppt/charts/style25.xml" ContentType="application/vnd.ms-office.chartstyle+xml"/>
  <Override PartName="/ppt/charts/colors25.xml" ContentType="application/vnd.ms-office.chartcolorstyle+xml"/>
  <Override PartName="/ppt/charts/chart26.xml" ContentType="application/vnd.openxmlformats-officedocument.drawingml.chart+xml"/>
  <Override PartName="/ppt/charts/style26.xml" ContentType="application/vnd.ms-office.chartstyle+xml"/>
  <Override PartName="/ppt/charts/colors26.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7.xml" ContentType="application/vnd.openxmlformats-officedocument.drawingml.chart+xml"/>
  <Override PartName="/ppt/charts/style27.xml" ContentType="application/vnd.ms-office.chartstyle+xml"/>
  <Override PartName="/ppt/charts/colors27.xml" ContentType="application/vnd.ms-office.chartcolorstyle+xml"/>
  <Override PartName="/ppt/charts/chart28.xml" ContentType="application/vnd.openxmlformats-officedocument.drawingml.chart+xml"/>
  <Override PartName="/ppt/charts/style28.xml" ContentType="application/vnd.ms-office.chartstyle+xml"/>
  <Override PartName="/ppt/charts/colors28.xml" ContentType="application/vnd.ms-office.chartcolorstyle+xml"/>
  <Override PartName="/ppt/charts/chart29.xml" ContentType="application/vnd.openxmlformats-officedocument.drawingml.chart+xml"/>
  <Override PartName="/ppt/charts/style29.xml" ContentType="application/vnd.ms-office.chartstyle+xml"/>
  <Override PartName="/ppt/charts/colors29.xml" ContentType="application/vnd.ms-office.chartcolorstyle+xml"/>
  <Override PartName="/ppt/theme/themeOverride1.xml" ContentType="application/vnd.openxmlformats-officedocument.themeOverride+xml"/>
  <Override PartName="/ppt/charts/chart30.xml" ContentType="application/vnd.openxmlformats-officedocument.drawingml.chart+xml"/>
  <Override PartName="/ppt/charts/style30.xml" ContentType="application/vnd.ms-office.chartstyle+xml"/>
  <Override PartName="/ppt/charts/colors30.xml" ContentType="application/vnd.ms-office.chartcolorstyle+xml"/>
  <Override PartName="/ppt/theme/themeOverride2.xml" ContentType="application/vnd.openxmlformats-officedocument.themeOverride+xml"/>
  <Override PartName="/ppt/charts/chart31.xml" ContentType="application/vnd.openxmlformats-officedocument.drawingml.chart+xml"/>
  <Override PartName="/ppt/charts/style31.xml" ContentType="application/vnd.ms-office.chartstyle+xml"/>
  <Override PartName="/ppt/charts/colors31.xml" ContentType="application/vnd.ms-office.chartcolorstyle+xml"/>
  <Override PartName="/ppt/theme/themeOverride3.xml" ContentType="application/vnd.openxmlformats-officedocument.themeOverride+xml"/>
  <Override PartName="/ppt/charts/chart32.xml" ContentType="application/vnd.openxmlformats-officedocument.drawingml.chart+xml"/>
  <Override PartName="/ppt/charts/style32.xml" ContentType="application/vnd.ms-office.chartstyle+xml"/>
  <Override PartName="/ppt/charts/colors32.xml" ContentType="application/vnd.ms-office.chartcolorstyle+xml"/>
  <Override PartName="/ppt/theme/themeOverride4.xml" ContentType="application/vnd.openxmlformats-officedocument.themeOverride+xml"/>
  <Override PartName="/ppt/charts/chart33.xml" ContentType="application/vnd.openxmlformats-officedocument.drawingml.chart+xml"/>
  <Override PartName="/ppt/charts/style33.xml" ContentType="application/vnd.ms-office.chartstyle+xml"/>
  <Override PartName="/ppt/charts/colors33.xml" ContentType="application/vnd.ms-office.chartcolorstyle+xml"/>
  <Override PartName="/ppt/theme/themeOverride5.xml" ContentType="application/vnd.openxmlformats-officedocument.themeOverride+xml"/>
  <Override PartName="/ppt/charts/chart34.xml" ContentType="application/vnd.openxmlformats-officedocument.drawingml.chart+xml"/>
  <Override PartName="/ppt/charts/style34.xml" ContentType="application/vnd.ms-office.chartstyle+xml"/>
  <Override PartName="/ppt/charts/colors34.xml" ContentType="application/vnd.ms-office.chartcolorstyle+xml"/>
  <Override PartName="/ppt/theme/themeOverride6.xml" ContentType="application/vnd.openxmlformats-officedocument.themeOverride+xml"/>
  <Override PartName="/ppt/charts/chart35.xml" ContentType="application/vnd.openxmlformats-officedocument.drawingml.chart+xml"/>
  <Override PartName="/ppt/charts/style35.xml" ContentType="application/vnd.ms-office.chartstyle+xml"/>
  <Override PartName="/ppt/charts/colors35.xml" ContentType="application/vnd.ms-office.chartcolorstyle+xml"/>
  <Override PartName="/ppt/theme/themeOverride7.xml" ContentType="application/vnd.openxmlformats-officedocument.themeOverride+xml"/>
  <Override PartName="/ppt/charts/chart36.xml" ContentType="application/vnd.openxmlformats-officedocument.drawingml.chart+xml"/>
  <Override PartName="/ppt/charts/style36.xml" ContentType="application/vnd.ms-office.chartstyle+xml"/>
  <Override PartName="/ppt/charts/colors36.xml" ContentType="application/vnd.ms-office.chartcolorstyle+xml"/>
  <Override PartName="/ppt/theme/themeOverride8.xml" ContentType="application/vnd.openxmlformats-officedocument.themeOverride+xml"/>
  <Override PartName="/ppt/charts/chart37.xml" ContentType="application/vnd.openxmlformats-officedocument.drawingml.chart+xml"/>
  <Override PartName="/ppt/charts/style37.xml" ContentType="application/vnd.ms-office.chartstyle+xml"/>
  <Override PartName="/ppt/charts/colors37.xml" ContentType="application/vnd.ms-office.chartcolorstyle+xml"/>
  <Override PartName="/ppt/theme/themeOverride9.xml" ContentType="application/vnd.openxmlformats-officedocument.themeOverride+xml"/>
  <Override PartName="/ppt/charts/chart38.xml" ContentType="application/vnd.openxmlformats-officedocument.drawingml.chart+xml"/>
  <Override PartName="/ppt/charts/style38.xml" ContentType="application/vnd.ms-office.chartstyle+xml"/>
  <Override PartName="/ppt/charts/colors38.xml" ContentType="application/vnd.ms-office.chartcolorstyle+xml"/>
  <Override PartName="/ppt/theme/themeOverride10.xml" ContentType="application/vnd.openxmlformats-officedocument.themeOverride+xml"/>
  <Override PartName="/ppt/charts/chart39.xml" ContentType="application/vnd.openxmlformats-officedocument.drawingml.chart+xml"/>
  <Override PartName="/ppt/charts/style39.xml" ContentType="application/vnd.ms-office.chartstyle+xml"/>
  <Override PartName="/ppt/charts/colors39.xml" ContentType="application/vnd.ms-office.chartcolorstyle+xml"/>
  <Override PartName="/ppt/theme/themeOverride11.xml" ContentType="application/vnd.openxmlformats-officedocument.themeOverride+xml"/>
  <Override PartName="/ppt/charts/chart40.xml" ContentType="application/vnd.openxmlformats-officedocument.drawingml.chart+xml"/>
  <Override PartName="/ppt/charts/style40.xml" ContentType="application/vnd.ms-office.chartstyle+xml"/>
  <Override PartName="/ppt/charts/colors40.xml" ContentType="application/vnd.ms-office.chartcolorstyle+xml"/>
  <Override PartName="/ppt/theme/themeOverride12.xml" ContentType="application/vnd.openxmlformats-officedocument.themeOverride+xml"/>
  <Override PartName="/ppt/charts/chart41.xml" ContentType="application/vnd.openxmlformats-officedocument.drawingml.chart+xml"/>
  <Override PartName="/ppt/charts/style41.xml" ContentType="application/vnd.ms-office.chartstyle+xml"/>
  <Override PartName="/ppt/charts/colors41.xml" ContentType="application/vnd.ms-office.chartcolorstyle+xml"/>
  <Override PartName="/ppt/theme/themeOverride13.xml" ContentType="application/vnd.openxmlformats-officedocument.themeOverride+xml"/>
  <Override PartName="/ppt/charts/chart42.xml" ContentType="application/vnd.openxmlformats-officedocument.drawingml.chart+xml"/>
  <Override PartName="/ppt/charts/style42.xml" ContentType="application/vnd.ms-office.chartstyle+xml"/>
  <Override PartName="/ppt/charts/colors42.xml" ContentType="application/vnd.ms-office.chartcolorstyle+xml"/>
  <Override PartName="/ppt/theme/themeOverride14.xml" ContentType="application/vnd.openxmlformats-officedocument.themeOverride+xml"/>
  <Override PartName="/ppt/charts/chart43.xml" ContentType="application/vnd.openxmlformats-officedocument.drawingml.chart+xml"/>
  <Override PartName="/ppt/charts/style43.xml" ContentType="application/vnd.ms-office.chartstyle+xml"/>
  <Override PartName="/ppt/charts/colors43.xml" ContentType="application/vnd.ms-office.chartcolorstyle+xml"/>
  <Override PartName="/ppt/charts/chart44.xml" ContentType="application/vnd.openxmlformats-officedocument.drawingml.chart+xml"/>
  <Override PartName="/ppt/charts/style44.xml" ContentType="application/vnd.ms-office.chartstyle+xml"/>
  <Override PartName="/ppt/charts/colors44.xml" ContentType="application/vnd.ms-office.chartcolorstyle+xml"/>
  <Override PartName="/ppt/theme/themeOverride15.xml" ContentType="application/vnd.openxmlformats-officedocument.themeOverride+xml"/>
  <Override PartName="/ppt/charts/chart45.xml" ContentType="application/vnd.openxmlformats-officedocument.drawingml.chart+xml"/>
  <Override PartName="/ppt/charts/style45.xml" ContentType="application/vnd.ms-office.chartstyle+xml"/>
  <Override PartName="/ppt/charts/colors45.xml" ContentType="application/vnd.ms-office.chartcolorstyl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46.xml" ContentType="application/vnd.openxmlformats-officedocument.drawingml.chart+xml"/>
  <Override PartName="/ppt/charts/style46.xml" ContentType="application/vnd.ms-office.chartstyle+xml"/>
  <Override PartName="/ppt/charts/colors46.xml" ContentType="application/vnd.ms-office.chartcolorstyle+xml"/>
  <Override PartName="/ppt/charts/chart47.xml" ContentType="application/vnd.openxmlformats-officedocument.drawingml.chart+xml"/>
  <Override PartName="/ppt/charts/style47.xml" ContentType="application/vnd.ms-office.chartstyle+xml"/>
  <Override PartName="/ppt/charts/colors47.xml" ContentType="application/vnd.ms-office.chartcolorstyle+xml"/>
  <Override PartName="/ppt/notesSlides/notesSlide11.xml" ContentType="application/vnd.openxmlformats-officedocument.presentationml.notesSlide+xml"/>
  <Override PartName="/ppt/charts/chart48.xml" ContentType="application/vnd.openxmlformats-officedocument.drawingml.chart+xml"/>
  <Override PartName="/ppt/charts/style48.xml" ContentType="application/vnd.ms-office.chartstyle+xml"/>
  <Override PartName="/ppt/charts/colors48.xml" ContentType="application/vnd.ms-office.chartcolorstyle+xml"/>
  <Override PartName="/ppt/charts/chart49.xml" ContentType="application/vnd.openxmlformats-officedocument.drawingml.chart+xml"/>
  <Override PartName="/ppt/charts/style49.xml" ContentType="application/vnd.ms-office.chartstyle+xml"/>
  <Override PartName="/ppt/charts/colors49.xml" ContentType="application/vnd.ms-office.chartcolorstyle+xml"/>
  <Override PartName="/ppt/notesSlides/notesSlide12.xml" ContentType="application/vnd.openxmlformats-officedocument.presentationml.notesSlide+xml"/>
  <Override PartName="/ppt/charts/chart50.xml" ContentType="application/vnd.openxmlformats-officedocument.drawingml.chart+xml"/>
  <Override PartName="/ppt/charts/style50.xml" ContentType="application/vnd.ms-office.chartstyle+xml"/>
  <Override PartName="/ppt/charts/colors50.xml" ContentType="application/vnd.ms-office.chartcolorstyle+xml"/>
  <Override PartName="/ppt/charts/chart51.xml" ContentType="application/vnd.openxmlformats-officedocument.drawingml.chart+xml"/>
  <Override PartName="/ppt/charts/style51.xml" ContentType="application/vnd.ms-office.chartstyle+xml"/>
  <Override PartName="/ppt/charts/colors51.xml" ContentType="application/vnd.ms-office.chartcolorstyle+xml"/>
  <Override PartName="/ppt/charts/chart52.xml" ContentType="application/vnd.openxmlformats-officedocument.drawingml.chart+xml"/>
  <Override PartName="/ppt/charts/style52.xml" ContentType="application/vnd.ms-office.chartstyle+xml"/>
  <Override PartName="/ppt/charts/colors52.xml" ContentType="application/vnd.ms-office.chartcolorstyle+xml"/>
  <Override PartName="/ppt/charts/chart53.xml" ContentType="application/vnd.openxmlformats-officedocument.drawingml.chart+xml"/>
  <Override PartName="/ppt/charts/style53.xml" ContentType="application/vnd.ms-office.chartstyle+xml"/>
  <Override PartName="/ppt/charts/colors53.xml" ContentType="application/vnd.ms-office.chartcolorstyle+xml"/>
  <Override PartName="/ppt/charts/chart54.xml" ContentType="application/vnd.openxmlformats-officedocument.drawingml.chart+xml"/>
  <Override PartName="/ppt/charts/style54.xml" ContentType="application/vnd.ms-office.chartstyle+xml"/>
  <Override PartName="/ppt/charts/colors54.xml" ContentType="application/vnd.ms-office.chartcolorstyl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55.xml" ContentType="application/vnd.openxmlformats-officedocument.drawingml.chart+xml"/>
  <Override PartName="/ppt/charts/style55.xml" ContentType="application/vnd.ms-office.chartstyle+xml"/>
  <Override PartName="/ppt/charts/colors55.xml" ContentType="application/vnd.ms-office.chartcolorstyle+xml"/>
  <Override PartName="/ppt/charts/chart56.xml" ContentType="application/vnd.openxmlformats-officedocument.drawingml.chart+xml"/>
  <Override PartName="/ppt/charts/style56.xml" ContentType="application/vnd.ms-office.chartstyle+xml"/>
  <Override PartName="/ppt/charts/colors56.xml" ContentType="application/vnd.ms-office.chartcolorstyle+xml"/>
  <Override PartName="/ppt/charts/chart57.xml" ContentType="application/vnd.openxmlformats-officedocument.drawingml.chart+xml"/>
  <Override PartName="/ppt/charts/style57.xml" ContentType="application/vnd.ms-office.chartstyle+xml"/>
  <Override PartName="/ppt/charts/colors57.xml" ContentType="application/vnd.ms-office.chartcolorstyle+xml"/>
  <Override PartName="/ppt/charts/chart58.xml" ContentType="application/vnd.openxmlformats-officedocument.drawingml.chart+xml"/>
  <Override PartName="/ppt/charts/style58.xml" ContentType="application/vnd.ms-office.chartstyle+xml"/>
  <Override PartName="/ppt/charts/colors58.xml" ContentType="application/vnd.ms-office.chartcolorstyle+xml"/>
  <Override PartName="/ppt/charts/chart59.xml" ContentType="application/vnd.openxmlformats-officedocument.drawingml.chart+xml"/>
  <Override PartName="/ppt/charts/style59.xml" ContentType="application/vnd.ms-office.chartstyle+xml"/>
  <Override PartName="/ppt/charts/colors59.xml" ContentType="application/vnd.ms-office.chartcolorstyle+xml"/>
  <Override PartName="/ppt/charts/chart60.xml" ContentType="application/vnd.openxmlformats-officedocument.drawingml.chart+xml"/>
  <Override PartName="/ppt/charts/style60.xml" ContentType="application/vnd.ms-office.chartstyle+xml"/>
  <Override PartName="/ppt/charts/colors60.xml" ContentType="application/vnd.ms-office.chartcolorstyle+xml"/>
  <Override PartName="/ppt/charts/chart61.xml" ContentType="application/vnd.openxmlformats-officedocument.drawingml.chart+xml"/>
  <Override PartName="/ppt/charts/style61.xml" ContentType="application/vnd.ms-office.chartstyle+xml"/>
  <Override PartName="/ppt/charts/colors61.xml" ContentType="application/vnd.ms-office.chartcolorstyle+xml"/>
  <Override PartName="/ppt/charts/chart62.xml" ContentType="application/vnd.openxmlformats-officedocument.drawingml.chart+xml"/>
  <Override PartName="/ppt/charts/style62.xml" ContentType="application/vnd.ms-office.chartstyle+xml"/>
  <Override PartName="/ppt/charts/colors62.xml" ContentType="application/vnd.ms-office.chartcolorstyle+xml"/>
  <Override PartName="/ppt/notesSlides/notesSlide15.xml" ContentType="application/vnd.openxmlformats-officedocument.presentationml.notesSlide+xml"/>
  <Override PartName="/ppt/charts/chart63.xml" ContentType="application/vnd.openxmlformats-officedocument.drawingml.chart+xml"/>
  <Override PartName="/ppt/charts/style63.xml" ContentType="application/vnd.ms-office.chartstyle+xml"/>
  <Override PartName="/ppt/charts/colors63.xml" ContentType="application/vnd.ms-office.chartcolorstyl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64.xml" ContentType="application/vnd.openxmlformats-officedocument.drawingml.chart+xml"/>
  <Override PartName="/ppt/charts/style64.xml" ContentType="application/vnd.ms-office.chartstyle+xml"/>
  <Override PartName="/ppt/charts/colors64.xml" ContentType="application/vnd.ms-office.chartcolorstyle+xml"/>
  <Override PartName="/ppt/charts/chart65.xml" ContentType="application/vnd.openxmlformats-officedocument.drawingml.chart+xml"/>
  <Override PartName="/ppt/charts/style65.xml" ContentType="application/vnd.ms-office.chartstyle+xml"/>
  <Override PartName="/ppt/charts/colors65.xml" ContentType="application/vnd.ms-office.chartcolorstyle+xml"/>
  <Override PartName="/ppt/charts/chart66.xml" ContentType="application/vnd.openxmlformats-officedocument.drawingml.chart+xml"/>
  <Override PartName="/ppt/charts/style66.xml" ContentType="application/vnd.ms-office.chartstyle+xml"/>
  <Override PartName="/ppt/charts/colors66.xml" ContentType="application/vnd.ms-office.chartcolorstyle+xml"/>
  <Override PartName="/ppt/charts/chart67.xml" ContentType="application/vnd.openxmlformats-officedocument.drawingml.chart+xml"/>
  <Override PartName="/ppt/charts/style67.xml" ContentType="application/vnd.ms-office.chartstyle+xml"/>
  <Override PartName="/ppt/charts/colors67.xml" ContentType="application/vnd.ms-office.chartcolorstyle+xml"/>
  <Override PartName="/ppt/charts/chart68.xml" ContentType="application/vnd.openxmlformats-officedocument.drawingml.chart+xml"/>
  <Override PartName="/ppt/charts/style68.xml" ContentType="application/vnd.ms-office.chartstyle+xml"/>
  <Override PartName="/ppt/charts/colors68.xml" ContentType="application/vnd.ms-office.chartcolorstyle+xml"/>
  <Override PartName="/ppt/charts/chart69.xml" ContentType="application/vnd.openxmlformats-officedocument.drawingml.chart+xml"/>
  <Override PartName="/ppt/charts/style69.xml" ContentType="application/vnd.ms-office.chartstyle+xml"/>
  <Override PartName="/ppt/charts/colors69.xml" ContentType="application/vnd.ms-office.chartcolorstyle+xml"/>
  <Override PartName="/ppt/charts/chart70.xml" ContentType="application/vnd.openxmlformats-officedocument.drawingml.chart+xml"/>
  <Override PartName="/ppt/charts/style70.xml" ContentType="application/vnd.ms-office.chartstyle+xml"/>
  <Override PartName="/ppt/charts/colors70.xml" ContentType="application/vnd.ms-office.chartcolorstyle+xml"/>
  <Override PartName="/ppt/theme/themeOverride16.xml" ContentType="application/vnd.openxmlformats-officedocument.themeOverride+xml"/>
  <Override PartName="/ppt/charts/chart71.xml" ContentType="application/vnd.openxmlformats-officedocument.drawingml.chart+xml"/>
  <Override PartName="/ppt/charts/style71.xml" ContentType="application/vnd.ms-office.chartstyle+xml"/>
  <Override PartName="/ppt/charts/colors71.xml" ContentType="application/vnd.ms-office.chartcolorstyle+xml"/>
  <Override PartName="/ppt/theme/themeOverride17.xml" ContentType="application/vnd.openxmlformats-officedocument.themeOverride+xml"/>
  <Override PartName="/ppt/charts/chart72.xml" ContentType="application/vnd.openxmlformats-officedocument.drawingml.chart+xml"/>
  <Override PartName="/ppt/charts/style72.xml" ContentType="application/vnd.ms-office.chartstyle+xml"/>
  <Override PartName="/ppt/charts/colors72.xml" ContentType="application/vnd.ms-office.chartcolorstyle+xml"/>
  <Override PartName="/ppt/theme/themeOverride18.xml" ContentType="application/vnd.openxmlformats-officedocument.themeOverride+xml"/>
  <Override PartName="/ppt/notesSlides/notesSlide18.xml" ContentType="application/vnd.openxmlformats-officedocument.presentationml.notesSlide+xml"/>
  <Override PartName="/ppt/charts/chart73.xml" ContentType="application/vnd.openxmlformats-officedocument.drawingml.chart+xml"/>
  <Override PartName="/ppt/charts/style73.xml" ContentType="application/vnd.ms-office.chartstyle+xml"/>
  <Override PartName="/ppt/charts/colors73.xml" ContentType="application/vnd.ms-office.chartcolorstyle+xml"/>
  <Override PartName="/ppt/notesSlides/notesSlide1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rts/chart74.xml" ContentType="application/vnd.openxmlformats-officedocument.drawingml.chart+xml"/>
  <Override PartName="/ppt/charts/style74.xml" ContentType="application/vnd.ms-office.chartstyle+xml"/>
  <Override PartName="/ppt/charts/colors74.xml" ContentType="application/vnd.ms-office.chartcolorstyle+xml"/>
  <Override PartName="/ppt/notesSlides/notesSlide20.xml" ContentType="application/vnd.openxmlformats-officedocument.presentationml.notesSlide+xml"/>
  <Override PartName="/ppt/charts/chart75.xml" ContentType="application/vnd.openxmlformats-officedocument.drawingml.chart+xml"/>
  <Override PartName="/ppt/charts/style75.xml" ContentType="application/vnd.ms-office.chartstyle+xml"/>
  <Override PartName="/ppt/charts/colors75.xml" ContentType="application/vnd.ms-office.chartcolorstyle+xml"/>
  <Override PartName="/ppt/charts/chart76.xml" ContentType="application/vnd.openxmlformats-officedocument.drawingml.chart+xml"/>
  <Override PartName="/ppt/charts/style76.xml" ContentType="application/vnd.ms-office.chartstyle+xml"/>
  <Override PartName="/ppt/charts/colors76.xml" ContentType="application/vnd.ms-office.chartcolorstyle+xml"/>
  <Override PartName="/ppt/charts/chart77.xml" ContentType="application/vnd.openxmlformats-officedocument.drawingml.chart+xml"/>
  <Override PartName="/ppt/charts/style77.xml" ContentType="application/vnd.ms-office.chartstyle+xml"/>
  <Override PartName="/ppt/charts/colors77.xml" ContentType="application/vnd.ms-office.chartcolorstyle+xml"/>
  <Override PartName="/ppt/charts/chart78.xml" ContentType="application/vnd.openxmlformats-officedocument.drawingml.chart+xml"/>
  <Override PartName="/ppt/charts/style78.xml" ContentType="application/vnd.ms-office.chartstyle+xml"/>
  <Override PartName="/ppt/charts/colors78.xml" ContentType="application/vnd.ms-office.chartcolorstyle+xml"/>
  <Override PartName="/ppt/charts/chart79.xml" ContentType="application/vnd.openxmlformats-officedocument.drawingml.chart+xml"/>
  <Override PartName="/ppt/charts/style79.xml" ContentType="application/vnd.ms-office.chartstyle+xml"/>
  <Override PartName="/ppt/charts/colors79.xml" ContentType="application/vnd.ms-office.chartcolorstyle+xml"/>
  <Override PartName="/ppt/charts/chart80.xml" ContentType="application/vnd.openxmlformats-officedocument.drawingml.chart+xml"/>
  <Override PartName="/ppt/charts/style80.xml" ContentType="application/vnd.ms-office.chartstyle+xml"/>
  <Override PartName="/ppt/charts/colors80.xml" ContentType="application/vnd.ms-office.chartcolorstyle+xml"/>
  <Override PartName="/ppt/notesSlides/notesSlide21.xml" ContentType="application/vnd.openxmlformats-officedocument.presentationml.notesSlide+xml"/>
  <Override PartName="/ppt/charts/chart81.xml" ContentType="application/vnd.openxmlformats-officedocument.drawingml.chart+xml"/>
  <Override PartName="/ppt/charts/style81.xml" ContentType="application/vnd.ms-office.chartstyle+xml"/>
  <Override PartName="/ppt/charts/colors81.xml" ContentType="application/vnd.ms-office.chartcolorstyle+xml"/>
  <Override PartName="/ppt/charts/chart82.xml" ContentType="application/vnd.openxmlformats-officedocument.drawingml.chart+xml"/>
  <Override PartName="/ppt/charts/style82.xml" ContentType="application/vnd.ms-office.chartstyle+xml"/>
  <Override PartName="/ppt/charts/colors82.xml" ContentType="application/vnd.ms-office.chartcolorstyle+xml"/>
  <Override PartName="/ppt/charts/chart83.xml" ContentType="application/vnd.openxmlformats-officedocument.drawingml.chart+xml"/>
  <Override PartName="/ppt/charts/style83.xml" ContentType="application/vnd.ms-office.chartstyle+xml"/>
  <Override PartName="/ppt/charts/colors83.xml" ContentType="application/vnd.ms-office.chartcolorstyle+xml"/>
  <Override PartName="/ppt/charts/chart84.xml" ContentType="application/vnd.openxmlformats-officedocument.drawingml.chart+xml"/>
  <Override PartName="/ppt/charts/style84.xml" ContentType="application/vnd.ms-office.chartstyle+xml"/>
  <Override PartName="/ppt/charts/colors84.xml" ContentType="application/vnd.ms-office.chartcolorstyle+xml"/>
  <Override PartName="/ppt/charts/chart85.xml" ContentType="application/vnd.openxmlformats-officedocument.drawingml.chart+xml"/>
  <Override PartName="/ppt/charts/style85.xml" ContentType="application/vnd.ms-office.chartstyle+xml"/>
  <Override PartName="/ppt/charts/colors85.xml" ContentType="application/vnd.ms-office.chartcolorstyle+xml"/>
  <Override PartName="/ppt/charts/chart86.xml" ContentType="application/vnd.openxmlformats-officedocument.drawingml.chart+xml"/>
  <Override PartName="/ppt/charts/style86.xml" ContentType="application/vnd.ms-office.chartstyle+xml"/>
  <Override PartName="/ppt/charts/colors86.xml" ContentType="application/vnd.ms-office.chartcolorstyle+xml"/>
  <Override PartName="/ppt/charts/chart87.xml" ContentType="application/vnd.openxmlformats-officedocument.drawingml.chart+xml"/>
  <Override PartName="/ppt/charts/style87.xml" ContentType="application/vnd.ms-office.chartstyle+xml"/>
  <Override PartName="/ppt/charts/colors87.xml" ContentType="application/vnd.ms-office.chartcolorstyle+xml"/>
  <Override PartName="/ppt/notesSlides/notesSlide22.xml" ContentType="application/vnd.openxmlformats-officedocument.presentationml.notesSlide+xml"/>
  <Override PartName="/ppt/charts/chart88.xml" ContentType="application/vnd.openxmlformats-officedocument.drawingml.chart+xml"/>
  <Override PartName="/ppt/charts/style88.xml" ContentType="application/vnd.ms-office.chartstyle+xml"/>
  <Override PartName="/ppt/charts/colors88.xml" ContentType="application/vnd.ms-office.chartcolorstyl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89.xml" ContentType="application/vnd.openxmlformats-officedocument.drawingml.chart+xml"/>
  <Override PartName="/ppt/charts/style89.xml" ContentType="application/vnd.ms-office.chartstyle+xml"/>
  <Override PartName="/ppt/charts/colors89.xml" ContentType="application/vnd.ms-office.chartcolorstyle+xml"/>
  <Override PartName="/ppt/notesSlides/notesSlide26.xml" ContentType="application/vnd.openxmlformats-officedocument.presentationml.notesSlide+xml"/>
  <Override PartName="/ppt/charts/chart90.xml" ContentType="application/vnd.openxmlformats-officedocument.drawingml.chart+xml"/>
  <Override PartName="/ppt/charts/style90.xml" ContentType="application/vnd.ms-office.chartstyle+xml"/>
  <Override PartName="/ppt/charts/colors90.xml" ContentType="application/vnd.ms-office.chartcolorstyle+xml"/>
  <Override PartName="/ppt/charts/chart91.xml" ContentType="application/vnd.openxmlformats-officedocument.drawingml.chart+xml"/>
  <Override PartName="/ppt/charts/style91.xml" ContentType="application/vnd.ms-office.chartstyle+xml"/>
  <Override PartName="/ppt/charts/colors91.xml" ContentType="application/vnd.ms-office.chartcolorstyle+xml"/>
  <Override PartName="/ppt/charts/chart92.xml" ContentType="application/vnd.openxmlformats-officedocument.drawingml.chart+xml"/>
  <Override PartName="/ppt/charts/style92.xml" ContentType="application/vnd.ms-office.chartstyle+xml"/>
  <Override PartName="/ppt/charts/colors92.xml" ContentType="application/vnd.ms-office.chartcolorstyle+xml"/>
  <Override PartName="/ppt/charts/chart93.xml" ContentType="application/vnd.openxmlformats-officedocument.drawingml.chart+xml"/>
  <Override PartName="/ppt/charts/style93.xml" ContentType="application/vnd.ms-office.chartstyle+xml"/>
  <Override PartName="/ppt/charts/colors93.xml" ContentType="application/vnd.ms-office.chartcolorstyle+xml"/>
  <Override PartName="/ppt/charts/chart94.xml" ContentType="application/vnd.openxmlformats-officedocument.drawingml.chart+xml"/>
  <Override PartName="/ppt/charts/style94.xml" ContentType="application/vnd.ms-office.chartstyle+xml"/>
  <Override PartName="/ppt/charts/colors94.xml" ContentType="application/vnd.ms-office.chartcolorstyle+xml"/>
  <Override PartName="/ppt/charts/chart95.xml" ContentType="application/vnd.openxmlformats-officedocument.drawingml.chart+xml"/>
  <Override PartName="/ppt/charts/style95.xml" ContentType="application/vnd.ms-office.chartstyle+xml"/>
  <Override PartName="/ppt/charts/colors95.xml" ContentType="application/vnd.ms-office.chartcolorstyle+xml"/>
  <Override PartName="/ppt/theme/themeOverride19.xml" ContentType="application/vnd.openxmlformats-officedocument.themeOverride+xml"/>
  <Override PartName="/ppt/charts/chart96.xml" ContentType="application/vnd.openxmlformats-officedocument.drawingml.chart+xml"/>
  <Override PartName="/ppt/charts/style96.xml" ContentType="application/vnd.ms-office.chartstyle+xml"/>
  <Override PartName="/ppt/charts/colors96.xml" ContentType="application/vnd.ms-office.chartcolorstyle+xml"/>
  <Override PartName="/ppt/theme/themeOverride20.xml" ContentType="application/vnd.openxmlformats-officedocument.themeOverride+xml"/>
  <Override PartName="/ppt/charts/chart97.xml" ContentType="application/vnd.openxmlformats-officedocument.drawingml.chart+xml"/>
  <Override PartName="/ppt/charts/style97.xml" ContentType="application/vnd.ms-office.chartstyle+xml"/>
  <Override PartName="/ppt/charts/colors97.xml" ContentType="application/vnd.ms-office.chartcolorstyle+xml"/>
  <Override PartName="/ppt/theme/themeOverride21.xml" ContentType="application/vnd.openxmlformats-officedocument.themeOverride+xml"/>
  <Override PartName="/ppt/notesSlides/notesSlide27.xml" ContentType="application/vnd.openxmlformats-officedocument.presentationml.notesSlide+xml"/>
  <Override PartName="/ppt/charts/chart98.xml" ContentType="application/vnd.openxmlformats-officedocument.drawingml.chart+xml"/>
  <Override PartName="/ppt/charts/style98.xml" ContentType="application/vnd.ms-office.chartstyle+xml"/>
  <Override PartName="/ppt/charts/colors98.xml" ContentType="application/vnd.ms-office.chartcolorstyle+xml"/>
  <Override PartName="/ppt/notesSlides/notesSlide2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rts/chart99.xml" ContentType="application/vnd.openxmlformats-officedocument.drawingml.chart+xml"/>
  <Override PartName="/ppt/charts/style99.xml" ContentType="application/vnd.ms-office.chartstyle+xml"/>
  <Override PartName="/ppt/charts/colors99.xml" ContentType="application/vnd.ms-office.chartcolorstyle+xml"/>
  <Override PartName="/ppt/charts/chart100.xml" ContentType="application/vnd.openxmlformats-officedocument.drawingml.chart+xml"/>
  <Override PartName="/ppt/charts/style100.xml" ContentType="application/vnd.ms-office.chartstyle+xml"/>
  <Override PartName="/ppt/charts/colors100.xml" ContentType="application/vnd.ms-office.chartcolorstyle+xml"/>
  <Override PartName="/ppt/charts/chart101.xml" ContentType="application/vnd.openxmlformats-officedocument.drawingml.chart+xml"/>
  <Override PartName="/ppt/charts/style101.xml" ContentType="application/vnd.ms-office.chartstyle+xml"/>
  <Override PartName="/ppt/charts/colors101.xml" ContentType="application/vnd.ms-office.chartcolorstyle+xml"/>
  <Override PartName="/ppt/notesSlides/notesSlide29.xml" ContentType="application/vnd.openxmlformats-officedocument.presentationml.notesSlide+xml"/>
  <Override PartName="/ppt/charts/chart102.xml" ContentType="application/vnd.openxmlformats-officedocument.drawingml.chart+xml"/>
  <Override PartName="/ppt/charts/style102.xml" ContentType="application/vnd.ms-office.chartstyle+xml"/>
  <Override PartName="/ppt/charts/colors102.xml" ContentType="application/vnd.ms-office.chartcolorstyle+xml"/>
  <Override PartName="/ppt/charts/chart103.xml" ContentType="application/vnd.openxmlformats-officedocument.drawingml.chart+xml"/>
  <Override PartName="/ppt/charts/style103.xml" ContentType="application/vnd.ms-office.chartstyle+xml"/>
  <Override PartName="/ppt/charts/colors103.xml" ContentType="application/vnd.ms-office.chartcolorstyle+xml"/>
  <Override PartName="/ppt/charts/chart104.xml" ContentType="application/vnd.openxmlformats-officedocument.drawingml.chart+xml"/>
  <Override PartName="/ppt/charts/style104.xml" ContentType="application/vnd.ms-office.chartstyle+xml"/>
  <Override PartName="/ppt/charts/colors104.xml" ContentType="application/vnd.ms-office.chartcolorstyle+xml"/>
  <Override PartName="/ppt/notesSlides/notesSlide30.xml" ContentType="application/vnd.openxmlformats-officedocument.presentationml.notesSlide+xml"/>
  <Override PartName="/ppt/charts/chart105.xml" ContentType="application/vnd.openxmlformats-officedocument.drawingml.chart+xml"/>
  <Override PartName="/ppt/charts/style105.xml" ContentType="application/vnd.ms-office.chartstyle+xml"/>
  <Override PartName="/ppt/charts/colors105.xml" ContentType="application/vnd.ms-office.chartcolorstyl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rts/chart106.xml" ContentType="application/vnd.openxmlformats-officedocument.drawingml.chart+xml"/>
  <Override PartName="/ppt/charts/style106.xml" ContentType="application/vnd.ms-office.chartstyle+xml"/>
  <Override PartName="/ppt/charts/colors106.xml" ContentType="application/vnd.ms-office.chartcolorstyle+xml"/>
  <Override PartName="/ppt/charts/chart107.xml" ContentType="application/vnd.openxmlformats-officedocument.drawingml.chart+xml"/>
  <Override PartName="/ppt/charts/style107.xml" ContentType="application/vnd.ms-office.chartstyle+xml"/>
  <Override PartName="/ppt/charts/colors107.xml" ContentType="application/vnd.ms-office.chartcolorstyle+xml"/>
  <Override PartName="/ppt/charts/chart108.xml" ContentType="application/vnd.openxmlformats-officedocument.drawingml.chart+xml"/>
  <Override PartName="/ppt/charts/style108.xml" ContentType="application/vnd.ms-office.chartstyle+xml"/>
  <Override PartName="/ppt/charts/colors108.xml" ContentType="application/vnd.ms-office.chartcolorstyle+xml"/>
  <Override PartName="/ppt/charts/chart109.xml" ContentType="application/vnd.openxmlformats-officedocument.drawingml.chart+xml"/>
  <Override PartName="/ppt/charts/style109.xml" ContentType="application/vnd.ms-office.chartstyle+xml"/>
  <Override PartName="/ppt/charts/colors109.xml" ContentType="application/vnd.ms-office.chartcolorstyle+xml"/>
  <Override PartName="/ppt/charts/chart110.xml" ContentType="application/vnd.openxmlformats-officedocument.drawingml.chart+xml"/>
  <Override PartName="/ppt/charts/style110.xml" ContentType="application/vnd.ms-office.chartstyle+xml"/>
  <Override PartName="/ppt/charts/colors110.xml" ContentType="application/vnd.ms-office.chartcolorstyle+xml"/>
  <Override PartName="/ppt/charts/chart111.xml" ContentType="application/vnd.openxmlformats-officedocument.drawingml.chart+xml"/>
  <Override PartName="/ppt/charts/style111.xml" ContentType="application/vnd.ms-office.chartstyle+xml"/>
  <Override PartName="/ppt/charts/colors111.xml" ContentType="application/vnd.ms-office.chartcolorstyle+xml"/>
  <Override PartName="/ppt/charts/chart112.xml" ContentType="application/vnd.openxmlformats-officedocument.drawingml.chart+xml"/>
  <Override PartName="/ppt/charts/style112.xml" ContentType="application/vnd.ms-office.chartstyle+xml"/>
  <Override PartName="/ppt/charts/colors112.xml" ContentType="application/vnd.ms-office.chartcolorstyle+xml"/>
  <Override PartName="/ppt/charts/chart113.xml" ContentType="application/vnd.openxmlformats-officedocument.drawingml.chart+xml"/>
  <Override PartName="/ppt/charts/style113.xml" ContentType="application/vnd.ms-office.chartstyle+xml"/>
  <Override PartName="/ppt/charts/colors113.xml" ContentType="application/vnd.ms-office.chartcolorstyl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rts/chart114.xml" ContentType="application/vnd.openxmlformats-officedocument.drawingml.chart+xml"/>
  <Override PartName="/ppt/charts/style114.xml" ContentType="application/vnd.ms-office.chartstyle+xml"/>
  <Override PartName="/ppt/charts/colors114.xml" ContentType="application/vnd.ms-office.chartcolorstyle+xml"/>
  <Override PartName="/ppt/notesSlides/notesSlide35.xml" ContentType="application/vnd.openxmlformats-officedocument.presentationml.notesSlide+xml"/>
  <Override PartName="/ppt/charts/chart115.xml" ContentType="application/vnd.openxmlformats-officedocument.drawingml.chart+xml"/>
  <Override PartName="/ppt/charts/style115.xml" ContentType="application/vnd.ms-office.chartstyle+xml"/>
  <Override PartName="/ppt/charts/colors115.xml" ContentType="application/vnd.ms-office.chartcolorstyle+xml"/>
  <Override PartName="/ppt/charts/chart116.xml" ContentType="application/vnd.openxmlformats-officedocument.drawingml.chart+xml"/>
  <Override PartName="/ppt/charts/style116.xml" ContentType="application/vnd.ms-office.chartstyle+xml"/>
  <Override PartName="/ppt/charts/colors116.xml" ContentType="application/vnd.ms-office.chartcolorstyle+xml"/>
  <Override PartName="/ppt/charts/chart117.xml" ContentType="application/vnd.openxmlformats-officedocument.drawingml.chart+xml"/>
  <Override PartName="/ppt/charts/style117.xml" ContentType="application/vnd.ms-office.chartstyle+xml"/>
  <Override PartName="/ppt/charts/colors117.xml" ContentType="application/vnd.ms-office.chartcolorstyle+xml"/>
  <Override PartName="/ppt/charts/chart118.xml" ContentType="application/vnd.openxmlformats-officedocument.drawingml.chart+xml"/>
  <Override PartName="/ppt/charts/style118.xml" ContentType="application/vnd.ms-office.chartstyle+xml"/>
  <Override PartName="/ppt/charts/colors118.xml" ContentType="application/vnd.ms-office.chartcolorstyle+xml"/>
  <Override PartName="/ppt/charts/chart119.xml" ContentType="application/vnd.openxmlformats-officedocument.drawingml.chart+xml"/>
  <Override PartName="/ppt/charts/style119.xml" ContentType="application/vnd.ms-office.chartstyle+xml"/>
  <Override PartName="/ppt/charts/colors119.xml" ContentType="application/vnd.ms-office.chartcolorstyle+xml"/>
  <Override PartName="/ppt/charts/chart120.xml" ContentType="application/vnd.openxmlformats-officedocument.drawingml.chart+xml"/>
  <Override PartName="/ppt/charts/style120.xml" ContentType="application/vnd.ms-office.chartstyle+xml"/>
  <Override PartName="/ppt/charts/colors120.xml" ContentType="application/vnd.ms-office.chartcolorstyle+xml"/>
  <Override PartName="/ppt/charts/chart121.xml" ContentType="application/vnd.openxmlformats-officedocument.drawingml.chart+xml"/>
  <Override PartName="/ppt/charts/style121.xml" ContentType="application/vnd.ms-office.chartstyle+xml"/>
  <Override PartName="/ppt/charts/colors121.xml" ContentType="application/vnd.ms-office.chartcolorstyle+xml"/>
  <Override PartName="/ppt/charts/chart122.xml" ContentType="application/vnd.openxmlformats-officedocument.drawingml.chart+xml"/>
  <Override PartName="/ppt/charts/style122.xml" ContentType="application/vnd.ms-office.chartstyle+xml"/>
  <Override PartName="/ppt/charts/colors122.xml" ContentType="application/vnd.ms-office.chartcolorstyle+xml"/>
  <Override PartName="/ppt/charts/chart123.xml" ContentType="application/vnd.openxmlformats-officedocument.drawingml.chart+xml"/>
  <Override PartName="/ppt/charts/style123.xml" ContentType="application/vnd.ms-office.chartstyle+xml"/>
  <Override PartName="/ppt/charts/colors123.xml" ContentType="application/vnd.ms-office.chartcolorstyle+xml"/>
  <Override PartName="/ppt/theme/themeOverride22.xml" ContentType="application/vnd.openxmlformats-officedocument.themeOverride+xml"/>
  <Override PartName="/ppt/charts/chart124.xml" ContentType="application/vnd.openxmlformats-officedocument.drawingml.chart+xml"/>
  <Override PartName="/ppt/charts/style124.xml" ContentType="application/vnd.ms-office.chartstyle+xml"/>
  <Override PartName="/ppt/charts/colors124.xml" ContentType="application/vnd.ms-office.chartcolorstyle+xml"/>
  <Override PartName="/ppt/theme/themeOverride23.xml" ContentType="application/vnd.openxmlformats-officedocument.themeOverride+xml"/>
  <Override PartName="/ppt/notesSlides/notesSlide36.xml" ContentType="application/vnd.openxmlformats-officedocument.presentationml.notesSlide+xml"/>
  <Override PartName="/ppt/charts/chart125.xml" ContentType="application/vnd.openxmlformats-officedocument.drawingml.chart+xml"/>
  <Override PartName="/ppt/charts/style125.xml" ContentType="application/vnd.ms-office.chartstyle+xml"/>
  <Override PartName="/ppt/charts/colors125.xml" ContentType="application/vnd.ms-office.chartcolorstyle+xml"/>
  <Override PartName="/ppt/notesSlides/notesSlide37.xml" ContentType="application/vnd.openxmlformats-officedocument.presentationml.notesSlide+xml"/>
  <Override PartName="/ppt/charts/chart126.xml" ContentType="application/vnd.openxmlformats-officedocument.drawingml.chart+xml"/>
  <Override PartName="/ppt/charts/style126.xml" ContentType="application/vnd.ms-office.chartstyle+xml"/>
  <Override PartName="/ppt/charts/colors126.xml" ContentType="application/vnd.ms-office.chartcolorstyle+xml"/>
  <Override PartName="/ppt/charts/chart127.xml" ContentType="application/vnd.openxmlformats-officedocument.drawingml.chart+xml"/>
  <Override PartName="/ppt/charts/style127.xml" ContentType="application/vnd.ms-office.chartstyle+xml"/>
  <Override PartName="/ppt/charts/colors127.xml" ContentType="application/vnd.ms-office.chartcolorstyle+xml"/>
  <Override PartName="/ppt/notesSlides/notesSlide38.xml" ContentType="application/vnd.openxmlformats-officedocument.presentationml.notesSlide+xml"/>
  <Override PartName="/ppt/charts/chart128.xml" ContentType="application/vnd.openxmlformats-officedocument.drawingml.chart+xml"/>
  <Override PartName="/ppt/charts/style128.xml" ContentType="application/vnd.ms-office.chartstyle+xml"/>
  <Override PartName="/ppt/charts/colors128.xml" ContentType="application/vnd.ms-office.chartcolorstyle+xml"/>
  <Override PartName="/ppt/charts/chart129.xml" ContentType="application/vnd.openxmlformats-officedocument.drawingml.chart+xml"/>
  <Override PartName="/ppt/charts/style129.xml" ContentType="application/vnd.ms-office.chartstyle+xml"/>
  <Override PartName="/ppt/charts/colors129.xml" ContentType="application/vnd.ms-office.chartcolorstyle+xml"/>
  <Override PartName="/ppt/charts/chart130.xml" ContentType="application/vnd.openxmlformats-officedocument.drawingml.chart+xml"/>
  <Override PartName="/ppt/charts/style130.xml" ContentType="application/vnd.ms-office.chartstyle+xml"/>
  <Override PartName="/ppt/charts/colors130.xml" ContentType="application/vnd.ms-office.chartcolorstyle+xml"/>
  <Override PartName="/ppt/charts/chart131.xml" ContentType="application/vnd.openxmlformats-officedocument.drawingml.chart+xml"/>
  <Override PartName="/ppt/charts/style131.xml" ContentType="application/vnd.ms-office.chartstyle+xml"/>
  <Override PartName="/ppt/charts/colors131.xml" ContentType="application/vnd.ms-office.chartcolorstyle+xml"/>
  <Override PartName="/ppt/charts/chart132.xml" ContentType="application/vnd.openxmlformats-officedocument.drawingml.chart+xml"/>
  <Override PartName="/ppt/charts/style132.xml" ContentType="application/vnd.ms-office.chartstyle+xml"/>
  <Override PartName="/ppt/charts/colors132.xml" ContentType="application/vnd.ms-office.chartcolorstyle+xml"/>
  <Override PartName="/ppt/charts/chart133.xml" ContentType="application/vnd.openxmlformats-officedocument.drawingml.chart+xml"/>
  <Override PartName="/ppt/charts/style133.xml" ContentType="application/vnd.ms-office.chartstyle+xml"/>
  <Override PartName="/ppt/charts/colors133.xml" ContentType="application/vnd.ms-office.chartcolorstyle+xml"/>
  <Override PartName="/ppt/charts/chart134.xml" ContentType="application/vnd.openxmlformats-officedocument.drawingml.chart+xml"/>
  <Override PartName="/ppt/charts/style134.xml" ContentType="application/vnd.ms-office.chartstyle+xml"/>
  <Override PartName="/ppt/charts/colors134.xml" ContentType="application/vnd.ms-office.chartcolorstyle+xml"/>
  <Override PartName="/ppt/charts/chart135.xml" ContentType="application/vnd.openxmlformats-officedocument.drawingml.chart+xml"/>
  <Override PartName="/ppt/charts/style135.xml" ContentType="application/vnd.ms-office.chartstyle+xml"/>
  <Override PartName="/ppt/charts/colors135.xml" ContentType="application/vnd.ms-office.chartcolorstyle+xml"/>
  <Override PartName="/ppt/charts/chart136.xml" ContentType="application/vnd.openxmlformats-officedocument.drawingml.chart+xml"/>
  <Override PartName="/ppt/charts/style136.xml" ContentType="application/vnd.ms-office.chartstyle+xml"/>
  <Override PartName="/ppt/charts/colors136.xml" ContentType="application/vnd.ms-office.chartcolorstyle+xml"/>
  <Override PartName="/ppt/charts/chart137.xml" ContentType="application/vnd.openxmlformats-officedocument.drawingml.chart+xml"/>
  <Override PartName="/ppt/charts/style137.xml" ContentType="application/vnd.ms-office.chartstyle+xml"/>
  <Override PartName="/ppt/charts/colors137.xml" ContentType="application/vnd.ms-office.chartcolorstyle+xml"/>
  <Override PartName="/ppt/charts/chart138.xml" ContentType="application/vnd.openxmlformats-officedocument.drawingml.chart+xml"/>
  <Override PartName="/ppt/charts/style138.xml" ContentType="application/vnd.ms-office.chartstyle+xml"/>
  <Override PartName="/ppt/charts/colors138.xml" ContentType="application/vnd.ms-office.chartcolorstyle+xml"/>
  <Override PartName="/ppt/charts/chart139.xml" ContentType="application/vnd.openxmlformats-officedocument.drawingml.chart+xml"/>
  <Override PartName="/ppt/charts/style139.xml" ContentType="application/vnd.ms-office.chartstyle+xml"/>
  <Override PartName="/ppt/charts/colors139.xml" ContentType="application/vnd.ms-office.chartcolorstyle+xml"/>
  <Override PartName="/ppt/theme/themeOverride24.xml" ContentType="application/vnd.openxmlformats-officedocument.themeOverride+xml"/>
  <Override PartName="/ppt/notesSlides/notesSlide39.xml" ContentType="application/vnd.openxmlformats-officedocument.presentationml.notesSlide+xml"/>
  <Override PartName="/ppt/charts/chart140.xml" ContentType="application/vnd.openxmlformats-officedocument.drawingml.chart+xml"/>
  <Override PartName="/ppt/charts/style140.xml" ContentType="application/vnd.ms-office.chartstyle+xml"/>
  <Override PartName="/ppt/charts/colors140.xml" ContentType="application/vnd.ms-office.chartcolorstyle+xml"/>
  <Override PartName="/ppt/notesSlides/notesSlide4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rts/chart141.xml" ContentType="application/vnd.openxmlformats-officedocument.drawingml.chart+xml"/>
  <Override PartName="/ppt/charts/style141.xml" ContentType="application/vnd.ms-office.chartstyle+xml"/>
  <Override PartName="/ppt/charts/colors141.xml" ContentType="application/vnd.ms-office.chartcolorstyle+xml"/>
  <Override PartName="/ppt/charts/chart142.xml" ContentType="application/vnd.openxmlformats-officedocument.drawingml.chart+xml"/>
  <Override PartName="/ppt/charts/style142.xml" ContentType="application/vnd.ms-office.chartstyle+xml"/>
  <Override PartName="/ppt/charts/colors142.xml" ContentType="application/vnd.ms-office.chartcolorstyle+xml"/>
  <Override PartName="/ppt/notesSlides/notesSlide41.xml" ContentType="application/vnd.openxmlformats-officedocument.presentationml.notesSlide+xml"/>
  <Override PartName="/ppt/charts/chart143.xml" ContentType="application/vnd.openxmlformats-officedocument.drawingml.chart+xml"/>
  <Override PartName="/ppt/charts/style143.xml" ContentType="application/vnd.ms-office.chartstyle+xml"/>
  <Override PartName="/ppt/charts/colors143.xml" ContentType="application/vnd.ms-office.chartcolorstyle+xml"/>
  <Override PartName="/ppt/notesSlides/notesSlide42.xml" ContentType="application/vnd.openxmlformats-officedocument.presentationml.notesSlide+xml"/>
  <Override PartName="/ppt/charts/chart144.xml" ContentType="application/vnd.openxmlformats-officedocument.drawingml.chart+xml"/>
  <Override PartName="/ppt/charts/style144.xml" ContentType="application/vnd.ms-office.chartstyle+xml"/>
  <Override PartName="/ppt/charts/colors144.xml" ContentType="application/vnd.ms-office.chartcolorstyle+xml"/>
  <Override PartName="/ppt/charts/chart145.xml" ContentType="application/vnd.openxmlformats-officedocument.drawingml.chart+xml"/>
  <Override PartName="/ppt/charts/style145.xml" ContentType="application/vnd.ms-office.chartstyle+xml"/>
  <Override PartName="/ppt/charts/colors145.xml" ContentType="application/vnd.ms-office.chartcolorstyle+xml"/>
  <Override PartName="/ppt/charts/chart146.xml" ContentType="application/vnd.openxmlformats-officedocument.drawingml.chart+xml"/>
  <Override PartName="/ppt/charts/style146.xml" ContentType="application/vnd.ms-office.chartstyle+xml"/>
  <Override PartName="/ppt/charts/colors146.xml" ContentType="application/vnd.ms-office.chartcolorstyle+xml"/>
  <Override PartName="/ppt/charts/chart147.xml" ContentType="application/vnd.openxmlformats-officedocument.drawingml.chart+xml"/>
  <Override PartName="/ppt/charts/style147.xml" ContentType="application/vnd.ms-office.chartstyle+xml"/>
  <Override PartName="/ppt/charts/colors147.xml" ContentType="application/vnd.ms-office.chartcolorstyle+xml"/>
  <Override PartName="/ppt/charts/chart148.xml" ContentType="application/vnd.openxmlformats-officedocument.drawingml.chart+xml"/>
  <Override PartName="/ppt/charts/style148.xml" ContentType="application/vnd.ms-office.chartstyle+xml"/>
  <Override PartName="/ppt/charts/colors148.xml" ContentType="application/vnd.ms-office.chartcolorstyle+xml"/>
  <Override PartName="/ppt/charts/chart149.xml" ContentType="application/vnd.openxmlformats-officedocument.drawingml.chart+xml"/>
  <Override PartName="/ppt/charts/style149.xml" ContentType="application/vnd.ms-office.chartstyle+xml"/>
  <Override PartName="/ppt/charts/colors149.xml" ContentType="application/vnd.ms-office.chartcolorstyle+xml"/>
  <Override PartName="/ppt/charts/chart150.xml" ContentType="application/vnd.openxmlformats-officedocument.drawingml.chart+xml"/>
  <Override PartName="/ppt/charts/style150.xml" ContentType="application/vnd.ms-office.chartstyle+xml"/>
  <Override PartName="/ppt/charts/colors150.xml" ContentType="application/vnd.ms-office.chartcolorstyle+xml"/>
  <Override PartName="/ppt/charts/chart151.xml" ContentType="application/vnd.openxmlformats-officedocument.drawingml.chart+xml"/>
  <Override PartName="/ppt/charts/style151.xml" ContentType="application/vnd.ms-office.chartstyle+xml"/>
  <Override PartName="/ppt/charts/colors151.xml" ContentType="application/vnd.ms-office.chartcolorstyle+xml"/>
  <Override PartName="/ppt/charts/chart152.xml" ContentType="application/vnd.openxmlformats-officedocument.drawingml.chart+xml"/>
  <Override PartName="/ppt/charts/style152.xml" ContentType="application/vnd.ms-office.chartstyle+xml"/>
  <Override PartName="/ppt/charts/colors152.xml" ContentType="application/vnd.ms-office.chartcolorstyle+xml"/>
  <Override PartName="/ppt/charts/chart153.xml" ContentType="application/vnd.openxmlformats-officedocument.drawingml.chart+xml"/>
  <Override PartName="/ppt/charts/style153.xml" ContentType="application/vnd.ms-office.chartstyle+xml"/>
  <Override PartName="/ppt/charts/colors153.xml" ContentType="application/vnd.ms-office.chartcolorstyle+xml"/>
  <Override PartName="/ppt/charts/chart154.xml" ContentType="application/vnd.openxmlformats-officedocument.drawingml.chart+xml"/>
  <Override PartName="/ppt/charts/style154.xml" ContentType="application/vnd.ms-office.chartstyle+xml"/>
  <Override PartName="/ppt/charts/colors154.xml" ContentType="application/vnd.ms-office.chartcolorstyle+xml"/>
  <Override PartName="/ppt/charts/chart155.xml" ContentType="application/vnd.openxmlformats-officedocument.drawingml.chart+xml"/>
  <Override PartName="/ppt/charts/style155.xml" ContentType="application/vnd.ms-office.chartstyle+xml"/>
  <Override PartName="/ppt/charts/colors155.xml" ContentType="application/vnd.ms-office.chartcolorstyle+xml"/>
  <Override PartName="/ppt/charts/chart156.xml" ContentType="application/vnd.openxmlformats-officedocument.drawingml.chart+xml"/>
  <Override PartName="/ppt/charts/style156.xml" ContentType="application/vnd.ms-office.chartstyle+xml"/>
  <Override PartName="/ppt/charts/colors156.xml" ContentType="application/vnd.ms-office.chartcolorstyle+xml"/>
  <Override PartName="/ppt/theme/themeOverride25.xml" ContentType="application/vnd.openxmlformats-officedocument.themeOverr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7"/>
  </p:notesMasterIdLst>
  <p:sldIdLst>
    <p:sldId id="2868" r:id="rId2"/>
    <p:sldId id="2869" r:id="rId3"/>
    <p:sldId id="2870" r:id="rId4"/>
    <p:sldId id="2871" r:id="rId5"/>
    <p:sldId id="2872" r:id="rId6"/>
    <p:sldId id="2873" r:id="rId7"/>
    <p:sldId id="2874" r:id="rId8"/>
    <p:sldId id="2875" r:id="rId9"/>
    <p:sldId id="2876" r:id="rId10"/>
    <p:sldId id="2877" r:id="rId11"/>
    <p:sldId id="2878" r:id="rId12"/>
    <p:sldId id="2879" r:id="rId13"/>
    <p:sldId id="2884" r:id="rId14"/>
    <p:sldId id="2983" r:id="rId15"/>
    <p:sldId id="2639" r:id="rId16"/>
    <p:sldId id="2960" r:id="rId17"/>
    <p:sldId id="2961" r:id="rId18"/>
    <p:sldId id="2962" r:id="rId19"/>
    <p:sldId id="2963" r:id="rId20"/>
    <p:sldId id="2964" r:id="rId21"/>
    <p:sldId id="2965" r:id="rId22"/>
    <p:sldId id="2966" r:id="rId23"/>
    <p:sldId id="2967" r:id="rId24"/>
    <p:sldId id="2968" r:id="rId25"/>
    <p:sldId id="2969" r:id="rId26"/>
    <p:sldId id="2970" r:id="rId27"/>
    <p:sldId id="2971" r:id="rId28"/>
    <p:sldId id="2972" r:id="rId29"/>
    <p:sldId id="2979" r:id="rId30"/>
    <p:sldId id="2980" r:id="rId31"/>
    <p:sldId id="2981" r:id="rId32"/>
    <p:sldId id="262" r:id="rId33"/>
    <p:sldId id="282" r:id="rId34"/>
    <p:sldId id="2982" r:id="rId35"/>
    <p:sldId id="2607" r:id="rId36"/>
    <p:sldId id="2664" r:id="rId37"/>
    <p:sldId id="2762" r:id="rId38"/>
    <p:sldId id="2665" r:id="rId39"/>
    <p:sldId id="2666" r:id="rId40"/>
    <p:sldId id="2667" r:id="rId41"/>
    <p:sldId id="2832" r:id="rId42"/>
    <p:sldId id="2741" r:id="rId43"/>
    <p:sldId id="2742" r:id="rId44"/>
    <p:sldId id="2641" r:id="rId45"/>
    <p:sldId id="2899" r:id="rId46"/>
    <p:sldId id="2900" r:id="rId47"/>
    <p:sldId id="2746" r:id="rId48"/>
    <p:sldId id="2647" r:id="rId49"/>
    <p:sldId id="2816" r:id="rId50"/>
    <p:sldId id="2613" r:id="rId51"/>
    <p:sldId id="2614" r:id="rId52"/>
    <p:sldId id="2615" r:id="rId53"/>
    <p:sldId id="2660" r:id="rId54"/>
    <p:sldId id="283" r:id="rId55"/>
    <p:sldId id="2608" r:id="rId56"/>
    <p:sldId id="366" r:id="rId57"/>
    <p:sldId id="2768" r:id="rId58"/>
    <p:sldId id="2769" r:id="rId59"/>
    <p:sldId id="2597" r:id="rId60"/>
    <p:sldId id="2563" r:id="rId61"/>
    <p:sldId id="2564" r:id="rId62"/>
    <p:sldId id="2852" r:id="rId63"/>
    <p:sldId id="2853" r:id="rId64"/>
    <p:sldId id="2681" r:id="rId65"/>
    <p:sldId id="2801" r:id="rId66"/>
    <p:sldId id="2819" r:id="rId67"/>
    <p:sldId id="2951" r:id="rId68"/>
    <p:sldId id="2952" r:id="rId69"/>
    <p:sldId id="2953" r:id="rId70"/>
    <p:sldId id="2661" r:id="rId71"/>
    <p:sldId id="284" r:id="rId72"/>
    <p:sldId id="2609" r:id="rId73"/>
    <p:sldId id="2786" r:id="rId74"/>
    <p:sldId id="2822" r:id="rId75"/>
    <p:sldId id="2858" r:id="rId76"/>
    <p:sldId id="2823" r:id="rId77"/>
    <p:sldId id="2825" r:id="rId78"/>
    <p:sldId id="2753" r:id="rId79"/>
    <p:sldId id="2945" r:id="rId80"/>
    <p:sldId id="2787" r:id="rId81"/>
    <p:sldId id="2788" r:id="rId82"/>
    <p:sldId id="2984" r:id="rId83"/>
    <p:sldId id="2797" r:id="rId84"/>
    <p:sldId id="2977" r:id="rId85"/>
    <p:sldId id="2620" r:id="rId86"/>
    <p:sldId id="2628" r:id="rId87"/>
    <p:sldId id="2626" r:id="rId88"/>
    <p:sldId id="2662" r:id="rId89"/>
    <p:sldId id="2978" r:id="rId90"/>
    <p:sldId id="287" r:id="rId91"/>
    <p:sldId id="2976" r:id="rId92"/>
    <p:sldId id="2610" r:id="rId93"/>
    <p:sldId id="2587" r:id="rId94"/>
    <p:sldId id="2775" r:id="rId95"/>
    <p:sldId id="2599" r:id="rId96"/>
    <p:sldId id="2703" r:id="rId97"/>
    <p:sldId id="2859" r:id="rId98"/>
    <p:sldId id="2643" r:id="rId99"/>
    <p:sldId id="2625" r:id="rId100"/>
    <p:sldId id="2644" r:id="rId101"/>
    <p:sldId id="2663" r:id="rId102"/>
    <p:sldId id="285" r:id="rId103"/>
    <p:sldId id="2611" r:id="rId104"/>
    <p:sldId id="2592" r:id="rId105"/>
    <p:sldId id="2798" r:id="rId106"/>
    <p:sldId id="2600" r:id="rId107"/>
    <p:sldId id="2702" r:id="rId108"/>
    <p:sldId id="2829" r:id="rId109"/>
    <p:sldId id="2830" r:id="rId110"/>
    <p:sldId id="2955" r:id="rId111"/>
    <p:sldId id="2956" r:id="rId112"/>
    <p:sldId id="2957" r:id="rId113"/>
    <p:sldId id="2958" r:id="rId114"/>
    <p:sldId id="2939" r:id="rId115"/>
    <p:sldId id="2473" r:id="rId116"/>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D0CA6B2C-629C-5B5D-6EFB-15A159B6A64B}" name="Karen Botero" initials="KB" userId="S::analistadatos.salud@inoos.com.co::22f85df5-efe8-4449-b1c5-e4369e0a47a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7A9A1"/>
    <a:srgbClr val="8158A1"/>
    <a:srgbClr val="000714"/>
    <a:srgbClr val="FCFCFC"/>
    <a:srgbClr val="4FA9A7"/>
    <a:srgbClr val="4FB3A9"/>
    <a:srgbClr val="4FA99F"/>
    <a:srgbClr val="45B3A9"/>
    <a:srgbClr val="929496"/>
    <a:srgbClr val="45A9A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96983F-2171-460D-8300-159D05B3E8F2}" v="38" dt="2026-10-14T13:40:48.518"/>
    <p1510:client id="{C2CC7AC7-F1A9-4506-B5C1-94D975A9CB35}" v="432" dt="2026-10-14T13:52:53.555"/>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7AC3CCA-C797-4891-BE02-D94E43425B78}" styleName="Estilo medio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Estilo medio 4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Estilo claro 3 - Acento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Estilo medio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Estilo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113A9D2-9D6B-4929-AA2D-F23B5EE8CBE7}" styleName="Estilo temático 2 - Énfasis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notesMaster" Target="notesMasters/notesMaster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microsoft.com/office/2015/10/relationships/revisionInfo" Target="revisionInfo.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microsoft.com/office/2018/10/relationships/authors" Target="author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viewProps" Target="view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jandra Sabogal Ortiz" userId="36e28ec1-e4a6-4bd5-8eda-8611a8c0ec64" providerId="ADAL" clId="{0D6E544F-8736-44EA-A19F-B9348426EF62}"/>
    <pc:docChg chg="undo redo custSel addSld delSld modSld sldOrd">
      <pc:chgData name="Alejandra Sabogal Ortiz" userId="36e28ec1-e4a6-4bd5-8eda-8611a8c0ec64" providerId="ADAL" clId="{0D6E544F-8736-44EA-A19F-B9348426EF62}" dt="2026-10-14T13:40:48.518" v="5932" actId="20577"/>
      <pc:docMkLst>
        <pc:docMk/>
      </pc:docMkLst>
      <pc:sldChg chg="addSp delSp modSp add mod">
        <pc:chgData name="Alejandra Sabogal Ortiz" userId="36e28ec1-e4a6-4bd5-8eda-8611a8c0ec64" providerId="ADAL" clId="{0D6E544F-8736-44EA-A19F-B9348426EF62}" dt="2026-09-17T20:30:04.038" v="4697" actId="22"/>
        <pc:sldMkLst>
          <pc:docMk/>
          <pc:sldMk cId="3666144290" sldId="257"/>
        </pc:sldMkLst>
        <pc:spChg chg="add">
          <ac:chgData name="Alejandra Sabogal Ortiz" userId="36e28ec1-e4a6-4bd5-8eda-8611a8c0ec64" providerId="ADAL" clId="{0D6E544F-8736-44EA-A19F-B9348426EF62}" dt="2026-09-17T20:30:04.038" v="4697" actId="22"/>
          <ac:spMkLst>
            <pc:docMk/>
            <pc:sldMk cId="3666144290" sldId="257"/>
            <ac:spMk id="6" creationId="{93DB97CD-04FE-9672-D645-D0E527009225}"/>
          </ac:spMkLst>
        </pc:spChg>
        <pc:spChg chg="mod">
          <ac:chgData name="Alejandra Sabogal Ortiz" userId="36e28ec1-e4a6-4bd5-8eda-8611a8c0ec64" providerId="ADAL" clId="{0D6E544F-8736-44EA-A19F-B9348426EF62}" dt="2026-09-17T20:19:48.568" v="4628" actId="255"/>
          <ac:spMkLst>
            <pc:docMk/>
            <pc:sldMk cId="3666144290" sldId="257"/>
            <ac:spMk id="28" creationId="{973D9524-BBD2-3B8A-C1A2-D18B54B223F4}"/>
          </ac:spMkLst>
        </pc:spChg>
        <pc:graphicFrameChg chg="mod">
          <ac:chgData name="Alejandra Sabogal Ortiz" userId="36e28ec1-e4a6-4bd5-8eda-8611a8c0ec64" providerId="ADAL" clId="{0D6E544F-8736-44EA-A19F-B9348426EF62}" dt="2026-09-17T20:20:00.281" v="4630" actId="14100"/>
          <ac:graphicFrameMkLst>
            <pc:docMk/>
            <pc:sldMk cId="3666144290" sldId="257"/>
            <ac:graphicFrameMk id="8" creationId="{22AFFB12-41D5-A654-1B40-C267DF916797}"/>
          </ac:graphicFrameMkLst>
        </pc:graphicFrameChg>
        <pc:graphicFrameChg chg="mod">
          <ac:chgData name="Alejandra Sabogal Ortiz" userId="36e28ec1-e4a6-4bd5-8eda-8611a8c0ec64" providerId="ADAL" clId="{0D6E544F-8736-44EA-A19F-B9348426EF62}" dt="2026-09-17T20:19:56.500" v="4629" actId="14100"/>
          <ac:graphicFrameMkLst>
            <pc:docMk/>
            <pc:sldMk cId="3666144290" sldId="257"/>
            <ac:graphicFrameMk id="10" creationId="{23E5B9C6-3100-0715-8B7F-93C3412395A6}"/>
          </ac:graphicFrameMkLst>
        </pc:graphicFrameChg>
      </pc:sldChg>
      <pc:sldChg chg="mod">
        <pc:chgData name="Alejandra Sabogal Ortiz" userId="36e28ec1-e4a6-4bd5-8eda-8611a8c0ec64" providerId="ADAL" clId="{0D6E544F-8736-44EA-A19F-B9348426EF62}" dt="2026-10-14T12:46:37.462" v="5885" actId="27918"/>
        <pc:sldMkLst>
          <pc:docMk/>
          <pc:sldMk cId="156128909" sldId="2563"/>
        </pc:sldMkLst>
      </pc:sldChg>
      <pc:sldChg chg="mod">
        <pc:chgData name="Alejandra Sabogal Ortiz" userId="36e28ec1-e4a6-4bd5-8eda-8611a8c0ec64" providerId="ADAL" clId="{0D6E544F-8736-44EA-A19F-B9348426EF62}" dt="2026-10-14T12:46:57.710" v="5889" actId="27918"/>
        <pc:sldMkLst>
          <pc:docMk/>
          <pc:sldMk cId="3831153175" sldId="2564"/>
        </pc:sldMkLst>
      </pc:sldChg>
      <pc:sldChg chg="mod">
        <pc:chgData name="Alejandra Sabogal Ortiz" userId="36e28ec1-e4a6-4bd5-8eda-8611a8c0ec64" providerId="ADAL" clId="{0D6E544F-8736-44EA-A19F-B9348426EF62}" dt="2026-10-14T12:46:15.387" v="5881" actId="27918"/>
        <pc:sldMkLst>
          <pc:docMk/>
          <pc:sldMk cId="3176042076" sldId="2597"/>
        </pc:sldMkLst>
      </pc:sldChg>
      <pc:sldChg chg="addSp delSp modSp add del mod modClrScheme chgLayout">
        <pc:chgData name="Alejandra Sabogal Ortiz" userId="36e28ec1-e4a6-4bd5-8eda-8611a8c0ec64" providerId="ADAL" clId="{0D6E544F-8736-44EA-A19F-B9348426EF62}" dt="2026-09-17T20:28:16.654" v="4674" actId="20577"/>
        <pc:sldMkLst>
          <pc:docMk/>
          <pc:sldMk cId="2103357011" sldId="2620"/>
        </pc:sldMkLst>
        <pc:spChg chg="add mod">
          <ac:chgData name="Alejandra Sabogal Ortiz" userId="36e28ec1-e4a6-4bd5-8eda-8611a8c0ec64" providerId="ADAL" clId="{0D6E544F-8736-44EA-A19F-B9348426EF62}" dt="2026-09-17T20:28:16.654" v="4674" actId="20577"/>
          <ac:spMkLst>
            <pc:docMk/>
            <pc:sldMk cId="2103357011" sldId="2620"/>
            <ac:spMk id="7" creationId="{9C098866-FC4B-3612-0C70-543BF238A1AC}"/>
          </ac:spMkLst>
        </pc:spChg>
      </pc:sldChg>
      <pc:sldChg chg="addSp delSp modSp add del mod modClrScheme chgLayout">
        <pc:chgData name="Alejandra Sabogal Ortiz" userId="36e28ec1-e4a6-4bd5-8eda-8611a8c0ec64" providerId="ADAL" clId="{0D6E544F-8736-44EA-A19F-B9348426EF62}" dt="2026-09-17T20:28:36.190" v="4678" actId="207"/>
        <pc:sldMkLst>
          <pc:docMk/>
          <pc:sldMk cId="2056515555" sldId="2626"/>
        </pc:sldMkLst>
        <pc:spChg chg="mod">
          <ac:chgData name="Alejandra Sabogal Ortiz" userId="36e28ec1-e4a6-4bd5-8eda-8611a8c0ec64" providerId="ADAL" clId="{0D6E544F-8736-44EA-A19F-B9348426EF62}" dt="2026-09-17T20:28:36.190" v="4678" actId="207"/>
          <ac:spMkLst>
            <pc:docMk/>
            <pc:sldMk cId="2056515555" sldId="2626"/>
            <ac:spMk id="5" creationId="{C618D78E-ADE2-0BBB-8AF5-CA4E11D55337}"/>
          </ac:spMkLst>
        </pc:spChg>
        <pc:spChg chg="add">
          <ac:chgData name="Alejandra Sabogal Ortiz" userId="36e28ec1-e4a6-4bd5-8eda-8611a8c0ec64" providerId="ADAL" clId="{0D6E544F-8736-44EA-A19F-B9348426EF62}" dt="2026-09-17T20:28:28.103" v="4676" actId="22"/>
          <ac:spMkLst>
            <pc:docMk/>
            <pc:sldMk cId="2056515555" sldId="2626"/>
            <ac:spMk id="8" creationId="{69043F98-37AA-7801-A98C-899D4DA2F737}"/>
          </ac:spMkLst>
        </pc:spChg>
      </pc:sldChg>
      <pc:sldChg chg="addSp delSp modSp add mod modClrScheme chgLayout">
        <pc:chgData name="Alejandra Sabogal Ortiz" userId="36e28ec1-e4a6-4bd5-8eda-8611a8c0ec64" providerId="ADAL" clId="{0D6E544F-8736-44EA-A19F-B9348426EF62}" dt="2026-09-17T20:28:23.772" v="4675" actId="22"/>
        <pc:sldMkLst>
          <pc:docMk/>
          <pc:sldMk cId="862800563" sldId="2628"/>
        </pc:sldMkLst>
        <pc:spChg chg="add">
          <ac:chgData name="Alejandra Sabogal Ortiz" userId="36e28ec1-e4a6-4bd5-8eda-8611a8c0ec64" providerId="ADAL" clId="{0D6E544F-8736-44EA-A19F-B9348426EF62}" dt="2026-09-17T20:28:23.772" v="4675" actId="22"/>
          <ac:spMkLst>
            <pc:docMk/>
            <pc:sldMk cId="862800563" sldId="2628"/>
            <ac:spMk id="10" creationId="{662892F8-50E4-B502-1C88-649E84FC3C45}"/>
          </ac:spMkLst>
        </pc:spChg>
      </pc:sldChg>
      <pc:sldChg chg="addSp delSp modSp add del mod chgLayout">
        <pc:chgData name="Alejandra Sabogal Ortiz" userId="36e28ec1-e4a6-4bd5-8eda-8611a8c0ec64" providerId="ADAL" clId="{0D6E544F-8736-44EA-A19F-B9348426EF62}" dt="2026-09-17T20:28:49.682" v="4680" actId="1076"/>
        <pc:sldMkLst>
          <pc:docMk/>
          <pc:sldMk cId="990964986" sldId="2662"/>
        </pc:sldMkLst>
        <pc:spChg chg="add mod">
          <ac:chgData name="Alejandra Sabogal Ortiz" userId="36e28ec1-e4a6-4bd5-8eda-8611a8c0ec64" providerId="ADAL" clId="{0D6E544F-8736-44EA-A19F-B9348426EF62}" dt="2026-09-17T20:28:49.682" v="4680" actId="1076"/>
          <ac:spMkLst>
            <pc:docMk/>
            <pc:sldMk cId="990964986" sldId="2662"/>
            <ac:spMk id="5" creationId="{B861762C-5A0C-EAF2-E3E0-4FF6A6EFF60A}"/>
          </ac:spMkLst>
        </pc:spChg>
      </pc:sldChg>
      <pc:sldChg chg="addSp delSp modSp mod">
        <pc:chgData name="Alejandra Sabogal Ortiz" userId="36e28ec1-e4a6-4bd5-8eda-8611a8c0ec64" providerId="ADAL" clId="{0D6E544F-8736-44EA-A19F-B9348426EF62}" dt="2026-10-14T12:46:05.956" v="5879" actId="27918"/>
        <pc:sldMkLst>
          <pc:docMk/>
          <pc:sldMk cId="4166650709" sldId="2741"/>
        </pc:sldMkLst>
      </pc:sldChg>
      <pc:sldChg chg="mod">
        <pc:chgData name="Alejandra Sabogal Ortiz" userId="36e28ec1-e4a6-4bd5-8eda-8611a8c0ec64" providerId="ADAL" clId="{0D6E544F-8736-44EA-A19F-B9348426EF62}" dt="2026-10-14T12:50:45.882" v="5899" actId="27918"/>
        <pc:sldMkLst>
          <pc:docMk/>
          <pc:sldMk cId="3979485389" sldId="2786"/>
        </pc:sldMkLst>
      </pc:sldChg>
      <pc:sldChg chg="mod">
        <pc:chgData name="Alejandra Sabogal Ortiz" userId="36e28ec1-e4a6-4bd5-8eda-8611a8c0ec64" providerId="ADAL" clId="{0D6E544F-8736-44EA-A19F-B9348426EF62}" dt="2026-09-17T20:23:06.219" v="4666" actId="27918"/>
        <pc:sldMkLst>
          <pc:docMk/>
          <pc:sldMk cId="1375620129" sldId="2787"/>
        </pc:sldMkLst>
      </pc:sldChg>
      <pc:sldChg chg="mod">
        <pc:chgData name="Alejandra Sabogal Ortiz" userId="36e28ec1-e4a6-4bd5-8eda-8611a8c0ec64" providerId="ADAL" clId="{0D6E544F-8736-44EA-A19F-B9348426EF62}" dt="2026-09-17T23:25:23.238" v="5536" actId="27918"/>
        <pc:sldMkLst>
          <pc:docMk/>
          <pc:sldMk cId="132470485" sldId="2788"/>
        </pc:sldMkLst>
      </pc:sldChg>
      <pc:sldChg chg="addSp delSp modSp mod">
        <pc:chgData name="Alejandra Sabogal Ortiz" userId="36e28ec1-e4a6-4bd5-8eda-8611a8c0ec64" providerId="ADAL" clId="{0D6E544F-8736-44EA-A19F-B9348426EF62}" dt="2026-10-14T13:40:48.518" v="5932" actId="20577"/>
        <pc:sldMkLst>
          <pc:docMk/>
          <pc:sldMk cId="3104175258" sldId="2797"/>
        </pc:sldMkLst>
        <pc:spChg chg="mod">
          <ac:chgData name="Alejandra Sabogal Ortiz" userId="36e28ec1-e4a6-4bd5-8eda-8611a8c0ec64" providerId="ADAL" clId="{0D6E544F-8736-44EA-A19F-B9348426EF62}" dt="2026-10-14T13:40:48.518" v="5932" actId="20577"/>
          <ac:spMkLst>
            <pc:docMk/>
            <pc:sldMk cId="3104175258" sldId="2797"/>
            <ac:spMk id="3" creationId="{51031C56-D09A-9B9F-4705-F4FFFE8C7EFF}"/>
          </ac:spMkLst>
        </pc:spChg>
        <pc:graphicFrameChg chg="add mod">
          <ac:chgData name="Alejandra Sabogal Ortiz" userId="36e28ec1-e4a6-4bd5-8eda-8611a8c0ec64" providerId="ADAL" clId="{0D6E544F-8736-44EA-A19F-B9348426EF62}" dt="2026-10-14T13:38:57.923" v="5901"/>
          <ac:graphicFrameMkLst>
            <pc:docMk/>
            <pc:sldMk cId="3104175258" sldId="2797"/>
            <ac:graphicFrameMk id="4" creationId="{6571D057-3D74-D120-5EB4-6EB70F27EB7B}"/>
          </ac:graphicFrameMkLst>
        </pc:graphicFrameChg>
        <pc:graphicFrameChg chg="add del mod">
          <ac:chgData name="Alejandra Sabogal Ortiz" userId="36e28ec1-e4a6-4bd5-8eda-8611a8c0ec64" providerId="ADAL" clId="{0D6E544F-8736-44EA-A19F-B9348426EF62}" dt="2026-10-14T13:39:10.254" v="5904" actId="478"/>
          <ac:graphicFrameMkLst>
            <pc:docMk/>
            <pc:sldMk cId="3104175258" sldId="2797"/>
            <ac:graphicFrameMk id="5" creationId="{8CA76A8D-D625-A835-096F-B9223A5721DF}"/>
          </ac:graphicFrameMkLst>
        </pc:graphicFrameChg>
        <pc:picChg chg="add mod">
          <ac:chgData name="Alejandra Sabogal Ortiz" userId="36e28ec1-e4a6-4bd5-8eda-8611a8c0ec64" providerId="ADAL" clId="{0D6E544F-8736-44EA-A19F-B9348426EF62}" dt="2026-10-14T13:40:37.036" v="5915" actId="14100"/>
          <ac:picMkLst>
            <pc:docMk/>
            <pc:sldMk cId="3104175258" sldId="2797"/>
            <ac:picMk id="7" creationId="{F6333FC1-845D-EE12-1877-F74797A4C46E}"/>
          </ac:picMkLst>
        </pc:picChg>
        <pc:picChg chg="add mod">
          <ac:chgData name="Alejandra Sabogal Ortiz" userId="36e28ec1-e4a6-4bd5-8eda-8611a8c0ec64" providerId="ADAL" clId="{0D6E544F-8736-44EA-A19F-B9348426EF62}" dt="2026-10-14T13:40:41.006" v="5916" actId="14100"/>
          <ac:picMkLst>
            <pc:docMk/>
            <pc:sldMk cId="3104175258" sldId="2797"/>
            <ac:picMk id="9" creationId="{AC360E4E-605C-C196-E6A6-DFF73C530637}"/>
          </ac:picMkLst>
        </pc:picChg>
        <pc:picChg chg="add del mod">
          <ac:chgData name="Alejandra Sabogal Ortiz" userId="36e28ec1-e4a6-4bd5-8eda-8611a8c0ec64" providerId="ADAL" clId="{0D6E544F-8736-44EA-A19F-B9348426EF62}" dt="2026-10-14T13:38:55.647" v="5900" actId="478"/>
          <ac:picMkLst>
            <pc:docMk/>
            <pc:sldMk cId="3104175258" sldId="2797"/>
            <ac:picMk id="14" creationId="{3CE9849A-F7E3-6675-4549-7F88576CB948}"/>
          </ac:picMkLst>
        </pc:picChg>
        <pc:picChg chg="add del mod">
          <ac:chgData name="Alejandra Sabogal Ortiz" userId="36e28ec1-e4a6-4bd5-8eda-8611a8c0ec64" providerId="ADAL" clId="{0D6E544F-8736-44EA-A19F-B9348426EF62}" dt="2026-10-14T13:39:49.060" v="5907" actId="478"/>
          <ac:picMkLst>
            <pc:docMk/>
            <pc:sldMk cId="3104175258" sldId="2797"/>
            <ac:picMk id="16" creationId="{4F2023AB-45CC-A1B5-EE32-609E60252736}"/>
          </ac:picMkLst>
        </pc:picChg>
      </pc:sldChg>
      <pc:sldChg chg="modSp mod">
        <pc:chgData name="Alejandra Sabogal Ortiz" userId="36e28ec1-e4a6-4bd5-8eda-8611a8c0ec64" providerId="ADAL" clId="{0D6E544F-8736-44EA-A19F-B9348426EF62}" dt="2026-09-17T20:21:53.924" v="4663" actId="1076"/>
        <pc:sldMkLst>
          <pc:docMk/>
          <pc:sldMk cId="3467305435" sldId="2823"/>
        </pc:sldMkLst>
        <pc:graphicFrameChg chg="mod">
          <ac:chgData name="Alejandra Sabogal Ortiz" userId="36e28ec1-e4a6-4bd5-8eda-8611a8c0ec64" providerId="ADAL" clId="{0D6E544F-8736-44EA-A19F-B9348426EF62}" dt="2026-09-17T20:21:53.924" v="4663" actId="1076"/>
          <ac:graphicFrameMkLst>
            <pc:docMk/>
            <pc:sldMk cId="3467305435" sldId="2823"/>
            <ac:graphicFrameMk id="8" creationId="{19CFB1C3-91C6-81DC-E85F-1518BDB6E275}"/>
          </ac:graphicFrameMkLst>
        </pc:graphicFrameChg>
      </pc:sldChg>
      <pc:sldChg chg="mod">
        <pc:chgData name="Alejandra Sabogal Ortiz" userId="36e28ec1-e4a6-4bd5-8eda-8611a8c0ec64" providerId="ADAL" clId="{0D6E544F-8736-44EA-A19F-B9348426EF62}" dt="2026-10-14T12:47:50.832" v="5897" actId="27918"/>
        <pc:sldMkLst>
          <pc:docMk/>
          <pc:sldMk cId="403898891" sldId="2825"/>
        </pc:sldMkLst>
      </pc:sldChg>
      <pc:sldChg chg="mod">
        <pc:chgData name="Alejandra Sabogal Ortiz" userId="36e28ec1-e4a6-4bd5-8eda-8611a8c0ec64" providerId="ADAL" clId="{0D6E544F-8736-44EA-A19F-B9348426EF62}" dt="2026-10-14T12:47:24.468" v="5893" actId="27918"/>
        <pc:sldMkLst>
          <pc:docMk/>
          <pc:sldMk cId="2866541352" sldId="2858"/>
        </pc:sldMkLst>
      </pc:sldChg>
      <pc:sldChg chg="modSp mod">
        <pc:chgData name="Alejandra Sabogal Ortiz" userId="36e28ec1-e4a6-4bd5-8eda-8611a8c0ec64" providerId="ADAL" clId="{0D6E544F-8736-44EA-A19F-B9348426EF62}" dt="2026-10-12T14:14:54.919" v="5619" actId="1076"/>
        <pc:sldMkLst>
          <pc:docMk/>
          <pc:sldMk cId="867818174" sldId="2870"/>
        </pc:sldMkLst>
        <pc:spChg chg="mod">
          <ac:chgData name="Alejandra Sabogal Ortiz" userId="36e28ec1-e4a6-4bd5-8eda-8611a8c0ec64" providerId="ADAL" clId="{0D6E544F-8736-44EA-A19F-B9348426EF62}" dt="2026-10-12T14:14:54.919" v="5619" actId="1076"/>
          <ac:spMkLst>
            <pc:docMk/>
            <pc:sldMk cId="867818174" sldId="2870"/>
            <ac:spMk id="7" creationId="{4EC4E157-8F0B-A24C-FE9D-D1C669A2E8C0}"/>
          </ac:spMkLst>
        </pc:spChg>
        <pc:graphicFrameChg chg="modGraphic">
          <ac:chgData name="Alejandra Sabogal Ortiz" userId="36e28ec1-e4a6-4bd5-8eda-8611a8c0ec64" providerId="ADAL" clId="{0D6E544F-8736-44EA-A19F-B9348426EF62}" dt="2026-10-12T14:12:13.256" v="5600" actId="20577"/>
          <ac:graphicFrameMkLst>
            <pc:docMk/>
            <pc:sldMk cId="867818174" sldId="2870"/>
            <ac:graphicFrameMk id="3" creationId="{EADE6810-495D-EBE0-877A-7674C59F83E2}"/>
          </ac:graphicFrameMkLst>
        </pc:graphicFrameChg>
      </pc:sldChg>
      <pc:sldChg chg="modSp mod">
        <pc:chgData name="Alejandra Sabogal Ortiz" userId="36e28ec1-e4a6-4bd5-8eda-8611a8c0ec64" providerId="ADAL" clId="{0D6E544F-8736-44EA-A19F-B9348426EF62}" dt="2026-10-12T14:05:37.087" v="5548" actId="27918"/>
        <pc:sldMkLst>
          <pc:docMk/>
          <pc:sldMk cId="1823568514" sldId="2871"/>
        </pc:sldMkLst>
      </pc:sldChg>
      <pc:sldChg chg="addSp delSp modSp mod">
        <pc:chgData name="Alejandra Sabogal Ortiz" userId="36e28ec1-e4a6-4bd5-8eda-8611a8c0ec64" providerId="ADAL" clId="{0D6E544F-8736-44EA-A19F-B9348426EF62}" dt="2026-10-12T14:14:01.722" v="5618" actId="478"/>
        <pc:sldMkLst>
          <pc:docMk/>
          <pc:sldMk cId="4225164284" sldId="2872"/>
        </pc:sldMkLst>
        <pc:spChg chg="mod">
          <ac:chgData name="Alejandra Sabogal Ortiz" userId="36e28ec1-e4a6-4bd5-8eda-8611a8c0ec64" providerId="ADAL" clId="{0D6E544F-8736-44EA-A19F-B9348426EF62}" dt="2026-10-12T14:12:45.718" v="5616" actId="20577"/>
          <ac:spMkLst>
            <pc:docMk/>
            <pc:sldMk cId="4225164284" sldId="2872"/>
            <ac:spMk id="13" creationId="{28D4D768-EF75-9338-52DD-4770B063065F}"/>
          </ac:spMkLst>
        </pc:spChg>
      </pc:sldChg>
      <pc:sldChg chg="addSp delSp modSp mod">
        <pc:chgData name="Alejandra Sabogal Ortiz" userId="36e28ec1-e4a6-4bd5-8eda-8611a8c0ec64" providerId="ADAL" clId="{0D6E544F-8736-44EA-A19F-B9348426EF62}" dt="2026-10-12T14:15:16.177" v="5622" actId="113"/>
        <pc:sldMkLst>
          <pc:docMk/>
          <pc:sldMk cId="3370294279" sldId="2873"/>
        </pc:sldMkLst>
        <pc:graphicFrameChg chg="add mod">
          <ac:chgData name="Alejandra Sabogal Ortiz" userId="36e28ec1-e4a6-4bd5-8eda-8611a8c0ec64" providerId="ADAL" clId="{0D6E544F-8736-44EA-A19F-B9348426EF62}" dt="2026-10-12T14:15:16.177" v="5622" actId="113"/>
          <ac:graphicFrameMkLst>
            <pc:docMk/>
            <pc:sldMk cId="3370294279" sldId="2873"/>
            <ac:graphicFrameMk id="3" creationId="{F91701BA-BA0C-A44B-6C29-04A6BC799A9B}"/>
          </ac:graphicFrameMkLst>
        </pc:graphicFrameChg>
      </pc:sldChg>
      <pc:sldChg chg="modSp mod">
        <pc:chgData name="Alejandra Sabogal Ortiz" userId="36e28ec1-e4a6-4bd5-8eda-8611a8c0ec64" providerId="ADAL" clId="{0D6E544F-8736-44EA-A19F-B9348426EF62}" dt="2026-10-12T15:34:57.844" v="5627" actId="113"/>
        <pc:sldMkLst>
          <pc:docMk/>
          <pc:sldMk cId="4030884629" sldId="2878"/>
        </pc:sldMkLst>
        <pc:graphicFrameChg chg="mod">
          <ac:chgData name="Alejandra Sabogal Ortiz" userId="36e28ec1-e4a6-4bd5-8eda-8611a8c0ec64" providerId="ADAL" clId="{0D6E544F-8736-44EA-A19F-B9348426EF62}" dt="2026-10-12T15:34:52.801" v="5626" actId="113"/>
          <ac:graphicFrameMkLst>
            <pc:docMk/>
            <pc:sldMk cId="4030884629" sldId="2878"/>
            <ac:graphicFrameMk id="2" creationId="{AAB7A068-43B7-9128-CF25-9D2762C7BDD3}"/>
          </ac:graphicFrameMkLst>
        </pc:graphicFrameChg>
        <pc:graphicFrameChg chg="mod">
          <ac:chgData name="Alejandra Sabogal Ortiz" userId="36e28ec1-e4a6-4bd5-8eda-8611a8c0ec64" providerId="ADAL" clId="{0D6E544F-8736-44EA-A19F-B9348426EF62}" dt="2026-10-12T15:34:57.844" v="5627" actId="113"/>
          <ac:graphicFrameMkLst>
            <pc:docMk/>
            <pc:sldMk cId="4030884629" sldId="2878"/>
            <ac:graphicFrameMk id="7" creationId="{F710ADEC-ED89-DF14-96B2-0A099DFCFEFF}"/>
          </ac:graphicFrameMkLst>
        </pc:graphicFrameChg>
      </pc:sldChg>
      <pc:sldChg chg="modSp mod">
        <pc:chgData name="Alejandra Sabogal Ortiz" userId="36e28ec1-e4a6-4bd5-8eda-8611a8c0ec64" providerId="ADAL" clId="{0D6E544F-8736-44EA-A19F-B9348426EF62}" dt="2026-09-17T19:20:49.025" v="4550" actId="14100"/>
        <pc:sldMkLst>
          <pc:docMk/>
          <pc:sldMk cId="34570905" sldId="2945"/>
        </pc:sldMkLst>
        <pc:spChg chg="mod">
          <ac:chgData name="Alejandra Sabogal Ortiz" userId="36e28ec1-e4a6-4bd5-8eda-8611a8c0ec64" providerId="ADAL" clId="{0D6E544F-8736-44EA-A19F-B9348426EF62}" dt="2026-09-17T19:20:49.025" v="4550" actId="14100"/>
          <ac:spMkLst>
            <pc:docMk/>
            <pc:sldMk cId="34570905" sldId="2945"/>
            <ac:spMk id="8" creationId="{4DEAF8BE-9ADB-2A87-96CF-14D1364EBD74}"/>
          </ac:spMkLst>
        </pc:spChg>
      </pc:sldChg>
      <pc:sldChg chg="addSp delSp modSp add del mod ord">
        <pc:chgData name="Alejandra Sabogal Ortiz" userId="36e28ec1-e4a6-4bd5-8eda-8611a8c0ec64" providerId="ADAL" clId="{0D6E544F-8736-44EA-A19F-B9348426EF62}" dt="2026-09-17T20:29:53.775" v="4695" actId="20577"/>
        <pc:sldMkLst>
          <pc:docMk/>
          <pc:sldMk cId="1420898996" sldId="2975"/>
        </pc:sldMkLst>
        <pc:spChg chg="add mod">
          <ac:chgData name="Alejandra Sabogal Ortiz" userId="36e28ec1-e4a6-4bd5-8eda-8611a8c0ec64" providerId="ADAL" clId="{0D6E544F-8736-44EA-A19F-B9348426EF62}" dt="2026-09-17T20:29:53.775" v="4695" actId="20577"/>
          <ac:spMkLst>
            <pc:docMk/>
            <pc:sldMk cId="1420898996" sldId="2975"/>
            <ac:spMk id="5" creationId="{F2A651F2-4BDC-3A3E-BDA4-8F4D5CA5FB58}"/>
          </ac:spMkLst>
        </pc:spChg>
        <pc:spChg chg="mod">
          <ac:chgData name="Alejandra Sabogal Ortiz" userId="36e28ec1-e4a6-4bd5-8eda-8611a8c0ec64" providerId="ADAL" clId="{0D6E544F-8736-44EA-A19F-B9348426EF62}" dt="2026-09-17T20:20:42.160" v="4649" actId="20577"/>
          <ac:spMkLst>
            <pc:docMk/>
            <pc:sldMk cId="1420898996" sldId="2975"/>
            <ac:spMk id="9" creationId="{0262659D-9A90-D4C0-3AFE-C5CD40B73DEF}"/>
          </ac:spMkLst>
        </pc:spChg>
        <pc:graphicFrameChg chg="mod modGraphic">
          <ac:chgData name="Alejandra Sabogal Ortiz" userId="36e28ec1-e4a6-4bd5-8eda-8611a8c0ec64" providerId="ADAL" clId="{0D6E544F-8736-44EA-A19F-B9348426EF62}" dt="2026-09-17T20:12:44.829" v="4622" actId="14100"/>
          <ac:graphicFrameMkLst>
            <pc:docMk/>
            <pc:sldMk cId="1420898996" sldId="2975"/>
            <ac:graphicFrameMk id="2" creationId="{CCF86375-8ADB-FA29-2542-2619F445425F}"/>
          </ac:graphicFrameMkLst>
        </pc:graphicFrameChg>
        <pc:graphicFrameChg chg="modGraphic">
          <ac:chgData name="Alejandra Sabogal Ortiz" userId="36e28ec1-e4a6-4bd5-8eda-8611a8c0ec64" providerId="ADAL" clId="{0D6E544F-8736-44EA-A19F-B9348426EF62}" dt="2026-09-17T20:21:12.739" v="4662" actId="207"/>
          <ac:graphicFrameMkLst>
            <pc:docMk/>
            <pc:sldMk cId="1420898996" sldId="2975"/>
            <ac:graphicFrameMk id="6" creationId="{4AE49CD0-B8D0-C976-1940-99AE38A00053}"/>
          </ac:graphicFrameMkLst>
        </pc:graphicFrameChg>
      </pc:sldChg>
      <pc:sldChg chg="addSp delSp modSp add mod">
        <pc:chgData name="Alejandra Sabogal Ortiz" userId="36e28ec1-e4a6-4bd5-8eda-8611a8c0ec64" providerId="ADAL" clId="{0D6E544F-8736-44EA-A19F-B9348426EF62}" dt="2026-09-17T23:15:26.242" v="5090" actId="20577"/>
        <pc:sldMkLst>
          <pc:docMk/>
          <pc:sldMk cId="152930717" sldId="2976"/>
        </pc:sldMkLst>
        <pc:spChg chg="mod">
          <ac:chgData name="Alejandra Sabogal Ortiz" userId="36e28ec1-e4a6-4bd5-8eda-8611a8c0ec64" providerId="ADAL" clId="{0D6E544F-8736-44EA-A19F-B9348426EF62}" dt="2026-09-17T23:15:26.242" v="5090" actId="20577"/>
          <ac:spMkLst>
            <pc:docMk/>
            <pc:sldMk cId="152930717" sldId="2976"/>
            <ac:spMk id="2" creationId="{64808A7D-C1B3-DD6C-E790-89B58B3739BF}"/>
          </ac:spMkLst>
        </pc:spChg>
        <pc:spChg chg="mod">
          <ac:chgData name="Alejandra Sabogal Ortiz" userId="36e28ec1-e4a6-4bd5-8eda-8611a8c0ec64" providerId="ADAL" clId="{0D6E544F-8736-44EA-A19F-B9348426EF62}" dt="2026-09-17T20:34:50.529" v="4732" actId="113"/>
          <ac:spMkLst>
            <pc:docMk/>
            <pc:sldMk cId="152930717" sldId="2976"/>
            <ac:spMk id="3" creationId="{59B67C9E-68A9-7E40-6F6E-BC931973DEB0}"/>
          </ac:spMkLst>
        </pc:spChg>
        <pc:spChg chg="mod">
          <ac:chgData name="Alejandra Sabogal Ortiz" userId="36e28ec1-e4a6-4bd5-8eda-8611a8c0ec64" providerId="ADAL" clId="{0D6E544F-8736-44EA-A19F-B9348426EF62}" dt="2026-09-17T23:13:39.425" v="5066" actId="1076"/>
          <ac:spMkLst>
            <pc:docMk/>
            <pc:sldMk cId="152930717" sldId="2976"/>
            <ac:spMk id="6" creationId="{7C497E83-8F65-DE94-68FA-1D7329A57561}"/>
          </ac:spMkLst>
        </pc:spChg>
        <pc:graphicFrameChg chg="add mod modGraphic">
          <ac:chgData name="Alejandra Sabogal Ortiz" userId="36e28ec1-e4a6-4bd5-8eda-8611a8c0ec64" providerId="ADAL" clId="{0D6E544F-8736-44EA-A19F-B9348426EF62}" dt="2026-09-17T23:13:53.316" v="5069" actId="14100"/>
          <ac:graphicFrameMkLst>
            <pc:docMk/>
            <pc:sldMk cId="152930717" sldId="2976"/>
            <ac:graphicFrameMk id="5" creationId="{0C34E0EB-9CC9-34CF-2523-FFDAF1CA5F01}"/>
          </ac:graphicFrameMkLst>
        </pc:graphicFrameChg>
      </pc:sldChg>
      <pc:sldChg chg="addSp delSp modSp add del mod">
        <pc:chgData name="Alejandra Sabogal Ortiz" userId="36e28ec1-e4a6-4bd5-8eda-8611a8c0ec64" providerId="ADAL" clId="{0D6E544F-8736-44EA-A19F-B9348426EF62}" dt="2026-09-17T22:21:20.384" v="5054" actId="27918"/>
        <pc:sldMkLst>
          <pc:docMk/>
          <pc:sldMk cId="851260785" sldId="2977"/>
        </pc:sldMkLst>
        <pc:spChg chg="add mod">
          <ac:chgData name="Alejandra Sabogal Ortiz" userId="36e28ec1-e4a6-4bd5-8eda-8611a8c0ec64" providerId="ADAL" clId="{0D6E544F-8736-44EA-A19F-B9348426EF62}" dt="2026-09-17T22:18:38.442" v="5053" actId="123"/>
          <ac:spMkLst>
            <pc:docMk/>
            <pc:sldMk cId="851260785" sldId="2977"/>
            <ac:spMk id="9" creationId="{ED33F0F3-FAFB-C9DA-18B7-F35ECDFC4F03}"/>
          </ac:spMkLst>
        </pc:spChg>
        <pc:graphicFrameChg chg="add mod">
          <ac:chgData name="Alejandra Sabogal Ortiz" userId="36e28ec1-e4a6-4bd5-8eda-8611a8c0ec64" providerId="ADAL" clId="{0D6E544F-8736-44EA-A19F-B9348426EF62}" dt="2026-09-17T22:17:40.996" v="5049" actId="255"/>
          <ac:graphicFrameMkLst>
            <pc:docMk/>
            <pc:sldMk cId="851260785" sldId="2977"/>
            <ac:graphicFrameMk id="7" creationId="{AC25C83E-7269-C360-A495-7FC7BF360272}"/>
          </ac:graphicFrameMkLst>
        </pc:graphicFrameChg>
      </pc:sldChg>
      <pc:sldChg chg="addSp delSp modSp add mod">
        <pc:chgData name="Alejandra Sabogal Ortiz" userId="36e28ec1-e4a6-4bd5-8eda-8611a8c0ec64" providerId="ADAL" clId="{0D6E544F-8736-44EA-A19F-B9348426EF62}" dt="2026-09-17T23:23:45.179" v="5530" actId="6549"/>
        <pc:sldMkLst>
          <pc:docMk/>
          <pc:sldMk cId="446376352" sldId="2978"/>
        </pc:sldMkLst>
        <pc:spChg chg="mod">
          <ac:chgData name="Alejandra Sabogal Ortiz" userId="36e28ec1-e4a6-4bd5-8eda-8611a8c0ec64" providerId="ADAL" clId="{0D6E544F-8736-44EA-A19F-B9348426EF62}" dt="2026-09-17T23:19:03.490" v="5272" actId="20577"/>
          <ac:spMkLst>
            <pc:docMk/>
            <pc:sldMk cId="446376352" sldId="2978"/>
            <ac:spMk id="2" creationId="{45CCA757-1110-CD02-89A7-D03512B510D4}"/>
          </ac:spMkLst>
        </pc:spChg>
        <pc:spChg chg="mod">
          <ac:chgData name="Alejandra Sabogal Ortiz" userId="36e28ec1-e4a6-4bd5-8eda-8611a8c0ec64" providerId="ADAL" clId="{0D6E544F-8736-44EA-A19F-B9348426EF62}" dt="2026-09-17T23:23:45.179" v="5530" actId="6549"/>
          <ac:spMkLst>
            <pc:docMk/>
            <pc:sldMk cId="446376352" sldId="2978"/>
            <ac:spMk id="6" creationId="{FD25759A-7848-F465-BCF3-E1B6351C176C}"/>
          </ac:spMkLst>
        </pc:spChg>
        <pc:graphicFrameChg chg="add mod">
          <ac:chgData name="Alejandra Sabogal Ortiz" userId="36e28ec1-e4a6-4bd5-8eda-8611a8c0ec64" providerId="ADAL" clId="{0D6E544F-8736-44EA-A19F-B9348426EF62}" dt="2026-09-17T23:18:35.898" v="5219" actId="113"/>
          <ac:graphicFrameMkLst>
            <pc:docMk/>
            <pc:sldMk cId="446376352" sldId="2978"/>
            <ac:graphicFrameMk id="4" creationId="{6E99BCD7-1DAC-2CAA-F468-3D902BCF4417}"/>
          </ac:graphicFrameMkLst>
        </pc:graphicFrameChg>
        <pc:graphicFrameChg chg="add mod">
          <ac:chgData name="Alejandra Sabogal Ortiz" userId="36e28ec1-e4a6-4bd5-8eda-8611a8c0ec64" providerId="ADAL" clId="{0D6E544F-8736-44EA-A19F-B9348426EF62}" dt="2026-09-17T23:18:39.405" v="5220" actId="207"/>
          <ac:graphicFrameMkLst>
            <pc:docMk/>
            <pc:sldMk cId="446376352" sldId="2978"/>
            <ac:graphicFrameMk id="8" creationId="{3899C51E-5A99-2D9A-C6C7-F9A2BB8A1FEB}"/>
          </ac:graphicFrameMkLst>
        </pc:graphicFrameChg>
      </pc:sldChg>
      <pc:sldChg chg="addSp delSp modSp add mod">
        <pc:chgData name="Alejandra Sabogal Ortiz" userId="36e28ec1-e4a6-4bd5-8eda-8611a8c0ec64" providerId="ADAL" clId="{0D6E544F-8736-44EA-A19F-B9348426EF62}" dt="2026-10-12T16:24:18.444" v="5877" actId="20577"/>
        <pc:sldMkLst>
          <pc:docMk/>
          <pc:sldMk cId="443011251" sldId="2983"/>
        </pc:sldMkLst>
        <pc:spChg chg="mod">
          <ac:chgData name="Alejandra Sabogal Ortiz" userId="36e28ec1-e4a6-4bd5-8eda-8611a8c0ec64" providerId="ADAL" clId="{0D6E544F-8736-44EA-A19F-B9348426EF62}" dt="2026-10-12T16:24:18.444" v="5877" actId="20577"/>
          <ac:spMkLst>
            <pc:docMk/>
            <pc:sldMk cId="443011251" sldId="2983"/>
            <ac:spMk id="3" creationId="{D1D2D72F-DF46-03A6-B846-1D8001AD8421}"/>
          </ac:spMkLst>
        </pc:spChg>
        <pc:spChg chg="mod">
          <ac:chgData name="Alejandra Sabogal Ortiz" userId="36e28ec1-e4a6-4bd5-8eda-8611a8c0ec64" providerId="ADAL" clId="{0D6E544F-8736-44EA-A19F-B9348426EF62}" dt="2026-10-12T16:23:56" v="5874" actId="1076"/>
          <ac:spMkLst>
            <pc:docMk/>
            <pc:sldMk cId="443011251" sldId="2983"/>
            <ac:spMk id="8" creationId="{EEBA7247-1881-3F3B-F291-6C7BC3F25800}"/>
          </ac:spMkLst>
        </pc:spChg>
        <pc:graphicFrameChg chg="add mod">
          <ac:chgData name="Alejandra Sabogal Ortiz" userId="36e28ec1-e4a6-4bd5-8eda-8611a8c0ec64" providerId="ADAL" clId="{0D6E544F-8736-44EA-A19F-B9348426EF62}" dt="2026-10-12T16:15:00.419" v="5665" actId="255"/>
          <ac:graphicFrameMkLst>
            <pc:docMk/>
            <pc:sldMk cId="443011251" sldId="2983"/>
            <ac:graphicFrameMk id="5" creationId="{4EC00AD7-28D6-C1C5-B25A-D306B017DA96}"/>
          </ac:graphicFrameMkLst>
        </pc:graphicFrameChg>
      </pc:sldChg>
    </pc:docChg>
  </pc:docChgLst>
  <pc:docChgLst>
    <pc:chgData name="Carlos Ducuara" userId="57fb0e70-fcc5-479c-850f-816bdc928046" providerId="ADAL" clId="{386DD68D-3EAA-4534-97EE-8C9E206C8F22}"/>
    <pc:docChg chg="undo redo custSel addSld delSld modSld">
      <pc:chgData name="Carlos Ducuara" userId="57fb0e70-fcc5-479c-850f-816bdc928046" providerId="ADAL" clId="{386DD68D-3EAA-4534-97EE-8C9E206C8F22}" dt="2026-10-14T13:52:53.543" v="9213" actId="47"/>
      <pc:docMkLst>
        <pc:docMk/>
      </pc:docMkLst>
      <pc:sldChg chg="del">
        <pc:chgData name="Carlos Ducuara" userId="57fb0e70-fcc5-479c-850f-816bdc928046" providerId="ADAL" clId="{386DD68D-3EAA-4534-97EE-8C9E206C8F22}" dt="2026-10-14T13:39:32.236" v="9122" actId="47"/>
        <pc:sldMkLst>
          <pc:docMk/>
          <pc:sldMk cId="3666144290" sldId="257"/>
        </pc:sldMkLst>
      </pc:sldChg>
      <pc:sldChg chg="addSp add del mod">
        <pc:chgData name="Carlos Ducuara" userId="57fb0e70-fcc5-479c-850f-816bdc928046" providerId="ADAL" clId="{386DD68D-3EAA-4534-97EE-8C9E206C8F22}" dt="2026-10-11T04:19:31.595" v="8015" actId="22"/>
        <pc:sldMkLst>
          <pc:docMk/>
          <pc:sldMk cId="3435349399" sldId="262"/>
        </pc:sldMkLst>
        <pc:spChg chg="add">
          <ac:chgData name="Carlos Ducuara" userId="57fb0e70-fcc5-479c-850f-816bdc928046" providerId="ADAL" clId="{386DD68D-3EAA-4534-97EE-8C9E206C8F22}" dt="2026-10-11T04:19:31.595" v="8015" actId="22"/>
          <ac:spMkLst>
            <pc:docMk/>
            <pc:sldMk cId="3435349399" sldId="262"/>
            <ac:spMk id="4" creationId="{5721CBB4-8D27-ADA2-9A61-59D11C8C6ADE}"/>
          </ac:spMkLst>
        </pc:spChg>
      </pc:sldChg>
      <pc:sldChg chg="addSp mod">
        <pc:chgData name="Carlos Ducuara" userId="57fb0e70-fcc5-479c-850f-816bdc928046" providerId="ADAL" clId="{386DD68D-3EAA-4534-97EE-8C9E206C8F22}" dt="2026-10-11T04:19:41.762" v="8016" actId="22"/>
        <pc:sldMkLst>
          <pc:docMk/>
          <pc:sldMk cId="3117323286" sldId="282"/>
        </pc:sldMkLst>
        <pc:spChg chg="add">
          <ac:chgData name="Carlos Ducuara" userId="57fb0e70-fcc5-479c-850f-816bdc928046" providerId="ADAL" clId="{386DD68D-3EAA-4534-97EE-8C9E206C8F22}" dt="2026-10-11T04:19:41.762" v="8016" actId="22"/>
          <ac:spMkLst>
            <pc:docMk/>
            <pc:sldMk cId="3117323286" sldId="282"/>
            <ac:spMk id="4" creationId="{C1E7F525-20F7-2049-0611-1994F1E9C9A6}"/>
          </ac:spMkLst>
        </pc:spChg>
      </pc:sldChg>
      <pc:sldChg chg="addSp modSp add mod">
        <pc:chgData name="Carlos Ducuara" userId="57fb0e70-fcc5-479c-850f-816bdc928046" providerId="ADAL" clId="{386DD68D-3EAA-4534-97EE-8C9E206C8F22}" dt="2026-10-11T04:23:35.018" v="8074" actId="20577"/>
        <pc:sldMkLst>
          <pc:docMk/>
          <pc:sldMk cId="1783273295" sldId="283"/>
        </pc:sldMkLst>
        <pc:spChg chg="add mod">
          <ac:chgData name="Carlos Ducuara" userId="57fb0e70-fcc5-479c-850f-816bdc928046" providerId="ADAL" clId="{386DD68D-3EAA-4534-97EE-8C9E206C8F22}" dt="2026-10-11T04:23:35.018" v="8074" actId="20577"/>
          <ac:spMkLst>
            <pc:docMk/>
            <pc:sldMk cId="1783273295" sldId="283"/>
            <ac:spMk id="4" creationId="{DBAC9AC0-DDB1-CD93-9635-C6D1F0273A30}"/>
          </ac:spMkLst>
        </pc:spChg>
        <pc:graphicFrameChg chg="mod">
          <ac:chgData name="Carlos Ducuara" userId="57fb0e70-fcc5-479c-850f-816bdc928046" providerId="ADAL" clId="{386DD68D-3EAA-4534-97EE-8C9E206C8F22}" dt="2026-10-11T04:23:15.062" v="8058"/>
          <ac:graphicFrameMkLst>
            <pc:docMk/>
            <pc:sldMk cId="1783273295" sldId="283"/>
            <ac:graphicFrameMk id="2" creationId="{FF5DBBC6-3A94-F6FC-2925-3900C502EA54}"/>
          </ac:graphicFrameMkLst>
        </pc:graphicFrameChg>
        <pc:graphicFrameChg chg="mod">
          <ac:chgData name="Carlos Ducuara" userId="57fb0e70-fcc5-479c-850f-816bdc928046" providerId="ADAL" clId="{386DD68D-3EAA-4534-97EE-8C9E206C8F22}" dt="2026-10-11T04:22:18.747" v="8056"/>
          <ac:graphicFrameMkLst>
            <pc:docMk/>
            <pc:sldMk cId="1783273295" sldId="283"/>
            <ac:graphicFrameMk id="5" creationId="{DF76039B-1174-F827-CC1D-2BE1E72E86EE}"/>
          </ac:graphicFrameMkLst>
        </pc:graphicFrameChg>
        <pc:graphicFrameChg chg="mod">
          <ac:chgData name="Carlos Ducuara" userId="57fb0e70-fcc5-479c-850f-816bdc928046" providerId="ADAL" clId="{386DD68D-3EAA-4534-97EE-8C9E206C8F22}" dt="2026-10-11T04:22:44.236" v="8057"/>
          <ac:graphicFrameMkLst>
            <pc:docMk/>
            <pc:sldMk cId="1783273295" sldId="283"/>
            <ac:graphicFrameMk id="6" creationId="{5CF71C59-72A6-A7B9-254B-BC6EE411011D}"/>
          </ac:graphicFrameMkLst>
        </pc:graphicFrameChg>
      </pc:sldChg>
      <pc:sldChg chg="modSp add">
        <pc:chgData name="Carlos Ducuara" userId="57fb0e70-fcc5-479c-850f-816bdc928046" providerId="ADAL" clId="{386DD68D-3EAA-4534-97EE-8C9E206C8F22}" dt="2026-10-13T16:09:15.743" v="8637"/>
        <pc:sldMkLst>
          <pc:docMk/>
          <pc:sldMk cId="3040845025" sldId="284"/>
        </pc:sldMkLst>
        <pc:graphicFrameChg chg="mod">
          <ac:chgData name="Carlos Ducuara" userId="57fb0e70-fcc5-479c-850f-816bdc928046" providerId="ADAL" clId="{386DD68D-3EAA-4534-97EE-8C9E206C8F22}" dt="2026-10-13T16:09:15.743" v="8637"/>
          <ac:graphicFrameMkLst>
            <pc:docMk/>
            <pc:sldMk cId="3040845025" sldId="284"/>
            <ac:graphicFrameMk id="4" creationId="{CA9F5BDA-2A21-7D61-F607-6BEB3D8EE355}"/>
          </ac:graphicFrameMkLst>
        </pc:graphicFrameChg>
        <pc:graphicFrameChg chg="mod">
          <ac:chgData name="Carlos Ducuara" userId="57fb0e70-fcc5-479c-850f-816bdc928046" providerId="ADAL" clId="{386DD68D-3EAA-4534-97EE-8C9E206C8F22}" dt="2026-10-13T16:08:54.777" v="8635"/>
          <ac:graphicFrameMkLst>
            <pc:docMk/>
            <pc:sldMk cId="3040845025" sldId="284"/>
            <ac:graphicFrameMk id="6" creationId="{FE5B6221-411E-E965-2D5D-5E48A081C658}"/>
          </ac:graphicFrameMkLst>
        </pc:graphicFrameChg>
        <pc:graphicFrameChg chg="mod">
          <ac:chgData name="Carlos Ducuara" userId="57fb0e70-fcc5-479c-850f-816bdc928046" providerId="ADAL" clId="{386DD68D-3EAA-4534-97EE-8C9E206C8F22}" dt="2026-10-13T16:09:05.014" v="8636"/>
          <ac:graphicFrameMkLst>
            <pc:docMk/>
            <pc:sldMk cId="3040845025" sldId="284"/>
            <ac:graphicFrameMk id="11" creationId="{CB795A8E-3BBE-32B3-C9C1-E39296CB5FBF}"/>
          </ac:graphicFrameMkLst>
        </pc:graphicFrameChg>
      </pc:sldChg>
      <pc:sldChg chg="addSp delSp modSp add mod">
        <pc:chgData name="Carlos Ducuara" userId="57fb0e70-fcc5-479c-850f-816bdc928046" providerId="ADAL" clId="{386DD68D-3EAA-4534-97EE-8C9E206C8F22}" dt="2026-10-14T13:52:37.616" v="9212" actId="20577"/>
        <pc:sldMkLst>
          <pc:docMk/>
          <pc:sldMk cId="567313541" sldId="287"/>
        </pc:sldMkLst>
        <pc:spChg chg="add mod">
          <ac:chgData name="Carlos Ducuara" userId="57fb0e70-fcc5-479c-850f-816bdc928046" providerId="ADAL" clId="{386DD68D-3EAA-4534-97EE-8C9E206C8F22}" dt="2026-10-14T13:41:48.686" v="9140" actId="20577"/>
          <ac:spMkLst>
            <pc:docMk/>
            <pc:sldMk cId="567313541" sldId="287"/>
            <ac:spMk id="7" creationId="{F70AF4F2-AE83-A906-3A08-C5974BC51702}"/>
          </ac:spMkLst>
        </pc:spChg>
        <pc:spChg chg="mod">
          <ac:chgData name="Carlos Ducuara" userId="57fb0e70-fcc5-479c-850f-816bdc928046" providerId="ADAL" clId="{386DD68D-3EAA-4534-97EE-8C9E206C8F22}" dt="2026-10-14T13:45:45.568" v="9152" actId="1076"/>
          <ac:spMkLst>
            <pc:docMk/>
            <pc:sldMk cId="567313541" sldId="287"/>
            <ac:spMk id="8" creationId="{7145E097-9C82-8AB1-6046-8AD2C52CE905}"/>
          </ac:spMkLst>
        </pc:spChg>
        <pc:spChg chg="mod">
          <ac:chgData name="Carlos Ducuara" userId="57fb0e70-fcc5-479c-850f-816bdc928046" providerId="ADAL" clId="{386DD68D-3EAA-4534-97EE-8C9E206C8F22}" dt="2026-10-14T13:45:56.716" v="9153" actId="1076"/>
          <ac:spMkLst>
            <pc:docMk/>
            <pc:sldMk cId="567313541" sldId="287"/>
            <ac:spMk id="9" creationId="{34BFE3D9-5BD1-18E9-0F53-C58B913DBDBA}"/>
          </ac:spMkLst>
        </pc:spChg>
        <pc:graphicFrameChg chg="mod">
          <ac:chgData name="Carlos Ducuara" userId="57fb0e70-fcc5-479c-850f-816bdc928046" providerId="ADAL" clId="{386DD68D-3EAA-4534-97EE-8C9E206C8F22}" dt="2026-10-14T13:46:07.179" v="9154" actId="1076"/>
          <ac:graphicFrameMkLst>
            <pc:docMk/>
            <pc:sldMk cId="567313541" sldId="287"/>
            <ac:graphicFrameMk id="2" creationId="{C22CDC1D-8FA3-DB40-E579-1655CE355696}"/>
          </ac:graphicFrameMkLst>
        </pc:graphicFrameChg>
        <pc:graphicFrameChg chg="mod">
          <ac:chgData name="Carlos Ducuara" userId="57fb0e70-fcc5-479c-850f-816bdc928046" providerId="ADAL" clId="{386DD68D-3EAA-4534-97EE-8C9E206C8F22}" dt="2026-10-14T13:45:00.199" v="9149" actId="1076"/>
          <ac:graphicFrameMkLst>
            <pc:docMk/>
            <pc:sldMk cId="567313541" sldId="287"/>
            <ac:graphicFrameMk id="3" creationId="{61F21B59-0764-B4D7-FE2E-544FAC5246AC}"/>
          </ac:graphicFrameMkLst>
        </pc:graphicFrameChg>
        <pc:graphicFrameChg chg="mod">
          <ac:chgData name="Carlos Ducuara" userId="57fb0e70-fcc5-479c-850f-816bdc928046" providerId="ADAL" clId="{386DD68D-3EAA-4534-97EE-8C9E206C8F22}" dt="2026-10-14T13:45:12.436" v="9150" actId="1076"/>
          <ac:graphicFrameMkLst>
            <pc:docMk/>
            <pc:sldMk cId="567313541" sldId="287"/>
            <ac:graphicFrameMk id="4" creationId="{F43BA36B-7462-564B-E4EF-9D9BFBF33E55}"/>
          </ac:graphicFrameMkLst>
        </pc:graphicFrameChg>
        <pc:graphicFrameChg chg="del mod">
          <ac:chgData name="Carlos Ducuara" userId="57fb0e70-fcc5-479c-850f-816bdc928046" providerId="ADAL" clId="{386DD68D-3EAA-4534-97EE-8C9E206C8F22}" dt="2026-10-14T13:44:48.701" v="9148" actId="478"/>
          <ac:graphicFrameMkLst>
            <pc:docMk/>
            <pc:sldMk cId="567313541" sldId="287"/>
            <ac:graphicFrameMk id="6" creationId="{473D29D7-C319-7DF1-C4CF-87043E99254E}"/>
          </ac:graphicFrameMkLst>
        </pc:graphicFrameChg>
        <pc:graphicFrameChg chg="add mod modGraphic">
          <ac:chgData name="Carlos Ducuara" userId="57fb0e70-fcc5-479c-850f-816bdc928046" providerId="ADAL" clId="{386DD68D-3EAA-4534-97EE-8C9E206C8F22}" dt="2026-10-14T13:52:37.616" v="9212" actId="20577"/>
          <ac:graphicFrameMkLst>
            <pc:docMk/>
            <pc:sldMk cId="567313541" sldId="287"/>
            <ac:graphicFrameMk id="11" creationId="{60B95601-B6CC-DF4B-B901-F9EDF76702CA}"/>
          </ac:graphicFrameMkLst>
        </pc:graphicFrameChg>
        <pc:graphicFrameChg chg="add del mod modGraphic">
          <ac:chgData name="Carlos Ducuara" userId="57fb0e70-fcc5-479c-850f-816bdc928046" providerId="ADAL" clId="{386DD68D-3EAA-4534-97EE-8C9E206C8F22}" dt="2026-10-14T13:48:54.006" v="9169" actId="478"/>
          <ac:graphicFrameMkLst>
            <pc:docMk/>
            <pc:sldMk cId="567313541" sldId="287"/>
            <ac:graphicFrameMk id="12" creationId="{77DB3901-1B27-5F18-F045-64D8ED9F6B2D}"/>
          </ac:graphicFrameMkLst>
        </pc:graphicFrameChg>
      </pc:sldChg>
      <pc:sldChg chg="modSp mod">
        <pc:chgData name="Carlos Ducuara" userId="57fb0e70-fcc5-479c-850f-816bdc928046" providerId="ADAL" clId="{386DD68D-3EAA-4534-97EE-8C9E206C8F22}" dt="2026-10-13T13:14:32.337" v="8140" actId="20577"/>
        <pc:sldMkLst>
          <pc:docMk/>
          <pc:sldMk cId="409144049" sldId="366"/>
        </pc:sldMkLst>
        <pc:spChg chg="mod">
          <ac:chgData name="Carlos Ducuara" userId="57fb0e70-fcc5-479c-850f-816bdc928046" providerId="ADAL" clId="{386DD68D-3EAA-4534-97EE-8C9E206C8F22}" dt="2026-10-13T13:14:32.337" v="8140" actId="20577"/>
          <ac:spMkLst>
            <pc:docMk/>
            <pc:sldMk cId="409144049" sldId="366"/>
            <ac:spMk id="6" creationId="{9E603ED6-064A-C9CC-6AF5-D440B50C01EE}"/>
          </ac:spMkLst>
        </pc:spChg>
        <pc:spChg chg="mod">
          <ac:chgData name="Carlos Ducuara" userId="57fb0e70-fcc5-479c-850f-816bdc928046" providerId="ADAL" clId="{386DD68D-3EAA-4534-97EE-8C9E206C8F22}" dt="2026-10-13T13:13:19.941" v="8131" actId="20577"/>
          <ac:spMkLst>
            <pc:docMk/>
            <pc:sldMk cId="409144049" sldId="366"/>
            <ac:spMk id="7" creationId="{4D048C4B-8D37-5C0C-64D9-860C3F514649}"/>
          </ac:spMkLst>
        </pc:spChg>
      </pc:sldChg>
      <pc:sldChg chg="modSp mod">
        <pc:chgData name="Carlos Ducuara" userId="57fb0e70-fcc5-479c-850f-816bdc928046" providerId="ADAL" clId="{386DD68D-3EAA-4534-97EE-8C9E206C8F22}" dt="2026-10-14T02:24:10.736" v="8960" actId="27918"/>
        <pc:sldMkLst>
          <pc:docMk/>
          <pc:sldMk cId="156128909" sldId="2563"/>
        </pc:sldMkLst>
        <pc:spChg chg="mod">
          <ac:chgData name="Carlos Ducuara" userId="57fb0e70-fcc5-479c-850f-816bdc928046" providerId="ADAL" clId="{386DD68D-3EAA-4534-97EE-8C9E206C8F22}" dt="2026-10-13T13:38:45.090" v="8316" actId="20577"/>
          <ac:spMkLst>
            <pc:docMk/>
            <pc:sldMk cId="156128909" sldId="2563"/>
            <ac:spMk id="2" creationId="{945FA123-1632-4667-8222-F086B1F555E7}"/>
          </ac:spMkLst>
        </pc:spChg>
        <pc:graphicFrameChg chg="mod modGraphic">
          <ac:chgData name="Carlos Ducuara" userId="57fb0e70-fcc5-479c-850f-816bdc928046" providerId="ADAL" clId="{386DD68D-3EAA-4534-97EE-8C9E206C8F22}" dt="2026-10-13T13:32:51.585" v="8287" actId="20577"/>
          <ac:graphicFrameMkLst>
            <pc:docMk/>
            <pc:sldMk cId="156128909" sldId="2563"/>
            <ac:graphicFrameMk id="5" creationId="{1F67E838-8DEA-A272-E4F3-CB600C8E044C}"/>
          </ac:graphicFrameMkLst>
        </pc:graphicFrameChg>
        <pc:graphicFrameChg chg="mod modGraphic">
          <ac:chgData name="Carlos Ducuara" userId="57fb0e70-fcc5-479c-850f-816bdc928046" providerId="ADAL" clId="{386DD68D-3EAA-4534-97EE-8C9E206C8F22}" dt="2026-10-13T13:32:32.340" v="8271" actId="20577"/>
          <ac:graphicFrameMkLst>
            <pc:docMk/>
            <pc:sldMk cId="156128909" sldId="2563"/>
            <ac:graphicFrameMk id="6" creationId="{A6CC091E-51F9-71CF-CBD7-B2C823367F85}"/>
          </ac:graphicFrameMkLst>
        </pc:graphicFrameChg>
      </pc:sldChg>
      <pc:sldChg chg="modSp mod">
        <pc:chgData name="Carlos Ducuara" userId="57fb0e70-fcc5-479c-850f-816bdc928046" providerId="ADAL" clId="{386DD68D-3EAA-4534-97EE-8C9E206C8F22}" dt="2026-10-14T02:24:10.801" v="8964" actId="27918"/>
        <pc:sldMkLst>
          <pc:docMk/>
          <pc:sldMk cId="3831153175" sldId="2564"/>
        </pc:sldMkLst>
        <pc:spChg chg="mod">
          <ac:chgData name="Carlos Ducuara" userId="57fb0e70-fcc5-479c-850f-816bdc928046" providerId="ADAL" clId="{386DD68D-3EAA-4534-97EE-8C9E206C8F22}" dt="2026-10-13T14:06:53.627" v="8366" actId="20577"/>
          <ac:spMkLst>
            <pc:docMk/>
            <pc:sldMk cId="3831153175" sldId="2564"/>
            <ac:spMk id="5" creationId="{BA889154-4A47-48CD-78B2-E0E9B907AA76}"/>
          </ac:spMkLst>
        </pc:spChg>
        <pc:graphicFrameChg chg="mod modGraphic">
          <ac:chgData name="Carlos Ducuara" userId="57fb0e70-fcc5-479c-850f-816bdc928046" providerId="ADAL" clId="{386DD68D-3EAA-4534-97EE-8C9E206C8F22}" dt="2026-10-13T14:16:36.679" v="8387" actId="20577"/>
          <ac:graphicFrameMkLst>
            <pc:docMk/>
            <pc:sldMk cId="3831153175" sldId="2564"/>
            <ac:graphicFrameMk id="2" creationId="{BC83576D-8633-9EBE-E6D2-7B6C8FF016FC}"/>
          </ac:graphicFrameMkLst>
        </pc:graphicFrameChg>
        <pc:graphicFrameChg chg="mod modGraphic">
          <ac:chgData name="Carlos Ducuara" userId="57fb0e70-fcc5-479c-850f-816bdc928046" providerId="ADAL" clId="{386DD68D-3EAA-4534-97EE-8C9E206C8F22}" dt="2026-10-13T14:04:53.171" v="8340" actId="20577"/>
          <ac:graphicFrameMkLst>
            <pc:docMk/>
            <pc:sldMk cId="3831153175" sldId="2564"/>
            <ac:graphicFrameMk id="3" creationId="{71E6D6DF-9B92-D0F1-BBAF-60E60A5C6BC6}"/>
          </ac:graphicFrameMkLst>
        </pc:graphicFrameChg>
      </pc:sldChg>
      <pc:sldChg chg="modSp mod">
        <pc:chgData name="Carlos Ducuara" userId="57fb0e70-fcc5-479c-850f-816bdc928046" providerId="ADAL" clId="{386DD68D-3EAA-4534-97EE-8C9E206C8F22}" dt="2026-10-14T02:24:10.670" v="8956" actId="27918"/>
        <pc:sldMkLst>
          <pc:docMk/>
          <pc:sldMk cId="3176042076" sldId="2597"/>
        </pc:sldMkLst>
        <pc:spChg chg="mod">
          <ac:chgData name="Carlos Ducuara" userId="57fb0e70-fcc5-479c-850f-816bdc928046" providerId="ADAL" clId="{386DD68D-3EAA-4534-97EE-8C9E206C8F22}" dt="2026-10-13T13:32:10.057" v="8255" actId="20577"/>
          <ac:spMkLst>
            <pc:docMk/>
            <pc:sldMk cId="3176042076" sldId="2597"/>
            <ac:spMk id="2" creationId="{1D04565D-0F69-6A92-71FC-1C609EF1CE8C}"/>
          </ac:spMkLst>
        </pc:spChg>
      </pc:sldChg>
      <pc:sldChg chg="modSp mod">
        <pc:chgData name="Carlos Ducuara" userId="57fb0e70-fcc5-479c-850f-816bdc928046" providerId="ADAL" clId="{386DD68D-3EAA-4534-97EE-8C9E206C8F22}" dt="2026-10-08T20:06:56.219" v="7385" actId="20577"/>
        <pc:sldMkLst>
          <pc:docMk/>
          <pc:sldMk cId="1685655248" sldId="2607"/>
        </pc:sldMkLst>
        <pc:spChg chg="mod">
          <ac:chgData name="Carlos Ducuara" userId="57fb0e70-fcc5-479c-850f-816bdc928046" providerId="ADAL" clId="{386DD68D-3EAA-4534-97EE-8C9E206C8F22}" dt="2026-10-08T20:06:56.219" v="7385" actId="20577"/>
          <ac:spMkLst>
            <pc:docMk/>
            <pc:sldMk cId="1685655248" sldId="2607"/>
            <ac:spMk id="3" creationId="{77234A24-B756-58AC-4B4C-73467031EE41}"/>
          </ac:spMkLst>
        </pc:spChg>
      </pc:sldChg>
      <pc:sldChg chg="modSp mod">
        <pc:chgData name="Carlos Ducuara" userId="57fb0e70-fcc5-479c-850f-816bdc928046" providerId="ADAL" clId="{386DD68D-3EAA-4534-97EE-8C9E206C8F22}" dt="2026-10-13T13:09:34.938" v="8090" actId="20577"/>
        <pc:sldMkLst>
          <pc:docMk/>
          <pc:sldMk cId="3790711660" sldId="2608"/>
        </pc:sldMkLst>
        <pc:spChg chg="mod">
          <ac:chgData name="Carlos Ducuara" userId="57fb0e70-fcc5-479c-850f-816bdc928046" providerId="ADAL" clId="{386DD68D-3EAA-4534-97EE-8C9E206C8F22}" dt="2026-10-13T13:09:34.938" v="8090" actId="20577"/>
          <ac:spMkLst>
            <pc:docMk/>
            <pc:sldMk cId="3790711660" sldId="2608"/>
            <ac:spMk id="3" creationId="{34B8F34D-49D0-7803-4EC5-88B39D3055E7}"/>
          </ac:spMkLst>
        </pc:spChg>
      </pc:sldChg>
      <pc:sldChg chg="modSp mod">
        <pc:chgData name="Carlos Ducuara" userId="57fb0e70-fcc5-479c-850f-816bdc928046" providerId="ADAL" clId="{386DD68D-3EAA-4534-97EE-8C9E206C8F22}" dt="2026-10-13T16:09:35.195" v="8653" actId="20577"/>
        <pc:sldMkLst>
          <pc:docMk/>
          <pc:sldMk cId="2158353188" sldId="2609"/>
        </pc:sldMkLst>
        <pc:spChg chg="mod">
          <ac:chgData name="Carlos Ducuara" userId="57fb0e70-fcc5-479c-850f-816bdc928046" providerId="ADAL" clId="{386DD68D-3EAA-4534-97EE-8C9E206C8F22}" dt="2026-10-13T16:09:35.195" v="8653" actId="20577"/>
          <ac:spMkLst>
            <pc:docMk/>
            <pc:sldMk cId="2158353188" sldId="2609"/>
            <ac:spMk id="3" creationId="{6481577C-9A1D-E86F-7EF1-13068D2CF6A7}"/>
          </ac:spMkLst>
        </pc:spChg>
      </pc:sldChg>
      <pc:sldChg chg="addSp modSp add mod">
        <pc:chgData name="Carlos Ducuara" userId="57fb0e70-fcc5-479c-850f-816bdc928046" providerId="ADAL" clId="{386DD68D-3EAA-4534-97EE-8C9E206C8F22}" dt="2026-09-14T03:23:06.806" v="6347" actId="20577"/>
        <pc:sldMkLst>
          <pc:docMk/>
          <pc:sldMk cId="3027570898" sldId="2639"/>
        </pc:sldMkLst>
        <pc:spChg chg="add mod">
          <ac:chgData name="Carlos Ducuara" userId="57fb0e70-fcc5-479c-850f-816bdc928046" providerId="ADAL" clId="{386DD68D-3EAA-4534-97EE-8C9E206C8F22}" dt="2026-09-14T03:23:06.806" v="6347" actId="20577"/>
          <ac:spMkLst>
            <pc:docMk/>
            <pc:sldMk cId="3027570898" sldId="2639"/>
            <ac:spMk id="4" creationId="{CD94680E-A964-4E7E-637E-BAEB4E89CB8B}"/>
          </ac:spMkLst>
        </pc:spChg>
      </pc:sldChg>
      <pc:sldChg chg="addSp delSp modSp mod">
        <pc:chgData name="Carlos Ducuara" userId="57fb0e70-fcc5-479c-850f-816bdc928046" providerId="ADAL" clId="{386DD68D-3EAA-4534-97EE-8C9E206C8F22}" dt="2026-10-11T03:01:07.287" v="7763" actId="20577"/>
        <pc:sldMkLst>
          <pc:docMk/>
          <pc:sldMk cId="3246173242" sldId="2641"/>
        </pc:sldMkLst>
        <pc:spChg chg="mod">
          <ac:chgData name="Carlos Ducuara" userId="57fb0e70-fcc5-479c-850f-816bdc928046" providerId="ADAL" clId="{386DD68D-3EAA-4534-97EE-8C9E206C8F22}" dt="2026-10-11T03:00:47.124" v="7743" actId="20577"/>
          <ac:spMkLst>
            <pc:docMk/>
            <pc:sldMk cId="3246173242" sldId="2641"/>
            <ac:spMk id="8" creationId="{645CF7D5-7A05-91B1-3EAB-D07511ED4CA2}"/>
          </ac:spMkLst>
        </pc:spChg>
        <pc:spChg chg="mod">
          <ac:chgData name="Carlos Ducuara" userId="57fb0e70-fcc5-479c-850f-816bdc928046" providerId="ADAL" clId="{386DD68D-3EAA-4534-97EE-8C9E206C8F22}" dt="2026-10-11T03:01:07.287" v="7763" actId="20577"/>
          <ac:spMkLst>
            <pc:docMk/>
            <pc:sldMk cId="3246173242" sldId="2641"/>
            <ac:spMk id="9" creationId="{B704E841-9C53-EC03-C1C6-A551AAFC72AB}"/>
          </ac:spMkLst>
        </pc:spChg>
        <pc:graphicFrameChg chg="add mod modGraphic">
          <ac:chgData name="Carlos Ducuara" userId="57fb0e70-fcc5-479c-850f-816bdc928046" providerId="ADAL" clId="{386DD68D-3EAA-4534-97EE-8C9E206C8F22}" dt="2026-10-11T02:59:23.038" v="7727" actId="14100"/>
          <ac:graphicFrameMkLst>
            <pc:docMk/>
            <pc:sldMk cId="3246173242" sldId="2641"/>
            <ac:graphicFrameMk id="4" creationId="{876754D5-14BD-1AAA-E5B1-4D09F235EF94}"/>
          </ac:graphicFrameMkLst>
        </pc:graphicFrameChg>
      </pc:sldChg>
      <pc:sldChg chg="modSp mod">
        <pc:chgData name="Carlos Ducuara" userId="57fb0e70-fcc5-479c-850f-816bdc928046" providerId="ADAL" clId="{386DD68D-3EAA-4534-97EE-8C9E206C8F22}" dt="2026-10-11T03:54:16.653" v="7957" actId="20577"/>
        <pc:sldMkLst>
          <pc:docMk/>
          <pc:sldMk cId="1531514891" sldId="2647"/>
        </pc:sldMkLst>
        <pc:spChg chg="mod">
          <ac:chgData name="Carlos Ducuara" userId="57fb0e70-fcc5-479c-850f-816bdc928046" providerId="ADAL" clId="{386DD68D-3EAA-4534-97EE-8C9E206C8F22}" dt="2026-10-11T03:54:16.653" v="7957" actId="20577"/>
          <ac:spMkLst>
            <pc:docMk/>
            <pc:sldMk cId="1531514891" sldId="2647"/>
            <ac:spMk id="3" creationId="{374753A9-8DA8-3F1A-A69E-9746A764BAD8}"/>
          </ac:spMkLst>
        </pc:spChg>
        <pc:spChg chg="mod">
          <ac:chgData name="Carlos Ducuara" userId="57fb0e70-fcc5-479c-850f-816bdc928046" providerId="ADAL" clId="{386DD68D-3EAA-4534-97EE-8C9E206C8F22}" dt="2026-10-11T03:52:32.740" v="7909" actId="20577"/>
          <ac:spMkLst>
            <pc:docMk/>
            <pc:sldMk cId="1531514891" sldId="2647"/>
            <ac:spMk id="4" creationId="{17954185-4D35-5D1A-D941-4D80422C4D0A}"/>
          </ac:spMkLst>
        </pc:spChg>
        <pc:graphicFrameChg chg="modGraphic">
          <ac:chgData name="Carlos Ducuara" userId="57fb0e70-fcc5-479c-850f-816bdc928046" providerId="ADAL" clId="{386DD68D-3EAA-4534-97EE-8C9E206C8F22}" dt="2026-10-11T03:53:19.608" v="7919" actId="20577"/>
          <ac:graphicFrameMkLst>
            <pc:docMk/>
            <pc:sldMk cId="1531514891" sldId="2647"/>
            <ac:graphicFrameMk id="7" creationId="{26CF9428-EF4F-831F-9EC4-7C4754C8A958}"/>
          </ac:graphicFrameMkLst>
        </pc:graphicFrameChg>
      </pc:sldChg>
      <pc:sldChg chg="modSp mod">
        <pc:chgData name="Carlos Ducuara" userId="57fb0e70-fcc5-479c-850f-816bdc928046" providerId="ADAL" clId="{386DD68D-3EAA-4534-97EE-8C9E206C8F22}" dt="2026-10-09T19:51:26.132" v="7464" actId="20577"/>
        <pc:sldMkLst>
          <pc:docMk/>
          <pc:sldMk cId="1479609786" sldId="2664"/>
        </pc:sldMkLst>
        <pc:spChg chg="mod">
          <ac:chgData name="Carlos Ducuara" userId="57fb0e70-fcc5-479c-850f-816bdc928046" providerId="ADAL" clId="{386DD68D-3EAA-4534-97EE-8C9E206C8F22}" dt="2026-10-09T19:50:57.373" v="7451" actId="20577"/>
          <ac:spMkLst>
            <pc:docMk/>
            <pc:sldMk cId="1479609786" sldId="2664"/>
            <ac:spMk id="6" creationId="{1D68937D-DFD3-3AF0-0C11-E471118ABFBC}"/>
          </ac:spMkLst>
        </pc:spChg>
        <pc:spChg chg="mod">
          <ac:chgData name="Carlos Ducuara" userId="57fb0e70-fcc5-479c-850f-816bdc928046" providerId="ADAL" clId="{386DD68D-3EAA-4534-97EE-8C9E206C8F22}" dt="2026-10-09T19:51:26.132" v="7464" actId="20577"/>
          <ac:spMkLst>
            <pc:docMk/>
            <pc:sldMk cId="1479609786" sldId="2664"/>
            <ac:spMk id="9" creationId="{8E1B006C-B84C-2D5F-80A2-71D44296E8EC}"/>
          </ac:spMkLst>
        </pc:spChg>
        <pc:graphicFrameChg chg="modGraphic">
          <ac:chgData name="Carlos Ducuara" userId="57fb0e70-fcc5-479c-850f-816bdc928046" providerId="ADAL" clId="{386DD68D-3EAA-4534-97EE-8C9E206C8F22}" dt="2026-10-09T19:39:42.032" v="7426" actId="20577"/>
          <ac:graphicFrameMkLst>
            <pc:docMk/>
            <pc:sldMk cId="1479609786" sldId="2664"/>
            <ac:graphicFrameMk id="3" creationId="{EADE6810-495D-EBE0-877A-7674C59F83E2}"/>
          </ac:graphicFrameMkLst>
        </pc:graphicFrameChg>
      </pc:sldChg>
      <pc:sldChg chg="modSp mod">
        <pc:chgData name="Carlos Ducuara" userId="57fb0e70-fcc5-479c-850f-816bdc928046" providerId="ADAL" clId="{386DD68D-3EAA-4534-97EE-8C9E206C8F22}" dt="2026-10-09T21:26:47.604" v="7556" actId="20577"/>
        <pc:sldMkLst>
          <pc:docMk/>
          <pc:sldMk cId="630329418" sldId="2665"/>
        </pc:sldMkLst>
        <pc:spChg chg="mod">
          <ac:chgData name="Carlos Ducuara" userId="57fb0e70-fcc5-479c-850f-816bdc928046" providerId="ADAL" clId="{386DD68D-3EAA-4534-97EE-8C9E206C8F22}" dt="2026-10-09T21:26:47.604" v="7556" actId="20577"/>
          <ac:spMkLst>
            <pc:docMk/>
            <pc:sldMk cId="630329418" sldId="2665"/>
            <ac:spMk id="4" creationId="{2193EB8B-339E-56BF-7E9A-1346254A5FF5}"/>
          </ac:spMkLst>
        </pc:spChg>
        <pc:spChg chg="mod">
          <ac:chgData name="Carlos Ducuara" userId="57fb0e70-fcc5-479c-850f-816bdc928046" providerId="ADAL" clId="{386DD68D-3EAA-4534-97EE-8C9E206C8F22}" dt="2026-10-09T21:24:09.122" v="7522" actId="20577"/>
          <ac:spMkLst>
            <pc:docMk/>
            <pc:sldMk cId="630329418" sldId="2665"/>
            <ac:spMk id="6" creationId="{CE92484D-2F15-D00A-7A25-5CC98B2C065A}"/>
          </ac:spMkLst>
        </pc:spChg>
      </pc:sldChg>
      <pc:sldChg chg="addSp delSp modSp mod">
        <pc:chgData name="Carlos Ducuara" userId="57fb0e70-fcc5-479c-850f-816bdc928046" providerId="ADAL" clId="{386DD68D-3EAA-4534-97EE-8C9E206C8F22}" dt="2026-10-13T14:52:06.393" v="8561" actId="20577"/>
        <pc:sldMkLst>
          <pc:docMk/>
          <pc:sldMk cId="1752614807" sldId="2681"/>
        </pc:sldMkLst>
        <pc:spChg chg="mod">
          <ac:chgData name="Carlos Ducuara" userId="57fb0e70-fcc5-479c-850f-816bdc928046" providerId="ADAL" clId="{386DD68D-3EAA-4534-97EE-8C9E206C8F22}" dt="2026-10-13T14:52:06.393" v="8561" actId="20577"/>
          <ac:spMkLst>
            <pc:docMk/>
            <pc:sldMk cId="1752614807" sldId="2681"/>
            <ac:spMk id="8" creationId="{D63071D4-D068-B57C-0948-7235609E65DD}"/>
          </ac:spMkLst>
        </pc:spChg>
        <pc:graphicFrameChg chg="add mod">
          <ac:chgData name="Carlos Ducuara" userId="57fb0e70-fcc5-479c-850f-816bdc928046" providerId="ADAL" clId="{386DD68D-3EAA-4534-97EE-8C9E206C8F22}" dt="2026-10-13T14:48:33.675" v="8474"/>
          <ac:graphicFrameMkLst>
            <pc:docMk/>
            <pc:sldMk cId="1752614807" sldId="2681"/>
            <ac:graphicFrameMk id="3" creationId="{EA746986-4D07-B184-551E-31DAA27EA68B}"/>
          </ac:graphicFrameMkLst>
        </pc:graphicFrameChg>
        <pc:graphicFrameChg chg="add mod modGraphic">
          <ac:chgData name="Carlos Ducuara" userId="57fb0e70-fcc5-479c-850f-816bdc928046" providerId="ADAL" clId="{386DD68D-3EAA-4534-97EE-8C9E206C8F22}" dt="2026-10-13T14:51:55.197" v="8545" actId="14734"/>
          <ac:graphicFrameMkLst>
            <pc:docMk/>
            <pc:sldMk cId="1752614807" sldId="2681"/>
            <ac:graphicFrameMk id="4" creationId="{42274D98-11ED-992B-0EC1-FCCB9EECAB03}"/>
          </ac:graphicFrameMkLst>
        </pc:graphicFrameChg>
        <pc:picChg chg="add del mod">
          <ac:chgData name="Carlos Ducuara" userId="57fb0e70-fcc5-479c-850f-816bdc928046" providerId="ADAL" clId="{386DD68D-3EAA-4534-97EE-8C9E206C8F22}" dt="2026-10-13T14:48:14.632" v="8473" actId="478"/>
          <ac:picMkLst>
            <pc:docMk/>
            <pc:sldMk cId="1752614807" sldId="2681"/>
            <ac:picMk id="5" creationId="{AE07F6F3-6550-CD1A-267A-6DC68EA4E70F}"/>
          </ac:picMkLst>
        </pc:picChg>
      </pc:sldChg>
      <pc:sldChg chg="modSp mod">
        <pc:chgData name="Carlos Ducuara" userId="57fb0e70-fcc5-479c-850f-816bdc928046" providerId="ADAL" clId="{386DD68D-3EAA-4534-97EE-8C9E206C8F22}" dt="2026-10-14T02:24:10.628" v="8954" actId="27918"/>
        <pc:sldMkLst>
          <pc:docMk/>
          <pc:sldMk cId="4166650709" sldId="2741"/>
        </pc:sldMkLst>
        <pc:spChg chg="mod">
          <ac:chgData name="Carlos Ducuara" userId="57fb0e70-fcc5-479c-850f-816bdc928046" providerId="ADAL" clId="{386DD68D-3EAA-4534-97EE-8C9E206C8F22}" dt="2026-10-10T22:20:57.023" v="7667" actId="20577"/>
          <ac:spMkLst>
            <pc:docMk/>
            <pc:sldMk cId="4166650709" sldId="2741"/>
            <ac:spMk id="7" creationId="{35DD3601-4936-7BF5-D98E-D9AAE6FD9110}"/>
          </ac:spMkLst>
        </pc:spChg>
        <pc:graphicFrameChg chg="mod">
          <ac:chgData name="Carlos Ducuara" userId="57fb0e70-fcc5-479c-850f-816bdc928046" providerId="ADAL" clId="{386DD68D-3EAA-4534-97EE-8C9E206C8F22}" dt="2026-10-10T22:16:44.938" v="7622" actId="20577"/>
          <ac:graphicFrameMkLst>
            <pc:docMk/>
            <pc:sldMk cId="4166650709" sldId="2741"/>
            <ac:graphicFrameMk id="2" creationId="{A4733913-57C4-8CC3-D561-450A44A4937B}"/>
          </ac:graphicFrameMkLst>
        </pc:graphicFrameChg>
        <pc:graphicFrameChg chg="mod">
          <ac:chgData name="Carlos Ducuara" userId="57fb0e70-fcc5-479c-850f-816bdc928046" providerId="ADAL" clId="{386DD68D-3EAA-4534-97EE-8C9E206C8F22}" dt="2026-10-10T22:20:40.021" v="7649" actId="20577"/>
          <ac:graphicFrameMkLst>
            <pc:docMk/>
            <pc:sldMk cId="4166650709" sldId="2741"/>
            <ac:graphicFrameMk id="6" creationId="{1311ABE9-EAA9-9E8C-7331-17E8ED490967}"/>
          </ac:graphicFrameMkLst>
        </pc:graphicFrameChg>
      </pc:sldChg>
      <pc:sldChg chg="modSp mod">
        <pc:chgData name="Carlos Ducuara" userId="57fb0e70-fcc5-479c-850f-816bdc928046" providerId="ADAL" clId="{386DD68D-3EAA-4534-97EE-8C9E206C8F22}" dt="2026-10-10T22:31:47.157" v="7719" actId="20577"/>
        <pc:sldMkLst>
          <pc:docMk/>
          <pc:sldMk cId="2067491499" sldId="2742"/>
        </pc:sldMkLst>
        <pc:spChg chg="mod">
          <ac:chgData name="Carlos Ducuara" userId="57fb0e70-fcc5-479c-850f-816bdc928046" providerId="ADAL" clId="{386DD68D-3EAA-4534-97EE-8C9E206C8F22}" dt="2026-10-10T22:31:47.157" v="7719" actId="20577"/>
          <ac:spMkLst>
            <pc:docMk/>
            <pc:sldMk cId="2067491499" sldId="2742"/>
            <ac:spMk id="3" creationId="{4FCC36E1-07C8-DF6C-B48C-2084FF8778C2}"/>
          </ac:spMkLst>
        </pc:spChg>
        <pc:graphicFrameChg chg="mod">
          <ac:chgData name="Carlos Ducuara" userId="57fb0e70-fcc5-479c-850f-816bdc928046" providerId="ADAL" clId="{386DD68D-3EAA-4534-97EE-8C9E206C8F22}" dt="2026-10-10T22:26:07.583" v="7684" actId="20577"/>
          <ac:graphicFrameMkLst>
            <pc:docMk/>
            <pc:sldMk cId="2067491499" sldId="2742"/>
            <ac:graphicFrameMk id="5" creationId="{582FD8CD-621B-E26F-DF03-A1E5041E2B4B}"/>
          </ac:graphicFrameMkLst>
        </pc:graphicFrameChg>
        <pc:graphicFrameChg chg="mod">
          <ac:chgData name="Carlos Ducuara" userId="57fb0e70-fcc5-479c-850f-816bdc928046" providerId="ADAL" clId="{386DD68D-3EAA-4534-97EE-8C9E206C8F22}" dt="2026-10-10T22:31:27.870" v="7703" actId="20577"/>
          <ac:graphicFrameMkLst>
            <pc:docMk/>
            <pc:sldMk cId="2067491499" sldId="2742"/>
            <ac:graphicFrameMk id="8" creationId="{F4DD3CEB-8E71-077F-B9FD-054EA78A125A}"/>
          </ac:graphicFrameMkLst>
        </pc:graphicFrameChg>
      </pc:sldChg>
      <pc:sldChg chg="addSp delSp modSp mod">
        <pc:chgData name="Carlos Ducuara" userId="57fb0e70-fcc5-479c-850f-816bdc928046" providerId="ADAL" clId="{386DD68D-3EAA-4534-97EE-8C9E206C8F22}" dt="2026-10-11T03:45:29.119" v="7867" actId="20577"/>
        <pc:sldMkLst>
          <pc:docMk/>
          <pc:sldMk cId="3263845318" sldId="2746"/>
        </pc:sldMkLst>
        <pc:spChg chg="mod">
          <ac:chgData name="Carlos Ducuara" userId="57fb0e70-fcc5-479c-850f-816bdc928046" providerId="ADAL" clId="{386DD68D-3EAA-4534-97EE-8C9E206C8F22}" dt="2026-10-11T03:45:29.119" v="7867" actId="20577"/>
          <ac:spMkLst>
            <pc:docMk/>
            <pc:sldMk cId="3263845318" sldId="2746"/>
            <ac:spMk id="4" creationId="{ED8DDAF5-ABEF-7E90-3D5C-D913D82856F3}"/>
          </ac:spMkLst>
        </pc:spChg>
        <pc:graphicFrameChg chg="add mod modGraphic">
          <ac:chgData name="Carlos Ducuara" userId="57fb0e70-fcc5-479c-850f-816bdc928046" providerId="ADAL" clId="{386DD68D-3EAA-4534-97EE-8C9E206C8F22}" dt="2026-10-11T03:45:15.981" v="7851" actId="403"/>
          <ac:graphicFrameMkLst>
            <pc:docMk/>
            <pc:sldMk cId="3263845318" sldId="2746"/>
            <ac:graphicFrameMk id="6" creationId="{80ABF5AB-FF12-A733-23F5-6739F246ADB9}"/>
          </ac:graphicFrameMkLst>
        </pc:graphicFrameChg>
      </pc:sldChg>
      <pc:sldChg chg="addSp delSp modSp mod">
        <pc:chgData name="Carlos Ducuara" userId="57fb0e70-fcc5-479c-850f-816bdc928046" providerId="ADAL" clId="{386DD68D-3EAA-4534-97EE-8C9E206C8F22}" dt="2026-10-13T17:26:20.337" v="8952" actId="20577"/>
        <pc:sldMkLst>
          <pc:docMk/>
          <pc:sldMk cId="2833002893" sldId="2753"/>
        </pc:sldMkLst>
        <pc:spChg chg="mod">
          <ac:chgData name="Carlos Ducuara" userId="57fb0e70-fcc5-479c-850f-816bdc928046" providerId="ADAL" clId="{386DD68D-3EAA-4534-97EE-8C9E206C8F22}" dt="2026-10-13T17:26:20.337" v="8952" actId="20577"/>
          <ac:spMkLst>
            <pc:docMk/>
            <pc:sldMk cId="2833002893" sldId="2753"/>
            <ac:spMk id="5" creationId="{5960EE39-C9B6-6DA6-31A5-64A866D250FF}"/>
          </ac:spMkLst>
        </pc:spChg>
        <pc:graphicFrameChg chg="add mod">
          <ac:chgData name="Carlos Ducuara" userId="57fb0e70-fcc5-479c-850f-816bdc928046" providerId="ADAL" clId="{386DD68D-3EAA-4534-97EE-8C9E206C8F22}" dt="2026-10-13T17:25:33.271" v="8934"/>
          <ac:graphicFrameMkLst>
            <pc:docMk/>
            <pc:sldMk cId="2833002893" sldId="2753"/>
            <ac:graphicFrameMk id="3" creationId="{5AD33739-7DCF-BBFC-D886-E597CC92DFAA}"/>
          </ac:graphicFrameMkLst>
        </pc:graphicFrameChg>
        <pc:graphicFrameChg chg="add mod">
          <ac:chgData name="Carlos Ducuara" userId="57fb0e70-fcc5-479c-850f-816bdc928046" providerId="ADAL" clId="{386DD68D-3EAA-4534-97EE-8C9E206C8F22}" dt="2026-10-13T17:25:59.695" v="8936" actId="1076"/>
          <ac:graphicFrameMkLst>
            <pc:docMk/>
            <pc:sldMk cId="2833002893" sldId="2753"/>
            <ac:graphicFrameMk id="4" creationId="{27EB4FC4-4F5E-E243-A793-8F8D619B0F93}"/>
          </ac:graphicFrameMkLst>
        </pc:graphicFrameChg>
        <pc:picChg chg="add del mod">
          <ac:chgData name="Carlos Ducuara" userId="57fb0e70-fcc5-479c-850f-816bdc928046" providerId="ADAL" clId="{386DD68D-3EAA-4534-97EE-8C9E206C8F22}" dt="2026-10-13T17:25:20.804" v="8933" actId="478"/>
          <ac:picMkLst>
            <pc:docMk/>
            <pc:sldMk cId="2833002893" sldId="2753"/>
            <ac:picMk id="6" creationId="{BDFE1F83-FF11-28CC-A40B-209AFF66C7D2}"/>
          </ac:picMkLst>
        </pc:picChg>
      </pc:sldChg>
      <pc:sldChg chg="modSp mod">
        <pc:chgData name="Carlos Ducuara" userId="57fb0e70-fcc5-479c-850f-816bdc928046" providerId="ADAL" clId="{386DD68D-3EAA-4534-97EE-8C9E206C8F22}" dt="2026-10-09T21:16:54.835" v="7493" actId="20577"/>
        <pc:sldMkLst>
          <pc:docMk/>
          <pc:sldMk cId="794321783" sldId="2762"/>
        </pc:sldMkLst>
        <pc:spChg chg="mod">
          <ac:chgData name="Carlos Ducuara" userId="57fb0e70-fcc5-479c-850f-816bdc928046" providerId="ADAL" clId="{386DD68D-3EAA-4534-97EE-8C9E206C8F22}" dt="2026-10-09T21:16:54.835" v="7493" actId="20577"/>
          <ac:spMkLst>
            <pc:docMk/>
            <pc:sldMk cId="794321783" sldId="2762"/>
            <ac:spMk id="5" creationId="{A0DE04EE-E365-15D2-14B2-019D727C0FEA}"/>
          </ac:spMkLst>
        </pc:spChg>
      </pc:sldChg>
      <pc:sldChg chg="modSp mod">
        <pc:chgData name="Carlos Ducuara" userId="57fb0e70-fcc5-479c-850f-816bdc928046" providerId="ADAL" clId="{386DD68D-3EAA-4534-97EE-8C9E206C8F22}" dt="2026-10-13T13:25:10.035" v="8203" actId="20577"/>
        <pc:sldMkLst>
          <pc:docMk/>
          <pc:sldMk cId="786967788" sldId="2768"/>
        </pc:sldMkLst>
        <pc:spChg chg="mod">
          <ac:chgData name="Carlos Ducuara" userId="57fb0e70-fcc5-479c-850f-816bdc928046" providerId="ADAL" clId="{386DD68D-3EAA-4534-97EE-8C9E206C8F22}" dt="2026-10-13T13:25:10.035" v="8203" actId="20577"/>
          <ac:spMkLst>
            <pc:docMk/>
            <pc:sldMk cId="786967788" sldId="2768"/>
            <ac:spMk id="8" creationId="{726EFE54-4AB8-C03F-C475-E39F7AE87C17}"/>
          </ac:spMkLst>
        </pc:spChg>
        <pc:graphicFrameChg chg="modGraphic">
          <ac:chgData name="Carlos Ducuara" userId="57fb0e70-fcc5-479c-850f-816bdc928046" providerId="ADAL" clId="{386DD68D-3EAA-4534-97EE-8C9E206C8F22}" dt="2026-10-13T13:24:44.774" v="8187" actId="20577"/>
          <ac:graphicFrameMkLst>
            <pc:docMk/>
            <pc:sldMk cId="786967788" sldId="2768"/>
            <ac:graphicFrameMk id="4" creationId="{74E77E38-04FD-393E-F8CD-4DF28F4D718A}"/>
          </ac:graphicFrameMkLst>
        </pc:graphicFrameChg>
      </pc:sldChg>
      <pc:sldChg chg="modSp mod">
        <pc:chgData name="Carlos Ducuara" userId="57fb0e70-fcc5-479c-850f-816bdc928046" providerId="ADAL" clId="{386DD68D-3EAA-4534-97EE-8C9E206C8F22}" dt="2026-10-13T13:29:48.846" v="8234" actId="20577"/>
        <pc:sldMkLst>
          <pc:docMk/>
          <pc:sldMk cId="600778588" sldId="2769"/>
        </pc:sldMkLst>
        <pc:spChg chg="mod">
          <ac:chgData name="Carlos Ducuara" userId="57fb0e70-fcc5-479c-850f-816bdc928046" providerId="ADAL" clId="{386DD68D-3EAA-4534-97EE-8C9E206C8F22}" dt="2026-10-13T13:29:48.846" v="8234" actId="20577"/>
          <ac:spMkLst>
            <pc:docMk/>
            <pc:sldMk cId="600778588" sldId="2769"/>
            <ac:spMk id="4" creationId="{251EC632-FC5A-D6A1-0AAD-9BCA26EA3E79}"/>
          </ac:spMkLst>
        </pc:spChg>
      </pc:sldChg>
      <pc:sldChg chg="modSp mod">
        <pc:chgData name="Carlos Ducuara" userId="57fb0e70-fcc5-479c-850f-816bdc928046" providerId="ADAL" clId="{386DD68D-3EAA-4534-97EE-8C9E206C8F22}" dt="2026-10-13T16:21:51.848" v="8686" actId="20577"/>
        <pc:sldMkLst>
          <pc:docMk/>
          <pc:sldMk cId="3979485389" sldId="2786"/>
        </pc:sldMkLst>
        <pc:spChg chg="mod">
          <ac:chgData name="Carlos Ducuara" userId="57fb0e70-fcc5-479c-850f-816bdc928046" providerId="ADAL" clId="{386DD68D-3EAA-4534-97EE-8C9E206C8F22}" dt="2026-10-13T16:21:51.848" v="8686" actId="20577"/>
          <ac:spMkLst>
            <pc:docMk/>
            <pc:sldMk cId="3979485389" sldId="2786"/>
            <ac:spMk id="4" creationId="{050B34C3-D06D-3238-4D5B-980ED29786BC}"/>
          </ac:spMkLst>
        </pc:spChg>
        <pc:spChg chg="mod">
          <ac:chgData name="Carlos Ducuara" userId="57fb0e70-fcc5-479c-850f-816bdc928046" providerId="ADAL" clId="{386DD68D-3EAA-4534-97EE-8C9E206C8F22}" dt="2026-10-13T16:19:08.153" v="8670" actId="20577"/>
          <ac:spMkLst>
            <pc:docMk/>
            <pc:sldMk cId="3979485389" sldId="2786"/>
            <ac:spMk id="6" creationId="{77B0E383-FEFC-5234-F576-EA6FA4FE57DB}"/>
          </ac:spMkLst>
        </pc:spChg>
      </pc:sldChg>
      <pc:sldChg chg="modSp mod">
        <pc:chgData name="Carlos Ducuara" userId="57fb0e70-fcc5-479c-850f-816bdc928046" providerId="ADAL" clId="{386DD68D-3EAA-4534-97EE-8C9E206C8F22}" dt="2026-10-14T13:05:51.811" v="9054" actId="20577"/>
        <pc:sldMkLst>
          <pc:docMk/>
          <pc:sldMk cId="1375620129" sldId="2787"/>
        </pc:sldMkLst>
        <pc:spChg chg="mod">
          <ac:chgData name="Carlos Ducuara" userId="57fb0e70-fcc5-479c-850f-816bdc928046" providerId="ADAL" clId="{386DD68D-3EAA-4534-97EE-8C9E206C8F22}" dt="2026-10-14T13:05:51.811" v="9054" actId="20577"/>
          <ac:spMkLst>
            <pc:docMk/>
            <pc:sldMk cId="1375620129" sldId="2787"/>
            <ac:spMk id="3" creationId="{9ED478C0-9B88-7D81-8D16-29F3784178D7}"/>
          </ac:spMkLst>
        </pc:spChg>
      </pc:sldChg>
      <pc:sldChg chg="delSp modSp mod">
        <pc:chgData name="Carlos Ducuara" userId="57fb0e70-fcc5-479c-850f-816bdc928046" providerId="ADAL" clId="{386DD68D-3EAA-4534-97EE-8C9E206C8F22}" dt="2026-10-14T13:19:02.322" v="9082" actId="20577"/>
        <pc:sldMkLst>
          <pc:docMk/>
          <pc:sldMk cId="132470485" sldId="2788"/>
        </pc:sldMkLst>
        <pc:spChg chg="mod">
          <ac:chgData name="Carlos Ducuara" userId="57fb0e70-fcc5-479c-850f-816bdc928046" providerId="ADAL" clId="{386DD68D-3EAA-4534-97EE-8C9E206C8F22}" dt="2026-10-14T13:19:02.322" v="9082" actId="20577"/>
          <ac:spMkLst>
            <pc:docMk/>
            <pc:sldMk cId="132470485" sldId="2788"/>
            <ac:spMk id="4" creationId="{0E34D01C-7667-1E61-39D9-B3CF73C90B86}"/>
          </ac:spMkLst>
        </pc:spChg>
      </pc:sldChg>
      <pc:sldChg chg="addSp delSp modSp mod">
        <pc:chgData name="Carlos Ducuara" userId="57fb0e70-fcc5-479c-850f-816bdc928046" providerId="ADAL" clId="{386DD68D-3EAA-4534-97EE-8C9E206C8F22}" dt="2026-10-13T16:04:50.270" v="8598" actId="20577"/>
        <pc:sldMkLst>
          <pc:docMk/>
          <pc:sldMk cId="1530342973" sldId="2801"/>
        </pc:sldMkLst>
        <pc:spChg chg="mod">
          <ac:chgData name="Carlos Ducuara" userId="57fb0e70-fcc5-479c-850f-816bdc928046" providerId="ADAL" clId="{386DD68D-3EAA-4534-97EE-8C9E206C8F22}" dt="2026-10-13T16:04:50.270" v="8598" actId="20577"/>
          <ac:spMkLst>
            <pc:docMk/>
            <pc:sldMk cId="1530342973" sldId="2801"/>
            <ac:spMk id="6" creationId="{E0FCE913-72E0-9477-D635-BE5D8BAD6E0E}"/>
          </ac:spMkLst>
        </pc:spChg>
        <pc:spChg chg="mod">
          <ac:chgData name="Carlos Ducuara" userId="57fb0e70-fcc5-479c-850f-816bdc928046" providerId="ADAL" clId="{386DD68D-3EAA-4534-97EE-8C9E206C8F22}" dt="2026-10-13T16:04:35.877" v="8580" actId="20577"/>
          <ac:spMkLst>
            <pc:docMk/>
            <pc:sldMk cId="1530342973" sldId="2801"/>
            <ac:spMk id="8" creationId="{41B541D2-4A3C-8151-DA3D-BB850994A042}"/>
          </ac:spMkLst>
        </pc:spChg>
        <pc:graphicFrameChg chg="add mod">
          <ac:chgData name="Carlos Ducuara" userId="57fb0e70-fcc5-479c-850f-816bdc928046" providerId="ADAL" clId="{386DD68D-3EAA-4534-97EE-8C9E206C8F22}" dt="2026-10-13T16:01:59.710" v="8563"/>
          <ac:graphicFrameMkLst>
            <pc:docMk/>
            <pc:sldMk cId="1530342973" sldId="2801"/>
            <ac:graphicFrameMk id="3" creationId="{234DD5D2-14BB-DBA0-0743-C9A2C5580514}"/>
          </ac:graphicFrameMkLst>
        </pc:graphicFrameChg>
        <pc:graphicFrameChg chg="add mod modGraphic">
          <ac:chgData name="Carlos Ducuara" userId="57fb0e70-fcc5-479c-850f-816bdc928046" providerId="ADAL" clId="{386DD68D-3EAA-4534-97EE-8C9E206C8F22}" dt="2026-10-13T16:02:28.087" v="8568" actId="403"/>
          <ac:graphicFrameMkLst>
            <pc:docMk/>
            <pc:sldMk cId="1530342973" sldId="2801"/>
            <ac:graphicFrameMk id="4" creationId="{BB358216-17C0-D694-2070-1F85CFDE9589}"/>
          </ac:graphicFrameMkLst>
        </pc:graphicFrameChg>
        <pc:picChg chg="add del mod">
          <ac:chgData name="Carlos Ducuara" userId="57fb0e70-fcc5-479c-850f-816bdc928046" providerId="ADAL" clId="{386DD68D-3EAA-4534-97EE-8C9E206C8F22}" dt="2026-10-13T14:52:22.796" v="8562" actId="478"/>
          <ac:picMkLst>
            <pc:docMk/>
            <pc:sldMk cId="1530342973" sldId="2801"/>
            <ac:picMk id="5" creationId="{9574928E-0C03-BFFD-0482-4E075DAFB312}"/>
          </ac:picMkLst>
        </pc:picChg>
      </pc:sldChg>
      <pc:sldChg chg="addSp delSp modSp mod">
        <pc:chgData name="Carlos Ducuara" userId="57fb0e70-fcc5-479c-850f-816bdc928046" providerId="ADAL" clId="{386DD68D-3EAA-4534-97EE-8C9E206C8F22}" dt="2026-10-11T03:57:15.603" v="7984" actId="20577"/>
        <pc:sldMkLst>
          <pc:docMk/>
          <pc:sldMk cId="981812827" sldId="2816"/>
        </pc:sldMkLst>
        <pc:spChg chg="mod">
          <ac:chgData name="Carlos Ducuara" userId="57fb0e70-fcc5-479c-850f-816bdc928046" providerId="ADAL" clId="{386DD68D-3EAA-4534-97EE-8C9E206C8F22}" dt="2026-10-11T03:57:15.603" v="7984" actId="20577"/>
          <ac:spMkLst>
            <pc:docMk/>
            <pc:sldMk cId="981812827" sldId="2816"/>
            <ac:spMk id="11" creationId="{B25750E7-BB5C-C84A-62B7-B91FE92B5925}"/>
          </ac:spMkLst>
        </pc:spChg>
        <pc:graphicFrameChg chg="add mod modGraphic">
          <ac:chgData name="Carlos Ducuara" userId="57fb0e70-fcc5-479c-850f-816bdc928046" providerId="ADAL" clId="{386DD68D-3EAA-4534-97EE-8C9E206C8F22}" dt="2026-10-11T03:56:17.502" v="7963" actId="14100"/>
          <ac:graphicFrameMkLst>
            <pc:docMk/>
            <pc:sldMk cId="981812827" sldId="2816"/>
            <ac:graphicFrameMk id="6" creationId="{6209B521-973A-7C92-83D1-68092B5D2EF1}"/>
          </ac:graphicFrameMkLst>
        </pc:graphicFrameChg>
        <pc:graphicFrameChg chg="add mod modGraphic">
          <ac:chgData name="Carlos Ducuara" userId="57fb0e70-fcc5-479c-850f-816bdc928046" providerId="ADAL" clId="{386DD68D-3EAA-4534-97EE-8C9E206C8F22}" dt="2026-10-11T03:57:01.217" v="7968" actId="14100"/>
          <ac:graphicFrameMkLst>
            <pc:docMk/>
            <pc:sldMk cId="981812827" sldId="2816"/>
            <ac:graphicFrameMk id="8" creationId="{AE856257-6023-4DC2-4B49-38DC9C642492}"/>
          </ac:graphicFrameMkLst>
        </pc:graphicFrameChg>
      </pc:sldChg>
      <pc:sldChg chg="addSp delSp modSp mod">
        <pc:chgData name="Carlos Ducuara" userId="57fb0e70-fcc5-479c-850f-816bdc928046" providerId="ADAL" clId="{386DD68D-3EAA-4534-97EE-8C9E206C8F22}" dt="2026-10-13T16:07:00.118" v="8631" actId="20577"/>
        <pc:sldMkLst>
          <pc:docMk/>
          <pc:sldMk cId="3478858521" sldId="2819"/>
        </pc:sldMkLst>
        <pc:spChg chg="mod">
          <ac:chgData name="Carlos Ducuara" userId="57fb0e70-fcc5-479c-850f-816bdc928046" providerId="ADAL" clId="{386DD68D-3EAA-4534-97EE-8C9E206C8F22}" dt="2026-10-13T16:07:00.118" v="8631" actId="20577"/>
          <ac:spMkLst>
            <pc:docMk/>
            <pc:sldMk cId="3478858521" sldId="2819"/>
            <ac:spMk id="3" creationId="{BBD3DF7A-D88A-7C9C-EE16-54B5846A75F1}"/>
          </ac:spMkLst>
        </pc:spChg>
        <pc:graphicFrameChg chg="add mod">
          <ac:chgData name="Carlos Ducuara" userId="57fb0e70-fcc5-479c-850f-816bdc928046" providerId="ADAL" clId="{386DD68D-3EAA-4534-97EE-8C9E206C8F22}" dt="2026-10-13T16:05:34.504" v="8600"/>
          <ac:graphicFrameMkLst>
            <pc:docMk/>
            <pc:sldMk cId="3478858521" sldId="2819"/>
            <ac:graphicFrameMk id="4" creationId="{D0266461-BB3F-9962-5368-C2A69BF86393}"/>
          </ac:graphicFrameMkLst>
        </pc:graphicFrameChg>
        <pc:graphicFrameChg chg="add del mod modGraphic">
          <ac:chgData name="Carlos Ducuara" userId="57fb0e70-fcc5-479c-850f-816bdc928046" providerId="ADAL" clId="{386DD68D-3EAA-4534-97EE-8C9E206C8F22}" dt="2026-10-13T16:06:05.186" v="8604" actId="478"/>
          <ac:graphicFrameMkLst>
            <pc:docMk/>
            <pc:sldMk cId="3478858521" sldId="2819"/>
            <ac:graphicFrameMk id="5" creationId="{E9ED1540-C081-23F8-B2AB-31A0DD0186C4}"/>
          </ac:graphicFrameMkLst>
        </pc:graphicFrameChg>
        <pc:graphicFrameChg chg="add mod modGraphic">
          <ac:chgData name="Carlos Ducuara" userId="57fb0e70-fcc5-479c-850f-816bdc928046" providerId="ADAL" clId="{386DD68D-3EAA-4534-97EE-8C9E206C8F22}" dt="2026-10-13T16:05:51.004" v="8603" actId="14100"/>
          <ac:graphicFrameMkLst>
            <pc:docMk/>
            <pc:sldMk cId="3478858521" sldId="2819"/>
            <ac:graphicFrameMk id="6" creationId="{142890AD-F2C0-712B-1FD5-81C0E493BB72}"/>
          </ac:graphicFrameMkLst>
        </pc:graphicFrameChg>
        <pc:graphicFrameChg chg="add mod">
          <ac:chgData name="Carlos Ducuara" userId="57fb0e70-fcc5-479c-850f-816bdc928046" providerId="ADAL" clId="{386DD68D-3EAA-4534-97EE-8C9E206C8F22}" dt="2026-10-13T16:06:12.153" v="8605"/>
          <ac:graphicFrameMkLst>
            <pc:docMk/>
            <pc:sldMk cId="3478858521" sldId="2819"/>
            <ac:graphicFrameMk id="7" creationId="{B1EA31FD-15DF-98C4-ACA6-2CB3F4EF10D7}"/>
          </ac:graphicFrameMkLst>
        </pc:graphicFrameChg>
        <pc:graphicFrameChg chg="add mod modGraphic">
          <ac:chgData name="Carlos Ducuara" userId="57fb0e70-fcc5-479c-850f-816bdc928046" providerId="ADAL" clId="{386DD68D-3EAA-4534-97EE-8C9E206C8F22}" dt="2026-10-13T16:06:40.769" v="8611" actId="1076"/>
          <ac:graphicFrameMkLst>
            <pc:docMk/>
            <pc:sldMk cId="3478858521" sldId="2819"/>
            <ac:graphicFrameMk id="8" creationId="{A627B368-336D-DA4E-A15D-14D45D82228D}"/>
          </ac:graphicFrameMkLst>
        </pc:graphicFrameChg>
        <pc:graphicFrameChg chg="add del mod modGraphic">
          <ac:chgData name="Carlos Ducuara" userId="57fb0e70-fcc5-479c-850f-816bdc928046" providerId="ADAL" clId="{386DD68D-3EAA-4534-97EE-8C9E206C8F22}" dt="2026-10-13T16:05:33.221" v="8599" actId="478"/>
          <ac:graphicFrameMkLst>
            <pc:docMk/>
            <pc:sldMk cId="3478858521" sldId="2819"/>
            <ac:graphicFrameMk id="9" creationId="{604EAC0A-6A9F-84A6-AAA4-D487A7631C3B}"/>
          </ac:graphicFrameMkLst>
        </pc:graphicFrameChg>
      </pc:sldChg>
      <pc:sldChg chg="modSp mod">
        <pc:chgData name="Carlos Ducuara" userId="57fb0e70-fcc5-479c-850f-816bdc928046" providerId="ADAL" clId="{386DD68D-3EAA-4534-97EE-8C9E206C8F22}" dt="2026-10-13T16:26:09.261" v="8739" actId="20577"/>
        <pc:sldMkLst>
          <pc:docMk/>
          <pc:sldMk cId="2954831036" sldId="2822"/>
        </pc:sldMkLst>
        <pc:spChg chg="mod">
          <ac:chgData name="Carlos Ducuara" userId="57fb0e70-fcc5-479c-850f-816bdc928046" providerId="ADAL" clId="{386DD68D-3EAA-4534-97EE-8C9E206C8F22}" dt="2026-10-13T16:26:09.261" v="8739" actId="20577"/>
          <ac:spMkLst>
            <pc:docMk/>
            <pc:sldMk cId="2954831036" sldId="2822"/>
            <ac:spMk id="5" creationId="{8749C40A-D2AF-3A29-B322-CF7E31F98D93}"/>
          </ac:spMkLst>
        </pc:spChg>
        <pc:spChg chg="mod">
          <ac:chgData name="Carlos Ducuara" userId="57fb0e70-fcc5-479c-850f-816bdc928046" providerId="ADAL" clId="{386DD68D-3EAA-4534-97EE-8C9E206C8F22}" dt="2026-10-13T16:25:57.655" v="8723" actId="20577"/>
          <ac:spMkLst>
            <pc:docMk/>
            <pc:sldMk cId="2954831036" sldId="2822"/>
            <ac:spMk id="11" creationId="{35714B12-9D4F-6E5D-9151-4E05CA2DE373}"/>
          </ac:spMkLst>
        </pc:spChg>
        <pc:graphicFrameChg chg="modGraphic">
          <ac:chgData name="Carlos Ducuara" userId="57fb0e70-fcc5-479c-850f-816bdc928046" providerId="ADAL" clId="{386DD68D-3EAA-4534-97EE-8C9E206C8F22}" dt="2026-10-13T16:25:04.610" v="8715" actId="20577"/>
          <ac:graphicFrameMkLst>
            <pc:docMk/>
            <pc:sldMk cId="2954831036" sldId="2822"/>
            <ac:graphicFrameMk id="4" creationId="{5D902285-86B1-08F8-F48D-12570460889B}"/>
          </ac:graphicFrameMkLst>
        </pc:graphicFrameChg>
      </pc:sldChg>
      <pc:sldChg chg="modSp mod">
        <pc:chgData name="Carlos Ducuara" userId="57fb0e70-fcc5-479c-850f-816bdc928046" providerId="ADAL" clId="{386DD68D-3EAA-4534-97EE-8C9E206C8F22}" dt="2026-10-13T16:50:28.099" v="8793" actId="20577"/>
        <pc:sldMkLst>
          <pc:docMk/>
          <pc:sldMk cId="3467305435" sldId="2823"/>
        </pc:sldMkLst>
        <pc:spChg chg="mod">
          <ac:chgData name="Carlos Ducuara" userId="57fb0e70-fcc5-479c-850f-816bdc928046" providerId="ADAL" clId="{386DD68D-3EAA-4534-97EE-8C9E206C8F22}" dt="2026-10-13T16:50:28.099" v="8793" actId="20577"/>
          <ac:spMkLst>
            <pc:docMk/>
            <pc:sldMk cId="3467305435" sldId="2823"/>
            <ac:spMk id="4" creationId="{B0A29B72-9337-BF46-2BE8-F1EFE47C443C}"/>
          </ac:spMkLst>
        </pc:spChg>
      </pc:sldChg>
      <pc:sldChg chg="modSp mod">
        <pc:chgData name="Carlos Ducuara" userId="57fb0e70-fcc5-479c-850f-816bdc928046" providerId="ADAL" clId="{386DD68D-3EAA-4534-97EE-8C9E206C8F22}" dt="2026-10-14T02:24:10.926" v="8972" actId="27918"/>
        <pc:sldMkLst>
          <pc:docMk/>
          <pc:sldMk cId="403898891" sldId="2825"/>
        </pc:sldMkLst>
        <pc:spChg chg="mod">
          <ac:chgData name="Carlos Ducuara" userId="57fb0e70-fcc5-479c-850f-816bdc928046" providerId="ADAL" clId="{386DD68D-3EAA-4534-97EE-8C9E206C8F22}" dt="2026-10-13T16:58:43.818" v="8855" actId="20577"/>
          <ac:spMkLst>
            <pc:docMk/>
            <pc:sldMk cId="403898891" sldId="2825"/>
            <ac:spMk id="9" creationId="{B96787B8-972C-4BC2-875F-1FED2750C2BC}"/>
          </ac:spMkLst>
        </pc:spChg>
        <pc:graphicFrameChg chg="mod modGraphic">
          <ac:chgData name="Carlos Ducuara" userId="57fb0e70-fcc5-479c-850f-816bdc928046" providerId="ADAL" clId="{386DD68D-3EAA-4534-97EE-8C9E206C8F22}" dt="2026-10-13T16:53:18.516" v="8831" actId="20577"/>
          <ac:graphicFrameMkLst>
            <pc:docMk/>
            <pc:sldMk cId="403898891" sldId="2825"/>
            <ac:graphicFrameMk id="7" creationId="{BD6B4FBC-F1ED-7415-18C4-3A15D295D38E}"/>
          </ac:graphicFrameMkLst>
        </pc:graphicFrameChg>
        <pc:graphicFrameChg chg="mod modGraphic">
          <ac:chgData name="Carlos Ducuara" userId="57fb0e70-fcc5-479c-850f-816bdc928046" providerId="ADAL" clId="{386DD68D-3EAA-4534-97EE-8C9E206C8F22}" dt="2026-10-13T16:53:04.211" v="8815" actId="20577"/>
          <ac:graphicFrameMkLst>
            <pc:docMk/>
            <pc:sldMk cId="403898891" sldId="2825"/>
            <ac:graphicFrameMk id="8" creationId="{DC91A00C-8000-B491-B677-8EB243CB6D1F}"/>
          </ac:graphicFrameMkLst>
        </pc:graphicFrameChg>
      </pc:sldChg>
      <pc:sldChg chg="modSp mod">
        <pc:chgData name="Carlos Ducuara" userId="57fb0e70-fcc5-479c-850f-816bdc928046" providerId="ADAL" clId="{386DD68D-3EAA-4534-97EE-8C9E206C8F22}" dt="2026-10-09T21:43:56.297" v="7592" actId="20577"/>
        <pc:sldMkLst>
          <pc:docMk/>
          <pc:sldMk cId="3836331615" sldId="2832"/>
        </pc:sldMkLst>
        <pc:spChg chg="mod">
          <ac:chgData name="Carlos Ducuara" userId="57fb0e70-fcc5-479c-850f-816bdc928046" providerId="ADAL" clId="{386DD68D-3EAA-4534-97EE-8C9E206C8F22}" dt="2026-10-09T21:43:56.297" v="7592" actId="20577"/>
          <ac:spMkLst>
            <pc:docMk/>
            <pc:sldMk cId="3836331615" sldId="2832"/>
            <ac:spMk id="6" creationId="{FAC0DBFE-7FE4-4E6C-9840-FF165A9CE8B9}"/>
          </ac:spMkLst>
        </pc:spChg>
      </pc:sldChg>
      <pc:sldChg chg="modSp mod">
        <pc:chgData name="Carlos Ducuara" userId="57fb0e70-fcc5-479c-850f-816bdc928046" providerId="ADAL" clId="{386DD68D-3EAA-4534-97EE-8C9E206C8F22}" dt="2026-10-13T14:36:51.638" v="8424" actId="27918"/>
        <pc:sldMkLst>
          <pc:docMk/>
          <pc:sldMk cId="3815562146" sldId="2852"/>
        </pc:sldMkLst>
        <pc:spChg chg="mod">
          <ac:chgData name="Carlos Ducuara" userId="57fb0e70-fcc5-479c-850f-816bdc928046" providerId="ADAL" clId="{386DD68D-3EAA-4534-97EE-8C9E206C8F22}" dt="2026-10-13T14:35:13.500" v="8421" actId="20577"/>
          <ac:spMkLst>
            <pc:docMk/>
            <pc:sldMk cId="3815562146" sldId="2852"/>
            <ac:spMk id="2" creationId="{2388347B-4C2C-F963-1DB3-701F03180061}"/>
          </ac:spMkLst>
        </pc:spChg>
      </pc:sldChg>
      <pc:sldChg chg="addSp modSp mod">
        <pc:chgData name="Carlos Ducuara" userId="57fb0e70-fcc5-479c-850f-816bdc928046" providerId="ADAL" clId="{386DD68D-3EAA-4534-97EE-8C9E206C8F22}" dt="2026-10-13T14:41:09.485" v="8465" actId="20577"/>
        <pc:sldMkLst>
          <pc:docMk/>
          <pc:sldMk cId="4267947147" sldId="2853"/>
        </pc:sldMkLst>
        <pc:spChg chg="mod">
          <ac:chgData name="Carlos Ducuara" userId="57fb0e70-fcc5-479c-850f-816bdc928046" providerId="ADAL" clId="{386DD68D-3EAA-4534-97EE-8C9E206C8F22}" dt="2026-10-13T14:41:09.485" v="8465" actId="20577"/>
          <ac:spMkLst>
            <pc:docMk/>
            <pc:sldMk cId="4267947147" sldId="2853"/>
            <ac:spMk id="3" creationId="{5B130E7A-638B-4B10-8186-227C3F4F47F0}"/>
          </ac:spMkLst>
        </pc:spChg>
        <pc:spChg chg="add mod">
          <ac:chgData name="Carlos Ducuara" userId="57fb0e70-fcc5-479c-850f-816bdc928046" providerId="ADAL" clId="{386DD68D-3EAA-4534-97EE-8C9E206C8F22}" dt="2026-10-13T14:40:55.212" v="8449" actId="20577"/>
          <ac:spMkLst>
            <pc:docMk/>
            <pc:sldMk cId="4267947147" sldId="2853"/>
            <ac:spMk id="5" creationId="{54D11AFC-244A-5314-2D83-6DA58C24EFFB}"/>
          </ac:spMkLst>
        </pc:spChg>
      </pc:sldChg>
      <pc:sldChg chg="modSp mod">
        <pc:chgData name="Carlos Ducuara" userId="57fb0e70-fcc5-479c-850f-816bdc928046" providerId="ADAL" clId="{386DD68D-3EAA-4534-97EE-8C9E206C8F22}" dt="2026-10-14T02:24:10.862" v="8968" actId="27918"/>
        <pc:sldMkLst>
          <pc:docMk/>
          <pc:sldMk cId="2866541352" sldId="2858"/>
        </pc:sldMkLst>
        <pc:spChg chg="mod">
          <ac:chgData name="Carlos Ducuara" userId="57fb0e70-fcc5-479c-850f-816bdc928046" providerId="ADAL" clId="{386DD68D-3EAA-4534-97EE-8C9E206C8F22}" dt="2026-10-13T16:41:57.937" v="8763" actId="20577"/>
          <ac:spMkLst>
            <pc:docMk/>
            <pc:sldMk cId="2866541352" sldId="2858"/>
            <ac:spMk id="9" creationId="{64F45D4F-E804-0A21-9E24-699A70FD41BE}"/>
          </ac:spMkLst>
        </pc:spChg>
      </pc:sldChg>
      <pc:sldChg chg="modSp mod">
        <pc:chgData name="Carlos Ducuara" userId="57fb0e70-fcc5-479c-850f-816bdc928046" providerId="ADAL" clId="{386DD68D-3EAA-4534-97EE-8C9E206C8F22}" dt="2026-10-05T20:09:42.376" v="6777" actId="20577"/>
        <pc:sldMkLst>
          <pc:docMk/>
          <pc:sldMk cId="2798705140" sldId="2868"/>
        </pc:sldMkLst>
        <pc:spChg chg="mod">
          <ac:chgData name="Carlos Ducuara" userId="57fb0e70-fcc5-479c-850f-816bdc928046" providerId="ADAL" clId="{386DD68D-3EAA-4534-97EE-8C9E206C8F22}" dt="2026-10-05T20:09:42.376" v="6777" actId="20577"/>
          <ac:spMkLst>
            <pc:docMk/>
            <pc:sldMk cId="2798705140" sldId="2868"/>
            <ac:spMk id="2" creationId="{5DD70C5E-66EA-CDD3-8E53-BDC24BBE977A}"/>
          </ac:spMkLst>
        </pc:spChg>
      </pc:sldChg>
      <pc:sldChg chg="modSp mod">
        <pc:chgData name="Carlos Ducuara" userId="57fb0e70-fcc5-479c-850f-816bdc928046" providerId="ADAL" clId="{386DD68D-3EAA-4534-97EE-8C9E206C8F22}" dt="2026-10-05T20:09:55.557" v="6793" actId="20577"/>
        <pc:sldMkLst>
          <pc:docMk/>
          <pc:sldMk cId="2905711765" sldId="2869"/>
        </pc:sldMkLst>
        <pc:spChg chg="mod">
          <ac:chgData name="Carlos Ducuara" userId="57fb0e70-fcc5-479c-850f-816bdc928046" providerId="ADAL" clId="{386DD68D-3EAA-4534-97EE-8C9E206C8F22}" dt="2026-10-05T20:09:55.557" v="6793" actId="20577"/>
          <ac:spMkLst>
            <pc:docMk/>
            <pc:sldMk cId="2905711765" sldId="2869"/>
            <ac:spMk id="5" creationId="{3C7BE6DC-1236-858F-602D-CFA5DE52D565}"/>
          </ac:spMkLst>
        </pc:spChg>
      </pc:sldChg>
      <pc:sldChg chg="modSp mod">
        <pc:chgData name="Carlos Ducuara" userId="57fb0e70-fcc5-479c-850f-816bdc928046" providerId="ADAL" clId="{386DD68D-3EAA-4534-97EE-8C9E206C8F22}" dt="2026-10-06T16:10:51.409" v="7035" actId="27918"/>
        <pc:sldMkLst>
          <pc:docMk/>
          <pc:sldMk cId="867818174" sldId="2870"/>
        </pc:sldMkLst>
        <pc:spChg chg="mod">
          <ac:chgData name="Carlos Ducuara" userId="57fb0e70-fcc5-479c-850f-816bdc928046" providerId="ADAL" clId="{386DD68D-3EAA-4534-97EE-8C9E206C8F22}" dt="2026-10-05T22:03:29.747" v="6939" actId="20577"/>
          <ac:spMkLst>
            <pc:docMk/>
            <pc:sldMk cId="867818174" sldId="2870"/>
            <ac:spMk id="10" creationId="{C3B457D4-75B6-CE3F-1CA4-8DA8D15F71D7}"/>
          </ac:spMkLst>
        </pc:spChg>
        <pc:spChg chg="mod">
          <ac:chgData name="Carlos Ducuara" userId="57fb0e70-fcc5-479c-850f-816bdc928046" providerId="ADAL" clId="{386DD68D-3EAA-4534-97EE-8C9E206C8F22}" dt="2026-10-05T22:03:28.603" v="6935" actId="20577"/>
          <ac:spMkLst>
            <pc:docMk/>
            <pc:sldMk cId="867818174" sldId="2870"/>
            <ac:spMk id="11" creationId="{4C1B47EE-EFE3-7E5B-04E7-0A70632903E6}"/>
          </ac:spMkLst>
        </pc:spChg>
        <pc:graphicFrameChg chg="modGraphic">
          <ac:chgData name="Carlos Ducuara" userId="57fb0e70-fcc5-479c-850f-816bdc928046" providerId="ADAL" clId="{386DD68D-3EAA-4534-97EE-8C9E206C8F22}" dt="2026-10-06T16:09:25.618" v="7031" actId="20577"/>
          <ac:graphicFrameMkLst>
            <pc:docMk/>
            <pc:sldMk cId="867818174" sldId="2870"/>
            <ac:graphicFrameMk id="3" creationId="{EADE6810-495D-EBE0-877A-7674C59F83E2}"/>
          </ac:graphicFrameMkLst>
        </pc:graphicFrameChg>
      </pc:sldChg>
      <pc:sldChg chg="delSp modSp mod">
        <pc:chgData name="Carlos Ducuara" userId="57fb0e70-fcc5-479c-850f-816bdc928046" providerId="ADAL" clId="{386DD68D-3EAA-4534-97EE-8C9E206C8F22}" dt="2026-10-06T16:14:29.140" v="7041" actId="27918"/>
        <pc:sldMkLst>
          <pc:docMk/>
          <pc:sldMk cId="1823568514" sldId="2871"/>
        </pc:sldMkLst>
        <pc:spChg chg="mod">
          <ac:chgData name="Carlos Ducuara" userId="57fb0e70-fcc5-479c-850f-816bdc928046" providerId="ADAL" clId="{386DD68D-3EAA-4534-97EE-8C9E206C8F22}" dt="2026-10-06T15:43:08.831" v="6975" actId="20577"/>
          <ac:spMkLst>
            <pc:docMk/>
            <pc:sldMk cId="1823568514" sldId="2871"/>
            <ac:spMk id="4" creationId="{167042D5-6EE3-4BEB-AEDD-A5A351597799}"/>
          </ac:spMkLst>
        </pc:spChg>
      </pc:sldChg>
      <pc:sldChg chg="addSp delSp modSp mod">
        <pc:chgData name="Carlos Ducuara" userId="57fb0e70-fcc5-479c-850f-816bdc928046" providerId="ADAL" clId="{386DD68D-3EAA-4534-97EE-8C9E206C8F22}" dt="2026-10-07T14:29:24.293" v="7276"/>
        <pc:sldMkLst>
          <pc:docMk/>
          <pc:sldMk cId="4225164284" sldId="2872"/>
        </pc:sldMkLst>
        <pc:spChg chg="mod">
          <ac:chgData name="Carlos Ducuara" userId="57fb0e70-fcc5-479c-850f-816bdc928046" providerId="ADAL" clId="{386DD68D-3EAA-4534-97EE-8C9E206C8F22}" dt="2026-10-06T15:59:25.186" v="7023" actId="20577"/>
          <ac:spMkLst>
            <pc:docMk/>
            <pc:sldMk cId="4225164284" sldId="2872"/>
            <ac:spMk id="3" creationId="{43515B72-32B5-41D7-655C-3DB8047E89A8}"/>
          </ac:spMkLst>
        </pc:spChg>
        <pc:graphicFrameChg chg="mod">
          <ac:chgData name="Carlos Ducuara" userId="57fb0e70-fcc5-479c-850f-816bdc928046" providerId="ADAL" clId="{386DD68D-3EAA-4534-97EE-8C9E206C8F22}" dt="2026-10-07T14:29:24.293" v="7276"/>
          <ac:graphicFrameMkLst>
            <pc:docMk/>
            <pc:sldMk cId="4225164284" sldId="2872"/>
            <ac:graphicFrameMk id="6" creationId="{2119C62E-3EA2-05EB-18E2-9046AABD3CAC}"/>
          </ac:graphicFrameMkLst>
        </pc:graphicFrameChg>
        <pc:picChg chg="add mod">
          <ac:chgData name="Carlos Ducuara" userId="57fb0e70-fcc5-479c-850f-816bdc928046" providerId="ADAL" clId="{386DD68D-3EAA-4534-97EE-8C9E206C8F22}" dt="2026-10-06T16:19:18.949" v="7063" actId="1076"/>
          <ac:picMkLst>
            <pc:docMk/>
            <pc:sldMk cId="4225164284" sldId="2872"/>
            <ac:picMk id="21" creationId="{A16E171F-5352-24E2-B2C9-573DDA6E4BFD}"/>
          </ac:picMkLst>
        </pc:picChg>
        <pc:picChg chg="add mod">
          <ac:chgData name="Carlos Ducuara" userId="57fb0e70-fcc5-479c-850f-816bdc928046" providerId="ADAL" clId="{386DD68D-3EAA-4534-97EE-8C9E206C8F22}" dt="2026-10-06T16:23:55.060" v="7072" actId="14100"/>
          <ac:picMkLst>
            <pc:docMk/>
            <pc:sldMk cId="4225164284" sldId="2872"/>
            <ac:picMk id="24" creationId="{F2FBC601-FE97-9EB4-DAD0-DD35A4868F1F}"/>
          </ac:picMkLst>
        </pc:picChg>
      </pc:sldChg>
      <pc:sldChg chg="modSp mod">
        <pc:chgData name="Carlos Ducuara" userId="57fb0e70-fcc5-479c-850f-816bdc928046" providerId="ADAL" clId="{386DD68D-3EAA-4534-97EE-8C9E206C8F22}" dt="2026-10-06T16:30:32.641" v="7092" actId="20577"/>
        <pc:sldMkLst>
          <pc:docMk/>
          <pc:sldMk cId="3370294279" sldId="2873"/>
        </pc:sldMkLst>
        <pc:spChg chg="mod">
          <ac:chgData name="Carlos Ducuara" userId="57fb0e70-fcc5-479c-850f-816bdc928046" providerId="ADAL" clId="{386DD68D-3EAA-4534-97EE-8C9E206C8F22}" dt="2026-10-06T16:30:32.641" v="7092" actId="20577"/>
          <ac:spMkLst>
            <pc:docMk/>
            <pc:sldMk cId="3370294279" sldId="2873"/>
            <ac:spMk id="4" creationId="{4A1FFE27-AFAE-7482-E58E-BEEF21CD0E9C}"/>
          </ac:spMkLst>
        </pc:spChg>
      </pc:sldChg>
      <pc:sldChg chg="modSp mod">
        <pc:chgData name="Carlos Ducuara" userId="57fb0e70-fcc5-479c-850f-816bdc928046" providerId="ADAL" clId="{386DD68D-3EAA-4534-97EE-8C9E206C8F22}" dt="2026-10-06T16:47:10.255" v="7162"/>
        <pc:sldMkLst>
          <pc:docMk/>
          <pc:sldMk cId="603398318" sldId="2874"/>
        </pc:sldMkLst>
        <pc:spChg chg="mod">
          <ac:chgData name="Carlos Ducuara" userId="57fb0e70-fcc5-479c-850f-816bdc928046" providerId="ADAL" clId="{386DD68D-3EAA-4534-97EE-8C9E206C8F22}" dt="2026-10-06T16:46:37.256" v="7159" actId="20577"/>
          <ac:spMkLst>
            <pc:docMk/>
            <pc:sldMk cId="603398318" sldId="2874"/>
            <ac:spMk id="4" creationId="{76C4B623-455C-7024-68EE-463E386D4556}"/>
          </ac:spMkLst>
        </pc:spChg>
        <pc:graphicFrameChg chg="mod">
          <ac:chgData name="Carlos Ducuara" userId="57fb0e70-fcc5-479c-850f-816bdc928046" providerId="ADAL" clId="{386DD68D-3EAA-4534-97EE-8C9E206C8F22}" dt="2026-10-06T16:31:51.932" v="7108" actId="20577"/>
          <ac:graphicFrameMkLst>
            <pc:docMk/>
            <pc:sldMk cId="603398318" sldId="2874"/>
            <ac:graphicFrameMk id="5" creationId="{B05FD8E4-445C-627F-351C-1BD76D792653}"/>
          </ac:graphicFrameMkLst>
        </pc:graphicFrameChg>
        <pc:graphicFrameChg chg="mod">
          <ac:chgData name="Carlos Ducuara" userId="57fb0e70-fcc5-479c-850f-816bdc928046" providerId="ADAL" clId="{386DD68D-3EAA-4534-97EE-8C9E206C8F22}" dt="2026-10-06T16:47:10.255" v="7162"/>
          <ac:graphicFrameMkLst>
            <pc:docMk/>
            <pc:sldMk cId="603398318" sldId="2874"/>
            <ac:graphicFrameMk id="8" creationId="{B8C08A17-5809-A0BE-BB47-66D07BF9C4E4}"/>
          </ac:graphicFrameMkLst>
        </pc:graphicFrameChg>
      </pc:sldChg>
      <pc:sldChg chg="modSp mod">
        <pc:chgData name="Carlos Ducuara" userId="57fb0e70-fcc5-479c-850f-816bdc928046" providerId="ADAL" clId="{386DD68D-3EAA-4534-97EE-8C9E206C8F22}" dt="2026-10-09T21:42:37.316" v="7557" actId="27918"/>
        <pc:sldMkLst>
          <pc:docMk/>
          <pc:sldMk cId="3379443724" sldId="2875"/>
        </pc:sldMkLst>
        <pc:spChg chg="mod">
          <ac:chgData name="Carlos Ducuara" userId="57fb0e70-fcc5-479c-850f-816bdc928046" providerId="ADAL" clId="{386DD68D-3EAA-4534-97EE-8C9E206C8F22}" dt="2026-10-06T17:01:00.222" v="7220" actId="20577"/>
          <ac:spMkLst>
            <pc:docMk/>
            <pc:sldMk cId="3379443724" sldId="2875"/>
            <ac:spMk id="5" creationId="{B4DF2838-D8C1-DFB1-863E-A105F8E1009A}"/>
          </ac:spMkLst>
        </pc:spChg>
        <pc:graphicFrameChg chg="mod">
          <ac:chgData name="Carlos Ducuara" userId="57fb0e70-fcc5-479c-850f-816bdc928046" providerId="ADAL" clId="{386DD68D-3EAA-4534-97EE-8C9E206C8F22}" dt="2026-10-06T17:00:32.148" v="7182" actId="20577"/>
          <ac:graphicFrameMkLst>
            <pc:docMk/>
            <pc:sldMk cId="3379443724" sldId="2875"/>
            <ac:graphicFrameMk id="6" creationId="{CE7C5FE7-F581-C48A-2831-FB6CCCED4A10}"/>
          </ac:graphicFrameMkLst>
        </pc:graphicFrameChg>
        <pc:graphicFrameChg chg="mod">
          <ac:chgData name="Carlos Ducuara" userId="57fb0e70-fcc5-479c-850f-816bdc928046" providerId="ADAL" clId="{386DD68D-3EAA-4534-97EE-8C9E206C8F22}" dt="2026-10-06T17:00:47.800" v="7204" actId="20577"/>
          <ac:graphicFrameMkLst>
            <pc:docMk/>
            <pc:sldMk cId="3379443724" sldId="2875"/>
            <ac:graphicFrameMk id="7" creationId="{BFF9C637-259C-32F3-0126-3F612951C8E0}"/>
          </ac:graphicFrameMkLst>
        </pc:graphicFrameChg>
      </pc:sldChg>
      <pc:sldChg chg="addSp delSp modSp mod">
        <pc:chgData name="Carlos Ducuara" userId="57fb0e70-fcc5-479c-850f-816bdc928046" providerId="ADAL" clId="{386DD68D-3EAA-4534-97EE-8C9E206C8F22}" dt="2026-10-07T13:35:41.518" v="7269" actId="20577"/>
        <pc:sldMkLst>
          <pc:docMk/>
          <pc:sldMk cId="1952707225" sldId="2876"/>
        </pc:sldMkLst>
        <pc:spChg chg="mod">
          <ac:chgData name="Carlos Ducuara" userId="57fb0e70-fcc5-479c-850f-816bdc928046" providerId="ADAL" clId="{386DD68D-3EAA-4534-97EE-8C9E206C8F22}" dt="2026-10-07T13:34:06.761" v="7257" actId="20577"/>
          <ac:spMkLst>
            <pc:docMk/>
            <pc:sldMk cId="1952707225" sldId="2876"/>
            <ac:spMk id="6" creationId="{A4B932CD-3BEE-F986-F8CC-D2FD0827F2D7}"/>
          </ac:spMkLst>
        </pc:spChg>
        <pc:spChg chg="mod">
          <ac:chgData name="Carlos Ducuara" userId="57fb0e70-fcc5-479c-850f-816bdc928046" providerId="ADAL" clId="{386DD68D-3EAA-4534-97EE-8C9E206C8F22}" dt="2026-10-07T13:35:41.518" v="7269" actId="20577"/>
          <ac:spMkLst>
            <pc:docMk/>
            <pc:sldMk cId="1952707225" sldId="2876"/>
            <ac:spMk id="8" creationId="{B877F4CA-9473-A55E-5120-BF8AD276F40F}"/>
          </ac:spMkLst>
        </pc:spChg>
        <pc:graphicFrameChg chg="add mod modGraphic">
          <ac:chgData name="Carlos Ducuara" userId="57fb0e70-fcc5-479c-850f-816bdc928046" providerId="ADAL" clId="{386DD68D-3EAA-4534-97EE-8C9E206C8F22}" dt="2026-10-07T13:34:32.258" v="7260" actId="404"/>
          <ac:graphicFrameMkLst>
            <pc:docMk/>
            <pc:sldMk cId="1952707225" sldId="2876"/>
            <ac:graphicFrameMk id="4" creationId="{23C9EDF9-5744-65E0-9B12-943BBB95EDA9}"/>
          </ac:graphicFrameMkLst>
        </pc:graphicFrameChg>
      </pc:sldChg>
      <pc:sldChg chg="addSp delSp modSp mod">
        <pc:chgData name="Carlos Ducuara" userId="57fb0e70-fcc5-479c-850f-816bdc928046" providerId="ADAL" clId="{386DD68D-3EAA-4534-97EE-8C9E206C8F22}" dt="2026-10-07T17:14:47.656" v="7299" actId="20577"/>
        <pc:sldMkLst>
          <pc:docMk/>
          <pc:sldMk cId="575084573" sldId="2877"/>
        </pc:sldMkLst>
        <pc:spChg chg="mod">
          <ac:chgData name="Carlos Ducuara" userId="57fb0e70-fcc5-479c-850f-816bdc928046" providerId="ADAL" clId="{386DD68D-3EAA-4534-97EE-8C9E206C8F22}" dt="2026-10-07T17:14:47.656" v="7299" actId="20577"/>
          <ac:spMkLst>
            <pc:docMk/>
            <pc:sldMk cId="575084573" sldId="2877"/>
            <ac:spMk id="5" creationId="{86F57302-26BC-0DF1-7D46-3DDEE41949F4}"/>
          </ac:spMkLst>
        </pc:spChg>
        <pc:graphicFrameChg chg="add mod">
          <ac:chgData name="Carlos Ducuara" userId="57fb0e70-fcc5-479c-850f-816bdc928046" providerId="ADAL" clId="{386DD68D-3EAA-4534-97EE-8C9E206C8F22}" dt="2026-10-07T17:14:37.389" v="7283" actId="1076"/>
          <ac:graphicFrameMkLst>
            <pc:docMk/>
            <pc:sldMk cId="575084573" sldId="2877"/>
            <ac:graphicFrameMk id="4" creationId="{ECE08792-569B-DEAB-4019-83E6A6BA667D}"/>
          </ac:graphicFrameMkLst>
        </pc:graphicFrameChg>
      </pc:sldChg>
      <pc:sldChg chg="modSp mod">
        <pc:chgData name="Carlos Ducuara" userId="57fb0e70-fcc5-479c-850f-816bdc928046" providerId="ADAL" clId="{386DD68D-3EAA-4534-97EE-8C9E206C8F22}" dt="2026-10-11T03:26:35.973" v="7803" actId="27918"/>
        <pc:sldMkLst>
          <pc:docMk/>
          <pc:sldMk cId="4030884629" sldId="2878"/>
        </pc:sldMkLst>
        <pc:spChg chg="mod">
          <ac:chgData name="Carlos Ducuara" userId="57fb0e70-fcc5-479c-850f-816bdc928046" providerId="ADAL" clId="{386DD68D-3EAA-4534-97EE-8C9E206C8F22}" dt="2026-10-07T21:43:13.799" v="7324" actId="20577"/>
          <ac:spMkLst>
            <pc:docMk/>
            <pc:sldMk cId="4030884629" sldId="2878"/>
            <ac:spMk id="5" creationId="{E096730D-9B8A-942F-149B-FA5D7EFBC28D}"/>
          </ac:spMkLst>
        </pc:spChg>
      </pc:sldChg>
      <pc:sldChg chg="modSp mod">
        <pc:chgData name="Carlos Ducuara" userId="57fb0e70-fcc5-479c-850f-816bdc928046" providerId="ADAL" clId="{386DD68D-3EAA-4534-97EE-8C9E206C8F22}" dt="2026-10-11T03:31:07.870" v="7812" actId="27918"/>
        <pc:sldMkLst>
          <pc:docMk/>
          <pc:sldMk cId="859069102" sldId="2879"/>
        </pc:sldMkLst>
        <pc:spChg chg="mod">
          <ac:chgData name="Carlos Ducuara" userId="57fb0e70-fcc5-479c-850f-816bdc928046" providerId="ADAL" clId="{386DD68D-3EAA-4534-97EE-8C9E206C8F22}" dt="2026-10-08T15:01:20.346" v="7343" actId="20577"/>
          <ac:spMkLst>
            <pc:docMk/>
            <pc:sldMk cId="859069102" sldId="2879"/>
            <ac:spMk id="3" creationId="{84C4EE11-A1E6-D580-7502-D537628E221A}"/>
          </ac:spMkLst>
        </pc:spChg>
      </pc:sldChg>
      <pc:sldChg chg="addSp delSp modSp mod">
        <pc:chgData name="Carlos Ducuara" userId="57fb0e70-fcc5-479c-850f-816bdc928046" providerId="ADAL" clId="{386DD68D-3EAA-4534-97EE-8C9E206C8F22}" dt="2026-10-08T20:03:14.909" v="7369" actId="20577"/>
        <pc:sldMkLst>
          <pc:docMk/>
          <pc:sldMk cId="2824649822" sldId="2884"/>
        </pc:sldMkLst>
        <pc:spChg chg="mod">
          <ac:chgData name="Carlos Ducuara" userId="57fb0e70-fcc5-479c-850f-816bdc928046" providerId="ADAL" clId="{386DD68D-3EAA-4534-97EE-8C9E206C8F22}" dt="2026-10-08T20:03:06.139" v="7353" actId="20577"/>
          <ac:spMkLst>
            <pc:docMk/>
            <pc:sldMk cId="2824649822" sldId="2884"/>
            <ac:spMk id="8" creationId="{3D8C84CA-5203-28A8-A9F6-E5E43DE79608}"/>
          </ac:spMkLst>
        </pc:spChg>
        <pc:spChg chg="mod">
          <ac:chgData name="Carlos Ducuara" userId="57fb0e70-fcc5-479c-850f-816bdc928046" providerId="ADAL" clId="{386DD68D-3EAA-4534-97EE-8C9E206C8F22}" dt="2026-10-08T20:03:14.909" v="7369" actId="20577"/>
          <ac:spMkLst>
            <pc:docMk/>
            <pc:sldMk cId="2824649822" sldId="2884"/>
            <ac:spMk id="10" creationId="{83222120-D730-28A5-4356-1AF75AF324B0}"/>
          </ac:spMkLst>
        </pc:spChg>
        <pc:graphicFrameChg chg="add mod modGraphic">
          <ac:chgData name="Carlos Ducuara" userId="57fb0e70-fcc5-479c-850f-816bdc928046" providerId="ADAL" clId="{386DD68D-3EAA-4534-97EE-8C9E206C8F22}" dt="2026-10-08T20:02:43.570" v="7350" actId="1076"/>
          <ac:graphicFrameMkLst>
            <pc:docMk/>
            <pc:sldMk cId="2824649822" sldId="2884"/>
            <ac:graphicFrameMk id="6" creationId="{AB3260F1-3FA8-A12A-E5EC-86DBBAB46688}"/>
          </ac:graphicFrameMkLst>
        </pc:graphicFrameChg>
      </pc:sldChg>
      <pc:sldChg chg="modSp mod">
        <pc:chgData name="Carlos Ducuara" userId="57fb0e70-fcc5-479c-850f-816bdc928046" providerId="ADAL" clId="{386DD68D-3EAA-4534-97EE-8C9E206C8F22}" dt="2026-10-13T14:32:55.716" v="8402" actId="27918"/>
        <pc:sldMkLst>
          <pc:docMk/>
          <pc:sldMk cId="3575607234" sldId="2899"/>
        </pc:sldMkLst>
        <pc:spChg chg="mod">
          <ac:chgData name="Carlos Ducuara" userId="57fb0e70-fcc5-479c-850f-816bdc928046" providerId="ADAL" clId="{386DD68D-3EAA-4534-97EE-8C9E206C8F22}" dt="2026-10-11T03:22:00.366" v="7791" actId="20577"/>
          <ac:spMkLst>
            <pc:docMk/>
            <pc:sldMk cId="3575607234" sldId="2899"/>
            <ac:spMk id="5" creationId="{C09F4CF8-5C90-FCDB-DD62-D4C2478E6068}"/>
          </ac:spMkLst>
        </pc:spChg>
      </pc:sldChg>
      <pc:sldChg chg="modSp mod">
        <pc:chgData name="Carlos Ducuara" userId="57fb0e70-fcc5-479c-850f-816bdc928046" providerId="ADAL" clId="{386DD68D-3EAA-4534-97EE-8C9E206C8F22}" dt="2026-10-11T03:38:19.121" v="7834" actId="20577"/>
        <pc:sldMkLst>
          <pc:docMk/>
          <pc:sldMk cId="2998169016" sldId="2900"/>
        </pc:sldMkLst>
        <pc:spChg chg="mod">
          <ac:chgData name="Carlos Ducuara" userId="57fb0e70-fcc5-479c-850f-816bdc928046" providerId="ADAL" clId="{386DD68D-3EAA-4534-97EE-8C9E206C8F22}" dt="2026-10-11T03:38:19.121" v="7834" actId="20577"/>
          <ac:spMkLst>
            <pc:docMk/>
            <pc:sldMk cId="2998169016" sldId="2900"/>
            <ac:spMk id="3" creationId="{C53BDFF0-A8B4-4E6D-B10B-F65E02CA0E20}"/>
          </ac:spMkLst>
        </pc:spChg>
      </pc:sldChg>
      <pc:sldChg chg="addSp delSp modSp add mod">
        <pc:chgData name="Carlos Ducuara" userId="57fb0e70-fcc5-479c-850f-816bdc928046" providerId="ADAL" clId="{386DD68D-3EAA-4534-97EE-8C9E206C8F22}" dt="2026-10-14T13:04:30.686" v="9035" actId="14100"/>
        <pc:sldMkLst>
          <pc:docMk/>
          <pc:sldMk cId="34570905" sldId="2945"/>
        </pc:sldMkLst>
        <pc:spChg chg="mod">
          <ac:chgData name="Carlos Ducuara" userId="57fb0e70-fcc5-479c-850f-816bdc928046" providerId="ADAL" clId="{386DD68D-3EAA-4534-97EE-8C9E206C8F22}" dt="2026-10-14T03:13:56.796" v="9017" actId="20577"/>
          <ac:spMkLst>
            <pc:docMk/>
            <pc:sldMk cId="34570905" sldId="2945"/>
            <ac:spMk id="6" creationId="{DC4F197C-3F6B-753A-CBD3-528CF59F42D9}"/>
          </ac:spMkLst>
        </pc:spChg>
        <pc:spChg chg="mod">
          <ac:chgData name="Carlos Ducuara" userId="57fb0e70-fcc5-479c-850f-816bdc928046" providerId="ADAL" clId="{386DD68D-3EAA-4534-97EE-8C9E206C8F22}" dt="2026-10-14T03:13:50.429" v="9001" actId="20577"/>
          <ac:spMkLst>
            <pc:docMk/>
            <pc:sldMk cId="34570905" sldId="2945"/>
            <ac:spMk id="8" creationId="{4DEAF8BE-9ADB-2A87-96CF-14D1364EBD74}"/>
          </ac:spMkLst>
        </pc:spChg>
        <pc:graphicFrameChg chg="add del mod modGraphic">
          <ac:chgData name="Carlos Ducuara" userId="57fb0e70-fcc5-479c-850f-816bdc928046" providerId="ADAL" clId="{386DD68D-3EAA-4534-97EE-8C9E206C8F22}" dt="2026-10-14T13:03:37.546" v="9029" actId="478"/>
          <ac:graphicFrameMkLst>
            <pc:docMk/>
            <pc:sldMk cId="34570905" sldId="2945"/>
            <ac:graphicFrameMk id="3" creationId="{9BB30562-D63F-2919-036E-5FFA52373227}"/>
          </ac:graphicFrameMkLst>
        </pc:graphicFrameChg>
        <pc:graphicFrameChg chg="add del mod modGraphic">
          <ac:chgData name="Carlos Ducuara" userId="57fb0e70-fcc5-479c-850f-816bdc928046" providerId="ADAL" clId="{386DD68D-3EAA-4534-97EE-8C9E206C8F22}" dt="2026-10-14T03:11:26.714" v="8973" actId="478"/>
          <ac:graphicFrameMkLst>
            <pc:docMk/>
            <pc:sldMk cId="34570905" sldId="2945"/>
            <ac:graphicFrameMk id="4" creationId="{DD415E59-1195-AC7E-8FC4-FAB53D268D6F}"/>
          </ac:graphicFrameMkLst>
        </pc:graphicFrameChg>
        <pc:graphicFrameChg chg="add mod">
          <ac:chgData name="Carlos Ducuara" userId="57fb0e70-fcc5-479c-850f-816bdc928046" providerId="ADAL" clId="{386DD68D-3EAA-4534-97EE-8C9E206C8F22}" dt="2026-10-14T13:03:52.380" v="9030"/>
          <ac:graphicFrameMkLst>
            <pc:docMk/>
            <pc:sldMk cId="34570905" sldId="2945"/>
            <ac:graphicFrameMk id="5" creationId="{63DED56A-FB68-AEC6-0EA8-84D1A1079F10}"/>
          </ac:graphicFrameMkLst>
        </pc:graphicFrameChg>
        <pc:graphicFrameChg chg="add mod modGraphic">
          <ac:chgData name="Carlos Ducuara" userId="57fb0e70-fcc5-479c-850f-816bdc928046" providerId="ADAL" clId="{386DD68D-3EAA-4534-97EE-8C9E206C8F22}" dt="2026-10-14T13:04:30.686" v="9035" actId="14100"/>
          <ac:graphicFrameMkLst>
            <pc:docMk/>
            <pc:sldMk cId="34570905" sldId="2945"/>
            <ac:graphicFrameMk id="7" creationId="{02C7EE8E-13C8-802F-FC74-9D113858EBB7}"/>
          </ac:graphicFrameMkLst>
        </pc:graphicFrameChg>
      </pc:sldChg>
      <pc:sldChg chg="addSp add mod">
        <pc:chgData name="Carlos Ducuara" userId="57fb0e70-fcc5-479c-850f-816bdc928046" providerId="ADAL" clId="{386DD68D-3EAA-4534-97EE-8C9E206C8F22}" dt="2026-09-14T03:23:28.220" v="6348" actId="22"/>
        <pc:sldMkLst>
          <pc:docMk/>
          <pc:sldMk cId="12432055" sldId="2960"/>
        </pc:sldMkLst>
        <pc:spChg chg="add">
          <ac:chgData name="Carlos Ducuara" userId="57fb0e70-fcc5-479c-850f-816bdc928046" providerId="ADAL" clId="{386DD68D-3EAA-4534-97EE-8C9E206C8F22}" dt="2026-09-14T03:23:28.220" v="6348" actId="22"/>
          <ac:spMkLst>
            <pc:docMk/>
            <pc:sldMk cId="12432055" sldId="2960"/>
            <ac:spMk id="6" creationId="{8CB5D42E-9FE8-1C79-853D-F50BE564E820}"/>
          </ac:spMkLst>
        </pc:spChg>
      </pc:sldChg>
      <pc:sldChg chg="addSp modSp add mod">
        <pc:chgData name="Carlos Ducuara" userId="57fb0e70-fcc5-479c-850f-816bdc928046" providerId="ADAL" clId="{386DD68D-3EAA-4534-97EE-8C9E206C8F22}" dt="2026-09-14T03:23:54.263" v="6352" actId="1076"/>
        <pc:sldMkLst>
          <pc:docMk/>
          <pc:sldMk cId="751892028" sldId="2961"/>
        </pc:sldMkLst>
        <pc:spChg chg="add mod">
          <ac:chgData name="Carlos Ducuara" userId="57fb0e70-fcc5-479c-850f-816bdc928046" providerId="ADAL" clId="{386DD68D-3EAA-4534-97EE-8C9E206C8F22}" dt="2026-09-14T03:23:54.263" v="6352" actId="1076"/>
          <ac:spMkLst>
            <pc:docMk/>
            <pc:sldMk cId="751892028" sldId="2961"/>
            <ac:spMk id="9" creationId="{C7D58C3E-E3A0-0E63-8B7E-96BABB5E7248}"/>
          </ac:spMkLst>
        </pc:spChg>
      </pc:sldChg>
      <pc:sldChg chg="addSp modSp add mod">
        <pc:chgData name="Carlos Ducuara" userId="57fb0e70-fcc5-479c-850f-816bdc928046" providerId="ADAL" clId="{386DD68D-3EAA-4534-97EE-8C9E206C8F22}" dt="2026-09-14T03:24:07.611" v="6354" actId="1076"/>
        <pc:sldMkLst>
          <pc:docMk/>
          <pc:sldMk cId="1727877658" sldId="2962"/>
        </pc:sldMkLst>
        <pc:spChg chg="add mod">
          <ac:chgData name="Carlos Ducuara" userId="57fb0e70-fcc5-479c-850f-816bdc928046" providerId="ADAL" clId="{386DD68D-3EAA-4534-97EE-8C9E206C8F22}" dt="2026-09-14T03:24:07.611" v="6354" actId="1076"/>
          <ac:spMkLst>
            <pc:docMk/>
            <pc:sldMk cId="1727877658" sldId="2962"/>
            <ac:spMk id="5" creationId="{B2A3EB02-5643-FB2E-6454-490E80D4B2B8}"/>
          </ac:spMkLst>
        </pc:spChg>
      </pc:sldChg>
      <pc:sldChg chg="addSp modSp add mod">
        <pc:chgData name="Carlos Ducuara" userId="57fb0e70-fcc5-479c-850f-816bdc928046" providerId="ADAL" clId="{386DD68D-3EAA-4534-97EE-8C9E206C8F22}" dt="2026-09-14T03:24:20.878" v="6356" actId="1076"/>
        <pc:sldMkLst>
          <pc:docMk/>
          <pc:sldMk cId="2715060703" sldId="2963"/>
        </pc:sldMkLst>
        <pc:spChg chg="add mod">
          <ac:chgData name="Carlos Ducuara" userId="57fb0e70-fcc5-479c-850f-816bdc928046" providerId="ADAL" clId="{386DD68D-3EAA-4534-97EE-8C9E206C8F22}" dt="2026-09-14T03:24:20.878" v="6356" actId="1076"/>
          <ac:spMkLst>
            <pc:docMk/>
            <pc:sldMk cId="2715060703" sldId="2963"/>
            <ac:spMk id="7" creationId="{25311368-0517-C016-07DA-FCE18ED50343}"/>
          </ac:spMkLst>
        </pc:spChg>
      </pc:sldChg>
      <pc:sldChg chg="addSp modSp add mod">
        <pc:chgData name="Carlos Ducuara" userId="57fb0e70-fcc5-479c-850f-816bdc928046" providerId="ADAL" clId="{386DD68D-3EAA-4534-97EE-8C9E206C8F22}" dt="2026-09-14T03:24:40.435" v="6358" actId="1076"/>
        <pc:sldMkLst>
          <pc:docMk/>
          <pc:sldMk cId="957209222" sldId="2964"/>
        </pc:sldMkLst>
        <pc:spChg chg="add mod">
          <ac:chgData name="Carlos Ducuara" userId="57fb0e70-fcc5-479c-850f-816bdc928046" providerId="ADAL" clId="{386DD68D-3EAA-4534-97EE-8C9E206C8F22}" dt="2026-09-14T03:24:40.435" v="6358" actId="1076"/>
          <ac:spMkLst>
            <pc:docMk/>
            <pc:sldMk cId="957209222" sldId="2964"/>
            <ac:spMk id="7" creationId="{4C82D468-D0EC-1575-ED21-D1C68A1195A3}"/>
          </ac:spMkLst>
        </pc:spChg>
      </pc:sldChg>
      <pc:sldChg chg="addSp add mod">
        <pc:chgData name="Carlos Ducuara" userId="57fb0e70-fcc5-479c-850f-816bdc928046" providerId="ADAL" clId="{386DD68D-3EAA-4534-97EE-8C9E206C8F22}" dt="2026-09-14T03:24:50.437" v="6359" actId="22"/>
        <pc:sldMkLst>
          <pc:docMk/>
          <pc:sldMk cId="2206402967" sldId="2965"/>
        </pc:sldMkLst>
        <pc:spChg chg="add">
          <ac:chgData name="Carlos Ducuara" userId="57fb0e70-fcc5-479c-850f-816bdc928046" providerId="ADAL" clId="{386DD68D-3EAA-4534-97EE-8C9E206C8F22}" dt="2026-09-14T03:24:50.437" v="6359" actId="22"/>
          <ac:spMkLst>
            <pc:docMk/>
            <pc:sldMk cId="2206402967" sldId="2965"/>
            <ac:spMk id="5" creationId="{C15BEFD0-9F31-ADE0-1396-EDEFDED5EED1}"/>
          </ac:spMkLst>
        </pc:spChg>
      </pc:sldChg>
      <pc:sldChg chg="addSp add mod">
        <pc:chgData name="Carlos Ducuara" userId="57fb0e70-fcc5-479c-850f-816bdc928046" providerId="ADAL" clId="{386DD68D-3EAA-4534-97EE-8C9E206C8F22}" dt="2026-09-14T03:24:55.123" v="6360" actId="22"/>
        <pc:sldMkLst>
          <pc:docMk/>
          <pc:sldMk cId="2980568458" sldId="2966"/>
        </pc:sldMkLst>
        <pc:spChg chg="add">
          <ac:chgData name="Carlos Ducuara" userId="57fb0e70-fcc5-479c-850f-816bdc928046" providerId="ADAL" clId="{386DD68D-3EAA-4534-97EE-8C9E206C8F22}" dt="2026-09-14T03:24:55.123" v="6360" actId="22"/>
          <ac:spMkLst>
            <pc:docMk/>
            <pc:sldMk cId="2980568458" sldId="2966"/>
            <ac:spMk id="5" creationId="{9851DFEE-62EB-09B3-58C5-EF2153DC0D8B}"/>
          </ac:spMkLst>
        </pc:spChg>
      </pc:sldChg>
      <pc:sldChg chg="addSp modSp add mod">
        <pc:chgData name="Carlos Ducuara" userId="57fb0e70-fcc5-479c-850f-816bdc928046" providerId="ADAL" clId="{386DD68D-3EAA-4534-97EE-8C9E206C8F22}" dt="2026-09-14T03:25:13.807" v="6362" actId="1076"/>
        <pc:sldMkLst>
          <pc:docMk/>
          <pc:sldMk cId="2545241135" sldId="2967"/>
        </pc:sldMkLst>
        <pc:spChg chg="add mod">
          <ac:chgData name="Carlos Ducuara" userId="57fb0e70-fcc5-479c-850f-816bdc928046" providerId="ADAL" clId="{386DD68D-3EAA-4534-97EE-8C9E206C8F22}" dt="2026-09-14T03:25:13.807" v="6362" actId="1076"/>
          <ac:spMkLst>
            <pc:docMk/>
            <pc:sldMk cId="2545241135" sldId="2967"/>
            <ac:spMk id="4" creationId="{D2E4059F-D216-43AF-5779-685AFC7DE316}"/>
          </ac:spMkLst>
        </pc:spChg>
      </pc:sldChg>
      <pc:sldChg chg="add setBg">
        <pc:chgData name="Carlos Ducuara" userId="57fb0e70-fcc5-479c-850f-816bdc928046" providerId="ADAL" clId="{386DD68D-3EAA-4534-97EE-8C9E206C8F22}" dt="2026-09-14T03:22:19.262" v="6333"/>
        <pc:sldMkLst>
          <pc:docMk/>
          <pc:sldMk cId="2795121551" sldId="2968"/>
        </pc:sldMkLst>
      </pc:sldChg>
      <pc:sldChg chg="addSp add mod">
        <pc:chgData name="Carlos Ducuara" userId="57fb0e70-fcc5-479c-850f-816bdc928046" providerId="ADAL" clId="{386DD68D-3EAA-4534-97EE-8C9E206C8F22}" dt="2026-09-14T03:29:28.196" v="6378" actId="22"/>
        <pc:sldMkLst>
          <pc:docMk/>
          <pc:sldMk cId="3644445346" sldId="2969"/>
        </pc:sldMkLst>
        <pc:spChg chg="add">
          <ac:chgData name="Carlos Ducuara" userId="57fb0e70-fcc5-479c-850f-816bdc928046" providerId="ADAL" clId="{386DD68D-3EAA-4534-97EE-8C9E206C8F22}" dt="2026-09-14T03:29:28.196" v="6378" actId="22"/>
          <ac:spMkLst>
            <pc:docMk/>
            <pc:sldMk cId="3644445346" sldId="2969"/>
            <ac:spMk id="6" creationId="{383D0800-E01D-BE0B-01F4-0418CECC4FB6}"/>
          </ac:spMkLst>
        </pc:spChg>
      </pc:sldChg>
      <pc:sldChg chg="addSp add mod">
        <pc:chgData name="Carlos Ducuara" userId="57fb0e70-fcc5-479c-850f-816bdc928046" providerId="ADAL" clId="{386DD68D-3EAA-4534-97EE-8C9E206C8F22}" dt="2026-09-14T03:29:31.113" v="6379" actId="22"/>
        <pc:sldMkLst>
          <pc:docMk/>
          <pc:sldMk cId="3287639207" sldId="2970"/>
        </pc:sldMkLst>
        <pc:spChg chg="add">
          <ac:chgData name="Carlos Ducuara" userId="57fb0e70-fcc5-479c-850f-816bdc928046" providerId="ADAL" clId="{386DD68D-3EAA-4534-97EE-8C9E206C8F22}" dt="2026-09-14T03:29:31.113" v="6379" actId="22"/>
          <ac:spMkLst>
            <pc:docMk/>
            <pc:sldMk cId="3287639207" sldId="2970"/>
            <ac:spMk id="3" creationId="{45B22A8C-CA9E-C6CA-7684-7A147FE562FF}"/>
          </ac:spMkLst>
        </pc:spChg>
      </pc:sldChg>
      <pc:sldChg chg="addSp add mod">
        <pc:chgData name="Carlos Ducuara" userId="57fb0e70-fcc5-479c-850f-816bdc928046" providerId="ADAL" clId="{386DD68D-3EAA-4534-97EE-8C9E206C8F22}" dt="2026-09-14T03:29:34.236" v="6380" actId="22"/>
        <pc:sldMkLst>
          <pc:docMk/>
          <pc:sldMk cId="3861009635" sldId="2971"/>
        </pc:sldMkLst>
        <pc:spChg chg="add">
          <ac:chgData name="Carlos Ducuara" userId="57fb0e70-fcc5-479c-850f-816bdc928046" providerId="ADAL" clId="{386DD68D-3EAA-4534-97EE-8C9E206C8F22}" dt="2026-09-14T03:29:34.236" v="6380" actId="22"/>
          <ac:spMkLst>
            <pc:docMk/>
            <pc:sldMk cId="3861009635" sldId="2971"/>
            <ac:spMk id="3" creationId="{D425A4B6-0994-2B0A-0A83-EFFBACA29A27}"/>
          </ac:spMkLst>
        </pc:spChg>
      </pc:sldChg>
      <pc:sldChg chg="addSp add mod">
        <pc:chgData name="Carlos Ducuara" userId="57fb0e70-fcc5-479c-850f-816bdc928046" providerId="ADAL" clId="{386DD68D-3EAA-4534-97EE-8C9E206C8F22}" dt="2026-09-14T03:29:40.191" v="6381" actId="22"/>
        <pc:sldMkLst>
          <pc:docMk/>
          <pc:sldMk cId="2943981860" sldId="2972"/>
        </pc:sldMkLst>
        <pc:spChg chg="add">
          <ac:chgData name="Carlos Ducuara" userId="57fb0e70-fcc5-479c-850f-816bdc928046" providerId="ADAL" clId="{386DD68D-3EAA-4534-97EE-8C9E206C8F22}" dt="2026-09-14T03:29:40.191" v="6381" actId="22"/>
          <ac:spMkLst>
            <pc:docMk/>
            <pc:sldMk cId="2943981860" sldId="2972"/>
            <ac:spMk id="5" creationId="{F5965C99-7932-5B90-951C-29C0B116C738}"/>
          </ac:spMkLst>
        </pc:spChg>
      </pc:sldChg>
      <pc:sldChg chg="add del">
        <pc:chgData name="Carlos Ducuara" userId="57fb0e70-fcc5-479c-850f-816bdc928046" providerId="ADAL" clId="{386DD68D-3EAA-4534-97EE-8C9E206C8F22}" dt="2026-10-13T16:08:30.470" v="8633" actId="47"/>
        <pc:sldMkLst>
          <pc:docMk/>
          <pc:sldMk cId="2692917955" sldId="2974"/>
        </pc:sldMkLst>
      </pc:sldChg>
      <pc:sldChg chg="modSp del mod">
        <pc:chgData name="Carlos Ducuara" userId="57fb0e70-fcc5-479c-850f-816bdc928046" providerId="ADAL" clId="{386DD68D-3EAA-4534-97EE-8C9E206C8F22}" dt="2026-10-14T13:52:53.543" v="9213" actId="47"/>
        <pc:sldMkLst>
          <pc:docMk/>
          <pc:sldMk cId="1420898996" sldId="2975"/>
        </pc:sldMkLst>
        <pc:graphicFrameChg chg="modGraphic">
          <ac:chgData name="Carlos Ducuara" userId="57fb0e70-fcc5-479c-850f-816bdc928046" providerId="ADAL" clId="{386DD68D-3EAA-4534-97EE-8C9E206C8F22}" dt="2026-10-14T13:44:03.314" v="9147" actId="14734"/>
          <ac:graphicFrameMkLst>
            <pc:docMk/>
            <pc:sldMk cId="1420898996" sldId="2975"/>
            <ac:graphicFrameMk id="6" creationId="{4AE49CD0-B8D0-C976-1940-99AE38A00053}"/>
          </ac:graphicFrameMkLst>
        </pc:graphicFrameChg>
      </pc:sldChg>
      <pc:sldChg chg="addSp modSp add mod">
        <pc:chgData name="Carlos Ducuara" userId="57fb0e70-fcc5-479c-850f-816bdc928046" providerId="ADAL" clId="{386DD68D-3EAA-4534-97EE-8C9E206C8F22}" dt="2026-10-11T04:17:14.088" v="8007" actId="20577"/>
        <pc:sldMkLst>
          <pc:docMk/>
          <pc:sldMk cId="2192037973" sldId="2979"/>
        </pc:sldMkLst>
        <pc:spChg chg="add mod">
          <ac:chgData name="Carlos Ducuara" userId="57fb0e70-fcc5-479c-850f-816bdc928046" providerId="ADAL" clId="{386DD68D-3EAA-4534-97EE-8C9E206C8F22}" dt="2026-10-11T04:17:14.088" v="8007" actId="20577"/>
          <ac:spMkLst>
            <pc:docMk/>
            <pc:sldMk cId="2192037973" sldId="2979"/>
            <ac:spMk id="6" creationId="{1E1D4C60-4424-4CB1-6E8C-A77CEC1A4252}"/>
          </ac:spMkLst>
        </pc:spChg>
      </pc:sldChg>
      <pc:sldChg chg="addSp add mod">
        <pc:chgData name="Carlos Ducuara" userId="57fb0e70-fcc5-479c-850f-816bdc928046" providerId="ADAL" clId="{386DD68D-3EAA-4534-97EE-8C9E206C8F22}" dt="2026-10-11T04:17:32.427" v="8008" actId="22"/>
        <pc:sldMkLst>
          <pc:docMk/>
          <pc:sldMk cId="3256942225" sldId="2980"/>
        </pc:sldMkLst>
        <pc:spChg chg="add">
          <ac:chgData name="Carlos Ducuara" userId="57fb0e70-fcc5-479c-850f-816bdc928046" providerId="ADAL" clId="{386DD68D-3EAA-4534-97EE-8C9E206C8F22}" dt="2026-10-11T04:17:32.427" v="8008" actId="22"/>
          <ac:spMkLst>
            <pc:docMk/>
            <pc:sldMk cId="3256942225" sldId="2980"/>
            <ac:spMk id="14" creationId="{AE74F86D-EC08-EA35-0109-3AED8D626650}"/>
          </ac:spMkLst>
        </pc:spChg>
      </pc:sldChg>
      <pc:sldChg chg="addSp delSp modSp add mod">
        <pc:chgData name="Carlos Ducuara" userId="57fb0e70-fcc5-479c-850f-816bdc928046" providerId="ADAL" clId="{386DD68D-3EAA-4534-97EE-8C9E206C8F22}" dt="2026-10-11T04:17:50.922" v="8012" actId="1076"/>
        <pc:sldMkLst>
          <pc:docMk/>
          <pc:sldMk cId="407574317" sldId="2981"/>
        </pc:sldMkLst>
        <pc:spChg chg="add mod">
          <ac:chgData name="Carlos Ducuara" userId="57fb0e70-fcc5-479c-850f-816bdc928046" providerId="ADAL" clId="{386DD68D-3EAA-4534-97EE-8C9E206C8F22}" dt="2026-10-11T04:17:50.922" v="8012" actId="1076"/>
          <ac:spMkLst>
            <pc:docMk/>
            <pc:sldMk cId="407574317" sldId="2981"/>
            <ac:spMk id="12" creationId="{17BDE822-6DF9-B868-BA81-185C2C0DFB56}"/>
          </ac:spMkLst>
        </pc:spChg>
      </pc:sldChg>
      <pc:sldChg chg="addSp delSp modSp mod">
        <pc:chgData name="Carlos Ducuara" userId="57fb0e70-fcc5-479c-850f-816bdc928046" providerId="ADAL" clId="{386DD68D-3EAA-4534-97EE-8C9E206C8F22}" dt="2026-10-11T04:20:16.670" v="8049" actId="1076"/>
        <pc:sldMkLst>
          <pc:docMk/>
          <pc:sldMk cId="2479979965" sldId="2982"/>
        </pc:sldMkLst>
        <pc:spChg chg="add mod">
          <ac:chgData name="Carlos Ducuara" userId="57fb0e70-fcc5-479c-850f-816bdc928046" providerId="ADAL" clId="{386DD68D-3EAA-4534-97EE-8C9E206C8F22}" dt="2026-10-11T04:20:16.670" v="8049" actId="1076"/>
          <ac:spMkLst>
            <pc:docMk/>
            <pc:sldMk cId="2479979965" sldId="2982"/>
            <ac:spMk id="10" creationId="{DCE39D79-9CB9-E04A-86CB-24C870617E2F}"/>
          </ac:spMkLst>
        </pc:spChg>
      </pc:sldChg>
      <pc:sldChg chg="addSp delSp modSp add mod">
        <pc:chgData name="Carlos Ducuara" userId="57fb0e70-fcc5-479c-850f-816bdc928046" providerId="ADAL" clId="{386DD68D-3EAA-4534-97EE-8C9E206C8F22}" dt="2026-10-14T13:34:52.732" v="9120" actId="1076"/>
        <pc:sldMkLst>
          <pc:docMk/>
          <pc:sldMk cId="2540975718" sldId="2984"/>
        </pc:sldMkLst>
        <pc:spChg chg="add del mod">
          <ac:chgData name="Carlos Ducuara" userId="57fb0e70-fcc5-479c-850f-816bdc928046" providerId="ADAL" clId="{386DD68D-3EAA-4534-97EE-8C9E206C8F22}" dt="2026-10-14T13:31:18.249" v="9100" actId="478"/>
          <ac:spMkLst>
            <pc:docMk/>
            <pc:sldMk cId="2540975718" sldId="2984"/>
            <ac:spMk id="2" creationId="{DB2E7978-4D62-C262-2CEF-642307DBBCB5}"/>
          </ac:spMkLst>
        </pc:spChg>
        <pc:spChg chg="add del mod">
          <ac:chgData name="Carlos Ducuara" userId="57fb0e70-fcc5-479c-850f-816bdc928046" providerId="ADAL" clId="{386DD68D-3EAA-4534-97EE-8C9E206C8F22}" dt="2026-10-14T13:31:18.249" v="9100" actId="478"/>
          <ac:spMkLst>
            <pc:docMk/>
            <pc:sldMk cId="2540975718" sldId="2984"/>
            <ac:spMk id="5" creationId="{445BA8A4-7EBF-110D-999D-5D0E98B6B04B}"/>
          </ac:spMkLst>
        </pc:spChg>
        <pc:spChg chg="add del mod">
          <ac:chgData name="Carlos Ducuara" userId="57fb0e70-fcc5-479c-850f-816bdc928046" providerId="ADAL" clId="{386DD68D-3EAA-4534-97EE-8C9E206C8F22}" dt="2026-10-14T13:32:13.991" v="9109" actId="47"/>
          <ac:spMkLst>
            <pc:docMk/>
            <pc:sldMk cId="2540975718" sldId="2984"/>
            <ac:spMk id="7" creationId="{FCA56DE9-45B4-3A68-AB62-0EAC1AE21834}"/>
          </ac:spMkLst>
        </pc:spChg>
        <pc:graphicFrameChg chg="del">
          <ac:chgData name="Carlos Ducuara" userId="57fb0e70-fcc5-479c-850f-816bdc928046" providerId="ADAL" clId="{386DD68D-3EAA-4534-97EE-8C9E206C8F22}" dt="2026-10-14T13:31:34.804" v="9102" actId="478"/>
          <ac:graphicFrameMkLst>
            <pc:docMk/>
            <pc:sldMk cId="2540975718" sldId="2984"/>
            <ac:graphicFrameMk id="6" creationId="{FB7EE52A-CE5B-D3BA-0D7F-67C8949B0235}"/>
          </ac:graphicFrameMkLst>
        </pc:graphicFrameChg>
        <pc:graphicFrameChg chg="del">
          <ac:chgData name="Carlos Ducuara" userId="57fb0e70-fcc5-479c-850f-816bdc928046" providerId="ADAL" clId="{386DD68D-3EAA-4534-97EE-8C9E206C8F22}" dt="2026-10-14T13:31:29.458" v="9101" actId="478"/>
          <ac:graphicFrameMkLst>
            <pc:docMk/>
            <pc:sldMk cId="2540975718" sldId="2984"/>
            <ac:graphicFrameMk id="8" creationId="{2440A258-188D-A942-1920-B9B862FCC155}"/>
          </ac:graphicFrameMkLst>
        </pc:graphicFrameChg>
        <pc:graphicFrameChg chg="add mod">
          <ac:chgData name="Carlos Ducuara" userId="57fb0e70-fcc5-479c-850f-816bdc928046" providerId="ADAL" clId="{386DD68D-3EAA-4534-97EE-8C9E206C8F22}" dt="2026-10-14T13:33:15.277" v="9111"/>
          <ac:graphicFrameMkLst>
            <pc:docMk/>
            <pc:sldMk cId="2540975718" sldId="2984"/>
            <ac:graphicFrameMk id="9" creationId="{5A4FC916-8D4E-0E6A-DA55-C9E5F0491DE6}"/>
          </ac:graphicFrameMkLst>
        </pc:graphicFrameChg>
        <pc:graphicFrameChg chg="add mod modGraphic">
          <ac:chgData name="Carlos Ducuara" userId="57fb0e70-fcc5-479c-850f-816bdc928046" providerId="ADAL" clId="{386DD68D-3EAA-4534-97EE-8C9E206C8F22}" dt="2026-10-14T13:34:40.439" v="9119" actId="14100"/>
          <ac:graphicFrameMkLst>
            <pc:docMk/>
            <pc:sldMk cId="2540975718" sldId="2984"/>
            <ac:graphicFrameMk id="10" creationId="{7A943C39-EDB5-2093-1B37-DFBB8BD3857A}"/>
          </ac:graphicFrameMkLst>
        </pc:graphicFrameChg>
        <pc:graphicFrameChg chg="add mod">
          <ac:chgData name="Carlos Ducuara" userId="57fb0e70-fcc5-479c-850f-816bdc928046" providerId="ADAL" clId="{386DD68D-3EAA-4534-97EE-8C9E206C8F22}" dt="2026-10-14T13:34:04.662" v="9116"/>
          <ac:graphicFrameMkLst>
            <pc:docMk/>
            <pc:sldMk cId="2540975718" sldId="2984"/>
            <ac:graphicFrameMk id="11" creationId="{E87D0937-5DFE-7E8E-A482-6249BEF601F4}"/>
          </ac:graphicFrameMkLst>
        </pc:graphicFrameChg>
        <pc:graphicFrameChg chg="add mod">
          <ac:chgData name="Carlos Ducuara" userId="57fb0e70-fcc5-479c-850f-816bdc928046" providerId="ADAL" clId="{386DD68D-3EAA-4534-97EE-8C9E206C8F22}" dt="2026-10-14T13:34:52.732" v="9120" actId="1076"/>
          <ac:graphicFrameMkLst>
            <pc:docMk/>
            <pc:sldMk cId="2540975718" sldId="2984"/>
            <ac:graphicFrameMk id="12" creationId="{694B5A88-6DA6-BC96-38EA-FA3E127132A2}"/>
          </ac:graphicFrameMkLst>
        </pc:graphicFrameChg>
      </pc:sldChg>
      <pc:sldChg chg="add del">
        <pc:chgData name="Carlos Ducuara" userId="57fb0e70-fcc5-479c-850f-816bdc928046" providerId="ADAL" clId="{386DD68D-3EAA-4534-97EE-8C9E206C8F22}" dt="2026-10-14T13:31:52.201" v="9104"/>
        <pc:sldMkLst>
          <pc:docMk/>
          <pc:sldMk cId="1964820355" sldId="2985"/>
        </pc:sldMkLst>
      </pc:sldChg>
      <pc:sldChg chg="add del">
        <pc:chgData name="Carlos Ducuara" userId="57fb0e70-fcc5-479c-850f-816bdc928046" providerId="ADAL" clId="{386DD68D-3EAA-4534-97EE-8C9E206C8F22}" dt="2026-10-14T13:32:44.793" v="9110" actId="47"/>
        <pc:sldMkLst>
          <pc:docMk/>
          <pc:sldMk cId="3620480002" sldId="2985"/>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_B36_33B9DABE.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_B37_6CB17282.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_B38_FBD6E3FC.xlsx"/><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1.xml"/></Relationships>
</file>

<file path=ppt/charts/_rels/chart4.xml.rels><?xml version="1.0" encoding="UTF-8" standalone="yes"?>
<Relationships xmlns="http://schemas.openxmlformats.org/package/2006/relationships"><Relationship Id="rId3" Type="http://schemas.openxmlformats.org/officeDocument/2006/relationships/oleObject" Target="https://oncologicoinos-my.sharepoint.com/personal/dirmedico_inoos_com_co/Documents/ALEJANDRA/JUNTA/22.%20Junta%20Octubre%202026/BD%20pacientes%20Inoos%20SEPTIEMBRE%202026%20.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oncologicoinos-my.sharepoint.com/personal/dirmedico_inoos_com_co/Documents/ALEJANDRA/JUNTA/22.%20Junta%20Octubre%202026/BD%20pacientes%20Inoos%20SEPTIEMBRE%202026%20.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oncologicoinos-my.sharepoint.com/personal/dirmedico_inoos_com_co/Documents/ALEJANDRA/JUNTA/22.%20Junta%20Octubre%202026/BD%20pacientes%20Inoos%20SEPTIEMBRE%202026%20.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https://oncologicoinos-my.sharepoint.com/personal/dirmedico_inoos_com_co/Documents/ALEJANDRA/JUNTA/22.%20Junta%20Octubre%202026/BD%20pacientes%20Inoos%20SEPTIEMBRE%202026%20.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https://oncologicoinos-my.sharepoint.com/personal/dirmedico_inoos_com_co/Documents/ALEJANDRA/JUNTA/22.%20Junta%20Octubre%202026/BD%20pacientes%20Inoos%20SEPTIEMBRE%202026%20.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_B3D_2247181D.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_B3E_F0426B15.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_B3E_F0426B151.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_B3E_F0426B152.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_B3E_F0426B153.xlsx"/><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_B3F_33345AAE.xlsx"/><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_B3F_33345AAE4.xlsx"/><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_B3F_33345AAE5.xlsx"/><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_B3F_33345AAE6.xlsx"/><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oleObject" Target="https://oncologicoinos-my.sharepoint.com/personal/dirmedico_inoos_com_co/Documents/ALEJANDRA/JUNTA/21.%20Septiembre%202026/INFORME%20PALIATIVOS%20NACIONAL%20AGOSTO%202026.xlsx" TargetMode="External"/><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oleObject" Target="https://oncologicoinos-my.sharepoint.com/personal/liderexperienciadelusuario_valle_inoos_com_co/Documents/EXPERIENCIA%202025/Satisfacci&#243;n/Satisfacci&#243;n%202026/08.%20Agosto%202026.xlsx" TargetMode="External"/><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oleObject" Target="https://oncologicoinos-my.sharepoint.com/personal/liderexperienciadelusuario_valle_inoos_com_co/Documents/EXPERIENCIA%202025/Satisfacci&#243;n/Satisfacci&#243;n%202026/08.%20Agosto%202026.xlsx" TargetMode="External"/><Relationship Id="rId2" Type="http://schemas.microsoft.com/office/2011/relationships/chartColorStyle" Target="colors20.xml"/><Relationship Id="rId1" Type="http://schemas.microsoft.com/office/2011/relationships/chartStyle" Target="style20.xml"/></Relationships>
</file>

<file path=ppt/charts/_rels/chart21.xml.rels><?xml version="1.0" encoding="UTF-8" standalone="yes"?>
<Relationships xmlns="http://schemas.openxmlformats.org/package/2006/relationships"><Relationship Id="rId3" Type="http://schemas.openxmlformats.org/officeDocument/2006/relationships/oleObject" Target="https://oncologicoinos-my.sharepoint.com/personal/liderexperienciadelusuario_valle_inoos_com_co/Documents/EXPERIENCIA%202025/Satisfacci&#243;n/Satisfacci&#243;n%202026/08.%20Agosto%202026.xlsx" TargetMode="External"/><Relationship Id="rId2" Type="http://schemas.microsoft.com/office/2011/relationships/chartColorStyle" Target="colors21.xml"/><Relationship Id="rId1" Type="http://schemas.microsoft.com/office/2011/relationships/chartStyle" Target="style21.xml"/></Relationships>
</file>

<file path=ppt/charts/_rels/chart22.xml.rels><?xml version="1.0" encoding="UTF-8" standalone="yes"?>
<Relationships xmlns="http://schemas.openxmlformats.org/package/2006/relationships"><Relationship Id="rId3" Type="http://schemas.openxmlformats.org/officeDocument/2006/relationships/oleObject" Target="https://oncologicoinos-my.sharepoint.com/personal/liderexperienciadelusuario_valle_inoos_com_co/Documents/EXPERIENCIA%202025/Satisfacci&#243;n/Satisfacci&#243;n%202026/08.%20Agosto%202026.xlsx" TargetMode="External"/><Relationship Id="rId2" Type="http://schemas.microsoft.com/office/2011/relationships/chartColorStyle" Target="colors22.xml"/><Relationship Id="rId1" Type="http://schemas.microsoft.com/office/2011/relationships/chartStyle" Target="style22.xml"/></Relationships>
</file>

<file path=ppt/charts/_rels/chart23.xml.rels><?xml version="1.0" encoding="UTF-8" standalone="yes"?>
<Relationships xmlns="http://schemas.openxmlformats.org/package/2006/relationships"><Relationship Id="rId3" Type="http://schemas.openxmlformats.org/officeDocument/2006/relationships/oleObject" Target="https://oncologicoinos-my.sharepoint.com/personal/liderexperienciadelusuario_valle_inoos_com_co/Documents/EXPERIENCIA%202025/Satisfacci&#243;n/Satisfacci&#243;n%202026/08.%20Agosto%202026.xlsx" TargetMode="External"/><Relationship Id="rId2" Type="http://schemas.microsoft.com/office/2011/relationships/chartColorStyle" Target="colors23.xml"/><Relationship Id="rId1" Type="http://schemas.microsoft.com/office/2011/relationships/chartStyle" Target="style23.xml"/></Relationships>
</file>

<file path=ppt/charts/_rels/chart24.xml.rels><?xml version="1.0" encoding="UTF-8" standalone="yes"?>
<Relationships xmlns="http://schemas.openxmlformats.org/package/2006/relationships"><Relationship Id="rId3" Type="http://schemas.openxmlformats.org/officeDocument/2006/relationships/oleObject" Target="https://oncologicoinos-my.sharepoint.com/personal/liderexperienciadelusuario_valle_inoos_com_co/Documents/EXPERIENCIA%202025/Manifestaciones/RELACI&#211;N%20PQR%202026.xlsx" TargetMode="External"/><Relationship Id="rId2" Type="http://schemas.microsoft.com/office/2011/relationships/chartColorStyle" Target="colors24.xml"/><Relationship Id="rId1" Type="http://schemas.microsoft.com/office/2011/relationships/chartStyle" Target="style24.xml"/></Relationships>
</file>

<file path=ppt/charts/_rels/chart25.xml.rels><?xml version="1.0" encoding="UTF-8" standalone="yes"?>
<Relationships xmlns="http://schemas.openxmlformats.org/package/2006/relationships"><Relationship Id="rId3" Type="http://schemas.openxmlformats.org/officeDocument/2006/relationships/oleObject" Target="https://oncologicoinos-my.sharepoint.com/personal/liderexperienciadelusuario_valle_inoos_com_co/Documents/EXPERIENCIA%202025/Manifestaciones/RELACI&#211;N%20PQR%202026.xlsx" TargetMode="External"/><Relationship Id="rId2" Type="http://schemas.microsoft.com/office/2011/relationships/chartColorStyle" Target="colors25.xml"/><Relationship Id="rId1" Type="http://schemas.microsoft.com/office/2011/relationships/chartStyle" Target="style25.xml"/></Relationships>
</file>

<file path=ppt/charts/_rels/chart26.xml.rels><?xml version="1.0" encoding="UTF-8" standalone="yes"?>
<Relationships xmlns="http://schemas.openxmlformats.org/package/2006/relationships"><Relationship Id="rId3" Type="http://schemas.openxmlformats.org/officeDocument/2006/relationships/oleObject" Target="https://oncologicoinos-my.sharepoint.com/personal/liderexperienciadelusuario_valle_inoos_com_co/Documents/EXPERIENCIA%202025/Manifestaciones/RELACI&#211;N%20PQR%202026.xlsx" TargetMode="External"/><Relationship Id="rId2" Type="http://schemas.microsoft.com/office/2011/relationships/chartColorStyle" Target="colors26.xml"/><Relationship Id="rId1" Type="http://schemas.microsoft.com/office/2011/relationships/chartStyle" Target="style26.xml"/></Relationships>
</file>

<file path=ppt/charts/_rels/chart27.xml.rels><?xml version="1.0" encoding="UTF-8" standalone="yes"?>
<Relationships xmlns="http://schemas.openxmlformats.org/package/2006/relationships"><Relationship Id="rId3" Type="http://schemas.openxmlformats.org/officeDocument/2006/relationships/oleObject" Target="https://oncologicoinos-my.sharepoint.com/personal/liderexperienciadelusuario_valle_inoos_com_co/Documents/EXPERIENCIA%202025/Comit&#233;%20de%20&#201;tica/Documentos%20COMIT&#201;%20&#201;TICA/INDICADORES%20PROGRAMA%20HUMANIZACI&#211;N.xlsx" TargetMode="External"/><Relationship Id="rId2" Type="http://schemas.microsoft.com/office/2011/relationships/chartColorStyle" Target="colors27.xml"/><Relationship Id="rId1" Type="http://schemas.microsoft.com/office/2011/relationships/chartStyle" Target="style27.xml"/></Relationships>
</file>

<file path=ppt/charts/_rels/chart28.xml.rels><?xml version="1.0" encoding="UTF-8" standalone="yes"?>
<Relationships xmlns="http://schemas.openxmlformats.org/package/2006/relationships"><Relationship Id="rId3" Type="http://schemas.openxmlformats.org/officeDocument/2006/relationships/oleObject" Target="https://oncologicoinos-my.sharepoint.com/personal/liderexperienciadelusuario_valle_inoos_com_co/Documents/EXPERIENCIA%202025/Comit&#233;%20de%20&#201;tica/Documentos%20COMIT&#201;%20&#201;TICA/INDICADORES%20PROGRAMA%20HUMANIZACI&#211;N.xlsx" TargetMode="External"/><Relationship Id="rId2" Type="http://schemas.microsoft.com/office/2011/relationships/chartColorStyle" Target="colors28.xml"/><Relationship Id="rId1" Type="http://schemas.microsoft.com/office/2011/relationships/chartStyle" Target="style28.xml"/></Relationships>
</file>

<file path=ppt/charts/_rels/chart29.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29.xml"/><Relationship Id="rId1" Type="http://schemas.microsoft.com/office/2011/relationships/chartStyle" Target="style29.xml"/><Relationship Id="rId4" Type="http://schemas.openxmlformats.org/officeDocument/2006/relationships/package" Target="../embeddings/Microsoft_Excel_Worksheet_BA3_82A7D855.xlsx"/></Relationships>
</file>

<file path=ppt/charts/_rels/chart30.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30.xml"/><Relationship Id="rId1" Type="http://schemas.microsoft.com/office/2011/relationships/chartStyle" Target="style30.xml"/><Relationship Id="rId4" Type="http://schemas.openxmlformats.org/officeDocument/2006/relationships/package" Target="../embeddings/Microsoft_Excel_Worksheet_BA3_82A7D8557.xlsx"/></Relationships>
</file>

<file path=ppt/charts/_rels/chart31.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1.xml"/><Relationship Id="rId1" Type="http://schemas.microsoft.com/office/2011/relationships/chartStyle" Target="style31.xml"/><Relationship Id="rId4" Type="http://schemas.openxmlformats.org/officeDocument/2006/relationships/package" Target="../embeddings/Microsoft_Excel_Worksheet_BA3_82A7D8558.xlsx"/></Relationships>
</file>

<file path=ppt/charts/_rels/chart32.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32.xml"/><Relationship Id="rId1" Type="http://schemas.microsoft.com/office/2011/relationships/chartStyle" Target="style32.xml"/><Relationship Id="rId4" Type="http://schemas.openxmlformats.org/officeDocument/2006/relationships/package" Target="../embeddings/Microsoft_Excel_Worksheet_BA3_82A7D8559.xlsx"/></Relationships>
</file>

<file path=ppt/charts/_rels/chart33.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33.xml"/><Relationship Id="rId1" Type="http://schemas.microsoft.com/office/2011/relationships/chartStyle" Target="style33.xml"/><Relationship Id="rId4" Type="http://schemas.openxmlformats.org/officeDocument/2006/relationships/package" Target="../embeddings/Microsoft_Excel_Worksheet_BA3_82A7D85510.xlsx"/></Relationships>
</file>

<file path=ppt/charts/_rels/chart34.xml.rels><?xml version="1.0" encoding="UTF-8" standalone="yes"?>
<Relationships xmlns="http://schemas.openxmlformats.org/package/2006/relationships"><Relationship Id="rId3" Type="http://schemas.openxmlformats.org/officeDocument/2006/relationships/themeOverride" Target="../theme/themeOverride6.xml"/><Relationship Id="rId2" Type="http://schemas.microsoft.com/office/2011/relationships/chartColorStyle" Target="colors34.xml"/><Relationship Id="rId1" Type="http://schemas.microsoft.com/office/2011/relationships/chartStyle" Target="style34.xml"/><Relationship Id="rId4" Type="http://schemas.openxmlformats.org/officeDocument/2006/relationships/package" Target="../embeddings/Microsoft_Excel_Worksheet_BA4_C220FE91.xlsx"/></Relationships>
</file>

<file path=ppt/charts/_rels/chart35.xml.rels><?xml version="1.0" encoding="UTF-8" standalone="yes"?>
<Relationships xmlns="http://schemas.openxmlformats.org/package/2006/relationships"><Relationship Id="rId3" Type="http://schemas.openxmlformats.org/officeDocument/2006/relationships/themeOverride" Target="../theme/themeOverride7.xml"/><Relationship Id="rId2" Type="http://schemas.microsoft.com/office/2011/relationships/chartColorStyle" Target="colors35.xml"/><Relationship Id="rId1" Type="http://schemas.microsoft.com/office/2011/relationships/chartStyle" Target="style35.xml"/><Relationship Id="rId4" Type="http://schemas.openxmlformats.org/officeDocument/2006/relationships/package" Target="../embeddings/Microsoft_Excel_Worksheet_BA4_C220FE9111.xlsx"/></Relationships>
</file>

<file path=ppt/charts/_rels/chart36.xml.rels><?xml version="1.0" encoding="UTF-8" standalone="yes"?>
<Relationships xmlns="http://schemas.openxmlformats.org/package/2006/relationships"><Relationship Id="rId3" Type="http://schemas.openxmlformats.org/officeDocument/2006/relationships/themeOverride" Target="../theme/themeOverride8.xml"/><Relationship Id="rId2" Type="http://schemas.microsoft.com/office/2011/relationships/chartColorStyle" Target="colors36.xml"/><Relationship Id="rId1" Type="http://schemas.microsoft.com/office/2011/relationships/chartStyle" Target="style36.xml"/><Relationship Id="rId4" Type="http://schemas.openxmlformats.org/officeDocument/2006/relationships/oleObject" Target="https://oncologicoinos-my.sharepoint.com/personal/gestorcallryc_inoos_com_co/Documents/Escritorio/CENTRAL%20TELEFONICA/INFORMES/2026/CONSOLIDADO%20DE%20CITAS%202026.xlsx" TargetMode="External"/></Relationships>
</file>

<file path=ppt/charts/_rels/chart37.xml.rels><?xml version="1.0" encoding="UTF-8" standalone="yes"?>
<Relationships xmlns="http://schemas.openxmlformats.org/package/2006/relationships"><Relationship Id="rId3" Type="http://schemas.openxmlformats.org/officeDocument/2006/relationships/themeOverride" Target="../theme/themeOverride9.xml"/><Relationship Id="rId2" Type="http://schemas.microsoft.com/office/2011/relationships/chartColorStyle" Target="colors37.xml"/><Relationship Id="rId1" Type="http://schemas.microsoft.com/office/2011/relationships/chartStyle" Target="style37.xml"/><Relationship Id="rId4" Type="http://schemas.openxmlformats.org/officeDocument/2006/relationships/oleObject" Target="https://oncologicoinos-my.sharepoint.com/personal/gestorcallryc_inoos_com_co/Documents/Escritorio/CENTRAL%20TELEFONICA/INFORMES/2026/CONSOLIDADO%20DE%20CITAS%202026.xlsx" TargetMode="External"/></Relationships>
</file>

<file path=ppt/charts/_rels/chart38.xml.rels><?xml version="1.0" encoding="UTF-8" standalone="yes"?>
<Relationships xmlns="http://schemas.openxmlformats.org/package/2006/relationships"><Relationship Id="rId3" Type="http://schemas.openxmlformats.org/officeDocument/2006/relationships/themeOverride" Target="../theme/themeOverride10.xml"/><Relationship Id="rId2" Type="http://schemas.microsoft.com/office/2011/relationships/chartColorStyle" Target="colors38.xml"/><Relationship Id="rId1" Type="http://schemas.microsoft.com/office/2011/relationships/chartStyle" Target="style38.xml"/><Relationship Id="rId4" Type="http://schemas.openxmlformats.org/officeDocument/2006/relationships/package" Target="../embeddings/Microsoft_Excel_Worksheet_BA4_C220FE9112.xlsx"/></Relationships>
</file>

<file path=ppt/charts/_rels/chart39.xml.rels><?xml version="1.0" encoding="UTF-8" standalone="yes"?>
<Relationships xmlns="http://schemas.openxmlformats.org/package/2006/relationships"><Relationship Id="rId3" Type="http://schemas.openxmlformats.org/officeDocument/2006/relationships/themeOverride" Target="../theme/themeOverride11.xml"/><Relationship Id="rId2" Type="http://schemas.microsoft.com/office/2011/relationships/chartColorStyle" Target="colors39.xml"/><Relationship Id="rId1" Type="http://schemas.microsoft.com/office/2011/relationships/chartStyle" Target="style39.xml"/><Relationship Id="rId4" Type="http://schemas.openxmlformats.org/officeDocument/2006/relationships/package" Target="../embeddings/Microsoft_Excel_Worksheet_BA4_C220FE9113.xlsx"/></Relationships>
</file>

<file path=ppt/charts/_rels/chart40.xml.rels><?xml version="1.0" encoding="UTF-8" standalone="yes"?>
<Relationships xmlns="http://schemas.openxmlformats.org/package/2006/relationships"><Relationship Id="rId3" Type="http://schemas.openxmlformats.org/officeDocument/2006/relationships/themeOverride" Target="../theme/themeOverride12.xml"/><Relationship Id="rId2" Type="http://schemas.microsoft.com/office/2011/relationships/chartColorStyle" Target="colors40.xml"/><Relationship Id="rId1" Type="http://schemas.microsoft.com/office/2011/relationships/chartStyle" Target="style40.xml"/><Relationship Id="rId4" Type="http://schemas.openxmlformats.org/officeDocument/2006/relationships/package" Target="../embeddings/Microsoft_Excel_Worksheet_BA6_93D17DBD.xlsx"/></Relationships>
</file>

<file path=ppt/charts/_rels/chart41.xml.rels><?xml version="1.0" encoding="UTF-8" standalone="yes"?>
<Relationships xmlns="http://schemas.openxmlformats.org/package/2006/relationships"><Relationship Id="rId3" Type="http://schemas.openxmlformats.org/officeDocument/2006/relationships/themeOverride" Target="../theme/themeOverride13.xml"/><Relationship Id="rId2" Type="http://schemas.microsoft.com/office/2011/relationships/chartColorStyle" Target="colors41.xml"/><Relationship Id="rId1" Type="http://schemas.microsoft.com/office/2011/relationships/chartStyle" Target="style41.xml"/><Relationship Id="rId4" Type="http://schemas.openxmlformats.org/officeDocument/2006/relationships/package" Target="../embeddings/Microsoft_Excel_Worksheet_BA6_93D17DBD14.xlsx"/></Relationships>
</file>

<file path=ppt/charts/_rels/chart42.xml.rels><?xml version="1.0" encoding="UTF-8" standalone="yes"?>
<Relationships xmlns="http://schemas.openxmlformats.org/package/2006/relationships"><Relationship Id="rId3" Type="http://schemas.openxmlformats.org/officeDocument/2006/relationships/themeOverride" Target="../theme/themeOverride14.xml"/><Relationship Id="rId2" Type="http://schemas.microsoft.com/office/2011/relationships/chartColorStyle" Target="colors42.xml"/><Relationship Id="rId1" Type="http://schemas.microsoft.com/office/2011/relationships/chartStyle" Target="style42.xml"/><Relationship Id="rId4" Type="http://schemas.openxmlformats.org/officeDocument/2006/relationships/package" Target="../embeddings/Microsoft_Excel_Worksheet_BA6_93D17DBD15.xlsx"/></Relationships>
</file>

<file path=ppt/charts/_rels/chart43.xml.rels><?xml version="1.0" encoding="UTF-8" standalone="yes"?>
<Relationships xmlns="http://schemas.openxmlformats.org/package/2006/relationships"><Relationship Id="rId3" Type="http://schemas.openxmlformats.org/officeDocument/2006/relationships/package" Target="../embeddings/Microsoft_Excel_Worksheet_BA6_93D17DBD16.xlsx"/><Relationship Id="rId2" Type="http://schemas.microsoft.com/office/2011/relationships/chartColorStyle" Target="colors43.xml"/><Relationship Id="rId1" Type="http://schemas.microsoft.com/office/2011/relationships/chartStyle" Target="style43.xml"/></Relationships>
</file>

<file path=ppt/charts/_rels/chart44.xml.rels><?xml version="1.0" encoding="UTF-8" standalone="yes"?>
<Relationships xmlns="http://schemas.openxmlformats.org/package/2006/relationships"><Relationship Id="rId3" Type="http://schemas.openxmlformats.org/officeDocument/2006/relationships/themeOverride" Target="../theme/themeOverride15.xml"/><Relationship Id="rId2" Type="http://schemas.microsoft.com/office/2011/relationships/chartColorStyle" Target="colors44.xml"/><Relationship Id="rId1" Type="http://schemas.microsoft.com/office/2011/relationships/chartStyle" Target="style44.xml"/><Relationship Id="rId4" Type="http://schemas.openxmlformats.org/officeDocument/2006/relationships/package" Target="../embeddings/Microsoft_Excel_Worksheet_BA6_93D17DBD17.xlsx"/></Relationships>
</file>

<file path=ppt/charts/_rels/chart45.xml.rels><?xml version="1.0" encoding="UTF-8" standalone="yes"?>
<Relationships xmlns="http://schemas.openxmlformats.org/package/2006/relationships"><Relationship Id="rId3" Type="http://schemas.openxmlformats.org/officeDocument/2006/relationships/package" Target="../embeddings/Microsoft_Excel_Worksheet_A68_58310DBA.xlsx"/><Relationship Id="rId2" Type="http://schemas.microsoft.com/office/2011/relationships/chartColorStyle" Target="colors45.xml"/><Relationship Id="rId1" Type="http://schemas.microsoft.com/office/2011/relationships/chartStyle" Target="style45.xml"/></Relationships>
</file>

<file path=ppt/charts/_rels/chart46.xml.rels><?xml version="1.0" encoding="UTF-8" standalone="yes"?>
<Relationships xmlns="http://schemas.openxmlformats.org/package/2006/relationships"><Relationship Id="rId3" Type="http://schemas.openxmlformats.org/officeDocument/2006/relationships/oleObject" Target="https://oncologicoinos-my.sharepoint.com/personal/dirmedico_inoos_com_co/Documents/ALEJANDRA/JUNTA/13.%20Junta%20Enero%202026/BD%20pacientes%20Inoos%20Diciembre%202025.xlsx" TargetMode="External"/><Relationship Id="rId2" Type="http://schemas.microsoft.com/office/2011/relationships/chartColorStyle" Target="colors46.xml"/><Relationship Id="rId1" Type="http://schemas.microsoft.com/office/2011/relationships/chartStyle" Target="style46.xml"/></Relationships>
</file>

<file path=ppt/charts/_rels/chart47.xml.rels><?xml version="1.0" encoding="UTF-8" standalone="yes"?>
<Relationships xmlns="http://schemas.openxmlformats.org/package/2006/relationships"><Relationship Id="rId3" Type="http://schemas.openxmlformats.org/officeDocument/2006/relationships/package" Target="../embeddings/Microsoft_Excel_Worksheet_A69_2592104A.xlsx"/><Relationship Id="rId2" Type="http://schemas.microsoft.com/office/2011/relationships/chartColorStyle" Target="colors47.xml"/><Relationship Id="rId1" Type="http://schemas.microsoft.com/office/2011/relationships/chartStyle" Target="style47.xml"/></Relationships>
</file>

<file path=ppt/charts/_rels/chart48.xml.rels><?xml version="1.0" encoding="UTF-8" standalone="yes"?>
<Relationships xmlns="http://schemas.openxmlformats.org/package/2006/relationships"><Relationship Id="rId3" Type="http://schemas.openxmlformats.org/officeDocument/2006/relationships/oleObject" Target="https://oncologicoinos-my.sharepoint.com/personal/dirmedico_inoos_com_co/Documents/ALEJANDRA/JUNTA/13.%20Junta%20Enero%202026/BD%20pacientes%20Inoos%20Diciembre%202025.xlsx" TargetMode="External"/><Relationship Id="rId2" Type="http://schemas.microsoft.com/office/2011/relationships/chartColorStyle" Target="colors48.xml"/><Relationship Id="rId1" Type="http://schemas.microsoft.com/office/2011/relationships/chartStyle" Target="style48.xml"/></Relationships>
</file>

<file path=ppt/charts/_rels/chart49.xml.rels><?xml version="1.0" encoding="UTF-8" standalone="yes"?>
<Relationships xmlns="http://schemas.openxmlformats.org/package/2006/relationships"><Relationship Id="rId3" Type="http://schemas.openxmlformats.org/officeDocument/2006/relationships/oleObject" Target="https://oncologicoinos-my.sharepoint.com/personal/dirmedico_inoos_com_co/Documents/ALEJANDRA/JUNTA/18.%20Junta%20Junio%202026/BD%20pacientes%20Inoos%20mayo%202026%20(1).xlsx" TargetMode="External"/><Relationship Id="rId2" Type="http://schemas.microsoft.com/office/2011/relationships/chartColorStyle" Target="colors49.xml"/><Relationship Id="rId1" Type="http://schemas.microsoft.com/office/2011/relationships/chartStyle" Target="style49.xml"/></Relationships>
</file>

<file path=ppt/charts/_rels/chart50.xml.rels><?xml version="1.0" encoding="UTF-8" standalone="yes"?>
<Relationships xmlns="http://schemas.openxmlformats.org/package/2006/relationships"><Relationship Id="rId3" Type="http://schemas.openxmlformats.org/officeDocument/2006/relationships/oleObject" Target="https://oncologicoinos-my.sharepoint.com/personal/dirmedico_inoos_com_co/Documents/ALEJANDRA/JUNTA/22.%20Junta%20Octubre%202026/BD%20pacientes%20Inoos%20SEPTIEMBRE%202026%20.xlsx" TargetMode="External"/><Relationship Id="rId2" Type="http://schemas.microsoft.com/office/2011/relationships/chartColorStyle" Target="colors50.xml"/><Relationship Id="rId1" Type="http://schemas.microsoft.com/office/2011/relationships/chartStyle" Target="style50.xml"/></Relationships>
</file>

<file path=ppt/charts/_rels/chart51.xml.rels><?xml version="1.0" encoding="UTF-8" standalone="yes"?>
<Relationships xmlns="http://schemas.openxmlformats.org/package/2006/relationships"><Relationship Id="rId3" Type="http://schemas.openxmlformats.org/officeDocument/2006/relationships/oleObject" Target="https://oncologicoinos-my.sharepoint.com/personal/dirmedico_inoos_com_co/Documents/ALEJANDRA/JUNTA/22.%20Junta%20Octubre%202026/BD%20pacientes%20Inoos%20SEPTIEMBRE%202026%20.xlsx" TargetMode="External"/><Relationship Id="rId2" Type="http://schemas.microsoft.com/office/2011/relationships/chartColorStyle" Target="colors51.xml"/><Relationship Id="rId1" Type="http://schemas.microsoft.com/office/2011/relationships/chartStyle" Target="style51.xml"/></Relationships>
</file>

<file path=ppt/charts/_rels/chart52.xml.rels><?xml version="1.0" encoding="UTF-8" standalone="yes"?>
<Relationships xmlns="http://schemas.openxmlformats.org/package/2006/relationships"><Relationship Id="rId3" Type="http://schemas.openxmlformats.org/officeDocument/2006/relationships/oleObject" Target="https://oncologicoinos-my.sharepoint.com/personal/dirmedico_inoos_com_co/Documents/ALEJANDRA/JUNTA/22.%20Junta%20Octubre%202026/BD%20pacientes%20Inoos%20SEPTIEMBRE%202026%20.xlsx" TargetMode="External"/><Relationship Id="rId2" Type="http://schemas.microsoft.com/office/2011/relationships/chartColorStyle" Target="colors52.xml"/><Relationship Id="rId1" Type="http://schemas.microsoft.com/office/2011/relationships/chartStyle" Target="style52.xml"/></Relationships>
</file>

<file path=ppt/charts/_rels/chart53.xml.rels><?xml version="1.0" encoding="UTF-8" standalone="yes"?>
<Relationships xmlns="http://schemas.openxmlformats.org/package/2006/relationships"><Relationship Id="rId3" Type="http://schemas.openxmlformats.org/officeDocument/2006/relationships/oleObject" Target="https://oncologicoinos-my.sharepoint.com/personal/dirmedico_inoos_com_co/Documents/ALEJANDRA/JUNTA/22.%20Junta%20Octubre%202026/BD%20pacientes%20Inoos%20SEPTIEMBRE%202026%20.xlsx" TargetMode="External"/><Relationship Id="rId2" Type="http://schemas.microsoft.com/office/2011/relationships/chartColorStyle" Target="colors53.xml"/><Relationship Id="rId1" Type="http://schemas.microsoft.com/office/2011/relationships/chartStyle" Target="style53.xml"/></Relationships>
</file>

<file path=ppt/charts/_rels/chart54.xml.rels><?xml version="1.0" encoding="UTF-8" standalone="yes"?>
<Relationships xmlns="http://schemas.openxmlformats.org/package/2006/relationships"><Relationship Id="rId3" Type="http://schemas.openxmlformats.org/officeDocument/2006/relationships/oleObject" Target="https://oncologicoinos-my.sharepoint.com/personal/dirmedico_inoos_com_co/Documents/ALEJANDRA/JUNTA/22.%20Junta%20Octubre%202026/BD%20pacientes%20Inoos%20SEPTIEMBRE%202026%20.xlsx" TargetMode="External"/><Relationship Id="rId2" Type="http://schemas.microsoft.com/office/2011/relationships/chartColorStyle" Target="colors54.xml"/><Relationship Id="rId1" Type="http://schemas.microsoft.com/office/2011/relationships/chartStyle" Target="style54.xml"/></Relationships>
</file>

<file path=ppt/charts/_rels/chart55.xml.rels><?xml version="1.0" encoding="UTF-8" standalone="yes"?>
<Relationships xmlns="http://schemas.openxmlformats.org/package/2006/relationships"><Relationship Id="rId3" Type="http://schemas.openxmlformats.org/officeDocument/2006/relationships/package" Target="../embeddings/Microsoft_Excel_Worksheet_B53_D51F6FC2.xlsx"/><Relationship Id="rId2" Type="http://schemas.microsoft.com/office/2011/relationships/chartColorStyle" Target="colors55.xml"/><Relationship Id="rId1" Type="http://schemas.microsoft.com/office/2011/relationships/chartStyle" Target="style55.xml"/></Relationships>
</file>

<file path=ppt/charts/_rels/chart56.xml.rels><?xml version="1.0" encoding="UTF-8" standalone="yes"?>
<Relationships xmlns="http://schemas.openxmlformats.org/package/2006/relationships"><Relationship Id="rId3" Type="http://schemas.openxmlformats.org/officeDocument/2006/relationships/package" Target="../embeddings/Microsoft_Excel_Worksheet_B53_D51F6FC218.xlsx"/><Relationship Id="rId2" Type="http://schemas.microsoft.com/office/2011/relationships/chartColorStyle" Target="colors56.xml"/><Relationship Id="rId1" Type="http://schemas.microsoft.com/office/2011/relationships/chartStyle" Target="style56.xml"/></Relationships>
</file>

<file path=ppt/charts/_rels/chart57.xml.rels><?xml version="1.0" encoding="UTF-8" standalone="yes"?>
<Relationships xmlns="http://schemas.openxmlformats.org/package/2006/relationships"><Relationship Id="rId3" Type="http://schemas.openxmlformats.org/officeDocument/2006/relationships/package" Target="../embeddings/Microsoft_Excel_Worksheet_B53_D51F6FC219.xlsx"/><Relationship Id="rId2" Type="http://schemas.microsoft.com/office/2011/relationships/chartColorStyle" Target="colors57.xml"/><Relationship Id="rId1" Type="http://schemas.microsoft.com/office/2011/relationships/chartStyle" Target="style57.xml"/></Relationships>
</file>

<file path=ppt/charts/_rels/chart58.xml.rels><?xml version="1.0" encoding="UTF-8" standalone="yes"?>
<Relationships xmlns="http://schemas.openxmlformats.org/package/2006/relationships"><Relationship Id="rId3" Type="http://schemas.openxmlformats.org/officeDocument/2006/relationships/package" Target="../embeddings/Microsoft_Excel_Worksheet_B53_D51F6FC220.xlsx"/><Relationship Id="rId2" Type="http://schemas.microsoft.com/office/2011/relationships/chartColorStyle" Target="colors58.xml"/><Relationship Id="rId1" Type="http://schemas.microsoft.com/office/2011/relationships/chartStyle" Target="style58.xml"/></Relationships>
</file>

<file path=ppt/charts/_rels/chart59.xml.rels><?xml version="1.0" encoding="UTF-8" standalone="yes"?>
<Relationships xmlns="http://schemas.openxmlformats.org/package/2006/relationships"><Relationship Id="rId3" Type="http://schemas.openxmlformats.org/officeDocument/2006/relationships/package" Target="../embeddings/Microsoft_Excel_Worksheet_B54_B2B46DB8.xlsx"/><Relationship Id="rId2" Type="http://schemas.microsoft.com/office/2011/relationships/chartColorStyle" Target="colors59.xml"/><Relationship Id="rId1" Type="http://schemas.microsoft.com/office/2011/relationships/chartStyle" Target="style59.xml"/></Relationships>
</file>

<file path=ppt/charts/_rels/chart60.xml.rels><?xml version="1.0" encoding="UTF-8" standalone="yes"?>
<Relationships xmlns="http://schemas.openxmlformats.org/package/2006/relationships"><Relationship Id="rId3" Type="http://schemas.openxmlformats.org/officeDocument/2006/relationships/package" Target="../embeddings/Microsoft_Excel_Worksheet_B54_B2B46DB821.xlsx"/><Relationship Id="rId2" Type="http://schemas.microsoft.com/office/2011/relationships/chartColorStyle" Target="colors60.xml"/><Relationship Id="rId1" Type="http://schemas.microsoft.com/office/2011/relationships/chartStyle" Target="style60.xml"/></Relationships>
</file>

<file path=ppt/charts/_rels/chart61.xml.rels><?xml version="1.0" encoding="UTF-8" standalone="yes"?>
<Relationships xmlns="http://schemas.openxmlformats.org/package/2006/relationships"><Relationship Id="rId3" Type="http://schemas.openxmlformats.org/officeDocument/2006/relationships/package" Target="../embeddings/Microsoft_Excel_Worksheet_B54_B2B46DB822.xlsx"/><Relationship Id="rId2" Type="http://schemas.microsoft.com/office/2011/relationships/chartColorStyle" Target="colors61.xml"/><Relationship Id="rId1" Type="http://schemas.microsoft.com/office/2011/relationships/chartStyle" Target="style61.xml"/></Relationships>
</file>

<file path=ppt/charts/_rels/chart62.xml.rels><?xml version="1.0" encoding="UTF-8" standalone="yes"?>
<Relationships xmlns="http://schemas.openxmlformats.org/package/2006/relationships"><Relationship Id="rId3" Type="http://schemas.openxmlformats.org/officeDocument/2006/relationships/package" Target="../embeddings/Microsoft_Excel_Worksheet_B54_B2B46DB823.xlsx"/><Relationship Id="rId2" Type="http://schemas.microsoft.com/office/2011/relationships/chartColorStyle" Target="colors62.xml"/><Relationship Id="rId1" Type="http://schemas.microsoft.com/office/2011/relationships/chartStyle" Target="style62.xml"/></Relationships>
</file>

<file path=ppt/charts/_rels/chart63.xml.rels><?xml version="1.0" encoding="UTF-8" standalone="yes"?>
<Relationships xmlns="http://schemas.openxmlformats.org/package/2006/relationships"><Relationship Id="rId3" Type="http://schemas.openxmlformats.org/officeDocument/2006/relationships/package" Target="../embeddings/Microsoft_Excel_Worksheet_ABA_C28A53C6.xlsx"/><Relationship Id="rId2" Type="http://schemas.microsoft.com/office/2011/relationships/chartColorStyle" Target="colors63.xml"/><Relationship Id="rId1" Type="http://schemas.microsoft.com/office/2011/relationships/chartStyle" Target="style63.xml"/></Relationships>
</file>

<file path=ppt/charts/_rels/chart64.xml.rels><?xml version="1.0" encoding="UTF-8" standalone="yes"?>
<Relationships xmlns="http://schemas.openxmlformats.org/package/2006/relationships"><Relationship Id="rId3" Type="http://schemas.openxmlformats.org/officeDocument/2006/relationships/oleObject" Target="https://oncologicoinos-my.sharepoint.com/personal/liderexperienciadelusuario_valle_inoos_com_co/Documents/EXPERIENCIA%202025/Satisfacci&#243;n/Satisfacci&#243;n%202026/Consolidado%20Asegurador.xlsx" TargetMode="External"/><Relationship Id="rId2" Type="http://schemas.microsoft.com/office/2011/relationships/chartColorStyle" Target="colors64.xml"/><Relationship Id="rId1" Type="http://schemas.microsoft.com/office/2011/relationships/chartStyle" Target="style64.xml"/></Relationships>
</file>

<file path=ppt/charts/_rels/chart65.xml.rels><?xml version="1.0" encoding="UTF-8" standalone="yes"?>
<Relationships xmlns="http://schemas.openxmlformats.org/package/2006/relationships"><Relationship Id="rId3" Type="http://schemas.openxmlformats.org/officeDocument/2006/relationships/oleObject" Target="https://oncologicoinos-my.sharepoint.com/personal/liderexperienciadelusuario_valle_inoos_com_co/Documents/EXPERIENCIA%202025/Satisfacci&#243;n/Satisfacci&#243;n%202026/Consolidado%20Asegurador.xlsx" TargetMode="External"/><Relationship Id="rId2" Type="http://schemas.microsoft.com/office/2011/relationships/chartColorStyle" Target="colors65.xml"/><Relationship Id="rId1" Type="http://schemas.microsoft.com/office/2011/relationships/chartStyle" Target="style65.xml"/></Relationships>
</file>

<file path=ppt/charts/_rels/chart66.xml.rels><?xml version="1.0" encoding="UTF-8" standalone="yes"?>
<Relationships xmlns="http://schemas.openxmlformats.org/package/2006/relationships"><Relationship Id="rId3" Type="http://schemas.openxmlformats.org/officeDocument/2006/relationships/oleObject" Target="https://oncologicoinos-my.sharepoint.com/personal/liderexperienciadelusuario_valle_inoos_com_co/Documents/EXPERIENCIA%202025/Satisfacci&#243;n/Satisfacci&#243;n%202026/Consolidado%20Asegurador.xlsx" TargetMode="External"/><Relationship Id="rId2" Type="http://schemas.microsoft.com/office/2011/relationships/chartColorStyle" Target="colors66.xml"/><Relationship Id="rId1" Type="http://schemas.microsoft.com/office/2011/relationships/chartStyle" Target="style66.xml"/></Relationships>
</file>

<file path=ppt/charts/_rels/chart67.xml.rels><?xml version="1.0" encoding="UTF-8" standalone="yes"?>
<Relationships xmlns="http://schemas.openxmlformats.org/package/2006/relationships"><Relationship Id="rId3" Type="http://schemas.openxmlformats.org/officeDocument/2006/relationships/oleObject" Target="https://oncologicoinos-my.sharepoint.com/personal/liderexperienciadelusuario_valle_inoos_com_co/Documents/EXPERIENCIA%202025/Satisfacci&#243;n/Satisfacci&#243;n%202026/Consolidado%20Asegurador.xlsx" TargetMode="External"/><Relationship Id="rId2" Type="http://schemas.microsoft.com/office/2011/relationships/chartColorStyle" Target="colors67.xml"/><Relationship Id="rId1" Type="http://schemas.microsoft.com/office/2011/relationships/chartStyle" Target="style67.xml"/></Relationships>
</file>

<file path=ppt/charts/_rels/chart68.xml.rels><?xml version="1.0" encoding="UTF-8" standalone="yes"?>
<Relationships xmlns="http://schemas.openxmlformats.org/package/2006/relationships"><Relationship Id="rId3" Type="http://schemas.openxmlformats.org/officeDocument/2006/relationships/oleObject" Target="https://oncologicoinos-my.sharepoint.com/personal/liderexperienciadelusuario_valle_inoos_com_co/Documents/EXPERIENCIA%202025/Satisfacci&#243;n/Satisfacci&#243;n%202026/Consolidado%20Asegurador.xlsx" TargetMode="External"/><Relationship Id="rId2" Type="http://schemas.microsoft.com/office/2011/relationships/chartColorStyle" Target="colors68.xml"/><Relationship Id="rId1" Type="http://schemas.microsoft.com/office/2011/relationships/chartStyle" Target="style68.xml"/></Relationships>
</file>

<file path=ppt/charts/_rels/chart69.xml.rels><?xml version="1.0" encoding="UTF-8" standalone="yes"?>
<Relationships xmlns="http://schemas.openxmlformats.org/package/2006/relationships"><Relationship Id="rId3" Type="http://schemas.openxmlformats.org/officeDocument/2006/relationships/oleObject" Target="https://oncologicoinos-my.sharepoint.com/personal/liderexperienciadelusuario_valle_inoos_com_co/Documents/EXPERIENCIA%202025/Manifestaciones/RELACI&#211;N%20PQR%202026.xlsx" TargetMode="External"/><Relationship Id="rId2" Type="http://schemas.microsoft.com/office/2011/relationships/chartColorStyle" Target="colors69.xml"/><Relationship Id="rId1" Type="http://schemas.microsoft.com/office/2011/relationships/chartStyle" Target="style69.xml"/></Relationships>
</file>

<file path=ppt/charts/_rels/chart70.xml.rels><?xml version="1.0" encoding="UTF-8" standalone="yes"?>
<Relationships xmlns="http://schemas.openxmlformats.org/package/2006/relationships"><Relationship Id="rId3" Type="http://schemas.openxmlformats.org/officeDocument/2006/relationships/themeOverride" Target="../theme/themeOverride16.xml"/><Relationship Id="rId2" Type="http://schemas.microsoft.com/office/2011/relationships/chartColorStyle" Target="colors70.xml"/><Relationship Id="rId1" Type="http://schemas.microsoft.com/office/2011/relationships/chartStyle" Target="style70.xml"/><Relationship Id="rId4" Type="http://schemas.openxmlformats.org/officeDocument/2006/relationships/package" Target="../embeddings/Microsoft_Excel_Worksheet_11B_6A4A974F.xlsx"/></Relationships>
</file>

<file path=ppt/charts/_rels/chart71.xml.rels><?xml version="1.0" encoding="UTF-8" standalone="yes"?>
<Relationships xmlns="http://schemas.openxmlformats.org/package/2006/relationships"><Relationship Id="rId3" Type="http://schemas.openxmlformats.org/officeDocument/2006/relationships/themeOverride" Target="../theme/themeOverride17.xml"/><Relationship Id="rId2" Type="http://schemas.microsoft.com/office/2011/relationships/chartColorStyle" Target="colors71.xml"/><Relationship Id="rId1" Type="http://schemas.microsoft.com/office/2011/relationships/chartStyle" Target="style71.xml"/><Relationship Id="rId4" Type="http://schemas.openxmlformats.org/officeDocument/2006/relationships/package" Target="../embeddings/Microsoft_Excel_Worksheet_11B_6A4A974F24.xlsx"/></Relationships>
</file>

<file path=ppt/charts/_rels/chart72.xml.rels><?xml version="1.0" encoding="UTF-8" standalone="yes"?>
<Relationships xmlns="http://schemas.openxmlformats.org/package/2006/relationships"><Relationship Id="rId3" Type="http://schemas.openxmlformats.org/officeDocument/2006/relationships/themeOverride" Target="../theme/themeOverride18.xml"/><Relationship Id="rId2" Type="http://schemas.microsoft.com/office/2011/relationships/chartColorStyle" Target="colors72.xml"/><Relationship Id="rId1" Type="http://schemas.microsoft.com/office/2011/relationships/chartStyle" Target="style72.xml"/><Relationship Id="rId4" Type="http://schemas.openxmlformats.org/officeDocument/2006/relationships/package" Target="../embeddings/Microsoft_Excel_Worksheet_11B_6A4A974F25.xlsx"/></Relationships>
</file>

<file path=ppt/charts/_rels/chart73.xml.rels><?xml version="1.0" encoding="UTF-8" standalone="yes"?>
<Relationships xmlns="http://schemas.openxmlformats.org/package/2006/relationships"><Relationship Id="rId3" Type="http://schemas.openxmlformats.org/officeDocument/2006/relationships/oleObject" Target="https://oncologicoinos-my.sharepoint.com/personal/dirmedico_inoos_com_co/Documents/ALEJANDRA/JUNTA/14.%20Junta%20Febrero%202026/BD%20pacientes%20Inoos%20Enero%202026.xlsx" TargetMode="External"/><Relationship Id="rId2" Type="http://schemas.microsoft.com/office/2011/relationships/chartColorStyle" Target="colors73.xml"/><Relationship Id="rId1" Type="http://schemas.microsoft.com/office/2011/relationships/chartStyle" Target="style73.xml"/></Relationships>
</file>

<file path=ppt/charts/_rels/chart74.xml.rels><?xml version="1.0" encoding="UTF-8" standalone="yes"?>
<Relationships xmlns="http://schemas.openxmlformats.org/package/2006/relationships"><Relationship Id="rId3" Type="http://schemas.openxmlformats.org/officeDocument/2006/relationships/package" Target="../embeddings/Microsoft_Excel_Worksheet_AD0_2EE82CEC.xlsx"/><Relationship Id="rId2" Type="http://schemas.microsoft.com/office/2011/relationships/chartColorStyle" Target="colors74.xml"/><Relationship Id="rId1" Type="http://schemas.microsoft.com/office/2011/relationships/chartStyle" Target="style74.xml"/></Relationships>
</file>

<file path=ppt/charts/_rels/chart75.xml.rels><?xml version="1.0" encoding="UTF-8" standalone="yes"?>
<Relationships xmlns="http://schemas.openxmlformats.org/package/2006/relationships"><Relationship Id="rId3" Type="http://schemas.openxmlformats.org/officeDocument/2006/relationships/oleObject" Target="https://oncologicoinos-my.sharepoint.com/personal/dirmedico_inoos_com_co/Documents/ALEJANDRA/JUNTA/14.%20Junta%20Febrero%202026/BD%20pacientes%20Inoos%20Enero%202026.xlsx" TargetMode="External"/><Relationship Id="rId2" Type="http://schemas.microsoft.com/office/2011/relationships/chartColorStyle" Target="colors75.xml"/><Relationship Id="rId1" Type="http://schemas.microsoft.com/office/2011/relationships/chartStyle" Target="style75.xml"/></Relationships>
</file>

<file path=ppt/charts/_rels/chart76.xml.rels><?xml version="1.0" encoding="UTF-8" standalone="yes"?>
<Relationships xmlns="http://schemas.openxmlformats.org/package/2006/relationships"><Relationship Id="rId3" Type="http://schemas.openxmlformats.org/officeDocument/2006/relationships/oleObject" Target="https://oncologicoinos-my.sharepoint.com/personal/dirmedico_inoos_com_co/Documents/ALEJANDRA/JUNTA/22.%20Junta%20Octubre%202026/BD%20pacientes%20Inoos%20SEPTIEMBRE%202026%20.xlsx" TargetMode="External"/><Relationship Id="rId2" Type="http://schemas.microsoft.com/office/2011/relationships/chartColorStyle" Target="colors76.xml"/><Relationship Id="rId1" Type="http://schemas.microsoft.com/office/2011/relationships/chartStyle" Target="style76.xml"/></Relationships>
</file>

<file path=ppt/charts/_rels/chart77.xml.rels><?xml version="1.0" encoding="UTF-8" standalone="yes"?>
<Relationships xmlns="http://schemas.openxmlformats.org/package/2006/relationships"><Relationship Id="rId3" Type="http://schemas.openxmlformats.org/officeDocument/2006/relationships/oleObject" Target="https://oncologicoinos-my.sharepoint.com/personal/dirmedico_inoos_com_co/Documents/ALEJANDRA/JUNTA/22.%20Junta%20Octubre%202026/BD%20pacientes%20Inoos%20SEPTIEMBRE%202026%20.xlsx" TargetMode="External"/><Relationship Id="rId2" Type="http://schemas.microsoft.com/office/2011/relationships/chartColorStyle" Target="colors77.xml"/><Relationship Id="rId1" Type="http://schemas.microsoft.com/office/2011/relationships/chartStyle" Target="style77.xml"/></Relationships>
</file>

<file path=ppt/charts/_rels/chart78.xml.rels><?xml version="1.0" encoding="UTF-8" standalone="yes"?>
<Relationships xmlns="http://schemas.openxmlformats.org/package/2006/relationships"><Relationship Id="rId3" Type="http://schemas.openxmlformats.org/officeDocument/2006/relationships/oleObject" Target="https://oncologicoinos-my.sharepoint.com/personal/dirmedico_inoos_com_co/Documents/ALEJANDRA/JUNTA/22.%20Junta%20Octubre%202026/BD%20pacientes%20Inoos%20SEPTIEMBRE%202026%20.xlsx" TargetMode="External"/><Relationship Id="rId2" Type="http://schemas.microsoft.com/office/2011/relationships/chartColorStyle" Target="colors78.xml"/><Relationship Id="rId1" Type="http://schemas.microsoft.com/office/2011/relationships/chartStyle" Target="style78.xml"/></Relationships>
</file>

<file path=ppt/charts/_rels/chart79.xml.rels><?xml version="1.0" encoding="UTF-8" standalone="yes"?>
<Relationships xmlns="http://schemas.openxmlformats.org/package/2006/relationships"><Relationship Id="rId3" Type="http://schemas.openxmlformats.org/officeDocument/2006/relationships/oleObject" Target="https://oncologicoinos-my.sharepoint.com/personal/dirmedico_inoos_com_co/Documents/ALEJANDRA/JUNTA/22.%20Junta%20Octubre%202026/BD%20pacientes%20Inoos%20SEPTIEMBRE%202026%20.xlsx" TargetMode="External"/><Relationship Id="rId2" Type="http://schemas.microsoft.com/office/2011/relationships/chartColorStyle" Target="colors79.xml"/><Relationship Id="rId1" Type="http://schemas.microsoft.com/office/2011/relationships/chartStyle" Target="style79.xml"/></Relationships>
</file>

<file path=ppt/charts/_rels/chart80.xml.rels><?xml version="1.0" encoding="UTF-8" standalone="yes"?>
<Relationships xmlns="http://schemas.openxmlformats.org/package/2006/relationships"><Relationship Id="rId3" Type="http://schemas.openxmlformats.org/officeDocument/2006/relationships/oleObject" Target="https://oncologicoinos-my.sharepoint.com/personal/dirmedico_inoos_com_co/Documents/ALEJANDRA/JUNTA/22.%20Junta%20Octubre%202026/BD%20pacientes%20Inoos%20SEPTIEMBRE%202026%20.xlsx" TargetMode="External"/><Relationship Id="rId2" Type="http://schemas.microsoft.com/office/2011/relationships/chartColorStyle" Target="colors80.xml"/><Relationship Id="rId1" Type="http://schemas.microsoft.com/office/2011/relationships/chartStyle" Target="style80.xml"/></Relationships>
</file>

<file path=ppt/charts/_rels/chart81.xml.rels><?xml version="1.0" encoding="UTF-8" standalone="yes"?>
<Relationships xmlns="http://schemas.openxmlformats.org/package/2006/relationships"><Relationship Id="rId3" Type="http://schemas.openxmlformats.org/officeDocument/2006/relationships/package" Target="../embeddings/Microsoft_Excel_Worksheet_B24_E36CDBA2.xlsx"/><Relationship Id="rId2" Type="http://schemas.microsoft.com/office/2011/relationships/chartColorStyle" Target="colors81.xml"/><Relationship Id="rId1" Type="http://schemas.microsoft.com/office/2011/relationships/chartStyle" Target="style81.xml"/></Relationships>
</file>

<file path=ppt/charts/_rels/chart82.xml.rels><?xml version="1.0" encoding="UTF-8" standalone="yes"?>
<Relationships xmlns="http://schemas.openxmlformats.org/package/2006/relationships"><Relationship Id="rId3" Type="http://schemas.openxmlformats.org/officeDocument/2006/relationships/package" Target="../embeddings/Microsoft_Excel_Worksheet_B24_E36CDBA226.xlsx"/><Relationship Id="rId2" Type="http://schemas.microsoft.com/office/2011/relationships/chartColorStyle" Target="colors82.xml"/><Relationship Id="rId1" Type="http://schemas.microsoft.com/office/2011/relationships/chartStyle" Target="style82.xml"/></Relationships>
</file>

<file path=ppt/charts/_rels/chart83.xml.rels><?xml version="1.0" encoding="UTF-8" standalone="yes"?>
<Relationships xmlns="http://schemas.openxmlformats.org/package/2006/relationships"><Relationship Id="rId3" Type="http://schemas.openxmlformats.org/officeDocument/2006/relationships/package" Target="../embeddings/Microsoft_Excel_Worksheet_B24_E36CDBA227.xlsx"/><Relationship Id="rId2" Type="http://schemas.microsoft.com/office/2011/relationships/chartColorStyle" Target="colors83.xml"/><Relationship Id="rId1" Type="http://schemas.microsoft.com/office/2011/relationships/chartStyle" Target="style83.xml"/></Relationships>
</file>

<file path=ppt/charts/_rels/chart84.xml.rels><?xml version="1.0" encoding="UTF-8" standalone="yes"?>
<Relationships xmlns="http://schemas.openxmlformats.org/package/2006/relationships"><Relationship Id="rId3" Type="http://schemas.openxmlformats.org/officeDocument/2006/relationships/package" Target="../embeddings/Microsoft_Excel_Worksheet_B25_FE63B48B.xlsx"/><Relationship Id="rId2" Type="http://schemas.microsoft.com/office/2011/relationships/chartColorStyle" Target="colors84.xml"/><Relationship Id="rId1" Type="http://schemas.microsoft.com/office/2011/relationships/chartStyle" Target="style84.xml"/></Relationships>
</file>

<file path=ppt/charts/_rels/chart85.xml.rels><?xml version="1.0" encoding="UTF-8" standalone="yes"?>
<Relationships xmlns="http://schemas.openxmlformats.org/package/2006/relationships"><Relationship Id="rId3" Type="http://schemas.openxmlformats.org/officeDocument/2006/relationships/package" Target="../embeddings/Microsoft_Excel_Worksheet_B25_FE63B48B28.xlsx"/><Relationship Id="rId2" Type="http://schemas.microsoft.com/office/2011/relationships/chartColorStyle" Target="colors85.xml"/><Relationship Id="rId1" Type="http://schemas.microsoft.com/office/2011/relationships/chartStyle" Target="style85.xml"/></Relationships>
</file>

<file path=ppt/charts/_rels/chart86.xml.rels><?xml version="1.0" encoding="UTF-8" standalone="yes"?>
<Relationships xmlns="http://schemas.openxmlformats.org/package/2006/relationships"><Relationship Id="rId3" Type="http://schemas.openxmlformats.org/officeDocument/2006/relationships/package" Target="../embeddings/Microsoft_Excel_Worksheet_B25_FE63B48B29.xlsx"/><Relationship Id="rId2" Type="http://schemas.microsoft.com/office/2011/relationships/chartColorStyle" Target="colors86.xml"/><Relationship Id="rId1" Type="http://schemas.microsoft.com/office/2011/relationships/chartStyle" Target="style86.xml"/></Relationships>
</file>

<file path=ppt/charts/_rels/chart87.xml.rels><?xml version="1.0" encoding="UTF-8" standalone="yes"?>
<Relationships xmlns="http://schemas.openxmlformats.org/package/2006/relationships"><Relationship Id="rId3" Type="http://schemas.openxmlformats.org/officeDocument/2006/relationships/package" Target="../embeddings/Microsoft_Excel_Worksheet_B25_FE63B48B30.xlsx"/><Relationship Id="rId2" Type="http://schemas.microsoft.com/office/2011/relationships/chartColorStyle" Target="colors87.xml"/><Relationship Id="rId1" Type="http://schemas.microsoft.com/office/2011/relationships/chartStyle" Target="style87.xml"/></Relationships>
</file>

<file path=ppt/charts/_rels/chart88.xml.rels><?xml version="1.0" encoding="UTF-8" standalone="yes"?>
<Relationships xmlns="http://schemas.openxmlformats.org/package/2006/relationships"><Relationship Id="rId3" Type="http://schemas.openxmlformats.org/officeDocument/2006/relationships/package" Target="../embeddings/Microsoft_Excel_Worksheet_A79_6876C797.xlsx"/><Relationship Id="rId2" Type="http://schemas.microsoft.com/office/2011/relationships/chartColorStyle" Target="colors88.xml"/><Relationship Id="rId1" Type="http://schemas.microsoft.com/office/2011/relationships/chartStyle" Target="style88.xml"/></Relationships>
</file>

<file path=ppt/charts/_rels/chart89.xml.rels><?xml version="1.0" encoding="UTF-8" standalone="yes"?>
<Relationships xmlns="http://schemas.openxmlformats.org/package/2006/relationships"><Relationship Id="rId3" Type="http://schemas.openxmlformats.org/officeDocument/2006/relationships/oleObject" Target="https://oncologicoinos-my.sharepoint.com/personal/liderexperienciadelusuario_valle_inoos_com_co/Documents/EXPERIENCIA%202025/Satisfacci&#243;n/Satisfacci&#243;n%202026/Consolidado%20Asegurador.xlsx" TargetMode="External"/><Relationship Id="rId2" Type="http://schemas.microsoft.com/office/2011/relationships/chartColorStyle" Target="colors89.xml"/><Relationship Id="rId1" Type="http://schemas.microsoft.com/office/2011/relationships/chartStyle" Target="style89.xml"/></Relationships>
</file>

<file path=ppt/charts/_rels/chart90.xml.rels><?xml version="1.0" encoding="UTF-8" standalone="yes"?>
<Relationships xmlns="http://schemas.openxmlformats.org/package/2006/relationships"><Relationship Id="rId3" Type="http://schemas.openxmlformats.org/officeDocument/2006/relationships/oleObject" Target="https://oncologicoinos-my.sharepoint.com/personal/liderexperienciadelusuario_valle_inoos_com_co/Documents/EXPERIENCIA%202025/Satisfacci&#243;n/Satisfacci&#243;n%202026/Consolidado%20Asegurador.xlsx" TargetMode="External"/><Relationship Id="rId2" Type="http://schemas.microsoft.com/office/2011/relationships/chartColorStyle" Target="colors90.xml"/><Relationship Id="rId1" Type="http://schemas.microsoft.com/office/2011/relationships/chartStyle" Target="style90.xml"/></Relationships>
</file>

<file path=ppt/charts/_rels/chart91.xml.rels><?xml version="1.0" encoding="UTF-8" standalone="yes"?>
<Relationships xmlns="http://schemas.openxmlformats.org/package/2006/relationships"><Relationship Id="rId3" Type="http://schemas.openxmlformats.org/officeDocument/2006/relationships/oleObject" Target="https://oncologicoinos-my.sharepoint.com/personal/liderexperienciadelusuario_valle_inoos_com_co/Documents/EXPERIENCIA%202025/Satisfacci&#243;n/Satisfacci&#243;n%202026/Consolidado%20Asegurador.xlsx" TargetMode="External"/><Relationship Id="rId2" Type="http://schemas.microsoft.com/office/2011/relationships/chartColorStyle" Target="colors91.xml"/><Relationship Id="rId1" Type="http://schemas.microsoft.com/office/2011/relationships/chartStyle" Target="style91.xml"/></Relationships>
</file>

<file path=ppt/charts/_rels/chart92.xml.rels><?xml version="1.0" encoding="UTF-8" standalone="yes"?>
<Relationships xmlns="http://schemas.openxmlformats.org/package/2006/relationships"><Relationship Id="rId3" Type="http://schemas.openxmlformats.org/officeDocument/2006/relationships/oleObject" Target="https://oncologicoinos-my.sharepoint.com/personal/liderexperienciadelusuario_valle_inoos_com_co/Documents/EXPERIENCIA%202025/Satisfacci&#243;n/Satisfacci&#243;n%202026/Consolidado%20Asegurador.xlsx" TargetMode="External"/><Relationship Id="rId2" Type="http://schemas.microsoft.com/office/2011/relationships/chartColorStyle" Target="colors92.xml"/><Relationship Id="rId1" Type="http://schemas.microsoft.com/office/2011/relationships/chartStyle" Target="style92.xml"/></Relationships>
</file>

<file path=ppt/charts/_rels/chart93.xml.rels><?xml version="1.0" encoding="UTF-8" standalone="yes"?>
<Relationships xmlns="http://schemas.openxmlformats.org/package/2006/relationships"><Relationship Id="rId3" Type="http://schemas.openxmlformats.org/officeDocument/2006/relationships/oleObject" Target="https://oncologicoinos-my.sharepoint.com/personal/liderexperienciadelusuario_valle_inoos_com_co/Documents/EXPERIENCIA%202025/Satisfacci&#243;n/Satisfacci&#243;n%202026/Consolidado%20Asegurador.xlsx" TargetMode="External"/><Relationship Id="rId2" Type="http://schemas.microsoft.com/office/2011/relationships/chartColorStyle" Target="colors93.xml"/><Relationship Id="rId1" Type="http://schemas.microsoft.com/office/2011/relationships/chartStyle" Target="style93.xml"/></Relationships>
</file>

<file path=ppt/charts/_rels/chart94.xml.rels><?xml version="1.0" encoding="UTF-8" standalone="yes"?>
<Relationships xmlns="http://schemas.openxmlformats.org/package/2006/relationships"><Relationship Id="rId3" Type="http://schemas.openxmlformats.org/officeDocument/2006/relationships/oleObject" Target="https://oncologicoinos-my.sharepoint.com/personal/liderexperienciadelusuario_valle_inoos_com_co/Documents/EXPERIENCIA%202025/Manifestaciones/RELACI&#211;N%20PQR%202026.xlsx" TargetMode="External"/><Relationship Id="rId2" Type="http://schemas.microsoft.com/office/2011/relationships/chartColorStyle" Target="colors94.xml"/><Relationship Id="rId1" Type="http://schemas.microsoft.com/office/2011/relationships/chartStyle" Target="style94.xml"/></Relationships>
</file>

<file path=ppt/charts/_rels/chart95.xml.rels><?xml version="1.0" encoding="UTF-8" standalone="yes"?>
<Relationships xmlns="http://schemas.openxmlformats.org/package/2006/relationships"><Relationship Id="rId3" Type="http://schemas.openxmlformats.org/officeDocument/2006/relationships/themeOverride" Target="../theme/themeOverride19.xml"/><Relationship Id="rId2" Type="http://schemas.microsoft.com/office/2011/relationships/chartColorStyle" Target="colors95.xml"/><Relationship Id="rId1" Type="http://schemas.microsoft.com/office/2011/relationships/chartStyle" Target="style95.xml"/><Relationship Id="rId4" Type="http://schemas.openxmlformats.org/officeDocument/2006/relationships/package" Target="../embeddings/Microsoft_Excel_Worksheet_11C_B53F9CE1.xlsx"/></Relationships>
</file>

<file path=ppt/charts/_rels/chart96.xml.rels><?xml version="1.0" encoding="UTF-8" standalone="yes"?>
<Relationships xmlns="http://schemas.openxmlformats.org/package/2006/relationships"><Relationship Id="rId3" Type="http://schemas.openxmlformats.org/officeDocument/2006/relationships/themeOverride" Target="../theme/themeOverride20.xml"/><Relationship Id="rId2" Type="http://schemas.microsoft.com/office/2011/relationships/chartColorStyle" Target="colors96.xml"/><Relationship Id="rId1" Type="http://schemas.microsoft.com/office/2011/relationships/chartStyle" Target="style96.xml"/><Relationship Id="rId4" Type="http://schemas.openxmlformats.org/officeDocument/2006/relationships/package" Target="../embeddings/Microsoft_Excel_Worksheet_11C_B53F9CE131.xlsx"/></Relationships>
</file>

<file path=ppt/charts/_rels/chart97.xml.rels><?xml version="1.0" encoding="UTF-8" standalone="yes"?>
<Relationships xmlns="http://schemas.openxmlformats.org/package/2006/relationships"><Relationship Id="rId3" Type="http://schemas.openxmlformats.org/officeDocument/2006/relationships/themeOverride" Target="../theme/themeOverride21.xml"/><Relationship Id="rId2" Type="http://schemas.microsoft.com/office/2011/relationships/chartColorStyle" Target="colors97.xml"/><Relationship Id="rId1" Type="http://schemas.microsoft.com/office/2011/relationships/chartStyle" Target="style97.xml"/><Relationship Id="rId4" Type="http://schemas.openxmlformats.org/officeDocument/2006/relationships/package" Target="../embeddings/Microsoft_Excel_Worksheet_11C_B53F9CE132.xlsx"/></Relationships>
</file>

<file path=ppt/charts/_rels/chart98.xml.rels><?xml version="1.0" encoding="UTF-8" standalone="yes"?>
<Relationships xmlns="http://schemas.openxmlformats.org/package/2006/relationships"><Relationship Id="rId3" Type="http://schemas.openxmlformats.org/officeDocument/2006/relationships/oleObject" Target="https://oncologicoinos-my.sharepoint.com/personal/dirmedico_inoos_com_co/Documents/ALEJANDRA/JUNTA/14.%20Junta%20Febrero%202026/BD%20pacientes%20Inoos%20Enero%202026.xlsx" TargetMode="External"/><Relationship Id="rId2" Type="http://schemas.microsoft.com/office/2011/relationships/chartColorStyle" Target="colors98.xml"/><Relationship Id="rId1" Type="http://schemas.microsoft.com/office/2011/relationships/chartStyle" Target="style98.xml"/></Relationships>
</file>

<file path=ppt/charts/_rels/chart99.xml.rels><?xml version="1.0" encoding="UTF-8" standalone="yes"?>
<Relationships xmlns="http://schemas.openxmlformats.org/package/2006/relationships"><Relationship Id="rId3" Type="http://schemas.openxmlformats.org/officeDocument/2006/relationships/package" Target="../embeddings/Microsoft_Excel_Worksheet_B06_B01F24BC.xlsx"/><Relationship Id="rId2" Type="http://schemas.microsoft.com/office/2011/relationships/chartColorStyle" Target="colors99.xml"/><Relationship Id="rId1" Type="http://schemas.microsoft.com/office/2011/relationships/chartStyle" Target="style99.xml"/></Relationships>
</file>

<file path=ppt/charts/_rels/chart100.xml.rels><?xml version="1.0" encoding="UTF-8" standalone="yes"?>
<Relationships xmlns="http://schemas.openxmlformats.org/package/2006/relationships"><Relationship Id="rId3" Type="http://schemas.openxmlformats.org/officeDocument/2006/relationships/oleObject" Target="https://oncologicoinos-my.sharepoint.com/personal/dirmedico_inoos_com_co/Documents/ALEJANDRA/JUNTA/22.%20Junta%20Octubre%202026/BD%20pacientes%20Inoos%20SEPTIEMBRE%202026%20.xlsx" TargetMode="External"/><Relationship Id="rId2" Type="http://schemas.microsoft.com/office/2011/relationships/chartColorStyle" Target="colors100.xml"/><Relationship Id="rId1" Type="http://schemas.microsoft.com/office/2011/relationships/chartStyle" Target="style100.xml"/></Relationships>
</file>

<file path=ppt/charts/_rels/chart101.xml.rels><?xml version="1.0" encoding="UTF-8" standalone="yes"?>
<Relationships xmlns="http://schemas.openxmlformats.org/package/2006/relationships"><Relationship Id="rId3" Type="http://schemas.openxmlformats.org/officeDocument/2006/relationships/oleObject" Target="https://oncologicoinos-my.sharepoint.com/personal/dirmedico_inoos_com_co/Documents/ALEJANDRA/JUNTA/22.%20Junta%20Octubre%202026/BD%20pacientes%20Inoos%20SEPTIEMBRE%202026%20.xlsx" TargetMode="External"/><Relationship Id="rId2" Type="http://schemas.microsoft.com/office/2011/relationships/chartColorStyle" Target="colors101.xml"/><Relationship Id="rId1" Type="http://schemas.microsoft.com/office/2011/relationships/chartStyle" Target="style101.xml"/></Relationships>
</file>

<file path=ppt/charts/_rels/chart102.xml.rels><?xml version="1.0" encoding="UTF-8" standalone="yes"?>
<Relationships xmlns="http://schemas.openxmlformats.org/package/2006/relationships"><Relationship Id="rId3" Type="http://schemas.openxmlformats.org/officeDocument/2006/relationships/oleObject" Target="https://oncologicoinos-my.sharepoint.com/personal/dirmedico_inoos_com_co/Documents/ALEJANDRA/JUNTA/14.%20Junta%20Febrero%202026/BD%20pacientes%20Inoos%20Enero%202026.xlsx" TargetMode="External"/><Relationship Id="rId2" Type="http://schemas.microsoft.com/office/2011/relationships/chartColorStyle" Target="colors102.xml"/><Relationship Id="rId1" Type="http://schemas.microsoft.com/office/2011/relationships/chartStyle" Target="style102.xml"/></Relationships>
</file>

<file path=ppt/charts/_rels/chart103.xml.rels><?xml version="1.0" encoding="UTF-8" standalone="yes"?>
<Relationships xmlns="http://schemas.openxmlformats.org/package/2006/relationships"><Relationship Id="rId3" Type="http://schemas.openxmlformats.org/officeDocument/2006/relationships/oleObject" Target="https://oncologicoinos-my.sharepoint.com/personal/dirmedico_inoos_com_co/Documents/ALEJANDRA/JUNTA/22.%20Junta%20Octubre%202026/BD%20pacientes%20Inoos%20SEPTIEMBRE%202026%20.xlsx" TargetMode="External"/><Relationship Id="rId2" Type="http://schemas.microsoft.com/office/2011/relationships/chartColorStyle" Target="colors103.xml"/><Relationship Id="rId1" Type="http://schemas.microsoft.com/office/2011/relationships/chartStyle" Target="style103.xml"/></Relationships>
</file>

<file path=ppt/charts/_rels/chart104.xml.rels><?xml version="1.0" encoding="UTF-8" standalone="yes"?>
<Relationships xmlns="http://schemas.openxmlformats.org/package/2006/relationships"><Relationship Id="rId3" Type="http://schemas.openxmlformats.org/officeDocument/2006/relationships/oleObject" Target="https://oncologicoinos-my.sharepoint.com/personal/dirmedico_inoos_com_co/Documents/ALEJANDRA/JUNTA/22.%20Junta%20Octubre%202026/BD%20pacientes%20Inoos%20SEPTIEMBRE%202026%20.xlsx" TargetMode="External"/><Relationship Id="rId2" Type="http://schemas.microsoft.com/office/2011/relationships/chartColorStyle" Target="colors104.xml"/><Relationship Id="rId1" Type="http://schemas.microsoft.com/office/2011/relationships/chartStyle" Target="style104.xml"/></Relationships>
</file>

<file path=ppt/charts/_rels/chart105.xml.rels><?xml version="1.0" encoding="UTF-8" standalone="yes"?>
<Relationships xmlns="http://schemas.openxmlformats.org/package/2006/relationships"><Relationship Id="rId3" Type="http://schemas.openxmlformats.org/officeDocument/2006/relationships/package" Target="../embeddings/Microsoft_Excel_Worksheet_AC1_A8DC318D.xlsx"/><Relationship Id="rId2" Type="http://schemas.microsoft.com/office/2011/relationships/chartColorStyle" Target="colors105.xml"/><Relationship Id="rId1" Type="http://schemas.microsoft.com/office/2011/relationships/chartStyle" Target="style105.xml"/></Relationships>
</file>

<file path=ppt/charts/_rels/chart106.xml.rels><?xml version="1.0" encoding="UTF-8" standalone="yes"?>
<Relationships xmlns="http://schemas.openxmlformats.org/package/2006/relationships"><Relationship Id="rId3" Type="http://schemas.openxmlformats.org/officeDocument/2006/relationships/package" Target="../embeddings/Microsoft_Excel_Worksheet_AE3_51FE4C21.xlsx"/><Relationship Id="rId2" Type="http://schemas.microsoft.com/office/2011/relationships/chartColorStyle" Target="colors106.xml"/><Relationship Id="rId1" Type="http://schemas.microsoft.com/office/2011/relationships/chartStyle" Target="style106.xml"/></Relationships>
</file>

<file path=ppt/charts/_rels/chart107.xml.rels><?xml version="1.0" encoding="UTF-8" standalone="yes"?>
<Relationships xmlns="http://schemas.openxmlformats.org/package/2006/relationships"><Relationship Id="rId3" Type="http://schemas.openxmlformats.org/officeDocument/2006/relationships/package" Target="../embeddings/Microsoft_Excel_Worksheet_AE3_51FE4C2133.xlsx"/><Relationship Id="rId2" Type="http://schemas.microsoft.com/office/2011/relationships/chartColorStyle" Target="colors107.xml"/><Relationship Id="rId1" Type="http://schemas.microsoft.com/office/2011/relationships/chartStyle" Target="style107.xml"/></Relationships>
</file>

<file path=ppt/charts/_rels/chart108.xml.rels><?xml version="1.0" encoding="UTF-8" standalone="yes"?>
<Relationships xmlns="http://schemas.openxmlformats.org/package/2006/relationships"><Relationship Id="rId3" Type="http://schemas.openxmlformats.org/officeDocument/2006/relationships/package" Target="../embeddings/Microsoft_Excel_Worksheet_AE3_51FE4C2134.xlsx"/><Relationship Id="rId2" Type="http://schemas.microsoft.com/office/2011/relationships/chartColorStyle" Target="colors108.xml"/><Relationship Id="rId1" Type="http://schemas.microsoft.com/office/2011/relationships/chartStyle" Target="style108.xml"/></Relationships>
</file>

<file path=ppt/charts/_rels/chart109.xml.rels><?xml version="1.0" encoding="UTF-8" standalone="yes"?>
<Relationships xmlns="http://schemas.openxmlformats.org/package/2006/relationships"><Relationship Id="rId3" Type="http://schemas.openxmlformats.org/officeDocument/2006/relationships/package" Target="../embeddings/Microsoft_Excel_Worksheet_AE3_51FE4C2135.xlsx"/><Relationship Id="rId2" Type="http://schemas.microsoft.com/office/2011/relationships/chartColorStyle" Target="colors109.xml"/><Relationship Id="rId1" Type="http://schemas.microsoft.com/office/2011/relationships/chartStyle" Target="style109.xml"/></Relationships>
</file>

<file path=ppt/charts/_rels/chart110.xml.rels><?xml version="1.0" encoding="UTF-8" standalone="yes"?>
<Relationships xmlns="http://schemas.openxmlformats.org/package/2006/relationships"><Relationship Id="rId3" Type="http://schemas.openxmlformats.org/officeDocument/2006/relationships/package" Target="../embeddings/Microsoft_Excel_Worksheet_AE4_7E556D5.xlsx"/><Relationship Id="rId2" Type="http://schemas.microsoft.com/office/2011/relationships/chartColorStyle" Target="colors110.xml"/><Relationship Id="rId1" Type="http://schemas.microsoft.com/office/2011/relationships/chartStyle" Target="style110.xml"/></Relationships>
</file>

<file path=ppt/charts/_rels/chart111.xml.rels><?xml version="1.0" encoding="UTF-8" standalone="yes"?>
<Relationships xmlns="http://schemas.openxmlformats.org/package/2006/relationships"><Relationship Id="rId3" Type="http://schemas.openxmlformats.org/officeDocument/2006/relationships/package" Target="../embeddings/Microsoft_Excel_Worksheet_AE4_7E556D536.xlsx"/><Relationship Id="rId2" Type="http://schemas.microsoft.com/office/2011/relationships/chartColorStyle" Target="colors111.xml"/><Relationship Id="rId1" Type="http://schemas.microsoft.com/office/2011/relationships/chartStyle" Target="style111.xml"/></Relationships>
</file>

<file path=ppt/charts/_rels/chart112.xml.rels><?xml version="1.0" encoding="UTF-8" standalone="yes"?>
<Relationships xmlns="http://schemas.openxmlformats.org/package/2006/relationships"><Relationship Id="rId3" Type="http://schemas.openxmlformats.org/officeDocument/2006/relationships/package" Target="../embeddings/Microsoft_Excel_Worksheet_AE4_7E556D537.xlsx"/><Relationship Id="rId2" Type="http://schemas.microsoft.com/office/2011/relationships/chartColorStyle" Target="colors112.xml"/><Relationship Id="rId1" Type="http://schemas.microsoft.com/office/2011/relationships/chartStyle" Target="style112.xml"/></Relationships>
</file>

<file path=ppt/charts/_rels/chart113.xml.rels><?xml version="1.0" encoding="UTF-8" standalone="yes"?>
<Relationships xmlns="http://schemas.openxmlformats.org/package/2006/relationships"><Relationship Id="rId3" Type="http://schemas.openxmlformats.org/officeDocument/2006/relationships/package" Target="../embeddings/Microsoft_Excel_Worksheet_AE4_7E556D538.xlsx"/><Relationship Id="rId2" Type="http://schemas.microsoft.com/office/2011/relationships/chartColorStyle" Target="colors113.xml"/><Relationship Id="rId1" Type="http://schemas.microsoft.com/office/2011/relationships/chartStyle" Target="style113.xml"/></Relationships>
</file>

<file path=ppt/charts/_rels/chart114.xml.rels><?xml version="1.0" encoding="UTF-8" standalone="yes"?>
<Relationships xmlns="http://schemas.openxmlformats.org/package/2006/relationships"><Relationship Id="rId3" Type="http://schemas.openxmlformats.org/officeDocument/2006/relationships/oleObject" Target="Libro2" TargetMode="External"/><Relationship Id="rId2" Type="http://schemas.microsoft.com/office/2011/relationships/chartColorStyle" Target="colors114.xml"/><Relationship Id="rId1" Type="http://schemas.microsoft.com/office/2011/relationships/chartStyle" Target="style114.xml"/></Relationships>
</file>

<file path=ppt/charts/_rels/chart115.xml.rels><?xml version="1.0" encoding="UTF-8" standalone="yes"?>
<Relationships xmlns="http://schemas.openxmlformats.org/package/2006/relationships"><Relationship Id="rId3" Type="http://schemas.openxmlformats.org/officeDocument/2006/relationships/oleObject" Target="https://oncologicoinos-my.sharepoint.com/personal/liderexperienciadelusuario_valle_inoos_com_co/Documents/EXPERIENCIA%202025/Satisfacci&#243;n/Satisfacci&#243;n%202026/Consolidado%20Asegurador.xlsx" TargetMode="External"/><Relationship Id="rId2" Type="http://schemas.microsoft.com/office/2011/relationships/chartColorStyle" Target="colors115.xml"/><Relationship Id="rId1" Type="http://schemas.microsoft.com/office/2011/relationships/chartStyle" Target="style115.xml"/></Relationships>
</file>

<file path=ppt/charts/_rels/chart116.xml.rels><?xml version="1.0" encoding="UTF-8" standalone="yes"?>
<Relationships xmlns="http://schemas.openxmlformats.org/package/2006/relationships"><Relationship Id="rId3" Type="http://schemas.openxmlformats.org/officeDocument/2006/relationships/oleObject" Target="https://oncologicoinos-my.sharepoint.com/personal/liderexperienciadelusuario_valle_inoos_com_co/Documents/EXPERIENCIA%202025/Satisfacci&#243;n/Satisfacci&#243;n%202026/Consolidado%20Asegurador.xlsx" TargetMode="External"/><Relationship Id="rId2" Type="http://schemas.microsoft.com/office/2011/relationships/chartColorStyle" Target="colors116.xml"/><Relationship Id="rId1" Type="http://schemas.microsoft.com/office/2011/relationships/chartStyle" Target="style116.xml"/></Relationships>
</file>

<file path=ppt/charts/_rels/chart117.xml.rels><?xml version="1.0" encoding="UTF-8" standalone="yes"?>
<Relationships xmlns="http://schemas.openxmlformats.org/package/2006/relationships"><Relationship Id="rId3" Type="http://schemas.openxmlformats.org/officeDocument/2006/relationships/oleObject" Target="https://oncologicoinos-my.sharepoint.com/personal/liderexperienciadelusuario_valle_inoos_com_co/Documents/EXPERIENCIA%202025/Satisfacci&#243;n/Satisfacci&#243;n%202026/Consolidado%20Asegurador.xlsx" TargetMode="External"/><Relationship Id="rId2" Type="http://schemas.microsoft.com/office/2011/relationships/chartColorStyle" Target="colors117.xml"/><Relationship Id="rId1" Type="http://schemas.microsoft.com/office/2011/relationships/chartStyle" Target="style117.xml"/></Relationships>
</file>

<file path=ppt/charts/_rels/chart118.xml.rels><?xml version="1.0" encoding="UTF-8" standalone="yes"?>
<Relationships xmlns="http://schemas.openxmlformats.org/package/2006/relationships"><Relationship Id="rId3" Type="http://schemas.openxmlformats.org/officeDocument/2006/relationships/oleObject" Target="https://oncologicoinos-my.sharepoint.com/personal/liderexperienciadelusuario_valle_inoos_com_co/Documents/EXPERIENCIA%202025/Satisfacci&#243;n/Satisfacci&#243;n%202026/Consolidado%20Asegurador.xlsx" TargetMode="External"/><Relationship Id="rId2" Type="http://schemas.microsoft.com/office/2011/relationships/chartColorStyle" Target="colors118.xml"/><Relationship Id="rId1" Type="http://schemas.microsoft.com/office/2011/relationships/chartStyle" Target="style118.xml"/></Relationships>
</file>

<file path=ppt/charts/_rels/chart119.xml.rels><?xml version="1.0" encoding="UTF-8" standalone="yes"?>
<Relationships xmlns="http://schemas.openxmlformats.org/package/2006/relationships"><Relationship Id="rId3" Type="http://schemas.openxmlformats.org/officeDocument/2006/relationships/oleObject" Target="https://oncologicoinos-my.sharepoint.com/personal/liderexperienciadelusuario_valle_inoos_com_co/Documents/EXPERIENCIA%202025/Satisfacci&#243;n/Satisfacci&#243;n%202026/Consolidado%20Asegurador.xlsx" TargetMode="External"/><Relationship Id="rId2" Type="http://schemas.microsoft.com/office/2011/relationships/chartColorStyle" Target="colors119.xml"/><Relationship Id="rId1" Type="http://schemas.microsoft.com/office/2011/relationships/chartStyle" Target="style119.xml"/></Relationships>
</file>

<file path=ppt/charts/_rels/chart120.xml.rels><?xml version="1.0" encoding="UTF-8" standalone="yes"?>
<Relationships xmlns="http://schemas.openxmlformats.org/package/2006/relationships"><Relationship Id="rId3" Type="http://schemas.openxmlformats.org/officeDocument/2006/relationships/oleObject" Target="https://oncologicoinos-my.sharepoint.com/personal/liderexperienciadelusuario_valle_inoos_com_co/Documents/EXPERIENCIA%202025/Manifestaciones/RELACI&#211;N%20PQR%202026.xlsx" TargetMode="External"/><Relationship Id="rId2" Type="http://schemas.microsoft.com/office/2011/relationships/chartColorStyle" Target="colors120.xml"/><Relationship Id="rId1" Type="http://schemas.microsoft.com/office/2011/relationships/chartStyle" Target="style120.xml"/></Relationships>
</file>

<file path=ppt/charts/_rels/chart121.xml.rels><?xml version="1.0" encoding="UTF-8" standalone="yes"?>
<Relationships xmlns="http://schemas.openxmlformats.org/package/2006/relationships"><Relationship Id="rId3" Type="http://schemas.openxmlformats.org/officeDocument/2006/relationships/oleObject" Target="file:///C:\Users\DIRMEDICA\Downloads\TUTELAS,%20INCIDENTES%20-%20EMSSANAR.xlsx" TargetMode="External"/><Relationship Id="rId2" Type="http://schemas.microsoft.com/office/2011/relationships/chartColorStyle" Target="colors121.xml"/><Relationship Id="rId1" Type="http://schemas.microsoft.com/office/2011/relationships/chartStyle" Target="style121.xml"/></Relationships>
</file>

<file path=ppt/charts/_rels/chart122.xml.rels><?xml version="1.0" encoding="UTF-8" standalone="yes"?>
<Relationships xmlns="http://schemas.openxmlformats.org/package/2006/relationships"><Relationship Id="rId3" Type="http://schemas.openxmlformats.org/officeDocument/2006/relationships/oleObject" Target="file:///C:\Users\DIRMEDICA\Downloads\TUTELAS,%20INCIDENTES%20-%20EMSSANAR.xlsx" TargetMode="External"/><Relationship Id="rId2" Type="http://schemas.microsoft.com/office/2011/relationships/chartColorStyle" Target="colors122.xml"/><Relationship Id="rId1" Type="http://schemas.microsoft.com/office/2011/relationships/chartStyle" Target="style122.xml"/></Relationships>
</file>

<file path=ppt/charts/_rels/chart123.xml.rels><?xml version="1.0" encoding="UTF-8" standalone="yes"?>
<Relationships xmlns="http://schemas.openxmlformats.org/package/2006/relationships"><Relationship Id="rId3" Type="http://schemas.openxmlformats.org/officeDocument/2006/relationships/themeOverride" Target="../theme/themeOverride22.xml"/><Relationship Id="rId2" Type="http://schemas.microsoft.com/office/2011/relationships/chartColorStyle" Target="colors123.xml"/><Relationship Id="rId1" Type="http://schemas.microsoft.com/office/2011/relationships/chartStyle" Target="style123.xml"/><Relationship Id="rId4" Type="http://schemas.openxmlformats.org/officeDocument/2006/relationships/package" Target="../embeddings/Microsoft_Excel_Worksheet_11F_21D08485.xlsx"/></Relationships>
</file>

<file path=ppt/charts/_rels/chart124.xml.rels><?xml version="1.0" encoding="UTF-8" standalone="yes"?>
<Relationships xmlns="http://schemas.openxmlformats.org/package/2006/relationships"><Relationship Id="rId3" Type="http://schemas.openxmlformats.org/officeDocument/2006/relationships/themeOverride" Target="../theme/themeOverride23.xml"/><Relationship Id="rId2" Type="http://schemas.microsoft.com/office/2011/relationships/chartColorStyle" Target="colors124.xml"/><Relationship Id="rId1" Type="http://schemas.microsoft.com/office/2011/relationships/chartStyle" Target="style124.xml"/><Relationship Id="rId4" Type="http://schemas.openxmlformats.org/officeDocument/2006/relationships/package" Target="../embeddings/Microsoft_Excel_Worksheet_11F_21D084851.xlsx"/></Relationships>
</file>

<file path=ppt/charts/_rels/chart125.xml.rels><?xml version="1.0" encoding="UTF-8" standalone="yes"?>
<Relationships xmlns="http://schemas.openxmlformats.org/package/2006/relationships"><Relationship Id="rId3" Type="http://schemas.openxmlformats.org/officeDocument/2006/relationships/package" Target="../embeddings/Microsoft_Excel_Worksheet_A1B_778BEEF4.xlsx"/><Relationship Id="rId2" Type="http://schemas.microsoft.com/office/2011/relationships/chartColorStyle" Target="colors125.xml"/><Relationship Id="rId1" Type="http://schemas.microsoft.com/office/2011/relationships/chartStyle" Target="style125.xml"/></Relationships>
</file>

<file path=ppt/charts/_rels/chart126.xml.rels><?xml version="1.0" encoding="UTF-8" standalone="yes"?>
<Relationships xmlns="http://schemas.openxmlformats.org/package/2006/relationships"><Relationship Id="rId3" Type="http://schemas.openxmlformats.org/officeDocument/2006/relationships/oleObject" Target="https://oncologicoinos-my.sharepoint.com/personal/dirmedico_inoos_com_co/Documents/ALEJANDRA/JUNTA/17.%20Junta%20Mayo%202026/BD%20pacientes%20Inoos%20abril%202026.xlsx" TargetMode="External"/><Relationship Id="rId2" Type="http://schemas.microsoft.com/office/2011/relationships/chartColorStyle" Target="colors126.xml"/><Relationship Id="rId1" Type="http://schemas.microsoft.com/office/2011/relationships/chartStyle" Target="style126.xml"/></Relationships>
</file>

<file path=ppt/charts/_rels/chart127.xml.rels><?xml version="1.0" encoding="UTF-8" standalone="yes"?>
<Relationships xmlns="http://schemas.openxmlformats.org/package/2006/relationships"><Relationship Id="rId3" Type="http://schemas.openxmlformats.org/officeDocument/2006/relationships/oleObject" Target="https://oncologicoinos-my.sharepoint.com/personal/dirmedico_inoos_com_co/Documents/ALEJANDRA/JUNTA/20.%20Junta%20Agosto%202026/BD%20pacientes%20Inoos%20julio%202026%20.xlsx" TargetMode="External"/><Relationship Id="rId2" Type="http://schemas.microsoft.com/office/2011/relationships/chartColorStyle" Target="colors127.xml"/><Relationship Id="rId1" Type="http://schemas.microsoft.com/office/2011/relationships/chartStyle" Target="style127.xml"/></Relationships>
</file>

<file path=ppt/charts/_rels/chart128.xml.rels><?xml version="1.0" encoding="UTF-8" standalone="yes"?>
<Relationships xmlns="http://schemas.openxmlformats.org/package/2006/relationships"><Relationship Id="rId3" Type="http://schemas.openxmlformats.org/officeDocument/2006/relationships/package" Target="../embeddings/Microsoft_Excel_Worksheet_A8F_2F36BA9A.xlsx"/><Relationship Id="rId2" Type="http://schemas.microsoft.com/office/2011/relationships/chartColorStyle" Target="colors128.xml"/><Relationship Id="rId1" Type="http://schemas.microsoft.com/office/2011/relationships/chartStyle" Target="style128.xml"/></Relationships>
</file>

<file path=ppt/charts/_rels/chart129.xml.rels><?xml version="1.0" encoding="UTF-8" standalone="yes"?>
<Relationships xmlns="http://schemas.openxmlformats.org/package/2006/relationships"><Relationship Id="rId3" Type="http://schemas.openxmlformats.org/officeDocument/2006/relationships/package" Target="../embeddings/Microsoft_Excel_Worksheet_B2B_7E91C52F.xlsx"/><Relationship Id="rId2" Type="http://schemas.microsoft.com/office/2011/relationships/chartColorStyle" Target="colors129.xml"/><Relationship Id="rId1" Type="http://schemas.microsoft.com/office/2011/relationships/chartStyle" Target="style129.xml"/></Relationships>
</file>

<file path=ppt/charts/_rels/chart130.xml.rels><?xml version="1.0" encoding="UTF-8" standalone="yes"?>
<Relationships xmlns="http://schemas.openxmlformats.org/package/2006/relationships"><Relationship Id="rId3" Type="http://schemas.openxmlformats.org/officeDocument/2006/relationships/package" Target="../embeddings/Microsoft_Excel_Worksheet_B2B_7E91C52F41.xlsx"/><Relationship Id="rId2" Type="http://schemas.microsoft.com/office/2011/relationships/chartColorStyle" Target="colors130.xml"/><Relationship Id="rId1" Type="http://schemas.microsoft.com/office/2011/relationships/chartStyle" Target="style130.xml"/></Relationships>
</file>

<file path=ppt/charts/_rels/chart131.xml.rels><?xml version="1.0" encoding="UTF-8" standalone="yes"?>
<Relationships xmlns="http://schemas.openxmlformats.org/package/2006/relationships"><Relationship Id="rId3" Type="http://schemas.openxmlformats.org/officeDocument/2006/relationships/package" Target="../embeddings/Microsoft_Excel_Worksheet_B2B_7E91C52F42.xlsx"/><Relationship Id="rId2" Type="http://schemas.microsoft.com/office/2011/relationships/chartColorStyle" Target="colors131.xml"/><Relationship Id="rId1" Type="http://schemas.microsoft.com/office/2011/relationships/chartStyle" Target="style131.xml"/></Relationships>
</file>

<file path=ppt/charts/_rels/chart132.xml.rels><?xml version="1.0" encoding="UTF-8" standalone="yes"?>
<Relationships xmlns="http://schemas.openxmlformats.org/package/2006/relationships"><Relationship Id="rId3" Type="http://schemas.openxmlformats.org/officeDocument/2006/relationships/package" Target="../embeddings/Microsoft_Excel_Worksheet_B2B_7E91C52F43.xlsx"/><Relationship Id="rId2" Type="http://schemas.microsoft.com/office/2011/relationships/chartColorStyle" Target="colors132.xml"/><Relationship Id="rId1" Type="http://schemas.microsoft.com/office/2011/relationships/chartStyle" Target="style132.xml"/></Relationships>
</file>

<file path=ppt/charts/_rels/chart133.xml.rels><?xml version="1.0" encoding="UTF-8" standalone="yes"?>
<Relationships xmlns="http://schemas.openxmlformats.org/package/2006/relationships"><Relationship Id="rId3" Type="http://schemas.openxmlformats.org/officeDocument/2006/relationships/oleObject" Target="https://oncologicoinos-my.sharepoint.com/personal/liderexperienciadelusuario_valle_inoos_com_co/Documents/EXPERIENCIA%202025/Satisfacci&#243;n/Satisfacci&#243;n%202026/Consolidado%20Asegurador.xlsx" TargetMode="External"/><Relationship Id="rId2" Type="http://schemas.microsoft.com/office/2011/relationships/chartColorStyle" Target="colors133.xml"/><Relationship Id="rId1" Type="http://schemas.microsoft.com/office/2011/relationships/chartStyle" Target="style133.xml"/></Relationships>
</file>

<file path=ppt/charts/_rels/chart134.xml.rels><?xml version="1.0" encoding="UTF-8" standalone="yes"?>
<Relationships xmlns="http://schemas.openxmlformats.org/package/2006/relationships"><Relationship Id="rId3" Type="http://schemas.openxmlformats.org/officeDocument/2006/relationships/oleObject" Target="https://oncologicoinos-my.sharepoint.com/personal/liderexperienciadelusuario_valle_inoos_com_co/Documents/EXPERIENCIA%202025/Satisfacci&#243;n/Satisfacci&#243;n%202026/Consolidado%20Asegurador.xlsx" TargetMode="External"/><Relationship Id="rId2" Type="http://schemas.microsoft.com/office/2011/relationships/chartColorStyle" Target="colors134.xml"/><Relationship Id="rId1" Type="http://schemas.microsoft.com/office/2011/relationships/chartStyle" Target="style134.xml"/></Relationships>
</file>

<file path=ppt/charts/_rels/chart135.xml.rels><?xml version="1.0" encoding="UTF-8" standalone="yes"?>
<Relationships xmlns="http://schemas.openxmlformats.org/package/2006/relationships"><Relationship Id="rId3" Type="http://schemas.openxmlformats.org/officeDocument/2006/relationships/oleObject" Target="https://oncologicoinos-my.sharepoint.com/personal/liderexperienciadelusuario_valle_inoos_com_co/Documents/EXPERIENCIA%202025/Satisfacci&#243;n/Satisfacci&#243;n%202026/Consolidado%20Asegurador.xlsx" TargetMode="External"/><Relationship Id="rId2" Type="http://schemas.microsoft.com/office/2011/relationships/chartColorStyle" Target="colors135.xml"/><Relationship Id="rId1" Type="http://schemas.microsoft.com/office/2011/relationships/chartStyle" Target="style135.xml"/></Relationships>
</file>

<file path=ppt/charts/_rels/chart136.xml.rels><?xml version="1.0" encoding="UTF-8" standalone="yes"?>
<Relationships xmlns="http://schemas.openxmlformats.org/package/2006/relationships"><Relationship Id="rId3" Type="http://schemas.openxmlformats.org/officeDocument/2006/relationships/oleObject" Target="https://oncologicoinos-my.sharepoint.com/personal/liderexperienciadelusuario_valle_inoos_com_co/Documents/EXPERIENCIA%202025/Satisfacci&#243;n/Satisfacci&#243;n%202026/Consolidado%20Asegurador.xlsx" TargetMode="External"/><Relationship Id="rId2" Type="http://schemas.microsoft.com/office/2011/relationships/chartColorStyle" Target="colors136.xml"/><Relationship Id="rId1" Type="http://schemas.microsoft.com/office/2011/relationships/chartStyle" Target="style136.xml"/></Relationships>
</file>

<file path=ppt/charts/_rels/chart137.xml.rels><?xml version="1.0" encoding="UTF-8" standalone="yes"?>
<Relationships xmlns="http://schemas.openxmlformats.org/package/2006/relationships"><Relationship Id="rId3" Type="http://schemas.openxmlformats.org/officeDocument/2006/relationships/oleObject" Target="https://oncologicoinos-my.sharepoint.com/personal/liderexperienciadelusuario_valle_inoos_com_co/Documents/EXPERIENCIA%202025/Satisfacci&#243;n/Satisfacci&#243;n%202026/Consolidado%20Asegurador.xlsx" TargetMode="External"/><Relationship Id="rId2" Type="http://schemas.microsoft.com/office/2011/relationships/chartColorStyle" Target="colors137.xml"/><Relationship Id="rId1" Type="http://schemas.microsoft.com/office/2011/relationships/chartStyle" Target="style137.xml"/></Relationships>
</file>

<file path=ppt/charts/_rels/chart138.xml.rels><?xml version="1.0" encoding="UTF-8" standalone="yes"?>
<Relationships xmlns="http://schemas.openxmlformats.org/package/2006/relationships"><Relationship Id="rId3" Type="http://schemas.openxmlformats.org/officeDocument/2006/relationships/oleObject" Target="https://oncologicoinos-my.sharepoint.com/personal/liderexperienciadelusuario_valle_inoos_com_co/Documents/EXPERIENCIA%202025/Manifestaciones/RELACI&#211;N%20PQR%202026.xlsx" TargetMode="External"/><Relationship Id="rId2" Type="http://schemas.microsoft.com/office/2011/relationships/chartColorStyle" Target="colors138.xml"/><Relationship Id="rId1" Type="http://schemas.microsoft.com/office/2011/relationships/chartStyle" Target="style138.xml"/></Relationships>
</file>

<file path=ppt/charts/_rels/chart139.xml.rels><?xml version="1.0" encoding="UTF-8" standalone="yes"?>
<Relationships xmlns="http://schemas.openxmlformats.org/package/2006/relationships"><Relationship Id="rId3" Type="http://schemas.openxmlformats.org/officeDocument/2006/relationships/themeOverride" Target="../theme/themeOverride24.xml"/><Relationship Id="rId2" Type="http://schemas.microsoft.com/office/2011/relationships/chartColorStyle" Target="colors139.xml"/><Relationship Id="rId1" Type="http://schemas.microsoft.com/office/2011/relationships/chartStyle" Target="style139.xml"/><Relationship Id="rId4" Type="http://schemas.openxmlformats.org/officeDocument/2006/relationships/package" Target="../embeddings/Microsoft_Excel_Worksheet_11D_44284D5E.xlsx"/></Relationships>
</file>

<file path=ppt/charts/_rels/chart140.xml.rels><?xml version="1.0" encoding="UTF-8" standalone="yes"?>
<Relationships xmlns="http://schemas.openxmlformats.org/package/2006/relationships"><Relationship Id="rId3" Type="http://schemas.openxmlformats.org/officeDocument/2006/relationships/oleObject" Target="https://oncologicoinos-my.sharepoint.com/personal/dirmedico_inoos_com_co/Documents/ALEJANDRA/JUNTA/16.Junta%20Abril%202026/BD%20pacientes%20Inoos%20marzo%202026.xlsx" TargetMode="External"/><Relationship Id="rId2" Type="http://schemas.microsoft.com/office/2011/relationships/chartColorStyle" Target="colors140.xml"/><Relationship Id="rId1" Type="http://schemas.microsoft.com/office/2011/relationships/chartStyle" Target="style140.xml"/></Relationships>
</file>

<file path=ppt/charts/_rels/chart141.xml.rels><?xml version="1.0" encoding="UTF-8" standalone="yes"?>
<Relationships xmlns="http://schemas.openxmlformats.org/package/2006/relationships"><Relationship Id="rId3" Type="http://schemas.openxmlformats.org/officeDocument/2006/relationships/oleObject" Target="https://oncologicoinos-my.sharepoint.com/personal/dirmedico_inoos_com_co/Documents/ALEJANDRA/JUNTA/13.%20Junta%20Enero%202026/BD%20pacientes%20Inoos%20Diciembre%202025.xlsx" TargetMode="External"/><Relationship Id="rId2" Type="http://schemas.microsoft.com/office/2011/relationships/chartColorStyle" Target="colors141.xml"/><Relationship Id="rId1" Type="http://schemas.microsoft.com/office/2011/relationships/chartStyle" Target="style141.xml"/></Relationships>
</file>

<file path=ppt/charts/_rels/chart142.xml.rels><?xml version="1.0" encoding="UTF-8" standalone="yes"?>
<Relationships xmlns="http://schemas.openxmlformats.org/package/2006/relationships"><Relationship Id="rId3" Type="http://schemas.openxmlformats.org/officeDocument/2006/relationships/oleObject" Target="https://oncologicoinos-my.sharepoint.com/personal/dirmedico_inoos_com_co/Documents/ALEJANDRA/JUNTA/20.%20Junta%20Agosto%202026/BD%20pacientes%20Inoos%20julio%202026%20.xlsx" TargetMode="External"/><Relationship Id="rId2" Type="http://schemas.microsoft.com/office/2011/relationships/chartColorStyle" Target="colors142.xml"/><Relationship Id="rId1" Type="http://schemas.microsoft.com/office/2011/relationships/chartStyle" Target="style142.xml"/></Relationships>
</file>

<file path=ppt/charts/_rels/chart143.xml.rels><?xml version="1.0" encoding="UTF-8" standalone="yes"?>
<Relationships xmlns="http://schemas.openxmlformats.org/package/2006/relationships"><Relationship Id="rId3" Type="http://schemas.openxmlformats.org/officeDocument/2006/relationships/package" Target="../embeddings/Microsoft_Excel_Worksheet_A8E_6350B39A.xlsx"/><Relationship Id="rId2" Type="http://schemas.microsoft.com/office/2011/relationships/chartColorStyle" Target="colors143.xml"/><Relationship Id="rId1" Type="http://schemas.microsoft.com/office/2011/relationships/chartStyle" Target="style143.xml"/></Relationships>
</file>

<file path=ppt/charts/_rels/chart144.xml.rels><?xml version="1.0" encoding="UTF-8" standalone="yes"?>
<Relationships xmlns="http://schemas.openxmlformats.org/package/2006/relationships"><Relationship Id="rId3" Type="http://schemas.openxmlformats.org/officeDocument/2006/relationships/package" Target="../embeddings/Microsoft_Excel_Worksheet_B0D_C932F64D.xlsx"/><Relationship Id="rId2" Type="http://schemas.microsoft.com/office/2011/relationships/chartColorStyle" Target="colors144.xml"/><Relationship Id="rId1" Type="http://schemas.microsoft.com/office/2011/relationships/chartStyle" Target="style144.xml"/></Relationships>
</file>

<file path=ppt/charts/_rels/chart145.xml.rels><?xml version="1.0" encoding="UTF-8" standalone="yes"?>
<Relationships xmlns="http://schemas.openxmlformats.org/package/2006/relationships"><Relationship Id="rId3" Type="http://schemas.openxmlformats.org/officeDocument/2006/relationships/package" Target="../embeddings/Microsoft_Excel_Worksheet_B0D_C932F64D44.xlsx"/><Relationship Id="rId2" Type="http://schemas.microsoft.com/office/2011/relationships/chartColorStyle" Target="colors145.xml"/><Relationship Id="rId1" Type="http://schemas.microsoft.com/office/2011/relationships/chartStyle" Target="style145.xml"/></Relationships>
</file>

<file path=ppt/charts/_rels/chart146.xml.rels><?xml version="1.0" encoding="UTF-8" standalone="yes"?>
<Relationships xmlns="http://schemas.openxmlformats.org/package/2006/relationships"><Relationship Id="rId3" Type="http://schemas.openxmlformats.org/officeDocument/2006/relationships/package" Target="../embeddings/Microsoft_Excel_Worksheet_B0D_C932F64D45.xlsx"/><Relationship Id="rId2" Type="http://schemas.microsoft.com/office/2011/relationships/chartColorStyle" Target="colors146.xml"/><Relationship Id="rId1" Type="http://schemas.microsoft.com/office/2011/relationships/chartStyle" Target="style146.xml"/></Relationships>
</file>

<file path=ppt/charts/_rels/chart147.xml.rels><?xml version="1.0" encoding="UTF-8" standalone="yes"?>
<Relationships xmlns="http://schemas.openxmlformats.org/package/2006/relationships"><Relationship Id="rId3" Type="http://schemas.openxmlformats.org/officeDocument/2006/relationships/package" Target="../embeddings/Microsoft_Excel_Worksheet_B0D_C932F64D46.xlsx"/><Relationship Id="rId2" Type="http://schemas.microsoft.com/office/2011/relationships/chartColorStyle" Target="colors147.xml"/><Relationship Id="rId1" Type="http://schemas.microsoft.com/office/2011/relationships/chartStyle" Target="style147.xml"/></Relationships>
</file>

<file path=ppt/charts/_rels/chart148.xml.rels><?xml version="1.0" encoding="UTF-8" standalone="yes"?>
<Relationships xmlns="http://schemas.openxmlformats.org/package/2006/relationships"><Relationship Id="rId3" Type="http://schemas.openxmlformats.org/officeDocument/2006/relationships/package" Target="../embeddings/Microsoft_Excel_Worksheet_B0E_628F87AC.xlsx"/><Relationship Id="rId2" Type="http://schemas.microsoft.com/office/2011/relationships/chartColorStyle" Target="colors148.xml"/><Relationship Id="rId1" Type="http://schemas.microsoft.com/office/2011/relationships/chartStyle" Target="style148.xml"/></Relationships>
</file>

<file path=ppt/charts/_rels/chart149.xml.rels><?xml version="1.0" encoding="UTF-8" standalone="yes"?>
<Relationships xmlns="http://schemas.openxmlformats.org/package/2006/relationships"><Relationship Id="rId3" Type="http://schemas.openxmlformats.org/officeDocument/2006/relationships/package" Target="../embeddings/Microsoft_Excel_Worksheet_B0E_628F87AC47.xlsx"/><Relationship Id="rId2" Type="http://schemas.microsoft.com/office/2011/relationships/chartColorStyle" Target="colors149.xml"/><Relationship Id="rId1" Type="http://schemas.microsoft.com/office/2011/relationships/chartStyle" Target="style149.xml"/></Relationships>
</file>

<file path=ppt/charts/_rels/chart150.xml.rels><?xml version="1.0" encoding="UTF-8" standalone="yes"?>
<Relationships xmlns="http://schemas.openxmlformats.org/package/2006/relationships"><Relationship Id="rId3" Type="http://schemas.openxmlformats.org/officeDocument/2006/relationships/oleObject" Target="https://oncologicoinos-my.sharepoint.com/personal/liderexperienciadelusuario_valle_inoos_com_co/Documents/EXPERIENCIA%202025/Satisfacci&#243;n/Satisfacci&#243;n%202026/Consolidado%20Asegurador.xlsx" TargetMode="External"/><Relationship Id="rId2" Type="http://schemas.microsoft.com/office/2011/relationships/chartColorStyle" Target="colors150.xml"/><Relationship Id="rId1" Type="http://schemas.microsoft.com/office/2011/relationships/chartStyle" Target="style150.xml"/></Relationships>
</file>

<file path=ppt/charts/_rels/chart151.xml.rels><?xml version="1.0" encoding="UTF-8" standalone="yes"?>
<Relationships xmlns="http://schemas.openxmlformats.org/package/2006/relationships"><Relationship Id="rId3" Type="http://schemas.openxmlformats.org/officeDocument/2006/relationships/oleObject" Target="https://oncologicoinos-my.sharepoint.com/personal/liderexperienciadelusuario_valle_inoos_com_co/Documents/EXPERIENCIA%202025/Satisfacci&#243;n/Satisfacci&#243;n%202026/Consolidado%20Asegurador.xlsx" TargetMode="External"/><Relationship Id="rId2" Type="http://schemas.microsoft.com/office/2011/relationships/chartColorStyle" Target="colors151.xml"/><Relationship Id="rId1" Type="http://schemas.microsoft.com/office/2011/relationships/chartStyle" Target="style151.xml"/></Relationships>
</file>

<file path=ppt/charts/_rels/chart152.xml.rels><?xml version="1.0" encoding="UTF-8" standalone="yes"?>
<Relationships xmlns="http://schemas.openxmlformats.org/package/2006/relationships"><Relationship Id="rId3" Type="http://schemas.openxmlformats.org/officeDocument/2006/relationships/oleObject" Target="https://oncologicoinos-my.sharepoint.com/personal/liderexperienciadelusuario_valle_inoos_com_co/Documents/EXPERIENCIA%202025/Satisfacci&#243;n/Satisfacci&#243;n%202026/Consolidado%20Asegurador.xlsx" TargetMode="External"/><Relationship Id="rId2" Type="http://schemas.microsoft.com/office/2011/relationships/chartColorStyle" Target="colors152.xml"/><Relationship Id="rId1" Type="http://schemas.microsoft.com/office/2011/relationships/chartStyle" Target="style152.xml"/></Relationships>
</file>

<file path=ppt/charts/_rels/chart153.xml.rels><?xml version="1.0" encoding="UTF-8" standalone="yes"?>
<Relationships xmlns="http://schemas.openxmlformats.org/package/2006/relationships"><Relationship Id="rId3" Type="http://schemas.openxmlformats.org/officeDocument/2006/relationships/oleObject" Target="https://oncologicoinos-my.sharepoint.com/personal/liderexperienciadelusuario_valle_inoos_com_co/Documents/EXPERIENCIA%202025/Satisfacci&#243;n/Satisfacci&#243;n%202026/Consolidado%20Asegurador.xlsx" TargetMode="External"/><Relationship Id="rId2" Type="http://schemas.microsoft.com/office/2011/relationships/chartColorStyle" Target="colors153.xml"/><Relationship Id="rId1" Type="http://schemas.microsoft.com/office/2011/relationships/chartStyle" Target="style153.xml"/></Relationships>
</file>

<file path=ppt/charts/_rels/chart154.xml.rels><?xml version="1.0" encoding="UTF-8" standalone="yes"?>
<Relationships xmlns="http://schemas.openxmlformats.org/package/2006/relationships"><Relationship Id="rId3" Type="http://schemas.openxmlformats.org/officeDocument/2006/relationships/oleObject" Target="https://oncologicoinos-my.sharepoint.com/personal/liderexperienciadelusuario_valle_inoos_com_co/Documents/EXPERIENCIA%202025/Satisfacci&#243;n/Satisfacci&#243;n%202026/Consolidado%20Asegurador.xlsx" TargetMode="External"/><Relationship Id="rId2" Type="http://schemas.microsoft.com/office/2011/relationships/chartColorStyle" Target="colors154.xml"/><Relationship Id="rId1" Type="http://schemas.microsoft.com/office/2011/relationships/chartStyle" Target="style154.xml"/></Relationships>
</file>

<file path=ppt/charts/_rels/chart155.xml.rels><?xml version="1.0" encoding="UTF-8" standalone="yes"?>
<Relationships xmlns="http://schemas.openxmlformats.org/package/2006/relationships"><Relationship Id="rId3" Type="http://schemas.openxmlformats.org/officeDocument/2006/relationships/oleObject" Target="https://oncologicoinos-my.sharepoint.com/personal/liderexperienciadelusuario_valle_inoos_com_co/Documents/EXPERIENCIA%202025/Manifestaciones/RELACI&#211;N%20PQR%202026.xlsx" TargetMode="External"/><Relationship Id="rId2" Type="http://schemas.microsoft.com/office/2011/relationships/chartColorStyle" Target="colors155.xml"/><Relationship Id="rId1" Type="http://schemas.microsoft.com/office/2011/relationships/chartStyle" Target="style155.xml"/></Relationships>
</file>

<file path=ppt/charts/_rels/chart156.xml.rels><?xml version="1.0" encoding="UTF-8" standalone="yes"?>
<Relationships xmlns="http://schemas.openxmlformats.org/package/2006/relationships"><Relationship Id="rId3" Type="http://schemas.openxmlformats.org/officeDocument/2006/relationships/themeOverride" Target="../theme/themeOverride25.xml"/><Relationship Id="rId2" Type="http://schemas.microsoft.com/office/2011/relationships/chartColorStyle" Target="colors156.xml"/><Relationship Id="rId1" Type="http://schemas.microsoft.com/office/2011/relationships/chartStyle" Target="style156.xml"/><Relationship Id="rId4" Type="http://schemas.openxmlformats.org/officeDocument/2006/relationships/package" Target="../embeddings/Microsoft_Excel_Worksheet_B7B_5D3317D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1" i="0" u="none" strike="noStrike" kern="1200" spc="0" baseline="0">
                <a:solidFill>
                  <a:schemeClr val="tx1">
                    <a:lumMod val="65000"/>
                    <a:lumOff val="35000"/>
                  </a:schemeClr>
                </a:solidFill>
                <a:latin typeface="+mn-lt"/>
                <a:ea typeface="+mn-ea"/>
                <a:cs typeface="+mn-cs"/>
              </a:defRPr>
            </a:pPr>
            <a:r>
              <a:rPr lang="es-CO" b="1" noProof="0"/>
              <a:t>Ingresos mensuales </a:t>
            </a:r>
            <a:r>
              <a:rPr lang="es-CO" b="1" baseline="0" noProof="0"/>
              <a:t>año 2024/2026 </a:t>
            </a:r>
            <a:endParaRPr lang="es-CO" b="1" noProof="0"/>
          </a:p>
        </c:rich>
      </c:tx>
      <c:overlay val="0"/>
      <c:spPr>
        <a:noFill/>
        <a:ln>
          <a:noFill/>
        </a:ln>
        <a:effectLst/>
      </c:spPr>
      <c:txPr>
        <a:bodyPr rot="0" spcFirstLastPara="1" vertOverflow="ellipsis" vert="horz" wrap="square" anchor="ctr" anchorCtr="1"/>
        <a:lstStyle/>
        <a:p>
          <a:pPr>
            <a:defRPr sz="1862" b="1"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manualLayout>
          <c:layoutTarget val="inner"/>
          <c:xMode val="edge"/>
          <c:yMode val="edge"/>
          <c:x val="4.6518793513743363E-2"/>
          <c:y val="0.10914192482677793"/>
          <c:w val="0.89456604600109657"/>
          <c:h val="0.69806731511378073"/>
        </c:manualLayout>
      </c:layout>
      <c:barChart>
        <c:barDir val="col"/>
        <c:grouping val="clustered"/>
        <c:varyColors val="0"/>
        <c:ser>
          <c:idx val="0"/>
          <c:order val="0"/>
          <c:tx>
            <c:strRef>
              <c:f>Hoja1!$B$1</c:f>
              <c:strCache>
                <c:ptCount val="1"/>
                <c:pt idx="0">
                  <c:v>2024</c:v>
                </c:pt>
              </c:strCache>
            </c:strRef>
          </c:tx>
          <c:spPr>
            <a:solidFill>
              <a:schemeClr val="accent1"/>
            </a:solidFill>
            <a:ln>
              <a:noFill/>
            </a:ln>
            <a:effectLst/>
          </c:spPr>
          <c:invertIfNegative val="0"/>
          <c:dLbls>
            <c:delete val="1"/>
          </c:dLbls>
          <c:cat>
            <c:strRef>
              <c:f>Hoja1!$A$2:$A$13</c:f>
              <c:strCache>
                <c:ptCount val="12"/>
                <c:pt idx="0">
                  <c:v>Enero</c:v>
                </c:pt>
                <c:pt idx="1">
                  <c:v>Febrero</c:v>
                </c:pt>
                <c:pt idx="2">
                  <c:v>Marzo</c:v>
                </c:pt>
                <c:pt idx="3">
                  <c:v>Abril</c:v>
                </c:pt>
                <c:pt idx="4">
                  <c:v>Mayo</c:v>
                </c:pt>
                <c:pt idx="5">
                  <c:v>Junio</c:v>
                </c:pt>
                <c:pt idx="6">
                  <c:v>Julio</c:v>
                </c:pt>
                <c:pt idx="7">
                  <c:v>Agosto</c:v>
                </c:pt>
                <c:pt idx="8">
                  <c:v>Septiembre</c:v>
                </c:pt>
                <c:pt idx="9">
                  <c:v>Octubre</c:v>
                </c:pt>
                <c:pt idx="10">
                  <c:v>Noviembre</c:v>
                </c:pt>
                <c:pt idx="11">
                  <c:v>Diciembre</c:v>
                </c:pt>
              </c:strCache>
            </c:strRef>
          </c:cat>
          <c:val>
            <c:numRef>
              <c:f>Hoja1!$B$2:$B$13</c:f>
              <c:numCache>
                <c:formatCode>General</c:formatCode>
                <c:ptCount val="12"/>
                <c:pt idx="0">
                  <c:v>179</c:v>
                </c:pt>
                <c:pt idx="1">
                  <c:v>609</c:v>
                </c:pt>
                <c:pt idx="2">
                  <c:v>160</c:v>
                </c:pt>
                <c:pt idx="3">
                  <c:v>220</c:v>
                </c:pt>
                <c:pt idx="4">
                  <c:v>212</c:v>
                </c:pt>
                <c:pt idx="5">
                  <c:v>151</c:v>
                </c:pt>
                <c:pt idx="6">
                  <c:v>124</c:v>
                </c:pt>
                <c:pt idx="7">
                  <c:v>267</c:v>
                </c:pt>
                <c:pt idx="8">
                  <c:v>146</c:v>
                </c:pt>
                <c:pt idx="9">
                  <c:v>101</c:v>
                </c:pt>
                <c:pt idx="10">
                  <c:v>151</c:v>
                </c:pt>
                <c:pt idx="11">
                  <c:v>209</c:v>
                </c:pt>
              </c:numCache>
            </c:numRef>
          </c:val>
          <c:extLst>
            <c:ext xmlns:c16="http://schemas.microsoft.com/office/drawing/2014/chart" uri="{C3380CC4-5D6E-409C-BE32-E72D297353CC}">
              <c16:uniqueId val="{00000000-7AF9-4201-83AA-DE1DB9EBAA5C}"/>
            </c:ext>
          </c:extLst>
        </c:ser>
        <c:ser>
          <c:idx val="1"/>
          <c:order val="1"/>
          <c:tx>
            <c:strRef>
              <c:f>Hoja1!$C$1</c:f>
              <c:strCache>
                <c:ptCount val="1"/>
                <c:pt idx="0">
                  <c:v>2025</c:v>
                </c:pt>
              </c:strCache>
            </c:strRef>
          </c:tx>
          <c:spPr>
            <a:solidFill>
              <a:srgbClr val="00A19C"/>
            </a:solidFill>
            <a:ln>
              <a:noFill/>
            </a:ln>
            <a:effectLst/>
          </c:spPr>
          <c:invertIfNegative val="0"/>
          <c:dLbls>
            <c:delete val="1"/>
          </c:dLbls>
          <c:cat>
            <c:strRef>
              <c:f>Hoja1!$A$2:$A$13</c:f>
              <c:strCache>
                <c:ptCount val="12"/>
                <c:pt idx="0">
                  <c:v>Enero</c:v>
                </c:pt>
                <c:pt idx="1">
                  <c:v>Febrero</c:v>
                </c:pt>
                <c:pt idx="2">
                  <c:v>Marzo</c:v>
                </c:pt>
                <c:pt idx="3">
                  <c:v>Abril</c:v>
                </c:pt>
                <c:pt idx="4">
                  <c:v>Mayo</c:v>
                </c:pt>
                <c:pt idx="5">
                  <c:v>Junio</c:v>
                </c:pt>
                <c:pt idx="6">
                  <c:v>Julio</c:v>
                </c:pt>
                <c:pt idx="7">
                  <c:v>Agosto</c:v>
                </c:pt>
                <c:pt idx="8">
                  <c:v>Septiembre</c:v>
                </c:pt>
                <c:pt idx="9">
                  <c:v>Octubre</c:v>
                </c:pt>
                <c:pt idx="10">
                  <c:v>Noviembre</c:v>
                </c:pt>
                <c:pt idx="11">
                  <c:v>Diciembre</c:v>
                </c:pt>
              </c:strCache>
            </c:strRef>
          </c:cat>
          <c:val>
            <c:numRef>
              <c:f>Hoja1!$C$2:$C$13</c:f>
              <c:numCache>
                <c:formatCode>General</c:formatCode>
                <c:ptCount val="12"/>
                <c:pt idx="0">
                  <c:v>113</c:v>
                </c:pt>
                <c:pt idx="1">
                  <c:v>146</c:v>
                </c:pt>
                <c:pt idx="2">
                  <c:v>116</c:v>
                </c:pt>
                <c:pt idx="3">
                  <c:v>108</c:v>
                </c:pt>
                <c:pt idx="4">
                  <c:v>96</c:v>
                </c:pt>
                <c:pt idx="5">
                  <c:v>83</c:v>
                </c:pt>
                <c:pt idx="6">
                  <c:v>97</c:v>
                </c:pt>
                <c:pt idx="7">
                  <c:v>118</c:v>
                </c:pt>
                <c:pt idx="8">
                  <c:v>140</c:v>
                </c:pt>
                <c:pt idx="9">
                  <c:v>3655</c:v>
                </c:pt>
                <c:pt idx="10">
                  <c:v>761</c:v>
                </c:pt>
                <c:pt idx="11">
                  <c:v>197</c:v>
                </c:pt>
              </c:numCache>
            </c:numRef>
          </c:val>
          <c:extLst>
            <c:ext xmlns:c16="http://schemas.microsoft.com/office/drawing/2014/chart" uri="{C3380CC4-5D6E-409C-BE32-E72D297353CC}">
              <c16:uniqueId val="{00000001-7AF9-4201-83AA-DE1DB9EBAA5C}"/>
            </c:ext>
          </c:extLst>
        </c:ser>
        <c:ser>
          <c:idx val="2"/>
          <c:order val="2"/>
          <c:tx>
            <c:strRef>
              <c:f>Hoja1!$D$1</c:f>
              <c:strCache>
                <c:ptCount val="1"/>
                <c:pt idx="0">
                  <c:v>2026</c:v>
                </c:pt>
              </c:strCache>
            </c:strRef>
          </c:tx>
          <c:spPr>
            <a:solidFill>
              <a:schemeClr val="bg1">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accent5">
                        <a:lumMod val="50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Enero</c:v>
                </c:pt>
                <c:pt idx="1">
                  <c:v>Febrero</c:v>
                </c:pt>
                <c:pt idx="2">
                  <c:v>Marzo</c:v>
                </c:pt>
                <c:pt idx="3">
                  <c:v>Abril</c:v>
                </c:pt>
                <c:pt idx="4">
                  <c:v>Mayo</c:v>
                </c:pt>
                <c:pt idx="5">
                  <c:v>Junio</c:v>
                </c:pt>
                <c:pt idx="6">
                  <c:v>Julio</c:v>
                </c:pt>
                <c:pt idx="7">
                  <c:v>Agosto</c:v>
                </c:pt>
                <c:pt idx="8">
                  <c:v>Septiembre</c:v>
                </c:pt>
                <c:pt idx="9">
                  <c:v>Octubre</c:v>
                </c:pt>
                <c:pt idx="10">
                  <c:v>Noviembre</c:v>
                </c:pt>
                <c:pt idx="11">
                  <c:v>Diciembre</c:v>
                </c:pt>
              </c:strCache>
            </c:strRef>
          </c:cat>
          <c:val>
            <c:numRef>
              <c:f>Hoja1!$D$2:$D$13</c:f>
              <c:numCache>
                <c:formatCode>0</c:formatCode>
                <c:ptCount val="12"/>
                <c:pt idx="0">
                  <c:v>126</c:v>
                </c:pt>
                <c:pt idx="1">
                  <c:v>185</c:v>
                </c:pt>
                <c:pt idx="2">
                  <c:v>165</c:v>
                </c:pt>
                <c:pt idx="3">
                  <c:v>165</c:v>
                </c:pt>
                <c:pt idx="4">
                  <c:v>188</c:v>
                </c:pt>
                <c:pt idx="5">
                  <c:v>158</c:v>
                </c:pt>
                <c:pt idx="6">
                  <c:v>153</c:v>
                </c:pt>
                <c:pt idx="7">
                  <c:v>108</c:v>
                </c:pt>
                <c:pt idx="8">
                  <c:v>101</c:v>
                </c:pt>
              </c:numCache>
            </c:numRef>
          </c:val>
          <c:extLst>
            <c:ext xmlns:c16="http://schemas.microsoft.com/office/drawing/2014/chart" uri="{C3380CC4-5D6E-409C-BE32-E72D297353CC}">
              <c16:uniqueId val="{00000000-C57A-4628-A307-B70A4F93E9EE}"/>
            </c:ext>
          </c:extLst>
        </c:ser>
        <c:dLbls>
          <c:showLegendKey val="0"/>
          <c:showVal val="1"/>
          <c:showCatName val="0"/>
          <c:showSerName val="0"/>
          <c:showPercent val="0"/>
          <c:showBubbleSize val="0"/>
        </c:dLbls>
        <c:gapWidth val="90"/>
        <c:overlap val="-5"/>
        <c:axId val="767574176"/>
        <c:axId val="767575616"/>
      </c:barChart>
      <c:catAx>
        <c:axId val="7675741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s-CO"/>
          </a:p>
        </c:txPr>
        <c:crossAx val="767575616"/>
        <c:crosses val="autoZero"/>
        <c:auto val="1"/>
        <c:lblAlgn val="ctr"/>
        <c:lblOffset val="100"/>
        <c:noMultiLvlLbl val="0"/>
      </c:catAx>
      <c:valAx>
        <c:axId val="76757561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1" i="0" u="none" strike="noStrike" kern="1200" baseline="0">
                    <a:solidFill>
                      <a:srgbClr val="6B6B6B"/>
                    </a:solidFill>
                    <a:latin typeface="+mn-lt"/>
                    <a:ea typeface="+mn-ea"/>
                    <a:cs typeface="+mn-cs"/>
                  </a:defRPr>
                </a:pPr>
                <a:r>
                  <a:rPr lang="es-CO" b="1" noProof="0" err="1">
                    <a:solidFill>
                      <a:srgbClr val="6B6B6B"/>
                    </a:solidFill>
                  </a:rPr>
                  <a:t>N°</a:t>
                </a:r>
                <a:r>
                  <a:rPr lang="es-CO" b="1" baseline="0" noProof="0">
                    <a:solidFill>
                      <a:srgbClr val="6B6B6B"/>
                    </a:solidFill>
                  </a:rPr>
                  <a:t> pacientes x mes</a:t>
                </a:r>
                <a:endParaRPr lang="es-CO" b="1" noProof="0">
                  <a:solidFill>
                    <a:srgbClr val="6B6B6B"/>
                  </a:solidFill>
                </a:endParaRPr>
              </a:p>
            </c:rich>
          </c:tx>
          <c:overlay val="0"/>
          <c:spPr>
            <a:noFill/>
            <a:ln>
              <a:noFill/>
            </a:ln>
            <a:effectLst/>
          </c:spPr>
          <c:txPr>
            <a:bodyPr rot="-5400000" spcFirstLastPara="1" vertOverflow="ellipsis" vert="horz" wrap="square" anchor="ctr" anchorCtr="1"/>
            <a:lstStyle/>
            <a:p>
              <a:pPr>
                <a:defRPr sz="1330" b="1" i="0" u="none" strike="noStrike" kern="1200" baseline="0">
                  <a:solidFill>
                    <a:srgbClr val="6B6B6B"/>
                  </a:solidFill>
                  <a:latin typeface="+mn-lt"/>
                  <a:ea typeface="+mn-ea"/>
                  <a:cs typeface="+mn-cs"/>
                </a:defRPr>
              </a:pPr>
              <a:endParaRPr lang="es-CO"/>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s-CO"/>
          </a:p>
        </c:txPr>
        <c:crossAx val="767574176"/>
        <c:crosses val="autoZero"/>
        <c:crossBetween val="between"/>
      </c:valAx>
      <c:spPr>
        <a:noFill/>
        <a:ln>
          <a:noFill/>
        </a:ln>
        <a:effectLst/>
      </c:spPr>
    </c:plotArea>
    <c:legend>
      <c:legendPos val="b"/>
      <c:legendEntry>
        <c:idx val="1"/>
        <c:txPr>
          <a:bodyPr rot="0" spcFirstLastPara="1" vertOverflow="ellipsis" vert="horz" wrap="square" anchor="ctr" anchorCtr="1"/>
          <a:lstStyle/>
          <a:p>
            <a:pPr>
              <a:defRPr sz="1197" b="0" i="0" u="none" strike="noStrike" kern="1200" baseline="0">
                <a:solidFill>
                  <a:srgbClr val="00A19C"/>
                </a:solidFill>
                <a:latin typeface="+mn-lt"/>
                <a:ea typeface="+mn-ea"/>
                <a:cs typeface="+mn-cs"/>
              </a:defRPr>
            </a:pPr>
            <a:endParaRPr lang="es-CO"/>
          </a:p>
        </c:txPr>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s-CO"/>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dk1"/>
                </a:solidFill>
                <a:latin typeface="+mn-lt"/>
                <a:ea typeface="+mn-ea"/>
                <a:cs typeface="+mn-cs"/>
              </a:defRPr>
            </a:pPr>
            <a:r>
              <a:rPr lang="es-CO" noProof="0"/>
              <a:t>Incidencia</a:t>
            </a:r>
            <a:r>
              <a:rPr lang="es-CO" baseline="0" noProof="0"/>
              <a:t> INOOS año 2025/ 2026</a:t>
            </a:r>
            <a:endParaRPr lang="es-CO" noProof="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dk1"/>
              </a:solidFill>
              <a:latin typeface="+mn-lt"/>
              <a:ea typeface="+mn-ea"/>
              <a:cs typeface="+mn-cs"/>
            </a:defRPr>
          </a:pPr>
          <a:endParaRPr lang="es-CO"/>
        </a:p>
      </c:txPr>
    </c:title>
    <c:autoTitleDeleted val="0"/>
    <c:plotArea>
      <c:layout/>
      <c:barChart>
        <c:barDir val="col"/>
        <c:grouping val="clustered"/>
        <c:varyColors val="0"/>
        <c:ser>
          <c:idx val="0"/>
          <c:order val="0"/>
          <c:tx>
            <c:strRef>
              <c:f>Hoja1!$D$1</c:f>
              <c:strCache>
                <c:ptCount val="1"/>
                <c:pt idx="0">
                  <c:v>2025</c:v>
                </c:pt>
              </c:strCache>
            </c:strRef>
          </c:tx>
          <c:spPr>
            <a:solidFill>
              <a:srgbClr val="00A19C"/>
            </a:solidFill>
            <a:ln>
              <a:solidFill>
                <a:srgbClr val="00A19C"/>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mn-lt"/>
                    <a:ea typeface="+mn-ea"/>
                    <a:cs typeface="+mn-cs"/>
                  </a:defRPr>
                </a:pPr>
                <a:endParaRPr lang="es-CO"/>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Enero</c:v>
                </c:pt>
                <c:pt idx="1">
                  <c:v>Febrero</c:v>
                </c:pt>
                <c:pt idx="2">
                  <c:v>Marzo</c:v>
                </c:pt>
                <c:pt idx="3">
                  <c:v>Abril</c:v>
                </c:pt>
                <c:pt idx="4">
                  <c:v>Mayo</c:v>
                </c:pt>
                <c:pt idx="5">
                  <c:v>Junio</c:v>
                </c:pt>
                <c:pt idx="6">
                  <c:v>Julio</c:v>
                </c:pt>
                <c:pt idx="7">
                  <c:v>Agosto</c:v>
                </c:pt>
                <c:pt idx="8">
                  <c:v>Septiembre</c:v>
                </c:pt>
                <c:pt idx="9">
                  <c:v>Octubre</c:v>
                </c:pt>
                <c:pt idx="10">
                  <c:v>Noviembre</c:v>
                </c:pt>
                <c:pt idx="11">
                  <c:v>Diciembre</c:v>
                </c:pt>
              </c:strCache>
            </c:strRef>
          </c:cat>
          <c:val>
            <c:numRef>
              <c:f>Hoja1!$D$2:$D$13</c:f>
              <c:numCache>
                <c:formatCode>General</c:formatCode>
                <c:ptCount val="12"/>
                <c:pt idx="0">
                  <c:v>104</c:v>
                </c:pt>
                <c:pt idx="1">
                  <c:v>146</c:v>
                </c:pt>
                <c:pt idx="2">
                  <c:v>116</c:v>
                </c:pt>
                <c:pt idx="3">
                  <c:v>105</c:v>
                </c:pt>
                <c:pt idx="4">
                  <c:v>96</c:v>
                </c:pt>
                <c:pt idx="5">
                  <c:v>83</c:v>
                </c:pt>
                <c:pt idx="6">
                  <c:v>97</c:v>
                </c:pt>
                <c:pt idx="7">
                  <c:v>88</c:v>
                </c:pt>
                <c:pt idx="8">
                  <c:v>140</c:v>
                </c:pt>
                <c:pt idx="9">
                  <c:v>119</c:v>
                </c:pt>
                <c:pt idx="10">
                  <c:v>111</c:v>
                </c:pt>
                <c:pt idx="11">
                  <c:v>46</c:v>
                </c:pt>
              </c:numCache>
            </c:numRef>
          </c:val>
          <c:extLst>
            <c:ext xmlns:c16="http://schemas.microsoft.com/office/drawing/2014/chart" uri="{C3380CC4-5D6E-409C-BE32-E72D297353CC}">
              <c16:uniqueId val="{00000000-6876-44CC-AC79-E3EB25F4BA05}"/>
            </c:ext>
          </c:extLst>
        </c:ser>
        <c:ser>
          <c:idx val="2"/>
          <c:order val="2"/>
          <c:tx>
            <c:strRef>
              <c:f>Hoja1!$F$1</c:f>
              <c:strCache>
                <c:ptCount val="1"/>
                <c:pt idx="0">
                  <c:v>2026</c:v>
                </c:pt>
              </c:strCache>
            </c:strRef>
          </c:tx>
          <c:spPr>
            <a:solidFill>
              <a:schemeClr val="tx1"/>
            </a:solidFill>
            <a:ln>
              <a:noFill/>
            </a:ln>
            <a:effectLst/>
          </c:spPr>
          <c:invertIfNegative val="0"/>
          <c:dLbls>
            <c:dLbl>
              <c:idx val="2"/>
              <c:layout>
                <c:manualLayout>
                  <c:x val="-1.1272155999538464E-3"/>
                  <c:y val="8.7658600809979281E-2"/>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s-CO"/>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0E4-43DF-AA97-DA9EFE1F1E6C}"/>
                </c:ext>
              </c:extLst>
            </c:dLbl>
            <c:dLbl>
              <c:idx val="3"/>
              <c:layout>
                <c:manualLayout>
                  <c:x val="-4.1330761208493994E-17"/>
                  <c:y val="-4.748174210540547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F6E2-4B54-81F2-7FBDECB06C61}"/>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dk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Enero</c:v>
                </c:pt>
                <c:pt idx="1">
                  <c:v>Febrero</c:v>
                </c:pt>
                <c:pt idx="2">
                  <c:v>Marzo</c:v>
                </c:pt>
                <c:pt idx="3">
                  <c:v>Abril</c:v>
                </c:pt>
                <c:pt idx="4">
                  <c:v>Mayo</c:v>
                </c:pt>
                <c:pt idx="5">
                  <c:v>Junio</c:v>
                </c:pt>
                <c:pt idx="6">
                  <c:v>Julio</c:v>
                </c:pt>
                <c:pt idx="7">
                  <c:v>Agosto</c:v>
                </c:pt>
                <c:pt idx="8">
                  <c:v>Septiembre</c:v>
                </c:pt>
                <c:pt idx="9">
                  <c:v>Octubre</c:v>
                </c:pt>
                <c:pt idx="10">
                  <c:v>Noviembre</c:v>
                </c:pt>
                <c:pt idx="11">
                  <c:v>Diciembre</c:v>
                </c:pt>
              </c:strCache>
            </c:strRef>
          </c:cat>
          <c:val>
            <c:numRef>
              <c:f>Hoja1!$F$2:$F$13</c:f>
              <c:numCache>
                <c:formatCode>General</c:formatCode>
                <c:ptCount val="12"/>
                <c:pt idx="0">
                  <c:v>55</c:v>
                </c:pt>
                <c:pt idx="1">
                  <c:v>85</c:v>
                </c:pt>
                <c:pt idx="2">
                  <c:v>110</c:v>
                </c:pt>
                <c:pt idx="3">
                  <c:v>134</c:v>
                </c:pt>
                <c:pt idx="4">
                  <c:v>150</c:v>
                </c:pt>
                <c:pt idx="5">
                  <c:v>123</c:v>
                </c:pt>
                <c:pt idx="6">
                  <c:v>129</c:v>
                </c:pt>
                <c:pt idx="7" formatCode="0">
                  <c:v>90</c:v>
                </c:pt>
                <c:pt idx="8" formatCode="0">
                  <c:v>87</c:v>
                </c:pt>
              </c:numCache>
            </c:numRef>
          </c:val>
          <c:extLst>
            <c:ext xmlns:c16="http://schemas.microsoft.com/office/drawing/2014/chart" uri="{C3380CC4-5D6E-409C-BE32-E72D297353CC}">
              <c16:uniqueId val="{00000001-6F06-4CDF-9B2F-D44917589480}"/>
            </c:ext>
          </c:extLst>
        </c:ser>
        <c:dLbls>
          <c:showLegendKey val="0"/>
          <c:showVal val="0"/>
          <c:showCatName val="0"/>
          <c:showSerName val="0"/>
          <c:showPercent val="0"/>
          <c:showBubbleSize val="0"/>
        </c:dLbls>
        <c:gapWidth val="115"/>
        <c:axId val="1223182928"/>
        <c:axId val="1223185808"/>
      </c:barChart>
      <c:lineChart>
        <c:grouping val="standard"/>
        <c:varyColors val="0"/>
        <c:ser>
          <c:idx val="1"/>
          <c:order val="1"/>
          <c:tx>
            <c:strRef>
              <c:f>Hoja1!$E$1</c:f>
              <c:strCache>
                <c:ptCount val="1"/>
                <c:pt idx="0">
                  <c:v>Tasa 2025</c:v>
                </c:pt>
              </c:strCache>
            </c:strRef>
          </c:tx>
          <c:spPr>
            <a:ln w="28575" cap="rnd">
              <a:solidFill>
                <a:srgbClr val="00A19C"/>
              </a:solidFill>
              <a:round/>
            </a:ln>
            <a:effectLst/>
          </c:spPr>
          <c:marker>
            <c:symbol val="none"/>
          </c:marker>
          <c:dLbls>
            <c:spPr>
              <a:solidFill>
                <a:schemeClr val="lt1"/>
              </a:solidFill>
              <a:ln>
                <a:solidFill>
                  <a:srgbClr val="00A19C"/>
                </a:solidFill>
              </a:ln>
              <a:effectLst/>
            </c:spPr>
            <c:txPr>
              <a:bodyPr rot="0" spcFirstLastPara="1" vertOverflow="clip" horzOverflow="clip" vert="horz" wrap="square" lIns="36576" tIns="18288" rIns="36576" bIns="18288" anchor="ctr" anchorCtr="0">
                <a:spAutoFit/>
              </a:bodyPr>
              <a:lstStyle/>
              <a:p>
                <a:pPr>
                  <a:defRPr sz="1197" b="1" i="0" u="none" strike="noStrike" kern="1200" baseline="0">
                    <a:solidFill>
                      <a:srgbClr val="00A19C"/>
                    </a:solidFill>
                    <a:latin typeface="+mn-lt"/>
                    <a:ea typeface="+mn-ea"/>
                    <a:cs typeface="+mn-cs"/>
                  </a:defRPr>
                </a:pPr>
                <a:endParaRPr lang="es-CO"/>
              </a:p>
            </c:txPr>
            <c:dLblPos val="t"/>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ightArrow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Enero</c:v>
                </c:pt>
                <c:pt idx="1">
                  <c:v>Febrero</c:v>
                </c:pt>
                <c:pt idx="2">
                  <c:v>Marzo</c:v>
                </c:pt>
                <c:pt idx="3">
                  <c:v>Abril</c:v>
                </c:pt>
                <c:pt idx="4">
                  <c:v>Mayo</c:v>
                </c:pt>
                <c:pt idx="5">
                  <c:v>Junio</c:v>
                </c:pt>
                <c:pt idx="6">
                  <c:v>Julio</c:v>
                </c:pt>
                <c:pt idx="7">
                  <c:v>Agosto</c:v>
                </c:pt>
                <c:pt idx="8">
                  <c:v>Septiembre</c:v>
                </c:pt>
                <c:pt idx="9">
                  <c:v>Octubre</c:v>
                </c:pt>
                <c:pt idx="10">
                  <c:v>Noviembre</c:v>
                </c:pt>
                <c:pt idx="11">
                  <c:v>Diciembre</c:v>
                </c:pt>
              </c:strCache>
            </c:strRef>
          </c:cat>
          <c:val>
            <c:numRef>
              <c:f>Hoja1!$E$2:$E$13</c:f>
              <c:numCache>
                <c:formatCode>0.0</c:formatCode>
                <c:ptCount val="12"/>
                <c:pt idx="0">
                  <c:v>38.497273726721176</c:v>
                </c:pt>
                <c:pt idx="1">
                  <c:v>54.044249654820113</c:v>
                </c:pt>
                <c:pt idx="2">
                  <c:v>42.127741480935384</c:v>
                </c:pt>
                <c:pt idx="3">
                  <c:v>38.132869443950128</c:v>
                </c:pt>
                <c:pt idx="4">
                  <c:v>34.864337777325829</c:v>
                </c:pt>
                <c:pt idx="5">
                  <c:v>30.143125369979625</c:v>
                </c:pt>
                <c:pt idx="6">
                  <c:v>35.227507962506309</c:v>
                </c:pt>
                <c:pt idx="7">
                  <c:v>31.958976295882014</c:v>
                </c:pt>
                <c:pt idx="8">
                  <c:v>50.843825925266842</c:v>
                </c:pt>
                <c:pt idx="9">
                  <c:v>20.945283526974531</c:v>
                </c:pt>
                <c:pt idx="10">
                  <c:v>19.537197239446833</c:v>
                </c:pt>
                <c:pt idx="11">
                  <c:v>7.6933883689347669</c:v>
                </c:pt>
              </c:numCache>
            </c:numRef>
          </c:val>
          <c:smooth val="0"/>
          <c:extLst>
            <c:ext xmlns:c16="http://schemas.microsoft.com/office/drawing/2014/chart" uri="{C3380CC4-5D6E-409C-BE32-E72D297353CC}">
              <c16:uniqueId val="{00000001-6876-44CC-AC79-E3EB25F4BA05}"/>
            </c:ext>
          </c:extLst>
        </c:ser>
        <c:ser>
          <c:idx val="3"/>
          <c:order val="3"/>
          <c:tx>
            <c:strRef>
              <c:f>Hoja1!$G$1</c:f>
              <c:strCache>
                <c:ptCount val="1"/>
                <c:pt idx="0">
                  <c:v>Tasa 2026</c:v>
                </c:pt>
              </c:strCache>
            </c:strRef>
          </c:tx>
          <c:spPr>
            <a:ln w="28575" cap="rnd">
              <a:solidFill>
                <a:schemeClr val="accent1"/>
              </a:solidFill>
              <a:round/>
            </a:ln>
            <a:effectLst/>
          </c:spPr>
          <c:marker>
            <c:symbol val="none"/>
          </c:marker>
          <c:dLbls>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1197" b="1" i="0" u="none" strike="noStrike" kern="1200" baseline="0">
                    <a:solidFill>
                      <a:schemeClr val="dk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leftArrowCallout">
                    <a:avLst/>
                  </a:prstGeom>
                  <a:noFill/>
                  <a:ln>
                    <a:noFill/>
                  </a:ln>
                </c15:spPr>
                <c15:showLeaderLines val="1"/>
                <c15:leaderLines>
                  <c:spPr>
                    <a:ln w="9525" cap="flat" cmpd="sng" algn="ctr">
                      <a:solidFill>
                        <a:schemeClr val="accent1"/>
                      </a:solidFill>
                      <a:round/>
                    </a:ln>
                    <a:effectLst/>
                  </c:spPr>
                </c15:leaderLines>
              </c:ext>
            </c:extLst>
          </c:dLbls>
          <c:cat>
            <c:strRef>
              <c:f>Hoja1!$A$2:$A$13</c:f>
              <c:strCache>
                <c:ptCount val="12"/>
                <c:pt idx="0">
                  <c:v>Enero</c:v>
                </c:pt>
                <c:pt idx="1">
                  <c:v>Febrero</c:v>
                </c:pt>
                <c:pt idx="2">
                  <c:v>Marzo</c:v>
                </c:pt>
                <c:pt idx="3">
                  <c:v>Abril</c:v>
                </c:pt>
                <c:pt idx="4">
                  <c:v>Mayo</c:v>
                </c:pt>
                <c:pt idx="5">
                  <c:v>Junio</c:v>
                </c:pt>
                <c:pt idx="6">
                  <c:v>Julio</c:v>
                </c:pt>
                <c:pt idx="7">
                  <c:v>Agosto</c:v>
                </c:pt>
                <c:pt idx="8">
                  <c:v>Septiembre</c:v>
                </c:pt>
                <c:pt idx="9">
                  <c:v>Octubre</c:v>
                </c:pt>
                <c:pt idx="10">
                  <c:v>Noviembre</c:v>
                </c:pt>
                <c:pt idx="11">
                  <c:v>Diciembre</c:v>
                </c:pt>
              </c:strCache>
            </c:strRef>
          </c:cat>
          <c:val>
            <c:numRef>
              <c:f>Hoja1!$G$2:$G$13</c:f>
              <c:numCache>
                <c:formatCode>0.0</c:formatCode>
                <c:ptCount val="12"/>
                <c:pt idx="0">
                  <c:v>9.1986165280741776</c:v>
                </c:pt>
                <c:pt idx="1">
                  <c:v>14.216043725205548</c:v>
                </c:pt>
                <c:pt idx="2">
                  <c:v>18.397233056148355</c:v>
                </c:pt>
                <c:pt idx="3">
                  <c:v>22.411174813853449</c:v>
                </c:pt>
                <c:pt idx="4">
                  <c:v>24.064647268421886</c:v>
                </c:pt>
                <c:pt idx="5">
                  <c:v>19.733010760105948</c:v>
                </c:pt>
                <c:pt idx="6">
                  <c:v>20.695596650842823</c:v>
                </c:pt>
                <c:pt idx="7">
                  <c:v>14.438788361053135</c:v>
                </c:pt>
                <c:pt idx="8">
                  <c:v>13.957495415684695</c:v>
                </c:pt>
              </c:numCache>
            </c:numRef>
          </c:val>
          <c:smooth val="0"/>
          <c:extLst>
            <c:ext xmlns:c16="http://schemas.microsoft.com/office/drawing/2014/chart" uri="{C3380CC4-5D6E-409C-BE32-E72D297353CC}">
              <c16:uniqueId val="{00000002-6F06-4CDF-9B2F-D44917589480}"/>
            </c:ext>
          </c:extLst>
        </c:ser>
        <c:dLbls>
          <c:showLegendKey val="0"/>
          <c:showVal val="0"/>
          <c:showCatName val="0"/>
          <c:showSerName val="0"/>
          <c:showPercent val="0"/>
          <c:showBubbleSize val="0"/>
        </c:dLbls>
        <c:marker val="1"/>
        <c:smooth val="0"/>
        <c:axId val="1343624543"/>
        <c:axId val="1343633663"/>
      </c:lineChart>
      <c:catAx>
        <c:axId val="1223182928"/>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dk1"/>
                    </a:solidFill>
                    <a:latin typeface="+mn-lt"/>
                    <a:ea typeface="+mn-ea"/>
                    <a:cs typeface="+mn-cs"/>
                  </a:defRPr>
                </a:pPr>
                <a:r>
                  <a:rPr lang="es-CO" noProof="0"/>
                  <a:t>Periodo</a:t>
                </a:r>
              </a:p>
            </c:rich>
          </c:tx>
          <c:overlay val="0"/>
          <c:spPr>
            <a:noFill/>
            <a:ln>
              <a:noFill/>
            </a:ln>
            <a:effectLst/>
          </c:spPr>
          <c:txPr>
            <a:bodyPr rot="0" spcFirstLastPara="1" vertOverflow="ellipsis" vert="horz" wrap="square" anchor="ctr" anchorCtr="1"/>
            <a:lstStyle/>
            <a:p>
              <a:pPr>
                <a:defRPr sz="1330" b="0" i="0" u="none" strike="noStrike" kern="1200" baseline="0">
                  <a:solidFill>
                    <a:schemeClr val="dk1"/>
                  </a:solidFill>
                  <a:latin typeface="+mn-lt"/>
                  <a:ea typeface="+mn-ea"/>
                  <a:cs typeface="+mn-cs"/>
                </a:defRPr>
              </a:pPr>
              <a:endParaRPr lang="es-CO"/>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dk1"/>
                </a:solidFill>
                <a:latin typeface="+mn-lt"/>
                <a:ea typeface="+mn-ea"/>
                <a:cs typeface="+mn-cs"/>
              </a:defRPr>
            </a:pPr>
            <a:endParaRPr lang="es-CO"/>
          </a:p>
        </c:txPr>
        <c:crossAx val="1223185808"/>
        <c:crosses val="autoZero"/>
        <c:auto val="1"/>
        <c:lblAlgn val="ctr"/>
        <c:lblOffset val="100"/>
        <c:noMultiLvlLbl val="0"/>
      </c:catAx>
      <c:valAx>
        <c:axId val="122318580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1" i="0" u="none" strike="noStrike" kern="1200" baseline="0">
                    <a:solidFill>
                      <a:schemeClr val="dk1"/>
                    </a:solidFill>
                    <a:latin typeface="+mn-lt"/>
                    <a:ea typeface="+mn-ea"/>
                    <a:cs typeface="+mn-cs"/>
                  </a:defRPr>
                </a:pPr>
                <a:r>
                  <a:rPr lang="es-CO" b="1" noProof="0" err="1"/>
                  <a:t>N°</a:t>
                </a:r>
                <a:r>
                  <a:rPr lang="es-CO" b="1" noProof="0"/>
                  <a:t> total de casos pacientes</a:t>
                </a:r>
              </a:p>
            </c:rich>
          </c:tx>
          <c:layout>
            <c:manualLayout>
              <c:xMode val="edge"/>
              <c:yMode val="edge"/>
              <c:x val="1.4176855391972805E-2"/>
              <c:y val="0.38253205878602387"/>
            </c:manualLayout>
          </c:layout>
          <c:overlay val="0"/>
          <c:spPr>
            <a:noFill/>
            <a:ln>
              <a:noFill/>
            </a:ln>
            <a:effectLst/>
          </c:spPr>
          <c:txPr>
            <a:bodyPr rot="-5400000" spcFirstLastPara="1" vertOverflow="ellipsis" vert="horz" wrap="square" anchor="ctr" anchorCtr="1"/>
            <a:lstStyle/>
            <a:p>
              <a:pPr>
                <a:defRPr sz="1330" b="1" i="0" u="none" strike="noStrike" kern="1200" baseline="0">
                  <a:solidFill>
                    <a:schemeClr val="dk1"/>
                  </a:solidFill>
                  <a:latin typeface="+mn-lt"/>
                  <a:ea typeface="+mn-ea"/>
                  <a:cs typeface="+mn-cs"/>
                </a:defRPr>
              </a:pPr>
              <a:endParaRPr lang="es-CO"/>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solidFill>
                <a:latin typeface="+mn-lt"/>
                <a:ea typeface="+mn-ea"/>
                <a:cs typeface="+mn-cs"/>
              </a:defRPr>
            </a:pPr>
            <a:endParaRPr lang="es-CO"/>
          </a:p>
        </c:txPr>
        <c:crossAx val="1223182928"/>
        <c:crosses val="autoZero"/>
        <c:crossBetween val="between"/>
      </c:valAx>
      <c:valAx>
        <c:axId val="1343633663"/>
        <c:scaling>
          <c:orientation val="minMax"/>
        </c:scaling>
        <c:delete val="0"/>
        <c:axPos val="r"/>
        <c:title>
          <c:tx>
            <c:rich>
              <a:bodyPr rot="-5400000" spcFirstLastPara="1" vertOverflow="ellipsis" vert="horz" wrap="square" anchor="ctr" anchorCtr="1"/>
              <a:lstStyle/>
              <a:p>
                <a:pPr>
                  <a:defRPr sz="1330" b="1" i="0" u="none" strike="noStrike" kern="1200" baseline="0">
                    <a:solidFill>
                      <a:srgbClr val="00A19C"/>
                    </a:solidFill>
                    <a:latin typeface="+mn-lt"/>
                    <a:ea typeface="+mn-ea"/>
                    <a:cs typeface="+mn-cs"/>
                  </a:defRPr>
                </a:pPr>
                <a:r>
                  <a:rPr lang="es-CO" b="1" noProof="0">
                    <a:solidFill>
                      <a:srgbClr val="00A19C"/>
                    </a:solidFill>
                  </a:rPr>
                  <a:t>Tasa x 100.000 usuarios</a:t>
                </a:r>
              </a:p>
            </c:rich>
          </c:tx>
          <c:layout>
            <c:manualLayout>
              <c:xMode val="edge"/>
              <c:yMode val="edge"/>
              <c:x val="0.9687128163995149"/>
              <c:y val="9.8334628483569483E-2"/>
            </c:manualLayout>
          </c:layout>
          <c:overlay val="0"/>
          <c:spPr>
            <a:noFill/>
            <a:ln>
              <a:noFill/>
            </a:ln>
            <a:effectLst/>
          </c:spPr>
          <c:txPr>
            <a:bodyPr rot="-5400000" spcFirstLastPara="1" vertOverflow="ellipsis" vert="horz" wrap="square" anchor="ctr" anchorCtr="1"/>
            <a:lstStyle/>
            <a:p>
              <a:pPr>
                <a:defRPr sz="1330" b="1" i="0" u="none" strike="noStrike" kern="1200" baseline="0">
                  <a:solidFill>
                    <a:srgbClr val="00A19C"/>
                  </a:solidFill>
                  <a:latin typeface="+mn-lt"/>
                  <a:ea typeface="+mn-ea"/>
                  <a:cs typeface="+mn-cs"/>
                </a:defRPr>
              </a:pPr>
              <a:endParaRPr lang="es-CO"/>
            </a:p>
          </c:txPr>
        </c:title>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solidFill>
                <a:latin typeface="+mn-lt"/>
                <a:ea typeface="+mn-ea"/>
                <a:cs typeface="+mn-cs"/>
              </a:defRPr>
            </a:pPr>
            <a:endParaRPr lang="es-CO"/>
          </a:p>
        </c:txPr>
        <c:crossAx val="1343624543"/>
        <c:crosses val="max"/>
        <c:crossBetween val="between"/>
      </c:valAx>
      <c:catAx>
        <c:axId val="1343624543"/>
        <c:scaling>
          <c:orientation val="minMax"/>
        </c:scaling>
        <c:delete val="1"/>
        <c:axPos val="b"/>
        <c:numFmt formatCode="General" sourceLinked="1"/>
        <c:majorTickMark val="out"/>
        <c:minorTickMark val="none"/>
        <c:tickLblPos val="nextTo"/>
        <c:crossAx val="1343633663"/>
        <c:crosses val="autoZero"/>
        <c:auto val="1"/>
        <c:lblAlgn val="ctr"/>
        <c:lblOffset val="100"/>
        <c:noMultiLvlLbl val="0"/>
      </c:catAx>
      <c:spPr>
        <a:noFill/>
        <a:ln>
          <a:noFill/>
        </a:ln>
        <a:effectLst/>
      </c:spPr>
    </c:plotArea>
    <c:legend>
      <c:legendPos val="b"/>
      <c:legendEntry>
        <c:idx val="1"/>
        <c:txPr>
          <a:bodyPr rot="0" spcFirstLastPara="1" vertOverflow="ellipsis" vert="horz" wrap="square" anchor="ctr" anchorCtr="1"/>
          <a:lstStyle/>
          <a:p>
            <a:pPr>
              <a:defRPr sz="1400" b="1" i="0" u="none" strike="noStrike" kern="1200" baseline="0">
                <a:solidFill>
                  <a:srgbClr val="00A19C"/>
                </a:solidFill>
                <a:latin typeface="+mn-lt"/>
                <a:ea typeface="+mn-ea"/>
                <a:cs typeface="+mn-cs"/>
              </a:defRPr>
            </a:pPr>
            <a:endParaRPr lang="es-CO"/>
          </a:p>
        </c:txPr>
      </c:legendEntry>
      <c:legendEntry>
        <c:idx val="3"/>
        <c:txPr>
          <a:bodyPr rot="0" spcFirstLastPara="1" vertOverflow="ellipsis" vert="horz" wrap="square" anchor="ctr" anchorCtr="1"/>
          <a:lstStyle/>
          <a:p>
            <a:pPr>
              <a:defRPr sz="1400" b="1" i="0" u="none" strike="noStrike" kern="1200" baseline="0">
                <a:solidFill>
                  <a:srgbClr val="00A19C"/>
                </a:solidFill>
                <a:latin typeface="+mn-lt"/>
                <a:ea typeface="+mn-ea"/>
                <a:cs typeface="+mn-cs"/>
              </a:defRPr>
            </a:pPr>
            <a:endParaRPr lang="es-CO"/>
          </a:p>
        </c:txPr>
      </c:legendEntry>
      <c:layout>
        <c:manualLayout>
          <c:xMode val="edge"/>
          <c:yMode val="edge"/>
          <c:x val="0.3263799432406731"/>
          <c:y val="0.91567669870802448"/>
          <c:w val="0.36321691355942731"/>
          <c:h val="8.3710225053679393E-2"/>
        </c:manualLayout>
      </c:layout>
      <c:overlay val="0"/>
      <c:spPr>
        <a:noFill/>
        <a:ln>
          <a:noFill/>
        </a:ln>
        <a:effectLst/>
      </c:spPr>
      <c:txPr>
        <a:bodyPr rot="0" spcFirstLastPara="1" vertOverflow="ellipsis" vert="horz" wrap="square" anchor="ctr" anchorCtr="1"/>
        <a:lstStyle/>
        <a:p>
          <a:pPr>
            <a:defRPr sz="1400" b="1" i="0" u="none" strike="noStrike" kern="1200" baseline="0">
              <a:solidFill>
                <a:schemeClr val="dk1"/>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lt1"/>
    </a:solidFill>
    <a:ln w="19050" cap="flat" cmpd="sng" algn="ctr">
      <a:solidFill>
        <a:schemeClr val="accent1"/>
      </a:solidFill>
      <a:prstDash val="solid"/>
      <a:miter lim="800000"/>
    </a:ln>
    <a:effectLst/>
  </c:spPr>
  <c:txPr>
    <a:bodyPr/>
    <a:lstStyle/>
    <a:p>
      <a:pPr>
        <a:defRPr>
          <a:solidFill>
            <a:schemeClr val="dk1"/>
          </a:solidFill>
          <a:latin typeface="+mn-lt"/>
          <a:ea typeface="+mn-ea"/>
          <a:cs typeface="+mn-cs"/>
        </a:defRPr>
      </a:pPr>
      <a:endParaRPr lang="es-CO"/>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s-CO" b="1" noProof="0"/>
              <a:t>Prevalencia</a:t>
            </a:r>
            <a:r>
              <a:rPr lang="es-CO" b="1" baseline="0" noProof="0"/>
              <a:t> año 2025/2026</a:t>
            </a:r>
            <a:endParaRPr lang="es-CO" b="1" noProof="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Hoja1!$D$1</c:f>
              <c:strCache>
                <c:ptCount val="1"/>
                <c:pt idx="0">
                  <c:v>2025</c:v>
                </c:pt>
              </c:strCache>
            </c:strRef>
          </c:tx>
          <c:spPr>
            <a:solidFill>
              <a:schemeClr val="tx1"/>
            </a:solidFill>
            <a:ln>
              <a:noFill/>
            </a:ln>
            <a:effectLst/>
          </c:spPr>
          <c:invertIfNegative val="0"/>
          <c:dLbls>
            <c:spPr>
              <a:noFill/>
              <a:ln>
                <a:noFill/>
              </a:ln>
              <a:effectLst/>
            </c:spPr>
            <c:txPr>
              <a:bodyPr rot="0" spcFirstLastPara="1" vertOverflow="ellipsis" vert="horz" wrap="square" lIns="38100" tIns="19050" rIns="38100" bIns="19050" anchor="b" anchorCtr="0">
                <a:spAutoFit/>
              </a:bodyPr>
              <a:lstStyle/>
              <a:p>
                <a:pPr>
                  <a:defRPr sz="1197" b="1" i="0" u="none" strike="noStrike" kern="1200" baseline="0">
                    <a:solidFill>
                      <a:schemeClr val="tx1"/>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Enero</c:v>
                </c:pt>
                <c:pt idx="1">
                  <c:v>Febrero</c:v>
                </c:pt>
                <c:pt idx="2">
                  <c:v>Marzo</c:v>
                </c:pt>
                <c:pt idx="3">
                  <c:v>Abril</c:v>
                </c:pt>
                <c:pt idx="4">
                  <c:v>Mayo</c:v>
                </c:pt>
                <c:pt idx="5">
                  <c:v>Junio</c:v>
                </c:pt>
                <c:pt idx="6">
                  <c:v>Julio</c:v>
                </c:pt>
                <c:pt idx="7">
                  <c:v>Agosto</c:v>
                </c:pt>
                <c:pt idx="8">
                  <c:v>Septiembre</c:v>
                </c:pt>
                <c:pt idx="9">
                  <c:v>Octubre</c:v>
                </c:pt>
                <c:pt idx="10">
                  <c:v>Noviembre</c:v>
                </c:pt>
                <c:pt idx="11">
                  <c:v>Diciembre</c:v>
                </c:pt>
              </c:strCache>
            </c:strRef>
          </c:cat>
          <c:val>
            <c:numRef>
              <c:f>Hoja1!$D$2:$D$13</c:f>
              <c:numCache>
                <c:formatCode>0</c:formatCode>
                <c:ptCount val="12"/>
                <c:pt idx="0">
                  <c:v>3710</c:v>
                </c:pt>
                <c:pt idx="1">
                  <c:v>3856</c:v>
                </c:pt>
                <c:pt idx="2">
                  <c:v>3972</c:v>
                </c:pt>
                <c:pt idx="3">
                  <c:v>4080</c:v>
                </c:pt>
                <c:pt idx="4">
                  <c:v>4176</c:v>
                </c:pt>
                <c:pt idx="5">
                  <c:v>4259</c:v>
                </c:pt>
                <c:pt idx="6">
                  <c:v>4356</c:v>
                </c:pt>
                <c:pt idx="7">
                  <c:v>4474</c:v>
                </c:pt>
                <c:pt idx="8">
                  <c:v>4614</c:v>
                </c:pt>
                <c:pt idx="9">
                  <c:v>8037</c:v>
                </c:pt>
                <c:pt idx="10">
                  <c:v>8398</c:v>
                </c:pt>
                <c:pt idx="11">
                  <c:v>8567</c:v>
                </c:pt>
              </c:numCache>
            </c:numRef>
          </c:val>
          <c:extLst>
            <c:ext xmlns:c16="http://schemas.microsoft.com/office/drawing/2014/chart" uri="{C3380CC4-5D6E-409C-BE32-E72D297353CC}">
              <c16:uniqueId val="{00000000-6876-44CC-AC79-E3EB25F4BA05}"/>
            </c:ext>
          </c:extLst>
        </c:ser>
        <c:ser>
          <c:idx val="2"/>
          <c:order val="2"/>
          <c:tx>
            <c:strRef>
              <c:f>Hoja1!$F$1</c:f>
              <c:strCache>
                <c:ptCount val="1"/>
                <c:pt idx="0">
                  <c:v>2026</c:v>
                </c:pt>
              </c:strCache>
            </c:strRef>
          </c:tx>
          <c:spPr>
            <a:solidFill>
              <a:srgbClr val="4FA9A5"/>
            </a:solidFill>
            <a:ln>
              <a:noFill/>
            </a:ln>
            <a:effectLst/>
          </c:spPr>
          <c:invertIfNegative val="0"/>
          <c:dLbls>
            <c:dLbl>
              <c:idx val="3"/>
              <c:layout>
                <c:manualLayout>
                  <c:x val="0"/>
                  <c:y val="-8.768330267969898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A15-4BD4-ABE9-535F02799F04}"/>
                </c:ext>
              </c:extLst>
            </c:dLbl>
            <c:dLbl>
              <c:idx val="5"/>
              <c:layout>
                <c:manualLayout>
                  <c:x val="1.1311377919103697E-3"/>
                  <c:y val="-7.243403264844698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62F-4BD4-8E3B-E6CD641556AD}"/>
                </c:ext>
              </c:extLst>
            </c:dLbl>
            <c:dLbl>
              <c:idx val="6"/>
              <c:layout>
                <c:manualLayout>
                  <c:x val="2.2622755838206565E-3"/>
                  <c:y val="-6.099708012500799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A15-4BD4-ABE9-535F02799F04}"/>
                </c:ext>
              </c:extLst>
            </c:dLbl>
            <c:dLbl>
              <c:idx val="8"/>
              <c:layout>
                <c:manualLayout>
                  <c:x val="1.3573653502924353E-2"/>
                  <c:y val="-3.812317507812999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A15-4BD4-ABE9-535F02799F04}"/>
                </c:ext>
              </c:extLst>
            </c:dLbl>
            <c:spPr>
              <a:noFill/>
              <a:ln>
                <a:solidFill>
                  <a:srgbClr val="4FA9A5"/>
                </a:solid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459FA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Enero</c:v>
                </c:pt>
                <c:pt idx="1">
                  <c:v>Febrero</c:v>
                </c:pt>
                <c:pt idx="2">
                  <c:v>Marzo</c:v>
                </c:pt>
                <c:pt idx="3">
                  <c:v>Abril</c:v>
                </c:pt>
                <c:pt idx="4">
                  <c:v>Mayo</c:v>
                </c:pt>
                <c:pt idx="5">
                  <c:v>Junio</c:v>
                </c:pt>
                <c:pt idx="6">
                  <c:v>Julio</c:v>
                </c:pt>
                <c:pt idx="7">
                  <c:v>Agosto</c:v>
                </c:pt>
                <c:pt idx="8">
                  <c:v>Septiembre</c:v>
                </c:pt>
                <c:pt idx="9">
                  <c:v>Octubre</c:v>
                </c:pt>
                <c:pt idx="10">
                  <c:v>Noviembre</c:v>
                </c:pt>
                <c:pt idx="11">
                  <c:v>Diciembre</c:v>
                </c:pt>
              </c:strCache>
            </c:strRef>
          </c:cat>
          <c:val>
            <c:numRef>
              <c:f>Hoja1!$F$2:$F$13</c:f>
              <c:numCache>
                <c:formatCode>General</c:formatCode>
                <c:ptCount val="12"/>
                <c:pt idx="0">
                  <c:v>8512</c:v>
                </c:pt>
                <c:pt idx="1">
                  <c:v>8697</c:v>
                </c:pt>
                <c:pt idx="2">
                  <c:v>8862</c:v>
                </c:pt>
                <c:pt idx="3">
                  <c:v>9027</c:v>
                </c:pt>
                <c:pt idx="4">
                  <c:v>9215</c:v>
                </c:pt>
                <c:pt idx="5">
                  <c:v>9373</c:v>
                </c:pt>
                <c:pt idx="6">
                  <c:v>9526</c:v>
                </c:pt>
                <c:pt idx="7">
                  <c:v>9634</c:v>
                </c:pt>
                <c:pt idx="8">
                  <c:v>9735</c:v>
                </c:pt>
              </c:numCache>
            </c:numRef>
          </c:val>
          <c:extLst>
            <c:ext xmlns:c16="http://schemas.microsoft.com/office/drawing/2014/chart" uri="{C3380CC4-5D6E-409C-BE32-E72D297353CC}">
              <c16:uniqueId val="{00000000-F39C-4B6D-A1AD-4A3FA94F265E}"/>
            </c:ext>
          </c:extLst>
        </c:ser>
        <c:dLbls>
          <c:showLegendKey val="0"/>
          <c:showVal val="0"/>
          <c:showCatName val="0"/>
          <c:showSerName val="0"/>
          <c:showPercent val="0"/>
          <c:showBubbleSize val="0"/>
        </c:dLbls>
        <c:gapWidth val="10"/>
        <c:axId val="1223182928"/>
        <c:axId val="1223185808"/>
      </c:barChart>
      <c:lineChart>
        <c:grouping val="standard"/>
        <c:varyColors val="0"/>
        <c:ser>
          <c:idx val="1"/>
          <c:order val="1"/>
          <c:tx>
            <c:strRef>
              <c:f>Hoja1!$E$1</c:f>
              <c:strCache>
                <c:ptCount val="1"/>
                <c:pt idx="0">
                  <c:v>Tasa 2025</c:v>
                </c:pt>
              </c:strCache>
            </c:strRef>
          </c:tx>
          <c:spPr>
            <a:ln w="28575" cap="rnd">
              <a:solidFill>
                <a:schemeClr val="tx1"/>
              </a:solidFill>
              <a:round/>
            </a:ln>
            <a:effectLst/>
          </c:spPr>
          <c:marker>
            <c:symbol val="none"/>
          </c:marker>
          <c:dLbls>
            <c:spPr>
              <a:solidFill>
                <a:srgbClr val="FFFFFF"/>
              </a:solidFill>
              <a:ln>
                <a:solidFill>
                  <a:srgbClr val="80589F">
                    <a:lumMod val="25000"/>
                    <a:lumOff val="75000"/>
                  </a:srgbClr>
                </a:solidFill>
              </a:ln>
              <a:effectLst/>
            </c:spPr>
            <c:txPr>
              <a:bodyPr rot="0" spcFirstLastPara="1" vertOverflow="clip" horzOverflow="clip" vert="horz" wrap="square" lIns="36576" tIns="18288" rIns="36576" bIns="18288"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borderCallout1">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Enero</c:v>
                </c:pt>
                <c:pt idx="1">
                  <c:v>Febrero</c:v>
                </c:pt>
                <c:pt idx="2">
                  <c:v>Marzo</c:v>
                </c:pt>
                <c:pt idx="3">
                  <c:v>Abril</c:v>
                </c:pt>
                <c:pt idx="4">
                  <c:v>Mayo</c:v>
                </c:pt>
                <c:pt idx="5">
                  <c:v>Junio</c:v>
                </c:pt>
                <c:pt idx="6">
                  <c:v>Julio</c:v>
                </c:pt>
                <c:pt idx="7">
                  <c:v>Agosto</c:v>
                </c:pt>
                <c:pt idx="8">
                  <c:v>Septiembre</c:v>
                </c:pt>
                <c:pt idx="9">
                  <c:v>Octubre</c:v>
                </c:pt>
                <c:pt idx="10">
                  <c:v>Noviembre</c:v>
                </c:pt>
                <c:pt idx="11">
                  <c:v>Diciembre</c:v>
                </c:pt>
              </c:strCache>
            </c:strRef>
          </c:cat>
          <c:val>
            <c:numRef>
              <c:f>Hoja1!$E$2:$E$13</c:f>
              <c:numCache>
                <c:formatCode>0</c:formatCode>
                <c:ptCount val="12"/>
                <c:pt idx="0">
                  <c:v>1373.316206982073</c:v>
                </c:pt>
                <c:pt idx="1">
                  <c:v>1427.3604566368929</c:v>
                </c:pt>
                <c:pt idx="2">
                  <c:v>1442.5119755368562</c:v>
                </c:pt>
                <c:pt idx="3">
                  <c:v>1481.7343555363479</c:v>
                </c:pt>
                <c:pt idx="4">
                  <c:v>1516.5986933136737</c:v>
                </c:pt>
                <c:pt idx="5">
                  <c:v>1546.7418186836535</c:v>
                </c:pt>
                <c:pt idx="6">
                  <c:v>1581.9693266461595</c:v>
                </c:pt>
                <c:pt idx="7">
                  <c:v>1624.8234084974558</c:v>
                </c:pt>
                <c:pt idx="8">
                  <c:v>1675.6672344227227</c:v>
                </c:pt>
                <c:pt idx="9">
                  <c:v>1414.5986866075154</c:v>
                </c:pt>
                <c:pt idx="10">
                  <c:v>1478.1385803322028</c:v>
                </c:pt>
                <c:pt idx="11">
                  <c:v>1432.8099599274815</c:v>
                </c:pt>
              </c:numCache>
            </c:numRef>
          </c:val>
          <c:smooth val="0"/>
          <c:extLst>
            <c:ext xmlns:c16="http://schemas.microsoft.com/office/drawing/2014/chart" uri="{C3380CC4-5D6E-409C-BE32-E72D297353CC}">
              <c16:uniqueId val="{00000001-6876-44CC-AC79-E3EB25F4BA05}"/>
            </c:ext>
          </c:extLst>
        </c:ser>
        <c:dLbls>
          <c:showLegendKey val="0"/>
          <c:showVal val="0"/>
          <c:showCatName val="0"/>
          <c:showSerName val="0"/>
          <c:showPercent val="0"/>
          <c:showBubbleSize val="0"/>
        </c:dLbls>
        <c:marker val="1"/>
        <c:smooth val="0"/>
        <c:axId val="1223182928"/>
        <c:axId val="1223185808"/>
      </c:lineChart>
      <c:lineChart>
        <c:grouping val="standard"/>
        <c:varyColors val="0"/>
        <c:ser>
          <c:idx val="3"/>
          <c:order val="3"/>
          <c:tx>
            <c:strRef>
              <c:f>Hoja1!$G$1</c:f>
              <c:strCache>
                <c:ptCount val="1"/>
                <c:pt idx="0">
                  <c:v>Tasa 2026</c:v>
                </c:pt>
              </c:strCache>
            </c:strRef>
          </c:tx>
          <c:spPr>
            <a:ln w="28575" cap="rnd">
              <a:solidFill>
                <a:srgbClr val="4FA9A5"/>
              </a:solidFill>
              <a:round/>
            </a:ln>
            <a:effectLst/>
          </c:spPr>
          <c:marker>
            <c:symbol val="none"/>
          </c:marker>
          <c:dLbls>
            <c:dLbl>
              <c:idx val="7"/>
              <c:layout>
                <c:manualLayout>
                  <c:x val="-9.0491023352829575E-3"/>
                  <c:y val="0.11818184274220299"/>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1E9-4332-8F28-849627D9AAE7}"/>
                </c:ext>
              </c:extLst>
            </c:dLbl>
            <c:dLbl>
              <c:idx val="8"/>
              <c:layout>
                <c:manualLayout>
                  <c:x val="-8.2949146504475031E-17"/>
                  <c:y val="9.530793769532491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A15-4BD4-ABE9-535F02799F04}"/>
                </c:ext>
              </c:extLst>
            </c:dLbl>
            <c:spPr>
              <a:solidFill>
                <a:srgbClr val="FFFFFF"/>
              </a:solidFill>
              <a:ln>
                <a:solidFill>
                  <a:srgbClr val="80589F">
                    <a:lumMod val="25000"/>
                    <a:lumOff val="75000"/>
                  </a:srgbClr>
                </a:solidFill>
              </a:ln>
              <a:effectLst/>
            </c:spPr>
            <c:txPr>
              <a:bodyPr rot="0" spcFirstLastPara="1" vertOverflow="clip" horzOverflow="clip" vert="horz" wrap="square" lIns="36576" tIns="18288" rIns="36576" bIns="18288" anchor="ctr" anchorCtr="1">
                <a:spAutoFit/>
              </a:bodyPr>
              <a:lstStyle/>
              <a:p>
                <a:pPr>
                  <a:defRPr sz="1197" b="1" i="0" u="none" strike="noStrike" kern="1200" baseline="0">
                    <a:solidFill>
                      <a:srgbClr val="45A9A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Enero</c:v>
                </c:pt>
                <c:pt idx="1">
                  <c:v>Febrero</c:v>
                </c:pt>
                <c:pt idx="2">
                  <c:v>Marzo</c:v>
                </c:pt>
                <c:pt idx="3">
                  <c:v>Abril</c:v>
                </c:pt>
                <c:pt idx="4">
                  <c:v>Mayo</c:v>
                </c:pt>
                <c:pt idx="5">
                  <c:v>Junio</c:v>
                </c:pt>
                <c:pt idx="6">
                  <c:v>Julio</c:v>
                </c:pt>
                <c:pt idx="7">
                  <c:v>Agosto</c:v>
                </c:pt>
                <c:pt idx="8">
                  <c:v>Septiembre</c:v>
                </c:pt>
                <c:pt idx="9">
                  <c:v>Octubre</c:v>
                </c:pt>
                <c:pt idx="10">
                  <c:v>Noviembre</c:v>
                </c:pt>
                <c:pt idx="11">
                  <c:v>Diciembre</c:v>
                </c:pt>
              </c:strCache>
            </c:strRef>
          </c:cat>
          <c:val>
            <c:numRef>
              <c:f>Hoja1!$G$2:$G$13</c:f>
              <c:numCache>
                <c:formatCode>0</c:formatCode>
                <c:ptCount val="12"/>
                <c:pt idx="0">
                  <c:v>1423.6113433994074</c:v>
                </c:pt>
                <c:pt idx="1">
                  <c:v>1454.5521444483841</c:v>
                </c:pt>
                <c:pt idx="2">
                  <c:v>1482.1479940326064</c:v>
                </c:pt>
                <c:pt idx="3">
                  <c:v>1509.7438436168293</c:v>
                </c:pt>
                <c:pt idx="4">
                  <c:v>1478.3714971900513</c:v>
                </c:pt>
                <c:pt idx="5">
                  <c:v>1503.7195923127892</c:v>
                </c:pt>
                <c:pt idx="6">
                  <c:v>1528.2655325265794</c:v>
                </c:pt>
                <c:pt idx="7">
                  <c:v>1545.5920785598432</c:v>
                </c:pt>
                <c:pt idx="8">
                  <c:v>1561.7956077205806</c:v>
                </c:pt>
              </c:numCache>
            </c:numRef>
          </c:val>
          <c:smooth val="0"/>
          <c:extLst>
            <c:ext xmlns:c16="http://schemas.microsoft.com/office/drawing/2014/chart" uri="{C3380CC4-5D6E-409C-BE32-E72D297353CC}">
              <c16:uniqueId val="{00000000-EB8C-44B4-99AE-82645BF90698}"/>
            </c:ext>
          </c:extLst>
        </c:ser>
        <c:dLbls>
          <c:showLegendKey val="0"/>
          <c:showVal val="0"/>
          <c:showCatName val="0"/>
          <c:showSerName val="0"/>
          <c:showPercent val="0"/>
          <c:showBubbleSize val="0"/>
        </c:dLbls>
        <c:marker val="1"/>
        <c:smooth val="0"/>
        <c:axId val="1067728720"/>
        <c:axId val="1067727280"/>
      </c:lineChart>
      <c:catAx>
        <c:axId val="12231829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223185808"/>
        <c:crosses val="autoZero"/>
        <c:auto val="1"/>
        <c:lblAlgn val="ctr"/>
        <c:lblOffset val="100"/>
        <c:noMultiLvlLbl val="0"/>
      </c:catAx>
      <c:valAx>
        <c:axId val="122318580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1" i="0" u="none" strike="noStrike" kern="1200" baseline="0">
                    <a:solidFill>
                      <a:schemeClr val="tx1">
                        <a:lumMod val="65000"/>
                        <a:lumOff val="35000"/>
                      </a:schemeClr>
                    </a:solidFill>
                    <a:latin typeface="+mn-lt"/>
                    <a:ea typeface="+mn-ea"/>
                    <a:cs typeface="+mn-cs"/>
                  </a:defRPr>
                </a:pPr>
                <a:r>
                  <a:rPr lang="es-CO" b="1" noProof="0" err="1"/>
                  <a:t>N°</a:t>
                </a:r>
                <a:r>
                  <a:rPr lang="es-CO" b="1" noProof="0"/>
                  <a:t> total de casos</a:t>
                </a:r>
                <a:r>
                  <a:rPr lang="es-CO" b="1" baseline="0" noProof="0"/>
                  <a:t> pacientes</a:t>
                </a:r>
                <a:endParaRPr lang="es-CO" b="1" noProof="0"/>
              </a:p>
            </c:rich>
          </c:tx>
          <c:layout>
            <c:manualLayout>
              <c:xMode val="edge"/>
              <c:yMode val="edge"/>
              <c:x val="5.4526185528151845E-3"/>
              <c:y val="0.12273020769325675"/>
            </c:manualLayout>
          </c:layout>
          <c:overlay val="0"/>
          <c:spPr>
            <a:noFill/>
            <a:ln>
              <a:noFill/>
            </a:ln>
            <a:effectLst/>
          </c:spPr>
          <c:txPr>
            <a:bodyPr rot="-5400000" spcFirstLastPara="1" vertOverflow="ellipsis" vert="horz" wrap="square" anchor="ctr" anchorCtr="1"/>
            <a:lstStyle/>
            <a:p>
              <a:pPr>
                <a:defRPr sz="1330" b="1" i="0" u="none" strike="noStrike" kern="1200" baseline="0">
                  <a:solidFill>
                    <a:schemeClr val="tx1">
                      <a:lumMod val="65000"/>
                      <a:lumOff val="35000"/>
                    </a:schemeClr>
                  </a:solidFill>
                  <a:latin typeface="+mn-lt"/>
                  <a:ea typeface="+mn-ea"/>
                  <a:cs typeface="+mn-cs"/>
                </a:defRPr>
              </a:pPr>
              <a:endParaRPr lang="es-CO"/>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s-CO"/>
          </a:p>
        </c:txPr>
        <c:crossAx val="1223182928"/>
        <c:crosses val="autoZero"/>
        <c:crossBetween val="between"/>
      </c:valAx>
      <c:valAx>
        <c:axId val="1067727280"/>
        <c:scaling>
          <c:orientation val="minMax"/>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1197" b="1" i="0" u="none" strike="noStrike" kern="1200" baseline="0">
                <a:solidFill>
                  <a:srgbClr val="47A9A1"/>
                </a:solidFill>
                <a:latin typeface="+mn-lt"/>
                <a:ea typeface="+mn-ea"/>
                <a:cs typeface="+mn-cs"/>
              </a:defRPr>
            </a:pPr>
            <a:endParaRPr lang="es-CO"/>
          </a:p>
        </c:txPr>
        <c:crossAx val="1067728720"/>
        <c:crosses val="max"/>
        <c:crossBetween val="between"/>
      </c:valAx>
      <c:catAx>
        <c:axId val="1067728720"/>
        <c:scaling>
          <c:orientation val="minMax"/>
        </c:scaling>
        <c:delete val="1"/>
        <c:axPos val="b"/>
        <c:numFmt formatCode="General" sourceLinked="1"/>
        <c:majorTickMark val="out"/>
        <c:minorTickMark val="none"/>
        <c:tickLblPos val="nextTo"/>
        <c:crossAx val="1067727280"/>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accent1"/>
      </a:solidFill>
    </a:ln>
    <a:effectLst/>
  </c:spPr>
  <c:txPr>
    <a:bodyPr/>
    <a:lstStyle/>
    <a:p>
      <a:pPr>
        <a:defRPr/>
      </a:pPr>
      <a:endParaRPr lang="es-CO"/>
    </a:p>
  </c:txPr>
  <c:externalData r:id="rId3">
    <c:autoUpdate val="0"/>
  </c:externalData>
  <c:userShapes r:id="rId4"/>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s-CO" sz="1400" b="1" i="0" u="none" strike="noStrike" kern="1200" spc="0" baseline="0">
                <a:solidFill>
                  <a:srgbClr val="47A9A1"/>
                </a:solidFill>
              </a:rPr>
              <a:t>Distribución de la Cohorte General</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Prevalencia!$BF$3</c:f>
              <c:strCache>
                <c:ptCount val="1"/>
                <c:pt idx="0">
                  <c:v>Casos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Prevalencia!$BE$4:$BE$28</c:f>
              <c:strCache>
                <c:ptCount val="25"/>
                <c:pt idx="0">
                  <c:v>16= Otros tumores de la piel</c:v>
                </c:pt>
                <c:pt idx="1">
                  <c:v>1= CAC Mama</c:v>
                </c:pt>
                <c:pt idx="2">
                  <c:v>2= CAC Próstata</c:v>
                </c:pt>
                <c:pt idx="3">
                  <c:v>3= CAC Cérvix</c:v>
                </c:pt>
                <c:pt idx="4">
                  <c:v>4= CAC Colorectal</c:v>
                </c:pt>
                <c:pt idx="5">
                  <c:v>22= Glándulas tiroides y endocrinas</c:v>
                </c:pt>
                <c:pt idx="6">
                  <c:v>18= Otros órganos genitales femeninos</c:v>
                </c:pt>
                <c:pt idx="7">
                  <c:v>9= CAC Linfoma No Hodgkin</c:v>
                </c:pt>
                <c:pt idx="8">
                  <c:v>5= CAC Estómago</c:v>
                </c:pt>
                <c:pt idx="9">
                  <c:v>20= Vías urinarias</c:v>
                </c:pt>
                <c:pt idx="10">
                  <c:v>24= Otros tumores malignos del tejido linfático, de los órganos hematopoyéticos y de tejidos afines</c:v>
                </c:pt>
                <c:pt idx="11">
                  <c:v>13= Otros órganos digestivos</c:v>
                </c:pt>
                <c:pt idx="12">
                  <c:v>6= CAC Melanoma</c:v>
                </c:pt>
                <c:pt idx="13">
                  <c:v>19= Otros órganos genitales masculinos</c:v>
                </c:pt>
                <c:pt idx="14">
                  <c:v>12= Labio, cavidad bucal y faringe</c:v>
                </c:pt>
                <c:pt idx="15">
                  <c:v>21= Ojo, encéfalo, y otras partes del sistema nervioso</c:v>
                </c:pt>
                <c:pt idx="16">
                  <c:v>17= Tejidos mesoteliales (excepto pulmón) y tejidos blandos</c:v>
                </c:pt>
                <c:pt idx="17">
                  <c:v>23= Otros sitios, sitios mal definidos, sitios no especificados</c:v>
                </c:pt>
                <c:pt idx="18">
                  <c:v>8= CAC Linfoma Hodgkin</c:v>
                </c:pt>
                <c:pt idx="19">
                  <c:v>7= CAC Pulmón</c:v>
                </c:pt>
                <c:pt idx="20">
                  <c:v>14= Otros órganos respiratorios e intratorácicos</c:v>
                </c:pt>
                <c:pt idx="21">
                  <c:v>10= CAC Leucemia Linfocitica Aguda</c:v>
                </c:pt>
                <c:pt idx="22">
                  <c:v>15= Huesos y cartílagos articulares</c:v>
                </c:pt>
                <c:pt idx="23">
                  <c:v>11= CAC Leucemia Mielocitica Aguda</c:v>
                </c:pt>
                <c:pt idx="24">
                  <c:v>25= Tumores secundarios</c:v>
                </c:pt>
              </c:strCache>
            </c:strRef>
          </c:cat>
          <c:val>
            <c:numRef>
              <c:f>Prevalencia!$BF$4:$BF$28</c:f>
              <c:numCache>
                <c:formatCode>General</c:formatCode>
                <c:ptCount val="25"/>
                <c:pt idx="0">
                  <c:v>2348</c:v>
                </c:pt>
                <c:pt idx="1">
                  <c:v>1851</c:v>
                </c:pt>
                <c:pt idx="2">
                  <c:v>1024</c:v>
                </c:pt>
                <c:pt idx="3">
                  <c:v>967</c:v>
                </c:pt>
                <c:pt idx="4">
                  <c:v>602</c:v>
                </c:pt>
                <c:pt idx="5">
                  <c:v>559</c:v>
                </c:pt>
                <c:pt idx="6">
                  <c:v>361</c:v>
                </c:pt>
                <c:pt idx="7">
                  <c:v>252</c:v>
                </c:pt>
                <c:pt idx="8">
                  <c:v>227</c:v>
                </c:pt>
                <c:pt idx="9">
                  <c:v>220</c:v>
                </c:pt>
                <c:pt idx="10">
                  <c:v>214</c:v>
                </c:pt>
                <c:pt idx="11">
                  <c:v>139</c:v>
                </c:pt>
                <c:pt idx="12">
                  <c:v>122</c:v>
                </c:pt>
                <c:pt idx="13">
                  <c:v>116</c:v>
                </c:pt>
                <c:pt idx="14">
                  <c:v>112</c:v>
                </c:pt>
                <c:pt idx="15">
                  <c:v>101</c:v>
                </c:pt>
                <c:pt idx="16">
                  <c:v>100</c:v>
                </c:pt>
                <c:pt idx="17">
                  <c:v>95</c:v>
                </c:pt>
                <c:pt idx="18">
                  <c:v>74</c:v>
                </c:pt>
                <c:pt idx="19">
                  <c:v>64</c:v>
                </c:pt>
                <c:pt idx="20">
                  <c:v>62</c:v>
                </c:pt>
                <c:pt idx="21">
                  <c:v>40</c:v>
                </c:pt>
                <c:pt idx="22">
                  <c:v>32</c:v>
                </c:pt>
                <c:pt idx="23">
                  <c:v>30</c:v>
                </c:pt>
                <c:pt idx="24">
                  <c:v>23</c:v>
                </c:pt>
              </c:numCache>
            </c:numRef>
          </c:val>
          <c:extLst>
            <c:ext xmlns:c16="http://schemas.microsoft.com/office/drawing/2014/chart" uri="{C3380CC4-5D6E-409C-BE32-E72D297353CC}">
              <c16:uniqueId val="{00000000-B7E7-4DBB-9924-0D2DE70BAEA5}"/>
            </c:ext>
          </c:extLst>
        </c:ser>
        <c:dLbls>
          <c:showLegendKey val="0"/>
          <c:showVal val="0"/>
          <c:showCatName val="0"/>
          <c:showSerName val="0"/>
          <c:showPercent val="0"/>
          <c:showBubbleSize val="0"/>
        </c:dLbls>
        <c:gapWidth val="219"/>
        <c:axId val="1476831679"/>
        <c:axId val="1476829279"/>
      </c:barChart>
      <c:lineChart>
        <c:grouping val="standard"/>
        <c:varyColors val="0"/>
        <c:ser>
          <c:idx val="1"/>
          <c:order val="1"/>
          <c:tx>
            <c:strRef>
              <c:f>Prevalencia!$BG$3</c:f>
              <c:strCache>
                <c:ptCount val="1"/>
                <c:pt idx="0">
                  <c:v>Tasa x 100 mil</c:v>
                </c:pt>
              </c:strCache>
            </c:strRef>
          </c:tx>
          <c:spPr>
            <a:ln w="28575" cap="rnd">
              <a:solidFill>
                <a:srgbClr val="47A9A1"/>
              </a:solidFill>
              <a:round/>
            </a:ln>
            <a:effectLst/>
          </c:spPr>
          <c:marker>
            <c:symbol val="none"/>
          </c:marker>
          <c:dLbls>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rgbClr val="47A9A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leftArrow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Prevalencia!$BE$4:$BE$23</c:f>
              <c:strCache>
                <c:ptCount val="20"/>
                <c:pt idx="0">
                  <c:v>16= Otros tumores de la piel</c:v>
                </c:pt>
                <c:pt idx="1">
                  <c:v>1= CAC Mama</c:v>
                </c:pt>
                <c:pt idx="2">
                  <c:v>2= CAC Próstata</c:v>
                </c:pt>
                <c:pt idx="3">
                  <c:v>3= CAC Cérvix</c:v>
                </c:pt>
                <c:pt idx="4">
                  <c:v>4= CAC Colorectal</c:v>
                </c:pt>
                <c:pt idx="5">
                  <c:v>22= Glándulas tiroides y endocrinas</c:v>
                </c:pt>
                <c:pt idx="6">
                  <c:v>18= Otros órganos genitales femeninos</c:v>
                </c:pt>
                <c:pt idx="7">
                  <c:v>9= CAC Linfoma No Hodgkin</c:v>
                </c:pt>
                <c:pt idx="8">
                  <c:v>5= CAC Estómago</c:v>
                </c:pt>
                <c:pt idx="9">
                  <c:v>20= Vías urinarias</c:v>
                </c:pt>
                <c:pt idx="10">
                  <c:v>24= Otros tumores malignos del tejido linfático, de los órganos hematopoyéticos y de tejidos afines</c:v>
                </c:pt>
                <c:pt idx="11">
                  <c:v>13= Otros órganos digestivos</c:v>
                </c:pt>
                <c:pt idx="12">
                  <c:v>6= CAC Melanoma</c:v>
                </c:pt>
                <c:pt idx="13">
                  <c:v>19= Otros órganos genitales masculinos</c:v>
                </c:pt>
                <c:pt idx="14">
                  <c:v>12= Labio, cavidad bucal y faringe</c:v>
                </c:pt>
                <c:pt idx="15">
                  <c:v>21= Ojo, encéfalo, y otras partes del sistema nervioso</c:v>
                </c:pt>
                <c:pt idx="16">
                  <c:v>17= Tejidos mesoteliales (excepto pulmón) y tejidos blandos</c:v>
                </c:pt>
                <c:pt idx="17">
                  <c:v>23= Otros sitios, sitios mal definidos, sitios no especificados</c:v>
                </c:pt>
                <c:pt idx="18">
                  <c:v>8= CAC Linfoma Hodgkin</c:v>
                </c:pt>
                <c:pt idx="19">
                  <c:v>7= CAC Pulmón</c:v>
                </c:pt>
              </c:strCache>
            </c:strRef>
          </c:cat>
          <c:val>
            <c:numRef>
              <c:f>Prevalencia!$BG$4:$BG$23</c:f>
              <c:numCache>
                <c:formatCode>0</c:formatCode>
                <c:ptCount val="20"/>
                <c:pt idx="0">
                  <c:v>376.69194524169728</c:v>
                </c:pt>
                <c:pt idx="1">
                  <c:v>296.95774729232608</c:v>
                </c:pt>
                <c:pt idx="2">
                  <c:v>164.28132535242676</c:v>
                </c:pt>
                <c:pt idx="3">
                  <c:v>155.13675939042645</c:v>
                </c:pt>
                <c:pt idx="4">
                  <c:v>96.579451037266509</c:v>
                </c:pt>
                <c:pt idx="5">
                  <c:v>89.680918820318908</c:v>
                </c:pt>
                <c:pt idx="6">
                  <c:v>57.915584426002013</c:v>
                </c:pt>
                <c:pt idx="7">
                  <c:v>40.428607410948771</c:v>
                </c:pt>
                <c:pt idx="8">
                  <c:v>36.417832866211789</c:v>
                </c:pt>
                <c:pt idx="9">
                  <c:v>35.294815993685432</c:v>
                </c:pt>
                <c:pt idx="10">
                  <c:v>34.332230102948557</c:v>
                </c:pt>
                <c:pt idx="11">
                  <c:v>22.299906468737618</c:v>
                </c:pt>
                <c:pt idx="12">
                  <c:v>19.57257977831647</c:v>
                </c:pt>
                <c:pt idx="13">
                  <c:v>18.609993887579595</c:v>
                </c:pt>
                <c:pt idx="14">
                  <c:v>17.968269960421679</c:v>
                </c:pt>
                <c:pt idx="15">
                  <c:v>16.203529160737407</c:v>
                </c:pt>
                <c:pt idx="16">
                  <c:v>16.043098178947925</c:v>
                </c:pt>
                <c:pt idx="17">
                  <c:v>15.24094327000053</c:v>
                </c:pt>
                <c:pt idx="18">
                  <c:v>11.871892652421465</c:v>
                </c:pt>
                <c:pt idx="19">
                  <c:v>10.267582834526673</c:v>
                </c:pt>
              </c:numCache>
            </c:numRef>
          </c:val>
          <c:smooth val="0"/>
          <c:extLst>
            <c:ext xmlns:c16="http://schemas.microsoft.com/office/drawing/2014/chart" uri="{C3380CC4-5D6E-409C-BE32-E72D297353CC}">
              <c16:uniqueId val="{00000001-B7E7-4DBB-9924-0D2DE70BAEA5}"/>
            </c:ext>
          </c:extLst>
        </c:ser>
        <c:dLbls>
          <c:showLegendKey val="0"/>
          <c:showVal val="0"/>
          <c:showCatName val="0"/>
          <c:showSerName val="0"/>
          <c:showPercent val="0"/>
          <c:showBubbleSize val="0"/>
        </c:dLbls>
        <c:marker val="1"/>
        <c:smooth val="0"/>
        <c:axId val="1401271471"/>
        <c:axId val="933547215"/>
      </c:lineChart>
      <c:catAx>
        <c:axId val="14768316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s-CO"/>
          </a:p>
        </c:txPr>
        <c:crossAx val="1476829279"/>
        <c:crosses val="autoZero"/>
        <c:auto val="1"/>
        <c:lblAlgn val="ctr"/>
        <c:lblOffset val="100"/>
        <c:noMultiLvlLbl val="0"/>
      </c:catAx>
      <c:valAx>
        <c:axId val="1476829279"/>
        <c:scaling>
          <c:orientation val="minMax"/>
          <c:max val="2500"/>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s-CO"/>
          </a:p>
        </c:txPr>
        <c:crossAx val="1476831679"/>
        <c:crosses val="autoZero"/>
        <c:crossBetween val="between"/>
      </c:valAx>
      <c:valAx>
        <c:axId val="933547215"/>
        <c:scaling>
          <c:orientation val="minMax"/>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rgbClr val="47A9A1"/>
                </a:solidFill>
                <a:latin typeface="+mn-lt"/>
                <a:ea typeface="+mn-ea"/>
                <a:cs typeface="+mn-cs"/>
              </a:defRPr>
            </a:pPr>
            <a:endParaRPr lang="es-CO"/>
          </a:p>
        </c:txPr>
        <c:crossAx val="1401271471"/>
        <c:crosses val="max"/>
        <c:crossBetween val="between"/>
      </c:valAx>
      <c:catAx>
        <c:axId val="1401271471"/>
        <c:scaling>
          <c:orientation val="minMax"/>
        </c:scaling>
        <c:delete val="1"/>
        <c:axPos val="b"/>
        <c:numFmt formatCode="General" sourceLinked="1"/>
        <c:majorTickMark val="out"/>
        <c:minorTickMark val="none"/>
        <c:tickLblPos val="nextTo"/>
        <c:crossAx val="933547215"/>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47A9A1"/>
                </a:solidFill>
                <a:latin typeface="+mn-lt"/>
                <a:ea typeface="+mn-ea"/>
                <a:cs typeface="+mn-cs"/>
              </a:defRPr>
            </a:pPr>
            <a:r>
              <a:rPr lang="es-CO" sz="1400" b="1" i="0" u="none" strike="noStrike" kern="1200" spc="0" baseline="0">
                <a:solidFill>
                  <a:srgbClr val="47A9A1"/>
                </a:solidFill>
              </a:rPr>
              <a:t>Prevalencia de cánceres Priorizados - Septiembre 2026 </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47A9A1"/>
              </a:solidFill>
              <a:latin typeface="+mn-lt"/>
              <a:ea typeface="+mn-ea"/>
              <a:cs typeface="+mn-cs"/>
            </a:defRPr>
          </a:pPr>
          <a:endParaRPr lang="es-CO"/>
        </a:p>
      </c:txPr>
    </c:title>
    <c:autoTitleDeleted val="0"/>
    <c:plotArea>
      <c:layout/>
      <c:barChart>
        <c:barDir val="col"/>
        <c:grouping val="clustered"/>
        <c:varyColors val="0"/>
        <c:ser>
          <c:idx val="0"/>
          <c:order val="0"/>
          <c:tx>
            <c:strRef>
              <c:f>Prevalencia!$AO$78</c:f>
              <c:strCache>
                <c:ptCount val="1"/>
                <c:pt idx="0">
                  <c:v>Casos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Prevalencia!$AN$79:$AN$89</c:f>
              <c:strCache>
                <c:ptCount val="11"/>
                <c:pt idx="0">
                  <c:v>1= CAC Mama</c:v>
                </c:pt>
                <c:pt idx="1">
                  <c:v>2= CAC Próstata</c:v>
                </c:pt>
                <c:pt idx="2">
                  <c:v>3= CAC Cérvix</c:v>
                </c:pt>
                <c:pt idx="3">
                  <c:v>4= CAC Colorectal</c:v>
                </c:pt>
                <c:pt idx="4">
                  <c:v>9= CAC Linfoma No Hodgkin</c:v>
                </c:pt>
                <c:pt idx="5">
                  <c:v>5= CAC Estómago</c:v>
                </c:pt>
                <c:pt idx="6">
                  <c:v>6= CAC Melanoma</c:v>
                </c:pt>
                <c:pt idx="7">
                  <c:v>8= CAC Linfoma Hodgkin</c:v>
                </c:pt>
                <c:pt idx="8">
                  <c:v>7= CAC Pulmón</c:v>
                </c:pt>
                <c:pt idx="9">
                  <c:v>10= CAC Leucemia Linfocitica Aguda</c:v>
                </c:pt>
                <c:pt idx="10">
                  <c:v>11= CAC Leucemia Mielocitica Aguda</c:v>
                </c:pt>
              </c:strCache>
            </c:strRef>
          </c:cat>
          <c:val>
            <c:numRef>
              <c:f>Prevalencia!$AO$79:$AO$89</c:f>
              <c:numCache>
                <c:formatCode>General</c:formatCode>
                <c:ptCount val="11"/>
                <c:pt idx="0">
                  <c:v>1851</c:v>
                </c:pt>
                <c:pt idx="1">
                  <c:v>1024</c:v>
                </c:pt>
                <c:pt idx="2">
                  <c:v>967</c:v>
                </c:pt>
                <c:pt idx="3">
                  <c:v>602</c:v>
                </c:pt>
                <c:pt idx="4">
                  <c:v>252</c:v>
                </c:pt>
                <c:pt idx="5">
                  <c:v>227</c:v>
                </c:pt>
                <c:pt idx="6">
                  <c:v>122</c:v>
                </c:pt>
                <c:pt idx="7">
                  <c:v>74</c:v>
                </c:pt>
                <c:pt idx="8">
                  <c:v>64</c:v>
                </c:pt>
                <c:pt idx="9">
                  <c:v>40</c:v>
                </c:pt>
                <c:pt idx="10">
                  <c:v>30</c:v>
                </c:pt>
              </c:numCache>
            </c:numRef>
          </c:val>
          <c:extLst>
            <c:ext xmlns:c16="http://schemas.microsoft.com/office/drawing/2014/chart" uri="{C3380CC4-5D6E-409C-BE32-E72D297353CC}">
              <c16:uniqueId val="{00000000-B91B-45C1-BEB2-30235F8C85D3}"/>
            </c:ext>
          </c:extLst>
        </c:ser>
        <c:dLbls>
          <c:showLegendKey val="0"/>
          <c:showVal val="0"/>
          <c:showCatName val="0"/>
          <c:showSerName val="0"/>
          <c:showPercent val="0"/>
          <c:showBubbleSize val="0"/>
        </c:dLbls>
        <c:gapWidth val="219"/>
        <c:axId val="1492161695"/>
        <c:axId val="1492157375"/>
      </c:barChart>
      <c:lineChart>
        <c:grouping val="standard"/>
        <c:varyColors val="0"/>
        <c:ser>
          <c:idx val="1"/>
          <c:order val="1"/>
          <c:tx>
            <c:strRef>
              <c:f>Prevalencia!$AP$78</c:f>
              <c:strCache>
                <c:ptCount val="1"/>
                <c:pt idx="0">
                  <c:v>Tasa x 100 mil</c:v>
                </c:pt>
              </c:strCache>
            </c:strRef>
          </c:tx>
          <c:spPr>
            <a:ln w="28575" cap="rnd">
              <a:solidFill>
                <a:srgbClr val="47A9A1"/>
              </a:solidFill>
              <a:round/>
            </a:ln>
            <a:effectLst/>
          </c:spPr>
          <c:marker>
            <c:symbol val="none"/>
          </c:marker>
          <c:dLbls>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1" i="0" u="none" strike="noStrike" kern="1200" baseline="0">
                    <a:solidFill>
                      <a:srgbClr val="47A9A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leftArrow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Prevalencia!$AN$79:$AN$89</c:f>
              <c:strCache>
                <c:ptCount val="11"/>
                <c:pt idx="0">
                  <c:v>1= CAC Mama</c:v>
                </c:pt>
                <c:pt idx="1">
                  <c:v>2= CAC Próstata</c:v>
                </c:pt>
                <c:pt idx="2">
                  <c:v>3= CAC Cérvix</c:v>
                </c:pt>
                <c:pt idx="3">
                  <c:v>4= CAC Colorectal</c:v>
                </c:pt>
                <c:pt idx="4">
                  <c:v>9= CAC Linfoma No Hodgkin</c:v>
                </c:pt>
                <c:pt idx="5">
                  <c:v>5= CAC Estómago</c:v>
                </c:pt>
                <c:pt idx="6">
                  <c:v>6= CAC Melanoma</c:v>
                </c:pt>
                <c:pt idx="7">
                  <c:v>8= CAC Linfoma Hodgkin</c:v>
                </c:pt>
                <c:pt idx="8">
                  <c:v>7= CAC Pulmón</c:v>
                </c:pt>
                <c:pt idx="9">
                  <c:v>10= CAC Leucemia Linfocitica Aguda</c:v>
                </c:pt>
                <c:pt idx="10">
                  <c:v>11= CAC Leucemia Mielocitica Aguda</c:v>
                </c:pt>
              </c:strCache>
            </c:strRef>
          </c:cat>
          <c:val>
            <c:numRef>
              <c:f>Prevalencia!$AP$79:$AP$89</c:f>
              <c:numCache>
                <c:formatCode>0</c:formatCode>
                <c:ptCount val="11"/>
                <c:pt idx="0">
                  <c:v>296.95774729232608</c:v>
                </c:pt>
                <c:pt idx="1">
                  <c:v>164.28132535242676</c:v>
                </c:pt>
                <c:pt idx="2">
                  <c:v>155.13675939042645</c:v>
                </c:pt>
                <c:pt idx="3">
                  <c:v>96.579451037266509</c:v>
                </c:pt>
                <c:pt idx="4">
                  <c:v>40.428607410948771</c:v>
                </c:pt>
                <c:pt idx="5">
                  <c:v>36.417832866211789</c:v>
                </c:pt>
                <c:pt idx="6">
                  <c:v>19.57257977831647</c:v>
                </c:pt>
                <c:pt idx="7">
                  <c:v>11.871892652421465</c:v>
                </c:pt>
                <c:pt idx="8">
                  <c:v>10.267582834526673</c:v>
                </c:pt>
                <c:pt idx="9">
                  <c:v>6.4172392715791702</c:v>
                </c:pt>
                <c:pt idx="10">
                  <c:v>4.8129294536843776</c:v>
                </c:pt>
              </c:numCache>
            </c:numRef>
          </c:val>
          <c:smooth val="0"/>
          <c:extLst>
            <c:ext xmlns:c16="http://schemas.microsoft.com/office/drawing/2014/chart" uri="{C3380CC4-5D6E-409C-BE32-E72D297353CC}">
              <c16:uniqueId val="{00000001-B91B-45C1-BEB2-30235F8C85D3}"/>
            </c:ext>
          </c:extLst>
        </c:ser>
        <c:dLbls>
          <c:showLegendKey val="0"/>
          <c:showVal val="0"/>
          <c:showCatName val="0"/>
          <c:showSerName val="0"/>
          <c:showPercent val="0"/>
          <c:showBubbleSize val="0"/>
        </c:dLbls>
        <c:marker val="1"/>
        <c:smooth val="0"/>
        <c:axId val="2130145136"/>
        <c:axId val="616221967"/>
      </c:lineChart>
      <c:catAx>
        <c:axId val="149216169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492157375"/>
        <c:crosses val="autoZero"/>
        <c:auto val="1"/>
        <c:lblAlgn val="ctr"/>
        <c:lblOffset val="100"/>
        <c:noMultiLvlLbl val="0"/>
      </c:catAx>
      <c:valAx>
        <c:axId val="149215737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492161695"/>
        <c:crosses val="autoZero"/>
        <c:crossBetween val="between"/>
      </c:valAx>
      <c:valAx>
        <c:axId val="616221967"/>
        <c:scaling>
          <c:orientation val="minMax"/>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2130145136"/>
        <c:crosses val="max"/>
        <c:crossBetween val="between"/>
      </c:valAx>
      <c:catAx>
        <c:axId val="2130145136"/>
        <c:scaling>
          <c:orientation val="minMax"/>
        </c:scaling>
        <c:delete val="1"/>
        <c:axPos val="b"/>
        <c:numFmt formatCode="General" sourceLinked="1"/>
        <c:majorTickMark val="out"/>
        <c:minorTickMark val="none"/>
        <c:tickLblPos val="nextTo"/>
        <c:crossAx val="616221967"/>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s-CO" sz="1400" b="1" i="0" u="none" strike="noStrike" kern="1200" spc="0" baseline="0">
                <a:solidFill>
                  <a:srgbClr val="80589F">
                    <a:lumMod val="65000"/>
                    <a:lumOff val="35000"/>
                  </a:srgbClr>
                </a:solidFill>
              </a:rPr>
              <a:t>Prevalencia de Priorizados Septiembre 2025</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Prevalencia!$AY$76</c:f>
              <c:strCache>
                <c:ptCount val="1"/>
                <c:pt idx="0">
                  <c:v>Casos</c:v>
                </c:pt>
              </c:strCache>
            </c:strRef>
          </c:tx>
          <c:spPr>
            <a:solidFill>
              <a:srgbClr val="47A9A1"/>
            </a:solidFill>
            <a:ln>
              <a:noFill/>
            </a:ln>
            <a:effectLst/>
          </c:spPr>
          <c:invertIfNegative val="0"/>
          <c:dLbls>
            <c:dLbl>
              <c:idx val="0"/>
              <c:layout>
                <c:manualLayout>
                  <c:x val="-1.5821911835110405E-2"/>
                  <c:y val="-2.720504377227278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FCA-4B15-B5C2-F66F3A7235FB}"/>
                </c:ext>
              </c:extLst>
            </c:dLbl>
            <c:dLbl>
              <c:idx val="1"/>
              <c:layout>
                <c:manualLayout>
                  <c:x val="2.2602731193014868E-3"/>
                  <c:y val="-9.249714882572754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FCA-4B15-B5C2-F66F3A7235FB}"/>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47A9A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Prevalencia!$AX$77:$AX$87</c:f>
              <c:strCache>
                <c:ptCount val="11"/>
                <c:pt idx="0">
                  <c:v>1= CAC Mama</c:v>
                </c:pt>
                <c:pt idx="1">
                  <c:v>2= CAC Próstata</c:v>
                </c:pt>
                <c:pt idx="2">
                  <c:v>3= CAC Cérvix</c:v>
                </c:pt>
                <c:pt idx="3">
                  <c:v>4= CAC Colorectal</c:v>
                </c:pt>
                <c:pt idx="4">
                  <c:v>9= CAC Linfoma No Hodgkin</c:v>
                </c:pt>
                <c:pt idx="5">
                  <c:v>5= CAC Estómago</c:v>
                </c:pt>
                <c:pt idx="6">
                  <c:v>6= CAC Melanoma</c:v>
                </c:pt>
                <c:pt idx="7">
                  <c:v>8= CAC Linfoma Hodgkin</c:v>
                </c:pt>
                <c:pt idx="8">
                  <c:v>7= CAC Pulmón</c:v>
                </c:pt>
                <c:pt idx="9">
                  <c:v>11= CAC Leucemia Mielocitica Aguda</c:v>
                </c:pt>
                <c:pt idx="10">
                  <c:v>10= CAC Leucemia Linfocitica Aguda</c:v>
                </c:pt>
              </c:strCache>
            </c:strRef>
          </c:cat>
          <c:val>
            <c:numRef>
              <c:f>Prevalencia!$AY$77:$AY$87</c:f>
              <c:numCache>
                <c:formatCode>General</c:formatCode>
                <c:ptCount val="11"/>
                <c:pt idx="0">
                  <c:v>795</c:v>
                </c:pt>
                <c:pt idx="1">
                  <c:v>542</c:v>
                </c:pt>
                <c:pt idx="2">
                  <c:v>296</c:v>
                </c:pt>
                <c:pt idx="3">
                  <c:v>258</c:v>
                </c:pt>
                <c:pt idx="4">
                  <c:v>110</c:v>
                </c:pt>
                <c:pt idx="5">
                  <c:v>90</c:v>
                </c:pt>
                <c:pt idx="6">
                  <c:v>53</c:v>
                </c:pt>
                <c:pt idx="7">
                  <c:v>31</c:v>
                </c:pt>
                <c:pt idx="8">
                  <c:v>24</c:v>
                </c:pt>
                <c:pt idx="9">
                  <c:v>12</c:v>
                </c:pt>
                <c:pt idx="10">
                  <c:v>8</c:v>
                </c:pt>
              </c:numCache>
            </c:numRef>
          </c:val>
          <c:extLst>
            <c:ext xmlns:c16="http://schemas.microsoft.com/office/drawing/2014/chart" uri="{C3380CC4-5D6E-409C-BE32-E72D297353CC}">
              <c16:uniqueId val="{00000000-38BF-43E8-B389-CE9A8FE84DF1}"/>
            </c:ext>
          </c:extLst>
        </c:ser>
        <c:dLbls>
          <c:showLegendKey val="0"/>
          <c:showVal val="0"/>
          <c:showCatName val="0"/>
          <c:showSerName val="0"/>
          <c:showPercent val="0"/>
          <c:showBubbleSize val="0"/>
        </c:dLbls>
        <c:gapWidth val="219"/>
        <c:axId val="1774398895"/>
        <c:axId val="1774416175"/>
      </c:barChart>
      <c:lineChart>
        <c:grouping val="standard"/>
        <c:varyColors val="0"/>
        <c:ser>
          <c:idx val="1"/>
          <c:order val="1"/>
          <c:tx>
            <c:strRef>
              <c:f>Prevalencia!$AZ$76</c:f>
              <c:strCache>
                <c:ptCount val="1"/>
                <c:pt idx="0">
                  <c:v>Tasa x 100 mil</c:v>
                </c:pt>
              </c:strCache>
            </c:strRef>
          </c:tx>
          <c:spPr>
            <a:ln w="28575" cap="rnd">
              <a:solidFill>
                <a:schemeClr val="tx1"/>
              </a:solidFill>
              <a:round/>
            </a:ln>
            <a:effectLst/>
          </c:spPr>
          <c:marker>
            <c:symbol val="none"/>
          </c:marker>
          <c:dLbls>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1" i="0" u="none" strike="noStrike" kern="1200" baseline="0">
                    <a:solidFill>
                      <a:schemeClr val="tx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leftArrow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Prevalencia!$AX$77:$AX$87</c:f>
              <c:strCache>
                <c:ptCount val="11"/>
                <c:pt idx="0">
                  <c:v>1= CAC Mama</c:v>
                </c:pt>
                <c:pt idx="1">
                  <c:v>2= CAC Próstata</c:v>
                </c:pt>
                <c:pt idx="2">
                  <c:v>3= CAC Cérvix</c:v>
                </c:pt>
                <c:pt idx="3">
                  <c:v>4= CAC Colorectal</c:v>
                </c:pt>
                <c:pt idx="4">
                  <c:v>9= CAC Linfoma No Hodgkin</c:v>
                </c:pt>
                <c:pt idx="5">
                  <c:v>5= CAC Estómago</c:v>
                </c:pt>
                <c:pt idx="6">
                  <c:v>6= CAC Melanoma</c:v>
                </c:pt>
                <c:pt idx="7">
                  <c:v>8= CAC Linfoma Hodgkin</c:v>
                </c:pt>
                <c:pt idx="8">
                  <c:v>7= CAC Pulmón</c:v>
                </c:pt>
                <c:pt idx="9">
                  <c:v>11= CAC Leucemia Mielocitica Aguda</c:v>
                </c:pt>
                <c:pt idx="10">
                  <c:v>10= CAC Leucemia Linfocitica Aguda</c:v>
                </c:pt>
              </c:strCache>
            </c:strRef>
          </c:cat>
          <c:val>
            <c:numRef>
              <c:f>Prevalencia!$AZ$77:$AZ$87</c:f>
              <c:numCache>
                <c:formatCode>0</c:formatCode>
                <c:ptCount val="11"/>
                <c:pt idx="0">
                  <c:v>132.96182072398128</c:v>
                </c:pt>
                <c:pt idx="1">
                  <c:v>90.648184694840069</c:v>
                </c:pt>
                <c:pt idx="2">
                  <c:v>49.505281678362842</c:v>
                </c:pt>
                <c:pt idx="3">
                  <c:v>43.149873895329783</c:v>
                </c:pt>
                <c:pt idx="4">
                  <c:v>18.397233056148355</c:v>
                </c:pt>
                <c:pt idx="5">
                  <c:v>15.052281591394108</c:v>
                </c:pt>
                <c:pt idx="6">
                  <c:v>8.8641213815987534</c:v>
                </c:pt>
                <c:pt idx="7">
                  <c:v>5.1846747703690816</c:v>
                </c:pt>
                <c:pt idx="8">
                  <c:v>4.013941757705096</c:v>
                </c:pt>
                <c:pt idx="9">
                  <c:v>2.006970878852548</c:v>
                </c:pt>
                <c:pt idx="10">
                  <c:v>1.3379805859016984</c:v>
                </c:pt>
              </c:numCache>
            </c:numRef>
          </c:val>
          <c:smooth val="0"/>
          <c:extLst>
            <c:ext xmlns:c16="http://schemas.microsoft.com/office/drawing/2014/chart" uri="{C3380CC4-5D6E-409C-BE32-E72D297353CC}">
              <c16:uniqueId val="{00000001-38BF-43E8-B389-CE9A8FE84DF1}"/>
            </c:ext>
          </c:extLst>
        </c:ser>
        <c:dLbls>
          <c:showLegendKey val="0"/>
          <c:showVal val="0"/>
          <c:showCatName val="0"/>
          <c:showSerName val="0"/>
          <c:showPercent val="0"/>
          <c:showBubbleSize val="0"/>
        </c:dLbls>
        <c:marker val="1"/>
        <c:smooth val="0"/>
        <c:axId val="1902284080"/>
        <c:axId val="616227247"/>
      </c:lineChart>
      <c:catAx>
        <c:axId val="177439889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774416175"/>
        <c:crosses val="autoZero"/>
        <c:auto val="1"/>
        <c:lblAlgn val="ctr"/>
        <c:lblOffset val="100"/>
        <c:noMultiLvlLbl val="0"/>
      </c:catAx>
      <c:valAx>
        <c:axId val="177441617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774398895"/>
        <c:crosses val="autoZero"/>
        <c:crossBetween val="between"/>
      </c:valAx>
      <c:valAx>
        <c:axId val="616227247"/>
        <c:scaling>
          <c:orientation val="minMax"/>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902284080"/>
        <c:crosses val="max"/>
        <c:crossBetween val="between"/>
      </c:valAx>
      <c:catAx>
        <c:axId val="1902284080"/>
        <c:scaling>
          <c:orientation val="minMax"/>
        </c:scaling>
        <c:delete val="1"/>
        <c:axPos val="b"/>
        <c:numFmt formatCode="General" sourceLinked="1"/>
        <c:majorTickMark val="out"/>
        <c:minorTickMark val="none"/>
        <c:tickLblPos val="nextTo"/>
        <c:crossAx val="616227247"/>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s-CO" sz="1400" b="1" i="0" u="none" strike="noStrike" kern="1200" spc="0" baseline="0">
                <a:solidFill>
                  <a:srgbClr val="80589F">
                    <a:lumMod val="65000"/>
                    <a:lumOff val="35000"/>
                  </a:srgbClr>
                </a:solidFill>
              </a:rPr>
              <a:t>Prevalencia de no priorizados Septiembre 2026</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Prevalencia!$BV$75</c:f>
              <c:strCache>
                <c:ptCount val="1"/>
                <c:pt idx="0">
                  <c:v>Casos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Prevalencia!$BU$76:$BU$89</c:f>
              <c:strCache>
                <c:ptCount val="14"/>
                <c:pt idx="0">
                  <c:v>16= Otros tumores de la piel</c:v>
                </c:pt>
                <c:pt idx="1">
                  <c:v>22= Glándulas tiroides y endocrinas</c:v>
                </c:pt>
                <c:pt idx="2">
                  <c:v>18= Otros órganos genitales femeninos</c:v>
                </c:pt>
                <c:pt idx="3">
                  <c:v>20= Vías urinarias</c:v>
                </c:pt>
                <c:pt idx="4">
                  <c:v>24= Otros tumores malignos del tejido linfático, de los órganos hematopoyéticos y de tejidos afines</c:v>
                </c:pt>
                <c:pt idx="5">
                  <c:v>13= Otros órganos digestivos</c:v>
                </c:pt>
                <c:pt idx="6">
                  <c:v>19= Otros órganos genitales masculinos</c:v>
                </c:pt>
                <c:pt idx="7">
                  <c:v>12= Labio, cavidad bucal y faringe</c:v>
                </c:pt>
                <c:pt idx="8">
                  <c:v>21= Ojo, encéfalo, y otras partes del sistema nervioso</c:v>
                </c:pt>
                <c:pt idx="9">
                  <c:v>17= Tejidos mesoteliales (excepto pulmón) y tejidos blandos</c:v>
                </c:pt>
                <c:pt idx="10">
                  <c:v>23= Otros sitios, sitios mal definidos, sitios no especificados</c:v>
                </c:pt>
                <c:pt idx="11">
                  <c:v>14= Otros órganos respiratorios e intratorácicos</c:v>
                </c:pt>
                <c:pt idx="12">
                  <c:v>15= Huesos y cartílagos articulares</c:v>
                </c:pt>
                <c:pt idx="13">
                  <c:v>25= Tumores secundarios</c:v>
                </c:pt>
              </c:strCache>
            </c:strRef>
          </c:cat>
          <c:val>
            <c:numRef>
              <c:f>Prevalencia!$BV$76:$BV$89</c:f>
              <c:numCache>
                <c:formatCode>General</c:formatCode>
                <c:ptCount val="14"/>
                <c:pt idx="0">
                  <c:v>2348</c:v>
                </c:pt>
                <c:pt idx="1">
                  <c:v>559</c:v>
                </c:pt>
                <c:pt idx="2">
                  <c:v>361</c:v>
                </c:pt>
                <c:pt idx="3">
                  <c:v>220</c:v>
                </c:pt>
                <c:pt idx="4">
                  <c:v>214</c:v>
                </c:pt>
                <c:pt idx="5">
                  <c:v>139</c:v>
                </c:pt>
                <c:pt idx="6">
                  <c:v>116</c:v>
                </c:pt>
                <c:pt idx="7">
                  <c:v>112</c:v>
                </c:pt>
                <c:pt idx="8">
                  <c:v>101</c:v>
                </c:pt>
                <c:pt idx="9">
                  <c:v>100</c:v>
                </c:pt>
                <c:pt idx="10">
                  <c:v>95</c:v>
                </c:pt>
                <c:pt idx="11">
                  <c:v>62</c:v>
                </c:pt>
                <c:pt idx="12">
                  <c:v>32</c:v>
                </c:pt>
                <c:pt idx="13">
                  <c:v>23</c:v>
                </c:pt>
              </c:numCache>
            </c:numRef>
          </c:val>
          <c:extLst>
            <c:ext xmlns:c16="http://schemas.microsoft.com/office/drawing/2014/chart" uri="{C3380CC4-5D6E-409C-BE32-E72D297353CC}">
              <c16:uniqueId val="{00000000-9BC2-40F3-94FD-3BBFBA3C973E}"/>
            </c:ext>
          </c:extLst>
        </c:ser>
        <c:dLbls>
          <c:showLegendKey val="0"/>
          <c:showVal val="0"/>
          <c:showCatName val="0"/>
          <c:showSerName val="0"/>
          <c:showPercent val="0"/>
          <c:showBubbleSize val="0"/>
        </c:dLbls>
        <c:gapWidth val="219"/>
        <c:axId val="1483710047"/>
        <c:axId val="1483710527"/>
      </c:barChart>
      <c:lineChart>
        <c:grouping val="standard"/>
        <c:varyColors val="0"/>
        <c:ser>
          <c:idx val="1"/>
          <c:order val="1"/>
          <c:tx>
            <c:strRef>
              <c:f>Prevalencia!$BW$75</c:f>
              <c:strCache>
                <c:ptCount val="1"/>
                <c:pt idx="0">
                  <c:v>Tasa x 100 mil</c:v>
                </c:pt>
              </c:strCache>
            </c:strRef>
          </c:tx>
          <c:spPr>
            <a:ln w="28575" cap="rnd">
              <a:solidFill>
                <a:srgbClr val="47A9A1"/>
              </a:solidFill>
              <a:round/>
            </a:ln>
            <a:effectLst/>
          </c:spPr>
          <c:marker>
            <c:symbol val="none"/>
          </c:marker>
          <c:dLbls>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1" i="0" u="none" strike="noStrike" kern="1200" baseline="0">
                    <a:solidFill>
                      <a:srgbClr val="47A9A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leftArrow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Prevalencia!$BU$76:$BU$89</c:f>
              <c:strCache>
                <c:ptCount val="14"/>
                <c:pt idx="0">
                  <c:v>16= Otros tumores de la piel</c:v>
                </c:pt>
                <c:pt idx="1">
                  <c:v>22= Glándulas tiroides y endocrinas</c:v>
                </c:pt>
                <c:pt idx="2">
                  <c:v>18= Otros órganos genitales femeninos</c:v>
                </c:pt>
                <c:pt idx="3">
                  <c:v>20= Vías urinarias</c:v>
                </c:pt>
                <c:pt idx="4">
                  <c:v>24= Otros tumores malignos del tejido linfático, de los órganos hematopoyéticos y de tejidos afines</c:v>
                </c:pt>
                <c:pt idx="5">
                  <c:v>13= Otros órganos digestivos</c:v>
                </c:pt>
                <c:pt idx="6">
                  <c:v>19= Otros órganos genitales masculinos</c:v>
                </c:pt>
                <c:pt idx="7">
                  <c:v>12= Labio, cavidad bucal y faringe</c:v>
                </c:pt>
                <c:pt idx="8">
                  <c:v>21= Ojo, encéfalo, y otras partes del sistema nervioso</c:v>
                </c:pt>
                <c:pt idx="9">
                  <c:v>17= Tejidos mesoteliales (excepto pulmón) y tejidos blandos</c:v>
                </c:pt>
                <c:pt idx="10">
                  <c:v>23= Otros sitios, sitios mal definidos, sitios no especificados</c:v>
                </c:pt>
                <c:pt idx="11">
                  <c:v>14= Otros órganos respiratorios e intratorácicos</c:v>
                </c:pt>
                <c:pt idx="12">
                  <c:v>15= Huesos y cartílagos articulares</c:v>
                </c:pt>
                <c:pt idx="13">
                  <c:v>25= Tumores secundarios</c:v>
                </c:pt>
              </c:strCache>
            </c:strRef>
          </c:cat>
          <c:val>
            <c:numRef>
              <c:f>Prevalencia!$BW$76:$BW$89</c:f>
              <c:numCache>
                <c:formatCode>0</c:formatCode>
                <c:ptCount val="14"/>
                <c:pt idx="0">
                  <c:v>376.69194524169728</c:v>
                </c:pt>
                <c:pt idx="1">
                  <c:v>89.680918820318908</c:v>
                </c:pt>
                <c:pt idx="2">
                  <c:v>57.915584426002013</c:v>
                </c:pt>
                <c:pt idx="3">
                  <c:v>35.294815993685432</c:v>
                </c:pt>
                <c:pt idx="4">
                  <c:v>34.332230102948557</c:v>
                </c:pt>
                <c:pt idx="5">
                  <c:v>22.299906468737618</c:v>
                </c:pt>
                <c:pt idx="6">
                  <c:v>18.609993887579595</c:v>
                </c:pt>
                <c:pt idx="7">
                  <c:v>17.968269960421679</c:v>
                </c:pt>
                <c:pt idx="8">
                  <c:v>16.203529160737407</c:v>
                </c:pt>
                <c:pt idx="9">
                  <c:v>16.043098178947925</c:v>
                </c:pt>
                <c:pt idx="10">
                  <c:v>15.24094327000053</c:v>
                </c:pt>
                <c:pt idx="11">
                  <c:v>9.9467208709477131</c:v>
                </c:pt>
                <c:pt idx="12">
                  <c:v>5.1337914172633363</c:v>
                </c:pt>
                <c:pt idx="13">
                  <c:v>3.6899125811580231</c:v>
                </c:pt>
              </c:numCache>
            </c:numRef>
          </c:val>
          <c:smooth val="0"/>
          <c:extLst>
            <c:ext xmlns:c16="http://schemas.microsoft.com/office/drawing/2014/chart" uri="{C3380CC4-5D6E-409C-BE32-E72D297353CC}">
              <c16:uniqueId val="{00000001-9BC2-40F3-94FD-3BBFBA3C973E}"/>
            </c:ext>
          </c:extLst>
        </c:ser>
        <c:dLbls>
          <c:showLegendKey val="0"/>
          <c:showVal val="0"/>
          <c:showCatName val="0"/>
          <c:showSerName val="0"/>
          <c:showPercent val="0"/>
          <c:showBubbleSize val="0"/>
        </c:dLbls>
        <c:marker val="1"/>
        <c:smooth val="0"/>
        <c:axId val="178660063"/>
        <c:axId val="1647650063"/>
      </c:lineChart>
      <c:catAx>
        <c:axId val="14837100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483710527"/>
        <c:crosses val="autoZero"/>
        <c:auto val="1"/>
        <c:lblAlgn val="ctr"/>
        <c:lblOffset val="100"/>
        <c:noMultiLvlLbl val="0"/>
      </c:catAx>
      <c:valAx>
        <c:axId val="148371052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483710047"/>
        <c:crosses val="autoZero"/>
        <c:crossBetween val="between"/>
      </c:valAx>
      <c:valAx>
        <c:axId val="1647650063"/>
        <c:scaling>
          <c:orientation val="minMax"/>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47A9A1"/>
                </a:solidFill>
                <a:latin typeface="+mn-lt"/>
                <a:ea typeface="+mn-ea"/>
                <a:cs typeface="+mn-cs"/>
              </a:defRPr>
            </a:pPr>
            <a:endParaRPr lang="es-CO"/>
          </a:p>
        </c:txPr>
        <c:crossAx val="178660063"/>
        <c:crosses val="max"/>
        <c:crossBetween val="between"/>
      </c:valAx>
      <c:catAx>
        <c:axId val="178660063"/>
        <c:scaling>
          <c:orientation val="minMax"/>
        </c:scaling>
        <c:delete val="1"/>
        <c:axPos val="b"/>
        <c:numFmt formatCode="General" sourceLinked="1"/>
        <c:majorTickMark val="out"/>
        <c:minorTickMark val="none"/>
        <c:tickLblPos val="nextTo"/>
        <c:crossAx val="1647650063"/>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47A9A1"/>
                </a:solidFill>
                <a:latin typeface="+mn-lt"/>
                <a:ea typeface="+mn-ea"/>
                <a:cs typeface="+mn-cs"/>
              </a:defRPr>
            </a:pPr>
            <a:r>
              <a:rPr lang="es-CO" sz="1400" b="1" i="0" u="none" strike="noStrike" kern="1200" spc="0" baseline="0">
                <a:solidFill>
                  <a:srgbClr val="47A9A1"/>
                </a:solidFill>
              </a:rPr>
              <a:t>Prevalencia de no priorizados Septiembre  2025</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47A9A1"/>
              </a:solidFill>
              <a:latin typeface="+mn-lt"/>
              <a:ea typeface="+mn-ea"/>
              <a:cs typeface="+mn-cs"/>
            </a:defRPr>
          </a:pPr>
          <a:endParaRPr lang="es-CO"/>
        </a:p>
      </c:txPr>
    </c:title>
    <c:autoTitleDeleted val="0"/>
    <c:plotArea>
      <c:layout/>
      <c:barChart>
        <c:barDir val="col"/>
        <c:grouping val="clustered"/>
        <c:varyColors val="0"/>
        <c:ser>
          <c:idx val="0"/>
          <c:order val="0"/>
          <c:tx>
            <c:strRef>
              <c:f>Prevalencia!$BJ$75</c:f>
              <c:strCache>
                <c:ptCount val="1"/>
                <c:pt idx="0">
                  <c:v>Casos</c:v>
                </c:pt>
              </c:strCache>
            </c:strRef>
          </c:tx>
          <c:spPr>
            <a:solidFill>
              <a:srgbClr val="47A9A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47A9A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Prevalencia!$BI$76:$BI$89</c:f>
              <c:strCache>
                <c:ptCount val="14"/>
                <c:pt idx="0">
                  <c:v>16= Otros tumores de la piel</c:v>
                </c:pt>
                <c:pt idx="1">
                  <c:v>22= Glándulas tiroides y endocrinas</c:v>
                </c:pt>
                <c:pt idx="2">
                  <c:v>18= Otros órganos genitales femeninos</c:v>
                </c:pt>
                <c:pt idx="3">
                  <c:v>20= Vías urinarias</c:v>
                </c:pt>
                <c:pt idx="4">
                  <c:v>24= Otros tumores malignos del tejido linfático, de los órganos hematopoyéticos y de tejidos afines</c:v>
                </c:pt>
                <c:pt idx="5">
                  <c:v>19= Otros órganos genitales masculinos</c:v>
                </c:pt>
                <c:pt idx="6">
                  <c:v>12= Labio, cavidad bucal y faringe</c:v>
                </c:pt>
                <c:pt idx="7">
                  <c:v>17= Tejidos mesoteliales (excepto pulmón) y tejidos blandos</c:v>
                </c:pt>
                <c:pt idx="8">
                  <c:v>13= Otros órganos digestivos</c:v>
                </c:pt>
                <c:pt idx="9">
                  <c:v>21= Ojo, encéfalo, y otras partes del sistema nervioso</c:v>
                </c:pt>
                <c:pt idx="10">
                  <c:v>23= Otros sitios, sitios mal definidos, sitios no especificados</c:v>
                </c:pt>
                <c:pt idx="11">
                  <c:v>14= Otros órganos respiratorios e intratorácicos</c:v>
                </c:pt>
                <c:pt idx="12">
                  <c:v>15= Huesos y cartílagos articulares</c:v>
                </c:pt>
                <c:pt idx="13">
                  <c:v>25= Tumores secundarios</c:v>
                </c:pt>
              </c:strCache>
            </c:strRef>
          </c:cat>
          <c:val>
            <c:numRef>
              <c:f>Prevalencia!$BJ$76:$BJ$89</c:f>
              <c:numCache>
                <c:formatCode>General</c:formatCode>
                <c:ptCount val="14"/>
                <c:pt idx="0">
                  <c:v>1104</c:v>
                </c:pt>
                <c:pt idx="1">
                  <c:v>303</c:v>
                </c:pt>
                <c:pt idx="2">
                  <c:v>137</c:v>
                </c:pt>
                <c:pt idx="3">
                  <c:v>117</c:v>
                </c:pt>
                <c:pt idx="4">
                  <c:v>105</c:v>
                </c:pt>
                <c:pt idx="5">
                  <c:v>58</c:v>
                </c:pt>
                <c:pt idx="6">
                  <c:v>48</c:v>
                </c:pt>
                <c:pt idx="7">
                  <c:v>39</c:v>
                </c:pt>
                <c:pt idx="8">
                  <c:v>47</c:v>
                </c:pt>
                <c:pt idx="9">
                  <c:v>32</c:v>
                </c:pt>
                <c:pt idx="10">
                  <c:v>20</c:v>
                </c:pt>
                <c:pt idx="11">
                  <c:v>21</c:v>
                </c:pt>
                <c:pt idx="12">
                  <c:v>11</c:v>
                </c:pt>
                <c:pt idx="13">
                  <c:v>9</c:v>
                </c:pt>
              </c:numCache>
            </c:numRef>
          </c:val>
          <c:extLst>
            <c:ext xmlns:c16="http://schemas.microsoft.com/office/drawing/2014/chart" uri="{C3380CC4-5D6E-409C-BE32-E72D297353CC}">
              <c16:uniqueId val="{00000000-2DA7-41C7-B18D-DBAB745FAB82}"/>
            </c:ext>
          </c:extLst>
        </c:ser>
        <c:dLbls>
          <c:showLegendKey val="0"/>
          <c:showVal val="0"/>
          <c:showCatName val="0"/>
          <c:showSerName val="0"/>
          <c:showPercent val="0"/>
          <c:showBubbleSize val="0"/>
        </c:dLbls>
        <c:gapWidth val="219"/>
        <c:axId val="1864631183"/>
        <c:axId val="1864601903"/>
      </c:barChart>
      <c:lineChart>
        <c:grouping val="standard"/>
        <c:varyColors val="0"/>
        <c:ser>
          <c:idx val="1"/>
          <c:order val="1"/>
          <c:tx>
            <c:strRef>
              <c:f>Prevalencia!$BK$75</c:f>
              <c:strCache>
                <c:ptCount val="1"/>
                <c:pt idx="0">
                  <c:v>Tasa x 100 mil</c:v>
                </c:pt>
              </c:strCache>
            </c:strRef>
          </c:tx>
          <c:spPr>
            <a:ln w="28575" cap="rnd">
              <a:solidFill>
                <a:schemeClr val="tx1"/>
              </a:solidFill>
              <a:round/>
            </a:ln>
            <a:effectLst/>
          </c:spPr>
          <c:marker>
            <c:symbol val="none"/>
          </c:marker>
          <c:dLbls>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1" i="0" u="none" strike="noStrike" kern="1200" baseline="0">
                    <a:solidFill>
                      <a:schemeClr val="tx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leftArrow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Prevalencia!$BI$76:$BI$89</c:f>
              <c:strCache>
                <c:ptCount val="14"/>
                <c:pt idx="0">
                  <c:v>16= Otros tumores de la piel</c:v>
                </c:pt>
                <c:pt idx="1">
                  <c:v>22= Glándulas tiroides y endocrinas</c:v>
                </c:pt>
                <c:pt idx="2">
                  <c:v>18= Otros órganos genitales femeninos</c:v>
                </c:pt>
                <c:pt idx="3">
                  <c:v>20= Vías urinarias</c:v>
                </c:pt>
                <c:pt idx="4">
                  <c:v>24= Otros tumores malignos del tejido linfático, de los órganos hematopoyéticos y de tejidos afines</c:v>
                </c:pt>
                <c:pt idx="5">
                  <c:v>19= Otros órganos genitales masculinos</c:v>
                </c:pt>
                <c:pt idx="6">
                  <c:v>12= Labio, cavidad bucal y faringe</c:v>
                </c:pt>
                <c:pt idx="7">
                  <c:v>17= Tejidos mesoteliales (excepto pulmón) y tejidos blandos</c:v>
                </c:pt>
                <c:pt idx="8">
                  <c:v>13= Otros órganos digestivos</c:v>
                </c:pt>
                <c:pt idx="9">
                  <c:v>21= Ojo, encéfalo, y otras partes del sistema nervioso</c:v>
                </c:pt>
                <c:pt idx="10">
                  <c:v>23= Otros sitios, sitios mal definidos, sitios no especificados</c:v>
                </c:pt>
                <c:pt idx="11">
                  <c:v>14= Otros órganos respiratorios e intratorácicos</c:v>
                </c:pt>
                <c:pt idx="12">
                  <c:v>15= Huesos y cartílagos articulares</c:v>
                </c:pt>
                <c:pt idx="13">
                  <c:v>25= Tumores secundarios</c:v>
                </c:pt>
              </c:strCache>
            </c:strRef>
          </c:cat>
          <c:val>
            <c:numRef>
              <c:f>Prevalencia!$BK$76:$BK$89</c:f>
              <c:numCache>
                <c:formatCode>0</c:formatCode>
                <c:ptCount val="14"/>
                <c:pt idx="0">
                  <c:v>184.64132085443441</c:v>
                </c:pt>
                <c:pt idx="1">
                  <c:v>50.676014691026836</c:v>
                </c:pt>
                <c:pt idx="2">
                  <c:v>22.912917533566588</c:v>
                </c:pt>
                <c:pt idx="3">
                  <c:v>19.567966068812343</c:v>
                </c:pt>
                <c:pt idx="4">
                  <c:v>17.560995189959794</c:v>
                </c:pt>
                <c:pt idx="5">
                  <c:v>9.7003592477873148</c:v>
                </c:pt>
                <c:pt idx="6">
                  <c:v>8.027883515410192</c:v>
                </c:pt>
                <c:pt idx="7">
                  <c:v>6.5226553562707803</c:v>
                </c:pt>
                <c:pt idx="8">
                  <c:v>7.860635942172479</c:v>
                </c:pt>
                <c:pt idx="9">
                  <c:v>5.3519223436067938</c:v>
                </c:pt>
                <c:pt idx="10">
                  <c:v>3.3449514647542462</c:v>
                </c:pt>
                <c:pt idx="11">
                  <c:v>3.5121990379919588</c:v>
                </c:pt>
                <c:pt idx="12">
                  <c:v>1.8397233056148354</c:v>
                </c:pt>
                <c:pt idx="13">
                  <c:v>1.505228159139411</c:v>
                </c:pt>
              </c:numCache>
            </c:numRef>
          </c:val>
          <c:smooth val="0"/>
          <c:extLst>
            <c:ext xmlns:c16="http://schemas.microsoft.com/office/drawing/2014/chart" uri="{C3380CC4-5D6E-409C-BE32-E72D297353CC}">
              <c16:uniqueId val="{00000001-2DA7-41C7-B18D-DBAB745FAB82}"/>
            </c:ext>
          </c:extLst>
        </c:ser>
        <c:dLbls>
          <c:showLegendKey val="0"/>
          <c:showVal val="0"/>
          <c:showCatName val="0"/>
          <c:showSerName val="0"/>
          <c:showPercent val="0"/>
          <c:showBubbleSize val="0"/>
        </c:dLbls>
        <c:marker val="1"/>
        <c:smooth val="0"/>
        <c:axId val="1651047615"/>
        <c:axId val="1647627503"/>
      </c:lineChart>
      <c:catAx>
        <c:axId val="186463118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864601903"/>
        <c:crosses val="autoZero"/>
        <c:auto val="1"/>
        <c:lblAlgn val="ctr"/>
        <c:lblOffset val="100"/>
        <c:noMultiLvlLbl val="0"/>
      </c:catAx>
      <c:valAx>
        <c:axId val="186460190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47A9A1"/>
                </a:solidFill>
                <a:latin typeface="+mn-lt"/>
                <a:ea typeface="+mn-ea"/>
                <a:cs typeface="+mn-cs"/>
              </a:defRPr>
            </a:pPr>
            <a:endParaRPr lang="es-CO"/>
          </a:p>
        </c:txPr>
        <c:crossAx val="1864631183"/>
        <c:crosses val="autoZero"/>
        <c:crossBetween val="between"/>
      </c:valAx>
      <c:valAx>
        <c:axId val="1647627503"/>
        <c:scaling>
          <c:orientation val="minMax"/>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651047615"/>
        <c:crosses val="max"/>
        <c:crossBetween val="between"/>
      </c:valAx>
      <c:catAx>
        <c:axId val="1651047615"/>
        <c:scaling>
          <c:orientation val="minMax"/>
        </c:scaling>
        <c:delete val="1"/>
        <c:axPos val="b"/>
        <c:numFmt formatCode="General" sourceLinked="1"/>
        <c:majorTickMark val="out"/>
        <c:minorTickMark val="none"/>
        <c:tickLblPos val="nextTo"/>
        <c:crossAx val="1647627503"/>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8791936168939084E-2"/>
          <c:y val="0.15874594730899533"/>
          <c:w val="0.91336541229928081"/>
          <c:h val="0.625348026652084"/>
        </c:manualLayout>
      </c:layout>
      <c:barChart>
        <c:barDir val="col"/>
        <c:grouping val="clustered"/>
        <c:varyColors val="0"/>
        <c:ser>
          <c:idx val="0"/>
          <c:order val="0"/>
          <c:tx>
            <c:strRef>
              <c:f>Hoja1!$A$2</c:f>
              <c:strCache>
                <c:ptCount val="1"/>
                <c:pt idx="0">
                  <c:v>Terapia sistemica</c:v>
                </c:pt>
              </c:strCache>
            </c:strRef>
          </c:tx>
          <c:spPr>
            <a:solidFill>
              <a:schemeClr val="accent1"/>
            </a:solidFill>
            <a:ln>
              <a:noFill/>
            </a:ln>
            <a:effectLst/>
          </c:spPr>
          <c:invertIfNegative val="0"/>
          <c:cat>
            <c:strRef>
              <c:f>Hoja1!$G$1:$V$1</c:f>
              <c:strCache>
                <c:ptCount val="16"/>
                <c:pt idx="0">
                  <c:v>jun-25</c:v>
                </c:pt>
                <c:pt idx="1">
                  <c:v>jul-25</c:v>
                </c:pt>
                <c:pt idx="2">
                  <c:v>ago-25</c:v>
                </c:pt>
                <c:pt idx="3">
                  <c:v>sep-25</c:v>
                </c:pt>
                <c:pt idx="4">
                  <c:v>oct-25</c:v>
                </c:pt>
                <c:pt idx="5">
                  <c:v>nov-25</c:v>
                </c:pt>
                <c:pt idx="6">
                  <c:v>dic-25</c:v>
                </c:pt>
                <c:pt idx="7">
                  <c:v>ene-26</c:v>
                </c:pt>
                <c:pt idx="8">
                  <c:v>feb-26</c:v>
                </c:pt>
                <c:pt idx="9">
                  <c:v>mar-26</c:v>
                </c:pt>
                <c:pt idx="10">
                  <c:v>abr-26</c:v>
                </c:pt>
                <c:pt idx="11">
                  <c:v>may-26</c:v>
                </c:pt>
                <c:pt idx="12">
                  <c:v>jun-26</c:v>
                </c:pt>
                <c:pt idx="13">
                  <c:v>jul-26</c:v>
                </c:pt>
                <c:pt idx="14">
                  <c:v>ago-26</c:v>
                </c:pt>
                <c:pt idx="15">
                  <c:v>sep-26</c:v>
                </c:pt>
              </c:strCache>
            </c:strRef>
          </c:cat>
          <c:val>
            <c:numRef>
              <c:f>Hoja1!$G$2:$V$2</c:f>
              <c:numCache>
                <c:formatCode>0%</c:formatCode>
                <c:ptCount val="16"/>
                <c:pt idx="0">
                  <c:v>0.14158253111058933</c:v>
                </c:pt>
                <c:pt idx="1">
                  <c:v>0.15289256198347106</c:v>
                </c:pt>
                <c:pt idx="2">
                  <c:v>0.14841305319624498</c:v>
                </c:pt>
                <c:pt idx="3">
                  <c:v>0.14217598612917209</c:v>
                </c:pt>
                <c:pt idx="4">
                  <c:v>9.269627970635809E-2</c:v>
                </c:pt>
                <c:pt idx="5">
                  <c:v>8.4901166944510595E-2</c:v>
                </c:pt>
                <c:pt idx="6">
                  <c:v>7.8090346679117545E-2</c:v>
                </c:pt>
                <c:pt idx="7">
                  <c:v>7.706464228203358E-2</c:v>
                </c:pt>
                <c:pt idx="8">
                  <c:v>8.5661722433022877E-2</c:v>
                </c:pt>
                <c:pt idx="9">
                  <c:v>8.4631008801624913E-2</c:v>
                </c:pt>
                <c:pt idx="10">
                  <c:v>7.8320593774232852E-2</c:v>
                </c:pt>
                <c:pt idx="11">
                  <c:v>7.3467173087357562E-2</c:v>
                </c:pt>
                <c:pt idx="12">
                  <c:v>6.8601301611010343E-2</c:v>
                </c:pt>
                <c:pt idx="13">
                  <c:v>6.7170445004198151E-2</c:v>
                </c:pt>
                <c:pt idx="14">
                  <c:v>5.2729914884783062E-2</c:v>
                </c:pt>
                <c:pt idx="15">
                  <c:v>6.420133538777606E-2</c:v>
                </c:pt>
              </c:numCache>
            </c:numRef>
          </c:val>
          <c:extLst>
            <c:ext xmlns:c16="http://schemas.microsoft.com/office/drawing/2014/chart" uri="{C3380CC4-5D6E-409C-BE32-E72D297353CC}">
              <c16:uniqueId val="{00000000-23E9-48BE-B6B1-EAD9636087D7}"/>
            </c:ext>
          </c:extLst>
        </c:ser>
        <c:ser>
          <c:idx val="1"/>
          <c:order val="1"/>
          <c:tx>
            <c:strRef>
              <c:f>Hoja1!$A$3</c:f>
              <c:strCache>
                <c:ptCount val="1"/>
                <c:pt idx="0">
                  <c:v>Radioterapia</c:v>
                </c:pt>
              </c:strCache>
            </c:strRef>
          </c:tx>
          <c:spPr>
            <a:solidFill>
              <a:srgbClr val="1CA6A0"/>
            </a:solidFill>
            <a:ln>
              <a:noFill/>
            </a:ln>
            <a:effectLst/>
          </c:spPr>
          <c:invertIfNegative val="0"/>
          <c:cat>
            <c:strRef>
              <c:f>Hoja1!$G$1:$V$1</c:f>
              <c:strCache>
                <c:ptCount val="16"/>
                <c:pt idx="0">
                  <c:v>jun-25</c:v>
                </c:pt>
                <c:pt idx="1">
                  <c:v>jul-25</c:v>
                </c:pt>
                <c:pt idx="2">
                  <c:v>ago-25</c:v>
                </c:pt>
                <c:pt idx="3">
                  <c:v>sep-25</c:v>
                </c:pt>
                <c:pt idx="4">
                  <c:v>oct-25</c:v>
                </c:pt>
                <c:pt idx="5">
                  <c:v>nov-25</c:v>
                </c:pt>
                <c:pt idx="6">
                  <c:v>dic-25</c:v>
                </c:pt>
                <c:pt idx="7">
                  <c:v>ene-26</c:v>
                </c:pt>
                <c:pt idx="8">
                  <c:v>feb-26</c:v>
                </c:pt>
                <c:pt idx="9">
                  <c:v>mar-26</c:v>
                </c:pt>
                <c:pt idx="10">
                  <c:v>abr-26</c:v>
                </c:pt>
                <c:pt idx="11">
                  <c:v>may-26</c:v>
                </c:pt>
                <c:pt idx="12">
                  <c:v>jun-26</c:v>
                </c:pt>
                <c:pt idx="13">
                  <c:v>jul-26</c:v>
                </c:pt>
                <c:pt idx="14">
                  <c:v>ago-26</c:v>
                </c:pt>
                <c:pt idx="15">
                  <c:v>sep-26</c:v>
                </c:pt>
              </c:strCache>
            </c:strRef>
          </c:cat>
          <c:val>
            <c:numRef>
              <c:f>Hoja1!$G$3:$V$3</c:f>
              <c:numCache>
                <c:formatCode>0%</c:formatCode>
                <c:ptCount val="16"/>
                <c:pt idx="0">
                  <c:v>7.5135008217891526E-3</c:v>
                </c:pt>
                <c:pt idx="1">
                  <c:v>8.2644628099173556E-3</c:v>
                </c:pt>
                <c:pt idx="2">
                  <c:v>1.005811354492624E-2</c:v>
                </c:pt>
                <c:pt idx="3">
                  <c:v>7.1521456436931079E-3</c:v>
                </c:pt>
                <c:pt idx="4">
                  <c:v>9.0829911658579076E-3</c:v>
                </c:pt>
                <c:pt idx="5">
                  <c:v>1.8933079304596333E-2</c:v>
                </c:pt>
                <c:pt idx="6">
                  <c:v>1.0738881755573713E-2</c:v>
                </c:pt>
                <c:pt idx="7">
                  <c:v>1.0582010582010581E-2</c:v>
                </c:pt>
                <c:pt idx="8">
                  <c:v>9.4285385765206387E-3</c:v>
                </c:pt>
                <c:pt idx="9">
                  <c:v>8.9144662604378252E-3</c:v>
                </c:pt>
                <c:pt idx="10">
                  <c:v>8.6407444333665671E-3</c:v>
                </c:pt>
                <c:pt idx="11">
                  <c:v>8.6814975583288118E-3</c:v>
                </c:pt>
                <c:pt idx="12">
                  <c:v>6.0812973434332656E-3</c:v>
                </c:pt>
                <c:pt idx="13">
                  <c:v>8.3963056255247689E-3</c:v>
                </c:pt>
                <c:pt idx="14" formatCode="0.0%">
                  <c:v>4.7747560722441349E-3</c:v>
                </c:pt>
                <c:pt idx="15" formatCode="0.0%">
                  <c:v>6.1633281972265025E-3</c:v>
                </c:pt>
              </c:numCache>
            </c:numRef>
          </c:val>
          <c:extLst>
            <c:ext xmlns:c16="http://schemas.microsoft.com/office/drawing/2014/chart" uri="{C3380CC4-5D6E-409C-BE32-E72D297353CC}">
              <c16:uniqueId val="{00000000-D849-44DA-B74E-B43108141DF5}"/>
            </c:ext>
          </c:extLst>
        </c:ser>
        <c:ser>
          <c:idx val="2"/>
          <c:order val="2"/>
          <c:tx>
            <c:strRef>
              <c:f>Hoja1!$A$4</c:f>
              <c:strCache>
                <c:ptCount val="1"/>
                <c:pt idx="0">
                  <c:v>Cirugia</c:v>
                </c:pt>
              </c:strCache>
            </c:strRef>
          </c:tx>
          <c:spPr>
            <a:solidFill>
              <a:schemeClr val="bg1">
                <a:lumMod val="50000"/>
              </a:schemeClr>
            </a:solidFill>
            <a:ln>
              <a:noFill/>
            </a:ln>
            <a:effectLst/>
          </c:spPr>
          <c:invertIfNegative val="0"/>
          <c:cat>
            <c:strRef>
              <c:f>Hoja1!$G$1:$V$1</c:f>
              <c:strCache>
                <c:ptCount val="16"/>
                <c:pt idx="0">
                  <c:v>jun-25</c:v>
                </c:pt>
                <c:pt idx="1">
                  <c:v>jul-25</c:v>
                </c:pt>
                <c:pt idx="2">
                  <c:v>ago-25</c:v>
                </c:pt>
                <c:pt idx="3">
                  <c:v>sep-25</c:v>
                </c:pt>
                <c:pt idx="4">
                  <c:v>oct-25</c:v>
                </c:pt>
                <c:pt idx="5">
                  <c:v>nov-25</c:v>
                </c:pt>
                <c:pt idx="6">
                  <c:v>dic-25</c:v>
                </c:pt>
                <c:pt idx="7">
                  <c:v>ene-26</c:v>
                </c:pt>
                <c:pt idx="8">
                  <c:v>feb-26</c:v>
                </c:pt>
                <c:pt idx="9">
                  <c:v>mar-26</c:v>
                </c:pt>
                <c:pt idx="10">
                  <c:v>abr-26</c:v>
                </c:pt>
                <c:pt idx="11">
                  <c:v>may-26</c:v>
                </c:pt>
                <c:pt idx="12">
                  <c:v>jun-26</c:v>
                </c:pt>
                <c:pt idx="13">
                  <c:v>jul-26</c:v>
                </c:pt>
                <c:pt idx="14">
                  <c:v>ago-26</c:v>
                </c:pt>
                <c:pt idx="15">
                  <c:v>sep-26</c:v>
                </c:pt>
              </c:strCache>
            </c:strRef>
          </c:cat>
          <c:val>
            <c:numRef>
              <c:f>Hoja1!$G$4:$V$4</c:f>
              <c:numCache>
                <c:formatCode>0%</c:formatCode>
                <c:ptCount val="16"/>
                <c:pt idx="0">
                  <c:v>2.0896924160601082E-2</c:v>
                </c:pt>
                <c:pt idx="1">
                  <c:v>2.4104683195592287E-2</c:v>
                </c:pt>
                <c:pt idx="2">
                  <c:v>2.1680822530174341E-2</c:v>
                </c:pt>
                <c:pt idx="3">
                  <c:v>2.037277850021673E-2</c:v>
                </c:pt>
                <c:pt idx="4">
                  <c:v>1.9161378623864626E-2</c:v>
                </c:pt>
                <c:pt idx="5">
                  <c:v>1.8218623481781375E-2</c:v>
                </c:pt>
                <c:pt idx="6">
                  <c:v>1.6691957511380879E-2</c:v>
                </c:pt>
                <c:pt idx="7">
                  <c:v>2.5994939038417299E-2</c:v>
                </c:pt>
                <c:pt idx="8">
                  <c:v>3.8174083017132342E-2</c:v>
                </c:pt>
                <c:pt idx="9">
                  <c:v>3.9832994809298125E-2</c:v>
                </c:pt>
                <c:pt idx="10">
                  <c:v>3.2901296111665007E-2</c:v>
                </c:pt>
                <c:pt idx="11">
                  <c:v>4.2213781877373846E-2</c:v>
                </c:pt>
                <c:pt idx="12">
                  <c:v>2.2191400832177532E-2</c:v>
                </c:pt>
                <c:pt idx="13">
                  <c:v>2.487405541561713E-2</c:v>
                </c:pt>
                <c:pt idx="14">
                  <c:v>1.9306622379074111E-2</c:v>
                </c:pt>
                <c:pt idx="15">
                  <c:v>2.0647149460708784E-2</c:v>
                </c:pt>
              </c:numCache>
            </c:numRef>
          </c:val>
          <c:extLst>
            <c:ext xmlns:c16="http://schemas.microsoft.com/office/drawing/2014/chart" uri="{C3380CC4-5D6E-409C-BE32-E72D297353CC}">
              <c16:uniqueId val="{00000001-D849-44DA-B74E-B43108141DF5}"/>
            </c:ext>
          </c:extLst>
        </c:ser>
        <c:dLbls>
          <c:showLegendKey val="0"/>
          <c:showVal val="0"/>
          <c:showCatName val="0"/>
          <c:showSerName val="0"/>
          <c:showPercent val="0"/>
          <c:showBubbleSize val="0"/>
        </c:dLbls>
        <c:gapWidth val="219"/>
        <c:axId val="2061031887"/>
        <c:axId val="2061024207"/>
      </c:barChart>
      <c:lineChart>
        <c:grouping val="standard"/>
        <c:varyColors val="0"/>
        <c:ser>
          <c:idx val="3"/>
          <c:order val="3"/>
          <c:tx>
            <c:strRef>
              <c:f>Hoja1!$A$5</c:f>
              <c:strCache>
                <c:ptCount val="1"/>
                <c:pt idx="0">
                  <c:v>Total</c:v>
                </c:pt>
              </c:strCache>
            </c:strRef>
          </c:tx>
          <c:spPr>
            <a:ln w="28575" cap="rnd">
              <a:solidFill>
                <a:srgbClr val="000000"/>
              </a:solidFill>
              <a:round/>
            </a:ln>
            <a:effectLst/>
          </c:spPr>
          <c:marker>
            <c:symbol val="none"/>
          </c:marker>
          <c:dLbls>
            <c:spPr>
              <a:solidFill>
                <a:srgbClr val="FFFFFF"/>
              </a:solidFill>
              <a:ln>
                <a:solidFill>
                  <a:srgbClr val="80589F">
                    <a:lumMod val="25000"/>
                    <a:lumOff val="75000"/>
                  </a:srgbClr>
                </a:solidFill>
              </a:ln>
              <a:effectLst/>
            </c:spPr>
            <c:txPr>
              <a:bodyPr rot="0" spcFirstLastPara="1" vertOverflow="clip" horzOverflow="clip" vert="horz" wrap="square" lIns="36576" tIns="18288" rIns="36576" bIns="18288" anchor="ctr" anchorCtr="1">
                <a:spAutoFit/>
              </a:bodyPr>
              <a:lstStyle/>
              <a:p>
                <a:pPr>
                  <a:defRPr sz="1197" b="0" i="0" u="none" strike="noStrike" kern="1200" baseline="0">
                    <a:solidFill>
                      <a:srgbClr val="000000"/>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Hoja1!$G$1:$V$1</c:f>
              <c:strCache>
                <c:ptCount val="16"/>
                <c:pt idx="0">
                  <c:v>jun-25</c:v>
                </c:pt>
                <c:pt idx="1">
                  <c:v>jul-25</c:v>
                </c:pt>
                <c:pt idx="2">
                  <c:v>ago-25</c:v>
                </c:pt>
                <c:pt idx="3">
                  <c:v>sep-25</c:v>
                </c:pt>
                <c:pt idx="4">
                  <c:v>oct-25</c:v>
                </c:pt>
                <c:pt idx="5">
                  <c:v>nov-25</c:v>
                </c:pt>
                <c:pt idx="6">
                  <c:v>dic-25</c:v>
                </c:pt>
                <c:pt idx="7">
                  <c:v>ene-26</c:v>
                </c:pt>
                <c:pt idx="8">
                  <c:v>feb-26</c:v>
                </c:pt>
                <c:pt idx="9">
                  <c:v>mar-26</c:v>
                </c:pt>
                <c:pt idx="10">
                  <c:v>abr-26</c:v>
                </c:pt>
                <c:pt idx="11">
                  <c:v>may-26</c:v>
                </c:pt>
                <c:pt idx="12">
                  <c:v>jun-26</c:v>
                </c:pt>
                <c:pt idx="13">
                  <c:v>jul-26</c:v>
                </c:pt>
                <c:pt idx="14">
                  <c:v>ago-26</c:v>
                </c:pt>
                <c:pt idx="15">
                  <c:v>sep-26</c:v>
                </c:pt>
              </c:strCache>
            </c:strRef>
          </c:cat>
          <c:val>
            <c:numRef>
              <c:f>Hoja1!$G$5:$V$5</c:f>
              <c:numCache>
                <c:formatCode>0%</c:formatCode>
                <c:ptCount val="16"/>
                <c:pt idx="0">
                  <c:v>0.16999295609297954</c:v>
                </c:pt>
                <c:pt idx="1">
                  <c:v>0.1852617079889807</c:v>
                </c:pt>
                <c:pt idx="2">
                  <c:v>0.18015198927134557</c:v>
                </c:pt>
                <c:pt idx="3">
                  <c:v>0.16970091027308193</c:v>
                </c:pt>
                <c:pt idx="4">
                  <c:v>0.12094064949608063</c:v>
                </c:pt>
                <c:pt idx="5">
                  <c:v>0.1220528697308883</c:v>
                </c:pt>
                <c:pt idx="6">
                  <c:v>0.10552118594607214</c:v>
                </c:pt>
                <c:pt idx="7">
                  <c:v>0.11364159190246145</c:v>
                </c:pt>
                <c:pt idx="8">
                  <c:v>0.11</c:v>
                </c:pt>
                <c:pt idx="9">
                  <c:v>0.13337846987136087</c:v>
                </c:pt>
                <c:pt idx="10">
                  <c:v>0.11986263431926443</c:v>
                </c:pt>
                <c:pt idx="11">
                  <c:v>0.12436245252306022</c:v>
                </c:pt>
                <c:pt idx="12">
                  <c:v>9.6873999786621146E-2</c:v>
                </c:pt>
                <c:pt idx="13">
                  <c:v>0.10044080604534004</c:v>
                </c:pt>
                <c:pt idx="14">
                  <c:v>7.6811293336101302E-2</c:v>
                </c:pt>
                <c:pt idx="15">
                  <c:v>9.1011813045711348E-2</c:v>
                </c:pt>
              </c:numCache>
            </c:numRef>
          </c:val>
          <c:smooth val="0"/>
          <c:extLst>
            <c:ext xmlns:c16="http://schemas.microsoft.com/office/drawing/2014/chart" uri="{C3380CC4-5D6E-409C-BE32-E72D297353CC}">
              <c16:uniqueId val="{00000002-D849-44DA-B74E-B43108141DF5}"/>
            </c:ext>
          </c:extLst>
        </c:ser>
        <c:dLbls>
          <c:showLegendKey val="0"/>
          <c:showVal val="0"/>
          <c:showCatName val="0"/>
          <c:showSerName val="0"/>
          <c:showPercent val="0"/>
          <c:showBubbleSize val="0"/>
        </c:dLbls>
        <c:marker val="1"/>
        <c:smooth val="0"/>
        <c:axId val="2061031887"/>
        <c:axId val="2061024207"/>
      </c:lineChart>
      <c:catAx>
        <c:axId val="20610318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2061024207"/>
        <c:crosses val="autoZero"/>
        <c:auto val="1"/>
        <c:lblAlgn val="ctr"/>
        <c:lblOffset val="100"/>
        <c:noMultiLvlLbl val="0"/>
      </c:catAx>
      <c:valAx>
        <c:axId val="2061024207"/>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206103188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solidFill>
                <a:latin typeface="+mn-lt"/>
                <a:ea typeface="+mn-ea"/>
                <a:cs typeface="+mn-cs"/>
              </a:defRPr>
            </a:pPr>
            <a:r>
              <a:rPr lang="es-CO" sz="1600" b="1" noProof="0"/>
              <a:t>Oportunidad</a:t>
            </a:r>
            <a:r>
              <a:rPr lang="es-CO" sz="1600" b="1" baseline="0" noProof="0"/>
              <a:t> de ingreso a modelo de paciente confirmado</a:t>
            </a:r>
          </a:p>
        </c:rich>
      </c:tx>
      <c:layout>
        <c:manualLayout>
          <c:xMode val="edge"/>
          <c:yMode val="edge"/>
          <c:x val="0.14268072916666666"/>
          <c:y val="2.2337918176381609E-2"/>
        </c:manualLayout>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solidFill>
              <a:latin typeface="+mn-lt"/>
              <a:ea typeface="+mn-ea"/>
              <a:cs typeface="+mn-cs"/>
            </a:defRPr>
          </a:pPr>
          <a:endParaRPr lang="es-CO"/>
        </a:p>
      </c:txPr>
    </c:title>
    <c:autoTitleDeleted val="0"/>
    <c:plotArea>
      <c:layout>
        <c:manualLayout>
          <c:layoutTarget val="inner"/>
          <c:xMode val="edge"/>
          <c:yMode val="edge"/>
          <c:x val="4.92421875E-2"/>
          <c:y val="0.21319027684947406"/>
          <c:w val="0.95378600517029466"/>
          <c:h val="0.55941358567559007"/>
        </c:manualLayout>
      </c:layout>
      <c:barChart>
        <c:barDir val="col"/>
        <c:grouping val="clustered"/>
        <c:varyColors val="0"/>
        <c:ser>
          <c:idx val="0"/>
          <c:order val="0"/>
          <c:tx>
            <c:strRef>
              <c:f>Hoja1!$B$1</c:f>
              <c:strCache>
                <c:ptCount val="1"/>
                <c:pt idx="0">
                  <c:v>2025</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Hoja1!$B$2:$B$13</c:f>
              <c:numCache>
                <c:formatCode>General</c:formatCode>
                <c:ptCount val="12"/>
                <c:pt idx="0">
                  <c:v>1</c:v>
                </c:pt>
                <c:pt idx="1">
                  <c:v>1.1000000000000001</c:v>
                </c:pt>
                <c:pt idx="2">
                  <c:v>1.3</c:v>
                </c:pt>
                <c:pt idx="3">
                  <c:v>1</c:v>
                </c:pt>
                <c:pt idx="4">
                  <c:v>1.2</c:v>
                </c:pt>
                <c:pt idx="5">
                  <c:v>1.1000000000000001</c:v>
                </c:pt>
                <c:pt idx="6">
                  <c:v>0.8</c:v>
                </c:pt>
                <c:pt idx="7">
                  <c:v>1</c:v>
                </c:pt>
                <c:pt idx="8">
                  <c:v>1</c:v>
                </c:pt>
                <c:pt idx="9">
                  <c:v>1.2</c:v>
                </c:pt>
                <c:pt idx="10">
                  <c:v>1.3</c:v>
                </c:pt>
                <c:pt idx="11">
                  <c:v>1</c:v>
                </c:pt>
              </c:numCache>
            </c:numRef>
          </c:val>
          <c:extLst>
            <c:ext xmlns:c16="http://schemas.microsoft.com/office/drawing/2014/chart" uri="{C3380CC4-5D6E-409C-BE32-E72D297353CC}">
              <c16:uniqueId val="{00000000-1D4E-4A77-BE7E-8A0F19784B49}"/>
            </c:ext>
          </c:extLst>
        </c:ser>
        <c:ser>
          <c:idx val="1"/>
          <c:order val="1"/>
          <c:tx>
            <c:strRef>
              <c:f>Hoja1!$C$1</c:f>
              <c:strCache>
                <c:ptCount val="1"/>
                <c:pt idx="0">
                  <c:v>2026</c:v>
                </c:pt>
              </c:strCache>
            </c:strRef>
          </c:tx>
          <c:spPr>
            <a:solidFill>
              <a:srgbClr val="45A9A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45A9A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Hoja1!$C$2:$C$13</c:f>
              <c:numCache>
                <c:formatCode>General</c:formatCode>
                <c:ptCount val="12"/>
                <c:pt idx="0">
                  <c:v>2</c:v>
                </c:pt>
                <c:pt idx="1">
                  <c:v>1.8</c:v>
                </c:pt>
                <c:pt idx="2">
                  <c:v>1.6</c:v>
                </c:pt>
                <c:pt idx="3">
                  <c:v>1.4</c:v>
                </c:pt>
                <c:pt idx="4">
                  <c:v>1.2</c:v>
                </c:pt>
                <c:pt idx="5">
                  <c:v>2.4</c:v>
                </c:pt>
                <c:pt idx="6">
                  <c:v>2.2999999999999998</c:v>
                </c:pt>
                <c:pt idx="7">
                  <c:v>1.8</c:v>
                </c:pt>
                <c:pt idx="8">
                  <c:v>1.9</c:v>
                </c:pt>
              </c:numCache>
            </c:numRef>
          </c:val>
          <c:extLst>
            <c:ext xmlns:c16="http://schemas.microsoft.com/office/drawing/2014/chart" uri="{C3380CC4-5D6E-409C-BE32-E72D297353CC}">
              <c16:uniqueId val="{00000000-A94F-453F-9430-D9F03B554404}"/>
            </c:ext>
          </c:extLst>
        </c:ser>
        <c:dLbls>
          <c:showLegendKey val="0"/>
          <c:showVal val="0"/>
          <c:showCatName val="0"/>
          <c:showSerName val="0"/>
          <c:showPercent val="0"/>
          <c:showBubbleSize val="0"/>
        </c:dLbls>
        <c:gapWidth val="150"/>
        <c:axId val="241713408"/>
        <c:axId val="241711008"/>
      </c:barChart>
      <c:lineChart>
        <c:grouping val="standard"/>
        <c:varyColors val="0"/>
        <c:ser>
          <c:idx val="2"/>
          <c:order val="2"/>
          <c:tx>
            <c:strRef>
              <c:f>Hoja1!$D$1</c:f>
              <c:strCache>
                <c:ptCount val="1"/>
                <c:pt idx="0">
                  <c:v>Meta</c:v>
                </c:pt>
              </c:strCache>
            </c:strRef>
          </c:tx>
          <c:spPr>
            <a:ln w="28575" cap="rnd">
              <a:solidFill>
                <a:schemeClr val="accent1">
                  <a:lumMod val="50000"/>
                </a:schemeClr>
              </a:solidFill>
              <a:round/>
            </a:ln>
            <a:effectLst/>
          </c:spPr>
          <c:marker>
            <c:symbol val="none"/>
          </c:marker>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Hoja1!$D$2:$D$13</c:f>
              <c:numCache>
                <c:formatCode>General</c:formatCode>
                <c:ptCount val="12"/>
                <c:pt idx="0">
                  <c:v>1</c:v>
                </c:pt>
                <c:pt idx="1">
                  <c:v>1</c:v>
                </c:pt>
                <c:pt idx="2">
                  <c:v>1</c:v>
                </c:pt>
                <c:pt idx="3">
                  <c:v>1</c:v>
                </c:pt>
                <c:pt idx="4">
                  <c:v>1</c:v>
                </c:pt>
                <c:pt idx="5">
                  <c:v>1</c:v>
                </c:pt>
                <c:pt idx="6">
                  <c:v>1</c:v>
                </c:pt>
                <c:pt idx="7">
                  <c:v>1</c:v>
                </c:pt>
                <c:pt idx="8">
                  <c:v>1</c:v>
                </c:pt>
                <c:pt idx="9">
                  <c:v>1</c:v>
                </c:pt>
                <c:pt idx="10">
                  <c:v>1</c:v>
                </c:pt>
              </c:numCache>
            </c:numRef>
          </c:val>
          <c:smooth val="0"/>
          <c:extLst>
            <c:ext xmlns:c16="http://schemas.microsoft.com/office/drawing/2014/chart" uri="{C3380CC4-5D6E-409C-BE32-E72D297353CC}">
              <c16:uniqueId val="{00000000-E51E-4140-8D6F-2814189F129B}"/>
            </c:ext>
          </c:extLst>
        </c:ser>
        <c:dLbls>
          <c:showLegendKey val="0"/>
          <c:showVal val="0"/>
          <c:showCatName val="0"/>
          <c:showSerName val="0"/>
          <c:showPercent val="0"/>
          <c:showBubbleSize val="0"/>
        </c:dLbls>
        <c:marker val="1"/>
        <c:smooth val="0"/>
        <c:axId val="241713408"/>
        <c:axId val="241711008"/>
      </c:lineChart>
      <c:catAx>
        <c:axId val="241713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s-CO"/>
          </a:p>
        </c:txPr>
        <c:crossAx val="241711008"/>
        <c:crosses val="autoZero"/>
        <c:auto val="1"/>
        <c:lblAlgn val="ctr"/>
        <c:lblOffset val="100"/>
        <c:noMultiLvlLbl val="0"/>
      </c:catAx>
      <c:valAx>
        <c:axId val="241711008"/>
        <c:scaling>
          <c:orientation val="minMax"/>
          <c:max val="3"/>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47A9A1"/>
                </a:solidFill>
                <a:latin typeface="+mn-lt"/>
                <a:ea typeface="+mn-ea"/>
                <a:cs typeface="+mn-cs"/>
              </a:defRPr>
            </a:pPr>
            <a:endParaRPr lang="es-CO"/>
          </a:p>
        </c:txPr>
        <c:crossAx val="241713408"/>
        <c:crosses val="autoZero"/>
        <c:crossBetween val="between"/>
        <c:majorUnit val="8"/>
      </c:valAx>
      <c:spPr>
        <a:noFill/>
        <a:ln>
          <a:noFill/>
        </a:ln>
        <a:effectLst/>
      </c:spPr>
    </c:plotArea>
    <c:legend>
      <c:legendPos val="r"/>
      <c:layout>
        <c:manualLayout>
          <c:xMode val="edge"/>
          <c:yMode val="edge"/>
          <c:x val="6.8040104166666657E-2"/>
          <c:y val="0.8238785227712847"/>
          <c:w val="0.82006527777777782"/>
          <c:h val="0.17612164491504556"/>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accent1"/>
      </a:solidFill>
    </a:ln>
    <a:effectLst/>
  </c:spPr>
  <c:txPr>
    <a:bodyPr/>
    <a:lstStyle/>
    <a:p>
      <a:pPr>
        <a:defRPr>
          <a:solidFill>
            <a:schemeClr val="tx1"/>
          </a:solidFill>
        </a:defRPr>
      </a:pPr>
      <a:endParaRPr lang="es-CO"/>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s-CO" sz="1600" b="0" i="0" u="none" strike="noStrike" kern="1200" spc="0" baseline="0" dirty="0" smtClean="0">
                <a:solidFill>
                  <a:schemeClr val="tx1">
                    <a:lumMod val="65000"/>
                    <a:lumOff val="35000"/>
                  </a:schemeClr>
                </a:solidFill>
                <a:latin typeface="+mn-lt"/>
                <a:ea typeface="+mn-ea"/>
                <a:cs typeface="+mn-cs"/>
              </a:defRPr>
            </a:pPr>
            <a:r>
              <a:rPr lang="es-CO" sz="1400" b="1" noProof="0">
                <a:solidFill>
                  <a:schemeClr val="tx1"/>
                </a:solidFill>
              </a:rPr>
              <a:t>Oportunidad de consulta Especializada</a:t>
            </a:r>
          </a:p>
        </c:rich>
      </c:tx>
      <c:overlay val="0"/>
      <c:spPr>
        <a:noFill/>
        <a:ln>
          <a:noFill/>
        </a:ln>
        <a:effectLst/>
      </c:spPr>
      <c:txPr>
        <a:bodyPr rot="0" spcFirstLastPara="1" vertOverflow="ellipsis" vert="horz" wrap="square" anchor="ctr" anchorCtr="1"/>
        <a:lstStyle/>
        <a:p>
          <a:pPr>
            <a:defRPr lang="es-CO" sz="1600" b="0" i="0" u="none" strike="noStrike" kern="1200" spc="0" baseline="0" dirty="0" smtClean="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Hoja1!$B$1</c:f>
              <c:strCache>
                <c:ptCount val="1"/>
                <c:pt idx="0">
                  <c:v>2025</c:v>
                </c:pt>
              </c:strCache>
            </c:strRef>
          </c:tx>
          <c:spPr>
            <a:solidFill>
              <a:schemeClr val="tx2"/>
            </a:solidFill>
            <a:ln>
              <a:noFill/>
            </a:ln>
            <a:effectLst/>
          </c:spPr>
          <c:invertIfNegative val="0"/>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Hoja1!$B$2:$B$13</c:f>
              <c:numCache>
                <c:formatCode>0.0</c:formatCode>
                <c:ptCount val="12"/>
                <c:pt idx="0">
                  <c:v>6.75</c:v>
                </c:pt>
                <c:pt idx="1">
                  <c:v>7.15</c:v>
                </c:pt>
                <c:pt idx="2">
                  <c:v>5.7</c:v>
                </c:pt>
                <c:pt idx="3">
                  <c:v>7</c:v>
                </c:pt>
                <c:pt idx="4">
                  <c:v>6.3</c:v>
                </c:pt>
                <c:pt idx="5">
                  <c:v>5.5</c:v>
                </c:pt>
                <c:pt idx="6">
                  <c:v>7.8</c:v>
                </c:pt>
                <c:pt idx="7">
                  <c:v>5.5</c:v>
                </c:pt>
                <c:pt idx="8">
                  <c:v>5.4</c:v>
                </c:pt>
                <c:pt idx="9">
                  <c:v>7</c:v>
                </c:pt>
                <c:pt idx="10">
                  <c:v>13.8</c:v>
                </c:pt>
                <c:pt idx="11">
                  <c:v>11.3</c:v>
                </c:pt>
              </c:numCache>
            </c:numRef>
          </c:val>
          <c:extLst>
            <c:ext xmlns:c16="http://schemas.microsoft.com/office/drawing/2014/chart" uri="{C3380CC4-5D6E-409C-BE32-E72D297353CC}">
              <c16:uniqueId val="{00000000-722B-4854-82FF-F073DB459EB1}"/>
            </c:ext>
          </c:extLst>
        </c:ser>
        <c:ser>
          <c:idx val="1"/>
          <c:order val="1"/>
          <c:tx>
            <c:strRef>
              <c:f>Hoja1!$C$1</c:f>
              <c:strCache>
                <c:ptCount val="1"/>
                <c:pt idx="0">
                  <c:v>2026</c:v>
                </c:pt>
              </c:strCache>
            </c:strRef>
          </c:tx>
          <c:spPr>
            <a:solidFill>
              <a:srgbClr val="45A9A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Hoja1!$C$2:$C$13</c:f>
              <c:numCache>
                <c:formatCode>0.0</c:formatCode>
                <c:ptCount val="12"/>
                <c:pt idx="0">
                  <c:v>10</c:v>
                </c:pt>
                <c:pt idx="1">
                  <c:v>8.6999999999999993</c:v>
                </c:pt>
                <c:pt idx="2">
                  <c:v>12.2</c:v>
                </c:pt>
                <c:pt idx="3">
                  <c:v>13.6</c:v>
                </c:pt>
                <c:pt idx="4">
                  <c:v>11.9</c:v>
                </c:pt>
                <c:pt idx="5">
                  <c:v>8.6</c:v>
                </c:pt>
                <c:pt idx="6">
                  <c:v>7.3</c:v>
                </c:pt>
                <c:pt idx="7">
                  <c:v>10</c:v>
                </c:pt>
                <c:pt idx="8">
                  <c:v>7</c:v>
                </c:pt>
              </c:numCache>
            </c:numRef>
          </c:val>
          <c:extLst>
            <c:ext xmlns:c16="http://schemas.microsoft.com/office/drawing/2014/chart" uri="{C3380CC4-5D6E-409C-BE32-E72D297353CC}">
              <c16:uniqueId val="{00000000-36B0-400D-828E-C8125DC6D275}"/>
            </c:ext>
          </c:extLst>
        </c:ser>
        <c:dLbls>
          <c:showLegendKey val="0"/>
          <c:showVal val="0"/>
          <c:showCatName val="0"/>
          <c:showSerName val="0"/>
          <c:showPercent val="0"/>
          <c:showBubbleSize val="0"/>
        </c:dLbls>
        <c:gapWidth val="75"/>
        <c:overlap val="-25"/>
        <c:axId val="241713408"/>
        <c:axId val="241711008"/>
      </c:barChart>
      <c:lineChart>
        <c:grouping val="standard"/>
        <c:varyColors val="0"/>
        <c:ser>
          <c:idx val="2"/>
          <c:order val="2"/>
          <c:tx>
            <c:strRef>
              <c:f>Hoja1!$D$1</c:f>
              <c:strCache>
                <c:ptCount val="1"/>
                <c:pt idx="0">
                  <c:v>Meta</c:v>
                </c:pt>
              </c:strCache>
            </c:strRef>
          </c:tx>
          <c:spPr>
            <a:ln w="28575" cap="rnd">
              <a:solidFill>
                <a:schemeClr val="accent1">
                  <a:lumMod val="50000"/>
                </a:schemeClr>
              </a:solidFill>
              <a:round/>
            </a:ln>
            <a:effectLst/>
          </c:spPr>
          <c:marker>
            <c:symbol val="circle"/>
            <c:size val="5"/>
            <c:spPr>
              <a:solidFill>
                <a:schemeClr val="bg1"/>
              </a:solidFill>
              <a:ln w="9525">
                <a:solidFill>
                  <a:schemeClr val="accent1">
                    <a:lumMod val="50000"/>
                  </a:schemeClr>
                </a:solidFill>
              </a:ln>
              <a:effectLst/>
            </c:spPr>
          </c:marker>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Hoja1!$D$2:$D$13</c:f>
              <c:numCache>
                <c:formatCode>0</c:formatCode>
                <c:ptCount val="12"/>
                <c:pt idx="0">
                  <c:v>10</c:v>
                </c:pt>
                <c:pt idx="1">
                  <c:v>10</c:v>
                </c:pt>
                <c:pt idx="2">
                  <c:v>10</c:v>
                </c:pt>
                <c:pt idx="3">
                  <c:v>10</c:v>
                </c:pt>
                <c:pt idx="4">
                  <c:v>10</c:v>
                </c:pt>
                <c:pt idx="5">
                  <c:v>10</c:v>
                </c:pt>
                <c:pt idx="6">
                  <c:v>10</c:v>
                </c:pt>
                <c:pt idx="7">
                  <c:v>10</c:v>
                </c:pt>
                <c:pt idx="8">
                  <c:v>10</c:v>
                </c:pt>
                <c:pt idx="9">
                  <c:v>10</c:v>
                </c:pt>
                <c:pt idx="10">
                  <c:v>10</c:v>
                </c:pt>
                <c:pt idx="11">
                  <c:v>10</c:v>
                </c:pt>
              </c:numCache>
            </c:numRef>
          </c:val>
          <c:smooth val="0"/>
          <c:extLst>
            <c:ext xmlns:c16="http://schemas.microsoft.com/office/drawing/2014/chart" uri="{C3380CC4-5D6E-409C-BE32-E72D297353CC}">
              <c16:uniqueId val="{00000000-4BDC-4A83-A57C-BADBDCE374CF}"/>
            </c:ext>
          </c:extLst>
        </c:ser>
        <c:dLbls>
          <c:showLegendKey val="0"/>
          <c:showVal val="0"/>
          <c:showCatName val="0"/>
          <c:showSerName val="0"/>
          <c:showPercent val="0"/>
          <c:showBubbleSize val="0"/>
        </c:dLbls>
        <c:marker val="1"/>
        <c:smooth val="0"/>
        <c:axId val="241713408"/>
        <c:axId val="241711008"/>
      </c:lineChart>
      <c:catAx>
        <c:axId val="241713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s-CO"/>
          </a:p>
        </c:txPr>
        <c:crossAx val="241711008"/>
        <c:crosses val="autoZero"/>
        <c:auto val="1"/>
        <c:lblAlgn val="ctr"/>
        <c:lblOffset val="100"/>
        <c:noMultiLvlLbl val="0"/>
      </c:catAx>
      <c:valAx>
        <c:axId val="241711008"/>
        <c:scaling>
          <c:orientation val="minMax"/>
          <c:max val="15"/>
          <c:min val="1"/>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241713408"/>
        <c:crosses val="autoZero"/>
        <c:crossBetween val="between"/>
        <c:majorUnit val="2"/>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accent1"/>
      </a:solidFill>
    </a:ln>
    <a:effectLst/>
  </c:spPr>
  <c:txPr>
    <a:bodyPr/>
    <a:lstStyle/>
    <a:p>
      <a:pPr>
        <a:defRPr/>
      </a:pPr>
      <a:endParaRPr lang="es-CO"/>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r>
              <a:rPr lang="es-CO" sz="1400" b="1" noProof="0">
                <a:solidFill>
                  <a:schemeClr val="tx1"/>
                </a:solidFill>
              </a:rPr>
              <a:t>Oportunidad de consulta</a:t>
            </a:r>
            <a:r>
              <a:rPr lang="es-CO" sz="1400" b="1" baseline="0" noProof="0">
                <a:solidFill>
                  <a:schemeClr val="tx1"/>
                </a:solidFill>
              </a:rPr>
              <a:t> Sub especializada</a:t>
            </a:r>
            <a:endParaRPr lang="es-CO" sz="1400" b="1" noProof="0">
              <a:solidFill>
                <a:schemeClr val="tx1"/>
              </a:solidFill>
            </a:endParaRPr>
          </a:p>
        </c:rich>
      </c:tx>
      <c:overlay val="0"/>
      <c:spPr>
        <a:noFill/>
        <a:ln>
          <a:noFill/>
        </a:ln>
        <a:effectLst/>
      </c:spPr>
      <c:txPr>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Hoja1!$B$1</c:f>
              <c:strCache>
                <c:ptCount val="1"/>
                <c:pt idx="0">
                  <c:v>2025</c:v>
                </c:pt>
              </c:strCache>
            </c:strRef>
          </c:tx>
          <c:spPr>
            <a:solidFill>
              <a:schemeClr val="tx2"/>
            </a:solidFill>
            <a:ln>
              <a:noFill/>
            </a:ln>
            <a:effectLst/>
          </c:spPr>
          <c:invertIfNegative val="0"/>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Hoja1!$B$2:$B$13</c:f>
              <c:numCache>
                <c:formatCode>0</c:formatCode>
                <c:ptCount val="12"/>
                <c:pt idx="0">
                  <c:v>15.8</c:v>
                </c:pt>
                <c:pt idx="1">
                  <c:v>9.3000000000000007</c:v>
                </c:pt>
                <c:pt idx="2">
                  <c:v>9.3000000000000007</c:v>
                </c:pt>
                <c:pt idx="3">
                  <c:v>12.3</c:v>
                </c:pt>
                <c:pt idx="4">
                  <c:v>11.9</c:v>
                </c:pt>
                <c:pt idx="5">
                  <c:v>12.2</c:v>
                </c:pt>
                <c:pt idx="6">
                  <c:v>13.8</c:v>
                </c:pt>
                <c:pt idx="7">
                  <c:v>11.6</c:v>
                </c:pt>
                <c:pt idx="8">
                  <c:v>13.1</c:v>
                </c:pt>
                <c:pt idx="9">
                  <c:v>9.6</c:v>
                </c:pt>
                <c:pt idx="10">
                  <c:v>15</c:v>
                </c:pt>
                <c:pt idx="11">
                  <c:v>10.8</c:v>
                </c:pt>
              </c:numCache>
            </c:numRef>
          </c:val>
          <c:extLst>
            <c:ext xmlns:c16="http://schemas.microsoft.com/office/drawing/2014/chart" uri="{C3380CC4-5D6E-409C-BE32-E72D297353CC}">
              <c16:uniqueId val="{00000000-9004-40C9-8912-2B4D41862851}"/>
            </c:ext>
          </c:extLst>
        </c:ser>
        <c:ser>
          <c:idx val="1"/>
          <c:order val="1"/>
          <c:tx>
            <c:strRef>
              <c:f>Hoja1!$C$1</c:f>
              <c:strCache>
                <c:ptCount val="1"/>
                <c:pt idx="0">
                  <c:v>2026</c:v>
                </c:pt>
              </c:strCache>
            </c:strRef>
          </c:tx>
          <c:spPr>
            <a:solidFill>
              <a:srgbClr val="45A9A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Hoja1!$C$2:$C$13</c:f>
              <c:numCache>
                <c:formatCode>0</c:formatCode>
                <c:ptCount val="12"/>
                <c:pt idx="0">
                  <c:v>10.199999999999999</c:v>
                </c:pt>
                <c:pt idx="1">
                  <c:v>9.6999999999999993</c:v>
                </c:pt>
                <c:pt idx="2">
                  <c:v>12</c:v>
                </c:pt>
                <c:pt idx="3">
                  <c:v>11.7</c:v>
                </c:pt>
                <c:pt idx="4">
                  <c:v>8.9</c:v>
                </c:pt>
                <c:pt idx="5">
                  <c:v>8.5</c:v>
                </c:pt>
                <c:pt idx="6">
                  <c:v>10.1</c:v>
                </c:pt>
                <c:pt idx="7">
                  <c:v>9</c:v>
                </c:pt>
                <c:pt idx="8">
                  <c:v>9.8000000000000007</c:v>
                </c:pt>
              </c:numCache>
            </c:numRef>
          </c:val>
          <c:extLst>
            <c:ext xmlns:c16="http://schemas.microsoft.com/office/drawing/2014/chart" uri="{C3380CC4-5D6E-409C-BE32-E72D297353CC}">
              <c16:uniqueId val="{00000000-6DB9-412F-94BF-11044C5CBBE5}"/>
            </c:ext>
          </c:extLst>
        </c:ser>
        <c:dLbls>
          <c:showLegendKey val="0"/>
          <c:showVal val="0"/>
          <c:showCatName val="0"/>
          <c:showSerName val="0"/>
          <c:showPercent val="0"/>
          <c:showBubbleSize val="0"/>
        </c:dLbls>
        <c:gapWidth val="75"/>
        <c:overlap val="-25"/>
        <c:axId val="241713408"/>
        <c:axId val="241711008"/>
      </c:barChart>
      <c:lineChart>
        <c:grouping val="standard"/>
        <c:varyColors val="0"/>
        <c:ser>
          <c:idx val="2"/>
          <c:order val="2"/>
          <c:tx>
            <c:strRef>
              <c:f>Hoja1!$D$1</c:f>
              <c:strCache>
                <c:ptCount val="1"/>
                <c:pt idx="0">
                  <c:v>Meta</c:v>
                </c:pt>
              </c:strCache>
            </c:strRef>
          </c:tx>
          <c:spPr>
            <a:ln w="28575" cap="rnd">
              <a:solidFill>
                <a:schemeClr val="accent1">
                  <a:lumMod val="50000"/>
                </a:schemeClr>
              </a:solidFill>
              <a:round/>
            </a:ln>
            <a:effectLst/>
          </c:spPr>
          <c:marker>
            <c:symbol val="circle"/>
            <c:size val="5"/>
            <c:spPr>
              <a:solidFill>
                <a:schemeClr val="accent3"/>
              </a:solidFill>
              <a:ln w="9525">
                <a:solidFill>
                  <a:schemeClr val="accent1">
                    <a:lumMod val="50000"/>
                  </a:schemeClr>
                </a:solidFill>
              </a:ln>
              <a:effectLst/>
            </c:spPr>
          </c:marker>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Hoja1!$D$2:$D$13</c:f>
              <c:numCache>
                <c:formatCode>General</c:formatCode>
                <c:ptCount val="12"/>
                <c:pt idx="0">
                  <c:v>15</c:v>
                </c:pt>
                <c:pt idx="1">
                  <c:v>15</c:v>
                </c:pt>
                <c:pt idx="2">
                  <c:v>15</c:v>
                </c:pt>
                <c:pt idx="3">
                  <c:v>15</c:v>
                </c:pt>
                <c:pt idx="4">
                  <c:v>15</c:v>
                </c:pt>
                <c:pt idx="5">
                  <c:v>15</c:v>
                </c:pt>
                <c:pt idx="6">
                  <c:v>15</c:v>
                </c:pt>
                <c:pt idx="7">
                  <c:v>15</c:v>
                </c:pt>
                <c:pt idx="8">
                  <c:v>15</c:v>
                </c:pt>
                <c:pt idx="9">
                  <c:v>15</c:v>
                </c:pt>
                <c:pt idx="10">
                  <c:v>15</c:v>
                </c:pt>
                <c:pt idx="11">
                  <c:v>15</c:v>
                </c:pt>
              </c:numCache>
            </c:numRef>
          </c:val>
          <c:smooth val="0"/>
          <c:extLst>
            <c:ext xmlns:c16="http://schemas.microsoft.com/office/drawing/2014/chart" uri="{C3380CC4-5D6E-409C-BE32-E72D297353CC}">
              <c16:uniqueId val="{00000000-8060-4FF0-96BA-F874B4D3546E}"/>
            </c:ext>
          </c:extLst>
        </c:ser>
        <c:dLbls>
          <c:showLegendKey val="0"/>
          <c:showVal val="0"/>
          <c:showCatName val="0"/>
          <c:showSerName val="0"/>
          <c:showPercent val="0"/>
          <c:showBubbleSize val="0"/>
        </c:dLbls>
        <c:marker val="1"/>
        <c:smooth val="0"/>
        <c:axId val="241713408"/>
        <c:axId val="241711008"/>
      </c:lineChart>
      <c:catAx>
        <c:axId val="241713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s-CO"/>
          </a:p>
        </c:txPr>
        <c:crossAx val="241711008"/>
        <c:crosses val="autoZero"/>
        <c:auto val="1"/>
        <c:lblAlgn val="ctr"/>
        <c:lblOffset val="100"/>
        <c:noMultiLvlLbl val="0"/>
      </c:catAx>
      <c:valAx>
        <c:axId val="241711008"/>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24171340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accent1"/>
      </a:solidFill>
    </a:ln>
    <a:effectLst/>
  </c:spPr>
  <c:txPr>
    <a:bodyPr/>
    <a:lstStyle/>
    <a:p>
      <a:pPr>
        <a:defRPr/>
      </a:pPr>
      <a:endParaRPr lang="es-CO"/>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solidFill>
                <a:latin typeface="+mn-lt"/>
                <a:ea typeface="+mn-ea"/>
                <a:cs typeface="+mn-cs"/>
              </a:defRPr>
            </a:pPr>
            <a:r>
              <a:rPr lang="es-CO" sz="1600" b="1" noProof="0"/>
              <a:t>Oportunidad</a:t>
            </a:r>
            <a:r>
              <a:rPr lang="es-CO" sz="1600" b="1" baseline="0" noProof="0"/>
              <a:t> de ingreso a modelo de paciente sospechoso</a:t>
            </a:r>
            <a:endParaRPr lang="es-CO" sz="1600" b="1" noProof="0"/>
          </a:p>
        </c:rich>
      </c:tx>
      <c:layout>
        <c:manualLayout>
          <c:xMode val="edge"/>
          <c:yMode val="edge"/>
          <c:x val="0.22426059027777778"/>
          <c:y val="4.4476959709127684E-3"/>
        </c:manualLayout>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solidFill>
              <a:latin typeface="+mn-lt"/>
              <a:ea typeface="+mn-ea"/>
              <a:cs typeface="+mn-cs"/>
            </a:defRPr>
          </a:pPr>
          <a:endParaRPr lang="es-CO"/>
        </a:p>
      </c:txPr>
    </c:title>
    <c:autoTitleDeleted val="0"/>
    <c:plotArea>
      <c:layout>
        <c:manualLayout>
          <c:layoutTarget val="inner"/>
          <c:xMode val="edge"/>
          <c:yMode val="edge"/>
          <c:x val="5.4533854166666666E-2"/>
          <c:y val="0.23971715455323245"/>
          <c:w val="0.95378600517029466"/>
          <c:h val="0.52790193775957295"/>
        </c:manualLayout>
      </c:layout>
      <c:barChart>
        <c:barDir val="col"/>
        <c:grouping val="clustered"/>
        <c:varyColors val="0"/>
        <c:ser>
          <c:idx val="0"/>
          <c:order val="0"/>
          <c:tx>
            <c:strRef>
              <c:f>Hoja1!$C$1</c:f>
              <c:strCache>
                <c:ptCount val="1"/>
                <c:pt idx="0">
                  <c:v>2025</c:v>
                </c:pt>
              </c:strCache>
            </c:strRef>
          </c:tx>
          <c:spPr>
            <a:solidFill>
              <a:schemeClr val="tx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Hoja1!$C$2:$C$13</c:f>
              <c:numCache>
                <c:formatCode>0</c:formatCode>
                <c:ptCount val="12"/>
                <c:pt idx="0">
                  <c:v>15.8</c:v>
                </c:pt>
                <c:pt idx="1">
                  <c:v>9.8000000000000007</c:v>
                </c:pt>
                <c:pt idx="2">
                  <c:v>12</c:v>
                </c:pt>
                <c:pt idx="3">
                  <c:v>12.9</c:v>
                </c:pt>
                <c:pt idx="4">
                  <c:v>12.4</c:v>
                </c:pt>
                <c:pt idx="5">
                  <c:v>13.8</c:v>
                </c:pt>
                <c:pt idx="6">
                  <c:v>9.6999999999999993</c:v>
                </c:pt>
                <c:pt idx="7">
                  <c:v>12.2</c:v>
                </c:pt>
                <c:pt idx="8">
                  <c:v>17.2</c:v>
                </c:pt>
                <c:pt idx="9">
                  <c:v>10.1</c:v>
                </c:pt>
                <c:pt idx="10">
                  <c:v>10.4</c:v>
                </c:pt>
                <c:pt idx="11">
                  <c:v>9.1999999999999993</c:v>
                </c:pt>
              </c:numCache>
            </c:numRef>
          </c:val>
          <c:extLst>
            <c:ext xmlns:c16="http://schemas.microsoft.com/office/drawing/2014/chart" uri="{C3380CC4-5D6E-409C-BE32-E72D297353CC}">
              <c16:uniqueId val="{00000000-4218-4F55-875F-26E42812C772}"/>
            </c:ext>
          </c:extLst>
        </c:ser>
        <c:ser>
          <c:idx val="1"/>
          <c:order val="1"/>
          <c:tx>
            <c:strRef>
              <c:f>Hoja1!$D$1</c:f>
              <c:strCache>
                <c:ptCount val="1"/>
                <c:pt idx="0">
                  <c:v>2026</c:v>
                </c:pt>
              </c:strCache>
            </c:strRef>
          </c:tx>
          <c:spPr>
            <a:solidFill>
              <a:srgbClr val="45A9A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4FA9A7"/>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Hoja1!$D$2:$D$13</c:f>
              <c:numCache>
                <c:formatCode>0</c:formatCode>
                <c:ptCount val="12"/>
                <c:pt idx="0">
                  <c:v>5</c:v>
                </c:pt>
                <c:pt idx="1">
                  <c:v>5</c:v>
                </c:pt>
                <c:pt idx="2">
                  <c:v>4</c:v>
                </c:pt>
                <c:pt idx="3">
                  <c:v>4</c:v>
                </c:pt>
                <c:pt idx="4">
                  <c:v>5</c:v>
                </c:pt>
                <c:pt idx="5">
                  <c:v>4</c:v>
                </c:pt>
                <c:pt idx="6">
                  <c:v>8</c:v>
                </c:pt>
                <c:pt idx="7">
                  <c:v>9</c:v>
                </c:pt>
                <c:pt idx="8">
                  <c:v>14</c:v>
                </c:pt>
              </c:numCache>
            </c:numRef>
          </c:val>
          <c:extLst>
            <c:ext xmlns:c16="http://schemas.microsoft.com/office/drawing/2014/chart" uri="{C3380CC4-5D6E-409C-BE32-E72D297353CC}">
              <c16:uniqueId val="{00000001-4218-4F55-875F-26E42812C772}"/>
            </c:ext>
          </c:extLst>
        </c:ser>
        <c:dLbls>
          <c:dLblPos val="outEnd"/>
          <c:showLegendKey val="0"/>
          <c:showVal val="1"/>
          <c:showCatName val="0"/>
          <c:showSerName val="0"/>
          <c:showPercent val="0"/>
          <c:showBubbleSize val="0"/>
        </c:dLbls>
        <c:gapWidth val="120"/>
        <c:overlap val="-5"/>
        <c:axId val="241713408"/>
        <c:axId val="241711008"/>
      </c:barChart>
      <c:lineChart>
        <c:grouping val="standard"/>
        <c:varyColors val="0"/>
        <c:ser>
          <c:idx val="2"/>
          <c:order val="2"/>
          <c:tx>
            <c:strRef>
              <c:f>Hoja1!$E$1</c:f>
              <c:strCache>
                <c:ptCount val="1"/>
                <c:pt idx="0">
                  <c:v>Meta</c:v>
                </c:pt>
              </c:strCache>
            </c:strRef>
          </c:tx>
          <c:spPr>
            <a:ln w="28575" cap="rnd">
              <a:solidFill>
                <a:schemeClr val="accent1">
                  <a:lumMod val="50000"/>
                </a:schemeClr>
              </a:solidFill>
              <a:round/>
            </a:ln>
            <a:effectLst/>
          </c:spPr>
          <c:marker>
            <c:symbol val="circle"/>
            <c:size val="5"/>
            <c:spPr>
              <a:solidFill>
                <a:schemeClr val="accent3"/>
              </a:solidFill>
              <a:ln w="9525">
                <a:solidFill>
                  <a:schemeClr val="accent1">
                    <a:lumMod val="50000"/>
                  </a:schemeClr>
                </a:solidFill>
              </a:ln>
              <a:effectLst/>
            </c:spPr>
          </c:marker>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Hoja1!$E$2:$E$13</c:f>
              <c:numCache>
                <c:formatCode>0</c:formatCode>
                <c:ptCount val="12"/>
                <c:pt idx="0">
                  <c:v>16</c:v>
                </c:pt>
                <c:pt idx="1">
                  <c:v>16</c:v>
                </c:pt>
                <c:pt idx="2">
                  <c:v>16</c:v>
                </c:pt>
                <c:pt idx="3">
                  <c:v>16</c:v>
                </c:pt>
                <c:pt idx="4">
                  <c:v>16</c:v>
                </c:pt>
                <c:pt idx="5">
                  <c:v>16</c:v>
                </c:pt>
                <c:pt idx="6">
                  <c:v>16</c:v>
                </c:pt>
                <c:pt idx="7">
                  <c:v>16</c:v>
                </c:pt>
                <c:pt idx="8">
                  <c:v>16</c:v>
                </c:pt>
                <c:pt idx="9">
                  <c:v>16</c:v>
                </c:pt>
                <c:pt idx="10">
                  <c:v>16</c:v>
                </c:pt>
                <c:pt idx="11">
                  <c:v>16</c:v>
                </c:pt>
              </c:numCache>
            </c:numRef>
          </c:val>
          <c:smooth val="0"/>
          <c:extLst>
            <c:ext xmlns:c16="http://schemas.microsoft.com/office/drawing/2014/chart" uri="{C3380CC4-5D6E-409C-BE32-E72D297353CC}">
              <c16:uniqueId val="{00000002-4218-4F55-875F-26E42812C772}"/>
            </c:ext>
          </c:extLst>
        </c:ser>
        <c:dLbls>
          <c:showLegendKey val="0"/>
          <c:showVal val="0"/>
          <c:showCatName val="0"/>
          <c:showSerName val="0"/>
          <c:showPercent val="0"/>
          <c:showBubbleSize val="0"/>
        </c:dLbls>
        <c:marker val="1"/>
        <c:smooth val="0"/>
        <c:axId val="241713408"/>
        <c:axId val="241711008"/>
      </c:lineChart>
      <c:catAx>
        <c:axId val="241713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s-CO"/>
          </a:p>
        </c:txPr>
        <c:crossAx val="241711008"/>
        <c:crosses val="autoZero"/>
        <c:auto val="1"/>
        <c:lblAlgn val="ctr"/>
        <c:lblOffset val="100"/>
        <c:noMultiLvlLbl val="0"/>
      </c:catAx>
      <c:valAx>
        <c:axId val="241711008"/>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s-CO"/>
          </a:p>
        </c:txPr>
        <c:crossAx val="241713408"/>
        <c:crosses val="autoZero"/>
        <c:crossBetween val="between"/>
        <c:majorUnit val="8"/>
      </c:valAx>
      <c:spPr>
        <a:noFill/>
        <a:ln>
          <a:noFill/>
        </a:ln>
        <a:effectLst/>
      </c:spPr>
    </c:plotArea>
    <c:legend>
      <c:legendPos val="r"/>
      <c:layout>
        <c:manualLayout>
          <c:xMode val="edge"/>
          <c:yMode val="edge"/>
          <c:x val="3.9376909722222228E-2"/>
          <c:y val="0.90393712148618888"/>
          <c:w val="0.92148888888888869"/>
          <c:h val="4.7138222833770699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accent1"/>
      </a:solidFill>
    </a:ln>
    <a:effectLst/>
  </c:spPr>
  <c:txPr>
    <a:bodyPr/>
    <a:lstStyle/>
    <a:p>
      <a:pPr>
        <a:defRPr>
          <a:solidFill>
            <a:schemeClr val="tx1"/>
          </a:solidFill>
        </a:defRPr>
      </a:pPr>
      <a:endParaRPr lang="es-CO"/>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s-CO" sz="1600" b="1" noProof="0">
                <a:solidFill>
                  <a:schemeClr val="tx1"/>
                </a:solidFill>
              </a:rPr>
              <a:t>Oportunidad</a:t>
            </a:r>
            <a:r>
              <a:rPr lang="es-CO" sz="1600" b="1" baseline="0" noProof="0">
                <a:solidFill>
                  <a:schemeClr val="tx1"/>
                </a:solidFill>
              </a:rPr>
              <a:t> de quimioterapia</a:t>
            </a:r>
            <a:endParaRPr lang="es-CO" sz="1600" b="1" noProof="0">
              <a:solidFill>
                <a:schemeClr val="tx1"/>
              </a:solidFill>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Hoja1!$C$1</c:f>
              <c:strCache>
                <c:ptCount val="1"/>
                <c:pt idx="0">
                  <c:v>2025</c:v>
                </c:pt>
              </c:strCache>
            </c:strRef>
          </c:tx>
          <c:spPr>
            <a:solidFill>
              <a:srgbClr val="00A19C"/>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45A9A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Hoja1!$C$2:$C$13</c:f>
              <c:numCache>
                <c:formatCode>0</c:formatCode>
                <c:ptCount val="12"/>
                <c:pt idx="0">
                  <c:v>10</c:v>
                </c:pt>
                <c:pt idx="1">
                  <c:v>7</c:v>
                </c:pt>
                <c:pt idx="2">
                  <c:v>7</c:v>
                </c:pt>
                <c:pt idx="3">
                  <c:v>7</c:v>
                </c:pt>
                <c:pt idx="4">
                  <c:v>7</c:v>
                </c:pt>
                <c:pt idx="5">
                  <c:v>7</c:v>
                </c:pt>
                <c:pt idx="6">
                  <c:v>9.5</c:v>
                </c:pt>
                <c:pt idx="7">
                  <c:v>10</c:v>
                </c:pt>
                <c:pt idx="8">
                  <c:v>11</c:v>
                </c:pt>
                <c:pt idx="9">
                  <c:v>7.8</c:v>
                </c:pt>
                <c:pt idx="10">
                  <c:v>8.4</c:v>
                </c:pt>
                <c:pt idx="11">
                  <c:v>8.1</c:v>
                </c:pt>
              </c:numCache>
            </c:numRef>
          </c:val>
          <c:extLst>
            <c:ext xmlns:c16="http://schemas.microsoft.com/office/drawing/2014/chart" uri="{C3380CC4-5D6E-409C-BE32-E72D297353CC}">
              <c16:uniqueId val="{00000000-42D9-4FD8-AB28-EAFCE23E12DC}"/>
            </c:ext>
          </c:extLst>
        </c:ser>
        <c:ser>
          <c:idx val="1"/>
          <c:order val="1"/>
          <c:tx>
            <c:strRef>
              <c:f>Hoja1!$D$1</c:f>
              <c:strCache>
                <c:ptCount val="1"/>
                <c:pt idx="0">
                  <c:v>2026</c:v>
                </c:pt>
              </c:strCache>
            </c:strRef>
          </c:tx>
          <c:spPr>
            <a:solidFill>
              <a:schemeClr val="tx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Hoja1!$D$2:$D$13</c:f>
              <c:numCache>
                <c:formatCode>0</c:formatCode>
                <c:ptCount val="12"/>
                <c:pt idx="0">
                  <c:v>20</c:v>
                </c:pt>
                <c:pt idx="1">
                  <c:v>18.2</c:v>
                </c:pt>
                <c:pt idx="2">
                  <c:v>14</c:v>
                </c:pt>
                <c:pt idx="3">
                  <c:v>15</c:v>
                </c:pt>
                <c:pt idx="4">
                  <c:v>11</c:v>
                </c:pt>
                <c:pt idx="5">
                  <c:v>9.5</c:v>
                </c:pt>
                <c:pt idx="6">
                  <c:v>12</c:v>
                </c:pt>
                <c:pt idx="7">
                  <c:v>14.8</c:v>
                </c:pt>
                <c:pt idx="8">
                  <c:v>16</c:v>
                </c:pt>
              </c:numCache>
            </c:numRef>
          </c:val>
          <c:extLst>
            <c:ext xmlns:c16="http://schemas.microsoft.com/office/drawing/2014/chart" uri="{C3380CC4-5D6E-409C-BE32-E72D297353CC}">
              <c16:uniqueId val="{00000000-0786-4630-A172-FEC81A43E53A}"/>
            </c:ext>
          </c:extLst>
        </c:ser>
        <c:dLbls>
          <c:showLegendKey val="0"/>
          <c:showVal val="0"/>
          <c:showCatName val="0"/>
          <c:showSerName val="0"/>
          <c:showPercent val="0"/>
          <c:showBubbleSize val="0"/>
        </c:dLbls>
        <c:gapWidth val="75"/>
        <c:overlap val="-25"/>
        <c:axId val="1418613503"/>
        <c:axId val="1418609663"/>
      </c:barChart>
      <c:lineChart>
        <c:grouping val="standard"/>
        <c:varyColors val="0"/>
        <c:ser>
          <c:idx val="2"/>
          <c:order val="2"/>
          <c:tx>
            <c:strRef>
              <c:f>Hoja1!$E$1</c:f>
              <c:strCache>
                <c:ptCount val="1"/>
                <c:pt idx="0">
                  <c:v>meta</c:v>
                </c:pt>
              </c:strCache>
            </c:strRef>
          </c:tx>
          <c:spPr>
            <a:ln w="28575" cap="rnd">
              <a:solidFill>
                <a:schemeClr val="accent1">
                  <a:lumMod val="50000"/>
                </a:schemeClr>
              </a:solidFill>
              <a:round/>
            </a:ln>
            <a:effectLst/>
          </c:spPr>
          <c:marker>
            <c:symbol val="none"/>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Hoja1!$E$2:$E$13</c:f>
              <c:numCache>
                <c:formatCode>0</c:formatCode>
                <c:ptCount val="12"/>
                <c:pt idx="0">
                  <c:v>15</c:v>
                </c:pt>
                <c:pt idx="1">
                  <c:v>15</c:v>
                </c:pt>
                <c:pt idx="2">
                  <c:v>15</c:v>
                </c:pt>
                <c:pt idx="3">
                  <c:v>15</c:v>
                </c:pt>
                <c:pt idx="4">
                  <c:v>15</c:v>
                </c:pt>
                <c:pt idx="5">
                  <c:v>15</c:v>
                </c:pt>
                <c:pt idx="6">
                  <c:v>15</c:v>
                </c:pt>
                <c:pt idx="7">
                  <c:v>15</c:v>
                </c:pt>
                <c:pt idx="8">
                  <c:v>15</c:v>
                </c:pt>
                <c:pt idx="9">
                  <c:v>15</c:v>
                </c:pt>
                <c:pt idx="10">
                  <c:v>15</c:v>
                </c:pt>
                <c:pt idx="11">
                  <c:v>15</c:v>
                </c:pt>
              </c:numCache>
            </c:numRef>
          </c:val>
          <c:smooth val="0"/>
          <c:extLst>
            <c:ext xmlns:c16="http://schemas.microsoft.com/office/drawing/2014/chart" uri="{C3380CC4-5D6E-409C-BE32-E72D297353CC}">
              <c16:uniqueId val="{00000002-6D7F-4BAD-97FA-5A0142977C93}"/>
            </c:ext>
          </c:extLst>
        </c:ser>
        <c:dLbls>
          <c:showLegendKey val="0"/>
          <c:showVal val="0"/>
          <c:showCatName val="0"/>
          <c:showSerName val="0"/>
          <c:showPercent val="0"/>
          <c:showBubbleSize val="0"/>
        </c:dLbls>
        <c:marker val="1"/>
        <c:smooth val="0"/>
        <c:axId val="1418613503"/>
        <c:axId val="1418609663"/>
      </c:lineChart>
      <c:catAx>
        <c:axId val="14186135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418609663"/>
        <c:crosses val="autoZero"/>
        <c:auto val="1"/>
        <c:lblAlgn val="ctr"/>
        <c:lblOffset val="100"/>
        <c:noMultiLvlLbl val="0"/>
      </c:catAx>
      <c:valAx>
        <c:axId val="1418609663"/>
        <c:scaling>
          <c:orientation val="minMax"/>
          <c:max val="25"/>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418613503"/>
        <c:crosses val="autoZero"/>
        <c:crossBetween val="between"/>
        <c:majorUnit val="5"/>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s-CO"/>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s-CO" sz="1600" b="1" noProof="0">
                <a:solidFill>
                  <a:schemeClr val="tx1"/>
                </a:solidFill>
              </a:rPr>
              <a:t>Oportunidad de</a:t>
            </a:r>
            <a:r>
              <a:rPr lang="es-CO" sz="1600" b="1" baseline="0" noProof="0">
                <a:solidFill>
                  <a:schemeClr val="tx1"/>
                </a:solidFill>
              </a:rPr>
              <a:t> procedimientos quirúrgicos </a:t>
            </a:r>
            <a:endParaRPr lang="es-CO" sz="1600" b="1" noProof="0">
              <a:solidFill>
                <a:schemeClr val="tx1"/>
              </a:solidFill>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Hoja1!$C$1</c:f>
              <c:strCache>
                <c:ptCount val="1"/>
                <c:pt idx="0">
                  <c:v>2025</c:v>
                </c:pt>
              </c:strCache>
            </c:strRef>
          </c:tx>
          <c:spPr>
            <a:solidFill>
              <a:srgbClr val="00A19C"/>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45A9A1"/>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Hoja1!$C$2:$C$13</c:f>
              <c:numCache>
                <c:formatCode>0</c:formatCode>
                <c:ptCount val="12"/>
                <c:pt idx="0">
                  <c:v>61</c:v>
                </c:pt>
                <c:pt idx="1">
                  <c:v>58</c:v>
                </c:pt>
                <c:pt idx="2">
                  <c:v>54.9</c:v>
                </c:pt>
                <c:pt idx="3">
                  <c:v>79</c:v>
                </c:pt>
                <c:pt idx="4">
                  <c:v>60.5</c:v>
                </c:pt>
                <c:pt idx="5">
                  <c:v>31.7</c:v>
                </c:pt>
                <c:pt idx="6">
                  <c:v>48.1</c:v>
                </c:pt>
                <c:pt idx="7">
                  <c:v>47.8</c:v>
                </c:pt>
                <c:pt idx="8">
                  <c:v>44</c:v>
                </c:pt>
                <c:pt idx="9">
                  <c:v>47.3</c:v>
                </c:pt>
                <c:pt idx="10">
                  <c:v>53</c:v>
                </c:pt>
                <c:pt idx="11">
                  <c:v>40.700000000000003</c:v>
                </c:pt>
              </c:numCache>
            </c:numRef>
          </c:val>
          <c:extLst>
            <c:ext xmlns:c16="http://schemas.microsoft.com/office/drawing/2014/chart" uri="{C3380CC4-5D6E-409C-BE32-E72D297353CC}">
              <c16:uniqueId val="{00000000-9D83-4C8F-842A-320324160D41}"/>
            </c:ext>
          </c:extLst>
        </c:ser>
        <c:ser>
          <c:idx val="1"/>
          <c:order val="1"/>
          <c:tx>
            <c:strRef>
              <c:f>Hoja1!$D$1</c:f>
              <c:strCache>
                <c:ptCount val="1"/>
                <c:pt idx="0">
                  <c:v>2026</c:v>
                </c:pt>
              </c:strCache>
            </c:strRef>
          </c:tx>
          <c:spPr>
            <a:solidFill>
              <a:schemeClr val="tx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Hoja1!$D$2:$D$13</c:f>
              <c:numCache>
                <c:formatCode>General</c:formatCode>
                <c:ptCount val="12"/>
                <c:pt idx="0">
                  <c:v>45</c:v>
                </c:pt>
                <c:pt idx="1">
                  <c:v>60</c:v>
                </c:pt>
                <c:pt idx="2">
                  <c:v>62</c:v>
                </c:pt>
                <c:pt idx="3">
                  <c:v>64</c:v>
                </c:pt>
                <c:pt idx="4">
                  <c:v>53</c:v>
                </c:pt>
                <c:pt idx="5">
                  <c:v>59</c:v>
                </c:pt>
                <c:pt idx="6">
                  <c:v>56</c:v>
                </c:pt>
                <c:pt idx="7">
                  <c:v>42</c:v>
                </c:pt>
                <c:pt idx="8">
                  <c:v>78</c:v>
                </c:pt>
              </c:numCache>
            </c:numRef>
          </c:val>
          <c:extLst>
            <c:ext xmlns:c16="http://schemas.microsoft.com/office/drawing/2014/chart" uri="{C3380CC4-5D6E-409C-BE32-E72D297353CC}">
              <c16:uniqueId val="{00000000-34C9-42DA-B53E-E477EA48F6F7}"/>
            </c:ext>
          </c:extLst>
        </c:ser>
        <c:dLbls>
          <c:showLegendKey val="0"/>
          <c:showVal val="0"/>
          <c:showCatName val="0"/>
          <c:showSerName val="0"/>
          <c:showPercent val="0"/>
          <c:showBubbleSize val="0"/>
        </c:dLbls>
        <c:gapWidth val="75"/>
        <c:overlap val="-25"/>
        <c:axId val="1418613503"/>
        <c:axId val="1418609663"/>
      </c:barChart>
      <c:lineChart>
        <c:grouping val="standard"/>
        <c:varyColors val="0"/>
        <c:ser>
          <c:idx val="2"/>
          <c:order val="2"/>
          <c:tx>
            <c:strRef>
              <c:f>Hoja1!$E$1</c:f>
              <c:strCache>
                <c:ptCount val="1"/>
                <c:pt idx="0">
                  <c:v>Meta</c:v>
                </c:pt>
              </c:strCache>
            </c:strRef>
          </c:tx>
          <c:spPr>
            <a:ln w="28575" cap="rnd">
              <a:solidFill>
                <a:schemeClr val="accent1">
                  <a:lumMod val="50000"/>
                </a:schemeClr>
              </a:solidFill>
              <a:round/>
            </a:ln>
            <a:effectLst/>
          </c:spPr>
          <c:marker>
            <c:symbol val="circle"/>
            <c:size val="5"/>
            <c:spPr>
              <a:solidFill>
                <a:schemeClr val="accent3"/>
              </a:solidFill>
              <a:ln w="9525">
                <a:solidFill>
                  <a:schemeClr val="accent1">
                    <a:lumMod val="50000"/>
                  </a:schemeClr>
                </a:solidFill>
              </a:ln>
              <a:effectLst/>
            </c:spPr>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Hoja1!$E$2:$E$13</c:f>
              <c:numCache>
                <c:formatCode>General</c:formatCode>
                <c:ptCount val="12"/>
                <c:pt idx="0">
                  <c:v>25</c:v>
                </c:pt>
                <c:pt idx="1">
                  <c:v>25</c:v>
                </c:pt>
                <c:pt idx="2">
                  <c:v>25</c:v>
                </c:pt>
                <c:pt idx="3">
                  <c:v>25</c:v>
                </c:pt>
                <c:pt idx="4">
                  <c:v>25</c:v>
                </c:pt>
                <c:pt idx="5">
                  <c:v>25</c:v>
                </c:pt>
                <c:pt idx="6">
                  <c:v>25</c:v>
                </c:pt>
                <c:pt idx="7">
                  <c:v>25</c:v>
                </c:pt>
                <c:pt idx="8">
                  <c:v>25</c:v>
                </c:pt>
                <c:pt idx="9">
                  <c:v>25</c:v>
                </c:pt>
                <c:pt idx="10">
                  <c:v>25</c:v>
                </c:pt>
                <c:pt idx="11">
                  <c:v>25</c:v>
                </c:pt>
              </c:numCache>
            </c:numRef>
          </c:val>
          <c:smooth val="0"/>
          <c:extLst>
            <c:ext xmlns:c16="http://schemas.microsoft.com/office/drawing/2014/chart" uri="{C3380CC4-5D6E-409C-BE32-E72D297353CC}">
              <c16:uniqueId val="{00000001-34C9-42DA-B53E-E477EA48F6F7}"/>
            </c:ext>
          </c:extLst>
        </c:ser>
        <c:dLbls>
          <c:showLegendKey val="0"/>
          <c:showVal val="0"/>
          <c:showCatName val="0"/>
          <c:showSerName val="0"/>
          <c:showPercent val="0"/>
          <c:showBubbleSize val="0"/>
        </c:dLbls>
        <c:marker val="1"/>
        <c:smooth val="0"/>
        <c:axId val="1418613503"/>
        <c:axId val="1418609663"/>
      </c:lineChart>
      <c:catAx>
        <c:axId val="14186135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418609663"/>
        <c:crosses val="autoZero"/>
        <c:auto val="1"/>
        <c:lblAlgn val="ctr"/>
        <c:lblOffset val="100"/>
        <c:noMultiLvlLbl val="0"/>
      </c:catAx>
      <c:valAx>
        <c:axId val="1418609663"/>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41861350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s-CO"/>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s-CO" sz="1600" b="1" noProof="0">
                <a:solidFill>
                  <a:schemeClr val="tx1"/>
                </a:solidFill>
              </a:rPr>
              <a:t>Oportunidad de radioterapia</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Hoja1!$C$1</c:f>
              <c:strCache>
                <c:ptCount val="1"/>
                <c:pt idx="0">
                  <c:v>2025</c:v>
                </c:pt>
              </c:strCache>
            </c:strRef>
          </c:tx>
          <c:spPr>
            <a:solidFill>
              <a:srgbClr val="00A19C"/>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45A9A1"/>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Hoja1!$C$2:$C$13</c:f>
              <c:numCache>
                <c:formatCode>General</c:formatCode>
                <c:ptCount val="12"/>
                <c:pt idx="0">
                  <c:v>14</c:v>
                </c:pt>
                <c:pt idx="1">
                  <c:v>12</c:v>
                </c:pt>
                <c:pt idx="2">
                  <c:v>10</c:v>
                </c:pt>
                <c:pt idx="3">
                  <c:v>14</c:v>
                </c:pt>
                <c:pt idx="4">
                  <c:v>13</c:v>
                </c:pt>
                <c:pt idx="5">
                  <c:v>13</c:v>
                </c:pt>
                <c:pt idx="6">
                  <c:v>16</c:v>
                </c:pt>
                <c:pt idx="7">
                  <c:v>14</c:v>
                </c:pt>
                <c:pt idx="8">
                  <c:v>15</c:v>
                </c:pt>
                <c:pt idx="9">
                  <c:v>14</c:v>
                </c:pt>
                <c:pt idx="10">
                  <c:v>15</c:v>
                </c:pt>
                <c:pt idx="11">
                  <c:v>14</c:v>
                </c:pt>
              </c:numCache>
            </c:numRef>
          </c:val>
          <c:extLst>
            <c:ext xmlns:c16="http://schemas.microsoft.com/office/drawing/2014/chart" uri="{C3380CC4-5D6E-409C-BE32-E72D297353CC}">
              <c16:uniqueId val="{00000000-6418-4EE4-A229-E94A84EF1777}"/>
            </c:ext>
          </c:extLst>
        </c:ser>
        <c:ser>
          <c:idx val="1"/>
          <c:order val="1"/>
          <c:tx>
            <c:strRef>
              <c:f>Hoja1!$D$1</c:f>
              <c:strCache>
                <c:ptCount val="1"/>
                <c:pt idx="0">
                  <c:v>2026</c:v>
                </c:pt>
              </c:strCache>
            </c:strRef>
          </c:tx>
          <c:spPr>
            <a:solidFill>
              <a:schemeClr val="tx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Hoja1!$D$2:$D$13</c:f>
              <c:numCache>
                <c:formatCode>General</c:formatCode>
                <c:ptCount val="12"/>
                <c:pt idx="0">
                  <c:v>19</c:v>
                </c:pt>
                <c:pt idx="1">
                  <c:v>21.5</c:v>
                </c:pt>
                <c:pt idx="2">
                  <c:v>38</c:v>
                </c:pt>
                <c:pt idx="3">
                  <c:v>36</c:v>
                </c:pt>
                <c:pt idx="4">
                  <c:v>42</c:v>
                </c:pt>
                <c:pt idx="5">
                  <c:v>40</c:v>
                </c:pt>
                <c:pt idx="6">
                  <c:v>36</c:v>
                </c:pt>
                <c:pt idx="7">
                  <c:v>38</c:v>
                </c:pt>
                <c:pt idx="8">
                  <c:v>35</c:v>
                </c:pt>
              </c:numCache>
            </c:numRef>
          </c:val>
          <c:extLst>
            <c:ext xmlns:c16="http://schemas.microsoft.com/office/drawing/2014/chart" uri="{C3380CC4-5D6E-409C-BE32-E72D297353CC}">
              <c16:uniqueId val="{00000002-5161-4943-AF65-3595DDD867F1}"/>
            </c:ext>
          </c:extLst>
        </c:ser>
        <c:dLbls>
          <c:showLegendKey val="0"/>
          <c:showVal val="0"/>
          <c:showCatName val="0"/>
          <c:showSerName val="0"/>
          <c:showPercent val="0"/>
          <c:showBubbleSize val="0"/>
        </c:dLbls>
        <c:gapWidth val="75"/>
        <c:overlap val="-25"/>
        <c:axId val="1418613503"/>
        <c:axId val="1418609663"/>
      </c:barChart>
      <c:lineChart>
        <c:grouping val="standard"/>
        <c:varyColors val="0"/>
        <c:ser>
          <c:idx val="2"/>
          <c:order val="2"/>
          <c:tx>
            <c:strRef>
              <c:f>Hoja1!$E$1</c:f>
              <c:strCache>
                <c:ptCount val="1"/>
                <c:pt idx="0">
                  <c:v>Meta</c:v>
                </c:pt>
              </c:strCache>
            </c:strRef>
          </c:tx>
          <c:spPr>
            <a:ln w="28575" cap="rnd">
              <a:solidFill>
                <a:schemeClr val="accent1">
                  <a:lumMod val="50000"/>
                </a:schemeClr>
              </a:solidFill>
              <a:round/>
            </a:ln>
            <a:effectLst/>
          </c:spPr>
          <c:marker>
            <c:symbol val="circle"/>
            <c:size val="5"/>
            <c:spPr>
              <a:solidFill>
                <a:schemeClr val="accent3"/>
              </a:solidFill>
              <a:ln w="9525">
                <a:solidFill>
                  <a:schemeClr val="accent1">
                    <a:lumMod val="50000"/>
                  </a:schemeClr>
                </a:solidFill>
              </a:ln>
              <a:effectLst/>
            </c:spPr>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Hoja1!$E$2:$E$13</c:f>
              <c:numCache>
                <c:formatCode>General</c:formatCode>
                <c:ptCount val="12"/>
                <c:pt idx="0">
                  <c:v>16</c:v>
                </c:pt>
                <c:pt idx="1">
                  <c:v>16</c:v>
                </c:pt>
                <c:pt idx="2">
                  <c:v>16</c:v>
                </c:pt>
                <c:pt idx="3">
                  <c:v>16</c:v>
                </c:pt>
                <c:pt idx="4">
                  <c:v>16</c:v>
                </c:pt>
                <c:pt idx="5">
                  <c:v>16</c:v>
                </c:pt>
                <c:pt idx="6">
                  <c:v>16</c:v>
                </c:pt>
                <c:pt idx="7">
                  <c:v>16</c:v>
                </c:pt>
                <c:pt idx="8">
                  <c:v>16</c:v>
                </c:pt>
                <c:pt idx="9">
                  <c:v>16</c:v>
                </c:pt>
                <c:pt idx="10">
                  <c:v>16</c:v>
                </c:pt>
                <c:pt idx="11">
                  <c:v>16</c:v>
                </c:pt>
              </c:numCache>
            </c:numRef>
          </c:val>
          <c:smooth val="0"/>
          <c:extLst>
            <c:ext xmlns:c16="http://schemas.microsoft.com/office/drawing/2014/chart" uri="{C3380CC4-5D6E-409C-BE32-E72D297353CC}">
              <c16:uniqueId val="{00000003-5161-4943-AF65-3595DDD867F1}"/>
            </c:ext>
          </c:extLst>
        </c:ser>
        <c:dLbls>
          <c:showLegendKey val="0"/>
          <c:showVal val="0"/>
          <c:showCatName val="0"/>
          <c:showSerName val="0"/>
          <c:showPercent val="0"/>
          <c:showBubbleSize val="0"/>
        </c:dLbls>
        <c:marker val="1"/>
        <c:smooth val="0"/>
        <c:axId val="1418613503"/>
        <c:axId val="1418609663"/>
      </c:lineChart>
      <c:catAx>
        <c:axId val="14186135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418609663"/>
        <c:crosses val="autoZero"/>
        <c:auto val="1"/>
        <c:lblAlgn val="ctr"/>
        <c:lblOffset val="100"/>
        <c:noMultiLvlLbl val="0"/>
      </c:catAx>
      <c:valAx>
        <c:axId val="141860966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418613503"/>
        <c:crosses val="autoZero"/>
        <c:crossBetween val="between"/>
        <c:majorUnit val="4"/>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s-CO"/>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s-CO" sz="1600" b="1" noProof="0">
                <a:solidFill>
                  <a:schemeClr val="tx1"/>
                </a:solidFill>
              </a:rPr>
              <a:t>Oportunidad de medicamentos</a:t>
            </a:r>
            <a:r>
              <a:rPr lang="es-CO" sz="1600" b="1" baseline="0" noProof="0">
                <a:solidFill>
                  <a:schemeClr val="tx1"/>
                </a:solidFill>
              </a:rPr>
              <a:t> orales</a:t>
            </a:r>
            <a:endParaRPr lang="es-CO" sz="1600" b="1" noProof="0">
              <a:solidFill>
                <a:schemeClr val="tx1"/>
              </a:solidFill>
            </a:endParaRPr>
          </a:p>
        </c:rich>
      </c:tx>
      <c:layout>
        <c:manualLayout>
          <c:xMode val="edge"/>
          <c:yMode val="edge"/>
          <c:x val="0.19525336700336701"/>
          <c:y val="4.7037037037037039E-3"/>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Hoja1!$C$1</c:f>
              <c:strCache>
                <c:ptCount val="1"/>
                <c:pt idx="0">
                  <c:v>2025</c:v>
                </c:pt>
              </c:strCache>
            </c:strRef>
          </c:tx>
          <c:spPr>
            <a:solidFill>
              <a:srgbClr val="00A19C"/>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45A9A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Hoja1!$C$2:$C$13</c:f>
              <c:numCache>
                <c:formatCode>0</c:formatCode>
                <c:ptCount val="12"/>
                <c:pt idx="0">
                  <c:v>7</c:v>
                </c:pt>
                <c:pt idx="1">
                  <c:v>7</c:v>
                </c:pt>
                <c:pt idx="2">
                  <c:v>7</c:v>
                </c:pt>
                <c:pt idx="3">
                  <c:v>7</c:v>
                </c:pt>
                <c:pt idx="4">
                  <c:v>7</c:v>
                </c:pt>
                <c:pt idx="5">
                  <c:v>7</c:v>
                </c:pt>
                <c:pt idx="6">
                  <c:v>13</c:v>
                </c:pt>
                <c:pt idx="7">
                  <c:v>8</c:v>
                </c:pt>
                <c:pt idx="8">
                  <c:v>11</c:v>
                </c:pt>
                <c:pt idx="9">
                  <c:v>14.5</c:v>
                </c:pt>
                <c:pt idx="10">
                  <c:v>9</c:v>
                </c:pt>
                <c:pt idx="11">
                  <c:v>5</c:v>
                </c:pt>
              </c:numCache>
            </c:numRef>
          </c:val>
          <c:extLst>
            <c:ext xmlns:c16="http://schemas.microsoft.com/office/drawing/2014/chart" uri="{C3380CC4-5D6E-409C-BE32-E72D297353CC}">
              <c16:uniqueId val="{00000000-9E38-4C13-ADEB-0305696DC97A}"/>
            </c:ext>
          </c:extLst>
        </c:ser>
        <c:ser>
          <c:idx val="1"/>
          <c:order val="1"/>
          <c:tx>
            <c:strRef>
              <c:f>Hoja1!$D$1</c:f>
              <c:strCache>
                <c:ptCount val="1"/>
                <c:pt idx="0">
                  <c:v>2026</c:v>
                </c:pt>
              </c:strCache>
            </c:strRef>
          </c:tx>
          <c:spPr>
            <a:solidFill>
              <a:schemeClr val="tx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Hoja1!$D$2:$D$13</c:f>
              <c:numCache>
                <c:formatCode>0</c:formatCode>
                <c:ptCount val="12"/>
                <c:pt idx="0">
                  <c:v>20</c:v>
                </c:pt>
                <c:pt idx="1">
                  <c:v>15.3</c:v>
                </c:pt>
                <c:pt idx="2">
                  <c:v>14</c:v>
                </c:pt>
                <c:pt idx="3">
                  <c:v>15</c:v>
                </c:pt>
                <c:pt idx="4">
                  <c:v>11</c:v>
                </c:pt>
                <c:pt idx="5">
                  <c:v>9.5</c:v>
                </c:pt>
                <c:pt idx="6">
                  <c:v>12</c:v>
                </c:pt>
                <c:pt idx="7">
                  <c:v>14.8</c:v>
                </c:pt>
                <c:pt idx="8">
                  <c:v>16</c:v>
                </c:pt>
              </c:numCache>
            </c:numRef>
          </c:val>
          <c:extLst>
            <c:ext xmlns:c16="http://schemas.microsoft.com/office/drawing/2014/chart" uri="{C3380CC4-5D6E-409C-BE32-E72D297353CC}">
              <c16:uniqueId val="{00000000-E416-40FA-BEBF-FFA027E60D10}"/>
            </c:ext>
          </c:extLst>
        </c:ser>
        <c:dLbls>
          <c:showLegendKey val="0"/>
          <c:showVal val="0"/>
          <c:showCatName val="0"/>
          <c:showSerName val="0"/>
          <c:showPercent val="0"/>
          <c:showBubbleSize val="0"/>
        </c:dLbls>
        <c:gapWidth val="75"/>
        <c:overlap val="-25"/>
        <c:axId val="1418613503"/>
        <c:axId val="1418609663"/>
      </c:barChart>
      <c:lineChart>
        <c:grouping val="standard"/>
        <c:varyColors val="0"/>
        <c:ser>
          <c:idx val="2"/>
          <c:order val="2"/>
          <c:tx>
            <c:strRef>
              <c:f>Hoja1!$E$1</c:f>
              <c:strCache>
                <c:ptCount val="1"/>
                <c:pt idx="0">
                  <c:v>Meta</c:v>
                </c:pt>
              </c:strCache>
            </c:strRef>
          </c:tx>
          <c:spPr>
            <a:ln w="28575" cap="rnd">
              <a:solidFill>
                <a:schemeClr val="accent1">
                  <a:lumMod val="50000"/>
                </a:schemeClr>
              </a:solidFill>
              <a:round/>
            </a:ln>
            <a:effectLst/>
          </c:spPr>
          <c:marker>
            <c:symbol val="none"/>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Hoja1!$E$2:$E$13</c:f>
              <c:numCache>
                <c:formatCode>General</c:formatCode>
                <c:ptCount val="12"/>
                <c:pt idx="0">
                  <c:v>10</c:v>
                </c:pt>
                <c:pt idx="1">
                  <c:v>10</c:v>
                </c:pt>
                <c:pt idx="2">
                  <c:v>10</c:v>
                </c:pt>
                <c:pt idx="3">
                  <c:v>10</c:v>
                </c:pt>
                <c:pt idx="4">
                  <c:v>10</c:v>
                </c:pt>
                <c:pt idx="5">
                  <c:v>10</c:v>
                </c:pt>
                <c:pt idx="6">
                  <c:v>10</c:v>
                </c:pt>
                <c:pt idx="7">
                  <c:v>10</c:v>
                </c:pt>
                <c:pt idx="8">
                  <c:v>10</c:v>
                </c:pt>
                <c:pt idx="9">
                  <c:v>10</c:v>
                </c:pt>
                <c:pt idx="10">
                  <c:v>10</c:v>
                </c:pt>
                <c:pt idx="11">
                  <c:v>10</c:v>
                </c:pt>
              </c:numCache>
            </c:numRef>
          </c:val>
          <c:smooth val="0"/>
          <c:extLst>
            <c:ext xmlns:c16="http://schemas.microsoft.com/office/drawing/2014/chart" uri="{C3380CC4-5D6E-409C-BE32-E72D297353CC}">
              <c16:uniqueId val="{00000001-A12E-4D7F-9CB6-B2760F16B6CA}"/>
            </c:ext>
          </c:extLst>
        </c:ser>
        <c:dLbls>
          <c:showLegendKey val="0"/>
          <c:showVal val="0"/>
          <c:showCatName val="0"/>
          <c:showSerName val="0"/>
          <c:showPercent val="0"/>
          <c:showBubbleSize val="0"/>
        </c:dLbls>
        <c:marker val="1"/>
        <c:smooth val="0"/>
        <c:axId val="1418613503"/>
        <c:axId val="1418609663"/>
      </c:lineChart>
      <c:catAx>
        <c:axId val="14186135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418609663"/>
        <c:crosses val="autoZero"/>
        <c:auto val="1"/>
        <c:lblAlgn val="ctr"/>
        <c:lblOffset val="100"/>
        <c:noMultiLvlLbl val="0"/>
      </c:catAx>
      <c:valAx>
        <c:axId val="1418609663"/>
        <c:scaling>
          <c:orientation val="minMax"/>
          <c:max val="25"/>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418613503"/>
        <c:crosses val="autoZero"/>
        <c:crossBetween val="between"/>
      </c:valAx>
      <c:spPr>
        <a:noFill/>
        <a:ln>
          <a:solidFill>
            <a:schemeClr val="tx1">
              <a:alpha val="95000"/>
            </a:schemeClr>
          </a:solid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s-CO"/>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r>
              <a:rPr lang="es-CO" sz="1600" b="1"/>
              <a:t>Cobertura</a:t>
            </a:r>
            <a:r>
              <a:rPr lang="es-CO" sz="1600" b="1" baseline="0"/>
              <a:t> atención cuidados paliativos 2026</a:t>
            </a:r>
            <a:endParaRPr lang="es-CO" sz="1600" b="1"/>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'COBERTURA TOTAL'!$C$26</c:f>
              <c:strCache>
                <c:ptCount val="1"/>
                <c:pt idx="0">
                  <c:v>Atendidos</c:v>
                </c:pt>
              </c:strCache>
            </c:strRef>
          </c:tx>
          <c:spPr>
            <a:solidFill>
              <a:srgbClr val="7030A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'COBERTURA TOTAL'!$B$27:$B$35</c:f>
              <c:numCache>
                <c:formatCode>mmm\-yy</c:formatCode>
                <c:ptCount val="9"/>
                <c:pt idx="0">
                  <c:v>46023</c:v>
                </c:pt>
                <c:pt idx="1">
                  <c:v>46054</c:v>
                </c:pt>
                <c:pt idx="2">
                  <c:v>46082</c:v>
                </c:pt>
                <c:pt idx="3">
                  <c:v>46113</c:v>
                </c:pt>
                <c:pt idx="4">
                  <c:v>46143</c:v>
                </c:pt>
                <c:pt idx="5">
                  <c:v>46174</c:v>
                </c:pt>
                <c:pt idx="6">
                  <c:v>46204</c:v>
                </c:pt>
                <c:pt idx="7">
                  <c:v>46235</c:v>
                </c:pt>
                <c:pt idx="8">
                  <c:v>46266</c:v>
                </c:pt>
              </c:numCache>
            </c:numRef>
          </c:cat>
          <c:val>
            <c:numRef>
              <c:f>'COBERTURA TOTAL'!$C$27:$C$35</c:f>
              <c:numCache>
                <c:formatCode>General</c:formatCode>
                <c:ptCount val="9"/>
                <c:pt idx="0">
                  <c:v>1944</c:v>
                </c:pt>
                <c:pt idx="1">
                  <c:v>3419</c:v>
                </c:pt>
                <c:pt idx="2">
                  <c:v>4412</c:v>
                </c:pt>
                <c:pt idx="3">
                  <c:v>5066</c:v>
                </c:pt>
                <c:pt idx="4">
                  <c:v>5417</c:v>
                </c:pt>
                <c:pt idx="5">
                  <c:v>5747</c:v>
                </c:pt>
                <c:pt idx="6">
                  <c:v>6042</c:v>
                </c:pt>
                <c:pt idx="7">
                  <c:v>6190</c:v>
                </c:pt>
                <c:pt idx="8">
                  <c:v>6461</c:v>
                </c:pt>
              </c:numCache>
            </c:numRef>
          </c:val>
          <c:extLst>
            <c:ext xmlns:c16="http://schemas.microsoft.com/office/drawing/2014/chart" uri="{C3380CC4-5D6E-409C-BE32-E72D297353CC}">
              <c16:uniqueId val="{00000000-B9AE-422D-84C0-CAA4FB702ACF}"/>
            </c:ext>
          </c:extLst>
        </c:ser>
        <c:ser>
          <c:idx val="1"/>
          <c:order val="1"/>
          <c:tx>
            <c:strRef>
              <c:f>'COBERTURA TOTAL'!$D$26</c:f>
              <c:strCache>
                <c:ptCount val="1"/>
                <c:pt idx="0">
                  <c:v>Cohorte</c:v>
                </c:pt>
              </c:strCache>
            </c:strRef>
          </c:tx>
          <c:spPr>
            <a:solidFill>
              <a:srgbClr val="45A99F"/>
            </a:solidFill>
            <a:ln>
              <a:noFill/>
            </a:ln>
            <a:effectLst/>
          </c:spPr>
          <c:invertIfNegative val="0"/>
          <c:cat>
            <c:numRef>
              <c:f>'COBERTURA TOTAL'!$B$27:$B$35</c:f>
              <c:numCache>
                <c:formatCode>mmm\-yy</c:formatCode>
                <c:ptCount val="9"/>
                <c:pt idx="0">
                  <c:v>46023</c:v>
                </c:pt>
                <c:pt idx="1">
                  <c:v>46054</c:v>
                </c:pt>
                <c:pt idx="2">
                  <c:v>46082</c:v>
                </c:pt>
                <c:pt idx="3">
                  <c:v>46113</c:v>
                </c:pt>
                <c:pt idx="4">
                  <c:v>46143</c:v>
                </c:pt>
                <c:pt idx="5">
                  <c:v>46174</c:v>
                </c:pt>
                <c:pt idx="6">
                  <c:v>46204</c:v>
                </c:pt>
                <c:pt idx="7">
                  <c:v>46235</c:v>
                </c:pt>
                <c:pt idx="8">
                  <c:v>46266</c:v>
                </c:pt>
              </c:numCache>
            </c:numRef>
          </c:cat>
          <c:val>
            <c:numRef>
              <c:f>'COBERTURA TOTAL'!$D$27:$D$35</c:f>
              <c:numCache>
                <c:formatCode>General</c:formatCode>
                <c:ptCount val="9"/>
                <c:pt idx="0">
                  <c:v>8312</c:v>
                </c:pt>
                <c:pt idx="1">
                  <c:v>8497</c:v>
                </c:pt>
                <c:pt idx="2">
                  <c:v>8662</c:v>
                </c:pt>
                <c:pt idx="3">
                  <c:v>8827</c:v>
                </c:pt>
                <c:pt idx="4">
                  <c:v>9015</c:v>
                </c:pt>
                <c:pt idx="5">
                  <c:v>9173</c:v>
                </c:pt>
                <c:pt idx="6">
                  <c:v>9326</c:v>
                </c:pt>
                <c:pt idx="7">
                  <c:v>9434</c:v>
                </c:pt>
                <c:pt idx="8">
                  <c:v>9535</c:v>
                </c:pt>
              </c:numCache>
            </c:numRef>
          </c:val>
          <c:extLst>
            <c:ext xmlns:c16="http://schemas.microsoft.com/office/drawing/2014/chart" uri="{C3380CC4-5D6E-409C-BE32-E72D297353CC}">
              <c16:uniqueId val="{00000001-B9AE-422D-84C0-CAA4FB702ACF}"/>
            </c:ext>
          </c:extLst>
        </c:ser>
        <c:dLbls>
          <c:showLegendKey val="0"/>
          <c:showVal val="0"/>
          <c:showCatName val="0"/>
          <c:showSerName val="0"/>
          <c:showPercent val="0"/>
          <c:showBubbleSize val="0"/>
        </c:dLbls>
        <c:gapWidth val="219"/>
        <c:overlap val="-27"/>
        <c:axId val="1009326880"/>
        <c:axId val="1022496848"/>
      </c:barChart>
      <c:lineChart>
        <c:grouping val="standard"/>
        <c:varyColors val="0"/>
        <c:ser>
          <c:idx val="2"/>
          <c:order val="2"/>
          <c:tx>
            <c:strRef>
              <c:f>'COBERTURA TOTAL'!$E$26</c:f>
              <c:strCache>
                <c:ptCount val="1"/>
                <c:pt idx="0">
                  <c:v>Cobertura</c:v>
                </c:pt>
              </c:strCache>
            </c:strRef>
          </c:tx>
          <c:spPr>
            <a:ln w="28575" cap="rnd">
              <a:solidFill>
                <a:srgbClr val="000714"/>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rgbClr val="000714"/>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'COBERTURA TOTAL'!$B$27:$B$35</c:f>
              <c:numCache>
                <c:formatCode>mmm\-yy</c:formatCode>
                <c:ptCount val="9"/>
                <c:pt idx="0">
                  <c:v>46023</c:v>
                </c:pt>
                <c:pt idx="1">
                  <c:v>46054</c:v>
                </c:pt>
                <c:pt idx="2">
                  <c:v>46082</c:v>
                </c:pt>
                <c:pt idx="3">
                  <c:v>46113</c:v>
                </c:pt>
                <c:pt idx="4">
                  <c:v>46143</c:v>
                </c:pt>
                <c:pt idx="5">
                  <c:v>46174</c:v>
                </c:pt>
                <c:pt idx="6">
                  <c:v>46204</c:v>
                </c:pt>
                <c:pt idx="7">
                  <c:v>46235</c:v>
                </c:pt>
                <c:pt idx="8">
                  <c:v>46266</c:v>
                </c:pt>
              </c:numCache>
            </c:numRef>
          </c:cat>
          <c:val>
            <c:numRef>
              <c:f>'COBERTURA TOTAL'!$E$27:$E$35</c:f>
              <c:numCache>
                <c:formatCode>0%</c:formatCode>
                <c:ptCount val="9"/>
                <c:pt idx="0">
                  <c:v>0.23387872954764197</c:v>
                </c:pt>
                <c:pt idx="1">
                  <c:v>0.402377309638696</c:v>
                </c:pt>
                <c:pt idx="2">
                  <c:v>0.50935118910182409</c:v>
                </c:pt>
                <c:pt idx="3">
                  <c:v>0.57392092443638831</c:v>
                </c:pt>
                <c:pt idx="4">
                  <c:v>0.60088740987243483</c:v>
                </c:pt>
                <c:pt idx="5">
                  <c:v>0.62651259130055603</c:v>
                </c:pt>
                <c:pt idx="6">
                  <c:v>0.6478661805704482</c:v>
                </c:pt>
                <c:pt idx="7">
                  <c:v>0.65613737545049822</c:v>
                </c:pt>
                <c:pt idx="8">
                  <c:v>0.67760880964866277</c:v>
                </c:pt>
              </c:numCache>
            </c:numRef>
          </c:val>
          <c:smooth val="0"/>
          <c:extLst>
            <c:ext xmlns:c16="http://schemas.microsoft.com/office/drawing/2014/chart" uri="{C3380CC4-5D6E-409C-BE32-E72D297353CC}">
              <c16:uniqueId val="{00000002-B9AE-422D-84C0-CAA4FB702ACF}"/>
            </c:ext>
          </c:extLst>
        </c:ser>
        <c:dLbls>
          <c:showLegendKey val="0"/>
          <c:showVal val="0"/>
          <c:showCatName val="0"/>
          <c:showSerName val="0"/>
          <c:showPercent val="0"/>
          <c:showBubbleSize val="0"/>
        </c:dLbls>
        <c:marker val="1"/>
        <c:smooth val="0"/>
        <c:axId val="1009350080"/>
        <c:axId val="1022521808"/>
      </c:lineChart>
      <c:dateAx>
        <c:axId val="1009326880"/>
        <c:scaling>
          <c:orientation val="minMax"/>
        </c:scaling>
        <c:delete val="0"/>
        <c:axPos val="b"/>
        <c:numFmt formatCode="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022496848"/>
        <c:crosses val="autoZero"/>
        <c:auto val="1"/>
        <c:lblOffset val="100"/>
        <c:baseTimeUnit val="months"/>
      </c:dateAx>
      <c:valAx>
        <c:axId val="10224968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009326880"/>
        <c:crosses val="autoZero"/>
        <c:crossBetween val="between"/>
      </c:valAx>
      <c:valAx>
        <c:axId val="1022521808"/>
        <c:scaling>
          <c:orientation val="minMax"/>
        </c:scaling>
        <c:delete val="0"/>
        <c:axPos val="r"/>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009350080"/>
        <c:crosses val="max"/>
        <c:crossBetween val="between"/>
      </c:valAx>
      <c:dateAx>
        <c:axId val="1009350080"/>
        <c:scaling>
          <c:orientation val="minMax"/>
        </c:scaling>
        <c:delete val="1"/>
        <c:axPos val="b"/>
        <c:numFmt formatCode="mmm\-yy" sourceLinked="1"/>
        <c:majorTickMark val="out"/>
        <c:minorTickMark val="none"/>
        <c:tickLblPos val="nextTo"/>
        <c:crossAx val="1022521808"/>
        <c:crosses val="autoZero"/>
        <c:auto val="1"/>
        <c:lblOffset val="100"/>
        <c:baseTimeUnit val="months"/>
      </c:date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r>
              <a:rPr lang="es-CO" b="1">
                <a:solidFill>
                  <a:schemeClr val="tx1"/>
                </a:solidFill>
              </a:rPr>
              <a:t>COMPARATIVO</a:t>
            </a:r>
            <a:r>
              <a:rPr lang="es-CO" b="1" baseline="0">
                <a:solidFill>
                  <a:schemeClr val="tx1"/>
                </a:solidFill>
              </a:rPr>
              <a:t> NPS 2026</a:t>
            </a:r>
            <a:endParaRPr lang="es-CO" b="1">
              <a:solidFill>
                <a:schemeClr val="tx1"/>
              </a:solidFill>
            </a:endParaRP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endParaRPr lang="es-CO"/>
        </a:p>
      </c:txPr>
    </c:title>
    <c:autoTitleDeleted val="0"/>
    <c:plotArea>
      <c:layout/>
      <c:barChart>
        <c:barDir val="col"/>
        <c:grouping val="percentStacked"/>
        <c:varyColors val="0"/>
        <c:ser>
          <c:idx val="0"/>
          <c:order val="0"/>
          <c:tx>
            <c:strRef>
              <c:f>'Comparativo NPS'!$B$42</c:f>
              <c:strCache>
                <c:ptCount val="1"/>
                <c:pt idx="0">
                  <c:v>APOSTOLES</c:v>
                </c:pt>
              </c:strCache>
            </c:strRef>
          </c:tx>
          <c:spPr>
            <a:solidFill>
              <a:srgbClr val="8158A1"/>
            </a:solidFill>
            <a:ln>
              <a:noFill/>
            </a:ln>
            <a:effectLst/>
          </c:spPr>
          <c:invertIfNegative val="0"/>
          <c:cat>
            <c:strRef>
              <c:f>'Comparativo NPS'!$A$43:$A$50</c:f>
              <c:strCache>
                <c:ptCount val="8"/>
                <c:pt idx="0">
                  <c:v>ENE</c:v>
                </c:pt>
                <c:pt idx="1">
                  <c:v>FEB</c:v>
                </c:pt>
                <c:pt idx="2">
                  <c:v>MAR</c:v>
                </c:pt>
                <c:pt idx="3">
                  <c:v>ABR</c:v>
                </c:pt>
                <c:pt idx="4">
                  <c:v>MAY</c:v>
                </c:pt>
                <c:pt idx="5">
                  <c:v>JUN</c:v>
                </c:pt>
                <c:pt idx="6">
                  <c:v>JUL</c:v>
                </c:pt>
                <c:pt idx="7">
                  <c:v>AGO</c:v>
                </c:pt>
              </c:strCache>
            </c:strRef>
          </c:cat>
          <c:val>
            <c:numRef>
              <c:f>'Comparativo NPS'!$B$43:$B$50</c:f>
              <c:numCache>
                <c:formatCode>General</c:formatCode>
                <c:ptCount val="8"/>
                <c:pt idx="0">
                  <c:v>919</c:v>
                </c:pt>
                <c:pt idx="1">
                  <c:v>342</c:v>
                </c:pt>
                <c:pt idx="2">
                  <c:v>789</c:v>
                </c:pt>
                <c:pt idx="3">
                  <c:v>787</c:v>
                </c:pt>
                <c:pt idx="4">
                  <c:v>851</c:v>
                </c:pt>
                <c:pt idx="5">
                  <c:v>904</c:v>
                </c:pt>
                <c:pt idx="6">
                  <c:v>926</c:v>
                </c:pt>
                <c:pt idx="7">
                  <c:v>931</c:v>
                </c:pt>
              </c:numCache>
            </c:numRef>
          </c:val>
          <c:extLst>
            <c:ext xmlns:c16="http://schemas.microsoft.com/office/drawing/2014/chart" uri="{C3380CC4-5D6E-409C-BE32-E72D297353CC}">
              <c16:uniqueId val="{00000000-5051-4F31-B144-EF4053A89EC2}"/>
            </c:ext>
          </c:extLst>
        </c:ser>
        <c:ser>
          <c:idx val="1"/>
          <c:order val="1"/>
          <c:tx>
            <c:strRef>
              <c:f>'Comparativo NPS'!$C$42</c:f>
              <c:strCache>
                <c:ptCount val="1"/>
                <c:pt idx="0">
                  <c:v>NEUTROS </c:v>
                </c:pt>
              </c:strCache>
            </c:strRef>
          </c:tx>
          <c:spPr>
            <a:solidFill>
              <a:srgbClr val="47A9A1"/>
            </a:solidFill>
            <a:ln>
              <a:noFill/>
            </a:ln>
            <a:effectLst/>
          </c:spPr>
          <c:invertIfNegative val="0"/>
          <c:cat>
            <c:strRef>
              <c:f>'Comparativo NPS'!$A$43:$A$50</c:f>
              <c:strCache>
                <c:ptCount val="8"/>
                <c:pt idx="0">
                  <c:v>ENE</c:v>
                </c:pt>
                <c:pt idx="1">
                  <c:v>FEB</c:v>
                </c:pt>
                <c:pt idx="2">
                  <c:v>MAR</c:v>
                </c:pt>
                <c:pt idx="3">
                  <c:v>ABR</c:v>
                </c:pt>
                <c:pt idx="4">
                  <c:v>MAY</c:v>
                </c:pt>
                <c:pt idx="5">
                  <c:v>JUN</c:v>
                </c:pt>
                <c:pt idx="6">
                  <c:v>JUL</c:v>
                </c:pt>
                <c:pt idx="7">
                  <c:v>AGO</c:v>
                </c:pt>
              </c:strCache>
            </c:strRef>
          </c:cat>
          <c:val>
            <c:numRef>
              <c:f>'Comparativo NPS'!$C$43:$C$50</c:f>
              <c:numCache>
                <c:formatCode>General</c:formatCode>
                <c:ptCount val="8"/>
                <c:pt idx="0">
                  <c:v>12</c:v>
                </c:pt>
                <c:pt idx="1">
                  <c:v>40</c:v>
                </c:pt>
                <c:pt idx="2">
                  <c:v>23</c:v>
                </c:pt>
                <c:pt idx="3">
                  <c:v>44</c:v>
                </c:pt>
                <c:pt idx="4">
                  <c:v>19</c:v>
                </c:pt>
                <c:pt idx="5">
                  <c:v>6</c:v>
                </c:pt>
                <c:pt idx="6">
                  <c:v>4</c:v>
                </c:pt>
                <c:pt idx="7">
                  <c:v>1</c:v>
                </c:pt>
              </c:numCache>
            </c:numRef>
          </c:val>
          <c:extLst>
            <c:ext xmlns:c16="http://schemas.microsoft.com/office/drawing/2014/chart" uri="{C3380CC4-5D6E-409C-BE32-E72D297353CC}">
              <c16:uniqueId val="{00000001-5051-4F31-B144-EF4053A89EC2}"/>
            </c:ext>
          </c:extLst>
        </c:ser>
        <c:ser>
          <c:idx val="2"/>
          <c:order val="2"/>
          <c:tx>
            <c:strRef>
              <c:f>'Comparativo NPS'!$D$42</c:f>
              <c:strCache>
                <c:ptCount val="1"/>
                <c:pt idx="0">
                  <c:v>DETRACTORES</c:v>
                </c:pt>
              </c:strCache>
            </c:strRef>
          </c:tx>
          <c:spPr>
            <a:solidFill>
              <a:schemeClr val="bg1">
                <a:lumMod val="50000"/>
              </a:schemeClr>
            </a:solidFill>
            <a:ln>
              <a:noFill/>
            </a:ln>
            <a:effectLst/>
          </c:spPr>
          <c:invertIfNegative val="0"/>
          <c:cat>
            <c:strRef>
              <c:f>'Comparativo NPS'!$A$43:$A$50</c:f>
              <c:strCache>
                <c:ptCount val="8"/>
                <c:pt idx="0">
                  <c:v>ENE</c:v>
                </c:pt>
                <c:pt idx="1">
                  <c:v>FEB</c:v>
                </c:pt>
                <c:pt idx="2">
                  <c:v>MAR</c:v>
                </c:pt>
                <c:pt idx="3">
                  <c:v>ABR</c:v>
                </c:pt>
                <c:pt idx="4">
                  <c:v>MAY</c:v>
                </c:pt>
                <c:pt idx="5">
                  <c:v>JUN</c:v>
                </c:pt>
                <c:pt idx="6">
                  <c:v>JUL</c:v>
                </c:pt>
                <c:pt idx="7">
                  <c:v>AGO</c:v>
                </c:pt>
              </c:strCache>
            </c:strRef>
          </c:cat>
          <c:val>
            <c:numRef>
              <c:f>'Comparativo NPS'!$D$43:$D$50</c:f>
              <c:numCache>
                <c:formatCode>General</c:formatCode>
                <c:ptCount val="8"/>
                <c:pt idx="0">
                  <c:v>8</c:v>
                </c:pt>
                <c:pt idx="1">
                  <c:v>13</c:v>
                </c:pt>
                <c:pt idx="2">
                  <c:v>32</c:v>
                </c:pt>
                <c:pt idx="3">
                  <c:v>28</c:v>
                </c:pt>
                <c:pt idx="4">
                  <c:v>23</c:v>
                </c:pt>
                <c:pt idx="5">
                  <c:v>5</c:v>
                </c:pt>
                <c:pt idx="6">
                  <c:v>3</c:v>
                </c:pt>
                <c:pt idx="7">
                  <c:v>1</c:v>
                </c:pt>
              </c:numCache>
            </c:numRef>
          </c:val>
          <c:extLst>
            <c:ext xmlns:c16="http://schemas.microsoft.com/office/drawing/2014/chart" uri="{C3380CC4-5D6E-409C-BE32-E72D297353CC}">
              <c16:uniqueId val="{00000002-5051-4F31-B144-EF4053A89EC2}"/>
            </c:ext>
          </c:extLst>
        </c:ser>
        <c:dLbls>
          <c:showLegendKey val="0"/>
          <c:showVal val="0"/>
          <c:showCatName val="0"/>
          <c:showSerName val="0"/>
          <c:showPercent val="0"/>
          <c:showBubbleSize val="0"/>
        </c:dLbls>
        <c:gapWidth val="150"/>
        <c:overlap val="100"/>
        <c:axId val="2041866064"/>
        <c:axId val="2041853104"/>
      </c:barChart>
      <c:catAx>
        <c:axId val="20418660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2041853104"/>
        <c:crosses val="autoZero"/>
        <c:auto val="1"/>
        <c:lblAlgn val="ctr"/>
        <c:lblOffset val="100"/>
        <c:noMultiLvlLbl val="0"/>
      </c:catAx>
      <c:valAx>
        <c:axId val="2041853104"/>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2041866064"/>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050" b="0" i="0" u="none" strike="noStrike" kern="1200" baseline="0">
                <a:solidFill>
                  <a:schemeClr val="tx1">
                    <a:lumMod val="50000"/>
                  </a:schemeClr>
                </a:solidFill>
                <a:latin typeface="+mn-lt"/>
                <a:ea typeface="+mn-ea"/>
                <a:cs typeface="+mn-cs"/>
              </a:defRPr>
            </a:pPr>
            <a:endParaRPr lang="es-CO"/>
          </a:p>
        </c:txPr>
      </c:dTable>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50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8158A1"/>
                </a:solidFill>
                <a:latin typeface="+mn-lt"/>
                <a:ea typeface="+mn-ea"/>
                <a:cs typeface="+mn-cs"/>
              </a:defRPr>
            </a:pPr>
            <a:r>
              <a:rPr lang="es-CO" b="1">
                <a:solidFill>
                  <a:srgbClr val="8158A1"/>
                </a:solidFill>
              </a:rPr>
              <a:t>NPS</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8158A1"/>
              </a:solidFill>
              <a:latin typeface="+mn-lt"/>
              <a:ea typeface="+mn-ea"/>
              <a:cs typeface="+mn-cs"/>
            </a:defRPr>
          </a:pPr>
          <a:endParaRPr lang="es-CO"/>
        </a:p>
      </c:txPr>
    </c:title>
    <c:autoTitleDeleted val="0"/>
    <c:plotArea>
      <c:layout/>
      <c:barChart>
        <c:barDir val="col"/>
        <c:grouping val="clustered"/>
        <c:varyColors val="0"/>
        <c:ser>
          <c:idx val="0"/>
          <c:order val="0"/>
          <c:tx>
            <c:strRef>
              <c:f>Consolidado!$T$3</c:f>
              <c:strCache>
                <c:ptCount val="1"/>
                <c:pt idx="0">
                  <c:v>2026</c:v>
                </c:pt>
              </c:strCache>
            </c:strRef>
          </c:tx>
          <c:spPr>
            <a:solidFill>
              <a:srgbClr val="8158A1"/>
            </a:solidFill>
            <a:ln>
              <a:solidFill>
                <a:srgbClr val="8158A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50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Consolidado!$U$2:$AB$2</c:f>
              <c:strCache>
                <c:ptCount val="8"/>
                <c:pt idx="0">
                  <c:v>ENE</c:v>
                </c:pt>
                <c:pt idx="1">
                  <c:v>FEB</c:v>
                </c:pt>
                <c:pt idx="2">
                  <c:v>MAR</c:v>
                </c:pt>
                <c:pt idx="3">
                  <c:v>ABR</c:v>
                </c:pt>
                <c:pt idx="4">
                  <c:v>MAY</c:v>
                </c:pt>
                <c:pt idx="5">
                  <c:v>JUN</c:v>
                </c:pt>
                <c:pt idx="6">
                  <c:v>JUL</c:v>
                </c:pt>
                <c:pt idx="7">
                  <c:v>AGO</c:v>
                </c:pt>
              </c:strCache>
              <c:extLst/>
            </c:strRef>
          </c:cat>
          <c:val>
            <c:numRef>
              <c:f>Consolidado!$U$3:$AB$3</c:f>
              <c:numCache>
                <c:formatCode>0.0</c:formatCode>
                <c:ptCount val="8"/>
                <c:pt idx="0">
                  <c:v>97.018104366347174</c:v>
                </c:pt>
                <c:pt idx="1">
                  <c:v>83.291139240506325</c:v>
                </c:pt>
                <c:pt idx="2">
                  <c:v>89.691943127962091</c:v>
                </c:pt>
                <c:pt idx="3">
                  <c:v>88.358556461001172</c:v>
                </c:pt>
                <c:pt idx="4">
                  <c:v>92.721164613661813</c:v>
                </c:pt>
                <c:pt idx="5">
                  <c:v>98.251366120218577</c:v>
                </c:pt>
                <c:pt idx="6">
                  <c:v>98.928188638799568</c:v>
                </c:pt>
                <c:pt idx="7">
                  <c:v>99.678456591639872</c:v>
                </c:pt>
              </c:numCache>
              <c:extLst/>
            </c:numRef>
          </c:val>
          <c:extLst>
            <c:ext xmlns:c16="http://schemas.microsoft.com/office/drawing/2014/chart" uri="{C3380CC4-5D6E-409C-BE32-E72D297353CC}">
              <c16:uniqueId val="{00000000-A7DF-4BB9-B1D5-35737603152E}"/>
            </c:ext>
          </c:extLst>
        </c:ser>
        <c:dLbls>
          <c:showLegendKey val="0"/>
          <c:showVal val="0"/>
          <c:showCatName val="0"/>
          <c:showSerName val="0"/>
          <c:showPercent val="0"/>
          <c:showBubbleSize val="0"/>
        </c:dLbls>
        <c:gapWidth val="150"/>
        <c:axId val="1159728735"/>
        <c:axId val="1159721055"/>
      </c:barChart>
      <c:lineChart>
        <c:grouping val="standard"/>
        <c:varyColors val="0"/>
        <c:ser>
          <c:idx val="1"/>
          <c:order val="1"/>
          <c:tx>
            <c:strRef>
              <c:f>Consolidado!$T$5</c:f>
              <c:strCache>
                <c:ptCount val="1"/>
                <c:pt idx="0">
                  <c:v>Meta</c:v>
                </c:pt>
              </c:strCache>
            </c:strRef>
          </c:tx>
          <c:spPr>
            <a:ln w="28575" cap="rnd">
              <a:solidFill>
                <a:srgbClr val="C00000"/>
              </a:solidFill>
              <a:prstDash val="sysDot"/>
              <a:round/>
            </a:ln>
            <a:effectLst/>
          </c:spPr>
          <c:marker>
            <c:symbol val="none"/>
          </c:marker>
          <c:cat>
            <c:strRef>
              <c:f>Consolidado!$U$2:$AB$2</c:f>
              <c:strCache>
                <c:ptCount val="8"/>
                <c:pt idx="0">
                  <c:v>ENE</c:v>
                </c:pt>
                <c:pt idx="1">
                  <c:v>FEB</c:v>
                </c:pt>
                <c:pt idx="2">
                  <c:v>MAR</c:v>
                </c:pt>
                <c:pt idx="3">
                  <c:v>ABR</c:v>
                </c:pt>
                <c:pt idx="4">
                  <c:v>MAY</c:v>
                </c:pt>
                <c:pt idx="5">
                  <c:v>JUN</c:v>
                </c:pt>
                <c:pt idx="6">
                  <c:v>JUL</c:v>
                </c:pt>
                <c:pt idx="7">
                  <c:v>AGO</c:v>
                </c:pt>
              </c:strCache>
              <c:extLst/>
            </c:strRef>
          </c:cat>
          <c:val>
            <c:numRef>
              <c:f>Consolidado!$U$5:$AB$5</c:f>
              <c:numCache>
                <c:formatCode>General</c:formatCode>
                <c:ptCount val="8"/>
                <c:pt idx="0">
                  <c:v>75</c:v>
                </c:pt>
                <c:pt idx="1">
                  <c:v>75</c:v>
                </c:pt>
                <c:pt idx="2">
                  <c:v>75</c:v>
                </c:pt>
                <c:pt idx="3">
                  <c:v>75</c:v>
                </c:pt>
                <c:pt idx="4">
                  <c:v>75</c:v>
                </c:pt>
                <c:pt idx="5">
                  <c:v>75</c:v>
                </c:pt>
                <c:pt idx="6">
                  <c:v>75</c:v>
                </c:pt>
                <c:pt idx="7">
                  <c:v>75</c:v>
                </c:pt>
              </c:numCache>
              <c:extLst/>
            </c:numRef>
          </c:val>
          <c:smooth val="0"/>
          <c:extLst>
            <c:ext xmlns:c16="http://schemas.microsoft.com/office/drawing/2014/chart" uri="{C3380CC4-5D6E-409C-BE32-E72D297353CC}">
              <c16:uniqueId val="{00000001-A7DF-4BB9-B1D5-35737603152E}"/>
            </c:ext>
          </c:extLst>
        </c:ser>
        <c:dLbls>
          <c:showLegendKey val="0"/>
          <c:showVal val="0"/>
          <c:showCatName val="0"/>
          <c:showSerName val="0"/>
          <c:showPercent val="0"/>
          <c:showBubbleSize val="0"/>
        </c:dLbls>
        <c:marker val="1"/>
        <c:smooth val="0"/>
        <c:axId val="1159728735"/>
        <c:axId val="1159721055"/>
      </c:lineChart>
      <c:catAx>
        <c:axId val="11597287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159721055"/>
        <c:crosses val="autoZero"/>
        <c:auto val="1"/>
        <c:lblAlgn val="ctr"/>
        <c:lblOffset val="100"/>
        <c:noMultiLvlLbl val="0"/>
      </c:catAx>
      <c:valAx>
        <c:axId val="1159721055"/>
        <c:scaling>
          <c:orientation val="minMax"/>
          <c:max val="100"/>
          <c:min val="50"/>
        </c:scaling>
        <c:delete val="1"/>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crossAx val="1159728735"/>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50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8158A1"/>
                </a:solidFill>
                <a:latin typeface="+mn-lt"/>
                <a:ea typeface="+mn-ea"/>
                <a:cs typeface="+mn-cs"/>
              </a:defRPr>
            </a:pPr>
            <a:r>
              <a:rPr lang="es-CO" b="1">
                <a:solidFill>
                  <a:srgbClr val="8158A1"/>
                </a:solidFill>
              </a:rPr>
              <a:t>Satisfacción</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8158A1"/>
              </a:solidFill>
              <a:latin typeface="+mn-lt"/>
              <a:ea typeface="+mn-ea"/>
              <a:cs typeface="+mn-cs"/>
            </a:defRPr>
          </a:pPr>
          <a:endParaRPr lang="es-CO"/>
        </a:p>
      </c:txPr>
    </c:title>
    <c:autoTitleDeleted val="0"/>
    <c:plotArea>
      <c:layout/>
      <c:barChart>
        <c:barDir val="col"/>
        <c:grouping val="clustered"/>
        <c:varyColors val="0"/>
        <c:ser>
          <c:idx val="0"/>
          <c:order val="0"/>
          <c:tx>
            <c:strRef>
              <c:f>Consolidado!$T$19</c:f>
              <c:strCache>
                <c:ptCount val="1"/>
                <c:pt idx="0">
                  <c:v>2026</c:v>
                </c:pt>
              </c:strCache>
            </c:strRef>
          </c:tx>
          <c:spPr>
            <a:solidFill>
              <a:srgbClr val="8158A1"/>
            </a:solidFill>
            <a:ln>
              <a:solidFill>
                <a:srgbClr val="8158A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50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Consolidado!$U$18:$AB$18</c:f>
              <c:strCache>
                <c:ptCount val="8"/>
                <c:pt idx="0">
                  <c:v>ENE</c:v>
                </c:pt>
                <c:pt idx="1">
                  <c:v>FEB</c:v>
                </c:pt>
                <c:pt idx="2">
                  <c:v>MAR</c:v>
                </c:pt>
                <c:pt idx="3">
                  <c:v>ABR</c:v>
                </c:pt>
                <c:pt idx="4">
                  <c:v>MAY</c:v>
                </c:pt>
                <c:pt idx="5">
                  <c:v>JUN</c:v>
                </c:pt>
                <c:pt idx="6">
                  <c:v>JUL</c:v>
                </c:pt>
                <c:pt idx="7">
                  <c:v>AGO</c:v>
                </c:pt>
              </c:strCache>
              <c:extLst/>
            </c:strRef>
          </c:cat>
          <c:val>
            <c:numRef>
              <c:f>Consolidado!$U$19:$AB$19</c:f>
              <c:numCache>
                <c:formatCode>0.00</c:formatCode>
                <c:ptCount val="8"/>
                <c:pt idx="0">
                  <c:v>4.9074468085106382</c:v>
                </c:pt>
                <c:pt idx="1">
                  <c:v>4.751269035532995</c:v>
                </c:pt>
                <c:pt idx="2">
                  <c:v>4.8321678321678325</c:v>
                </c:pt>
                <c:pt idx="3">
                  <c:v>4.7902665121668599</c:v>
                </c:pt>
                <c:pt idx="4">
                  <c:v>4.849944008958567</c:v>
                </c:pt>
                <c:pt idx="5">
                  <c:v>4.9682713347921226</c:v>
                </c:pt>
                <c:pt idx="6">
                  <c:v>4.968917470525188</c:v>
                </c:pt>
                <c:pt idx="7">
                  <c:v>4.9967880085653107</c:v>
                </c:pt>
              </c:numCache>
              <c:extLst/>
            </c:numRef>
          </c:val>
          <c:extLst>
            <c:ext xmlns:c16="http://schemas.microsoft.com/office/drawing/2014/chart" uri="{C3380CC4-5D6E-409C-BE32-E72D297353CC}">
              <c16:uniqueId val="{00000000-29C6-4678-92E0-FBCFD08A51D8}"/>
            </c:ext>
          </c:extLst>
        </c:ser>
        <c:dLbls>
          <c:showLegendKey val="0"/>
          <c:showVal val="0"/>
          <c:showCatName val="0"/>
          <c:showSerName val="0"/>
          <c:showPercent val="0"/>
          <c:showBubbleSize val="0"/>
        </c:dLbls>
        <c:gapWidth val="150"/>
        <c:axId val="1144899839"/>
        <c:axId val="1144896479"/>
      </c:barChart>
      <c:lineChart>
        <c:grouping val="standard"/>
        <c:varyColors val="0"/>
        <c:ser>
          <c:idx val="1"/>
          <c:order val="1"/>
          <c:tx>
            <c:strRef>
              <c:f>Consolidado!$T$21</c:f>
              <c:strCache>
                <c:ptCount val="1"/>
                <c:pt idx="0">
                  <c:v>Meta</c:v>
                </c:pt>
              </c:strCache>
            </c:strRef>
          </c:tx>
          <c:spPr>
            <a:ln w="28575" cap="rnd">
              <a:solidFill>
                <a:srgbClr val="C00000"/>
              </a:solidFill>
              <a:prstDash val="sysDot"/>
              <a:round/>
            </a:ln>
            <a:effectLst/>
          </c:spPr>
          <c:marker>
            <c:symbol val="none"/>
          </c:marker>
          <c:cat>
            <c:strRef>
              <c:f>Consolidado!$U$18:$AB$18</c:f>
              <c:strCache>
                <c:ptCount val="8"/>
                <c:pt idx="0">
                  <c:v>ENE</c:v>
                </c:pt>
                <c:pt idx="1">
                  <c:v>FEB</c:v>
                </c:pt>
                <c:pt idx="2">
                  <c:v>MAR</c:v>
                </c:pt>
                <c:pt idx="3">
                  <c:v>ABR</c:v>
                </c:pt>
                <c:pt idx="4">
                  <c:v>MAY</c:v>
                </c:pt>
                <c:pt idx="5">
                  <c:v>JUN</c:v>
                </c:pt>
                <c:pt idx="6">
                  <c:v>JUL</c:v>
                </c:pt>
                <c:pt idx="7">
                  <c:v>AGO</c:v>
                </c:pt>
              </c:strCache>
              <c:extLst/>
            </c:strRef>
          </c:cat>
          <c:val>
            <c:numRef>
              <c:f>Consolidado!$U$21:$AB$21</c:f>
              <c:numCache>
                <c:formatCode>General</c:formatCode>
                <c:ptCount val="8"/>
                <c:pt idx="0">
                  <c:v>4.8</c:v>
                </c:pt>
                <c:pt idx="1">
                  <c:v>4.8</c:v>
                </c:pt>
                <c:pt idx="2">
                  <c:v>4.8</c:v>
                </c:pt>
                <c:pt idx="3">
                  <c:v>4.8</c:v>
                </c:pt>
                <c:pt idx="4">
                  <c:v>4.8</c:v>
                </c:pt>
                <c:pt idx="5">
                  <c:v>4.8</c:v>
                </c:pt>
                <c:pt idx="6">
                  <c:v>4.8</c:v>
                </c:pt>
                <c:pt idx="7">
                  <c:v>4.8</c:v>
                </c:pt>
              </c:numCache>
              <c:extLst/>
            </c:numRef>
          </c:val>
          <c:smooth val="0"/>
          <c:extLst>
            <c:ext xmlns:c16="http://schemas.microsoft.com/office/drawing/2014/chart" uri="{C3380CC4-5D6E-409C-BE32-E72D297353CC}">
              <c16:uniqueId val="{00000001-29C6-4678-92E0-FBCFD08A51D8}"/>
            </c:ext>
          </c:extLst>
        </c:ser>
        <c:dLbls>
          <c:showLegendKey val="0"/>
          <c:showVal val="0"/>
          <c:showCatName val="0"/>
          <c:showSerName val="0"/>
          <c:showPercent val="0"/>
          <c:showBubbleSize val="0"/>
        </c:dLbls>
        <c:marker val="1"/>
        <c:smooth val="0"/>
        <c:axId val="1144899839"/>
        <c:axId val="1144896479"/>
      </c:lineChart>
      <c:catAx>
        <c:axId val="114489983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144896479"/>
        <c:crosses val="autoZero"/>
        <c:auto val="1"/>
        <c:lblAlgn val="ctr"/>
        <c:lblOffset val="100"/>
        <c:noMultiLvlLbl val="0"/>
      </c:catAx>
      <c:valAx>
        <c:axId val="1144896479"/>
        <c:scaling>
          <c:orientation val="minMax"/>
          <c:min val="1"/>
        </c:scaling>
        <c:delete val="1"/>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crossAx val="1144899839"/>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50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s-CO" b="1">
                <a:solidFill>
                  <a:srgbClr val="8158A1"/>
                </a:solidFill>
              </a:rPr>
              <a:t>CES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Consolidado!$T$30</c:f>
              <c:strCache>
                <c:ptCount val="1"/>
                <c:pt idx="0">
                  <c:v>2026</c:v>
                </c:pt>
              </c:strCache>
            </c:strRef>
          </c:tx>
          <c:spPr>
            <a:solidFill>
              <a:srgbClr val="8158A1"/>
            </a:solidFill>
            <a:ln>
              <a:solidFill>
                <a:srgbClr val="8158A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50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Consolidado!$U$29:$AB$29</c:f>
              <c:strCache>
                <c:ptCount val="8"/>
                <c:pt idx="0">
                  <c:v>ENE</c:v>
                </c:pt>
                <c:pt idx="1">
                  <c:v>FEB</c:v>
                </c:pt>
                <c:pt idx="2">
                  <c:v>MAR</c:v>
                </c:pt>
                <c:pt idx="3">
                  <c:v>ABR</c:v>
                </c:pt>
                <c:pt idx="4">
                  <c:v>MAY</c:v>
                </c:pt>
                <c:pt idx="5">
                  <c:v>JUN</c:v>
                </c:pt>
                <c:pt idx="6">
                  <c:v>JUL</c:v>
                </c:pt>
                <c:pt idx="7">
                  <c:v>AGO</c:v>
                </c:pt>
              </c:strCache>
              <c:extLst/>
            </c:strRef>
          </c:cat>
          <c:val>
            <c:numRef>
              <c:f>Consolidado!$U$30:$AB$30</c:f>
              <c:numCache>
                <c:formatCode>0.0%</c:formatCode>
                <c:ptCount val="8"/>
                <c:pt idx="0">
                  <c:v>0.97340425531914898</c:v>
                </c:pt>
                <c:pt idx="1">
                  <c:v>0.92151898734177218</c:v>
                </c:pt>
                <c:pt idx="2">
                  <c:v>0.92415402567094518</c:v>
                </c:pt>
                <c:pt idx="3">
                  <c:v>0.93039443155452439</c:v>
                </c:pt>
                <c:pt idx="4">
                  <c:v>0.96636771300448432</c:v>
                </c:pt>
                <c:pt idx="5">
                  <c:v>0.98579234972677598</c:v>
                </c:pt>
                <c:pt idx="6">
                  <c:v>0.992497320471597</c:v>
                </c:pt>
                <c:pt idx="7">
                  <c:v>1</c:v>
                </c:pt>
              </c:numCache>
              <c:extLst/>
            </c:numRef>
          </c:val>
          <c:extLst>
            <c:ext xmlns:c16="http://schemas.microsoft.com/office/drawing/2014/chart" uri="{C3380CC4-5D6E-409C-BE32-E72D297353CC}">
              <c16:uniqueId val="{00000000-7BFB-4290-B0F9-418CF3652DF0}"/>
            </c:ext>
          </c:extLst>
        </c:ser>
        <c:dLbls>
          <c:showLegendKey val="0"/>
          <c:showVal val="0"/>
          <c:showCatName val="0"/>
          <c:showSerName val="0"/>
          <c:showPercent val="0"/>
          <c:showBubbleSize val="0"/>
        </c:dLbls>
        <c:gapWidth val="150"/>
        <c:axId val="928171295"/>
        <c:axId val="928178975"/>
      </c:barChart>
      <c:lineChart>
        <c:grouping val="standard"/>
        <c:varyColors val="0"/>
        <c:ser>
          <c:idx val="1"/>
          <c:order val="1"/>
          <c:tx>
            <c:strRef>
              <c:f>Consolidado!$T$32</c:f>
              <c:strCache>
                <c:ptCount val="1"/>
                <c:pt idx="0">
                  <c:v>Meta</c:v>
                </c:pt>
              </c:strCache>
            </c:strRef>
          </c:tx>
          <c:spPr>
            <a:ln w="28575" cap="rnd">
              <a:solidFill>
                <a:srgbClr val="C00000"/>
              </a:solidFill>
              <a:prstDash val="sysDot"/>
              <a:round/>
            </a:ln>
            <a:effectLst/>
          </c:spPr>
          <c:marker>
            <c:symbol val="none"/>
          </c:marker>
          <c:cat>
            <c:strRef>
              <c:f>Consolidado!$U$29:$AB$29</c:f>
              <c:strCache>
                <c:ptCount val="8"/>
                <c:pt idx="0">
                  <c:v>ENE</c:v>
                </c:pt>
                <c:pt idx="1">
                  <c:v>FEB</c:v>
                </c:pt>
                <c:pt idx="2">
                  <c:v>MAR</c:v>
                </c:pt>
                <c:pt idx="3">
                  <c:v>ABR</c:v>
                </c:pt>
                <c:pt idx="4">
                  <c:v>MAY</c:v>
                </c:pt>
                <c:pt idx="5">
                  <c:v>JUN</c:v>
                </c:pt>
                <c:pt idx="6">
                  <c:v>JUL</c:v>
                </c:pt>
                <c:pt idx="7">
                  <c:v>AGO</c:v>
                </c:pt>
              </c:strCache>
              <c:extLst/>
            </c:strRef>
          </c:cat>
          <c:val>
            <c:numRef>
              <c:f>Consolidado!$U$32:$AB$32</c:f>
              <c:numCache>
                <c:formatCode>0%</c:formatCode>
                <c:ptCount val="8"/>
                <c:pt idx="0">
                  <c:v>0.9</c:v>
                </c:pt>
                <c:pt idx="1">
                  <c:v>0.9</c:v>
                </c:pt>
                <c:pt idx="2">
                  <c:v>0.9</c:v>
                </c:pt>
                <c:pt idx="3">
                  <c:v>0.9</c:v>
                </c:pt>
                <c:pt idx="4">
                  <c:v>0.9</c:v>
                </c:pt>
                <c:pt idx="5">
                  <c:v>0.9</c:v>
                </c:pt>
                <c:pt idx="6">
                  <c:v>0.9</c:v>
                </c:pt>
                <c:pt idx="7">
                  <c:v>0.9</c:v>
                </c:pt>
              </c:numCache>
              <c:extLst/>
            </c:numRef>
          </c:val>
          <c:smooth val="0"/>
          <c:extLst>
            <c:ext xmlns:c16="http://schemas.microsoft.com/office/drawing/2014/chart" uri="{C3380CC4-5D6E-409C-BE32-E72D297353CC}">
              <c16:uniqueId val="{00000001-7BFB-4290-B0F9-418CF3652DF0}"/>
            </c:ext>
          </c:extLst>
        </c:ser>
        <c:dLbls>
          <c:showLegendKey val="0"/>
          <c:showVal val="0"/>
          <c:showCatName val="0"/>
          <c:showSerName val="0"/>
          <c:showPercent val="0"/>
          <c:showBubbleSize val="0"/>
        </c:dLbls>
        <c:marker val="1"/>
        <c:smooth val="0"/>
        <c:axId val="928171295"/>
        <c:axId val="928178975"/>
      </c:lineChart>
      <c:catAx>
        <c:axId val="92817129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928178975"/>
        <c:crosses val="autoZero"/>
        <c:auto val="1"/>
        <c:lblAlgn val="ctr"/>
        <c:lblOffset val="100"/>
        <c:noMultiLvlLbl val="0"/>
      </c:catAx>
      <c:valAx>
        <c:axId val="928178975"/>
        <c:scaling>
          <c:orientation val="minMax"/>
        </c:scaling>
        <c:delete val="1"/>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crossAx val="928171295"/>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50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8158A1"/>
                </a:solidFill>
                <a:latin typeface="+mn-lt"/>
                <a:ea typeface="+mn-ea"/>
                <a:cs typeface="+mn-cs"/>
              </a:defRPr>
            </a:pPr>
            <a:r>
              <a:rPr lang="es-CO" b="1">
                <a:solidFill>
                  <a:srgbClr val="8158A1"/>
                </a:solidFill>
              </a:rPr>
              <a:t>FCR</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8158A1"/>
              </a:solidFill>
              <a:latin typeface="+mn-lt"/>
              <a:ea typeface="+mn-ea"/>
              <a:cs typeface="+mn-cs"/>
            </a:defRPr>
          </a:pPr>
          <a:endParaRPr lang="es-CO"/>
        </a:p>
      </c:txPr>
    </c:title>
    <c:autoTitleDeleted val="0"/>
    <c:plotArea>
      <c:layout/>
      <c:barChart>
        <c:barDir val="col"/>
        <c:grouping val="clustered"/>
        <c:varyColors val="0"/>
        <c:ser>
          <c:idx val="0"/>
          <c:order val="0"/>
          <c:tx>
            <c:strRef>
              <c:f>Consolidado!$T$41</c:f>
              <c:strCache>
                <c:ptCount val="1"/>
                <c:pt idx="0">
                  <c:v>2026</c:v>
                </c:pt>
              </c:strCache>
            </c:strRef>
          </c:tx>
          <c:spPr>
            <a:solidFill>
              <a:srgbClr val="8158A1"/>
            </a:solidFill>
            <a:ln>
              <a:solidFill>
                <a:srgbClr val="8158A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50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Consolidado!$U$40:$AB$40</c:f>
              <c:strCache>
                <c:ptCount val="8"/>
                <c:pt idx="0">
                  <c:v>ENE</c:v>
                </c:pt>
                <c:pt idx="1">
                  <c:v>FEB</c:v>
                </c:pt>
                <c:pt idx="2">
                  <c:v>MAR</c:v>
                </c:pt>
                <c:pt idx="3">
                  <c:v>ABR</c:v>
                </c:pt>
                <c:pt idx="4">
                  <c:v>MAY</c:v>
                </c:pt>
                <c:pt idx="5">
                  <c:v>JUN</c:v>
                </c:pt>
                <c:pt idx="6">
                  <c:v>JUL</c:v>
                </c:pt>
                <c:pt idx="7">
                  <c:v>AGO</c:v>
                </c:pt>
              </c:strCache>
              <c:extLst/>
            </c:strRef>
          </c:cat>
          <c:val>
            <c:numRef>
              <c:f>Consolidado!$U$41:$AB$41</c:f>
              <c:numCache>
                <c:formatCode>0.0%</c:formatCode>
                <c:ptCount val="8"/>
                <c:pt idx="0">
                  <c:v>0.97765957446808516</c:v>
                </c:pt>
                <c:pt idx="1">
                  <c:v>0.94387755102040816</c:v>
                </c:pt>
                <c:pt idx="2">
                  <c:v>0.94262295081967218</c:v>
                </c:pt>
                <c:pt idx="3">
                  <c:v>0.95359628770301619</c:v>
                </c:pt>
                <c:pt idx="4">
                  <c:v>0.99439461883408076</c:v>
                </c:pt>
                <c:pt idx="5">
                  <c:v>0.9989059080962801</c:v>
                </c:pt>
                <c:pt idx="6">
                  <c:v>0.99892703862660948</c:v>
                </c:pt>
                <c:pt idx="7">
                  <c:v>1</c:v>
                </c:pt>
              </c:numCache>
              <c:extLst/>
            </c:numRef>
          </c:val>
          <c:extLst>
            <c:ext xmlns:c16="http://schemas.microsoft.com/office/drawing/2014/chart" uri="{C3380CC4-5D6E-409C-BE32-E72D297353CC}">
              <c16:uniqueId val="{00000000-6E10-430E-B2CD-B6E466AC4D09}"/>
            </c:ext>
          </c:extLst>
        </c:ser>
        <c:dLbls>
          <c:showLegendKey val="0"/>
          <c:showVal val="0"/>
          <c:showCatName val="0"/>
          <c:showSerName val="0"/>
          <c:showPercent val="0"/>
          <c:showBubbleSize val="0"/>
        </c:dLbls>
        <c:gapWidth val="150"/>
        <c:axId val="928166975"/>
        <c:axId val="928172255"/>
      </c:barChart>
      <c:lineChart>
        <c:grouping val="standard"/>
        <c:varyColors val="0"/>
        <c:ser>
          <c:idx val="1"/>
          <c:order val="1"/>
          <c:tx>
            <c:strRef>
              <c:f>Consolidado!$T$43</c:f>
              <c:strCache>
                <c:ptCount val="1"/>
                <c:pt idx="0">
                  <c:v>Meta</c:v>
                </c:pt>
              </c:strCache>
            </c:strRef>
          </c:tx>
          <c:spPr>
            <a:ln w="28575" cap="rnd">
              <a:solidFill>
                <a:srgbClr val="C00000"/>
              </a:solidFill>
              <a:prstDash val="sysDot"/>
              <a:round/>
            </a:ln>
            <a:effectLst/>
          </c:spPr>
          <c:marker>
            <c:symbol val="none"/>
          </c:marker>
          <c:cat>
            <c:strRef>
              <c:f>Consolidado!$U$40:$AB$40</c:f>
              <c:strCache>
                <c:ptCount val="8"/>
                <c:pt idx="0">
                  <c:v>ENE</c:v>
                </c:pt>
                <c:pt idx="1">
                  <c:v>FEB</c:v>
                </c:pt>
                <c:pt idx="2">
                  <c:v>MAR</c:v>
                </c:pt>
                <c:pt idx="3">
                  <c:v>ABR</c:v>
                </c:pt>
                <c:pt idx="4">
                  <c:v>MAY</c:v>
                </c:pt>
                <c:pt idx="5">
                  <c:v>JUN</c:v>
                </c:pt>
                <c:pt idx="6">
                  <c:v>JUL</c:v>
                </c:pt>
                <c:pt idx="7">
                  <c:v>AGO</c:v>
                </c:pt>
              </c:strCache>
              <c:extLst/>
            </c:strRef>
          </c:cat>
          <c:val>
            <c:numRef>
              <c:f>Consolidado!$U$43:$AB$43</c:f>
              <c:numCache>
                <c:formatCode>0%</c:formatCode>
                <c:ptCount val="8"/>
                <c:pt idx="0">
                  <c:v>0.9</c:v>
                </c:pt>
                <c:pt idx="1">
                  <c:v>0.9</c:v>
                </c:pt>
                <c:pt idx="2">
                  <c:v>0.9</c:v>
                </c:pt>
                <c:pt idx="3">
                  <c:v>0.9</c:v>
                </c:pt>
                <c:pt idx="4">
                  <c:v>0.9</c:v>
                </c:pt>
                <c:pt idx="5">
                  <c:v>0.9</c:v>
                </c:pt>
                <c:pt idx="6">
                  <c:v>0.9</c:v>
                </c:pt>
                <c:pt idx="7">
                  <c:v>0.9</c:v>
                </c:pt>
              </c:numCache>
              <c:extLst/>
            </c:numRef>
          </c:val>
          <c:smooth val="0"/>
          <c:extLst>
            <c:ext xmlns:c16="http://schemas.microsoft.com/office/drawing/2014/chart" uri="{C3380CC4-5D6E-409C-BE32-E72D297353CC}">
              <c16:uniqueId val="{00000001-6E10-430E-B2CD-B6E466AC4D09}"/>
            </c:ext>
          </c:extLst>
        </c:ser>
        <c:dLbls>
          <c:showLegendKey val="0"/>
          <c:showVal val="0"/>
          <c:showCatName val="0"/>
          <c:showSerName val="0"/>
          <c:showPercent val="0"/>
          <c:showBubbleSize val="0"/>
        </c:dLbls>
        <c:marker val="1"/>
        <c:smooth val="0"/>
        <c:axId val="928166975"/>
        <c:axId val="928172255"/>
      </c:lineChart>
      <c:catAx>
        <c:axId val="9281669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928172255"/>
        <c:crosses val="autoZero"/>
        <c:auto val="1"/>
        <c:lblAlgn val="ctr"/>
        <c:lblOffset val="100"/>
        <c:noMultiLvlLbl val="0"/>
      </c:catAx>
      <c:valAx>
        <c:axId val="928172255"/>
        <c:scaling>
          <c:orientation val="minMax"/>
        </c:scaling>
        <c:delete val="1"/>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crossAx val="928166975"/>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50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'Graficas GLOBAL'!$S$3</c:f>
              <c:strCache>
                <c:ptCount val="1"/>
                <c:pt idx="0">
                  <c:v>Petición</c:v>
                </c:pt>
              </c:strCache>
            </c:strRef>
          </c:tx>
          <c:spPr>
            <a:solidFill>
              <a:srgbClr val="FF6699"/>
            </a:solidFill>
            <a:ln>
              <a:solidFill>
                <a:srgbClr val="FF6699"/>
              </a:solidFill>
            </a:ln>
            <a:effectLst/>
          </c:spPr>
          <c:invertIfNegative val="0"/>
          <c:cat>
            <c:strRef>
              <c:f>'Graficas GLOBAL'!$T$2:$AA$2</c:f>
              <c:strCache>
                <c:ptCount val="8"/>
                <c:pt idx="0">
                  <c:v>ENE</c:v>
                </c:pt>
                <c:pt idx="1">
                  <c:v>FEB</c:v>
                </c:pt>
                <c:pt idx="2">
                  <c:v>MAR</c:v>
                </c:pt>
                <c:pt idx="3">
                  <c:v>ABR</c:v>
                </c:pt>
                <c:pt idx="4">
                  <c:v>MAY</c:v>
                </c:pt>
                <c:pt idx="5">
                  <c:v>JUN</c:v>
                </c:pt>
                <c:pt idx="6">
                  <c:v>JUL</c:v>
                </c:pt>
                <c:pt idx="7">
                  <c:v>AGO</c:v>
                </c:pt>
              </c:strCache>
            </c:strRef>
          </c:cat>
          <c:val>
            <c:numRef>
              <c:f>'Graficas GLOBAL'!$T$3:$AA$3</c:f>
              <c:numCache>
                <c:formatCode>General</c:formatCode>
                <c:ptCount val="8"/>
                <c:pt idx="0">
                  <c:v>36</c:v>
                </c:pt>
                <c:pt idx="1">
                  <c:v>44</c:v>
                </c:pt>
                <c:pt idx="2">
                  <c:v>49</c:v>
                </c:pt>
                <c:pt idx="3">
                  <c:v>61</c:v>
                </c:pt>
                <c:pt idx="4">
                  <c:v>47</c:v>
                </c:pt>
                <c:pt idx="5">
                  <c:v>54</c:v>
                </c:pt>
                <c:pt idx="6">
                  <c:v>45</c:v>
                </c:pt>
                <c:pt idx="7">
                  <c:v>46</c:v>
                </c:pt>
              </c:numCache>
            </c:numRef>
          </c:val>
          <c:extLst>
            <c:ext xmlns:c16="http://schemas.microsoft.com/office/drawing/2014/chart" uri="{C3380CC4-5D6E-409C-BE32-E72D297353CC}">
              <c16:uniqueId val="{00000000-483A-41DD-94EC-F4A7697C770C}"/>
            </c:ext>
          </c:extLst>
        </c:ser>
        <c:ser>
          <c:idx val="1"/>
          <c:order val="1"/>
          <c:tx>
            <c:strRef>
              <c:f>'Graficas GLOBAL'!$S$4</c:f>
              <c:strCache>
                <c:ptCount val="1"/>
                <c:pt idx="0">
                  <c:v>Queja</c:v>
                </c:pt>
              </c:strCache>
            </c:strRef>
          </c:tx>
          <c:spPr>
            <a:solidFill>
              <a:srgbClr val="00A19C"/>
            </a:solidFill>
            <a:ln>
              <a:noFill/>
            </a:ln>
            <a:effectLst/>
          </c:spPr>
          <c:invertIfNegative val="0"/>
          <c:cat>
            <c:strRef>
              <c:f>'Graficas GLOBAL'!$T$2:$AA$2</c:f>
              <c:strCache>
                <c:ptCount val="8"/>
                <c:pt idx="0">
                  <c:v>ENE</c:v>
                </c:pt>
                <c:pt idx="1">
                  <c:v>FEB</c:v>
                </c:pt>
                <c:pt idx="2">
                  <c:v>MAR</c:v>
                </c:pt>
                <c:pt idx="3">
                  <c:v>ABR</c:v>
                </c:pt>
                <c:pt idx="4">
                  <c:v>MAY</c:v>
                </c:pt>
                <c:pt idx="5">
                  <c:v>JUN</c:v>
                </c:pt>
                <c:pt idx="6">
                  <c:v>JUL</c:v>
                </c:pt>
                <c:pt idx="7">
                  <c:v>AGO</c:v>
                </c:pt>
              </c:strCache>
            </c:strRef>
          </c:cat>
          <c:val>
            <c:numRef>
              <c:f>'Graficas GLOBAL'!$T$4:$AA$4</c:f>
              <c:numCache>
                <c:formatCode>General</c:formatCode>
                <c:ptCount val="8"/>
                <c:pt idx="0">
                  <c:v>0</c:v>
                </c:pt>
                <c:pt idx="1">
                  <c:v>3</c:v>
                </c:pt>
                <c:pt idx="2">
                  <c:v>4</c:v>
                </c:pt>
                <c:pt idx="3">
                  <c:v>1</c:v>
                </c:pt>
                <c:pt idx="4">
                  <c:v>1</c:v>
                </c:pt>
                <c:pt idx="5">
                  <c:v>4</c:v>
                </c:pt>
                <c:pt idx="6">
                  <c:v>2</c:v>
                </c:pt>
                <c:pt idx="7">
                  <c:v>1</c:v>
                </c:pt>
              </c:numCache>
            </c:numRef>
          </c:val>
          <c:extLst>
            <c:ext xmlns:c16="http://schemas.microsoft.com/office/drawing/2014/chart" uri="{C3380CC4-5D6E-409C-BE32-E72D297353CC}">
              <c16:uniqueId val="{00000001-483A-41DD-94EC-F4A7697C770C}"/>
            </c:ext>
          </c:extLst>
        </c:ser>
        <c:ser>
          <c:idx val="2"/>
          <c:order val="2"/>
          <c:tx>
            <c:strRef>
              <c:f>'Graficas GLOBAL'!$S$5</c:f>
              <c:strCache>
                <c:ptCount val="1"/>
                <c:pt idx="0">
                  <c:v>Reclamo</c:v>
                </c:pt>
              </c:strCache>
            </c:strRef>
          </c:tx>
          <c:spPr>
            <a:solidFill>
              <a:srgbClr val="002060"/>
            </a:solidFill>
            <a:ln>
              <a:solidFill>
                <a:srgbClr val="002060"/>
              </a:solidFill>
            </a:ln>
            <a:effectLst/>
          </c:spPr>
          <c:invertIfNegative val="0"/>
          <c:cat>
            <c:strRef>
              <c:f>'Graficas GLOBAL'!$T$2:$AA$2</c:f>
              <c:strCache>
                <c:ptCount val="8"/>
                <c:pt idx="0">
                  <c:v>ENE</c:v>
                </c:pt>
                <c:pt idx="1">
                  <c:v>FEB</c:v>
                </c:pt>
                <c:pt idx="2">
                  <c:v>MAR</c:v>
                </c:pt>
                <c:pt idx="3">
                  <c:v>ABR</c:v>
                </c:pt>
                <c:pt idx="4">
                  <c:v>MAY</c:v>
                </c:pt>
                <c:pt idx="5">
                  <c:v>JUN</c:v>
                </c:pt>
                <c:pt idx="6">
                  <c:v>JUL</c:v>
                </c:pt>
                <c:pt idx="7">
                  <c:v>AGO</c:v>
                </c:pt>
              </c:strCache>
            </c:strRef>
          </c:cat>
          <c:val>
            <c:numRef>
              <c:f>'Graficas GLOBAL'!$T$5:$AA$5</c:f>
              <c:numCache>
                <c:formatCode>General</c:formatCode>
                <c:ptCount val="8"/>
                <c:pt idx="0">
                  <c:v>23</c:v>
                </c:pt>
                <c:pt idx="1">
                  <c:v>34</c:v>
                </c:pt>
                <c:pt idx="2">
                  <c:v>34</c:v>
                </c:pt>
                <c:pt idx="3">
                  <c:v>70</c:v>
                </c:pt>
                <c:pt idx="4">
                  <c:v>63</c:v>
                </c:pt>
                <c:pt idx="5">
                  <c:v>45</c:v>
                </c:pt>
                <c:pt idx="6">
                  <c:v>67</c:v>
                </c:pt>
                <c:pt idx="7">
                  <c:v>50</c:v>
                </c:pt>
              </c:numCache>
            </c:numRef>
          </c:val>
          <c:extLst>
            <c:ext xmlns:c16="http://schemas.microsoft.com/office/drawing/2014/chart" uri="{C3380CC4-5D6E-409C-BE32-E72D297353CC}">
              <c16:uniqueId val="{00000002-483A-41DD-94EC-F4A7697C770C}"/>
            </c:ext>
          </c:extLst>
        </c:ser>
        <c:ser>
          <c:idx val="3"/>
          <c:order val="3"/>
          <c:tx>
            <c:strRef>
              <c:f>'Graficas GLOBAL'!$S$6</c:f>
              <c:strCache>
                <c:ptCount val="1"/>
                <c:pt idx="0">
                  <c:v>Sugerencia</c:v>
                </c:pt>
              </c:strCache>
            </c:strRef>
          </c:tx>
          <c:spPr>
            <a:solidFill>
              <a:srgbClr val="FFC000"/>
            </a:solidFill>
            <a:ln>
              <a:noFill/>
            </a:ln>
            <a:effectLst/>
          </c:spPr>
          <c:invertIfNegative val="0"/>
          <c:cat>
            <c:strRef>
              <c:f>'Graficas GLOBAL'!$T$2:$AA$2</c:f>
              <c:strCache>
                <c:ptCount val="8"/>
                <c:pt idx="0">
                  <c:v>ENE</c:v>
                </c:pt>
                <c:pt idx="1">
                  <c:v>FEB</c:v>
                </c:pt>
                <c:pt idx="2">
                  <c:v>MAR</c:v>
                </c:pt>
                <c:pt idx="3">
                  <c:v>ABR</c:v>
                </c:pt>
                <c:pt idx="4">
                  <c:v>MAY</c:v>
                </c:pt>
                <c:pt idx="5">
                  <c:v>JUN</c:v>
                </c:pt>
                <c:pt idx="6">
                  <c:v>JUL</c:v>
                </c:pt>
                <c:pt idx="7">
                  <c:v>AGO</c:v>
                </c:pt>
              </c:strCache>
            </c:strRef>
          </c:cat>
          <c:val>
            <c:numRef>
              <c:f>'Graficas GLOBAL'!$T$6:$AA$6</c:f>
              <c:numCache>
                <c:formatCode>General</c:formatCode>
                <c:ptCount val="8"/>
                <c:pt idx="0">
                  <c:v>3</c:v>
                </c:pt>
                <c:pt idx="1">
                  <c:v>8</c:v>
                </c:pt>
                <c:pt idx="2">
                  <c:v>1</c:v>
                </c:pt>
                <c:pt idx="3">
                  <c:v>1</c:v>
                </c:pt>
                <c:pt idx="4">
                  <c:v>0</c:v>
                </c:pt>
                <c:pt idx="5">
                  <c:v>1</c:v>
                </c:pt>
                <c:pt idx="6">
                  <c:v>2</c:v>
                </c:pt>
                <c:pt idx="7">
                  <c:v>4</c:v>
                </c:pt>
              </c:numCache>
            </c:numRef>
          </c:val>
          <c:extLst>
            <c:ext xmlns:c16="http://schemas.microsoft.com/office/drawing/2014/chart" uri="{C3380CC4-5D6E-409C-BE32-E72D297353CC}">
              <c16:uniqueId val="{00000003-483A-41DD-94EC-F4A7697C770C}"/>
            </c:ext>
          </c:extLst>
        </c:ser>
        <c:ser>
          <c:idx val="4"/>
          <c:order val="4"/>
          <c:tx>
            <c:strRef>
              <c:f>'Graficas GLOBAL'!$S$7</c:f>
              <c:strCache>
                <c:ptCount val="1"/>
                <c:pt idx="0">
                  <c:v>Felicitación</c:v>
                </c:pt>
              </c:strCache>
            </c:strRef>
          </c:tx>
          <c:spPr>
            <a:solidFill>
              <a:srgbClr val="8158A1"/>
            </a:solidFill>
            <a:ln>
              <a:solidFill>
                <a:srgbClr val="8158A1"/>
              </a:solidFill>
            </a:ln>
            <a:effectLst/>
          </c:spPr>
          <c:invertIfNegative val="0"/>
          <c:cat>
            <c:strRef>
              <c:f>'Graficas GLOBAL'!$T$2:$AA$2</c:f>
              <c:strCache>
                <c:ptCount val="8"/>
                <c:pt idx="0">
                  <c:v>ENE</c:v>
                </c:pt>
                <c:pt idx="1">
                  <c:v>FEB</c:v>
                </c:pt>
                <c:pt idx="2">
                  <c:v>MAR</c:v>
                </c:pt>
                <c:pt idx="3">
                  <c:v>ABR</c:v>
                </c:pt>
                <c:pt idx="4">
                  <c:v>MAY</c:v>
                </c:pt>
                <c:pt idx="5">
                  <c:v>JUN</c:v>
                </c:pt>
                <c:pt idx="6">
                  <c:v>JUL</c:v>
                </c:pt>
                <c:pt idx="7">
                  <c:v>AGO</c:v>
                </c:pt>
              </c:strCache>
            </c:strRef>
          </c:cat>
          <c:val>
            <c:numRef>
              <c:f>'Graficas GLOBAL'!$T$7:$AA$7</c:f>
              <c:numCache>
                <c:formatCode>General</c:formatCode>
                <c:ptCount val="8"/>
                <c:pt idx="0">
                  <c:v>12</c:v>
                </c:pt>
                <c:pt idx="1">
                  <c:v>37</c:v>
                </c:pt>
                <c:pt idx="2">
                  <c:v>13</c:v>
                </c:pt>
                <c:pt idx="3">
                  <c:v>26</c:v>
                </c:pt>
                <c:pt idx="4">
                  <c:v>5</c:v>
                </c:pt>
                <c:pt idx="5">
                  <c:v>6</c:v>
                </c:pt>
                <c:pt idx="6">
                  <c:v>34</c:v>
                </c:pt>
                <c:pt idx="7">
                  <c:v>17</c:v>
                </c:pt>
              </c:numCache>
            </c:numRef>
          </c:val>
          <c:extLst>
            <c:ext xmlns:c16="http://schemas.microsoft.com/office/drawing/2014/chart" uri="{C3380CC4-5D6E-409C-BE32-E72D297353CC}">
              <c16:uniqueId val="{00000004-483A-41DD-94EC-F4A7697C770C}"/>
            </c:ext>
          </c:extLst>
        </c:ser>
        <c:dLbls>
          <c:showLegendKey val="0"/>
          <c:showVal val="0"/>
          <c:showCatName val="0"/>
          <c:showSerName val="0"/>
          <c:showPercent val="0"/>
          <c:showBubbleSize val="0"/>
        </c:dLbls>
        <c:gapWidth val="219"/>
        <c:overlap val="-27"/>
        <c:axId val="1651834143"/>
        <c:axId val="642128463"/>
      </c:barChart>
      <c:catAx>
        <c:axId val="16518341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642128463"/>
        <c:crosses val="autoZero"/>
        <c:auto val="1"/>
        <c:lblAlgn val="ctr"/>
        <c:lblOffset val="100"/>
        <c:noMultiLvlLbl val="0"/>
      </c:catAx>
      <c:valAx>
        <c:axId val="64212846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651834143"/>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050" b="0" i="0" u="none" strike="noStrike" kern="1200" baseline="0">
                <a:solidFill>
                  <a:schemeClr val="tx1">
                    <a:lumMod val="50000"/>
                  </a:schemeClr>
                </a:solidFill>
                <a:latin typeface="+mn-lt"/>
                <a:ea typeface="+mn-ea"/>
                <a:cs typeface="+mn-cs"/>
              </a:defRPr>
            </a:pPr>
            <a:endParaRPr lang="es-CO"/>
          </a:p>
        </c:txPr>
      </c:dTable>
      <c:spPr>
        <a:noFill/>
        <a:ln>
          <a:noFill/>
        </a:ln>
        <a:effectLst/>
      </c:spPr>
    </c:plotArea>
    <c:legend>
      <c:legendPos val="b"/>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50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s-CO" b="1">
                <a:solidFill>
                  <a:srgbClr val="8158A1"/>
                </a:solidFill>
              </a:rPr>
              <a:t>Tasa de PQR</a:t>
            </a:r>
            <a:r>
              <a:rPr lang="es-CO" b="1" baseline="0">
                <a:solidFill>
                  <a:srgbClr val="8158A1"/>
                </a:solidFill>
              </a:rPr>
              <a:t> Nacional</a:t>
            </a:r>
            <a:endParaRPr lang="es-CO" b="1">
              <a:solidFill>
                <a:srgbClr val="8158A1"/>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manualLayout>
          <c:layoutTarget val="inner"/>
          <c:xMode val="edge"/>
          <c:yMode val="edge"/>
          <c:x val="6.8182544059312122E-2"/>
          <c:y val="0.1610038583742808"/>
          <c:w val="0.72309842840747707"/>
          <c:h val="0.75168473478987474"/>
        </c:manualLayout>
      </c:layout>
      <c:barChart>
        <c:barDir val="col"/>
        <c:grouping val="clustered"/>
        <c:varyColors val="0"/>
        <c:ser>
          <c:idx val="0"/>
          <c:order val="0"/>
          <c:tx>
            <c:strRef>
              <c:f>'Graficas GLOBAL'!$A$79</c:f>
              <c:strCache>
                <c:ptCount val="1"/>
                <c:pt idx="0">
                  <c:v>2026</c:v>
                </c:pt>
              </c:strCache>
            </c:strRef>
          </c:tx>
          <c:spPr>
            <a:solidFill>
              <a:srgbClr val="8158A1"/>
            </a:solidFill>
            <a:ln>
              <a:solidFill>
                <a:srgbClr val="8158A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50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'Graficas GLOBAL'!$B$76:$I$76</c:f>
              <c:strCache>
                <c:ptCount val="8"/>
                <c:pt idx="0">
                  <c:v>ENE</c:v>
                </c:pt>
                <c:pt idx="1">
                  <c:v>FEB</c:v>
                </c:pt>
                <c:pt idx="2">
                  <c:v>MAR</c:v>
                </c:pt>
                <c:pt idx="3">
                  <c:v>ABR</c:v>
                </c:pt>
                <c:pt idx="4">
                  <c:v>MAY</c:v>
                </c:pt>
                <c:pt idx="5">
                  <c:v>JUN</c:v>
                </c:pt>
                <c:pt idx="6">
                  <c:v>JUL</c:v>
                </c:pt>
                <c:pt idx="7">
                  <c:v>AGO</c:v>
                </c:pt>
              </c:strCache>
              <c:extLst/>
            </c:strRef>
          </c:cat>
          <c:val>
            <c:numRef>
              <c:f>'Graficas GLOBAL'!$B$79:$I$79</c:f>
              <c:numCache>
                <c:formatCode>0.0</c:formatCode>
                <c:ptCount val="8"/>
                <c:pt idx="0">
                  <c:v>2.4109014675052411</c:v>
                </c:pt>
                <c:pt idx="1">
                  <c:v>3.4998108210367009</c:v>
                </c:pt>
                <c:pt idx="2">
                  <c:v>3.2553756532168254</c:v>
                </c:pt>
                <c:pt idx="3">
                  <c:v>8.8165900906494468</c:v>
                </c:pt>
                <c:pt idx="4">
                  <c:v>8.2665977783518478</c:v>
                </c:pt>
                <c:pt idx="5">
                  <c:v>6.5064400478024167</c:v>
                </c:pt>
                <c:pt idx="6">
                  <c:v>8.180201541197393</c:v>
                </c:pt>
                <c:pt idx="7">
                  <c:v>7.4052562799477277</c:v>
                </c:pt>
              </c:numCache>
              <c:extLst/>
            </c:numRef>
          </c:val>
          <c:extLst>
            <c:ext xmlns:c16="http://schemas.microsoft.com/office/drawing/2014/chart" uri="{C3380CC4-5D6E-409C-BE32-E72D297353CC}">
              <c16:uniqueId val="{00000000-B22F-4055-A02B-C4C56F663CBF}"/>
            </c:ext>
          </c:extLst>
        </c:ser>
        <c:dLbls>
          <c:showLegendKey val="0"/>
          <c:showVal val="0"/>
          <c:showCatName val="0"/>
          <c:showSerName val="0"/>
          <c:showPercent val="0"/>
          <c:showBubbleSize val="0"/>
        </c:dLbls>
        <c:gapWidth val="150"/>
        <c:axId val="1434303648"/>
        <c:axId val="1434320448"/>
      </c:barChart>
      <c:lineChart>
        <c:grouping val="standard"/>
        <c:varyColors val="0"/>
        <c:ser>
          <c:idx val="1"/>
          <c:order val="1"/>
          <c:tx>
            <c:strRef>
              <c:f>'Graficas GLOBAL'!$A$81</c:f>
              <c:strCache>
                <c:ptCount val="1"/>
                <c:pt idx="0">
                  <c:v>META</c:v>
                </c:pt>
              </c:strCache>
            </c:strRef>
          </c:tx>
          <c:spPr>
            <a:ln w="28575" cap="rnd">
              <a:solidFill>
                <a:srgbClr val="FF0000"/>
              </a:solidFill>
              <a:prstDash val="sysDot"/>
              <a:round/>
            </a:ln>
            <a:effectLst/>
          </c:spPr>
          <c:marker>
            <c:symbol val="none"/>
          </c:marker>
          <c:cat>
            <c:strRef>
              <c:f>'Graficas GLOBAL'!$B$76:$I$76</c:f>
              <c:strCache>
                <c:ptCount val="8"/>
                <c:pt idx="0">
                  <c:v>ENE</c:v>
                </c:pt>
                <c:pt idx="1">
                  <c:v>FEB</c:v>
                </c:pt>
                <c:pt idx="2">
                  <c:v>MAR</c:v>
                </c:pt>
                <c:pt idx="3">
                  <c:v>ABR</c:v>
                </c:pt>
                <c:pt idx="4">
                  <c:v>MAY</c:v>
                </c:pt>
                <c:pt idx="5">
                  <c:v>JUN</c:v>
                </c:pt>
                <c:pt idx="6">
                  <c:v>JUL</c:v>
                </c:pt>
                <c:pt idx="7">
                  <c:v>AGO</c:v>
                </c:pt>
              </c:strCache>
              <c:extLst/>
            </c:strRef>
          </c:cat>
          <c:val>
            <c:numRef>
              <c:f>'Graficas GLOBAL'!$B$81:$I$81</c:f>
              <c:numCache>
                <c:formatCode>General</c:formatCode>
                <c:ptCount val="8"/>
                <c:pt idx="0">
                  <c:v>6</c:v>
                </c:pt>
                <c:pt idx="1">
                  <c:v>6</c:v>
                </c:pt>
                <c:pt idx="2">
                  <c:v>6</c:v>
                </c:pt>
                <c:pt idx="3">
                  <c:v>6</c:v>
                </c:pt>
                <c:pt idx="4">
                  <c:v>6</c:v>
                </c:pt>
                <c:pt idx="5">
                  <c:v>6</c:v>
                </c:pt>
                <c:pt idx="6">
                  <c:v>6</c:v>
                </c:pt>
                <c:pt idx="7">
                  <c:v>6</c:v>
                </c:pt>
              </c:numCache>
              <c:extLst/>
            </c:numRef>
          </c:val>
          <c:smooth val="0"/>
          <c:extLst>
            <c:ext xmlns:c16="http://schemas.microsoft.com/office/drawing/2014/chart" uri="{C3380CC4-5D6E-409C-BE32-E72D297353CC}">
              <c16:uniqueId val="{00000001-B22F-4055-A02B-C4C56F663CBF}"/>
            </c:ext>
          </c:extLst>
        </c:ser>
        <c:ser>
          <c:idx val="2"/>
          <c:order val="2"/>
          <c:tx>
            <c:strRef>
              <c:f>'Graficas GLOBAL'!$A$80</c:f>
              <c:strCache>
                <c:ptCount val="1"/>
                <c:pt idx="0">
                  <c:v>2025</c:v>
                </c:pt>
              </c:strCache>
            </c:strRef>
          </c:tx>
          <c:spPr>
            <a:ln w="28575" cap="rnd">
              <a:solidFill>
                <a:srgbClr val="47A9A8"/>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47A9A8"/>
                    </a:solidFill>
                    <a:latin typeface="+mn-lt"/>
                    <a:ea typeface="+mn-ea"/>
                    <a:cs typeface="+mn-cs"/>
                  </a:defRPr>
                </a:pPr>
                <a:endParaRPr lang="es-CO"/>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Lit>
              <c:ptCount val="8"/>
              <c:pt idx="0">
                <c:v>ENE</c:v>
              </c:pt>
              <c:pt idx="1">
                <c:v>FEB</c:v>
              </c:pt>
              <c:pt idx="2">
                <c:v>MAR</c:v>
              </c:pt>
              <c:pt idx="3">
                <c:v>ABR</c:v>
              </c:pt>
              <c:pt idx="4">
                <c:v>MAY</c:v>
              </c:pt>
              <c:pt idx="5">
                <c:v>JUN</c:v>
              </c:pt>
              <c:pt idx="6">
                <c:v>JUL</c:v>
              </c:pt>
              <c:pt idx="7">
                <c:v>AGO</c:v>
              </c:pt>
              <c:extLst>
                <c:ext xmlns:c15="http://schemas.microsoft.com/office/drawing/2012/chart" uri="{02D57815-91ED-43cb-92C2-25804820EDAC}">
                  <c15:autoCat val="1"/>
                </c:ext>
              </c:extLst>
            </c:strLit>
          </c:cat>
          <c:val>
            <c:numRef>
              <c:f>'Graficas GLOBAL'!$B$80:$I$80</c:f>
              <c:numCache>
                <c:formatCode>0.0</c:formatCode>
                <c:ptCount val="8"/>
                <c:pt idx="0">
                  <c:v>8</c:v>
                </c:pt>
                <c:pt idx="1">
                  <c:v>6.5</c:v>
                </c:pt>
                <c:pt idx="2">
                  <c:v>5.3</c:v>
                </c:pt>
                <c:pt idx="3">
                  <c:v>6.1</c:v>
                </c:pt>
                <c:pt idx="4">
                  <c:v>10.5</c:v>
                </c:pt>
                <c:pt idx="5">
                  <c:v>5.6</c:v>
                </c:pt>
                <c:pt idx="6">
                  <c:v>1.2</c:v>
                </c:pt>
                <c:pt idx="7">
                  <c:v>1.4</c:v>
                </c:pt>
              </c:numCache>
              <c:extLst/>
            </c:numRef>
          </c:val>
          <c:smooth val="0"/>
          <c:extLst>
            <c:ext xmlns:c16="http://schemas.microsoft.com/office/drawing/2014/chart" uri="{C3380CC4-5D6E-409C-BE32-E72D297353CC}">
              <c16:uniqueId val="{00000002-B22F-4055-A02B-C4C56F663CBF}"/>
            </c:ext>
          </c:extLst>
        </c:ser>
        <c:dLbls>
          <c:showLegendKey val="0"/>
          <c:showVal val="0"/>
          <c:showCatName val="0"/>
          <c:showSerName val="0"/>
          <c:showPercent val="0"/>
          <c:showBubbleSize val="0"/>
        </c:dLbls>
        <c:marker val="1"/>
        <c:smooth val="0"/>
        <c:axId val="1434303648"/>
        <c:axId val="1434320448"/>
      </c:lineChart>
      <c:catAx>
        <c:axId val="14343036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50000"/>
                  </a:schemeClr>
                </a:solidFill>
                <a:latin typeface="+mn-lt"/>
                <a:ea typeface="+mn-ea"/>
                <a:cs typeface="+mn-cs"/>
              </a:defRPr>
            </a:pPr>
            <a:endParaRPr lang="es-CO"/>
          </a:p>
        </c:txPr>
        <c:crossAx val="1434320448"/>
        <c:crosses val="autoZero"/>
        <c:auto val="1"/>
        <c:lblAlgn val="ctr"/>
        <c:lblOffset val="100"/>
        <c:noMultiLvlLbl val="0"/>
      </c:catAx>
      <c:valAx>
        <c:axId val="1434320448"/>
        <c:scaling>
          <c:orientation val="minMax"/>
        </c:scaling>
        <c:delete val="1"/>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crossAx val="143430364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7030A0"/>
                </a:solidFill>
                <a:latin typeface="+mn-lt"/>
                <a:ea typeface="+mn-ea"/>
                <a:cs typeface="+mn-cs"/>
              </a:defRPr>
            </a:pPr>
            <a:r>
              <a:rPr lang="es-CO" b="1">
                <a:solidFill>
                  <a:srgbClr val="7030A0"/>
                </a:solidFill>
              </a:rPr>
              <a:t>Distribución por asegurador</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7030A0"/>
              </a:solidFill>
              <a:latin typeface="+mn-lt"/>
              <a:ea typeface="+mn-ea"/>
              <a:cs typeface="+mn-cs"/>
            </a:defRPr>
          </a:pPr>
          <a:endParaRPr lang="es-CO"/>
        </a:p>
      </c:txPr>
    </c:title>
    <c:autoTitleDeleted val="0"/>
    <c:plotArea>
      <c:layout/>
      <c:pieChart>
        <c:varyColors val="1"/>
        <c:ser>
          <c:idx val="0"/>
          <c:order val="0"/>
          <c:tx>
            <c:strRef>
              <c:f>'Por Cliente'!$I$50</c:f>
              <c:strCache>
                <c:ptCount val="1"/>
                <c:pt idx="0">
                  <c:v>AGO</c:v>
                </c:pt>
              </c:strCache>
            </c:strRef>
          </c:tx>
          <c:dPt>
            <c:idx val="0"/>
            <c:bubble3D val="0"/>
            <c:spPr>
              <a:solidFill>
                <a:srgbClr val="0070C0"/>
              </a:solidFill>
              <a:ln w="19050">
                <a:solidFill>
                  <a:schemeClr val="lt1"/>
                </a:solidFill>
              </a:ln>
              <a:effectLst/>
            </c:spPr>
            <c:extLst>
              <c:ext xmlns:c16="http://schemas.microsoft.com/office/drawing/2014/chart" uri="{C3380CC4-5D6E-409C-BE32-E72D297353CC}">
                <c16:uniqueId val="{00000001-ECF0-446F-956F-F181065C7167}"/>
              </c:ext>
            </c:extLst>
          </c:dPt>
          <c:dPt>
            <c:idx val="1"/>
            <c:bubble3D val="0"/>
            <c:spPr>
              <a:solidFill>
                <a:srgbClr val="00A19C"/>
              </a:solidFill>
              <a:ln w="19050">
                <a:solidFill>
                  <a:schemeClr val="lt1"/>
                </a:solidFill>
              </a:ln>
              <a:effectLst/>
            </c:spPr>
            <c:extLst>
              <c:ext xmlns:c16="http://schemas.microsoft.com/office/drawing/2014/chart" uri="{C3380CC4-5D6E-409C-BE32-E72D297353CC}">
                <c16:uniqueId val="{00000003-ECF0-446F-956F-F181065C7167}"/>
              </c:ext>
            </c:extLst>
          </c:dPt>
          <c:dPt>
            <c:idx val="2"/>
            <c:bubble3D val="0"/>
            <c:spPr>
              <a:solidFill>
                <a:srgbClr val="FF6699"/>
              </a:solidFill>
              <a:ln w="19050">
                <a:solidFill>
                  <a:schemeClr val="lt1"/>
                </a:solidFill>
              </a:ln>
              <a:effectLst/>
            </c:spPr>
            <c:extLst>
              <c:ext xmlns:c16="http://schemas.microsoft.com/office/drawing/2014/chart" uri="{C3380CC4-5D6E-409C-BE32-E72D297353CC}">
                <c16:uniqueId val="{00000005-ECF0-446F-956F-F181065C7167}"/>
              </c:ext>
            </c:extLst>
          </c:dPt>
          <c:dPt>
            <c:idx val="3"/>
            <c:bubble3D val="0"/>
            <c:spPr>
              <a:solidFill>
                <a:srgbClr val="FFC000"/>
              </a:solidFill>
              <a:ln w="19050">
                <a:solidFill>
                  <a:schemeClr val="lt1"/>
                </a:solidFill>
              </a:ln>
              <a:effectLst/>
            </c:spPr>
            <c:extLst>
              <c:ext xmlns:c16="http://schemas.microsoft.com/office/drawing/2014/chart" uri="{C3380CC4-5D6E-409C-BE32-E72D297353CC}">
                <c16:uniqueId val="{00000007-ECF0-446F-956F-F181065C7167}"/>
              </c:ext>
            </c:extLst>
          </c:dPt>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50000"/>
                      </a:schemeClr>
                    </a:solidFill>
                    <a:latin typeface="+mn-lt"/>
                    <a:ea typeface="+mn-ea"/>
                    <a:cs typeface="+mn-cs"/>
                  </a:defRPr>
                </a:pPr>
                <a:endParaRPr lang="es-CO"/>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'Por Cliente'!$A$51:$A$54</c:f>
              <c:strCache>
                <c:ptCount val="4"/>
                <c:pt idx="0">
                  <c:v>SALUD TOTAL</c:v>
                </c:pt>
                <c:pt idx="1">
                  <c:v>SANITAS</c:v>
                </c:pt>
                <c:pt idx="2">
                  <c:v>EMSSANAR</c:v>
                </c:pt>
                <c:pt idx="3">
                  <c:v>OTROS</c:v>
                </c:pt>
              </c:strCache>
            </c:strRef>
          </c:cat>
          <c:val>
            <c:numRef>
              <c:f>'Por Cliente'!$I$51:$I$54</c:f>
              <c:numCache>
                <c:formatCode>General</c:formatCode>
                <c:ptCount val="4"/>
                <c:pt idx="0" formatCode="0">
                  <c:v>66</c:v>
                </c:pt>
                <c:pt idx="1">
                  <c:v>38</c:v>
                </c:pt>
                <c:pt idx="2">
                  <c:v>11</c:v>
                </c:pt>
                <c:pt idx="3">
                  <c:v>3</c:v>
                </c:pt>
              </c:numCache>
            </c:numRef>
          </c:val>
          <c:extLst>
            <c:ext xmlns:c16="http://schemas.microsoft.com/office/drawing/2014/chart" uri="{C3380CC4-5D6E-409C-BE32-E72D297353CC}">
              <c16:uniqueId val="{00000008-ECF0-446F-956F-F181065C7167}"/>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50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7030A0"/>
                </a:solidFill>
                <a:latin typeface="+mn-lt"/>
                <a:ea typeface="+mn-ea"/>
                <a:cs typeface="+mn-cs"/>
              </a:defRPr>
            </a:pPr>
            <a:r>
              <a:rPr lang="en-US" b="1">
                <a:solidFill>
                  <a:srgbClr val="7030A0"/>
                </a:solidFill>
              </a:rPr>
              <a:t>Indice de percepción de humanización</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7030A0"/>
              </a:solidFill>
              <a:latin typeface="+mn-lt"/>
              <a:ea typeface="+mn-ea"/>
              <a:cs typeface="+mn-cs"/>
            </a:defRPr>
          </a:pPr>
          <a:endParaRPr lang="es-CO"/>
        </a:p>
      </c:txPr>
    </c:title>
    <c:autoTitleDeleted val="0"/>
    <c:plotArea>
      <c:layout>
        <c:manualLayout>
          <c:layoutTarget val="inner"/>
          <c:xMode val="edge"/>
          <c:yMode val="edge"/>
          <c:x val="0.10370603674540683"/>
          <c:y val="0.17634259259259263"/>
          <c:w val="0.87129396325459318"/>
          <c:h val="0.72125801983085447"/>
        </c:manualLayout>
      </c:layout>
      <c:lineChart>
        <c:grouping val="standard"/>
        <c:varyColors val="0"/>
        <c:ser>
          <c:idx val="0"/>
          <c:order val="0"/>
          <c:tx>
            <c:strRef>
              <c:f>Medición!$H$21</c:f>
              <c:strCache>
                <c:ptCount val="1"/>
                <c:pt idx="0">
                  <c:v>Indice</c:v>
                </c:pt>
              </c:strCache>
            </c:strRef>
          </c:tx>
          <c:spPr>
            <a:ln w="28575" cap="rnd">
              <a:solidFill>
                <a:srgbClr val="8158A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50000"/>
                      </a:schemeClr>
                    </a:solidFill>
                    <a:latin typeface="+mn-lt"/>
                    <a:ea typeface="+mn-ea"/>
                    <a:cs typeface="+mn-cs"/>
                  </a:defRPr>
                </a:pPr>
                <a:endParaRPr lang="es-CO"/>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Medición!$G$26:$G$33</c:f>
              <c:strCache>
                <c:ptCount val="8"/>
                <c:pt idx="0">
                  <c:v>ENE</c:v>
                </c:pt>
                <c:pt idx="1">
                  <c:v>FEB</c:v>
                </c:pt>
                <c:pt idx="2">
                  <c:v>MAR</c:v>
                </c:pt>
                <c:pt idx="3">
                  <c:v>ABR</c:v>
                </c:pt>
                <c:pt idx="4">
                  <c:v>MAY</c:v>
                </c:pt>
                <c:pt idx="5">
                  <c:v>JUN</c:v>
                </c:pt>
                <c:pt idx="6">
                  <c:v>JUL</c:v>
                </c:pt>
                <c:pt idx="7">
                  <c:v>AGO</c:v>
                </c:pt>
              </c:strCache>
              <c:extLst/>
            </c:strRef>
          </c:cat>
          <c:val>
            <c:numRef>
              <c:f>Medición!$H$26:$H$33</c:f>
              <c:numCache>
                <c:formatCode>0%</c:formatCode>
                <c:ptCount val="8"/>
                <c:pt idx="0">
                  <c:v>0.9859154929577465</c:v>
                </c:pt>
                <c:pt idx="1">
                  <c:v>0.93387096774193545</c:v>
                </c:pt>
                <c:pt idx="2">
                  <c:v>0.92835820895522392</c:v>
                </c:pt>
                <c:pt idx="3">
                  <c:v>0.95949367088607596</c:v>
                </c:pt>
                <c:pt idx="4">
                  <c:v>0.98273381294964024</c:v>
                </c:pt>
                <c:pt idx="5">
                  <c:v>0.97679558011049727</c:v>
                </c:pt>
                <c:pt idx="6">
                  <c:v>0.98026315789473684</c:v>
                </c:pt>
                <c:pt idx="7">
                  <c:v>0.99556213017751483</c:v>
                </c:pt>
              </c:numCache>
              <c:extLst/>
            </c:numRef>
          </c:val>
          <c:smooth val="0"/>
          <c:extLst>
            <c:ext xmlns:c16="http://schemas.microsoft.com/office/drawing/2014/chart" uri="{C3380CC4-5D6E-409C-BE32-E72D297353CC}">
              <c16:uniqueId val="{00000000-8A2E-42FB-ADC0-B2B902D94FA1}"/>
            </c:ext>
          </c:extLst>
        </c:ser>
        <c:ser>
          <c:idx val="1"/>
          <c:order val="1"/>
          <c:tx>
            <c:strRef>
              <c:f>Medición!$I$21</c:f>
              <c:strCache>
                <c:ptCount val="1"/>
                <c:pt idx="0">
                  <c:v>Meta</c:v>
                </c:pt>
              </c:strCache>
            </c:strRef>
          </c:tx>
          <c:spPr>
            <a:ln w="38100" cap="rnd">
              <a:solidFill>
                <a:srgbClr val="FF0000"/>
              </a:solidFill>
              <a:prstDash val="sysDot"/>
              <a:round/>
            </a:ln>
            <a:effectLst/>
          </c:spPr>
          <c:marker>
            <c:symbol val="none"/>
          </c:marker>
          <c:cat>
            <c:strRef>
              <c:f>Medición!$G$26:$G$33</c:f>
              <c:strCache>
                <c:ptCount val="8"/>
                <c:pt idx="0">
                  <c:v>ENE</c:v>
                </c:pt>
                <c:pt idx="1">
                  <c:v>FEB</c:v>
                </c:pt>
                <c:pt idx="2">
                  <c:v>MAR</c:v>
                </c:pt>
                <c:pt idx="3">
                  <c:v>ABR</c:v>
                </c:pt>
                <c:pt idx="4">
                  <c:v>MAY</c:v>
                </c:pt>
                <c:pt idx="5">
                  <c:v>JUN</c:v>
                </c:pt>
                <c:pt idx="6">
                  <c:v>JUL</c:v>
                </c:pt>
                <c:pt idx="7">
                  <c:v>AGO</c:v>
                </c:pt>
              </c:strCache>
              <c:extLst/>
            </c:strRef>
          </c:cat>
          <c:val>
            <c:numRef>
              <c:f>Medición!$I$26:$I$33</c:f>
              <c:numCache>
                <c:formatCode>0%</c:formatCode>
                <c:ptCount val="8"/>
                <c:pt idx="0">
                  <c:v>0.95</c:v>
                </c:pt>
                <c:pt idx="1">
                  <c:v>0.95</c:v>
                </c:pt>
                <c:pt idx="2">
                  <c:v>0.95</c:v>
                </c:pt>
                <c:pt idx="3">
                  <c:v>0.95</c:v>
                </c:pt>
                <c:pt idx="4">
                  <c:v>0.95</c:v>
                </c:pt>
                <c:pt idx="5">
                  <c:v>0.95</c:v>
                </c:pt>
                <c:pt idx="6">
                  <c:v>0.95</c:v>
                </c:pt>
                <c:pt idx="7">
                  <c:v>0.95</c:v>
                </c:pt>
              </c:numCache>
              <c:extLst/>
            </c:numRef>
          </c:val>
          <c:smooth val="0"/>
          <c:extLst>
            <c:ext xmlns:c16="http://schemas.microsoft.com/office/drawing/2014/chart" uri="{C3380CC4-5D6E-409C-BE32-E72D297353CC}">
              <c16:uniqueId val="{00000001-8A2E-42FB-ADC0-B2B902D94FA1}"/>
            </c:ext>
          </c:extLst>
        </c:ser>
        <c:dLbls>
          <c:showLegendKey val="0"/>
          <c:showVal val="0"/>
          <c:showCatName val="0"/>
          <c:showSerName val="0"/>
          <c:showPercent val="0"/>
          <c:showBubbleSize val="0"/>
        </c:dLbls>
        <c:smooth val="0"/>
        <c:axId val="509635567"/>
        <c:axId val="509636047"/>
      </c:lineChart>
      <c:catAx>
        <c:axId val="5096355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s-CO"/>
          </a:p>
        </c:txPr>
        <c:crossAx val="509636047"/>
        <c:crosses val="autoZero"/>
        <c:auto val="1"/>
        <c:lblAlgn val="ctr"/>
        <c:lblOffset val="100"/>
        <c:noMultiLvlLbl val="0"/>
      </c:catAx>
      <c:valAx>
        <c:axId val="509636047"/>
        <c:scaling>
          <c:orientation val="minMax"/>
        </c:scaling>
        <c:delete val="1"/>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crossAx val="509635567"/>
        <c:crosses val="autoZero"/>
        <c:crossBetween val="between"/>
      </c:valAx>
      <c:spPr>
        <a:noFill/>
        <a:ln>
          <a:noFill/>
          <a:prstDash val="sysDot"/>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7030A0"/>
                </a:solidFill>
                <a:latin typeface="+mn-lt"/>
                <a:ea typeface="+mn-ea"/>
                <a:cs typeface="+mn-cs"/>
              </a:defRPr>
            </a:pPr>
            <a:r>
              <a:rPr lang="en-US" b="1">
                <a:solidFill>
                  <a:srgbClr val="7030A0"/>
                </a:solidFill>
              </a:rPr>
              <a:t>Indice percepción de resultados en salud</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7030A0"/>
              </a:solidFill>
              <a:latin typeface="+mn-lt"/>
              <a:ea typeface="+mn-ea"/>
              <a:cs typeface="+mn-cs"/>
            </a:defRPr>
          </a:pPr>
          <a:endParaRPr lang="es-CO"/>
        </a:p>
      </c:txPr>
    </c:title>
    <c:autoTitleDeleted val="0"/>
    <c:plotArea>
      <c:layout/>
      <c:lineChart>
        <c:grouping val="standard"/>
        <c:varyColors val="0"/>
        <c:ser>
          <c:idx val="0"/>
          <c:order val="0"/>
          <c:tx>
            <c:strRef>
              <c:f>Medición!$H$41</c:f>
              <c:strCache>
                <c:ptCount val="1"/>
                <c:pt idx="0">
                  <c:v>Indice</c:v>
                </c:pt>
              </c:strCache>
            </c:strRef>
          </c:tx>
          <c:spPr>
            <a:ln w="28575" cap="rnd">
              <a:solidFill>
                <a:srgbClr val="8158A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50000"/>
                      </a:schemeClr>
                    </a:solidFill>
                    <a:latin typeface="+mn-lt"/>
                    <a:ea typeface="+mn-ea"/>
                    <a:cs typeface="+mn-cs"/>
                  </a:defRPr>
                </a:pPr>
                <a:endParaRPr lang="es-CO"/>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Medición!$G$46:$G$53</c:f>
              <c:strCache>
                <c:ptCount val="8"/>
                <c:pt idx="0">
                  <c:v>ENE</c:v>
                </c:pt>
                <c:pt idx="1">
                  <c:v>FEB</c:v>
                </c:pt>
                <c:pt idx="2">
                  <c:v>MAR</c:v>
                </c:pt>
                <c:pt idx="3">
                  <c:v>ABR</c:v>
                </c:pt>
                <c:pt idx="4">
                  <c:v>MAY</c:v>
                </c:pt>
                <c:pt idx="5">
                  <c:v>JUN</c:v>
                </c:pt>
                <c:pt idx="6">
                  <c:v>JUL</c:v>
                </c:pt>
                <c:pt idx="7">
                  <c:v>AGO</c:v>
                </c:pt>
              </c:strCache>
              <c:extLst/>
            </c:strRef>
          </c:cat>
          <c:val>
            <c:numRef>
              <c:f>Medición!$H$46:$H$53</c:f>
              <c:numCache>
                <c:formatCode>0.0%</c:formatCode>
                <c:ptCount val="8"/>
                <c:pt idx="0">
                  <c:v>0.94929577464788728</c:v>
                </c:pt>
                <c:pt idx="1">
                  <c:v>0.88548387096774195</c:v>
                </c:pt>
                <c:pt idx="2">
                  <c:v>0.92238805970149251</c:v>
                </c:pt>
                <c:pt idx="3">
                  <c:v>0.88924050632911389</c:v>
                </c:pt>
                <c:pt idx="4">
                  <c:v>0.97050359712230216</c:v>
                </c:pt>
                <c:pt idx="5" formatCode="0%">
                  <c:v>0.93453038674033151</c:v>
                </c:pt>
                <c:pt idx="6" formatCode="0%">
                  <c:v>0.96282894736842106</c:v>
                </c:pt>
                <c:pt idx="7" formatCode="0%">
                  <c:v>0.98757396449704138</c:v>
                </c:pt>
              </c:numCache>
              <c:extLst/>
            </c:numRef>
          </c:val>
          <c:smooth val="0"/>
          <c:extLst>
            <c:ext xmlns:c16="http://schemas.microsoft.com/office/drawing/2014/chart" uri="{C3380CC4-5D6E-409C-BE32-E72D297353CC}">
              <c16:uniqueId val="{00000000-E650-4C0B-94A2-E68F2032732E}"/>
            </c:ext>
          </c:extLst>
        </c:ser>
        <c:ser>
          <c:idx val="1"/>
          <c:order val="1"/>
          <c:tx>
            <c:strRef>
              <c:f>Medición!$I$41</c:f>
              <c:strCache>
                <c:ptCount val="1"/>
                <c:pt idx="0">
                  <c:v>Meta</c:v>
                </c:pt>
              </c:strCache>
            </c:strRef>
          </c:tx>
          <c:spPr>
            <a:ln w="38100" cap="rnd">
              <a:solidFill>
                <a:srgbClr val="FF0000"/>
              </a:solidFill>
              <a:prstDash val="sysDot"/>
              <a:round/>
            </a:ln>
            <a:effectLst/>
          </c:spPr>
          <c:marker>
            <c:symbol val="none"/>
          </c:marker>
          <c:cat>
            <c:strRef>
              <c:f>Medición!$G$46:$G$53</c:f>
              <c:strCache>
                <c:ptCount val="8"/>
                <c:pt idx="0">
                  <c:v>ENE</c:v>
                </c:pt>
                <c:pt idx="1">
                  <c:v>FEB</c:v>
                </c:pt>
                <c:pt idx="2">
                  <c:v>MAR</c:v>
                </c:pt>
                <c:pt idx="3">
                  <c:v>ABR</c:v>
                </c:pt>
                <c:pt idx="4">
                  <c:v>MAY</c:v>
                </c:pt>
                <c:pt idx="5">
                  <c:v>JUN</c:v>
                </c:pt>
                <c:pt idx="6">
                  <c:v>JUL</c:v>
                </c:pt>
                <c:pt idx="7">
                  <c:v>AGO</c:v>
                </c:pt>
              </c:strCache>
              <c:extLst/>
            </c:strRef>
          </c:cat>
          <c:val>
            <c:numRef>
              <c:f>Medición!$I$46:$I$53</c:f>
              <c:numCache>
                <c:formatCode>0%</c:formatCode>
                <c:ptCount val="8"/>
                <c:pt idx="0">
                  <c:v>0.93</c:v>
                </c:pt>
                <c:pt idx="1">
                  <c:v>0.93</c:v>
                </c:pt>
                <c:pt idx="2">
                  <c:v>0.93</c:v>
                </c:pt>
                <c:pt idx="3">
                  <c:v>0.93</c:v>
                </c:pt>
                <c:pt idx="4">
                  <c:v>0.93</c:v>
                </c:pt>
                <c:pt idx="5">
                  <c:v>0.93</c:v>
                </c:pt>
                <c:pt idx="6">
                  <c:v>0.93</c:v>
                </c:pt>
                <c:pt idx="7">
                  <c:v>0.93</c:v>
                </c:pt>
              </c:numCache>
              <c:extLst/>
            </c:numRef>
          </c:val>
          <c:smooth val="0"/>
          <c:extLst>
            <c:ext xmlns:c16="http://schemas.microsoft.com/office/drawing/2014/chart" uri="{C3380CC4-5D6E-409C-BE32-E72D297353CC}">
              <c16:uniqueId val="{00000001-E650-4C0B-94A2-E68F2032732E}"/>
            </c:ext>
          </c:extLst>
        </c:ser>
        <c:dLbls>
          <c:showLegendKey val="0"/>
          <c:showVal val="0"/>
          <c:showCatName val="0"/>
          <c:showSerName val="0"/>
          <c:showPercent val="0"/>
          <c:showBubbleSize val="0"/>
        </c:dLbls>
        <c:smooth val="0"/>
        <c:axId val="1927367743"/>
        <c:axId val="1927371103"/>
      </c:lineChart>
      <c:catAx>
        <c:axId val="19273677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s-CO"/>
          </a:p>
        </c:txPr>
        <c:crossAx val="1927371103"/>
        <c:crosses val="autoZero"/>
        <c:auto val="1"/>
        <c:lblAlgn val="ctr"/>
        <c:lblOffset val="100"/>
        <c:noMultiLvlLbl val="0"/>
      </c:catAx>
      <c:valAx>
        <c:axId val="1927371103"/>
        <c:scaling>
          <c:orientation val="minMax"/>
          <c:min val="0.79"/>
        </c:scaling>
        <c:delete val="1"/>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crossAx val="1927367743"/>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lgn="ctr" rtl="0">
              <a:defRPr lang="es-CO" sz="1200" b="1" i="0" u="none" strike="noStrike" kern="1200" spc="0" baseline="0">
                <a:solidFill>
                  <a:prstClr val="black">
                    <a:lumMod val="65000"/>
                    <a:lumOff val="35000"/>
                  </a:prstClr>
                </a:solidFill>
                <a:latin typeface="+mn-lt"/>
                <a:ea typeface="+mn-ea"/>
                <a:cs typeface="+mn-cs"/>
              </a:defRPr>
            </a:pPr>
            <a:r>
              <a:rPr lang="es-CO" sz="1200" b="1" i="0" u="none" strike="noStrike" kern="1200" spc="0" baseline="0">
                <a:solidFill>
                  <a:prstClr val="black">
                    <a:lumMod val="65000"/>
                    <a:lumOff val="35000"/>
                  </a:prstClr>
                </a:solidFill>
                <a:latin typeface="+mn-lt"/>
                <a:ea typeface="+mn-ea"/>
                <a:cs typeface="+mn-cs"/>
              </a:rPr>
              <a:t>HISTORICO DE LLAMADAS 2026</a:t>
            </a:r>
          </a:p>
        </c:rich>
      </c:tx>
      <c:overlay val="0"/>
      <c:spPr>
        <a:noFill/>
        <a:ln>
          <a:noFill/>
        </a:ln>
        <a:effectLst/>
      </c:spPr>
      <c:txPr>
        <a:bodyPr rot="0" spcFirstLastPara="1" vertOverflow="ellipsis" vert="horz" wrap="square" anchor="ctr" anchorCtr="1"/>
        <a:lstStyle/>
        <a:p>
          <a:pPr algn="ctr" rtl="0">
            <a:defRPr lang="es-CO" sz="1200" b="1" i="0" u="none" strike="noStrike" kern="1200" spc="0" baseline="0">
              <a:solidFill>
                <a:prstClr val="black">
                  <a:lumMod val="65000"/>
                  <a:lumOff val="35000"/>
                </a:prstClr>
              </a:solidFill>
              <a:latin typeface="+mn-lt"/>
              <a:ea typeface="+mn-ea"/>
              <a:cs typeface="+mn-cs"/>
            </a:defRPr>
          </a:pPr>
          <a:endParaRPr lang="es-CO"/>
        </a:p>
      </c:txPr>
    </c:title>
    <c:autoTitleDeleted val="0"/>
    <c:plotArea>
      <c:layout/>
      <c:barChart>
        <c:barDir val="col"/>
        <c:grouping val="clustered"/>
        <c:varyColors val="0"/>
        <c:ser>
          <c:idx val="0"/>
          <c:order val="0"/>
          <c:tx>
            <c:strRef>
              <c:f>Hoja1!$M$2</c:f>
              <c:strCache>
                <c:ptCount val="1"/>
                <c:pt idx="0">
                  <c:v>LLAMADAS INGRESADAS</c:v>
                </c:pt>
              </c:strCache>
            </c:strRef>
          </c:tx>
          <c:spPr>
            <a:solidFill>
              <a:srgbClr val="80589F"/>
            </a:solidFill>
            <a:ln>
              <a:noFill/>
            </a:ln>
            <a:effectLst/>
          </c:spPr>
          <c:invertIfNegative val="0"/>
          <c:dLbls>
            <c:dLbl>
              <c:idx val="2"/>
              <c:layout>
                <c:manualLayout>
                  <c:x val="-5.0219711236660393E-3"/>
                  <c:y val="1.386825233084913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9DF-4DCA-A7B5-2E397CFE307D}"/>
                </c:ext>
              </c:extLst>
            </c:dLbl>
            <c:dLbl>
              <c:idx val="6"/>
              <c:layout>
                <c:manualLayout>
                  <c:x val="-8.4826734715074785E-3"/>
                  <c:y val="2.9540168282433528E-1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69DF-4DCA-A7B5-2E397CFE307D}"/>
                </c:ext>
              </c:extLst>
            </c:dLbl>
            <c:dLbl>
              <c:idx val="8"/>
              <c:layout>
                <c:manualLayout>
                  <c:x val="-1.0603341839384406E-2"/>
                  <c:y val="-1.289040415984507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69DF-4DCA-A7B5-2E397CFE307D}"/>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Hoja1!$N$1:$V$1</c:f>
              <c:strCache>
                <c:ptCount val="9"/>
                <c:pt idx="0">
                  <c:v>ENERO </c:v>
                </c:pt>
                <c:pt idx="1">
                  <c:v>FEBRERO</c:v>
                </c:pt>
                <c:pt idx="2">
                  <c:v>MARZO</c:v>
                </c:pt>
                <c:pt idx="3">
                  <c:v>ABRIL</c:v>
                </c:pt>
                <c:pt idx="4">
                  <c:v>MAYO</c:v>
                </c:pt>
                <c:pt idx="5">
                  <c:v>JUNIO</c:v>
                </c:pt>
                <c:pt idx="6">
                  <c:v>JULIO</c:v>
                </c:pt>
                <c:pt idx="7">
                  <c:v>AGOSTO</c:v>
                </c:pt>
                <c:pt idx="8">
                  <c:v>SEPTIEMBRE</c:v>
                </c:pt>
              </c:strCache>
            </c:strRef>
          </c:cat>
          <c:val>
            <c:numRef>
              <c:f>Hoja1!$N$2:$V$2</c:f>
              <c:numCache>
                <c:formatCode>#,##0</c:formatCode>
                <c:ptCount val="9"/>
                <c:pt idx="0">
                  <c:v>2717</c:v>
                </c:pt>
                <c:pt idx="1">
                  <c:v>2507</c:v>
                </c:pt>
                <c:pt idx="2">
                  <c:v>1909</c:v>
                </c:pt>
                <c:pt idx="3">
                  <c:v>2197</c:v>
                </c:pt>
                <c:pt idx="4">
                  <c:v>2435</c:v>
                </c:pt>
                <c:pt idx="5">
                  <c:v>2330</c:v>
                </c:pt>
                <c:pt idx="6">
                  <c:v>2474</c:v>
                </c:pt>
                <c:pt idx="7">
                  <c:v>2462</c:v>
                </c:pt>
                <c:pt idx="8">
                  <c:v>2499</c:v>
                </c:pt>
              </c:numCache>
            </c:numRef>
          </c:val>
          <c:extLst>
            <c:ext xmlns:c16="http://schemas.microsoft.com/office/drawing/2014/chart" uri="{C3380CC4-5D6E-409C-BE32-E72D297353CC}">
              <c16:uniqueId val="{00000001-69DF-4DCA-A7B5-2E397CFE307D}"/>
            </c:ext>
          </c:extLst>
        </c:ser>
        <c:ser>
          <c:idx val="1"/>
          <c:order val="1"/>
          <c:tx>
            <c:strRef>
              <c:f>Hoja1!$M$3</c:f>
              <c:strCache>
                <c:ptCount val="1"/>
                <c:pt idx="0">
                  <c:v>LLAMADAS ATENDIDAS</c:v>
                </c:pt>
              </c:strCache>
            </c:strRef>
          </c:tx>
          <c:spPr>
            <a:solidFill>
              <a:srgbClr val="FFFFFF">
                <a:lumMod val="50000"/>
              </a:srgbClr>
            </a:solidFill>
            <a:ln>
              <a:noFill/>
            </a:ln>
            <a:effectLst/>
          </c:spPr>
          <c:invertIfNegative val="0"/>
          <c:dLbls>
            <c:dLbl>
              <c:idx val="0"/>
              <c:layout>
                <c:manualLayout>
                  <c:x val="1.3504649941105533E-2"/>
                  <c:y val="3.502637457890497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9DF-4DCA-A7B5-2E397CFE307D}"/>
                </c:ext>
              </c:extLst>
            </c:dLbl>
            <c:dLbl>
              <c:idx val="1"/>
              <c:layout>
                <c:manualLayout>
                  <c:x val="7.5328812135165334E-3"/>
                  <c:y val="3.964915770851244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9DF-4DCA-A7B5-2E397CFE307D}"/>
                </c:ext>
              </c:extLst>
            </c:dLbl>
            <c:dLbl>
              <c:idx val="2"/>
              <c:layout>
                <c:manualLayout>
                  <c:x val="7.5328812135165724E-3"/>
                  <c:y val="3.138153667827473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9DF-4DCA-A7B5-2E397CFE307D}"/>
                </c:ext>
              </c:extLst>
            </c:dLbl>
            <c:dLbl>
              <c:idx val="3"/>
              <c:layout>
                <c:manualLayout>
                  <c:x val="9.2633132053518315E-3"/>
                  <c:y val="4.2449521887804764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9DF-4DCA-A7B5-2E397CFE307D}"/>
                </c:ext>
              </c:extLst>
            </c:dLbl>
            <c:dLbl>
              <c:idx val="4"/>
              <c:layout>
                <c:manualLayout>
                  <c:x val="1.1383981573228605E-2"/>
                  <c:y val="3.138153667827482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69DF-4DCA-A7B5-2E397CFE307D}"/>
                </c:ext>
              </c:extLst>
            </c:dLbl>
            <c:dLbl>
              <c:idx val="5"/>
              <c:layout>
                <c:manualLayout>
                  <c:x val="1.2724010207261023E-2"/>
                  <c:y val="3.22260103996126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69DF-4DCA-A7B5-2E397CFE307D}"/>
                </c:ext>
              </c:extLst>
            </c:dLbl>
            <c:dLbl>
              <c:idx val="6"/>
              <c:layout>
                <c:manualLayout>
                  <c:x val="1.0603341839384252E-2"/>
                  <c:y val="1.289040415984504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69DF-4DCA-A7B5-2E397CFE307D}"/>
                </c:ext>
              </c:extLst>
            </c:dLbl>
            <c:dLbl>
              <c:idx val="7"/>
              <c:layout>
                <c:manualLayout>
                  <c:x val="1.6965346943014801E-2"/>
                  <c:y val="3.222601039961267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69DF-4DCA-A7B5-2E397CFE307D}"/>
                </c:ext>
              </c:extLst>
            </c:dLbl>
            <c:dLbl>
              <c:idx val="8"/>
              <c:layout>
                <c:manualLayout>
                  <c:x val="1.2724010207260945E-2"/>
                  <c:y val="2.5780808319690145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69DF-4DCA-A7B5-2E397CFE307D}"/>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Hoja1!$N$1:$V$1</c:f>
              <c:strCache>
                <c:ptCount val="9"/>
                <c:pt idx="0">
                  <c:v>ENERO </c:v>
                </c:pt>
                <c:pt idx="1">
                  <c:v>FEBRERO</c:v>
                </c:pt>
                <c:pt idx="2">
                  <c:v>MARZO</c:v>
                </c:pt>
                <c:pt idx="3">
                  <c:v>ABRIL</c:v>
                </c:pt>
                <c:pt idx="4">
                  <c:v>MAYO</c:v>
                </c:pt>
                <c:pt idx="5">
                  <c:v>JUNIO</c:v>
                </c:pt>
                <c:pt idx="6">
                  <c:v>JULIO</c:v>
                </c:pt>
                <c:pt idx="7">
                  <c:v>AGOSTO</c:v>
                </c:pt>
                <c:pt idx="8">
                  <c:v>SEPTIEMBRE</c:v>
                </c:pt>
              </c:strCache>
            </c:strRef>
          </c:cat>
          <c:val>
            <c:numRef>
              <c:f>Hoja1!$N$3:$V$3</c:f>
              <c:numCache>
                <c:formatCode>#,##0</c:formatCode>
                <c:ptCount val="9"/>
                <c:pt idx="0">
                  <c:v>2651</c:v>
                </c:pt>
                <c:pt idx="1">
                  <c:v>2479</c:v>
                </c:pt>
                <c:pt idx="2">
                  <c:v>1886</c:v>
                </c:pt>
                <c:pt idx="3">
                  <c:v>2131</c:v>
                </c:pt>
                <c:pt idx="4">
                  <c:v>2369</c:v>
                </c:pt>
                <c:pt idx="5">
                  <c:v>2302</c:v>
                </c:pt>
                <c:pt idx="6">
                  <c:v>2445</c:v>
                </c:pt>
                <c:pt idx="7">
                  <c:v>2408</c:v>
                </c:pt>
                <c:pt idx="8">
                  <c:v>2521</c:v>
                </c:pt>
              </c:numCache>
            </c:numRef>
          </c:val>
          <c:extLst>
            <c:ext xmlns:c16="http://schemas.microsoft.com/office/drawing/2014/chart" uri="{C3380CC4-5D6E-409C-BE32-E72D297353CC}">
              <c16:uniqueId val="{00000007-69DF-4DCA-A7B5-2E397CFE307D}"/>
            </c:ext>
          </c:extLst>
        </c:ser>
        <c:dLbls>
          <c:dLblPos val="outEnd"/>
          <c:showLegendKey val="0"/>
          <c:showVal val="1"/>
          <c:showCatName val="0"/>
          <c:showSerName val="0"/>
          <c:showPercent val="0"/>
          <c:showBubbleSize val="0"/>
        </c:dLbls>
        <c:gapWidth val="219"/>
        <c:overlap val="-27"/>
        <c:axId val="1060797840"/>
        <c:axId val="1060808880"/>
      </c:barChart>
      <c:catAx>
        <c:axId val="106079784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s-CO"/>
          </a:p>
        </c:txPr>
        <c:crossAx val="1060808880"/>
        <c:crosses val="autoZero"/>
        <c:auto val="1"/>
        <c:lblAlgn val="ctr"/>
        <c:lblOffset val="100"/>
        <c:noMultiLvlLbl val="0"/>
      </c:catAx>
      <c:valAx>
        <c:axId val="1060808880"/>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600" b="0" i="0" u="none" strike="noStrike" kern="1200" baseline="0">
                <a:solidFill>
                  <a:schemeClr val="bg1">
                    <a:lumMod val="85000"/>
                  </a:schemeClr>
                </a:solidFill>
                <a:latin typeface="+mn-lt"/>
                <a:ea typeface="+mn-ea"/>
                <a:cs typeface="+mn-cs"/>
              </a:defRPr>
            </a:pPr>
            <a:endParaRPr lang="es-CO"/>
          </a:p>
        </c:txPr>
        <c:crossAx val="106079784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4">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lgn="ctr" rtl="0">
              <a:defRPr lang="es-CO" sz="1200" b="1" i="0" u="none" strike="noStrike" kern="1200" spc="0" baseline="0">
                <a:solidFill>
                  <a:prstClr val="black">
                    <a:lumMod val="65000"/>
                    <a:lumOff val="35000"/>
                  </a:prstClr>
                </a:solidFill>
                <a:latin typeface="+mn-lt"/>
                <a:ea typeface="+mn-ea"/>
                <a:cs typeface="+mn-cs"/>
              </a:defRPr>
            </a:pPr>
            <a:r>
              <a:rPr lang="es-CO" sz="1200" b="1" i="0" u="none" strike="noStrike" kern="1200" spc="0" baseline="0">
                <a:solidFill>
                  <a:prstClr val="black">
                    <a:lumMod val="65000"/>
                    <a:lumOff val="35000"/>
                  </a:prstClr>
                </a:solidFill>
                <a:latin typeface="+mn-lt"/>
                <a:ea typeface="+mn-ea"/>
                <a:cs typeface="+mn-cs"/>
              </a:rPr>
              <a:t>HISTORICO DE NIVEL DE SERVICIO</a:t>
            </a:r>
          </a:p>
        </c:rich>
      </c:tx>
      <c:overlay val="0"/>
      <c:spPr>
        <a:noFill/>
        <a:ln>
          <a:noFill/>
        </a:ln>
        <a:effectLst/>
      </c:spPr>
      <c:txPr>
        <a:bodyPr rot="0" spcFirstLastPara="1" vertOverflow="ellipsis" vert="horz" wrap="square" anchor="ctr" anchorCtr="1"/>
        <a:lstStyle/>
        <a:p>
          <a:pPr algn="ctr" rtl="0">
            <a:defRPr lang="es-CO" sz="1200" b="1" i="0" u="none" strike="noStrike" kern="1200" spc="0" baseline="0">
              <a:solidFill>
                <a:prstClr val="black">
                  <a:lumMod val="65000"/>
                  <a:lumOff val="35000"/>
                </a:prstClr>
              </a:solidFill>
              <a:latin typeface="+mn-lt"/>
              <a:ea typeface="+mn-ea"/>
              <a:cs typeface="+mn-cs"/>
            </a:defRPr>
          </a:pPr>
          <a:endParaRPr lang="es-CO"/>
        </a:p>
      </c:txPr>
    </c:title>
    <c:autoTitleDeleted val="0"/>
    <c:plotArea>
      <c:layout/>
      <c:barChart>
        <c:barDir val="col"/>
        <c:grouping val="clustered"/>
        <c:varyColors val="0"/>
        <c:ser>
          <c:idx val="0"/>
          <c:order val="0"/>
          <c:tx>
            <c:strRef>
              <c:f>Hoja1!$M$28</c:f>
              <c:strCache>
                <c:ptCount val="1"/>
                <c:pt idx="0">
                  <c:v>NDS</c:v>
                </c:pt>
              </c:strCache>
            </c:strRef>
          </c:tx>
          <c:spPr>
            <a:solidFill>
              <a:srgbClr val="80589F"/>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Hoja1!$N$27:$V$27</c:f>
              <c:strCache>
                <c:ptCount val="9"/>
                <c:pt idx="0">
                  <c:v>ENERO </c:v>
                </c:pt>
                <c:pt idx="1">
                  <c:v>FEBRERO</c:v>
                </c:pt>
                <c:pt idx="2">
                  <c:v>MARZO</c:v>
                </c:pt>
                <c:pt idx="3">
                  <c:v>ABRIL</c:v>
                </c:pt>
                <c:pt idx="4">
                  <c:v>MAYO</c:v>
                </c:pt>
                <c:pt idx="5">
                  <c:v>JUNIO</c:v>
                </c:pt>
                <c:pt idx="6">
                  <c:v>JULIO</c:v>
                </c:pt>
                <c:pt idx="7">
                  <c:v>AGOSTO</c:v>
                </c:pt>
                <c:pt idx="8">
                  <c:v>SEPTIEMBRE</c:v>
                </c:pt>
              </c:strCache>
            </c:strRef>
          </c:cat>
          <c:val>
            <c:numRef>
              <c:f>Hoja1!$N$28:$V$28</c:f>
              <c:numCache>
                <c:formatCode>0%</c:formatCode>
                <c:ptCount val="9"/>
                <c:pt idx="0">
                  <c:v>0.98</c:v>
                </c:pt>
                <c:pt idx="1">
                  <c:v>0.99</c:v>
                </c:pt>
                <c:pt idx="2">
                  <c:v>0.93</c:v>
                </c:pt>
                <c:pt idx="3">
                  <c:v>0.93</c:v>
                </c:pt>
                <c:pt idx="4">
                  <c:v>0.91810890671169265</c:v>
                </c:pt>
                <c:pt idx="5">
                  <c:v>0.98</c:v>
                </c:pt>
                <c:pt idx="6">
                  <c:v>0.96</c:v>
                </c:pt>
                <c:pt idx="7">
                  <c:v>0.98</c:v>
                </c:pt>
                <c:pt idx="8">
                  <c:v>0.98</c:v>
                </c:pt>
              </c:numCache>
            </c:numRef>
          </c:val>
          <c:extLst>
            <c:ext xmlns:c16="http://schemas.microsoft.com/office/drawing/2014/chart" uri="{C3380CC4-5D6E-409C-BE32-E72D297353CC}">
              <c16:uniqueId val="{00000000-1C66-4D02-94AC-812EFDB9B958}"/>
            </c:ext>
          </c:extLst>
        </c:ser>
        <c:dLbls>
          <c:dLblPos val="outEnd"/>
          <c:showLegendKey val="0"/>
          <c:showVal val="1"/>
          <c:showCatName val="0"/>
          <c:showSerName val="0"/>
          <c:showPercent val="0"/>
          <c:showBubbleSize val="0"/>
        </c:dLbls>
        <c:gapWidth val="219"/>
        <c:axId val="1635606256"/>
        <c:axId val="1635601456"/>
      </c:barChart>
      <c:lineChart>
        <c:grouping val="standard"/>
        <c:varyColors val="0"/>
        <c:ser>
          <c:idx val="1"/>
          <c:order val="1"/>
          <c:tx>
            <c:strRef>
              <c:f>Hoja1!$M$29</c:f>
              <c:strCache>
                <c:ptCount val="1"/>
                <c:pt idx="0">
                  <c:v>META</c:v>
                </c:pt>
              </c:strCache>
            </c:strRef>
          </c:tx>
          <c:spPr>
            <a:ln w="28575" cap="rnd">
              <a:solidFill>
                <a:srgbClr val="FFFFFF">
                  <a:lumMod val="50000"/>
                </a:srgbClr>
              </a:solidFill>
              <a:round/>
            </a:ln>
            <a:effectLst/>
          </c:spPr>
          <c:marker>
            <c:symbol val="none"/>
          </c:marker>
          <c:dLbls>
            <c:dLbl>
              <c:idx val="0"/>
              <c:delete val="1"/>
              <c:extLst>
                <c:ext xmlns:c15="http://schemas.microsoft.com/office/drawing/2012/chart" uri="{CE6537A1-D6FC-4f65-9D91-7224C49458BB}"/>
                <c:ext xmlns:c16="http://schemas.microsoft.com/office/drawing/2014/chart" uri="{C3380CC4-5D6E-409C-BE32-E72D297353CC}">
                  <c16:uniqueId val="{00000002-1C66-4D02-94AC-812EFDB9B958}"/>
                </c:ext>
              </c:extLst>
            </c:dLbl>
            <c:dLbl>
              <c:idx val="1"/>
              <c:delete val="1"/>
              <c:extLst>
                <c:ext xmlns:c15="http://schemas.microsoft.com/office/drawing/2012/chart" uri="{CE6537A1-D6FC-4f65-9D91-7224C49458BB}"/>
                <c:ext xmlns:c16="http://schemas.microsoft.com/office/drawing/2014/chart" uri="{C3380CC4-5D6E-409C-BE32-E72D297353CC}">
                  <c16:uniqueId val="{00000003-1C66-4D02-94AC-812EFDB9B958}"/>
                </c:ext>
              </c:extLst>
            </c:dLbl>
            <c:dLbl>
              <c:idx val="2"/>
              <c:delete val="1"/>
              <c:extLst>
                <c:ext xmlns:c15="http://schemas.microsoft.com/office/drawing/2012/chart" uri="{CE6537A1-D6FC-4f65-9D91-7224C49458BB}"/>
                <c:ext xmlns:c16="http://schemas.microsoft.com/office/drawing/2014/chart" uri="{C3380CC4-5D6E-409C-BE32-E72D297353CC}">
                  <c16:uniqueId val="{00000004-1C66-4D02-94AC-812EFDB9B958}"/>
                </c:ext>
              </c:extLst>
            </c:dLbl>
            <c:dLbl>
              <c:idx val="3"/>
              <c:delete val="1"/>
              <c:extLst>
                <c:ext xmlns:c15="http://schemas.microsoft.com/office/drawing/2012/chart" uri="{CE6537A1-D6FC-4f65-9D91-7224C49458BB}"/>
                <c:ext xmlns:c16="http://schemas.microsoft.com/office/drawing/2014/chart" uri="{C3380CC4-5D6E-409C-BE32-E72D297353CC}">
                  <c16:uniqueId val="{00000005-1C66-4D02-94AC-812EFDB9B958}"/>
                </c:ext>
              </c:extLst>
            </c:dLbl>
            <c:dLbl>
              <c:idx val="4"/>
              <c:delete val="1"/>
              <c:extLst>
                <c:ext xmlns:c15="http://schemas.microsoft.com/office/drawing/2012/chart" uri="{CE6537A1-D6FC-4f65-9D91-7224C49458BB}"/>
                <c:ext xmlns:c16="http://schemas.microsoft.com/office/drawing/2014/chart" uri="{C3380CC4-5D6E-409C-BE32-E72D297353CC}">
                  <c16:uniqueId val="{00000006-1C66-4D02-94AC-812EFDB9B958}"/>
                </c:ext>
              </c:extLst>
            </c:dLbl>
            <c:dLbl>
              <c:idx val="5"/>
              <c:delete val="1"/>
              <c:extLst>
                <c:ext xmlns:c15="http://schemas.microsoft.com/office/drawing/2012/chart" uri="{CE6537A1-D6FC-4f65-9D91-7224C49458BB}"/>
                <c:ext xmlns:c16="http://schemas.microsoft.com/office/drawing/2014/chart" uri="{C3380CC4-5D6E-409C-BE32-E72D297353CC}">
                  <c16:uniqueId val="{00000007-1C66-4D02-94AC-812EFDB9B958}"/>
                </c:ext>
              </c:extLst>
            </c:dLbl>
            <c:dLbl>
              <c:idx val="6"/>
              <c:delete val="1"/>
              <c:extLst>
                <c:ext xmlns:c15="http://schemas.microsoft.com/office/drawing/2012/chart" uri="{CE6537A1-D6FC-4f65-9D91-7224C49458BB}"/>
                <c:ext xmlns:c16="http://schemas.microsoft.com/office/drawing/2014/chart" uri="{C3380CC4-5D6E-409C-BE32-E72D297353CC}">
                  <c16:uniqueId val="{00000008-1C66-4D02-94AC-812EFDB9B958}"/>
                </c:ext>
              </c:extLst>
            </c:dLbl>
            <c:dLbl>
              <c:idx val="7"/>
              <c:delete val="1"/>
              <c:extLst>
                <c:ext xmlns:c15="http://schemas.microsoft.com/office/drawing/2012/chart" uri="{CE6537A1-D6FC-4f65-9D91-7224C49458BB}"/>
                <c:ext xmlns:c16="http://schemas.microsoft.com/office/drawing/2014/chart" uri="{C3380CC4-5D6E-409C-BE32-E72D297353CC}">
                  <c16:uniqueId val="{00000009-1C66-4D02-94AC-812EFDB9B958}"/>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Hoja1!$N$27:$V$27</c:f>
              <c:strCache>
                <c:ptCount val="9"/>
                <c:pt idx="0">
                  <c:v>ENERO </c:v>
                </c:pt>
                <c:pt idx="1">
                  <c:v>FEBRERO</c:v>
                </c:pt>
                <c:pt idx="2">
                  <c:v>MARZO</c:v>
                </c:pt>
                <c:pt idx="3">
                  <c:v>ABRIL</c:v>
                </c:pt>
                <c:pt idx="4">
                  <c:v>MAYO</c:v>
                </c:pt>
                <c:pt idx="5">
                  <c:v>JUNIO</c:v>
                </c:pt>
                <c:pt idx="6">
                  <c:v>JULIO</c:v>
                </c:pt>
                <c:pt idx="7">
                  <c:v>AGOSTO</c:v>
                </c:pt>
                <c:pt idx="8">
                  <c:v>SEPTIEMBRE</c:v>
                </c:pt>
              </c:strCache>
            </c:strRef>
          </c:cat>
          <c:val>
            <c:numRef>
              <c:f>Hoja1!$N$29:$V$29</c:f>
              <c:numCache>
                <c:formatCode>0%</c:formatCode>
                <c:ptCount val="9"/>
                <c:pt idx="0">
                  <c:v>0.8</c:v>
                </c:pt>
                <c:pt idx="1">
                  <c:v>0.8</c:v>
                </c:pt>
                <c:pt idx="2">
                  <c:v>0.8</c:v>
                </c:pt>
                <c:pt idx="3">
                  <c:v>0.8</c:v>
                </c:pt>
                <c:pt idx="4">
                  <c:v>0.8</c:v>
                </c:pt>
                <c:pt idx="5">
                  <c:v>0.8</c:v>
                </c:pt>
                <c:pt idx="6">
                  <c:v>0.8</c:v>
                </c:pt>
                <c:pt idx="7">
                  <c:v>0.8</c:v>
                </c:pt>
                <c:pt idx="8">
                  <c:v>0.8</c:v>
                </c:pt>
              </c:numCache>
            </c:numRef>
          </c:val>
          <c:smooth val="0"/>
          <c:extLst>
            <c:ext xmlns:c16="http://schemas.microsoft.com/office/drawing/2014/chart" uri="{C3380CC4-5D6E-409C-BE32-E72D297353CC}">
              <c16:uniqueId val="{00000001-1C66-4D02-94AC-812EFDB9B958}"/>
            </c:ext>
          </c:extLst>
        </c:ser>
        <c:dLbls>
          <c:showLegendKey val="0"/>
          <c:showVal val="0"/>
          <c:showCatName val="0"/>
          <c:showSerName val="0"/>
          <c:showPercent val="0"/>
          <c:showBubbleSize val="0"/>
        </c:dLbls>
        <c:marker val="1"/>
        <c:smooth val="0"/>
        <c:axId val="1635606256"/>
        <c:axId val="1635601456"/>
      </c:lineChart>
      <c:catAx>
        <c:axId val="163560625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400" b="1" i="0" u="none" strike="noStrike" kern="1200" baseline="0">
                <a:solidFill>
                  <a:schemeClr val="tx1">
                    <a:lumMod val="65000"/>
                    <a:lumOff val="35000"/>
                  </a:schemeClr>
                </a:solidFill>
                <a:latin typeface="+mn-lt"/>
                <a:ea typeface="+mn-ea"/>
                <a:cs typeface="+mn-cs"/>
              </a:defRPr>
            </a:pPr>
            <a:endParaRPr lang="es-CO"/>
          </a:p>
        </c:txPr>
        <c:crossAx val="1635601456"/>
        <c:crosses val="autoZero"/>
        <c:auto val="1"/>
        <c:lblAlgn val="ctr"/>
        <c:lblOffset val="100"/>
        <c:noMultiLvlLbl val="0"/>
      </c:catAx>
      <c:valAx>
        <c:axId val="1635601456"/>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500" b="0" i="0" u="none" strike="noStrike" kern="1200" baseline="0">
                <a:solidFill>
                  <a:schemeClr val="bg1">
                    <a:lumMod val="85000"/>
                  </a:schemeClr>
                </a:solidFill>
                <a:latin typeface="+mn-lt"/>
                <a:ea typeface="+mn-ea"/>
                <a:cs typeface="+mn-cs"/>
              </a:defRPr>
            </a:pPr>
            <a:endParaRPr lang="es-CO"/>
          </a:p>
        </c:txPr>
        <c:crossAx val="163560625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1"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4">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lgn="ctr" rtl="0">
              <a:defRPr lang="es-CO" sz="1200" b="1" i="0" u="none" strike="noStrike" kern="1200" spc="0" baseline="0">
                <a:solidFill>
                  <a:prstClr val="black">
                    <a:lumMod val="65000"/>
                    <a:lumOff val="35000"/>
                  </a:prstClr>
                </a:solidFill>
                <a:latin typeface="+mn-lt"/>
                <a:ea typeface="+mn-ea"/>
                <a:cs typeface="+mn-cs"/>
              </a:defRPr>
            </a:pPr>
            <a:r>
              <a:rPr lang="es-CO" sz="1200" b="1" i="0" u="none" strike="noStrike" kern="1200" spc="0" baseline="0">
                <a:solidFill>
                  <a:prstClr val="black">
                    <a:lumMod val="65000"/>
                    <a:lumOff val="35000"/>
                  </a:prstClr>
                </a:solidFill>
                <a:latin typeface="+mn-lt"/>
                <a:ea typeface="+mn-ea"/>
                <a:cs typeface="+mn-cs"/>
              </a:rPr>
              <a:t>HISTORICO DE NIVEL DE ATENCION</a:t>
            </a:r>
          </a:p>
        </c:rich>
      </c:tx>
      <c:overlay val="0"/>
      <c:spPr>
        <a:noFill/>
        <a:ln>
          <a:noFill/>
        </a:ln>
        <a:effectLst/>
      </c:spPr>
      <c:txPr>
        <a:bodyPr rot="0" spcFirstLastPara="1" vertOverflow="ellipsis" vert="horz" wrap="square" anchor="ctr" anchorCtr="1"/>
        <a:lstStyle/>
        <a:p>
          <a:pPr algn="ctr" rtl="0">
            <a:defRPr lang="es-CO" sz="1200" b="1" i="0" u="none" strike="noStrike" kern="1200" spc="0" baseline="0">
              <a:solidFill>
                <a:prstClr val="black">
                  <a:lumMod val="65000"/>
                  <a:lumOff val="35000"/>
                </a:prstClr>
              </a:solidFill>
              <a:latin typeface="+mn-lt"/>
              <a:ea typeface="+mn-ea"/>
              <a:cs typeface="+mn-cs"/>
            </a:defRPr>
          </a:pPr>
          <a:endParaRPr lang="es-CO"/>
        </a:p>
      </c:txPr>
    </c:title>
    <c:autoTitleDeleted val="0"/>
    <c:plotArea>
      <c:layout/>
      <c:barChart>
        <c:barDir val="col"/>
        <c:grouping val="clustered"/>
        <c:varyColors val="0"/>
        <c:ser>
          <c:idx val="0"/>
          <c:order val="0"/>
          <c:tx>
            <c:strRef>
              <c:f>Hoja1!$M$23</c:f>
              <c:strCache>
                <c:ptCount val="1"/>
                <c:pt idx="0">
                  <c:v>NDA</c:v>
                </c:pt>
              </c:strCache>
            </c:strRef>
          </c:tx>
          <c:spPr>
            <a:solidFill>
              <a:srgbClr val="80589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1" i="0" u="none" strike="noStrike" kern="1200" baseline="0">
                    <a:solidFill>
                      <a:schemeClr val="tx1">
                        <a:lumMod val="75000"/>
                        <a:lumOff val="25000"/>
                      </a:schemeClr>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Hoja1!$N$22:$V$22</c:f>
              <c:strCache>
                <c:ptCount val="9"/>
                <c:pt idx="0">
                  <c:v>ENERO </c:v>
                </c:pt>
                <c:pt idx="1">
                  <c:v>FEBRERO</c:v>
                </c:pt>
                <c:pt idx="2">
                  <c:v>MARZO</c:v>
                </c:pt>
                <c:pt idx="3">
                  <c:v>ABRIL</c:v>
                </c:pt>
                <c:pt idx="4">
                  <c:v>MAYO</c:v>
                </c:pt>
                <c:pt idx="5">
                  <c:v>JUNIO</c:v>
                </c:pt>
                <c:pt idx="6">
                  <c:v>JULIO</c:v>
                </c:pt>
                <c:pt idx="7">
                  <c:v>AGOSTO</c:v>
                </c:pt>
                <c:pt idx="8">
                  <c:v>SEPTIEMBRE</c:v>
                </c:pt>
              </c:strCache>
            </c:strRef>
          </c:cat>
          <c:val>
            <c:numRef>
              <c:f>Hoja1!$N$23:$V$23</c:f>
              <c:numCache>
                <c:formatCode>0%</c:formatCode>
                <c:ptCount val="9"/>
                <c:pt idx="0">
                  <c:v>0.98</c:v>
                </c:pt>
                <c:pt idx="1">
                  <c:v>0.96</c:v>
                </c:pt>
                <c:pt idx="2">
                  <c:v>0.99</c:v>
                </c:pt>
                <c:pt idx="3">
                  <c:v>0.97</c:v>
                </c:pt>
                <c:pt idx="4">
                  <c:v>0.97289527720739222</c:v>
                </c:pt>
                <c:pt idx="5">
                  <c:v>0.99</c:v>
                </c:pt>
                <c:pt idx="6">
                  <c:v>0.98</c:v>
                </c:pt>
                <c:pt idx="7">
                  <c:v>0.98</c:v>
                </c:pt>
                <c:pt idx="8">
                  <c:v>0.99</c:v>
                </c:pt>
              </c:numCache>
            </c:numRef>
          </c:val>
          <c:extLst>
            <c:ext xmlns:c16="http://schemas.microsoft.com/office/drawing/2014/chart" uri="{C3380CC4-5D6E-409C-BE32-E72D297353CC}">
              <c16:uniqueId val="{00000000-7FDA-4217-BE70-21D070F3C7FC}"/>
            </c:ext>
          </c:extLst>
        </c:ser>
        <c:dLbls>
          <c:dLblPos val="outEnd"/>
          <c:showLegendKey val="0"/>
          <c:showVal val="1"/>
          <c:showCatName val="0"/>
          <c:showSerName val="0"/>
          <c:showPercent val="0"/>
          <c:showBubbleSize val="0"/>
        </c:dLbls>
        <c:gapWidth val="219"/>
        <c:axId val="1635589936"/>
        <c:axId val="1635590416"/>
      </c:barChart>
      <c:lineChart>
        <c:grouping val="standard"/>
        <c:varyColors val="0"/>
        <c:ser>
          <c:idx val="1"/>
          <c:order val="1"/>
          <c:tx>
            <c:strRef>
              <c:f>Hoja1!$M$24</c:f>
              <c:strCache>
                <c:ptCount val="1"/>
                <c:pt idx="0">
                  <c:v>META</c:v>
                </c:pt>
              </c:strCache>
            </c:strRef>
          </c:tx>
          <c:spPr>
            <a:ln w="28575" cap="rnd">
              <a:solidFill>
                <a:srgbClr val="FFFFFF">
                  <a:lumMod val="50000"/>
                </a:srgbClr>
              </a:solidFill>
              <a:round/>
            </a:ln>
            <a:effectLst/>
          </c:spPr>
          <c:marker>
            <c:symbol val="none"/>
          </c:marker>
          <c:dLbls>
            <c:dLbl>
              <c:idx val="0"/>
              <c:delete val="1"/>
              <c:extLst>
                <c:ext xmlns:c15="http://schemas.microsoft.com/office/drawing/2012/chart" uri="{CE6537A1-D6FC-4f65-9D91-7224C49458BB}"/>
                <c:ext xmlns:c16="http://schemas.microsoft.com/office/drawing/2014/chart" uri="{C3380CC4-5D6E-409C-BE32-E72D297353CC}">
                  <c16:uniqueId val="{00000002-7FDA-4217-BE70-21D070F3C7FC}"/>
                </c:ext>
              </c:extLst>
            </c:dLbl>
            <c:dLbl>
              <c:idx val="1"/>
              <c:delete val="1"/>
              <c:extLst>
                <c:ext xmlns:c15="http://schemas.microsoft.com/office/drawing/2012/chart" uri="{CE6537A1-D6FC-4f65-9D91-7224C49458BB}"/>
                <c:ext xmlns:c16="http://schemas.microsoft.com/office/drawing/2014/chart" uri="{C3380CC4-5D6E-409C-BE32-E72D297353CC}">
                  <c16:uniqueId val="{00000003-7FDA-4217-BE70-21D070F3C7FC}"/>
                </c:ext>
              </c:extLst>
            </c:dLbl>
            <c:dLbl>
              <c:idx val="2"/>
              <c:delete val="1"/>
              <c:extLst>
                <c:ext xmlns:c15="http://schemas.microsoft.com/office/drawing/2012/chart" uri="{CE6537A1-D6FC-4f65-9D91-7224C49458BB}"/>
                <c:ext xmlns:c16="http://schemas.microsoft.com/office/drawing/2014/chart" uri="{C3380CC4-5D6E-409C-BE32-E72D297353CC}">
                  <c16:uniqueId val="{00000004-7FDA-4217-BE70-21D070F3C7FC}"/>
                </c:ext>
              </c:extLst>
            </c:dLbl>
            <c:dLbl>
              <c:idx val="3"/>
              <c:delete val="1"/>
              <c:extLst>
                <c:ext xmlns:c15="http://schemas.microsoft.com/office/drawing/2012/chart" uri="{CE6537A1-D6FC-4f65-9D91-7224C49458BB}"/>
                <c:ext xmlns:c16="http://schemas.microsoft.com/office/drawing/2014/chart" uri="{C3380CC4-5D6E-409C-BE32-E72D297353CC}">
                  <c16:uniqueId val="{00000005-7FDA-4217-BE70-21D070F3C7FC}"/>
                </c:ext>
              </c:extLst>
            </c:dLbl>
            <c:dLbl>
              <c:idx val="4"/>
              <c:delete val="1"/>
              <c:extLst>
                <c:ext xmlns:c15="http://schemas.microsoft.com/office/drawing/2012/chart" uri="{CE6537A1-D6FC-4f65-9D91-7224C49458BB}"/>
                <c:ext xmlns:c16="http://schemas.microsoft.com/office/drawing/2014/chart" uri="{C3380CC4-5D6E-409C-BE32-E72D297353CC}">
                  <c16:uniqueId val="{00000006-7FDA-4217-BE70-21D070F3C7FC}"/>
                </c:ext>
              </c:extLst>
            </c:dLbl>
            <c:dLbl>
              <c:idx val="5"/>
              <c:delete val="1"/>
              <c:extLst>
                <c:ext xmlns:c15="http://schemas.microsoft.com/office/drawing/2012/chart" uri="{CE6537A1-D6FC-4f65-9D91-7224C49458BB}"/>
                <c:ext xmlns:c16="http://schemas.microsoft.com/office/drawing/2014/chart" uri="{C3380CC4-5D6E-409C-BE32-E72D297353CC}">
                  <c16:uniqueId val="{00000007-7FDA-4217-BE70-21D070F3C7FC}"/>
                </c:ext>
              </c:extLst>
            </c:dLbl>
            <c:dLbl>
              <c:idx val="6"/>
              <c:delete val="1"/>
              <c:extLst>
                <c:ext xmlns:c15="http://schemas.microsoft.com/office/drawing/2012/chart" uri="{CE6537A1-D6FC-4f65-9D91-7224C49458BB}"/>
                <c:ext xmlns:c16="http://schemas.microsoft.com/office/drawing/2014/chart" uri="{C3380CC4-5D6E-409C-BE32-E72D297353CC}">
                  <c16:uniqueId val="{00000008-7FDA-4217-BE70-21D070F3C7FC}"/>
                </c:ext>
              </c:extLst>
            </c:dLbl>
            <c:dLbl>
              <c:idx val="7"/>
              <c:delete val="1"/>
              <c:extLst>
                <c:ext xmlns:c15="http://schemas.microsoft.com/office/drawing/2012/chart" uri="{CE6537A1-D6FC-4f65-9D91-7224C49458BB}"/>
                <c:ext xmlns:c16="http://schemas.microsoft.com/office/drawing/2014/chart" uri="{C3380CC4-5D6E-409C-BE32-E72D297353CC}">
                  <c16:uniqueId val="{00000009-7FDA-4217-BE70-21D070F3C7FC}"/>
                </c:ext>
              </c:extLst>
            </c:dLbl>
            <c:spPr>
              <a:noFill/>
              <a:ln>
                <a:noFill/>
              </a:ln>
              <a:effectLst/>
            </c:spPr>
            <c:txPr>
              <a:bodyPr rot="0" spcFirstLastPara="1" vertOverflow="ellipsis" vert="horz" wrap="square" lIns="38100" tIns="19050" rIns="38100" bIns="19050" anchor="ctr" anchorCtr="0">
                <a:spAutoFit/>
              </a:bodyPr>
              <a:lstStyle/>
              <a:p>
                <a:pPr algn="ctr">
                  <a:defRPr lang="en-US" sz="900" b="1"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Hoja1!$N$22:$V$22</c:f>
              <c:strCache>
                <c:ptCount val="9"/>
                <c:pt idx="0">
                  <c:v>ENERO </c:v>
                </c:pt>
                <c:pt idx="1">
                  <c:v>FEBRERO</c:v>
                </c:pt>
                <c:pt idx="2">
                  <c:v>MARZO</c:v>
                </c:pt>
                <c:pt idx="3">
                  <c:v>ABRIL</c:v>
                </c:pt>
                <c:pt idx="4">
                  <c:v>MAYO</c:v>
                </c:pt>
                <c:pt idx="5">
                  <c:v>JUNIO</c:v>
                </c:pt>
                <c:pt idx="6">
                  <c:v>JULIO</c:v>
                </c:pt>
                <c:pt idx="7">
                  <c:v>AGOSTO</c:v>
                </c:pt>
                <c:pt idx="8">
                  <c:v>SEPTIEMBRE</c:v>
                </c:pt>
              </c:strCache>
            </c:strRef>
          </c:cat>
          <c:val>
            <c:numRef>
              <c:f>Hoja1!$N$24:$V$24</c:f>
              <c:numCache>
                <c:formatCode>0%</c:formatCode>
                <c:ptCount val="9"/>
                <c:pt idx="0">
                  <c:v>0.95</c:v>
                </c:pt>
                <c:pt idx="1">
                  <c:v>0.95</c:v>
                </c:pt>
                <c:pt idx="2">
                  <c:v>0.95</c:v>
                </c:pt>
                <c:pt idx="3">
                  <c:v>0.95</c:v>
                </c:pt>
                <c:pt idx="4">
                  <c:v>0.95</c:v>
                </c:pt>
                <c:pt idx="5">
                  <c:v>0.95</c:v>
                </c:pt>
                <c:pt idx="6">
                  <c:v>0.95</c:v>
                </c:pt>
                <c:pt idx="7">
                  <c:v>0.95</c:v>
                </c:pt>
                <c:pt idx="8">
                  <c:v>0.95</c:v>
                </c:pt>
              </c:numCache>
            </c:numRef>
          </c:val>
          <c:smooth val="0"/>
          <c:extLst>
            <c:ext xmlns:c16="http://schemas.microsoft.com/office/drawing/2014/chart" uri="{C3380CC4-5D6E-409C-BE32-E72D297353CC}">
              <c16:uniqueId val="{00000001-7FDA-4217-BE70-21D070F3C7FC}"/>
            </c:ext>
          </c:extLst>
        </c:ser>
        <c:dLbls>
          <c:showLegendKey val="0"/>
          <c:showVal val="0"/>
          <c:showCatName val="0"/>
          <c:showSerName val="0"/>
          <c:showPercent val="0"/>
          <c:showBubbleSize val="0"/>
        </c:dLbls>
        <c:marker val="1"/>
        <c:smooth val="0"/>
        <c:axId val="1635589936"/>
        <c:axId val="1635590416"/>
      </c:lineChart>
      <c:catAx>
        <c:axId val="163558993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400" b="1" i="0" u="none" strike="noStrike" kern="1200" baseline="0">
                <a:solidFill>
                  <a:schemeClr val="tx1">
                    <a:lumMod val="65000"/>
                    <a:lumOff val="35000"/>
                  </a:schemeClr>
                </a:solidFill>
                <a:latin typeface="+mn-lt"/>
                <a:ea typeface="+mn-ea"/>
                <a:cs typeface="+mn-cs"/>
              </a:defRPr>
            </a:pPr>
            <a:endParaRPr lang="es-CO"/>
          </a:p>
        </c:txPr>
        <c:crossAx val="1635590416"/>
        <c:crosses val="autoZero"/>
        <c:auto val="1"/>
        <c:lblAlgn val="ctr"/>
        <c:lblOffset val="100"/>
        <c:noMultiLvlLbl val="0"/>
      </c:catAx>
      <c:valAx>
        <c:axId val="1635590416"/>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500" b="0" i="0" u="none" strike="noStrike" kern="1200" baseline="0">
                <a:solidFill>
                  <a:schemeClr val="bg1">
                    <a:lumMod val="85000"/>
                  </a:schemeClr>
                </a:solidFill>
                <a:latin typeface="+mn-lt"/>
                <a:ea typeface="+mn-ea"/>
                <a:cs typeface="+mn-cs"/>
              </a:defRPr>
            </a:pPr>
            <a:endParaRPr lang="es-CO"/>
          </a:p>
        </c:txPr>
        <c:crossAx val="163558993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en-US" sz="800" b="1"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4">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lgn="ctr" rtl="0">
              <a:defRPr lang="es-CO" sz="1200" b="1" i="0" u="none" strike="noStrike" kern="1200" spc="0" baseline="0">
                <a:solidFill>
                  <a:prstClr val="black">
                    <a:lumMod val="65000"/>
                    <a:lumOff val="35000"/>
                  </a:prstClr>
                </a:solidFill>
                <a:latin typeface="+mn-lt"/>
                <a:ea typeface="+mn-ea"/>
                <a:cs typeface="+mn-cs"/>
              </a:defRPr>
            </a:pPr>
            <a:r>
              <a:rPr lang="es-CO" sz="1200" b="1" i="0" u="none" strike="noStrike" kern="1200" spc="0" baseline="0">
                <a:solidFill>
                  <a:prstClr val="black">
                    <a:lumMod val="65000"/>
                    <a:lumOff val="35000"/>
                  </a:prstClr>
                </a:solidFill>
                <a:latin typeface="+mn-lt"/>
                <a:ea typeface="+mn-ea"/>
                <a:cs typeface="+mn-cs"/>
              </a:rPr>
              <a:t>INDICADOR DE SATISFACCION CALIFICACION (4-5)</a:t>
            </a:r>
          </a:p>
        </c:rich>
      </c:tx>
      <c:overlay val="0"/>
      <c:spPr>
        <a:noFill/>
        <a:ln>
          <a:noFill/>
        </a:ln>
        <a:effectLst/>
      </c:spPr>
      <c:txPr>
        <a:bodyPr rot="0" spcFirstLastPara="1" vertOverflow="ellipsis" vert="horz" wrap="square" anchor="ctr" anchorCtr="1"/>
        <a:lstStyle/>
        <a:p>
          <a:pPr algn="ctr" rtl="0">
            <a:defRPr lang="es-CO" sz="1200" b="1" i="0" u="none" strike="noStrike" kern="1200" spc="0" baseline="0">
              <a:solidFill>
                <a:prstClr val="black">
                  <a:lumMod val="65000"/>
                  <a:lumOff val="35000"/>
                </a:prstClr>
              </a:solidFill>
              <a:latin typeface="+mn-lt"/>
              <a:ea typeface="+mn-ea"/>
              <a:cs typeface="+mn-cs"/>
            </a:defRPr>
          </a:pPr>
          <a:endParaRPr lang="es-CO"/>
        </a:p>
      </c:txPr>
    </c:title>
    <c:autoTitleDeleted val="0"/>
    <c:plotArea>
      <c:layout/>
      <c:barChart>
        <c:barDir val="col"/>
        <c:grouping val="clustered"/>
        <c:varyColors val="0"/>
        <c:ser>
          <c:idx val="0"/>
          <c:order val="0"/>
          <c:tx>
            <c:strRef>
              <c:f>Hoja2!$A$2</c:f>
              <c:strCache>
                <c:ptCount val="1"/>
                <c:pt idx="0">
                  <c:v> ATNECION RECIBIDA POR EL AGENTE </c:v>
                </c:pt>
              </c:strCache>
            </c:strRef>
          </c:tx>
          <c:spPr>
            <a:solidFill>
              <a:srgbClr val="80589F"/>
            </a:solidFill>
            <a:ln>
              <a:noFill/>
            </a:ln>
            <a:effectLst/>
          </c:spPr>
          <c:invertIfNegative val="0"/>
          <c:dLbls>
            <c:dLbl>
              <c:idx val="0"/>
              <c:layout>
                <c:manualLayout>
                  <c:x val="0"/>
                  <c:y val="-1.078629087908697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9A2B-45C9-ACFA-2CB49EB74C4C}"/>
                </c:ext>
              </c:extLst>
            </c:dLbl>
            <c:spPr>
              <a:noFill/>
              <a:ln>
                <a:noFill/>
              </a:ln>
              <a:effectLst/>
            </c:spPr>
            <c:txPr>
              <a:bodyPr rot="0" spcFirstLastPara="1" vertOverflow="ellipsis" vert="horz" wrap="square" lIns="38100" tIns="19050" rIns="38100" bIns="19050" anchor="ctr" anchorCtr="0">
                <a:spAutoFit/>
              </a:bodyPr>
              <a:lstStyle/>
              <a:p>
                <a:pPr algn="ctr">
                  <a:defRPr lang="en-US" sz="700" b="1" i="0" u="none" strike="noStrike" kern="1200" baseline="0">
                    <a:solidFill>
                      <a:schemeClr val="tx1">
                        <a:lumMod val="75000"/>
                        <a:lumOff val="25000"/>
                      </a:schemeClr>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Hoja2!$B$1:$J$1</c:f>
              <c:strCache>
                <c:ptCount val="9"/>
                <c:pt idx="0">
                  <c:v>ENERO</c:v>
                </c:pt>
                <c:pt idx="1">
                  <c:v>FEBRERO</c:v>
                </c:pt>
                <c:pt idx="2">
                  <c:v>MARZO</c:v>
                </c:pt>
                <c:pt idx="3">
                  <c:v>ABRIL</c:v>
                </c:pt>
                <c:pt idx="4">
                  <c:v>MAYO</c:v>
                </c:pt>
                <c:pt idx="5">
                  <c:v>JUNIO</c:v>
                </c:pt>
                <c:pt idx="6">
                  <c:v>JULIO</c:v>
                </c:pt>
                <c:pt idx="7">
                  <c:v>AGOSTO</c:v>
                </c:pt>
                <c:pt idx="8">
                  <c:v>SEPTIEMBRE</c:v>
                </c:pt>
              </c:strCache>
            </c:strRef>
          </c:cat>
          <c:val>
            <c:numRef>
              <c:f>Hoja2!$B$2:$J$2</c:f>
              <c:numCache>
                <c:formatCode>0%</c:formatCode>
                <c:ptCount val="9"/>
                <c:pt idx="0">
                  <c:v>0.82</c:v>
                </c:pt>
                <c:pt idx="1">
                  <c:v>0.94</c:v>
                </c:pt>
                <c:pt idx="2">
                  <c:v>0.93</c:v>
                </c:pt>
                <c:pt idx="3">
                  <c:v>0.86</c:v>
                </c:pt>
                <c:pt idx="4">
                  <c:v>0.83809523809523812</c:v>
                </c:pt>
                <c:pt idx="5">
                  <c:v>0.88100000000000001</c:v>
                </c:pt>
                <c:pt idx="6">
                  <c:v>0.89</c:v>
                </c:pt>
                <c:pt idx="7">
                  <c:v>0.88</c:v>
                </c:pt>
                <c:pt idx="8">
                  <c:v>0.86</c:v>
                </c:pt>
              </c:numCache>
            </c:numRef>
          </c:val>
          <c:extLst>
            <c:ext xmlns:c16="http://schemas.microsoft.com/office/drawing/2014/chart" uri="{C3380CC4-5D6E-409C-BE32-E72D297353CC}">
              <c16:uniqueId val="{00000000-9A2B-45C9-ACFA-2CB49EB74C4C}"/>
            </c:ext>
          </c:extLst>
        </c:ser>
        <c:ser>
          <c:idx val="1"/>
          <c:order val="1"/>
          <c:tx>
            <c:strRef>
              <c:f>Hoja2!$A$3</c:f>
              <c:strCache>
                <c:ptCount val="1"/>
                <c:pt idx="0">
                  <c:v>¿QUE TAN SATISFECHO ESTA CON LA ATENCION</c:v>
                </c:pt>
              </c:strCache>
            </c:strRef>
          </c:tx>
          <c:spPr>
            <a:solidFill>
              <a:srgbClr val="FFFFFF">
                <a:lumMod val="50000"/>
              </a:srgbClr>
            </a:solidFill>
            <a:ln>
              <a:noFill/>
            </a:ln>
            <a:effectLst/>
          </c:spPr>
          <c:invertIfNegative val="0"/>
          <c:dLbls>
            <c:dLbl>
              <c:idx val="1"/>
              <c:layout>
                <c:manualLayout>
                  <c:x val="2.2948465876986043E-3"/>
                  <c:y val="5.393145439543452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9A2B-45C9-ACFA-2CB49EB74C4C}"/>
                </c:ext>
              </c:extLst>
            </c:dLbl>
            <c:dLbl>
              <c:idx val="2"/>
              <c:layout>
                <c:manualLayout>
                  <c:x val="0"/>
                  <c:y val="5.393145439543452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9A2B-45C9-ACFA-2CB49EB74C4C}"/>
                </c:ext>
              </c:extLst>
            </c:dLbl>
            <c:dLbl>
              <c:idx val="4"/>
              <c:layout>
                <c:manualLayout>
                  <c:x val="2.2948465876986464E-3"/>
                  <c:y val="2.696572719771738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9A2B-45C9-ACFA-2CB49EB74C4C}"/>
                </c:ext>
              </c:extLst>
            </c:dLbl>
            <c:dLbl>
              <c:idx val="5"/>
              <c:layout>
                <c:manualLayout>
                  <c:x val="2.2948465876986464E-3"/>
                  <c:y val="2.157258175817385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9A2B-45C9-ACFA-2CB49EB74C4C}"/>
                </c:ext>
              </c:extLst>
            </c:dLbl>
            <c:dLbl>
              <c:idx val="6"/>
              <c:layout>
                <c:manualLayout>
                  <c:x val="4.5896931753972928E-3"/>
                  <c:y val="1.617943631863042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9A2B-45C9-ACFA-2CB49EB74C4C}"/>
                </c:ext>
              </c:extLst>
            </c:dLbl>
            <c:dLbl>
              <c:idx val="7"/>
              <c:layout>
                <c:manualLayout>
                  <c:x val="4.5896931753972928E-3"/>
                  <c:y val="2.157258175817385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9A2B-45C9-ACFA-2CB49EB74C4C}"/>
                </c:ext>
              </c:extLst>
            </c:dLbl>
            <c:dLbl>
              <c:idx val="8"/>
              <c:layout>
                <c:manualLayout>
                  <c:x val="4.5896931753971245E-3"/>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9A2B-45C9-ACFA-2CB49EB74C4C}"/>
                </c:ext>
              </c:extLst>
            </c:dLbl>
            <c:spPr>
              <a:noFill/>
              <a:ln>
                <a:noFill/>
              </a:ln>
              <a:effectLst/>
            </c:spPr>
            <c:txPr>
              <a:bodyPr rot="0" spcFirstLastPara="1" vertOverflow="ellipsis" vert="horz" wrap="square" lIns="38100" tIns="19050" rIns="38100" bIns="19050" anchor="ctr" anchorCtr="0">
                <a:spAutoFit/>
              </a:bodyPr>
              <a:lstStyle/>
              <a:p>
                <a:pPr algn="ctr">
                  <a:defRPr lang="en-US" sz="700" b="1" i="0" u="none" strike="noStrike" kern="1200" baseline="0">
                    <a:solidFill>
                      <a:schemeClr val="tx1">
                        <a:lumMod val="75000"/>
                        <a:lumOff val="25000"/>
                      </a:schemeClr>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Hoja2!$B$1:$J$1</c:f>
              <c:strCache>
                <c:ptCount val="9"/>
                <c:pt idx="0">
                  <c:v>ENERO</c:v>
                </c:pt>
                <c:pt idx="1">
                  <c:v>FEBRERO</c:v>
                </c:pt>
                <c:pt idx="2">
                  <c:v>MARZO</c:v>
                </c:pt>
                <c:pt idx="3">
                  <c:v>ABRIL</c:v>
                </c:pt>
                <c:pt idx="4">
                  <c:v>MAYO</c:v>
                </c:pt>
                <c:pt idx="5">
                  <c:v>JUNIO</c:v>
                </c:pt>
                <c:pt idx="6">
                  <c:v>JULIO</c:v>
                </c:pt>
                <c:pt idx="7">
                  <c:v>AGOSTO</c:v>
                </c:pt>
                <c:pt idx="8">
                  <c:v>SEPTIEMBRE</c:v>
                </c:pt>
              </c:strCache>
            </c:strRef>
          </c:cat>
          <c:val>
            <c:numRef>
              <c:f>Hoja2!$B$3:$J$3</c:f>
              <c:numCache>
                <c:formatCode>0%</c:formatCode>
                <c:ptCount val="9"/>
                <c:pt idx="0">
                  <c:v>0.8</c:v>
                </c:pt>
                <c:pt idx="1">
                  <c:v>0.89</c:v>
                </c:pt>
                <c:pt idx="2">
                  <c:v>0.89</c:v>
                </c:pt>
                <c:pt idx="3">
                  <c:v>0.78</c:v>
                </c:pt>
                <c:pt idx="4">
                  <c:v>0.79619047619047623</c:v>
                </c:pt>
                <c:pt idx="5">
                  <c:v>0.83</c:v>
                </c:pt>
                <c:pt idx="6">
                  <c:v>0.82</c:v>
                </c:pt>
                <c:pt idx="7">
                  <c:v>0.83</c:v>
                </c:pt>
                <c:pt idx="8">
                  <c:v>0.83</c:v>
                </c:pt>
              </c:numCache>
            </c:numRef>
          </c:val>
          <c:extLst>
            <c:ext xmlns:c16="http://schemas.microsoft.com/office/drawing/2014/chart" uri="{C3380CC4-5D6E-409C-BE32-E72D297353CC}">
              <c16:uniqueId val="{00000001-9A2B-45C9-ACFA-2CB49EB74C4C}"/>
            </c:ext>
          </c:extLst>
        </c:ser>
        <c:ser>
          <c:idx val="2"/>
          <c:order val="2"/>
          <c:tx>
            <c:strRef>
              <c:f>Hoja2!$A$4</c:f>
              <c:strCache>
                <c:ptCount val="1"/>
                <c:pt idx="0">
                  <c:v> SOLICION BRINDADA</c:v>
                </c:pt>
              </c:strCache>
            </c:strRef>
          </c:tx>
          <c:spPr>
            <a:solidFill>
              <a:srgbClr val="00A19C"/>
            </a:solidFill>
            <a:ln>
              <a:noFill/>
            </a:ln>
            <a:effectLst/>
          </c:spPr>
          <c:invertIfNegative val="0"/>
          <c:dLbls>
            <c:dLbl>
              <c:idx val="0"/>
              <c:layout>
                <c:manualLayout>
                  <c:x val="4.5896931753972928E-3"/>
                  <c:y val="2.157258175817385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A2B-45C9-ACFA-2CB49EB74C4C}"/>
                </c:ext>
              </c:extLst>
            </c:dLbl>
            <c:dLbl>
              <c:idx val="3"/>
              <c:layout>
                <c:manualLayout>
                  <c:x val="0"/>
                  <c:y val="-1.078629087908697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9A2B-45C9-ACFA-2CB49EB74C4C}"/>
                </c:ext>
              </c:extLst>
            </c:dLbl>
            <c:dLbl>
              <c:idx val="4"/>
              <c:layout>
                <c:manualLayout>
                  <c:x val="0"/>
                  <c:y val="-1.078629087908695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9A2B-45C9-ACFA-2CB49EB74C4C}"/>
                </c:ext>
              </c:extLst>
            </c:dLbl>
            <c:dLbl>
              <c:idx val="8"/>
              <c:layout>
                <c:manualLayout>
                  <c:x val="2.2948465876986464E-3"/>
                  <c:y val="-2.157258175817390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9A2B-45C9-ACFA-2CB49EB74C4C}"/>
                </c:ext>
              </c:extLst>
            </c:dLbl>
            <c:spPr>
              <a:noFill/>
              <a:ln>
                <a:noFill/>
              </a:ln>
              <a:effectLst/>
            </c:spPr>
            <c:txPr>
              <a:bodyPr rot="0" spcFirstLastPara="1" vertOverflow="ellipsis" vert="horz" wrap="square" lIns="38100" tIns="19050" rIns="38100" bIns="19050" anchor="ctr" anchorCtr="0">
                <a:spAutoFit/>
              </a:bodyPr>
              <a:lstStyle/>
              <a:p>
                <a:pPr algn="ctr">
                  <a:defRPr lang="en-US" sz="700" b="1" i="0" u="none" strike="noStrike" kern="1200" baseline="0">
                    <a:solidFill>
                      <a:schemeClr val="tx1">
                        <a:lumMod val="75000"/>
                        <a:lumOff val="25000"/>
                      </a:schemeClr>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Hoja2!$B$1:$J$1</c:f>
              <c:strCache>
                <c:ptCount val="9"/>
                <c:pt idx="0">
                  <c:v>ENERO</c:v>
                </c:pt>
                <c:pt idx="1">
                  <c:v>FEBRERO</c:v>
                </c:pt>
                <c:pt idx="2">
                  <c:v>MARZO</c:v>
                </c:pt>
                <c:pt idx="3">
                  <c:v>ABRIL</c:v>
                </c:pt>
                <c:pt idx="4">
                  <c:v>MAYO</c:v>
                </c:pt>
                <c:pt idx="5">
                  <c:v>JUNIO</c:v>
                </c:pt>
                <c:pt idx="6">
                  <c:v>JULIO</c:v>
                </c:pt>
                <c:pt idx="7">
                  <c:v>AGOSTO</c:v>
                </c:pt>
                <c:pt idx="8">
                  <c:v>SEPTIEMBRE</c:v>
                </c:pt>
              </c:strCache>
            </c:strRef>
          </c:cat>
          <c:val>
            <c:numRef>
              <c:f>Hoja2!$B$4:$J$4</c:f>
              <c:numCache>
                <c:formatCode>0%</c:formatCode>
                <c:ptCount val="9"/>
                <c:pt idx="0">
                  <c:v>0.8</c:v>
                </c:pt>
                <c:pt idx="1">
                  <c:v>0.93</c:v>
                </c:pt>
                <c:pt idx="2">
                  <c:v>0.92</c:v>
                </c:pt>
                <c:pt idx="3">
                  <c:v>0.82</c:v>
                </c:pt>
                <c:pt idx="4">
                  <c:v>0.80761904761904757</c:v>
                </c:pt>
                <c:pt idx="5">
                  <c:v>0.86599999999999999</c:v>
                </c:pt>
                <c:pt idx="6">
                  <c:v>0.84</c:v>
                </c:pt>
                <c:pt idx="7">
                  <c:v>0.85</c:v>
                </c:pt>
                <c:pt idx="8">
                  <c:v>0.84</c:v>
                </c:pt>
              </c:numCache>
            </c:numRef>
          </c:val>
          <c:extLst>
            <c:ext xmlns:c16="http://schemas.microsoft.com/office/drawing/2014/chart" uri="{C3380CC4-5D6E-409C-BE32-E72D297353CC}">
              <c16:uniqueId val="{00000002-9A2B-45C9-ACFA-2CB49EB74C4C}"/>
            </c:ext>
          </c:extLst>
        </c:ser>
        <c:dLbls>
          <c:dLblPos val="outEnd"/>
          <c:showLegendKey val="0"/>
          <c:showVal val="1"/>
          <c:showCatName val="0"/>
          <c:showSerName val="0"/>
          <c:showPercent val="0"/>
          <c:showBubbleSize val="0"/>
        </c:dLbls>
        <c:gapWidth val="219"/>
        <c:overlap val="-27"/>
        <c:axId val="1074732783"/>
        <c:axId val="1134263343"/>
      </c:barChart>
      <c:catAx>
        <c:axId val="1074732783"/>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600" b="1" i="0" u="none" strike="noStrike" kern="1200" baseline="0">
                <a:solidFill>
                  <a:schemeClr val="tx1">
                    <a:lumMod val="65000"/>
                    <a:lumOff val="35000"/>
                  </a:schemeClr>
                </a:solidFill>
                <a:latin typeface="+mn-lt"/>
                <a:ea typeface="+mn-ea"/>
                <a:cs typeface="+mn-cs"/>
              </a:defRPr>
            </a:pPr>
            <a:endParaRPr lang="es-CO"/>
          </a:p>
        </c:txPr>
        <c:crossAx val="1134263343"/>
        <c:crosses val="autoZero"/>
        <c:auto val="1"/>
        <c:lblAlgn val="ctr"/>
        <c:lblOffset val="100"/>
        <c:noMultiLvlLbl val="0"/>
      </c:catAx>
      <c:valAx>
        <c:axId val="1134263343"/>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700" b="1" i="0" u="none" strike="noStrike" kern="1200" baseline="0">
                <a:solidFill>
                  <a:schemeClr val="bg1">
                    <a:lumMod val="85000"/>
                  </a:schemeClr>
                </a:solidFill>
                <a:latin typeface="+mn-lt"/>
                <a:ea typeface="+mn-ea"/>
                <a:cs typeface="+mn-cs"/>
              </a:defRPr>
            </a:pPr>
            <a:endParaRPr lang="es-CO"/>
          </a:p>
        </c:txPr>
        <c:crossAx val="107473278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lgn="ctr">
            <a:defRPr lang="en-US" sz="700" b="1"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4">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lgn="ctr" rtl="0">
              <a:defRPr lang="es-CO" sz="1400" b="1" i="0" u="none" strike="noStrike" kern="1200" spc="0" baseline="0">
                <a:solidFill>
                  <a:prstClr val="black">
                    <a:lumMod val="65000"/>
                    <a:lumOff val="35000"/>
                  </a:prstClr>
                </a:solidFill>
                <a:latin typeface="+mn-lt"/>
                <a:ea typeface="+mn-ea"/>
                <a:cs typeface="+mn-cs"/>
              </a:defRPr>
            </a:pPr>
            <a:r>
              <a:rPr lang="es-CO" sz="1400" b="1" i="0" u="none" strike="noStrike" kern="1200" spc="0" baseline="0">
                <a:solidFill>
                  <a:prstClr val="black">
                    <a:lumMod val="65000"/>
                    <a:lumOff val="35000"/>
                  </a:prstClr>
                </a:solidFill>
                <a:latin typeface="+mn-lt"/>
                <a:ea typeface="+mn-ea"/>
                <a:cs typeface="+mn-cs"/>
              </a:rPr>
              <a:t>INDICADOR DE SATISFACCION CALIFICACION (4-5) 2026</a:t>
            </a:r>
          </a:p>
        </c:rich>
      </c:tx>
      <c:overlay val="0"/>
      <c:spPr>
        <a:noFill/>
        <a:ln>
          <a:noFill/>
        </a:ln>
        <a:effectLst/>
      </c:spPr>
      <c:txPr>
        <a:bodyPr rot="0" spcFirstLastPara="1" vertOverflow="ellipsis" vert="horz" wrap="square" anchor="ctr" anchorCtr="1"/>
        <a:lstStyle/>
        <a:p>
          <a:pPr algn="ctr" rtl="0">
            <a:defRPr lang="es-CO" sz="1400" b="1" i="0" u="none" strike="noStrike" kern="1200" spc="0" baseline="0">
              <a:solidFill>
                <a:prstClr val="black">
                  <a:lumMod val="65000"/>
                  <a:lumOff val="35000"/>
                </a:prstClr>
              </a:solidFill>
              <a:latin typeface="+mn-lt"/>
              <a:ea typeface="+mn-ea"/>
              <a:cs typeface="+mn-cs"/>
            </a:defRPr>
          </a:pPr>
          <a:endParaRPr lang="es-CO"/>
        </a:p>
      </c:txPr>
    </c:title>
    <c:autoTitleDeleted val="0"/>
    <c:plotArea>
      <c:layout/>
      <c:barChart>
        <c:barDir val="col"/>
        <c:grouping val="clustered"/>
        <c:varyColors val="0"/>
        <c:ser>
          <c:idx val="0"/>
          <c:order val="0"/>
          <c:spPr>
            <a:solidFill>
              <a:srgbClr val="80589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1" i="0" u="none" strike="noStrike" kern="1200" baseline="0">
                    <a:solidFill>
                      <a:schemeClr val="tx1">
                        <a:lumMod val="75000"/>
                        <a:lumOff val="25000"/>
                      </a:schemeClr>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Hoja2!$A$8:$A$10</c:f>
              <c:strCache>
                <c:ptCount val="3"/>
                <c:pt idx="0">
                  <c:v> ¿COMO CALIFICA LA ATNECION RECIBIDA POR EL AGENTE DE SERVICIO DURANTE LA LLAMADA?</c:v>
                </c:pt>
                <c:pt idx="1">
                  <c:v>¿QUE TAN SATISFECHO ESTA CON LA ATENCION BRINDADA POR INOOS?</c:v>
                </c:pt>
                <c:pt idx="2">
                  <c:v>COMO CALIFICARIA A SOLICION BRINDADA DURANTE LA LLAMADA?</c:v>
                </c:pt>
              </c:strCache>
            </c:strRef>
          </c:cat>
          <c:val>
            <c:numRef>
              <c:f>Hoja2!$B$8:$B$10</c:f>
              <c:numCache>
                <c:formatCode>0.0%</c:formatCode>
                <c:ptCount val="3"/>
                <c:pt idx="0">
                  <c:v>0.87767724867724861</c:v>
                </c:pt>
                <c:pt idx="1">
                  <c:v>0.82957671957671975</c:v>
                </c:pt>
                <c:pt idx="2">
                  <c:v>0.8526243386243384</c:v>
                </c:pt>
              </c:numCache>
            </c:numRef>
          </c:val>
          <c:extLst>
            <c:ext xmlns:c16="http://schemas.microsoft.com/office/drawing/2014/chart" uri="{C3380CC4-5D6E-409C-BE32-E72D297353CC}">
              <c16:uniqueId val="{00000000-B053-44B3-AE77-01484E08086A}"/>
            </c:ext>
          </c:extLst>
        </c:ser>
        <c:dLbls>
          <c:dLblPos val="outEnd"/>
          <c:showLegendKey val="0"/>
          <c:showVal val="1"/>
          <c:showCatName val="0"/>
          <c:showSerName val="0"/>
          <c:showPercent val="0"/>
          <c:showBubbleSize val="0"/>
        </c:dLbls>
        <c:gapWidth val="219"/>
        <c:overlap val="-27"/>
        <c:axId val="1312727423"/>
        <c:axId val="1338123983"/>
      </c:barChart>
      <c:catAx>
        <c:axId val="1312727423"/>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600" b="1" i="0" u="none" strike="noStrike" kern="1200" baseline="0">
                <a:solidFill>
                  <a:schemeClr val="tx1">
                    <a:lumMod val="65000"/>
                    <a:lumOff val="35000"/>
                  </a:schemeClr>
                </a:solidFill>
                <a:latin typeface="+mn-lt"/>
                <a:ea typeface="+mn-ea"/>
                <a:cs typeface="+mn-cs"/>
              </a:defRPr>
            </a:pPr>
            <a:endParaRPr lang="es-CO"/>
          </a:p>
        </c:txPr>
        <c:crossAx val="1338123983"/>
        <c:crosses val="autoZero"/>
        <c:auto val="1"/>
        <c:lblAlgn val="ctr"/>
        <c:lblOffset val="100"/>
        <c:noMultiLvlLbl val="0"/>
      </c:catAx>
      <c:valAx>
        <c:axId val="1338123983"/>
        <c:scaling>
          <c:orientation val="minMax"/>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700" b="1" i="0" u="none" strike="noStrike" kern="1200" baseline="0">
                <a:solidFill>
                  <a:schemeClr val="bg1">
                    <a:lumMod val="85000"/>
                  </a:schemeClr>
                </a:solidFill>
                <a:latin typeface="+mn-lt"/>
                <a:ea typeface="+mn-ea"/>
                <a:cs typeface="+mn-cs"/>
              </a:defRPr>
            </a:pPr>
            <a:endParaRPr lang="es-CO"/>
          </a:p>
        </c:txPr>
        <c:crossAx val="1312727423"/>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s-CO"/>
    </a:p>
  </c:txPr>
  <c:externalData r:id="rId4">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lgn="ctr" rtl="0">
              <a:defRPr lang="es-CO" sz="1400" b="1" i="0" u="none" strike="noStrike" kern="1200" spc="0" baseline="0" dirty="0">
                <a:solidFill>
                  <a:prstClr val="black">
                    <a:lumMod val="65000"/>
                    <a:lumOff val="35000"/>
                  </a:prstClr>
                </a:solidFill>
                <a:latin typeface="+mn-lt"/>
                <a:ea typeface="+mn-ea"/>
                <a:cs typeface="+mn-cs"/>
              </a:defRPr>
            </a:pPr>
            <a:r>
              <a:rPr lang="es-CO" sz="1400" b="1" i="0" u="none" strike="noStrike" kern="1200" spc="0" baseline="0">
                <a:solidFill>
                  <a:prstClr val="black">
                    <a:lumMod val="65000"/>
                    <a:lumOff val="35000"/>
                  </a:prstClr>
                </a:solidFill>
                <a:latin typeface="+mn-lt"/>
                <a:ea typeface="+mn-ea"/>
                <a:cs typeface="+mn-cs"/>
              </a:rPr>
              <a:t>TOTAL ASIGANCION 2026 POR SEDE </a:t>
            </a:r>
          </a:p>
        </c:rich>
      </c:tx>
      <c:layout>
        <c:manualLayout>
          <c:xMode val="edge"/>
          <c:yMode val="edge"/>
          <c:x val="0.28544646266187274"/>
          <c:y val="3.7037037037037035E-2"/>
        </c:manualLayout>
      </c:layout>
      <c:overlay val="0"/>
      <c:spPr>
        <a:noFill/>
        <a:ln>
          <a:noFill/>
        </a:ln>
        <a:effectLst/>
      </c:spPr>
      <c:txPr>
        <a:bodyPr rot="0" spcFirstLastPara="1" vertOverflow="ellipsis" vert="horz" wrap="square" anchor="ctr" anchorCtr="1"/>
        <a:lstStyle/>
        <a:p>
          <a:pPr algn="ctr" rtl="0">
            <a:defRPr lang="es-CO" sz="1400" b="1" i="0" u="none" strike="noStrike" kern="1200" spc="0" baseline="0" dirty="0">
              <a:solidFill>
                <a:prstClr val="black">
                  <a:lumMod val="65000"/>
                  <a:lumOff val="35000"/>
                </a:prstClr>
              </a:solidFill>
              <a:latin typeface="+mn-lt"/>
              <a:ea typeface="+mn-ea"/>
              <a:cs typeface="+mn-cs"/>
            </a:defRPr>
          </a:pPr>
          <a:endParaRPr lang="es-CO"/>
        </a:p>
      </c:txPr>
    </c:title>
    <c:autoTitleDeleted val="0"/>
    <c:plotArea>
      <c:layout/>
      <c:barChart>
        <c:barDir val="col"/>
        <c:grouping val="clustered"/>
        <c:varyColors val="0"/>
        <c:ser>
          <c:idx val="0"/>
          <c:order val="0"/>
          <c:tx>
            <c:strRef>
              <c:f>'TOTAL DE CITAS'!$N$5</c:f>
              <c:strCache>
                <c:ptCount val="1"/>
                <c:pt idx="0">
                  <c:v>INOOS VALLE                   </c:v>
                </c:pt>
              </c:strCache>
            </c:strRef>
          </c:tx>
          <c:spPr>
            <a:solidFill>
              <a:schemeClr val="accent1"/>
            </a:solidFill>
            <a:ln>
              <a:noFill/>
            </a:ln>
            <a:effectLst/>
          </c:spPr>
          <c:invertIfNegative val="0"/>
          <c:dLbls>
            <c:dLbl>
              <c:idx val="6"/>
              <c:layout>
                <c:manualLayout>
                  <c:x val="2.2286378916172214E-3"/>
                  <c:y val="4.693378271506382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983B-4266-83E8-06744CC00B5E}"/>
                </c:ext>
              </c:extLst>
            </c:dLbl>
            <c:spPr>
              <a:noFill/>
              <a:ln>
                <a:noFill/>
              </a:ln>
              <a:effectLst/>
            </c:spPr>
            <c:txPr>
              <a:bodyPr rot="0" spcFirstLastPara="1" vertOverflow="ellipsis" vert="horz" wrap="square" lIns="38100" tIns="19050" rIns="38100" bIns="19050" anchor="ctr" anchorCtr="0">
                <a:spAutoFit/>
              </a:bodyPr>
              <a:lstStyle/>
              <a:p>
                <a:pPr algn="ctr">
                  <a:defRPr lang="en-US" sz="900" b="1" i="0" u="none" strike="noStrike" kern="1200" baseline="0">
                    <a:solidFill>
                      <a:schemeClr val="tx1">
                        <a:lumMod val="75000"/>
                        <a:lumOff val="25000"/>
                      </a:schemeClr>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'TOTAL DE CITAS'!$O$4:$W$4</c:f>
              <c:strCache>
                <c:ptCount val="9"/>
                <c:pt idx="0">
                  <c:v>ENERO</c:v>
                </c:pt>
                <c:pt idx="1">
                  <c:v>FEBRERO</c:v>
                </c:pt>
                <c:pt idx="2">
                  <c:v>MARZO</c:v>
                </c:pt>
                <c:pt idx="3">
                  <c:v>ABRIL</c:v>
                </c:pt>
                <c:pt idx="4">
                  <c:v>MAYO</c:v>
                </c:pt>
                <c:pt idx="5">
                  <c:v>JUNIO</c:v>
                </c:pt>
                <c:pt idx="6">
                  <c:v>JULIO</c:v>
                </c:pt>
                <c:pt idx="7">
                  <c:v>AGOSTO</c:v>
                </c:pt>
                <c:pt idx="8">
                  <c:v>SEPTIEMBRE</c:v>
                </c:pt>
              </c:strCache>
            </c:strRef>
          </c:cat>
          <c:val>
            <c:numRef>
              <c:f>'TOTAL DE CITAS'!$O$5:$W$5</c:f>
              <c:numCache>
                <c:formatCode>#,##0</c:formatCode>
                <c:ptCount val="9"/>
                <c:pt idx="0">
                  <c:v>4991</c:v>
                </c:pt>
                <c:pt idx="1">
                  <c:v>5375</c:v>
                </c:pt>
                <c:pt idx="2">
                  <c:v>5331</c:v>
                </c:pt>
                <c:pt idx="3">
                  <c:v>4945</c:v>
                </c:pt>
                <c:pt idx="4">
                  <c:v>4730</c:v>
                </c:pt>
                <c:pt idx="5">
                  <c:v>4536</c:v>
                </c:pt>
                <c:pt idx="6">
                  <c:v>1803</c:v>
                </c:pt>
                <c:pt idx="7">
                  <c:v>4370</c:v>
                </c:pt>
                <c:pt idx="8">
                  <c:v>5147</c:v>
                </c:pt>
              </c:numCache>
            </c:numRef>
          </c:val>
          <c:extLst>
            <c:ext xmlns:c16="http://schemas.microsoft.com/office/drawing/2014/chart" uri="{C3380CC4-5D6E-409C-BE32-E72D297353CC}">
              <c16:uniqueId val="{00000000-983B-4266-83E8-06744CC00B5E}"/>
            </c:ext>
          </c:extLst>
        </c:ser>
        <c:ser>
          <c:idx val="1"/>
          <c:order val="1"/>
          <c:tx>
            <c:strRef>
              <c:f>'TOTAL DE CITAS'!$N$6</c:f>
              <c:strCache>
                <c:ptCount val="1"/>
                <c:pt idx="0">
                  <c:v>INOOS CAUCA                   </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1" i="0" u="none" strike="noStrike" kern="1200" baseline="0">
                    <a:solidFill>
                      <a:schemeClr val="tx1">
                        <a:lumMod val="75000"/>
                        <a:lumOff val="25000"/>
                      </a:schemeClr>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'TOTAL DE CITAS'!$O$4:$W$4</c:f>
              <c:strCache>
                <c:ptCount val="9"/>
                <c:pt idx="0">
                  <c:v>ENERO</c:v>
                </c:pt>
                <c:pt idx="1">
                  <c:v>FEBRERO</c:v>
                </c:pt>
                <c:pt idx="2">
                  <c:v>MARZO</c:v>
                </c:pt>
                <c:pt idx="3">
                  <c:v>ABRIL</c:v>
                </c:pt>
                <c:pt idx="4">
                  <c:v>MAYO</c:v>
                </c:pt>
                <c:pt idx="5">
                  <c:v>JUNIO</c:v>
                </c:pt>
                <c:pt idx="6">
                  <c:v>JULIO</c:v>
                </c:pt>
                <c:pt idx="7">
                  <c:v>AGOSTO</c:v>
                </c:pt>
                <c:pt idx="8">
                  <c:v>SEPTIEMBRE</c:v>
                </c:pt>
              </c:strCache>
            </c:strRef>
          </c:cat>
          <c:val>
            <c:numRef>
              <c:f>'TOTAL DE CITAS'!$O$6:$W$6</c:f>
              <c:numCache>
                <c:formatCode>#,##0</c:formatCode>
                <c:ptCount val="9"/>
                <c:pt idx="0">
                  <c:v>2669</c:v>
                </c:pt>
                <c:pt idx="1">
                  <c:v>3249</c:v>
                </c:pt>
                <c:pt idx="2">
                  <c:v>3680</c:v>
                </c:pt>
                <c:pt idx="3">
                  <c:v>3305</c:v>
                </c:pt>
                <c:pt idx="4">
                  <c:v>2990</c:v>
                </c:pt>
                <c:pt idx="5">
                  <c:v>3471</c:v>
                </c:pt>
                <c:pt idx="6">
                  <c:v>1993</c:v>
                </c:pt>
                <c:pt idx="7">
                  <c:v>3272</c:v>
                </c:pt>
                <c:pt idx="8">
                  <c:v>3486</c:v>
                </c:pt>
              </c:numCache>
            </c:numRef>
          </c:val>
          <c:extLst>
            <c:ext xmlns:c16="http://schemas.microsoft.com/office/drawing/2014/chart" uri="{C3380CC4-5D6E-409C-BE32-E72D297353CC}">
              <c16:uniqueId val="{00000001-983B-4266-83E8-06744CC00B5E}"/>
            </c:ext>
          </c:extLst>
        </c:ser>
        <c:dLbls>
          <c:dLblPos val="outEnd"/>
          <c:showLegendKey val="0"/>
          <c:showVal val="1"/>
          <c:showCatName val="0"/>
          <c:showSerName val="0"/>
          <c:showPercent val="0"/>
          <c:showBubbleSize val="0"/>
        </c:dLbls>
        <c:gapWidth val="219"/>
        <c:overlap val="-27"/>
        <c:axId val="1719440752"/>
        <c:axId val="1792610160"/>
      </c:barChart>
      <c:catAx>
        <c:axId val="171944075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800" b="1" i="0" u="none" strike="noStrike" kern="1200" baseline="0">
                <a:solidFill>
                  <a:schemeClr val="tx1">
                    <a:lumMod val="65000"/>
                    <a:lumOff val="35000"/>
                  </a:schemeClr>
                </a:solidFill>
                <a:latin typeface="+mn-lt"/>
                <a:ea typeface="+mn-ea"/>
                <a:cs typeface="+mn-cs"/>
              </a:defRPr>
            </a:pPr>
            <a:endParaRPr lang="es-CO"/>
          </a:p>
        </c:txPr>
        <c:crossAx val="1792610160"/>
        <c:crosses val="autoZero"/>
        <c:auto val="1"/>
        <c:lblAlgn val="ctr"/>
        <c:lblOffset val="100"/>
        <c:noMultiLvlLbl val="0"/>
      </c:catAx>
      <c:valAx>
        <c:axId val="1792610160"/>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600" b="0" i="0" u="none" strike="noStrike" kern="1200" baseline="0">
                <a:solidFill>
                  <a:schemeClr val="bg1">
                    <a:lumMod val="85000"/>
                  </a:schemeClr>
                </a:solidFill>
                <a:latin typeface="+mn-lt"/>
                <a:ea typeface="+mn-ea"/>
                <a:cs typeface="+mn-cs"/>
              </a:defRPr>
            </a:pPr>
            <a:endParaRPr lang="es-CO"/>
          </a:p>
        </c:txPr>
        <c:crossAx val="17194407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lgn="ctr">
            <a:defRPr lang="en-US" sz="900" b="1"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4">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lgn="ctr" rtl="0">
              <a:defRPr lang="es-CO" sz="1400" b="1" i="0" u="none" strike="noStrike" kern="1200" spc="0" baseline="0">
                <a:solidFill>
                  <a:prstClr val="black">
                    <a:lumMod val="65000"/>
                    <a:lumOff val="35000"/>
                  </a:prstClr>
                </a:solidFill>
                <a:latin typeface="+mn-lt"/>
                <a:ea typeface="+mn-ea"/>
                <a:cs typeface="+mn-cs"/>
              </a:defRPr>
            </a:pPr>
            <a:r>
              <a:rPr lang="es-CO" sz="1400" b="1" i="0" u="none" strike="noStrike" kern="1200" spc="0" baseline="0">
                <a:solidFill>
                  <a:prstClr val="black">
                    <a:lumMod val="65000"/>
                    <a:lumOff val="35000"/>
                  </a:prstClr>
                </a:solidFill>
                <a:latin typeface="+mn-lt"/>
                <a:ea typeface="+mn-ea"/>
                <a:cs typeface="+mn-cs"/>
              </a:rPr>
              <a:t>TOTAL DE CITAS POR SEDE</a:t>
            </a:r>
          </a:p>
        </c:rich>
      </c:tx>
      <c:overlay val="0"/>
      <c:spPr>
        <a:noFill/>
        <a:ln>
          <a:noFill/>
        </a:ln>
        <a:effectLst/>
      </c:spPr>
      <c:txPr>
        <a:bodyPr rot="0" spcFirstLastPara="1" vertOverflow="ellipsis" vert="horz" wrap="square" anchor="ctr" anchorCtr="1"/>
        <a:lstStyle/>
        <a:p>
          <a:pPr algn="ctr" rtl="0">
            <a:defRPr lang="es-CO" sz="1400" b="1" i="0" u="none" strike="noStrike" kern="1200" spc="0" baseline="0">
              <a:solidFill>
                <a:prstClr val="black">
                  <a:lumMod val="65000"/>
                  <a:lumOff val="35000"/>
                </a:prstClr>
              </a:solidFill>
              <a:latin typeface="+mn-lt"/>
              <a:ea typeface="+mn-ea"/>
              <a:cs typeface="+mn-cs"/>
            </a:defRPr>
          </a:pPr>
          <a:endParaRPr lang="es-CO"/>
        </a:p>
      </c:txPr>
    </c:title>
    <c:autoTitleDeleted val="0"/>
    <c:plotArea>
      <c:layout/>
      <c:barChart>
        <c:barDir val="col"/>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1" i="0" u="none" strike="noStrike" kern="1200" baseline="0">
                    <a:solidFill>
                      <a:schemeClr val="tx1">
                        <a:lumMod val="75000"/>
                        <a:lumOff val="25000"/>
                      </a:schemeClr>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'TOTAL DE CITAS'!$Y$4:$Y$5</c:f>
              <c:strCache>
                <c:ptCount val="2"/>
                <c:pt idx="0">
                  <c:v>INOOS VALLE                   </c:v>
                </c:pt>
                <c:pt idx="1">
                  <c:v>INOOS CAUCA                   </c:v>
                </c:pt>
              </c:strCache>
            </c:strRef>
          </c:cat>
          <c:val>
            <c:numRef>
              <c:f>'TOTAL DE CITAS'!$Z$4:$Z$5</c:f>
              <c:numCache>
                <c:formatCode>#,##0</c:formatCode>
                <c:ptCount val="2"/>
                <c:pt idx="0">
                  <c:v>41228</c:v>
                </c:pt>
                <c:pt idx="1">
                  <c:v>28115</c:v>
                </c:pt>
              </c:numCache>
            </c:numRef>
          </c:val>
          <c:extLst>
            <c:ext xmlns:c16="http://schemas.microsoft.com/office/drawing/2014/chart" uri="{C3380CC4-5D6E-409C-BE32-E72D297353CC}">
              <c16:uniqueId val="{00000000-3B6C-436C-818A-A1BBCB368516}"/>
            </c:ext>
          </c:extLst>
        </c:ser>
        <c:dLbls>
          <c:dLblPos val="outEnd"/>
          <c:showLegendKey val="0"/>
          <c:showVal val="1"/>
          <c:showCatName val="0"/>
          <c:showSerName val="0"/>
          <c:showPercent val="0"/>
          <c:showBubbleSize val="0"/>
        </c:dLbls>
        <c:gapWidth val="219"/>
        <c:overlap val="-27"/>
        <c:axId val="1862644832"/>
        <c:axId val="1792623600"/>
      </c:barChart>
      <c:catAx>
        <c:axId val="186264483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900" b="1" i="0" u="none" strike="noStrike" kern="1200" baseline="0">
                <a:solidFill>
                  <a:schemeClr val="tx1">
                    <a:lumMod val="65000"/>
                    <a:lumOff val="35000"/>
                  </a:schemeClr>
                </a:solidFill>
                <a:latin typeface="+mn-lt"/>
                <a:ea typeface="+mn-ea"/>
                <a:cs typeface="+mn-cs"/>
              </a:defRPr>
            </a:pPr>
            <a:endParaRPr lang="es-CO"/>
          </a:p>
        </c:txPr>
        <c:crossAx val="1792623600"/>
        <c:crosses val="autoZero"/>
        <c:auto val="1"/>
        <c:lblAlgn val="ctr"/>
        <c:lblOffset val="100"/>
        <c:noMultiLvlLbl val="0"/>
      </c:catAx>
      <c:valAx>
        <c:axId val="1792623600"/>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86264483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s-CO"/>
    </a:p>
  </c:txPr>
  <c:externalData r:id="rId4">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s-CO" sz="1400" b="1" i="0" u="none" strike="noStrike" kern="1200" spc="0" baseline="0">
                <a:solidFill>
                  <a:prstClr val="black">
                    <a:lumMod val="65000"/>
                    <a:lumOff val="35000"/>
                  </a:prstClr>
                </a:solidFill>
              </a:rPr>
              <a:t>INOOS VALLE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pieChart>
        <c:varyColors val="1"/>
        <c:ser>
          <c:idx val="0"/>
          <c:order val="0"/>
          <c:spPr>
            <a:solidFill>
              <a:srgbClr val="80589F"/>
            </a:solidFill>
            <a:ln>
              <a:noFill/>
            </a:ln>
          </c:spPr>
          <c:dPt>
            <c:idx val="0"/>
            <c:bubble3D val="0"/>
            <c:spPr>
              <a:solidFill>
                <a:srgbClr val="FFFFFF">
                  <a:lumMod val="50000"/>
                </a:srgbClr>
              </a:solidFill>
              <a:ln w="19050">
                <a:noFill/>
              </a:ln>
              <a:effectLst/>
            </c:spPr>
            <c:extLst>
              <c:ext xmlns:c16="http://schemas.microsoft.com/office/drawing/2014/chart" uri="{C3380CC4-5D6E-409C-BE32-E72D297353CC}">
                <c16:uniqueId val="{00000001-02B4-4CEB-8EBD-7051442473A1}"/>
              </c:ext>
            </c:extLst>
          </c:dPt>
          <c:dPt>
            <c:idx val="1"/>
            <c:bubble3D val="0"/>
            <c:spPr>
              <a:solidFill>
                <a:srgbClr val="00A19C"/>
              </a:solidFill>
              <a:ln w="19050">
                <a:noFill/>
              </a:ln>
              <a:effectLst/>
            </c:spPr>
            <c:extLst>
              <c:ext xmlns:c16="http://schemas.microsoft.com/office/drawing/2014/chart" uri="{C3380CC4-5D6E-409C-BE32-E72D297353CC}">
                <c16:uniqueId val="{00000003-02B4-4CEB-8EBD-7051442473A1}"/>
              </c:ext>
            </c:extLst>
          </c:dPt>
          <c:dLbls>
            <c:spPr>
              <a:noFill/>
              <a:ln>
                <a:noFill/>
              </a:ln>
              <a:effectLst/>
            </c:spPr>
            <c:txPr>
              <a:bodyPr rot="0" spcFirstLastPara="1" vertOverflow="ellipsis" vert="horz" wrap="square" lIns="38100" tIns="19050" rIns="38100" bIns="19050" anchor="ctr" anchorCtr="0">
                <a:spAutoFit/>
              </a:bodyPr>
              <a:lstStyle/>
              <a:p>
                <a:pPr algn="ctr">
                  <a:defRPr lang="en-US" sz="900" b="1" i="0" u="none" strike="noStrike" kern="1200" baseline="0">
                    <a:solidFill>
                      <a:schemeClr val="bg1"/>
                    </a:solidFill>
                    <a:latin typeface="+mn-lt"/>
                    <a:ea typeface="+mn-ea"/>
                    <a:cs typeface="+mn-cs"/>
                  </a:defRPr>
                </a:pPr>
                <a:endParaRPr lang="es-CO"/>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'TOTAL DE CITAS'!$A$95:$A$96</c:f>
              <c:strCache>
                <c:ptCount val="2"/>
                <c:pt idx="0">
                  <c:v>1ERA VEZ</c:v>
                </c:pt>
                <c:pt idx="1">
                  <c:v>CONTROL</c:v>
                </c:pt>
              </c:strCache>
            </c:strRef>
          </c:cat>
          <c:val>
            <c:numRef>
              <c:f>'TOTAL DE CITAS'!$B$95:$B$96</c:f>
              <c:numCache>
                <c:formatCode>0%</c:formatCode>
                <c:ptCount val="2"/>
                <c:pt idx="0">
                  <c:v>0.31814981182469343</c:v>
                </c:pt>
                <c:pt idx="1">
                  <c:v>0.68185018817530652</c:v>
                </c:pt>
              </c:numCache>
            </c:numRef>
          </c:val>
          <c:extLst>
            <c:ext xmlns:c16="http://schemas.microsoft.com/office/drawing/2014/chart" uri="{C3380CC4-5D6E-409C-BE32-E72D297353CC}">
              <c16:uniqueId val="{00000004-A06C-4844-9C31-06DDD29F9146}"/>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lang="en-US" sz="900" b="1"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4">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s-CO" sz="1400" b="1" i="0" u="none" strike="noStrike" kern="1200" spc="0" baseline="0">
                <a:solidFill>
                  <a:prstClr val="black">
                    <a:lumMod val="65000"/>
                    <a:lumOff val="35000"/>
                  </a:prstClr>
                </a:solidFill>
              </a:rPr>
              <a:t>INOOS CAUCA</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pieChart>
        <c:varyColors val="1"/>
        <c:ser>
          <c:idx val="0"/>
          <c:order val="0"/>
          <c:spPr>
            <a:solidFill>
              <a:srgbClr val="FFFFFF">
                <a:lumMod val="50000"/>
              </a:srgbClr>
            </a:solidFill>
            <a:ln>
              <a:noFill/>
            </a:ln>
          </c:spPr>
          <c:dPt>
            <c:idx val="0"/>
            <c:bubble3D val="0"/>
            <c:spPr>
              <a:solidFill>
                <a:srgbClr val="FFFFFF">
                  <a:lumMod val="50000"/>
                </a:srgbClr>
              </a:solidFill>
              <a:ln w="19050">
                <a:noFill/>
              </a:ln>
              <a:effectLst/>
            </c:spPr>
            <c:extLst>
              <c:ext xmlns:c16="http://schemas.microsoft.com/office/drawing/2014/chart" uri="{C3380CC4-5D6E-409C-BE32-E72D297353CC}">
                <c16:uniqueId val="{00000001-289F-4198-A7D6-FDB92942A39D}"/>
              </c:ext>
            </c:extLst>
          </c:dPt>
          <c:dPt>
            <c:idx val="1"/>
            <c:bubble3D val="0"/>
            <c:spPr>
              <a:solidFill>
                <a:srgbClr val="00A19C"/>
              </a:solidFill>
              <a:ln w="19050">
                <a:noFill/>
              </a:ln>
              <a:effectLst/>
            </c:spPr>
            <c:extLst>
              <c:ext xmlns:c16="http://schemas.microsoft.com/office/drawing/2014/chart" uri="{C3380CC4-5D6E-409C-BE32-E72D297353CC}">
                <c16:uniqueId val="{00000003-289F-4198-A7D6-FDB92942A39D}"/>
              </c:ext>
            </c:extLst>
          </c:dPt>
          <c:dLbls>
            <c:spPr>
              <a:noFill/>
              <a:ln>
                <a:noFill/>
              </a:ln>
              <a:effectLst/>
            </c:spPr>
            <c:txPr>
              <a:bodyPr rot="0" spcFirstLastPara="1" vertOverflow="ellipsis" vert="horz" wrap="square" lIns="38100" tIns="19050" rIns="38100" bIns="19050" anchor="ctr" anchorCtr="0">
                <a:spAutoFit/>
              </a:bodyPr>
              <a:lstStyle/>
              <a:p>
                <a:pPr algn="ctr">
                  <a:defRPr lang="en-US" sz="900" b="1" i="0" u="none" strike="noStrike" kern="1200" baseline="0">
                    <a:solidFill>
                      <a:schemeClr val="bg1"/>
                    </a:solidFill>
                    <a:latin typeface="+mn-lt"/>
                    <a:ea typeface="+mn-ea"/>
                    <a:cs typeface="+mn-cs"/>
                  </a:defRPr>
                </a:pPr>
                <a:endParaRPr lang="es-CO"/>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'TOTAL DE CITAS'!$A$100:$A$101</c:f>
              <c:strCache>
                <c:ptCount val="2"/>
                <c:pt idx="0">
                  <c:v>1ERA VEZ</c:v>
                </c:pt>
                <c:pt idx="1">
                  <c:v>CONTROL</c:v>
                </c:pt>
              </c:strCache>
            </c:strRef>
          </c:cat>
          <c:val>
            <c:numRef>
              <c:f>'TOTAL DE CITAS'!$B$100:$B$101</c:f>
              <c:numCache>
                <c:formatCode>0%</c:formatCode>
                <c:ptCount val="2"/>
                <c:pt idx="0">
                  <c:v>0.12441557514543702</c:v>
                </c:pt>
                <c:pt idx="1">
                  <c:v>0.875584424854563</c:v>
                </c:pt>
              </c:numCache>
            </c:numRef>
          </c:val>
          <c:extLst>
            <c:ext xmlns:c16="http://schemas.microsoft.com/office/drawing/2014/chart" uri="{C3380CC4-5D6E-409C-BE32-E72D297353CC}">
              <c16:uniqueId val="{00000004-3EED-4E8F-90C5-79F78F8A9D70}"/>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lang="en-US" sz="900" b="1"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4">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s-CO" sz="1400" b="1" i="0" u="none" strike="noStrike" kern="1200" spc="0" baseline="0">
                <a:solidFill>
                  <a:prstClr val="black">
                    <a:lumMod val="65000"/>
                    <a:lumOff val="35000"/>
                  </a:prstClr>
                </a:solidFill>
              </a:rPr>
              <a:t>TOTAL ESTADOS CITA 2026</a:t>
            </a:r>
          </a:p>
        </c:rich>
      </c:tx>
      <c:layout>
        <c:manualLayout>
          <c:xMode val="edge"/>
          <c:yMode val="edge"/>
          <c:x val="0.33050889693048646"/>
          <c:y val="3.6052383261247489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'TOTAL DE CITAS'!$O$25</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1"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'TOTAL DE CITAS'!$N$26:$N$28</c:f>
              <c:strCache>
                <c:ptCount val="3"/>
                <c:pt idx="0">
                  <c:v>FACTURADA</c:v>
                </c:pt>
                <c:pt idx="1">
                  <c:v>CANCELADA</c:v>
                </c:pt>
                <c:pt idx="2">
                  <c:v>INCUMPLIDA</c:v>
                </c:pt>
              </c:strCache>
            </c:strRef>
          </c:cat>
          <c:val>
            <c:numRef>
              <c:f>'TOTAL DE CITAS'!$O$26:$O$28</c:f>
              <c:numCache>
                <c:formatCode>#,##0</c:formatCode>
                <c:ptCount val="3"/>
                <c:pt idx="0">
                  <c:v>55025</c:v>
                </c:pt>
                <c:pt idx="1">
                  <c:v>8578</c:v>
                </c:pt>
                <c:pt idx="2">
                  <c:v>5740</c:v>
                </c:pt>
              </c:numCache>
            </c:numRef>
          </c:val>
          <c:extLst>
            <c:ext xmlns:c16="http://schemas.microsoft.com/office/drawing/2014/chart" uri="{C3380CC4-5D6E-409C-BE32-E72D297353CC}">
              <c16:uniqueId val="{00000000-7829-4F13-9858-431B4FA54059}"/>
            </c:ext>
          </c:extLst>
        </c:ser>
        <c:dLbls>
          <c:showLegendKey val="0"/>
          <c:showVal val="1"/>
          <c:showCatName val="0"/>
          <c:showSerName val="0"/>
          <c:showPercent val="0"/>
          <c:showBubbleSize val="0"/>
        </c:dLbls>
        <c:gapWidth val="219"/>
        <c:overlap val="-27"/>
        <c:axId val="431889248"/>
        <c:axId val="1792517040"/>
      </c:barChart>
      <c:lineChart>
        <c:grouping val="standard"/>
        <c:varyColors val="0"/>
        <c:ser>
          <c:idx val="1"/>
          <c:order val="1"/>
          <c:tx>
            <c:strRef>
              <c:f>'TOTAL DE CITAS'!$P$25</c:f>
              <c:strCache>
                <c:ptCount val="1"/>
                <c:pt idx="0">
                  <c:v>%</c:v>
                </c:pt>
              </c:strCache>
            </c:strRef>
          </c:tx>
          <c:spPr>
            <a:ln w="28575" cap="rnd">
              <a:solidFill>
                <a:schemeClr val="accent2"/>
              </a:solidFill>
              <a:round/>
            </a:ln>
            <a:effectLst/>
          </c:spPr>
          <c:marker>
            <c:symbol val="none"/>
          </c:marker>
          <c:dLbls>
            <c:dLbl>
              <c:idx val="0"/>
              <c:layout>
                <c:manualLayout>
                  <c:x val="2.4689149993390308E-2"/>
                  <c:y val="-0.1009466731314930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829-4F13-9858-431B4FA54059}"/>
                </c:ext>
              </c:extLst>
            </c:dLbl>
            <c:dLbl>
              <c:idx val="1"/>
              <c:layout>
                <c:manualLayout>
                  <c:x val="3.3667022718259505E-2"/>
                  <c:y val="-0.10094667313149304"/>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829-4F13-9858-431B4FA54059}"/>
                </c:ext>
              </c:extLst>
            </c:dLbl>
            <c:dLbl>
              <c:idx val="2"/>
              <c:layout>
                <c:manualLayout>
                  <c:x val="1.5711277268521104E-2"/>
                  <c:y val="-7.931524317474447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829-4F13-9858-431B4FA54059}"/>
                </c:ext>
              </c:extLst>
            </c:dLbl>
            <c:spPr>
              <a:noFill/>
              <a:ln>
                <a:noFill/>
              </a:ln>
              <a:effectLst/>
            </c:spPr>
            <c:txPr>
              <a:bodyPr rot="0" spcFirstLastPara="1" vertOverflow="ellipsis" vert="horz" wrap="square" lIns="38100" tIns="19050" rIns="38100" bIns="19050" anchor="ctr" anchorCtr="0">
                <a:spAutoFit/>
              </a:bodyPr>
              <a:lstStyle/>
              <a:p>
                <a:pPr algn="ctr">
                  <a:defRPr lang="en-US" sz="900" b="1" i="0" u="none" strike="noStrike" kern="1200" baseline="0">
                    <a:solidFill>
                      <a:srgbClr val="00A19C"/>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'TOTAL DE CITAS'!$N$26:$N$28</c:f>
              <c:strCache>
                <c:ptCount val="3"/>
                <c:pt idx="0">
                  <c:v>FACTURADA</c:v>
                </c:pt>
                <c:pt idx="1">
                  <c:v>CANCELADA</c:v>
                </c:pt>
                <c:pt idx="2">
                  <c:v>INCUMPLIDA</c:v>
                </c:pt>
              </c:strCache>
            </c:strRef>
          </c:cat>
          <c:val>
            <c:numRef>
              <c:f>'TOTAL DE CITAS'!$P$26:$P$28</c:f>
              <c:numCache>
                <c:formatCode>0%</c:formatCode>
                <c:ptCount val="3"/>
                <c:pt idx="0">
                  <c:v>0.7935191728076374</c:v>
                </c:pt>
                <c:pt idx="1">
                  <c:v>0.12370390666685895</c:v>
                </c:pt>
                <c:pt idx="2">
                  <c:v>8.2776920525503658E-2</c:v>
                </c:pt>
              </c:numCache>
            </c:numRef>
          </c:val>
          <c:smooth val="0"/>
          <c:extLst>
            <c:ext xmlns:c16="http://schemas.microsoft.com/office/drawing/2014/chart" uri="{C3380CC4-5D6E-409C-BE32-E72D297353CC}">
              <c16:uniqueId val="{00000001-7829-4F13-9858-431B4FA54059}"/>
            </c:ext>
          </c:extLst>
        </c:ser>
        <c:dLbls>
          <c:showLegendKey val="0"/>
          <c:showVal val="1"/>
          <c:showCatName val="0"/>
          <c:showSerName val="0"/>
          <c:showPercent val="0"/>
          <c:showBubbleSize val="0"/>
        </c:dLbls>
        <c:marker val="1"/>
        <c:smooth val="0"/>
        <c:axId val="431893888"/>
        <c:axId val="1792503600"/>
      </c:lineChart>
      <c:catAx>
        <c:axId val="43188924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s-CO"/>
          </a:p>
        </c:txPr>
        <c:crossAx val="1792517040"/>
        <c:crosses val="autoZero"/>
        <c:auto val="1"/>
        <c:lblAlgn val="ctr"/>
        <c:lblOffset val="100"/>
        <c:noMultiLvlLbl val="0"/>
      </c:catAx>
      <c:valAx>
        <c:axId val="1792517040"/>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700" b="1" i="0" u="none" strike="noStrike" kern="1200" baseline="0">
                <a:solidFill>
                  <a:schemeClr val="bg1">
                    <a:lumMod val="85000"/>
                  </a:schemeClr>
                </a:solidFill>
                <a:latin typeface="+mn-lt"/>
                <a:ea typeface="+mn-ea"/>
                <a:cs typeface="+mn-cs"/>
              </a:defRPr>
            </a:pPr>
            <a:endParaRPr lang="es-CO"/>
          </a:p>
        </c:txPr>
        <c:crossAx val="431889248"/>
        <c:crosses val="autoZero"/>
        <c:crossBetween val="between"/>
      </c:valAx>
      <c:valAx>
        <c:axId val="1792503600"/>
        <c:scaling>
          <c:orientation val="minMax"/>
        </c:scaling>
        <c:delete val="0"/>
        <c:axPos val="r"/>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700" b="1" i="0" u="none" strike="noStrike" kern="1200" baseline="0">
                <a:solidFill>
                  <a:schemeClr val="bg1">
                    <a:lumMod val="85000"/>
                  </a:schemeClr>
                </a:solidFill>
                <a:latin typeface="+mn-lt"/>
                <a:ea typeface="+mn-ea"/>
                <a:cs typeface="+mn-cs"/>
              </a:defRPr>
            </a:pPr>
            <a:endParaRPr lang="es-CO"/>
          </a:p>
        </c:txPr>
        <c:crossAx val="431893888"/>
        <c:crosses val="max"/>
        <c:crossBetween val="between"/>
      </c:valAx>
      <c:catAx>
        <c:axId val="431893888"/>
        <c:scaling>
          <c:orientation val="minMax"/>
        </c:scaling>
        <c:delete val="1"/>
        <c:axPos val="b"/>
        <c:numFmt formatCode="General" sourceLinked="1"/>
        <c:majorTickMark val="none"/>
        <c:minorTickMark val="none"/>
        <c:tickLblPos val="nextTo"/>
        <c:crossAx val="1792503600"/>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lgn="ctr">
            <a:defRPr lang="en-US" sz="900" b="1"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4">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s-CO" sz="1400" b="1" i="0" u="none" strike="noStrike" kern="1200" spc="0" baseline="0">
                <a:solidFill>
                  <a:prstClr val="black">
                    <a:lumMod val="65000"/>
                    <a:lumOff val="35000"/>
                  </a:prstClr>
                </a:solidFill>
              </a:rPr>
              <a:t>ESTADOS DE CITAS INOOS 2026</a:t>
            </a:r>
          </a:p>
        </c:rich>
      </c:tx>
      <c:layout>
        <c:manualLayout>
          <c:xMode val="edge"/>
          <c:yMode val="edge"/>
          <c:x val="0.36099196490729724"/>
          <c:y val="4.1666666666666664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'TOTAL DE CITAS'!$N$40</c:f>
              <c:strCache>
                <c:ptCount val="1"/>
                <c:pt idx="0">
                  <c:v>FACTURADA</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1" i="0" u="none" strike="noStrike" kern="1200" baseline="0">
                    <a:solidFill>
                      <a:schemeClr val="tx1">
                        <a:lumMod val="75000"/>
                        <a:lumOff val="25000"/>
                      </a:schemeClr>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'TOTAL DE CITAS'!$O$39:$W$39</c:f>
              <c:strCache>
                <c:ptCount val="9"/>
                <c:pt idx="0">
                  <c:v>ENERO</c:v>
                </c:pt>
                <c:pt idx="1">
                  <c:v>FEBRERO</c:v>
                </c:pt>
                <c:pt idx="2">
                  <c:v>MARZO</c:v>
                </c:pt>
                <c:pt idx="3">
                  <c:v>ABRIL</c:v>
                </c:pt>
                <c:pt idx="4">
                  <c:v>MAYO</c:v>
                </c:pt>
                <c:pt idx="5">
                  <c:v>JUNIO</c:v>
                </c:pt>
                <c:pt idx="6">
                  <c:v>JULIO</c:v>
                </c:pt>
                <c:pt idx="7">
                  <c:v>AGOSTO</c:v>
                </c:pt>
                <c:pt idx="8">
                  <c:v>SEPTIEMBRE</c:v>
                </c:pt>
              </c:strCache>
            </c:strRef>
          </c:cat>
          <c:val>
            <c:numRef>
              <c:f>'TOTAL DE CITAS'!$O$40:$W$40</c:f>
              <c:numCache>
                <c:formatCode>#,##0</c:formatCode>
                <c:ptCount val="9"/>
                <c:pt idx="0">
                  <c:v>6184</c:v>
                </c:pt>
                <c:pt idx="1">
                  <c:v>6895</c:v>
                </c:pt>
                <c:pt idx="2">
                  <c:v>7421</c:v>
                </c:pt>
                <c:pt idx="3">
                  <c:v>6663</c:v>
                </c:pt>
                <c:pt idx="4">
                  <c:v>6159</c:v>
                </c:pt>
                <c:pt idx="5">
                  <c:v>6141</c:v>
                </c:pt>
                <c:pt idx="6">
                  <c:v>3127</c:v>
                </c:pt>
                <c:pt idx="7">
                  <c:v>5534</c:v>
                </c:pt>
                <c:pt idx="8">
                  <c:v>6901</c:v>
                </c:pt>
              </c:numCache>
            </c:numRef>
          </c:val>
          <c:extLst>
            <c:ext xmlns:c16="http://schemas.microsoft.com/office/drawing/2014/chart" uri="{C3380CC4-5D6E-409C-BE32-E72D297353CC}">
              <c16:uniqueId val="{00000000-3D2A-4A9C-83C7-3DAD39702C85}"/>
            </c:ext>
          </c:extLst>
        </c:ser>
        <c:ser>
          <c:idx val="1"/>
          <c:order val="1"/>
          <c:tx>
            <c:strRef>
              <c:f>'TOTAL DE CITAS'!$N$41</c:f>
              <c:strCache>
                <c:ptCount val="1"/>
                <c:pt idx="0">
                  <c:v>CANCELADA</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1" i="0" u="none" strike="noStrike" kern="1200" baseline="0">
                    <a:solidFill>
                      <a:schemeClr val="tx1">
                        <a:lumMod val="75000"/>
                        <a:lumOff val="25000"/>
                      </a:schemeClr>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'TOTAL DE CITAS'!$O$39:$W$39</c:f>
              <c:strCache>
                <c:ptCount val="9"/>
                <c:pt idx="0">
                  <c:v>ENERO</c:v>
                </c:pt>
                <c:pt idx="1">
                  <c:v>FEBRERO</c:v>
                </c:pt>
                <c:pt idx="2">
                  <c:v>MARZO</c:v>
                </c:pt>
                <c:pt idx="3">
                  <c:v>ABRIL</c:v>
                </c:pt>
                <c:pt idx="4">
                  <c:v>MAYO</c:v>
                </c:pt>
                <c:pt idx="5">
                  <c:v>JUNIO</c:v>
                </c:pt>
                <c:pt idx="6">
                  <c:v>JULIO</c:v>
                </c:pt>
                <c:pt idx="7">
                  <c:v>AGOSTO</c:v>
                </c:pt>
                <c:pt idx="8">
                  <c:v>SEPTIEMBRE</c:v>
                </c:pt>
              </c:strCache>
            </c:strRef>
          </c:cat>
          <c:val>
            <c:numRef>
              <c:f>'TOTAL DE CITAS'!$O$41:$W$41</c:f>
              <c:numCache>
                <c:formatCode>#,##0</c:formatCode>
                <c:ptCount val="9"/>
                <c:pt idx="0">
                  <c:v>838</c:v>
                </c:pt>
                <c:pt idx="1">
                  <c:v>1112</c:v>
                </c:pt>
                <c:pt idx="2">
                  <c:v>898</c:v>
                </c:pt>
                <c:pt idx="3">
                  <c:v>938</c:v>
                </c:pt>
                <c:pt idx="4">
                  <c:v>928</c:v>
                </c:pt>
                <c:pt idx="5">
                  <c:v>1228</c:v>
                </c:pt>
                <c:pt idx="6">
                  <c:v>381</c:v>
                </c:pt>
                <c:pt idx="7">
                  <c:v>1324</c:v>
                </c:pt>
                <c:pt idx="8">
                  <c:v>931</c:v>
                </c:pt>
              </c:numCache>
            </c:numRef>
          </c:val>
          <c:extLst>
            <c:ext xmlns:c16="http://schemas.microsoft.com/office/drawing/2014/chart" uri="{C3380CC4-5D6E-409C-BE32-E72D297353CC}">
              <c16:uniqueId val="{00000001-3D2A-4A9C-83C7-3DAD39702C85}"/>
            </c:ext>
          </c:extLst>
        </c:ser>
        <c:ser>
          <c:idx val="2"/>
          <c:order val="2"/>
          <c:tx>
            <c:strRef>
              <c:f>'TOTAL DE CITAS'!$N$42</c:f>
              <c:strCache>
                <c:ptCount val="1"/>
                <c:pt idx="0">
                  <c:v>INCUMPLIDA</c:v>
                </c:pt>
              </c:strCache>
            </c:strRef>
          </c:tx>
          <c:spPr>
            <a:solidFill>
              <a:schemeClr val="accent3"/>
            </a:solidFill>
            <a:ln>
              <a:noFill/>
            </a:ln>
            <a:effectLst/>
          </c:spPr>
          <c:invertIfNegative val="0"/>
          <c:dLbls>
            <c:dLbl>
              <c:idx val="0"/>
              <c:layout>
                <c:manualLayout>
                  <c:x val="4.3799235341223436E-3"/>
                  <c:y val="2.971072978442175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D2A-4A9C-83C7-3DAD39702C85}"/>
                </c:ext>
              </c:extLst>
            </c:dLbl>
            <c:dLbl>
              <c:idx val="1"/>
              <c:layout>
                <c:manualLayout>
                  <c:x val="2.1899617670611818E-3"/>
                  <c:y val="2.971072978442175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D2A-4A9C-83C7-3DAD39702C85}"/>
                </c:ext>
              </c:extLst>
            </c:dLbl>
            <c:dLbl>
              <c:idx val="2"/>
              <c:layout>
                <c:manualLayout>
                  <c:x val="4.3799235341223236E-3"/>
                  <c:y val="2.971072978442168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3D2A-4A9C-83C7-3DAD39702C85}"/>
                </c:ext>
              </c:extLst>
            </c:dLbl>
            <c:dLbl>
              <c:idx val="3"/>
              <c:layout>
                <c:manualLayout>
                  <c:x val="4.3799235341223635E-3"/>
                  <c:y val="2.971072978442168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3D2A-4A9C-83C7-3DAD39702C85}"/>
                </c:ext>
              </c:extLst>
            </c:dLbl>
            <c:dLbl>
              <c:idx val="4"/>
              <c:layout>
                <c:manualLayout>
                  <c:x val="6.5698853011835453E-3"/>
                  <c:y val="2.971072978442168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3D2A-4A9C-83C7-3DAD39702C85}"/>
                </c:ext>
              </c:extLst>
            </c:dLbl>
            <c:dLbl>
              <c:idx val="5"/>
              <c:layout>
                <c:manualLayout>
                  <c:x val="2.1899617670611818E-3"/>
                  <c:y val="2.971072978442175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3D2A-4A9C-83C7-3DAD39702C85}"/>
                </c:ext>
              </c:extLst>
            </c:dLbl>
            <c:dLbl>
              <c:idx val="6"/>
              <c:layout>
                <c:manualLayout>
                  <c:x val="8.7598470682445657E-3"/>
                  <c:y val="1.485536489221080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3D2A-4A9C-83C7-3DAD39702C85}"/>
                </c:ext>
              </c:extLst>
            </c:dLbl>
            <c:dLbl>
              <c:idx val="7"/>
              <c:layout>
                <c:manualLayout>
                  <c:x val="6.5698853011835453E-3"/>
                  <c:y val="3.713841223052712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3D2A-4A9C-83C7-3DAD39702C85}"/>
                </c:ext>
              </c:extLst>
            </c:dLbl>
            <c:dLbl>
              <c:idx val="8"/>
              <c:layout>
                <c:manualLayout>
                  <c:x val="2.1899617670610213E-3"/>
                  <c:y val="3.713841223052712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3D2A-4A9C-83C7-3DAD39702C85}"/>
                </c:ext>
              </c:extLst>
            </c:dLbl>
            <c:spPr>
              <a:noFill/>
              <a:ln>
                <a:noFill/>
              </a:ln>
              <a:effectLst/>
            </c:spPr>
            <c:txPr>
              <a:bodyPr rot="0" spcFirstLastPara="1" vertOverflow="ellipsis" vert="horz" wrap="square" lIns="38100" tIns="19050" rIns="38100" bIns="19050" anchor="ctr" anchorCtr="0">
                <a:spAutoFit/>
              </a:bodyPr>
              <a:lstStyle/>
              <a:p>
                <a:pPr algn="ctr">
                  <a:defRPr lang="en-US" sz="900" b="1" i="0" u="none" strike="noStrike" kern="1200" baseline="0">
                    <a:solidFill>
                      <a:schemeClr val="tx1">
                        <a:lumMod val="75000"/>
                        <a:lumOff val="25000"/>
                      </a:schemeClr>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'TOTAL DE CITAS'!$O$39:$W$39</c:f>
              <c:strCache>
                <c:ptCount val="9"/>
                <c:pt idx="0">
                  <c:v>ENERO</c:v>
                </c:pt>
                <c:pt idx="1">
                  <c:v>FEBRERO</c:v>
                </c:pt>
                <c:pt idx="2">
                  <c:v>MARZO</c:v>
                </c:pt>
                <c:pt idx="3">
                  <c:v>ABRIL</c:v>
                </c:pt>
                <c:pt idx="4">
                  <c:v>MAYO</c:v>
                </c:pt>
                <c:pt idx="5">
                  <c:v>JUNIO</c:v>
                </c:pt>
                <c:pt idx="6">
                  <c:v>JULIO</c:v>
                </c:pt>
                <c:pt idx="7">
                  <c:v>AGOSTO</c:v>
                </c:pt>
                <c:pt idx="8">
                  <c:v>SEPTIEMBRE</c:v>
                </c:pt>
              </c:strCache>
            </c:strRef>
          </c:cat>
          <c:val>
            <c:numRef>
              <c:f>'TOTAL DE CITAS'!$O$42:$W$42</c:f>
              <c:numCache>
                <c:formatCode>#,##0</c:formatCode>
                <c:ptCount val="9"/>
                <c:pt idx="0">
                  <c:v>638</c:v>
                </c:pt>
                <c:pt idx="1">
                  <c:v>617</c:v>
                </c:pt>
                <c:pt idx="2">
                  <c:v>692</c:v>
                </c:pt>
                <c:pt idx="3">
                  <c:v>649</c:v>
                </c:pt>
                <c:pt idx="4">
                  <c:v>633</c:v>
                </c:pt>
                <c:pt idx="5">
                  <c:v>638</c:v>
                </c:pt>
                <c:pt idx="6">
                  <c:v>288</c:v>
                </c:pt>
                <c:pt idx="7">
                  <c:v>784</c:v>
                </c:pt>
                <c:pt idx="8">
                  <c:v>801</c:v>
                </c:pt>
              </c:numCache>
            </c:numRef>
          </c:val>
          <c:extLst>
            <c:ext xmlns:c16="http://schemas.microsoft.com/office/drawing/2014/chart" uri="{C3380CC4-5D6E-409C-BE32-E72D297353CC}">
              <c16:uniqueId val="{00000002-3D2A-4A9C-83C7-3DAD39702C85}"/>
            </c:ext>
          </c:extLst>
        </c:ser>
        <c:dLbls>
          <c:dLblPos val="outEnd"/>
          <c:showLegendKey val="0"/>
          <c:showVal val="1"/>
          <c:showCatName val="0"/>
          <c:showSerName val="0"/>
          <c:showPercent val="0"/>
          <c:showBubbleSize val="0"/>
        </c:dLbls>
        <c:gapWidth val="219"/>
        <c:overlap val="-27"/>
        <c:axId val="431822432"/>
        <c:axId val="1792682640"/>
      </c:barChart>
      <c:catAx>
        <c:axId val="43182243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800" b="1" i="0" u="none" strike="noStrike" kern="1200" baseline="0">
                <a:solidFill>
                  <a:schemeClr val="tx1">
                    <a:lumMod val="65000"/>
                    <a:lumOff val="35000"/>
                  </a:schemeClr>
                </a:solidFill>
                <a:latin typeface="+mn-lt"/>
                <a:ea typeface="+mn-ea"/>
                <a:cs typeface="+mn-cs"/>
              </a:defRPr>
            </a:pPr>
            <a:endParaRPr lang="es-CO"/>
          </a:p>
        </c:txPr>
        <c:crossAx val="1792682640"/>
        <c:crosses val="autoZero"/>
        <c:auto val="1"/>
        <c:lblAlgn val="ctr"/>
        <c:lblOffset val="100"/>
        <c:noMultiLvlLbl val="0"/>
      </c:catAx>
      <c:valAx>
        <c:axId val="1792682640"/>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700" b="1" i="0" u="none" strike="noStrike" kern="1200" baseline="0">
                <a:solidFill>
                  <a:schemeClr val="bg1">
                    <a:lumMod val="85000"/>
                  </a:schemeClr>
                </a:solidFill>
                <a:latin typeface="+mn-lt"/>
                <a:ea typeface="+mn-ea"/>
                <a:cs typeface="+mn-cs"/>
              </a:defRPr>
            </a:pPr>
            <a:endParaRPr lang="es-CO"/>
          </a:p>
        </c:txPr>
        <c:crossAx val="43182243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lgn="ctr">
            <a:defRPr lang="en-US" sz="900" b="1"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4">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lgn="ctr" rtl="0">
              <a:defRPr lang="es-CO" sz="1400" b="1" i="0" u="sng" strike="noStrike" kern="1200" spc="0" baseline="0" dirty="0">
                <a:solidFill>
                  <a:schemeClr val="bg1">
                    <a:lumMod val="50000"/>
                  </a:schemeClr>
                </a:solidFill>
                <a:latin typeface="+mn-lt"/>
                <a:ea typeface="+mn-ea"/>
                <a:cs typeface="+mn-cs"/>
              </a:defRPr>
            </a:pPr>
            <a:r>
              <a:rPr lang="es-CO" sz="1400" b="1" i="0" u="sng" strike="noStrike" kern="1200" spc="0" baseline="0">
                <a:solidFill>
                  <a:schemeClr val="bg1">
                    <a:lumMod val="50000"/>
                  </a:schemeClr>
                </a:solidFill>
                <a:latin typeface="+mn-lt"/>
                <a:ea typeface="+mn-ea"/>
                <a:cs typeface="+mn-cs"/>
              </a:rPr>
              <a:t>% RESPUESTA &lt; 2HORAS</a:t>
            </a:r>
          </a:p>
        </c:rich>
      </c:tx>
      <c:layout>
        <c:manualLayout>
          <c:xMode val="edge"/>
          <c:yMode val="edge"/>
          <c:x val="0.25475789049703729"/>
          <c:y val="2.446042431755115E-2"/>
        </c:manualLayout>
      </c:layout>
      <c:overlay val="0"/>
      <c:spPr>
        <a:noFill/>
        <a:ln>
          <a:noFill/>
        </a:ln>
        <a:effectLst/>
      </c:spPr>
      <c:txPr>
        <a:bodyPr rot="0" spcFirstLastPara="1" vertOverflow="ellipsis" vert="horz" wrap="square" anchor="ctr" anchorCtr="1"/>
        <a:lstStyle/>
        <a:p>
          <a:pPr algn="ctr" rtl="0">
            <a:defRPr lang="es-CO" sz="1400" b="1" i="0" u="sng" strike="noStrike" kern="1200" spc="0" baseline="0" dirty="0">
              <a:solidFill>
                <a:schemeClr val="bg1">
                  <a:lumMod val="50000"/>
                </a:schemeClr>
              </a:solidFill>
              <a:latin typeface="+mn-lt"/>
              <a:ea typeface="+mn-ea"/>
              <a:cs typeface="+mn-cs"/>
            </a:defRPr>
          </a:pPr>
          <a:endParaRPr lang="es-CO"/>
        </a:p>
      </c:txPr>
    </c:title>
    <c:autoTitleDeleted val="0"/>
    <c:plotArea>
      <c:layout/>
      <c:barChart>
        <c:barDir val="col"/>
        <c:grouping val="clustered"/>
        <c:varyColors val="0"/>
        <c:ser>
          <c:idx val="0"/>
          <c:order val="0"/>
          <c:tx>
            <c:strRef>
              <c:f>Hoja7!$C$1</c:f>
              <c:strCache>
                <c:ptCount val="1"/>
                <c:pt idx="0">
                  <c:v>% RESPUESTA &lt; 2HORAS</c:v>
                </c:pt>
              </c:strCache>
            </c:strRef>
          </c:tx>
          <c:spPr>
            <a:solidFill>
              <a:srgbClr val="FFFFFF">
                <a:lumMod val="50000"/>
              </a:srgb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1" i="0" u="none" strike="noStrike" kern="1200" baseline="0">
                    <a:solidFill>
                      <a:srgbClr val="000000"/>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Hoja7!$B$2:$B$10</c:f>
              <c:strCache>
                <c:ptCount val="9"/>
                <c:pt idx="0">
                  <c:v>ENERO</c:v>
                </c:pt>
                <c:pt idx="1">
                  <c:v>FEBRERO</c:v>
                </c:pt>
                <c:pt idx="2">
                  <c:v>MARZO</c:v>
                </c:pt>
                <c:pt idx="3">
                  <c:v>ABRIL</c:v>
                </c:pt>
                <c:pt idx="4">
                  <c:v>MAYO</c:v>
                </c:pt>
                <c:pt idx="5">
                  <c:v>JUNIO</c:v>
                </c:pt>
                <c:pt idx="6">
                  <c:v>JULIO</c:v>
                </c:pt>
                <c:pt idx="7">
                  <c:v>AGOSTO</c:v>
                </c:pt>
                <c:pt idx="8">
                  <c:v>SEPTIEMBRE</c:v>
                </c:pt>
              </c:strCache>
            </c:strRef>
          </c:cat>
          <c:val>
            <c:numRef>
              <c:f>Hoja7!$C$2:$C$10</c:f>
              <c:numCache>
                <c:formatCode>0%</c:formatCode>
                <c:ptCount val="9"/>
                <c:pt idx="0">
                  <c:v>0.97</c:v>
                </c:pt>
                <c:pt idx="1">
                  <c:v>0.98</c:v>
                </c:pt>
                <c:pt idx="2">
                  <c:v>0.98</c:v>
                </c:pt>
                <c:pt idx="3">
                  <c:v>0.99</c:v>
                </c:pt>
                <c:pt idx="4">
                  <c:v>0.97</c:v>
                </c:pt>
                <c:pt idx="5">
                  <c:v>0.95</c:v>
                </c:pt>
                <c:pt idx="6">
                  <c:v>0.99</c:v>
                </c:pt>
                <c:pt idx="7">
                  <c:v>0.99</c:v>
                </c:pt>
                <c:pt idx="8">
                  <c:v>0.96</c:v>
                </c:pt>
              </c:numCache>
            </c:numRef>
          </c:val>
          <c:extLst>
            <c:ext xmlns:c16="http://schemas.microsoft.com/office/drawing/2014/chart" uri="{C3380CC4-5D6E-409C-BE32-E72D297353CC}">
              <c16:uniqueId val="{00000000-902E-4E54-B51B-C3FEAC4CFF96}"/>
            </c:ext>
          </c:extLst>
        </c:ser>
        <c:dLbls>
          <c:dLblPos val="outEnd"/>
          <c:showLegendKey val="0"/>
          <c:showVal val="1"/>
          <c:showCatName val="0"/>
          <c:showSerName val="0"/>
          <c:showPercent val="0"/>
          <c:showBubbleSize val="0"/>
        </c:dLbls>
        <c:gapWidth val="219"/>
        <c:axId val="285515343"/>
        <c:axId val="285515823"/>
      </c:barChart>
      <c:lineChart>
        <c:grouping val="standard"/>
        <c:varyColors val="0"/>
        <c:ser>
          <c:idx val="1"/>
          <c:order val="1"/>
          <c:tx>
            <c:strRef>
              <c:f>Hoja7!$D$1</c:f>
              <c:strCache>
                <c:ptCount val="1"/>
                <c:pt idx="0">
                  <c:v>META</c:v>
                </c:pt>
              </c:strCache>
            </c:strRef>
          </c:tx>
          <c:spPr>
            <a:ln w="28575" cap="rnd">
              <a:solidFill>
                <a:srgbClr val="80589F"/>
              </a:solidFill>
              <a:round/>
            </a:ln>
            <a:effectLst/>
          </c:spPr>
          <c:marker>
            <c:symbol val="none"/>
          </c:marker>
          <c:cat>
            <c:strRef>
              <c:f>Hoja7!$B$2:$B$10</c:f>
              <c:strCache>
                <c:ptCount val="9"/>
                <c:pt idx="0">
                  <c:v>ENERO</c:v>
                </c:pt>
                <c:pt idx="1">
                  <c:v>FEBRERO</c:v>
                </c:pt>
                <c:pt idx="2">
                  <c:v>MARZO</c:v>
                </c:pt>
                <c:pt idx="3">
                  <c:v>ABRIL</c:v>
                </c:pt>
                <c:pt idx="4">
                  <c:v>MAYO</c:v>
                </c:pt>
                <c:pt idx="5">
                  <c:v>JUNIO</c:v>
                </c:pt>
                <c:pt idx="6">
                  <c:v>JULIO</c:v>
                </c:pt>
                <c:pt idx="7">
                  <c:v>AGOSTO</c:v>
                </c:pt>
                <c:pt idx="8">
                  <c:v>SEPTIEMBRE</c:v>
                </c:pt>
              </c:strCache>
            </c:strRef>
          </c:cat>
          <c:val>
            <c:numRef>
              <c:f>Hoja7!$D$2:$D$10</c:f>
              <c:numCache>
                <c:formatCode>0%</c:formatCode>
                <c:ptCount val="9"/>
                <c:pt idx="0">
                  <c:v>0.9</c:v>
                </c:pt>
                <c:pt idx="1">
                  <c:v>0.9</c:v>
                </c:pt>
                <c:pt idx="2">
                  <c:v>0.9</c:v>
                </c:pt>
                <c:pt idx="3">
                  <c:v>0.9</c:v>
                </c:pt>
                <c:pt idx="4">
                  <c:v>0.9</c:v>
                </c:pt>
                <c:pt idx="5">
                  <c:v>0.9</c:v>
                </c:pt>
                <c:pt idx="6">
                  <c:v>0.9</c:v>
                </c:pt>
                <c:pt idx="7">
                  <c:v>0.9</c:v>
                </c:pt>
                <c:pt idx="8">
                  <c:v>0.9</c:v>
                </c:pt>
              </c:numCache>
            </c:numRef>
          </c:val>
          <c:smooth val="0"/>
          <c:extLst>
            <c:ext xmlns:c16="http://schemas.microsoft.com/office/drawing/2014/chart" uri="{C3380CC4-5D6E-409C-BE32-E72D297353CC}">
              <c16:uniqueId val="{00000005-902E-4E54-B51B-C3FEAC4CFF96}"/>
            </c:ext>
          </c:extLst>
        </c:ser>
        <c:dLbls>
          <c:showLegendKey val="0"/>
          <c:showVal val="0"/>
          <c:showCatName val="0"/>
          <c:showSerName val="0"/>
          <c:showPercent val="0"/>
          <c:showBubbleSize val="0"/>
        </c:dLbls>
        <c:marker val="1"/>
        <c:smooth val="0"/>
        <c:axId val="285515343"/>
        <c:axId val="285515823"/>
      </c:lineChart>
      <c:catAx>
        <c:axId val="285515343"/>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600" b="1" i="0" u="none" strike="noStrike" kern="1200" baseline="0">
                <a:solidFill>
                  <a:schemeClr val="tx1">
                    <a:lumMod val="65000"/>
                    <a:lumOff val="35000"/>
                  </a:schemeClr>
                </a:solidFill>
                <a:latin typeface="+mn-lt"/>
                <a:ea typeface="+mn-ea"/>
                <a:cs typeface="+mn-cs"/>
              </a:defRPr>
            </a:pPr>
            <a:endParaRPr lang="es-CO"/>
          </a:p>
        </c:txPr>
        <c:crossAx val="285515823"/>
        <c:crosses val="autoZero"/>
        <c:auto val="1"/>
        <c:lblAlgn val="ctr"/>
        <c:lblOffset val="100"/>
        <c:noMultiLvlLbl val="0"/>
      </c:catAx>
      <c:valAx>
        <c:axId val="285515823"/>
        <c:scaling>
          <c:orientation val="minMax"/>
          <c:max val="1"/>
          <c:min val="0"/>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900" b="0" i="0" u="none" strike="noStrike" kern="1200" baseline="0">
                <a:solidFill>
                  <a:schemeClr val="bg1">
                    <a:lumMod val="75000"/>
                  </a:schemeClr>
                </a:solidFill>
                <a:latin typeface="+mn-lt"/>
                <a:ea typeface="+mn-ea"/>
                <a:cs typeface="+mn-cs"/>
              </a:defRPr>
            </a:pPr>
            <a:endParaRPr lang="es-CO"/>
          </a:p>
        </c:txPr>
        <c:crossAx val="28551534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lgn="ctr">
            <a:defRPr lang="en-US" sz="900" b="1"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4">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lgn="ctr" rtl="0">
              <a:defRPr lang="es-MX" sz="1400" b="1" i="0" u="sng" strike="noStrike" kern="1200" spc="0" baseline="0" dirty="0">
                <a:solidFill>
                  <a:schemeClr val="bg1">
                    <a:lumMod val="50000"/>
                  </a:schemeClr>
                </a:solidFill>
                <a:latin typeface="+mn-lt"/>
                <a:ea typeface="+mn-ea"/>
                <a:cs typeface="+mn-cs"/>
              </a:defRPr>
            </a:pPr>
            <a:r>
              <a:rPr lang="es-MX" sz="1400" b="1" i="0" u="sng" strike="noStrike" kern="1200" spc="0" baseline="0">
                <a:solidFill>
                  <a:schemeClr val="bg1">
                    <a:lumMod val="50000"/>
                  </a:schemeClr>
                </a:solidFill>
                <a:latin typeface="+mn-lt"/>
                <a:ea typeface="+mn-ea"/>
                <a:cs typeface="+mn-cs"/>
              </a:rPr>
              <a:t>% DE ACEPTACION </a:t>
            </a:r>
          </a:p>
        </c:rich>
      </c:tx>
      <c:layout>
        <c:manualLayout>
          <c:xMode val="edge"/>
          <c:yMode val="edge"/>
          <c:x val="0.28436220798480544"/>
          <c:y val="2.3240300432328095E-2"/>
        </c:manualLayout>
      </c:layout>
      <c:overlay val="0"/>
      <c:spPr>
        <a:noFill/>
        <a:ln>
          <a:noFill/>
        </a:ln>
        <a:effectLst/>
      </c:spPr>
      <c:txPr>
        <a:bodyPr rot="0" spcFirstLastPara="1" vertOverflow="ellipsis" vert="horz" wrap="square" anchor="ctr" anchorCtr="1"/>
        <a:lstStyle/>
        <a:p>
          <a:pPr algn="ctr" rtl="0">
            <a:defRPr lang="es-MX" sz="1400" b="1" i="0" u="sng" strike="noStrike" kern="1200" spc="0" baseline="0" dirty="0">
              <a:solidFill>
                <a:schemeClr val="bg1">
                  <a:lumMod val="50000"/>
                </a:schemeClr>
              </a:solidFill>
              <a:latin typeface="+mn-lt"/>
              <a:ea typeface="+mn-ea"/>
              <a:cs typeface="+mn-cs"/>
            </a:defRPr>
          </a:pPr>
          <a:endParaRPr lang="es-CO"/>
        </a:p>
      </c:txPr>
    </c:title>
    <c:autoTitleDeleted val="0"/>
    <c:plotArea>
      <c:layout/>
      <c:barChart>
        <c:barDir val="col"/>
        <c:grouping val="clustered"/>
        <c:varyColors val="0"/>
        <c:ser>
          <c:idx val="0"/>
          <c:order val="0"/>
          <c:tx>
            <c:strRef>
              <c:f>Hoja7!$C$9</c:f>
              <c:strCache>
                <c:ptCount val="1"/>
                <c:pt idx="0">
                  <c:v>% DE ACEPTACION </c:v>
                </c:pt>
              </c:strCache>
            </c:strRef>
          </c:tx>
          <c:spPr>
            <a:solidFill>
              <a:srgbClr val="FFFFFF">
                <a:lumMod val="50000"/>
              </a:srgb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1" i="0" u="none" strike="noStrike" kern="1200" baseline="0">
                    <a:solidFill>
                      <a:srgbClr val="000000"/>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Hoja7!$B$10:$B$18</c:f>
              <c:strCache>
                <c:ptCount val="9"/>
                <c:pt idx="0">
                  <c:v>ENERO</c:v>
                </c:pt>
                <c:pt idx="1">
                  <c:v>FEBRERO</c:v>
                </c:pt>
                <c:pt idx="2">
                  <c:v>MARZO</c:v>
                </c:pt>
                <c:pt idx="3">
                  <c:v>ABRIL</c:v>
                </c:pt>
                <c:pt idx="4">
                  <c:v>MAYO</c:v>
                </c:pt>
                <c:pt idx="5">
                  <c:v>JUNIO</c:v>
                </c:pt>
                <c:pt idx="6">
                  <c:v>JULIO</c:v>
                </c:pt>
                <c:pt idx="7">
                  <c:v>AGOSTO</c:v>
                </c:pt>
                <c:pt idx="8">
                  <c:v>SEPTIEMBRE</c:v>
                </c:pt>
              </c:strCache>
            </c:strRef>
          </c:cat>
          <c:val>
            <c:numRef>
              <c:f>Hoja7!$C$10:$C$18</c:f>
              <c:numCache>
                <c:formatCode>0%</c:formatCode>
                <c:ptCount val="9"/>
                <c:pt idx="0">
                  <c:v>1</c:v>
                </c:pt>
                <c:pt idx="1">
                  <c:v>1</c:v>
                </c:pt>
                <c:pt idx="2">
                  <c:v>1</c:v>
                </c:pt>
                <c:pt idx="3">
                  <c:v>1</c:v>
                </c:pt>
                <c:pt idx="4">
                  <c:v>1</c:v>
                </c:pt>
                <c:pt idx="5">
                  <c:v>1</c:v>
                </c:pt>
                <c:pt idx="6">
                  <c:v>1</c:v>
                </c:pt>
                <c:pt idx="7">
                  <c:v>0.97</c:v>
                </c:pt>
                <c:pt idx="8">
                  <c:v>1</c:v>
                </c:pt>
              </c:numCache>
            </c:numRef>
          </c:val>
          <c:extLst>
            <c:ext xmlns:c16="http://schemas.microsoft.com/office/drawing/2014/chart" uri="{C3380CC4-5D6E-409C-BE32-E72D297353CC}">
              <c16:uniqueId val="{00000000-40D9-4448-91DD-2195F548799B}"/>
            </c:ext>
          </c:extLst>
        </c:ser>
        <c:dLbls>
          <c:showLegendKey val="0"/>
          <c:showVal val="1"/>
          <c:showCatName val="0"/>
          <c:showSerName val="0"/>
          <c:showPercent val="0"/>
          <c:showBubbleSize val="0"/>
        </c:dLbls>
        <c:gapWidth val="219"/>
        <c:axId val="1715081007"/>
        <c:axId val="347285407"/>
      </c:barChart>
      <c:lineChart>
        <c:grouping val="standard"/>
        <c:varyColors val="0"/>
        <c:ser>
          <c:idx val="1"/>
          <c:order val="1"/>
          <c:tx>
            <c:strRef>
              <c:f>Hoja7!$D$9</c:f>
              <c:strCache>
                <c:ptCount val="1"/>
                <c:pt idx="0">
                  <c:v>META</c:v>
                </c:pt>
              </c:strCache>
            </c:strRef>
          </c:tx>
          <c:spPr>
            <a:ln w="28575" cap="rnd">
              <a:solidFill>
                <a:srgbClr val="80589F"/>
              </a:solidFill>
              <a:round/>
            </a:ln>
            <a:effectLst/>
          </c:spPr>
          <c:marker>
            <c:symbol val="none"/>
          </c:marker>
          <c:dLbls>
            <c:delete val="1"/>
          </c:dLbls>
          <c:cat>
            <c:strRef>
              <c:f>Hoja7!$B$10:$B$18</c:f>
              <c:strCache>
                <c:ptCount val="9"/>
                <c:pt idx="0">
                  <c:v>ENERO</c:v>
                </c:pt>
                <c:pt idx="1">
                  <c:v>FEBRERO</c:v>
                </c:pt>
                <c:pt idx="2">
                  <c:v>MARZO</c:v>
                </c:pt>
                <c:pt idx="3">
                  <c:v>ABRIL</c:v>
                </c:pt>
                <c:pt idx="4">
                  <c:v>MAYO</c:v>
                </c:pt>
                <c:pt idx="5">
                  <c:v>JUNIO</c:v>
                </c:pt>
                <c:pt idx="6">
                  <c:v>JULIO</c:v>
                </c:pt>
                <c:pt idx="7">
                  <c:v>AGOSTO</c:v>
                </c:pt>
                <c:pt idx="8">
                  <c:v>SEPTIEMBRE</c:v>
                </c:pt>
              </c:strCache>
            </c:strRef>
          </c:cat>
          <c:val>
            <c:numRef>
              <c:f>Hoja7!$D$10:$D$18</c:f>
              <c:numCache>
                <c:formatCode>0%</c:formatCode>
                <c:ptCount val="9"/>
                <c:pt idx="0">
                  <c:v>1</c:v>
                </c:pt>
                <c:pt idx="1">
                  <c:v>1</c:v>
                </c:pt>
                <c:pt idx="2">
                  <c:v>1</c:v>
                </c:pt>
                <c:pt idx="3">
                  <c:v>1</c:v>
                </c:pt>
                <c:pt idx="4">
                  <c:v>1</c:v>
                </c:pt>
                <c:pt idx="5">
                  <c:v>1</c:v>
                </c:pt>
                <c:pt idx="6">
                  <c:v>1</c:v>
                </c:pt>
                <c:pt idx="7">
                  <c:v>1</c:v>
                </c:pt>
                <c:pt idx="8">
                  <c:v>1</c:v>
                </c:pt>
              </c:numCache>
            </c:numRef>
          </c:val>
          <c:smooth val="0"/>
          <c:extLst>
            <c:ext xmlns:c16="http://schemas.microsoft.com/office/drawing/2014/chart" uri="{C3380CC4-5D6E-409C-BE32-E72D297353CC}">
              <c16:uniqueId val="{00000008-40D9-4448-91DD-2195F548799B}"/>
            </c:ext>
          </c:extLst>
        </c:ser>
        <c:dLbls>
          <c:showLegendKey val="0"/>
          <c:showVal val="1"/>
          <c:showCatName val="0"/>
          <c:showSerName val="0"/>
          <c:showPercent val="0"/>
          <c:showBubbleSize val="0"/>
        </c:dLbls>
        <c:marker val="1"/>
        <c:smooth val="0"/>
        <c:axId val="1715081007"/>
        <c:axId val="347285407"/>
      </c:lineChart>
      <c:catAx>
        <c:axId val="1715081007"/>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600" b="1" i="0" u="none" strike="noStrike" kern="1200" baseline="0">
                <a:solidFill>
                  <a:schemeClr val="tx1">
                    <a:lumMod val="65000"/>
                    <a:lumOff val="35000"/>
                  </a:schemeClr>
                </a:solidFill>
                <a:latin typeface="+mn-lt"/>
                <a:ea typeface="+mn-ea"/>
                <a:cs typeface="+mn-cs"/>
              </a:defRPr>
            </a:pPr>
            <a:endParaRPr lang="es-CO"/>
          </a:p>
        </c:txPr>
        <c:crossAx val="347285407"/>
        <c:crosses val="autoZero"/>
        <c:auto val="1"/>
        <c:lblAlgn val="ctr"/>
        <c:lblOffset val="100"/>
        <c:noMultiLvlLbl val="0"/>
      </c:catAx>
      <c:valAx>
        <c:axId val="347285407"/>
        <c:scaling>
          <c:orientation val="minMax"/>
          <c:max val="1"/>
          <c:min val="0"/>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700" b="0" i="0" u="none" strike="noStrike" kern="1200" baseline="0">
                <a:solidFill>
                  <a:schemeClr val="bg1">
                    <a:lumMod val="75000"/>
                  </a:schemeClr>
                </a:solidFill>
                <a:latin typeface="+mn-lt"/>
                <a:ea typeface="+mn-ea"/>
                <a:cs typeface="+mn-cs"/>
              </a:defRPr>
            </a:pPr>
            <a:endParaRPr lang="es-CO"/>
          </a:p>
        </c:txPr>
        <c:crossAx val="171508100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lgn="ctr">
            <a:defRPr lang="en-US" sz="900" b="1"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4">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lgn="ctr" rtl="0">
              <a:defRPr lang="es-CO" sz="1400" b="1" i="0" u="sng" strike="noStrike" kern="1200" spc="0" baseline="0" dirty="0">
                <a:solidFill>
                  <a:schemeClr val="bg1">
                    <a:lumMod val="50000"/>
                  </a:schemeClr>
                </a:solidFill>
                <a:latin typeface="+mn-lt"/>
                <a:ea typeface="+mn-ea"/>
                <a:cs typeface="+mn-cs"/>
              </a:defRPr>
            </a:pPr>
            <a:r>
              <a:rPr lang="es-CO" sz="1400" b="1" i="0" u="sng" strike="noStrike" kern="1200" spc="0" baseline="0">
                <a:solidFill>
                  <a:schemeClr val="bg1">
                    <a:lumMod val="50000"/>
                  </a:schemeClr>
                </a:solidFill>
                <a:latin typeface="+mn-lt"/>
                <a:ea typeface="+mn-ea"/>
                <a:cs typeface="+mn-cs"/>
              </a:rPr>
              <a:t>% DE CASOS COMENTADOS POR EAPB</a:t>
            </a:r>
          </a:p>
        </c:rich>
      </c:tx>
      <c:overlay val="0"/>
      <c:spPr>
        <a:noFill/>
        <a:ln>
          <a:noFill/>
        </a:ln>
        <a:effectLst/>
      </c:spPr>
      <c:txPr>
        <a:bodyPr rot="0" spcFirstLastPara="1" vertOverflow="ellipsis" vert="horz" wrap="square" anchor="ctr" anchorCtr="1"/>
        <a:lstStyle/>
        <a:p>
          <a:pPr algn="ctr" rtl="0">
            <a:defRPr lang="es-CO" sz="1400" b="1" i="0" u="sng" strike="noStrike" kern="1200" spc="0" baseline="0" dirty="0">
              <a:solidFill>
                <a:schemeClr val="bg1">
                  <a:lumMod val="50000"/>
                </a:schemeClr>
              </a:solidFill>
              <a:latin typeface="+mn-lt"/>
              <a:ea typeface="+mn-ea"/>
              <a:cs typeface="+mn-cs"/>
            </a:defRPr>
          </a:pPr>
          <a:endParaRPr lang="es-CO"/>
        </a:p>
      </c:txPr>
    </c:title>
    <c:autoTitleDeleted val="0"/>
    <c:plotArea>
      <c:layout/>
      <c:barChart>
        <c:barDir val="col"/>
        <c:grouping val="clustered"/>
        <c:varyColors val="0"/>
        <c:ser>
          <c:idx val="0"/>
          <c:order val="0"/>
          <c:spPr>
            <a:solidFill>
              <a:srgbClr val="80589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1" i="0" u="none" strike="noStrike" kern="1200" baseline="0">
                    <a:solidFill>
                      <a:srgbClr val="000000"/>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Hoja1!$L$5:$L$9</c:f>
              <c:strCache>
                <c:ptCount val="5"/>
                <c:pt idx="0">
                  <c:v>EMSSANAR</c:v>
                </c:pt>
                <c:pt idx="1">
                  <c:v>SANITAS</c:v>
                </c:pt>
                <c:pt idx="2">
                  <c:v>SALUD TOTAL</c:v>
                </c:pt>
                <c:pt idx="3">
                  <c:v>EPS FAMILIAR</c:v>
                </c:pt>
                <c:pt idx="4">
                  <c:v>OTRAS</c:v>
                </c:pt>
              </c:strCache>
            </c:strRef>
          </c:cat>
          <c:val>
            <c:numRef>
              <c:f>Hoja1!$M$5:$M$9</c:f>
              <c:numCache>
                <c:formatCode>0%</c:formatCode>
                <c:ptCount val="5"/>
                <c:pt idx="0">
                  <c:v>0.55000000000000004</c:v>
                </c:pt>
                <c:pt idx="1">
                  <c:v>0.19</c:v>
                </c:pt>
                <c:pt idx="2">
                  <c:v>0.15</c:v>
                </c:pt>
                <c:pt idx="3">
                  <c:v>0.06</c:v>
                </c:pt>
                <c:pt idx="4">
                  <c:v>0.06</c:v>
                </c:pt>
              </c:numCache>
            </c:numRef>
          </c:val>
          <c:extLst>
            <c:ext xmlns:c16="http://schemas.microsoft.com/office/drawing/2014/chart" uri="{C3380CC4-5D6E-409C-BE32-E72D297353CC}">
              <c16:uniqueId val="{00000000-A20C-41D0-A7BA-62C1621049BC}"/>
            </c:ext>
          </c:extLst>
        </c:ser>
        <c:dLbls>
          <c:dLblPos val="outEnd"/>
          <c:showLegendKey val="0"/>
          <c:showVal val="1"/>
          <c:showCatName val="0"/>
          <c:showSerName val="0"/>
          <c:showPercent val="0"/>
          <c:showBubbleSize val="0"/>
        </c:dLbls>
        <c:gapWidth val="219"/>
        <c:overlap val="-27"/>
        <c:axId val="494454512"/>
        <c:axId val="226527344"/>
      </c:barChart>
      <c:catAx>
        <c:axId val="49445451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700" b="1" i="0" u="none" strike="noStrike" kern="1200" baseline="0">
                <a:solidFill>
                  <a:schemeClr val="tx1">
                    <a:lumMod val="65000"/>
                    <a:lumOff val="35000"/>
                  </a:schemeClr>
                </a:solidFill>
                <a:latin typeface="+mn-lt"/>
                <a:ea typeface="+mn-ea"/>
                <a:cs typeface="+mn-cs"/>
              </a:defRPr>
            </a:pPr>
            <a:endParaRPr lang="es-CO"/>
          </a:p>
        </c:txPr>
        <c:crossAx val="226527344"/>
        <c:crosses val="autoZero"/>
        <c:auto val="1"/>
        <c:lblAlgn val="ctr"/>
        <c:lblOffset val="100"/>
        <c:noMultiLvlLbl val="0"/>
      </c:catAx>
      <c:valAx>
        <c:axId val="226527344"/>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900" b="0" i="0" u="none" strike="noStrike" kern="1200" baseline="0">
                <a:solidFill>
                  <a:schemeClr val="bg1">
                    <a:lumMod val="85000"/>
                  </a:schemeClr>
                </a:solidFill>
                <a:latin typeface="+mn-lt"/>
                <a:ea typeface="+mn-ea"/>
                <a:cs typeface="+mn-cs"/>
              </a:defRPr>
            </a:pPr>
            <a:endParaRPr lang="es-CO"/>
          </a:p>
        </c:txPr>
        <c:crossAx val="49445451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s-CO"/>
    </a:p>
  </c:txPr>
  <c:externalData r:id="rId4">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s-CO" sz="1400" b="1" i="0" u="sng" strike="noStrike" kern="1200" spc="0" baseline="0">
                <a:solidFill>
                  <a:schemeClr val="bg1">
                    <a:lumMod val="50000"/>
                  </a:schemeClr>
                </a:solidFill>
              </a:rPr>
              <a:t>SOLICITUDES COMENTADAS POR EAPB</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Hoja2!$J$4</c:f>
              <c:strCache>
                <c:ptCount val="1"/>
                <c:pt idx="0">
                  <c:v>EMSSANAR </c:v>
                </c:pt>
              </c:strCache>
            </c:strRef>
          </c:tx>
          <c:spPr>
            <a:solidFill>
              <a:schemeClr val="accent1">
                <a:shade val="53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1" i="0" u="none" strike="noStrike" kern="1200" baseline="0">
                    <a:solidFill>
                      <a:srgbClr val="000000"/>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Hoja2!$K$3:$S$3</c:f>
              <c:strCache>
                <c:ptCount val="9"/>
                <c:pt idx="0">
                  <c:v>ENERO</c:v>
                </c:pt>
                <c:pt idx="1">
                  <c:v>FEBRERO</c:v>
                </c:pt>
                <c:pt idx="2">
                  <c:v>MARZO</c:v>
                </c:pt>
                <c:pt idx="3">
                  <c:v>ABRIL</c:v>
                </c:pt>
                <c:pt idx="4">
                  <c:v>MAYO</c:v>
                </c:pt>
                <c:pt idx="5">
                  <c:v>JUNIO</c:v>
                </c:pt>
                <c:pt idx="6">
                  <c:v>JULIO</c:v>
                </c:pt>
                <c:pt idx="7">
                  <c:v>AGOSTO</c:v>
                </c:pt>
                <c:pt idx="8">
                  <c:v>SEPTIEMBRE</c:v>
                </c:pt>
              </c:strCache>
            </c:strRef>
          </c:cat>
          <c:val>
            <c:numRef>
              <c:f>Hoja2!$K$4:$S$4</c:f>
              <c:numCache>
                <c:formatCode>General</c:formatCode>
                <c:ptCount val="9"/>
                <c:pt idx="0">
                  <c:v>214</c:v>
                </c:pt>
                <c:pt idx="1">
                  <c:v>329</c:v>
                </c:pt>
                <c:pt idx="2">
                  <c:v>243</c:v>
                </c:pt>
                <c:pt idx="3">
                  <c:v>222</c:v>
                </c:pt>
                <c:pt idx="4">
                  <c:v>243</c:v>
                </c:pt>
                <c:pt idx="5">
                  <c:v>147</c:v>
                </c:pt>
                <c:pt idx="6">
                  <c:v>179</c:v>
                </c:pt>
                <c:pt idx="7">
                  <c:v>41</c:v>
                </c:pt>
                <c:pt idx="8">
                  <c:v>164</c:v>
                </c:pt>
              </c:numCache>
            </c:numRef>
          </c:val>
          <c:extLst>
            <c:ext xmlns:c16="http://schemas.microsoft.com/office/drawing/2014/chart" uri="{C3380CC4-5D6E-409C-BE32-E72D297353CC}">
              <c16:uniqueId val="{00000000-A9D5-48FF-B141-7C2D62AE1622}"/>
            </c:ext>
          </c:extLst>
        </c:ser>
        <c:ser>
          <c:idx val="1"/>
          <c:order val="1"/>
          <c:tx>
            <c:strRef>
              <c:f>Hoja2!$J$5</c:f>
              <c:strCache>
                <c:ptCount val="1"/>
                <c:pt idx="0">
                  <c:v>SALUD TOTAL</c:v>
                </c:pt>
              </c:strCache>
            </c:strRef>
          </c:tx>
          <c:spPr>
            <a:solidFill>
              <a:schemeClr val="accent1">
                <a:shade val="76000"/>
              </a:schemeClr>
            </a:solidFill>
            <a:ln>
              <a:noFill/>
            </a:ln>
            <a:effectLst/>
          </c:spPr>
          <c:invertIfNegative val="0"/>
          <c:dLbls>
            <c:dLbl>
              <c:idx val="7"/>
              <c:layout>
                <c:manualLayout>
                  <c:x val="2.6571789338015275E-3"/>
                  <c:y val="2.902272265893835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9E1-44BD-958A-501C0475995D}"/>
                </c:ext>
              </c:extLst>
            </c:dLbl>
            <c:spPr>
              <a:noFill/>
              <a:ln>
                <a:noFill/>
              </a:ln>
              <a:effectLst/>
            </c:spPr>
            <c:txPr>
              <a:bodyPr rot="0" spcFirstLastPara="1" vertOverflow="ellipsis" vert="horz" wrap="square" lIns="38100" tIns="19050" rIns="38100" bIns="19050" anchor="ctr" anchorCtr="0">
                <a:spAutoFit/>
              </a:bodyPr>
              <a:lstStyle/>
              <a:p>
                <a:pPr algn="ctr">
                  <a:defRPr lang="en-US" sz="900" b="1" i="0" u="none" strike="noStrike" kern="1200" baseline="0">
                    <a:solidFill>
                      <a:srgbClr val="000000"/>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Hoja2!$K$3:$S$3</c:f>
              <c:strCache>
                <c:ptCount val="9"/>
                <c:pt idx="0">
                  <c:v>ENERO</c:v>
                </c:pt>
                <c:pt idx="1">
                  <c:v>FEBRERO</c:v>
                </c:pt>
                <c:pt idx="2">
                  <c:v>MARZO</c:v>
                </c:pt>
                <c:pt idx="3">
                  <c:v>ABRIL</c:v>
                </c:pt>
                <c:pt idx="4">
                  <c:v>MAYO</c:v>
                </c:pt>
                <c:pt idx="5">
                  <c:v>JUNIO</c:v>
                </c:pt>
                <c:pt idx="6">
                  <c:v>JULIO</c:v>
                </c:pt>
                <c:pt idx="7">
                  <c:v>AGOSTO</c:v>
                </c:pt>
                <c:pt idx="8">
                  <c:v>SEPTIEMBRE</c:v>
                </c:pt>
              </c:strCache>
            </c:strRef>
          </c:cat>
          <c:val>
            <c:numRef>
              <c:f>Hoja2!$K$5:$S$5</c:f>
              <c:numCache>
                <c:formatCode>General</c:formatCode>
                <c:ptCount val="9"/>
                <c:pt idx="0">
                  <c:v>133</c:v>
                </c:pt>
                <c:pt idx="1">
                  <c:v>126</c:v>
                </c:pt>
                <c:pt idx="2">
                  <c:v>104</c:v>
                </c:pt>
                <c:pt idx="3">
                  <c:v>100</c:v>
                </c:pt>
                <c:pt idx="4">
                  <c:v>125</c:v>
                </c:pt>
                <c:pt idx="5">
                  <c:v>38</c:v>
                </c:pt>
                <c:pt idx="6">
                  <c:v>89</c:v>
                </c:pt>
                <c:pt idx="7">
                  <c:v>42</c:v>
                </c:pt>
                <c:pt idx="8">
                  <c:v>14</c:v>
                </c:pt>
              </c:numCache>
            </c:numRef>
          </c:val>
          <c:extLst>
            <c:ext xmlns:c16="http://schemas.microsoft.com/office/drawing/2014/chart" uri="{C3380CC4-5D6E-409C-BE32-E72D297353CC}">
              <c16:uniqueId val="{00000001-A9D5-48FF-B141-7C2D62AE1622}"/>
            </c:ext>
          </c:extLst>
        </c:ser>
        <c:ser>
          <c:idx val="2"/>
          <c:order val="2"/>
          <c:tx>
            <c:strRef>
              <c:f>Hoja2!$J$6</c:f>
              <c:strCache>
                <c:ptCount val="1"/>
                <c:pt idx="0">
                  <c:v>SANITAS</c:v>
                </c:pt>
              </c:strCache>
            </c:strRef>
          </c:tx>
          <c:spPr>
            <a:solidFill>
              <a:schemeClr val="accent1"/>
            </a:solidFill>
            <a:ln>
              <a:noFill/>
            </a:ln>
            <a:effectLst/>
          </c:spPr>
          <c:invertIfNegative val="0"/>
          <c:dLbls>
            <c:dLbl>
              <c:idx val="5"/>
              <c:layout>
                <c:manualLayout>
                  <c:x val="5.8230797076447181E-3"/>
                  <c:y val="-1.0295070762834629E-16"/>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A9D5-48FF-B141-7C2D62AE1622}"/>
                </c:ext>
              </c:extLst>
            </c:dLbl>
            <c:spPr>
              <a:noFill/>
              <a:ln>
                <a:noFill/>
              </a:ln>
              <a:effectLst/>
            </c:spPr>
            <c:txPr>
              <a:bodyPr rot="0" spcFirstLastPara="1" vertOverflow="ellipsis" vert="horz" wrap="square" lIns="38100" tIns="19050" rIns="38100" bIns="19050" anchor="ctr" anchorCtr="0">
                <a:spAutoFit/>
              </a:bodyPr>
              <a:lstStyle/>
              <a:p>
                <a:pPr algn="ctr">
                  <a:defRPr lang="en-US" sz="900" b="1" i="0" u="none" strike="noStrike" kern="1200" baseline="0">
                    <a:solidFill>
                      <a:srgbClr val="000000"/>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Hoja2!$K$3:$S$3</c:f>
              <c:strCache>
                <c:ptCount val="9"/>
                <c:pt idx="0">
                  <c:v>ENERO</c:v>
                </c:pt>
                <c:pt idx="1">
                  <c:v>FEBRERO</c:v>
                </c:pt>
                <c:pt idx="2">
                  <c:v>MARZO</c:v>
                </c:pt>
                <c:pt idx="3">
                  <c:v>ABRIL</c:v>
                </c:pt>
                <c:pt idx="4">
                  <c:v>MAYO</c:v>
                </c:pt>
                <c:pt idx="5">
                  <c:v>JUNIO</c:v>
                </c:pt>
                <c:pt idx="6">
                  <c:v>JULIO</c:v>
                </c:pt>
                <c:pt idx="7">
                  <c:v>AGOSTO</c:v>
                </c:pt>
                <c:pt idx="8">
                  <c:v>SEPTIEMBRE</c:v>
                </c:pt>
              </c:strCache>
            </c:strRef>
          </c:cat>
          <c:val>
            <c:numRef>
              <c:f>Hoja2!$K$6:$S$6</c:f>
              <c:numCache>
                <c:formatCode>General</c:formatCode>
                <c:ptCount val="9"/>
                <c:pt idx="0">
                  <c:v>69</c:v>
                </c:pt>
                <c:pt idx="1">
                  <c:v>92</c:v>
                </c:pt>
                <c:pt idx="2">
                  <c:v>62</c:v>
                </c:pt>
                <c:pt idx="3">
                  <c:v>75</c:v>
                </c:pt>
                <c:pt idx="4">
                  <c:v>85</c:v>
                </c:pt>
                <c:pt idx="5">
                  <c:v>28</c:v>
                </c:pt>
                <c:pt idx="6">
                  <c:v>47</c:v>
                </c:pt>
                <c:pt idx="7">
                  <c:v>9</c:v>
                </c:pt>
                <c:pt idx="8">
                  <c:v>51</c:v>
                </c:pt>
              </c:numCache>
            </c:numRef>
          </c:val>
          <c:extLst>
            <c:ext xmlns:c16="http://schemas.microsoft.com/office/drawing/2014/chart" uri="{C3380CC4-5D6E-409C-BE32-E72D297353CC}">
              <c16:uniqueId val="{00000002-A9D5-48FF-B141-7C2D62AE1622}"/>
            </c:ext>
          </c:extLst>
        </c:ser>
        <c:ser>
          <c:idx val="3"/>
          <c:order val="3"/>
          <c:tx>
            <c:strRef>
              <c:f>Hoja2!$J$7</c:f>
              <c:strCache>
                <c:ptCount val="1"/>
                <c:pt idx="0">
                  <c:v>OTRAS</c:v>
                </c:pt>
              </c:strCache>
            </c:strRef>
          </c:tx>
          <c:spPr>
            <a:solidFill>
              <a:schemeClr val="accent1">
                <a:tint val="77000"/>
              </a:schemeClr>
            </a:solidFill>
            <a:ln>
              <a:noFill/>
            </a:ln>
            <a:effectLst/>
          </c:spPr>
          <c:invertIfNegative val="0"/>
          <c:dLbls>
            <c:dLbl>
              <c:idx val="5"/>
              <c:layout>
                <c:manualLayout>
                  <c:x val="8.7346195614670767E-3"/>
                  <c:y val="3.369334808412183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A9D5-48FF-B141-7C2D62AE1622}"/>
                </c:ext>
              </c:extLst>
            </c:dLbl>
            <c:spPr>
              <a:noFill/>
              <a:ln>
                <a:noFill/>
              </a:ln>
              <a:effectLst/>
            </c:spPr>
            <c:txPr>
              <a:bodyPr rot="0" spcFirstLastPara="1" vertOverflow="ellipsis" vert="horz" wrap="square" lIns="38100" tIns="19050" rIns="38100" bIns="19050" anchor="ctr" anchorCtr="0">
                <a:spAutoFit/>
              </a:bodyPr>
              <a:lstStyle/>
              <a:p>
                <a:pPr algn="ctr">
                  <a:defRPr lang="en-US" sz="900" b="1" i="0" u="none" strike="noStrike" kern="1200" baseline="0">
                    <a:solidFill>
                      <a:srgbClr val="000000"/>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Hoja2!$K$3:$S$3</c:f>
              <c:strCache>
                <c:ptCount val="9"/>
                <c:pt idx="0">
                  <c:v>ENERO</c:v>
                </c:pt>
                <c:pt idx="1">
                  <c:v>FEBRERO</c:v>
                </c:pt>
                <c:pt idx="2">
                  <c:v>MARZO</c:v>
                </c:pt>
                <c:pt idx="3">
                  <c:v>ABRIL</c:v>
                </c:pt>
                <c:pt idx="4">
                  <c:v>MAYO</c:v>
                </c:pt>
                <c:pt idx="5">
                  <c:v>JUNIO</c:v>
                </c:pt>
                <c:pt idx="6">
                  <c:v>JULIO</c:v>
                </c:pt>
                <c:pt idx="7">
                  <c:v>AGOSTO</c:v>
                </c:pt>
                <c:pt idx="8">
                  <c:v>SEPTIEMBRE</c:v>
                </c:pt>
              </c:strCache>
            </c:strRef>
          </c:cat>
          <c:val>
            <c:numRef>
              <c:f>Hoja2!$K$7:$S$7</c:f>
              <c:numCache>
                <c:formatCode>General</c:formatCode>
                <c:ptCount val="9"/>
                <c:pt idx="0">
                  <c:v>12</c:v>
                </c:pt>
                <c:pt idx="1">
                  <c:v>23</c:v>
                </c:pt>
                <c:pt idx="2">
                  <c:v>23</c:v>
                </c:pt>
                <c:pt idx="3">
                  <c:v>12</c:v>
                </c:pt>
                <c:pt idx="4">
                  <c:v>9</c:v>
                </c:pt>
                <c:pt idx="5">
                  <c:v>15</c:v>
                </c:pt>
                <c:pt idx="6">
                  <c:v>34</c:v>
                </c:pt>
                <c:pt idx="7">
                  <c:v>165</c:v>
                </c:pt>
                <c:pt idx="8">
                  <c:v>30</c:v>
                </c:pt>
              </c:numCache>
            </c:numRef>
          </c:val>
          <c:extLst>
            <c:ext xmlns:c16="http://schemas.microsoft.com/office/drawing/2014/chart" uri="{C3380CC4-5D6E-409C-BE32-E72D297353CC}">
              <c16:uniqueId val="{00000003-A9D5-48FF-B141-7C2D62AE1622}"/>
            </c:ext>
          </c:extLst>
        </c:ser>
        <c:ser>
          <c:idx val="4"/>
          <c:order val="4"/>
          <c:tx>
            <c:strRef>
              <c:f>Hoja2!$J$8</c:f>
              <c:strCache>
                <c:ptCount val="1"/>
                <c:pt idx="0">
                  <c:v>EPS FAMILIAR</c:v>
                </c:pt>
              </c:strCache>
            </c:strRef>
          </c:tx>
          <c:spPr>
            <a:solidFill>
              <a:schemeClr val="accent1">
                <a:tint val="54000"/>
              </a:schemeClr>
            </a:solidFill>
            <a:ln>
              <a:noFill/>
            </a:ln>
            <a:effectLst/>
          </c:spPr>
          <c:invertIfNegative val="0"/>
          <c:dLbls>
            <c:dLbl>
              <c:idx val="0"/>
              <c:layout>
                <c:manualLayout>
                  <c:x val="-2.9115398538223322E-3"/>
                  <c:y val="1.123111602804064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A9D5-48FF-B141-7C2D62AE1622}"/>
                </c:ext>
              </c:extLst>
            </c:dLbl>
            <c:dLbl>
              <c:idx val="1"/>
              <c:layout>
                <c:manualLayout>
                  <c:x val="-5.3377614030657743E-17"/>
                  <c:y val="1.1231116028040545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A9D5-48FF-B141-7C2D62AE1622}"/>
                </c:ext>
              </c:extLst>
            </c:dLbl>
            <c:dLbl>
              <c:idx val="2"/>
              <c:layout>
                <c:manualLayout>
                  <c:x val="2.911539853822359E-3"/>
                  <c:y val="2.807779007010162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A9D5-48FF-B141-7C2D62AE1622}"/>
                </c:ext>
              </c:extLst>
            </c:dLbl>
            <c:dLbl>
              <c:idx val="4"/>
              <c:layout>
                <c:manualLayout>
                  <c:x val="8.7346195614670767E-3"/>
                  <c:y val="1.1231116028040545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A9D5-48FF-B141-7C2D62AE1622}"/>
                </c:ext>
              </c:extLst>
            </c:dLbl>
            <c:dLbl>
              <c:idx val="5"/>
              <c:layout>
                <c:manualLayout>
                  <c:x val="5.8230797076448248E-3"/>
                  <c:y val="1.123111602804064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A9D5-48FF-B141-7C2D62AE1622}"/>
                </c:ext>
              </c:extLst>
            </c:dLbl>
            <c:spPr>
              <a:noFill/>
              <a:ln>
                <a:noFill/>
              </a:ln>
              <a:effectLst/>
            </c:spPr>
            <c:txPr>
              <a:bodyPr rot="0" spcFirstLastPara="1" vertOverflow="ellipsis" vert="horz" wrap="square" lIns="38100" tIns="19050" rIns="38100" bIns="19050" anchor="ctr" anchorCtr="0">
                <a:spAutoFit/>
              </a:bodyPr>
              <a:lstStyle/>
              <a:p>
                <a:pPr algn="ctr">
                  <a:defRPr lang="en-US" sz="900" b="1" i="0" u="none" strike="noStrike" kern="1200" baseline="0">
                    <a:solidFill>
                      <a:srgbClr val="000000"/>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Hoja2!$K$3:$S$3</c:f>
              <c:strCache>
                <c:ptCount val="9"/>
                <c:pt idx="0">
                  <c:v>ENERO</c:v>
                </c:pt>
                <c:pt idx="1">
                  <c:v>FEBRERO</c:v>
                </c:pt>
                <c:pt idx="2">
                  <c:v>MARZO</c:v>
                </c:pt>
                <c:pt idx="3">
                  <c:v>ABRIL</c:v>
                </c:pt>
                <c:pt idx="4">
                  <c:v>MAYO</c:v>
                </c:pt>
                <c:pt idx="5">
                  <c:v>JUNIO</c:v>
                </c:pt>
                <c:pt idx="6">
                  <c:v>JULIO</c:v>
                </c:pt>
                <c:pt idx="7">
                  <c:v>AGOSTO</c:v>
                </c:pt>
                <c:pt idx="8">
                  <c:v>SEPTIEMBRE</c:v>
                </c:pt>
              </c:strCache>
            </c:strRef>
          </c:cat>
          <c:val>
            <c:numRef>
              <c:f>Hoja2!$K$8:$S$8</c:f>
              <c:numCache>
                <c:formatCode>General</c:formatCode>
                <c:ptCount val="9"/>
                <c:pt idx="0">
                  <c:v>2</c:v>
                </c:pt>
                <c:pt idx="1">
                  <c:v>3</c:v>
                </c:pt>
                <c:pt idx="2">
                  <c:v>1</c:v>
                </c:pt>
                <c:pt idx="3">
                  <c:v>4</c:v>
                </c:pt>
                <c:pt idx="4">
                  <c:v>3</c:v>
                </c:pt>
                <c:pt idx="5">
                  <c:v>2</c:v>
                </c:pt>
                <c:pt idx="6">
                  <c:v>6</c:v>
                </c:pt>
                <c:pt idx="7">
                  <c:v>20</c:v>
                </c:pt>
                <c:pt idx="8">
                  <c:v>5</c:v>
                </c:pt>
              </c:numCache>
            </c:numRef>
          </c:val>
          <c:extLst>
            <c:ext xmlns:c16="http://schemas.microsoft.com/office/drawing/2014/chart" uri="{C3380CC4-5D6E-409C-BE32-E72D297353CC}">
              <c16:uniqueId val="{00000004-A9D5-48FF-B141-7C2D62AE1622}"/>
            </c:ext>
          </c:extLst>
        </c:ser>
        <c:dLbls>
          <c:dLblPos val="outEnd"/>
          <c:showLegendKey val="0"/>
          <c:showVal val="1"/>
          <c:showCatName val="0"/>
          <c:showSerName val="0"/>
          <c:showPercent val="0"/>
          <c:showBubbleSize val="0"/>
        </c:dLbls>
        <c:gapWidth val="219"/>
        <c:overlap val="-27"/>
        <c:axId val="1697600512"/>
        <c:axId val="226612304"/>
      </c:barChart>
      <c:catAx>
        <c:axId val="169760051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lumMod val="65000"/>
                    <a:lumOff val="35000"/>
                  </a:schemeClr>
                </a:solidFill>
                <a:latin typeface="+mn-lt"/>
                <a:ea typeface="+mn-ea"/>
                <a:cs typeface="+mn-cs"/>
              </a:defRPr>
            </a:pPr>
            <a:endParaRPr lang="es-CO"/>
          </a:p>
        </c:txPr>
        <c:crossAx val="226612304"/>
        <c:crosses val="autoZero"/>
        <c:auto val="1"/>
        <c:lblAlgn val="ctr"/>
        <c:lblOffset val="100"/>
        <c:noMultiLvlLbl val="0"/>
      </c:catAx>
      <c:valAx>
        <c:axId val="226612304"/>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700" b="0" i="0" u="none" strike="noStrike" kern="1200" baseline="0">
                <a:solidFill>
                  <a:schemeClr val="bg1">
                    <a:lumMod val="75000"/>
                  </a:schemeClr>
                </a:solidFill>
                <a:latin typeface="+mn-lt"/>
                <a:ea typeface="+mn-ea"/>
                <a:cs typeface="+mn-cs"/>
              </a:defRPr>
            </a:pPr>
            <a:endParaRPr lang="es-CO"/>
          </a:p>
        </c:txPr>
        <c:crossAx val="16976005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r>
              <a:rPr lang="es-CO" sz="1200" b="1" i="0" u="sng" strike="noStrike" kern="1200" spc="0" baseline="0">
                <a:solidFill>
                  <a:sysClr val="windowText" lastClr="000000">
                    <a:lumMod val="65000"/>
                    <a:lumOff val="35000"/>
                  </a:sysClr>
                </a:solidFill>
                <a:effectLst/>
                <a:ea typeface="Calibri" panose="020F0502020204030204" pitchFamily="34" charset="0"/>
                <a:cs typeface="Calibri" panose="020F0502020204030204" pitchFamily="34" charset="0"/>
              </a:rPr>
              <a:t>NEGACIONES PERTINENTES</a:t>
            </a:r>
            <a:endParaRPr lang="es-CO" sz="1200" b="0" i="0" u="none" strike="noStrike" kern="1200" spc="0" baseline="0">
              <a:solidFill>
                <a:prstClr val="black">
                  <a:lumMod val="65000"/>
                  <a:lumOff val="35000"/>
                </a:prstClr>
              </a:solidFill>
              <a:effectLst/>
            </a:endParaRP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bar"/>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Hoja1!$O$8:$O$12</c:f>
              <c:strCache>
                <c:ptCount val="5"/>
                <c:pt idx="0">
                  <c:v>NO PGP</c:v>
                </c:pt>
                <c:pt idx="1">
                  <c:v>NO PERTINENTE</c:v>
                </c:pt>
                <c:pt idx="2">
                  <c:v>DIRECCIONAMINETO ADMIN.</c:v>
                </c:pt>
                <c:pt idx="3">
                  <c:v>ESPECIALIDAD </c:v>
                </c:pt>
                <c:pt idx="4">
                  <c:v>NO CAMAS</c:v>
                </c:pt>
              </c:strCache>
            </c:strRef>
          </c:cat>
          <c:val>
            <c:numRef>
              <c:f>Hoja1!$P$8:$P$12</c:f>
              <c:numCache>
                <c:formatCode>General</c:formatCode>
                <c:ptCount val="5"/>
                <c:pt idx="0">
                  <c:v>101</c:v>
                </c:pt>
                <c:pt idx="1">
                  <c:v>78</c:v>
                </c:pt>
                <c:pt idx="2">
                  <c:v>33</c:v>
                </c:pt>
                <c:pt idx="3">
                  <c:v>19</c:v>
                </c:pt>
                <c:pt idx="4">
                  <c:v>6</c:v>
                </c:pt>
              </c:numCache>
            </c:numRef>
          </c:val>
          <c:extLst>
            <c:ext xmlns:c16="http://schemas.microsoft.com/office/drawing/2014/chart" uri="{C3380CC4-5D6E-409C-BE32-E72D297353CC}">
              <c16:uniqueId val="{00000000-43F8-475F-9B04-014B1B597E92}"/>
            </c:ext>
          </c:extLst>
        </c:ser>
        <c:dLbls>
          <c:dLblPos val="outEnd"/>
          <c:showLegendKey val="0"/>
          <c:showVal val="1"/>
          <c:showCatName val="0"/>
          <c:showSerName val="0"/>
          <c:showPercent val="0"/>
          <c:showBubbleSize val="0"/>
        </c:dLbls>
        <c:gapWidth val="182"/>
        <c:axId val="1490621328"/>
        <c:axId val="1275751024"/>
      </c:barChart>
      <c:catAx>
        <c:axId val="14906213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1" i="0" u="none" strike="noStrike" kern="1200" baseline="0">
                <a:solidFill>
                  <a:schemeClr val="tx1">
                    <a:lumMod val="65000"/>
                    <a:lumOff val="35000"/>
                  </a:schemeClr>
                </a:solidFill>
                <a:latin typeface="+mn-lt"/>
                <a:ea typeface="+mn-ea"/>
                <a:cs typeface="+mn-cs"/>
              </a:defRPr>
            </a:pPr>
            <a:endParaRPr lang="es-CO"/>
          </a:p>
        </c:txPr>
        <c:crossAx val="1275751024"/>
        <c:crosses val="autoZero"/>
        <c:auto val="1"/>
        <c:lblAlgn val="ctr"/>
        <c:lblOffset val="100"/>
        <c:noMultiLvlLbl val="0"/>
      </c:catAx>
      <c:valAx>
        <c:axId val="127575102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49062132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s-CO"/>
    </a:p>
  </c:txPr>
  <c:externalData r:id="rId4">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s-CO" noProof="0"/>
              <a:t>Ingresos mensuales </a:t>
            </a:r>
            <a:r>
              <a:rPr lang="es-CO" baseline="0" noProof="0"/>
              <a:t>año 2025/2026 </a:t>
            </a:r>
            <a:endParaRPr lang="es-CO" noProof="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manualLayout>
          <c:layoutTarget val="inner"/>
          <c:xMode val="edge"/>
          <c:yMode val="edge"/>
          <c:x val="4.6518793513743363E-2"/>
          <c:y val="0.10914192482677793"/>
          <c:w val="0.89456604600109657"/>
          <c:h val="0.69806731511378073"/>
        </c:manualLayout>
      </c:layout>
      <c:barChart>
        <c:barDir val="col"/>
        <c:grouping val="clustered"/>
        <c:varyColors val="0"/>
        <c:ser>
          <c:idx val="0"/>
          <c:order val="0"/>
          <c:tx>
            <c:strRef>
              <c:f>Hoja1!$C$1</c:f>
              <c:strCache>
                <c:ptCount val="1"/>
                <c:pt idx="0">
                  <c:v>2025</c:v>
                </c:pt>
              </c:strCache>
            </c:strRef>
          </c:tx>
          <c:spPr>
            <a:solidFill>
              <a:srgbClr val="00A19C"/>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45A9A1"/>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Enero</c:v>
                </c:pt>
                <c:pt idx="1">
                  <c:v>Febrero</c:v>
                </c:pt>
                <c:pt idx="2">
                  <c:v>Marzo</c:v>
                </c:pt>
                <c:pt idx="3">
                  <c:v>Abril</c:v>
                </c:pt>
                <c:pt idx="4">
                  <c:v>Mayo</c:v>
                </c:pt>
                <c:pt idx="5">
                  <c:v>Junio</c:v>
                </c:pt>
                <c:pt idx="6">
                  <c:v>Julio</c:v>
                </c:pt>
                <c:pt idx="7">
                  <c:v>Agosto</c:v>
                </c:pt>
                <c:pt idx="8">
                  <c:v>Septiembre</c:v>
                </c:pt>
                <c:pt idx="9">
                  <c:v>Octubre</c:v>
                </c:pt>
                <c:pt idx="10">
                  <c:v>Noviembre</c:v>
                </c:pt>
                <c:pt idx="11">
                  <c:v>Diciembre</c:v>
                </c:pt>
              </c:strCache>
            </c:strRef>
          </c:cat>
          <c:val>
            <c:numRef>
              <c:f>Hoja1!$C$2:$C$13</c:f>
              <c:numCache>
                <c:formatCode>General</c:formatCode>
                <c:ptCount val="12"/>
                <c:pt idx="0">
                  <c:v>74</c:v>
                </c:pt>
                <c:pt idx="1">
                  <c:v>97</c:v>
                </c:pt>
                <c:pt idx="2">
                  <c:v>71</c:v>
                </c:pt>
                <c:pt idx="3">
                  <c:v>74</c:v>
                </c:pt>
                <c:pt idx="4">
                  <c:v>63</c:v>
                </c:pt>
                <c:pt idx="5">
                  <c:v>36</c:v>
                </c:pt>
                <c:pt idx="6">
                  <c:v>52</c:v>
                </c:pt>
                <c:pt idx="7">
                  <c:v>39</c:v>
                </c:pt>
                <c:pt idx="8">
                  <c:v>69</c:v>
                </c:pt>
                <c:pt idx="9">
                  <c:v>71</c:v>
                </c:pt>
                <c:pt idx="10">
                  <c:v>66</c:v>
                </c:pt>
                <c:pt idx="11">
                  <c:v>75</c:v>
                </c:pt>
              </c:numCache>
            </c:numRef>
          </c:val>
          <c:extLst>
            <c:ext xmlns:c16="http://schemas.microsoft.com/office/drawing/2014/chart" uri="{C3380CC4-5D6E-409C-BE32-E72D297353CC}">
              <c16:uniqueId val="{00000000-7AF9-4201-83AA-DE1DB9EBAA5C}"/>
            </c:ext>
          </c:extLst>
        </c:ser>
        <c:ser>
          <c:idx val="1"/>
          <c:order val="1"/>
          <c:tx>
            <c:strRef>
              <c:f>Hoja1!$D$1</c:f>
              <c:strCache>
                <c:ptCount val="1"/>
                <c:pt idx="0">
                  <c:v>2026</c:v>
                </c:pt>
              </c:strCache>
            </c:strRef>
          </c:tx>
          <c:spPr>
            <a:solidFill>
              <a:srgbClr val="7030A0"/>
            </a:solidFill>
            <a:ln>
              <a:solidFill>
                <a:schemeClr val="tx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trendline>
            <c:spPr>
              <a:ln w="9525" cap="rnd">
                <a:solidFill>
                  <a:schemeClr val="tx1"/>
                </a:solidFill>
                <a:prstDash val="sysDash"/>
              </a:ln>
              <a:effectLst/>
            </c:spPr>
            <c:trendlineType val="linear"/>
            <c:dispRSqr val="0"/>
            <c:dispEq val="0"/>
          </c:trendline>
          <c:cat>
            <c:strRef>
              <c:f>Hoja1!$A$2:$A$13</c:f>
              <c:strCache>
                <c:ptCount val="12"/>
                <c:pt idx="0">
                  <c:v>Enero</c:v>
                </c:pt>
                <c:pt idx="1">
                  <c:v>Febrero</c:v>
                </c:pt>
                <c:pt idx="2">
                  <c:v>Marzo</c:v>
                </c:pt>
                <c:pt idx="3">
                  <c:v>Abril</c:v>
                </c:pt>
                <c:pt idx="4">
                  <c:v>Mayo</c:v>
                </c:pt>
                <c:pt idx="5">
                  <c:v>Junio</c:v>
                </c:pt>
                <c:pt idx="6">
                  <c:v>Julio</c:v>
                </c:pt>
                <c:pt idx="7">
                  <c:v>Agosto</c:v>
                </c:pt>
                <c:pt idx="8">
                  <c:v>Septiembre</c:v>
                </c:pt>
                <c:pt idx="9">
                  <c:v>Octubre</c:v>
                </c:pt>
                <c:pt idx="10">
                  <c:v>Noviembre</c:v>
                </c:pt>
                <c:pt idx="11">
                  <c:v>Diciembre</c:v>
                </c:pt>
              </c:strCache>
            </c:strRef>
          </c:cat>
          <c:val>
            <c:numRef>
              <c:f>Hoja1!$D$2:$D$13</c:f>
              <c:numCache>
                <c:formatCode>General</c:formatCode>
                <c:ptCount val="12"/>
                <c:pt idx="0">
                  <c:v>54</c:v>
                </c:pt>
                <c:pt idx="1">
                  <c:v>67</c:v>
                </c:pt>
                <c:pt idx="2">
                  <c:v>60</c:v>
                </c:pt>
                <c:pt idx="3">
                  <c:v>64</c:v>
                </c:pt>
                <c:pt idx="4">
                  <c:v>60</c:v>
                </c:pt>
                <c:pt idx="5">
                  <c:v>60</c:v>
                </c:pt>
                <c:pt idx="6">
                  <c:v>55</c:v>
                </c:pt>
                <c:pt idx="7">
                  <c:v>31</c:v>
                </c:pt>
                <c:pt idx="8">
                  <c:v>31</c:v>
                </c:pt>
              </c:numCache>
            </c:numRef>
          </c:val>
          <c:extLst>
            <c:ext xmlns:c16="http://schemas.microsoft.com/office/drawing/2014/chart" uri="{C3380CC4-5D6E-409C-BE32-E72D297353CC}">
              <c16:uniqueId val="{00000001-7AF9-4201-83AA-DE1DB9EBAA5C}"/>
            </c:ext>
          </c:extLst>
        </c:ser>
        <c:dLbls>
          <c:showLegendKey val="0"/>
          <c:showVal val="0"/>
          <c:showCatName val="0"/>
          <c:showSerName val="0"/>
          <c:showPercent val="0"/>
          <c:showBubbleSize val="0"/>
        </c:dLbls>
        <c:gapWidth val="90"/>
        <c:axId val="-536214896"/>
        <c:axId val="-536205648"/>
      </c:barChart>
      <c:catAx>
        <c:axId val="-5362148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s-CO"/>
          </a:p>
        </c:txPr>
        <c:crossAx val="-536205648"/>
        <c:crosses val="autoZero"/>
        <c:auto val="1"/>
        <c:lblAlgn val="ctr"/>
        <c:lblOffset val="100"/>
        <c:noMultiLvlLbl val="0"/>
      </c:catAx>
      <c:valAx>
        <c:axId val="-53620564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1" i="0" u="none" strike="noStrike" kern="1200" baseline="0">
                    <a:solidFill>
                      <a:srgbClr val="6B6B6B"/>
                    </a:solidFill>
                    <a:latin typeface="+mn-lt"/>
                    <a:ea typeface="+mn-ea"/>
                    <a:cs typeface="+mn-cs"/>
                  </a:defRPr>
                </a:pPr>
                <a:r>
                  <a:rPr lang="es-CO" b="1" noProof="0" err="1">
                    <a:solidFill>
                      <a:srgbClr val="6B6B6B"/>
                    </a:solidFill>
                  </a:rPr>
                  <a:t>N°</a:t>
                </a:r>
                <a:r>
                  <a:rPr lang="es-CO" b="1" baseline="0" noProof="0">
                    <a:solidFill>
                      <a:srgbClr val="6B6B6B"/>
                    </a:solidFill>
                  </a:rPr>
                  <a:t> pacientes x mes</a:t>
                </a:r>
                <a:endParaRPr lang="es-CO" b="1" noProof="0">
                  <a:solidFill>
                    <a:srgbClr val="6B6B6B"/>
                  </a:solidFill>
                </a:endParaRPr>
              </a:p>
            </c:rich>
          </c:tx>
          <c:overlay val="0"/>
          <c:spPr>
            <a:noFill/>
            <a:ln>
              <a:noFill/>
            </a:ln>
            <a:effectLst/>
          </c:spPr>
          <c:txPr>
            <a:bodyPr rot="-5400000" spcFirstLastPara="1" vertOverflow="ellipsis" vert="horz" wrap="square" anchor="ctr" anchorCtr="1"/>
            <a:lstStyle/>
            <a:p>
              <a:pPr>
                <a:defRPr sz="1330" b="1" i="0" u="none" strike="noStrike" kern="1200" baseline="0">
                  <a:solidFill>
                    <a:srgbClr val="6B6B6B"/>
                  </a:solidFill>
                  <a:latin typeface="+mn-lt"/>
                  <a:ea typeface="+mn-ea"/>
                  <a:cs typeface="+mn-cs"/>
                </a:defRPr>
              </a:pPr>
              <a:endParaRPr lang="es-CO"/>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s-CO"/>
          </a:p>
        </c:txPr>
        <c:crossAx val="-536214896"/>
        <c:crosses val="autoZero"/>
        <c:crossBetween val="between"/>
      </c:valAx>
      <c:spPr>
        <a:noFill/>
        <a:ln>
          <a:noFill/>
        </a:ln>
        <a:effectLst/>
      </c:spPr>
    </c:plotArea>
    <c:legend>
      <c:legendPos val="b"/>
      <c:legendEntry>
        <c:idx val="1"/>
        <c:txPr>
          <a:bodyPr rot="0" spcFirstLastPara="1" vertOverflow="ellipsis" vert="horz" wrap="square" anchor="ctr" anchorCtr="1"/>
          <a:lstStyle/>
          <a:p>
            <a:pPr>
              <a:defRPr sz="1197" b="0" i="0" u="none" strike="noStrike" kern="1200" baseline="0">
                <a:solidFill>
                  <a:srgbClr val="00A19C"/>
                </a:solidFill>
                <a:latin typeface="+mn-lt"/>
                <a:ea typeface="+mn-ea"/>
                <a:cs typeface="+mn-cs"/>
              </a:defRPr>
            </a:pPr>
            <a:endParaRPr lang="es-CO"/>
          </a:p>
        </c:txPr>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s-CO"/>
    </a:p>
  </c:txPr>
  <c:externalData r:id="rId3">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s-CO" sz="1600" b="1" noProof="0"/>
              <a:t>Prevalencia</a:t>
            </a:r>
            <a:r>
              <a:rPr lang="es-CO" sz="1600" b="1" baseline="0" noProof="0"/>
              <a:t> Salud Total 2026</a:t>
            </a:r>
            <a:endParaRPr lang="es-CO" sz="1600" b="1" noProof="0"/>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Prevalencia!$G$41</c:f>
              <c:strCache>
                <c:ptCount val="1"/>
                <c:pt idx="0">
                  <c:v>2025</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Prevalencia!$E$42:$E$53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Prevalencia!$G$42:$G$53</c:f>
              <c:numCache>
                <c:formatCode>General</c:formatCode>
                <c:ptCount val="12"/>
                <c:pt idx="0">
                  <c:v>2191</c:v>
                </c:pt>
                <c:pt idx="1">
                  <c:v>2288</c:v>
                </c:pt>
                <c:pt idx="2">
                  <c:v>2360</c:v>
                </c:pt>
                <c:pt idx="3">
                  <c:v>2435</c:v>
                </c:pt>
                <c:pt idx="4">
                  <c:v>2499</c:v>
                </c:pt>
                <c:pt idx="5">
                  <c:v>2535</c:v>
                </c:pt>
                <c:pt idx="6">
                  <c:v>2587</c:v>
                </c:pt>
                <c:pt idx="7">
                  <c:v>2626</c:v>
                </c:pt>
                <c:pt idx="8">
                  <c:v>2695</c:v>
                </c:pt>
                <c:pt idx="9">
                  <c:v>2766</c:v>
                </c:pt>
                <c:pt idx="10">
                  <c:v>2831</c:v>
                </c:pt>
                <c:pt idx="11">
                  <c:v>2905</c:v>
                </c:pt>
              </c:numCache>
            </c:numRef>
          </c:val>
          <c:extLst>
            <c:ext xmlns:c16="http://schemas.microsoft.com/office/drawing/2014/chart" uri="{C3380CC4-5D6E-409C-BE32-E72D297353CC}">
              <c16:uniqueId val="{00000000-592B-4C5C-A683-BC80DED1B202}"/>
            </c:ext>
          </c:extLst>
        </c:ser>
        <c:ser>
          <c:idx val="2"/>
          <c:order val="1"/>
          <c:tx>
            <c:strRef>
              <c:f>Prevalencia!$I$41</c:f>
              <c:strCache>
                <c:ptCount val="1"/>
                <c:pt idx="0">
                  <c:v>2026</c:v>
                </c:pt>
              </c:strCache>
            </c:strRef>
          </c:tx>
          <c:spPr>
            <a:solidFill>
              <a:srgbClr val="4FA9A7"/>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rgbClr val="4FA9A7"/>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Prevalencia!$E$42:$E$53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Prevalencia!$I$42:$I$53</c:f>
              <c:numCache>
                <c:formatCode>General</c:formatCode>
                <c:ptCount val="12"/>
                <c:pt idx="0">
                  <c:v>2745</c:v>
                </c:pt>
                <c:pt idx="1">
                  <c:v>2812</c:v>
                </c:pt>
                <c:pt idx="2">
                  <c:v>2872</c:v>
                </c:pt>
                <c:pt idx="3">
                  <c:v>2936</c:v>
                </c:pt>
                <c:pt idx="4">
                  <c:v>2996</c:v>
                </c:pt>
                <c:pt idx="5">
                  <c:v>3056</c:v>
                </c:pt>
                <c:pt idx="6">
                  <c:v>3111</c:v>
                </c:pt>
                <c:pt idx="7">
                  <c:v>3142</c:v>
                </c:pt>
                <c:pt idx="8">
                  <c:v>3173</c:v>
                </c:pt>
              </c:numCache>
            </c:numRef>
          </c:val>
          <c:extLst>
            <c:ext xmlns:c16="http://schemas.microsoft.com/office/drawing/2014/chart" uri="{C3380CC4-5D6E-409C-BE32-E72D297353CC}">
              <c16:uniqueId val="{00000000-C014-42D3-B5E8-4BDA33A3BF5A}"/>
            </c:ext>
          </c:extLst>
        </c:ser>
        <c:dLbls>
          <c:showLegendKey val="0"/>
          <c:showVal val="0"/>
          <c:showCatName val="0"/>
          <c:showSerName val="0"/>
          <c:showPercent val="0"/>
          <c:showBubbleSize val="0"/>
        </c:dLbls>
        <c:gapWidth val="150"/>
        <c:axId val="1259645839"/>
        <c:axId val="1259641039"/>
      </c:barChart>
      <c:lineChart>
        <c:grouping val="standard"/>
        <c:varyColors val="0"/>
        <c:ser>
          <c:idx val="3"/>
          <c:order val="2"/>
          <c:tx>
            <c:strRef>
              <c:f>Prevalencia!$J$41</c:f>
              <c:strCache>
                <c:ptCount val="1"/>
                <c:pt idx="0">
                  <c:v>Prevalencia 2026</c:v>
                </c:pt>
              </c:strCache>
            </c:strRef>
          </c:tx>
          <c:spPr>
            <a:ln w="28575" cap="rnd">
              <a:solidFill>
                <a:srgbClr val="4FA9A7"/>
              </a:solidFill>
              <a:round/>
            </a:ln>
            <a:effectLst/>
          </c:spPr>
          <c:marker>
            <c:symbol val="none"/>
          </c:marker>
          <c:dLbls>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1100" b="0" i="0" u="none" strike="noStrike" kern="1200" baseline="0">
                    <a:solidFill>
                      <a:srgbClr val="4FA9A7"/>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leftArrow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Prevalencia!$E$42:$E$53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Prevalencia!$J$42:$J$53</c:f>
              <c:numCache>
                <c:formatCode>0</c:formatCode>
                <c:ptCount val="12"/>
                <c:pt idx="0">
                  <c:v>1528.0050766507466</c:v>
                </c:pt>
                <c:pt idx="1">
                  <c:v>1565.3006468276499</c:v>
                </c:pt>
                <c:pt idx="2">
                  <c:v>1598.6996648965187</c:v>
                </c:pt>
                <c:pt idx="3">
                  <c:v>1634.3252841699789</c:v>
                </c:pt>
                <c:pt idx="4">
                  <c:v>1456.8441526866036</c:v>
                </c:pt>
                <c:pt idx="5">
                  <c:v>1486.0199367858011</c:v>
                </c:pt>
                <c:pt idx="6">
                  <c:v>1512.7644055433989</c:v>
                </c:pt>
                <c:pt idx="7">
                  <c:v>1527.8385606613178</c:v>
                </c:pt>
                <c:pt idx="8">
                  <c:v>1542.9127157792366</c:v>
                </c:pt>
              </c:numCache>
            </c:numRef>
          </c:val>
          <c:smooth val="0"/>
          <c:extLst>
            <c:ext xmlns:c16="http://schemas.microsoft.com/office/drawing/2014/chart" uri="{C3380CC4-5D6E-409C-BE32-E72D297353CC}">
              <c16:uniqueId val="{00000001-C014-42D3-B5E8-4BDA33A3BF5A}"/>
            </c:ext>
          </c:extLst>
        </c:ser>
        <c:dLbls>
          <c:showLegendKey val="0"/>
          <c:showVal val="0"/>
          <c:showCatName val="0"/>
          <c:showSerName val="0"/>
          <c:showPercent val="0"/>
          <c:showBubbleSize val="0"/>
        </c:dLbls>
        <c:marker val="1"/>
        <c:smooth val="0"/>
        <c:axId val="1259645839"/>
        <c:axId val="1259641039"/>
      </c:lineChart>
      <c:catAx>
        <c:axId val="125964583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259641039"/>
        <c:crosses val="autoZero"/>
        <c:auto val="1"/>
        <c:lblAlgn val="ctr"/>
        <c:lblOffset val="100"/>
        <c:noMultiLvlLbl val="0"/>
      </c:catAx>
      <c:valAx>
        <c:axId val="125964103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25964583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solidFill>
        <a:schemeClr val="tx1"/>
      </a:solidFill>
    </a:ln>
    <a:effectLst/>
  </c:spPr>
  <c:txPr>
    <a:bodyPr/>
    <a:lstStyle/>
    <a:p>
      <a:pPr>
        <a:defRPr/>
      </a:pPr>
      <a:endParaRPr lang="es-CO"/>
    </a:p>
  </c:txPr>
  <c:externalData r:id="rId3">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6518793513743363E-2"/>
          <c:y val="0.10914192482677793"/>
          <c:w val="0.89456604600109657"/>
          <c:h val="0.69806731511378073"/>
        </c:manualLayout>
      </c:layout>
      <c:barChart>
        <c:barDir val="col"/>
        <c:grouping val="clustered"/>
        <c:varyColors val="0"/>
        <c:ser>
          <c:idx val="0"/>
          <c:order val="0"/>
          <c:tx>
            <c:strRef>
              <c:f>Hoja1!$C$1</c:f>
              <c:strCache>
                <c:ptCount val="1"/>
                <c:pt idx="0">
                  <c:v>2025</c:v>
                </c:pt>
              </c:strCache>
            </c:strRef>
          </c:tx>
          <c:spPr>
            <a:solidFill>
              <a:srgbClr val="00A19C"/>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s-CO"/>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Enero</c:v>
                </c:pt>
                <c:pt idx="1">
                  <c:v>Febrero</c:v>
                </c:pt>
                <c:pt idx="2">
                  <c:v>Marzo</c:v>
                </c:pt>
                <c:pt idx="3">
                  <c:v>Abril</c:v>
                </c:pt>
                <c:pt idx="4">
                  <c:v>Mayo</c:v>
                </c:pt>
                <c:pt idx="5">
                  <c:v>Junio</c:v>
                </c:pt>
                <c:pt idx="6">
                  <c:v>Julio</c:v>
                </c:pt>
                <c:pt idx="7">
                  <c:v>Agosto</c:v>
                </c:pt>
                <c:pt idx="8">
                  <c:v>Septiembre</c:v>
                </c:pt>
                <c:pt idx="9">
                  <c:v>Octubre</c:v>
                </c:pt>
                <c:pt idx="10">
                  <c:v>Noviembre</c:v>
                </c:pt>
                <c:pt idx="11">
                  <c:v>Diciembre</c:v>
                </c:pt>
              </c:strCache>
            </c:strRef>
          </c:cat>
          <c:val>
            <c:numRef>
              <c:f>Hoja1!$C$2:$C$13</c:f>
              <c:numCache>
                <c:formatCode>General</c:formatCode>
                <c:ptCount val="12"/>
                <c:pt idx="0">
                  <c:v>52</c:v>
                </c:pt>
                <c:pt idx="1">
                  <c:v>66</c:v>
                </c:pt>
                <c:pt idx="2">
                  <c:v>59</c:v>
                </c:pt>
                <c:pt idx="3">
                  <c:v>39</c:v>
                </c:pt>
                <c:pt idx="4">
                  <c:v>45</c:v>
                </c:pt>
                <c:pt idx="5">
                  <c:v>24</c:v>
                </c:pt>
                <c:pt idx="6">
                  <c:v>43</c:v>
                </c:pt>
                <c:pt idx="7">
                  <c:v>31</c:v>
                </c:pt>
                <c:pt idx="8">
                  <c:v>65</c:v>
                </c:pt>
                <c:pt idx="9">
                  <c:v>38</c:v>
                </c:pt>
                <c:pt idx="10">
                  <c:v>40</c:v>
                </c:pt>
                <c:pt idx="11">
                  <c:v>18</c:v>
                </c:pt>
              </c:numCache>
            </c:numRef>
          </c:val>
          <c:extLst>
            <c:ext xmlns:c16="http://schemas.microsoft.com/office/drawing/2014/chart" uri="{C3380CC4-5D6E-409C-BE32-E72D297353CC}">
              <c16:uniqueId val="{00000000-7AF9-4201-83AA-DE1DB9EBAA5C}"/>
            </c:ext>
          </c:extLst>
        </c:ser>
        <c:ser>
          <c:idx val="1"/>
          <c:order val="1"/>
          <c:tx>
            <c:strRef>
              <c:f>Hoja1!$D$1</c:f>
              <c:strCache>
                <c:ptCount val="1"/>
                <c:pt idx="0">
                  <c:v>2026</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s-CO"/>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Enero</c:v>
                </c:pt>
                <c:pt idx="1">
                  <c:v>Febrero</c:v>
                </c:pt>
                <c:pt idx="2">
                  <c:v>Marzo</c:v>
                </c:pt>
                <c:pt idx="3">
                  <c:v>Abril</c:v>
                </c:pt>
                <c:pt idx="4">
                  <c:v>Mayo</c:v>
                </c:pt>
                <c:pt idx="5">
                  <c:v>Junio</c:v>
                </c:pt>
                <c:pt idx="6">
                  <c:v>Julio</c:v>
                </c:pt>
                <c:pt idx="7">
                  <c:v>Agosto</c:v>
                </c:pt>
                <c:pt idx="8">
                  <c:v>Septiembre</c:v>
                </c:pt>
                <c:pt idx="9">
                  <c:v>Octubre</c:v>
                </c:pt>
                <c:pt idx="10">
                  <c:v>Noviembre</c:v>
                </c:pt>
                <c:pt idx="11">
                  <c:v>Diciembre</c:v>
                </c:pt>
              </c:strCache>
            </c:strRef>
          </c:cat>
          <c:val>
            <c:numRef>
              <c:f>Hoja1!$D$2:$D$13</c:f>
              <c:numCache>
                <c:formatCode>General</c:formatCode>
                <c:ptCount val="12"/>
                <c:pt idx="0">
                  <c:v>27</c:v>
                </c:pt>
                <c:pt idx="1">
                  <c:v>46</c:v>
                </c:pt>
                <c:pt idx="2">
                  <c:v>37</c:v>
                </c:pt>
                <c:pt idx="3">
                  <c:v>48</c:v>
                </c:pt>
                <c:pt idx="4">
                  <c:v>52</c:v>
                </c:pt>
                <c:pt idx="5">
                  <c:v>49</c:v>
                </c:pt>
                <c:pt idx="6">
                  <c:v>46</c:v>
                </c:pt>
                <c:pt idx="7">
                  <c:v>22</c:v>
                </c:pt>
                <c:pt idx="8">
                  <c:v>27</c:v>
                </c:pt>
              </c:numCache>
            </c:numRef>
          </c:val>
          <c:extLst>
            <c:ext xmlns:c16="http://schemas.microsoft.com/office/drawing/2014/chart" uri="{C3380CC4-5D6E-409C-BE32-E72D297353CC}">
              <c16:uniqueId val="{00000001-7AF9-4201-83AA-DE1DB9EBAA5C}"/>
            </c:ext>
          </c:extLst>
        </c:ser>
        <c:dLbls>
          <c:showLegendKey val="0"/>
          <c:showVal val="1"/>
          <c:showCatName val="0"/>
          <c:showSerName val="0"/>
          <c:showPercent val="0"/>
          <c:showBubbleSize val="0"/>
        </c:dLbls>
        <c:gapWidth val="90"/>
        <c:overlap val="-5"/>
        <c:axId val="-536205104"/>
        <c:axId val="-536208912"/>
      </c:barChart>
      <c:lineChart>
        <c:grouping val="standard"/>
        <c:varyColors val="0"/>
        <c:ser>
          <c:idx val="4"/>
          <c:order val="2"/>
          <c:tx>
            <c:strRef>
              <c:f>Hoja1!$G$1</c:f>
              <c:strCache>
                <c:ptCount val="1"/>
                <c:pt idx="0">
                  <c:v>Tasa 2026</c:v>
                </c:pt>
              </c:strCache>
            </c:strRef>
          </c:tx>
          <c:spPr>
            <a:ln w="28575" cap="rnd">
              <a:solidFill>
                <a:schemeClr val="tx1"/>
              </a:solidFill>
              <a:round/>
            </a:ln>
            <a:effectLst/>
          </c:spPr>
          <c:marker>
            <c:symbol val="none"/>
          </c:marker>
          <c:dLbls>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1197" b="1" i="0" u="none" strike="noStrike" kern="1200" baseline="0">
                    <a:solidFill>
                      <a:schemeClr val="dk1">
                        <a:lumMod val="65000"/>
                        <a:lumOff val="3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leftArrow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Enero</c:v>
                </c:pt>
                <c:pt idx="1">
                  <c:v>Febrero</c:v>
                </c:pt>
                <c:pt idx="2">
                  <c:v>Marzo</c:v>
                </c:pt>
                <c:pt idx="3">
                  <c:v>Abril</c:v>
                </c:pt>
                <c:pt idx="4">
                  <c:v>Mayo</c:v>
                </c:pt>
                <c:pt idx="5">
                  <c:v>Junio</c:v>
                </c:pt>
                <c:pt idx="6">
                  <c:v>Julio</c:v>
                </c:pt>
                <c:pt idx="7">
                  <c:v>Agosto</c:v>
                </c:pt>
                <c:pt idx="8">
                  <c:v>Septiembre</c:v>
                </c:pt>
                <c:pt idx="9">
                  <c:v>Octubre</c:v>
                </c:pt>
                <c:pt idx="10">
                  <c:v>Noviembre</c:v>
                </c:pt>
                <c:pt idx="11">
                  <c:v>Diciembre</c:v>
                </c:pt>
              </c:strCache>
            </c:strRef>
          </c:cat>
          <c:val>
            <c:numRef>
              <c:f>Hoja1!$G$2:$G$13</c:f>
              <c:numCache>
                <c:formatCode>0</c:formatCode>
                <c:ptCount val="12"/>
                <c:pt idx="0">
                  <c:v>15.029558130990949</c:v>
                </c:pt>
                <c:pt idx="1">
                  <c:v>25.605913852799393</c:v>
                </c:pt>
                <c:pt idx="2">
                  <c:v>20.596061142469079</c:v>
                </c:pt>
                <c:pt idx="3">
                  <c:v>26.719214455095024</c:v>
                </c:pt>
                <c:pt idx="4">
                  <c:v>25.285679552637976</c:v>
                </c:pt>
                <c:pt idx="5">
                  <c:v>23.826890347678095</c:v>
                </c:pt>
                <c:pt idx="6">
                  <c:v>22.36810114271821</c:v>
                </c:pt>
                <c:pt idx="7">
                  <c:v>10.697787503039144</c:v>
                </c:pt>
                <c:pt idx="8">
                  <c:v>13.129102844638949</c:v>
                </c:pt>
              </c:numCache>
            </c:numRef>
          </c:val>
          <c:smooth val="0"/>
          <c:extLst>
            <c:ext xmlns:c16="http://schemas.microsoft.com/office/drawing/2014/chart" uri="{C3380CC4-5D6E-409C-BE32-E72D297353CC}">
              <c16:uniqueId val="{00000000-E49F-43C3-AD82-54D2DDDE1C3F}"/>
            </c:ext>
          </c:extLst>
        </c:ser>
        <c:dLbls>
          <c:showLegendKey val="0"/>
          <c:showVal val="0"/>
          <c:showCatName val="0"/>
          <c:showSerName val="0"/>
          <c:showPercent val="0"/>
          <c:showBubbleSize val="0"/>
        </c:dLbls>
        <c:marker val="1"/>
        <c:smooth val="0"/>
        <c:axId val="-536218704"/>
        <c:axId val="-536204016"/>
      </c:lineChart>
      <c:catAx>
        <c:axId val="-5362051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s-CO"/>
          </a:p>
        </c:txPr>
        <c:crossAx val="-536208912"/>
        <c:crosses val="autoZero"/>
        <c:auto val="1"/>
        <c:lblAlgn val="ctr"/>
        <c:lblOffset val="100"/>
        <c:noMultiLvlLbl val="0"/>
      </c:catAx>
      <c:valAx>
        <c:axId val="-53620891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1" i="0" u="none" strike="noStrike" kern="1200" baseline="0">
                    <a:solidFill>
                      <a:srgbClr val="6B6B6B"/>
                    </a:solidFill>
                    <a:latin typeface="+mn-lt"/>
                    <a:ea typeface="+mn-ea"/>
                    <a:cs typeface="+mn-cs"/>
                  </a:defRPr>
                </a:pPr>
                <a:r>
                  <a:rPr lang="es-CO" b="1" noProof="0" err="1">
                    <a:solidFill>
                      <a:srgbClr val="6B6B6B"/>
                    </a:solidFill>
                  </a:rPr>
                  <a:t>N°</a:t>
                </a:r>
                <a:r>
                  <a:rPr lang="es-CO" b="1" baseline="0" noProof="0">
                    <a:solidFill>
                      <a:srgbClr val="6B6B6B"/>
                    </a:solidFill>
                  </a:rPr>
                  <a:t> pacientes x mes</a:t>
                </a:r>
                <a:endParaRPr lang="es-CO" b="1" noProof="0">
                  <a:solidFill>
                    <a:srgbClr val="6B6B6B"/>
                  </a:solidFill>
                </a:endParaRPr>
              </a:p>
            </c:rich>
          </c:tx>
          <c:overlay val="0"/>
          <c:spPr>
            <a:noFill/>
            <a:ln>
              <a:noFill/>
            </a:ln>
            <a:effectLst/>
          </c:spPr>
          <c:txPr>
            <a:bodyPr rot="-5400000" spcFirstLastPara="1" vertOverflow="ellipsis" vert="horz" wrap="square" anchor="ctr" anchorCtr="1"/>
            <a:lstStyle/>
            <a:p>
              <a:pPr>
                <a:defRPr sz="1330" b="1" i="0" u="none" strike="noStrike" kern="1200" baseline="0">
                  <a:solidFill>
                    <a:srgbClr val="6B6B6B"/>
                  </a:solidFill>
                  <a:latin typeface="+mn-lt"/>
                  <a:ea typeface="+mn-ea"/>
                  <a:cs typeface="+mn-cs"/>
                </a:defRPr>
              </a:pPr>
              <a:endParaRPr lang="es-CO"/>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s-CO"/>
          </a:p>
        </c:txPr>
        <c:crossAx val="-536205104"/>
        <c:crosses val="autoZero"/>
        <c:crossBetween val="between"/>
      </c:valAx>
      <c:valAx>
        <c:axId val="-536204016"/>
        <c:scaling>
          <c:orientation val="minMax"/>
        </c:scaling>
        <c:delete val="0"/>
        <c:axPos val="r"/>
        <c:title>
          <c:tx>
            <c:rich>
              <a:bodyPr rot="-5400000" spcFirstLastPara="1" vertOverflow="ellipsis" vert="horz" wrap="square" anchor="ctr" anchorCtr="1"/>
              <a:lstStyle/>
              <a:p>
                <a:pPr>
                  <a:defRPr sz="1330" b="1" i="0" u="none" strike="noStrike" kern="1200" baseline="0">
                    <a:solidFill>
                      <a:srgbClr val="00A19C"/>
                    </a:solidFill>
                    <a:latin typeface="+mn-lt"/>
                    <a:ea typeface="+mn-ea"/>
                    <a:cs typeface="+mn-cs"/>
                  </a:defRPr>
                </a:pPr>
                <a:r>
                  <a:rPr lang="es-CO" b="1" noProof="0">
                    <a:solidFill>
                      <a:srgbClr val="00A19C"/>
                    </a:solidFill>
                  </a:rPr>
                  <a:t>Tasa x 100.000 usuarios</a:t>
                </a:r>
              </a:p>
            </c:rich>
          </c:tx>
          <c:layout>
            <c:manualLayout>
              <c:xMode val="edge"/>
              <c:yMode val="edge"/>
              <c:x val="0.97443138950394181"/>
              <c:y val="0.23066341843520202"/>
            </c:manualLayout>
          </c:layout>
          <c:overlay val="0"/>
          <c:spPr>
            <a:noFill/>
            <a:ln>
              <a:noFill/>
            </a:ln>
            <a:effectLst/>
          </c:spPr>
          <c:txPr>
            <a:bodyPr rot="-5400000" spcFirstLastPara="1" vertOverflow="ellipsis" vert="horz" wrap="square" anchor="ctr" anchorCtr="1"/>
            <a:lstStyle/>
            <a:p>
              <a:pPr>
                <a:defRPr sz="1330" b="1" i="0" u="none" strike="noStrike" kern="1200" baseline="0">
                  <a:solidFill>
                    <a:srgbClr val="00A19C"/>
                  </a:solidFill>
                  <a:latin typeface="+mn-lt"/>
                  <a:ea typeface="+mn-ea"/>
                  <a:cs typeface="+mn-cs"/>
                </a:defRPr>
              </a:pPr>
              <a:endParaRPr lang="es-CO"/>
            </a:p>
          </c:txPr>
        </c:title>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536218704"/>
        <c:crosses val="max"/>
        <c:crossBetween val="between"/>
      </c:valAx>
      <c:catAx>
        <c:axId val="-536218704"/>
        <c:scaling>
          <c:orientation val="minMax"/>
        </c:scaling>
        <c:delete val="1"/>
        <c:axPos val="b"/>
        <c:numFmt formatCode="General" sourceLinked="1"/>
        <c:majorTickMark val="out"/>
        <c:minorTickMark val="none"/>
        <c:tickLblPos val="nextTo"/>
        <c:crossAx val="-536204016"/>
        <c:crosses val="autoZero"/>
        <c:auto val="1"/>
        <c:lblAlgn val="ctr"/>
        <c:lblOffset val="100"/>
        <c:noMultiLvlLbl val="0"/>
      </c:catAx>
      <c:spPr>
        <a:noFill/>
        <a:ln>
          <a:noFill/>
        </a:ln>
        <a:effectLst/>
      </c:spPr>
    </c:plotArea>
    <c:legend>
      <c:legendPos val="b"/>
      <c:legendEntry>
        <c:idx val="1"/>
        <c:txPr>
          <a:bodyPr rot="0" spcFirstLastPara="1" vertOverflow="ellipsis" vert="horz" wrap="square" anchor="ctr" anchorCtr="1"/>
          <a:lstStyle/>
          <a:p>
            <a:pPr>
              <a:defRPr sz="1197" b="0" i="0" u="none" strike="noStrike" kern="1200" baseline="0">
                <a:solidFill>
                  <a:srgbClr val="00A19C"/>
                </a:solidFill>
                <a:latin typeface="+mn-lt"/>
                <a:ea typeface="+mn-ea"/>
                <a:cs typeface="+mn-cs"/>
              </a:defRPr>
            </a:pPr>
            <a:endParaRPr lang="es-CO"/>
          </a:p>
        </c:txPr>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s-CO"/>
    </a:p>
  </c:txPr>
  <c:externalData r:id="rId3">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s-CO" sz="1800" b="1" i="0" u="none" strike="noStrike" kern="1200" spc="0" baseline="0" noProof="0">
                <a:solidFill>
                  <a:schemeClr val="tx2"/>
                </a:solidFill>
              </a:rPr>
              <a:t>Pirámide poblacional cohorte Salud Total agosto 2026</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bar"/>
        <c:grouping val="clustered"/>
        <c:varyColors val="0"/>
        <c:ser>
          <c:idx val="0"/>
          <c:order val="0"/>
          <c:tx>
            <c:strRef>
              <c:f>incidencia!$AI$5</c:f>
              <c:strCache>
                <c:ptCount val="1"/>
              </c:strCache>
            </c:strRef>
          </c:tx>
          <c:spPr>
            <a:solidFill>
              <a:srgbClr val="47A9A1"/>
            </a:solidFill>
            <a:ln>
              <a:noFill/>
            </a:ln>
            <a:effectLst/>
          </c:spPr>
          <c:invertIfNegative val="0"/>
          <c:cat>
            <c:strRef>
              <c:f>incidencia!$AH$6:$AH$19</c:f>
              <c:strCache>
                <c:ptCount val="14"/>
                <c:pt idx="0">
                  <c:v>Total general</c:v>
                </c:pt>
                <c:pt idx="1">
                  <c:v>1</c:v>
                </c:pt>
                <c:pt idx="2">
                  <c:v>1</c:v>
                </c:pt>
                <c:pt idx="3">
                  <c:v>1</c:v>
                </c:pt>
                <c:pt idx="4">
                  <c:v>1</c:v>
                </c:pt>
                <c:pt idx="5">
                  <c:v>6</c:v>
                </c:pt>
                <c:pt idx="6">
                  <c:v>1</c:v>
                </c:pt>
                <c:pt idx="7">
                  <c:v>1</c:v>
                </c:pt>
                <c:pt idx="8">
                  <c:v>1</c:v>
                </c:pt>
                <c:pt idx="9">
                  <c:v>1</c:v>
                </c:pt>
                <c:pt idx="10">
                  <c:v>3</c:v>
                </c:pt>
                <c:pt idx="11">
                  <c:v>1</c:v>
                </c:pt>
                <c:pt idx="12">
                  <c:v>1</c:v>
                </c:pt>
                <c:pt idx="13">
                  <c:v>1</c:v>
                </c:pt>
              </c:strCache>
            </c:strRef>
          </c:cat>
          <c:val>
            <c:numRef>
              <c:f>incidencia!$AI$6:$AI$19</c:f>
              <c:numCache>
                <c:formatCode>General</c:formatCode>
                <c:ptCount val="14"/>
              </c:numCache>
            </c:numRef>
          </c:val>
          <c:extLst>
            <c:ext xmlns:c16="http://schemas.microsoft.com/office/drawing/2014/chart" uri="{C3380CC4-5D6E-409C-BE32-E72D297353CC}">
              <c16:uniqueId val="{00000000-4768-4463-A805-6920F1E07705}"/>
            </c:ext>
          </c:extLst>
        </c:ser>
        <c:ser>
          <c:idx val="1"/>
          <c:order val="1"/>
          <c:tx>
            <c:strRef>
              <c:f>incidencia!$AJ$5</c:f>
              <c:strCache>
                <c:ptCount val="1"/>
              </c:strCache>
            </c:strRef>
          </c:tx>
          <c:spPr>
            <a:solidFill>
              <a:srgbClr val="8158A1"/>
            </a:solidFill>
            <a:ln>
              <a:noFill/>
            </a:ln>
            <a:effectLst/>
          </c:spPr>
          <c:invertIfNegative val="0"/>
          <c:cat>
            <c:strRef>
              <c:f>incidencia!$AH$6:$AH$19</c:f>
              <c:strCache>
                <c:ptCount val="14"/>
                <c:pt idx="0">
                  <c:v>Total general</c:v>
                </c:pt>
                <c:pt idx="1">
                  <c:v>1</c:v>
                </c:pt>
                <c:pt idx="2">
                  <c:v>1</c:v>
                </c:pt>
                <c:pt idx="3">
                  <c:v>1</c:v>
                </c:pt>
                <c:pt idx="4">
                  <c:v>1</c:v>
                </c:pt>
                <c:pt idx="5">
                  <c:v>6</c:v>
                </c:pt>
                <c:pt idx="6">
                  <c:v>1</c:v>
                </c:pt>
                <c:pt idx="7">
                  <c:v>1</c:v>
                </c:pt>
                <c:pt idx="8">
                  <c:v>1</c:v>
                </c:pt>
                <c:pt idx="9">
                  <c:v>1</c:v>
                </c:pt>
                <c:pt idx="10">
                  <c:v>3</c:v>
                </c:pt>
                <c:pt idx="11">
                  <c:v>1</c:v>
                </c:pt>
                <c:pt idx="12">
                  <c:v>1</c:v>
                </c:pt>
                <c:pt idx="13">
                  <c:v>1</c:v>
                </c:pt>
              </c:strCache>
            </c:strRef>
          </c:cat>
          <c:val>
            <c:numRef>
              <c:f>incidencia!$AJ$6:$AJ$19</c:f>
              <c:numCache>
                <c:formatCode>General</c:formatCode>
                <c:ptCount val="14"/>
                <c:pt idx="0">
                  <c:v>0</c:v>
                </c:pt>
                <c:pt idx="1">
                  <c:v>0</c:v>
                </c:pt>
                <c:pt idx="2">
                  <c:v>0</c:v>
                </c:pt>
                <c:pt idx="3">
                  <c:v>0</c:v>
                </c:pt>
                <c:pt idx="4">
                  <c:v>0</c:v>
                </c:pt>
                <c:pt idx="5">
                  <c:v>0</c:v>
                </c:pt>
                <c:pt idx="6">
                  <c:v>0</c:v>
                </c:pt>
                <c:pt idx="7">
                  <c:v>0</c:v>
                </c:pt>
                <c:pt idx="8">
                  <c:v>0</c:v>
                </c:pt>
                <c:pt idx="9">
                  <c:v>0</c:v>
                </c:pt>
                <c:pt idx="10">
                  <c:v>0</c:v>
                </c:pt>
                <c:pt idx="11">
                  <c:v>0</c:v>
                </c:pt>
                <c:pt idx="12">
                  <c:v>0</c:v>
                </c:pt>
                <c:pt idx="13">
                  <c:v>0</c:v>
                </c:pt>
              </c:numCache>
            </c:numRef>
          </c:val>
          <c:extLst>
            <c:ext xmlns:c16="http://schemas.microsoft.com/office/drawing/2014/chart" uri="{C3380CC4-5D6E-409C-BE32-E72D297353CC}">
              <c16:uniqueId val="{00000001-4768-4463-A805-6920F1E07705}"/>
            </c:ext>
          </c:extLst>
        </c:ser>
        <c:dLbls>
          <c:showLegendKey val="0"/>
          <c:showVal val="0"/>
          <c:showCatName val="0"/>
          <c:showSerName val="0"/>
          <c:showPercent val="0"/>
          <c:showBubbleSize val="0"/>
        </c:dLbls>
        <c:gapWidth val="182"/>
        <c:overlap val="66"/>
        <c:axId val="1737255072"/>
        <c:axId val="1737255552"/>
      </c:barChart>
      <c:catAx>
        <c:axId val="1737255072"/>
        <c:scaling>
          <c:orientation val="minMax"/>
        </c:scaling>
        <c:delete val="1"/>
        <c:axPos val="l"/>
        <c:numFmt formatCode="General" sourceLinked="1"/>
        <c:majorTickMark val="none"/>
        <c:minorTickMark val="none"/>
        <c:tickLblPos val="high"/>
        <c:crossAx val="1737255552"/>
        <c:crosses val="autoZero"/>
        <c:auto val="1"/>
        <c:lblAlgn val="ctr"/>
        <c:lblOffset val="100"/>
        <c:noMultiLvlLbl val="0"/>
      </c:catAx>
      <c:valAx>
        <c:axId val="173725555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737255072"/>
        <c:crosses val="autoZero"/>
        <c:crossBetween val="between"/>
      </c:valAx>
      <c:spPr>
        <a:noFill/>
        <a:ln>
          <a:solidFill>
            <a:schemeClr val="tx1"/>
          </a:solid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8778108817478896E-2"/>
          <c:y val="3.5242867759325065E-2"/>
          <c:w val="0.86682042278498972"/>
          <c:h val="0.79885702107301493"/>
        </c:manualLayout>
      </c:layout>
      <c:barChart>
        <c:barDir val="bar"/>
        <c:grouping val="clustered"/>
        <c:varyColors val="0"/>
        <c:ser>
          <c:idx val="0"/>
          <c:order val="0"/>
          <c:tx>
            <c:strRef>
              <c:f>incidencia!$AZ$5</c:f>
              <c:strCache>
                <c:ptCount val="1"/>
                <c:pt idx="0">
                  <c:v>F</c:v>
                </c:pt>
              </c:strCache>
            </c:strRef>
          </c:tx>
          <c:spPr>
            <a:solidFill>
              <a:srgbClr val="47A9A1"/>
            </a:solidFill>
            <a:ln>
              <a:noFill/>
            </a:ln>
            <a:effectLst/>
          </c:spPr>
          <c:invertIfNegative val="0"/>
          <c:cat>
            <c:strRef>
              <c:f>incidencia!$AY$6:$AY$19</c:f>
              <c:strCache>
                <c:ptCount val="14"/>
                <c:pt idx="0">
                  <c:v>18 - 25</c:v>
                </c:pt>
                <c:pt idx="1">
                  <c:v>26 - 30</c:v>
                </c:pt>
                <c:pt idx="2">
                  <c:v>31 - 35</c:v>
                </c:pt>
                <c:pt idx="3">
                  <c:v>36 - 40</c:v>
                </c:pt>
                <c:pt idx="4">
                  <c:v>41 - 45</c:v>
                </c:pt>
                <c:pt idx="5">
                  <c:v>46 - 50</c:v>
                </c:pt>
                <c:pt idx="6">
                  <c:v>51 - 55</c:v>
                </c:pt>
                <c:pt idx="7">
                  <c:v>56 - 60</c:v>
                </c:pt>
                <c:pt idx="8">
                  <c:v>61 - 65</c:v>
                </c:pt>
                <c:pt idx="9">
                  <c:v>66 - 70</c:v>
                </c:pt>
                <c:pt idx="10">
                  <c:v>71 - 75</c:v>
                </c:pt>
                <c:pt idx="11">
                  <c:v>76 - 80</c:v>
                </c:pt>
                <c:pt idx="12">
                  <c:v>81 - 85</c:v>
                </c:pt>
                <c:pt idx="13">
                  <c:v>86 - 90</c:v>
                </c:pt>
              </c:strCache>
            </c:strRef>
          </c:cat>
          <c:val>
            <c:numRef>
              <c:f>incidencia!$AZ$6:$AZ$19</c:f>
              <c:numCache>
                <c:formatCode>General</c:formatCode>
                <c:ptCount val="14"/>
                <c:pt idx="0">
                  <c:v>14</c:v>
                </c:pt>
                <c:pt idx="1">
                  <c:v>24</c:v>
                </c:pt>
                <c:pt idx="2">
                  <c:v>40</c:v>
                </c:pt>
                <c:pt idx="3">
                  <c:v>78</c:v>
                </c:pt>
                <c:pt idx="4">
                  <c:v>81</c:v>
                </c:pt>
                <c:pt idx="5">
                  <c:v>100</c:v>
                </c:pt>
                <c:pt idx="6">
                  <c:v>132</c:v>
                </c:pt>
                <c:pt idx="7">
                  <c:v>170</c:v>
                </c:pt>
                <c:pt idx="8">
                  <c:v>175</c:v>
                </c:pt>
                <c:pt idx="9">
                  <c:v>161</c:v>
                </c:pt>
                <c:pt idx="10">
                  <c:v>137</c:v>
                </c:pt>
                <c:pt idx="11">
                  <c:v>127</c:v>
                </c:pt>
                <c:pt idx="12">
                  <c:v>59</c:v>
                </c:pt>
                <c:pt idx="13">
                  <c:v>41</c:v>
                </c:pt>
              </c:numCache>
            </c:numRef>
          </c:val>
          <c:extLst>
            <c:ext xmlns:c16="http://schemas.microsoft.com/office/drawing/2014/chart" uri="{C3380CC4-5D6E-409C-BE32-E72D297353CC}">
              <c16:uniqueId val="{00000000-4C8F-4F89-BA0F-DBA22760AFE6}"/>
            </c:ext>
          </c:extLst>
        </c:ser>
        <c:ser>
          <c:idx val="1"/>
          <c:order val="1"/>
          <c:tx>
            <c:strRef>
              <c:f>incidencia!$BA$5</c:f>
              <c:strCache>
                <c:ptCount val="1"/>
                <c:pt idx="0">
                  <c:v>M</c:v>
                </c:pt>
              </c:strCache>
            </c:strRef>
          </c:tx>
          <c:spPr>
            <a:solidFill>
              <a:srgbClr val="8158A1"/>
            </a:solidFill>
            <a:ln>
              <a:noFill/>
            </a:ln>
            <a:effectLst/>
          </c:spPr>
          <c:invertIfNegative val="0"/>
          <c:cat>
            <c:strRef>
              <c:f>incidencia!$AY$6:$AY$19</c:f>
              <c:strCache>
                <c:ptCount val="14"/>
                <c:pt idx="0">
                  <c:v>18 - 25</c:v>
                </c:pt>
                <c:pt idx="1">
                  <c:v>26 - 30</c:v>
                </c:pt>
                <c:pt idx="2">
                  <c:v>31 - 35</c:v>
                </c:pt>
                <c:pt idx="3">
                  <c:v>36 - 40</c:v>
                </c:pt>
                <c:pt idx="4">
                  <c:v>41 - 45</c:v>
                </c:pt>
                <c:pt idx="5">
                  <c:v>46 - 50</c:v>
                </c:pt>
                <c:pt idx="6">
                  <c:v>51 - 55</c:v>
                </c:pt>
                <c:pt idx="7">
                  <c:v>56 - 60</c:v>
                </c:pt>
                <c:pt idx="8">
                  <c:v>61 - 65</c:v>
                </c:pt>
                <c:pt idx="9">
                  <c:v>66 - 70</c:v>
                </c:pt>
                <c:pt idx="10">
                  <c:v>71 - 75</c:v>
                </c:pt>
                <c:pt idx="11">
                  <c:v>76 - 80</c:v>
                </c:pt>
                <c:pt idx="12">
                  <c:v>81 - 85</c:v>
                </c:pt>
                <c:pt idx="13">
                  <c:v>86 - 90</c:v>
                </c:pt>
              </c:strCache>
            </c:strRef>
          </c:cat>
          <c:val>
            <c:numRef>
              <c:f>incidencia!$BA$6:$BA$19</c:f>
              <c:numCache>
                <c:formatCode>General</c:formatCode>
                <c:ptCount val="14"/>
                <c:pt idx="0">
                  <c:v>-18</c:v>
                </c:pt>
                <c:pt idx="1">
                  <c:v>-9</c:v>
                </c:pt>
                <c:pt idx="2">
                  <c:v>-27</c:v>
                </c:pt>
                <c:pt idx="3">
                  <c:v>-22</c:v>
                </c:pt>
                <c:pt idx="4">
                  <c:v>-27</c:v>
                </c:pt>
                <c:pt idx="5">
                  <c:v>-16</c:v>
                </c:pt>
                <c:pt idx="6">
                  <c:v>-49</c:v>
                </c:pt>
                <c:pt idx="7">
                  <c:v>-67</c:v>
                </c:pt>
                <c:pt idx="8">
                  <c:v>-116</c:v>
                </c:pt>
                <c:pt idx="9">
                  <c:v>-158</c:v>
                </c:pt>
                <c:pt idx="10">
                  <c:v>-170</c:v>
                </c:pt>
                <c:pt idx="11">
                  <c:v>-149</c:v>
                </c:pt>
                <c:pt idx="12">
                  <c:v>-97</c:v>
                </c:pt>
                <c:pt idx="13">
                  <c:v>-44</c:v>
                </c:pt>
              </c:numCache>
            </c:numRef>
          </c:val>
          <c:extLst>
            <c:ext xmlns:c16="http://schemas.microsoft.com/office/drawing/2014/chart" uri="{C3380CC4-5D6E-409C-BE32-E72D297353CC}">
              <c16:uniqueId val="{00000001-4C8F-4F89-BA0F-DBA22760AFE6}"/>
            </c:ext>
          </c:extLst>
        </c:ser>
        <c:dLbls>
          <c:showLegendKey val="0"/>
          <c:showVal val="0"/>
          <c:showCatName val="0"/>
          <c:showSerName val="0"/>
          <c:showPercent val="0"/>
          <c:showBubbleSize val="0"/>
        </c:dLbls>
        <c:gapWidth val="182"/>
        <c:overlap val="66"/>
        <c:axId val="1737255072"/>
        <c:axId val="1737255552"/>
      </c:barChart>
      <c:catAx>
        <c:axId val="1737255072"/>
        <c:scaling>
          <c:orientation val="minMax"/>
        </c:scaling>
        <c:delete val="0"/>
        <c:axPos val="l"/>
        <c:numFmt formatCode="General" sourceLinked="1"/>
        <c:majorTickMark val="none"/>
        <c:minorTickMark val="none"/>
        <c:tickLblPos val="high"/>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737255552"/>
        <c:crosses val="autoZero"/>
        <c:auto val="1"/>
        <c:lblAlgn val="ctr"/>
        <c:lblOffset val="100"/>
        <c:noMultiLvlLbl val="0"/>
      </c:catAx>
      <c:valAx>
        <c:axId val="173725555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73725507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s-CO"/>
              <a:t>Distribución de la Cohorte Salud Total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Prevalencia!$F$4</c:f>
              <c:strCache>
                <c:ptCount val="1"/>
                <c:pt idx="0">
                  <c:v>Casos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Prevalencia!$E$5:$E$23</c:f>
              <c:strCache>
                <c:ptCount val="19"/>
                <c:pt idx="0">
                  <c:v>16= Otros tumores de la piel</c:v>
                </c:pt>
                <c:pt idx="1">
                  <c:v>1= CAC Mama</c:v>
                </c:pt>
                <c:pt idx="2">
                  <c:v>2= CAC Próstata</c:v>
                </c:pt>
                <c:pt idx="3">
                  <c:v>4= CAC Colorectal</c:v>
                </c:pt>
                <c:pt idx="4">
                  <c:v>22= Glándulas tiroides y endocrinas</c:v>
                </c:pt>
                <c:pt idx="5">
                  <c:v>3= CAC Cérvix</c:v>
                </c:pt>
                <c:pt idx="6">
                  <c:v>24= Otros tumores malignos del tejido linfático, de los órganos hematopoyéticos y de tejidos afines</c:v>
                </c:pt>
                <c:pt idx="7">
                  <c:v>20= Vías urinarias</c:v>
                </c:pt>
                <c:pt idx="8">
                  <c:v>18= Otros órganos genitales femeninos</c:v>
                </c:pt>
                <c:pt idx="9">
                  <c:v>9= CAC Linfoma No Hodgkin</c:v>
                </c:pt>
                <c:pt idx="10">
                  <c:v>5= CAC Estómago</c:v>
                </c:pt>
                <c:pt idx="11">
                  <c:v>13= Otros órganos digestivos</c:v>
                </c:pt>
                <c:pt idx="12">
                  <c:v>6= CAC Melanoma</c:v>
                </c:pt>
                <c:pt idx="13">
                  <c:v>19= Otros órganos genitales masculinos</c:v>
                </c:pt>
                <c:pt idx="14">
                  <c:v>12= Labio, cavidad bucal y faringe</c:v>
                </c:pt>
                <c:pt idx="15">
                  <c:v>21= Ojo, encéfalo, y otras partes del sistema nervioso</c:v>
                </c:pt>
                <c:pt idx="16">
                  <c:v>7= CAC Pulmón</c:v>
                </c:pt>
                <c:pt idx="17">
                  <c:v>8= CAC Linfoma Hodgkin</c:v>
                </c:pt>
                <c:pt idx="18">
                  <c:v>17= Tejidos mesoteliales (excepto pulmón) y tejidos blandos</c:v>
                </c:pt>
              </c:strCache>
            </c:strRef>
          </c:cat>
          <c:val>
            <c:numRef>
              <c:f>Prevalencia!$F$5:$F$23</c:f>
              <c:numCache>
                <c:formatCode>General</c:formatCode>
                <c:ptCount val="19"/>
                <c:pt idx="0">
                  <c:v>861</c:v>
                </c:pt>
                <c:pt idx="1">
                  <c:v>591</c:v>
                </c:pt>
                <c:pt idx="2">
                  <c:v>426</c:v>
                </c:pt>
                <c:pt idx="3">
                  <c:v>190</c:v>
                </c:pt>
                <c:pt idx="4">
                  <c:v>188</c:v>
                </c:pt>
                <c:pt idx="5">
                  <c:v>144</c:v>
                </c:pt>
                <c:pt idx="6">
                  <c:v>97</c:v>
                </c:pt>
                <c:pt idx="7">
                  <c:v>97</c:v>
                </c:pt>
                <c:pt idx="8">
                  <c:v>94</c:v>
                </c:pt>
                <c:pt idx="9">
                  <c:v>80</c:v>
                </c:pt>
                <c:pt idx="10">
                  <c:v>60</c:v>
                </c:pt>
                <c:pt idx="11">
                  <c:v>49</c:v>
                </c:pt>
                <c:pt idx="12">
                  <c:v>41</c:v>
                </c:pt>
                <c:pt idx="13">
                  <c:v>36</c:v>
                </c:pt>
                <c:pt idx="14">
                  <c:v>35</c:v>
                </c:pt>
                <c:pt idx="15">
                  <c:v>33</c:v>
                </c:pt>
                <c:pt idx="16">
                  <c:v>28</c:v>
                </c:pt>
                <c:pt idx="17">
                  <c:v>28</c:v>
                </c:pt>
                <c:pt idx="18">
                  <c:v>25</c:v>
                </c:pt>
              </c:numCache>
            </c:numRef>
          </c:val>
          <c:extLst>
            <c:ext xmlns:c16="http://schemas.microsoft.com/office/drawing/2014/chart" uri="{C3380CC4-5D6E-409C-BE32-E72D297353CC}">
              <c16:uniqueId val="{00000000-D1D7-4051-B475-2A0FFBE00404}"/>
            </c:ext>
          </c:extLst>
        </c:ser>
        <c:dLbls>
          <c:showLegendKey val="0"/>
          <c:showVal val="0"/>
          <c:showCatName val="0"/>
          <c:showSerName val="0"/>
          <c:showPercent val="0"/>
          <c:showBubbleSize val="0"/>
        </c:dLbls>
        <c:gapWidth val="219"/>
        <c:overlap val="-27"/>
        <c:axId val="2105935280"/>
        <c:axId val="2105933840"/>
      </c:barChart>
      <c:lineChart>
        <c:grouping val="standard"/>
        <c:varyColors val="0"/>
        <c:ser>
          <c:idx val="1"/>
          <c:order val="1"/>
          <c:tx>
            <c:strRef>
              <c:f>Prevalencia!$G$4</c:f>
              <c:strCache>
                <c:ptCount val="1"/>
                <c:pt idx="0">
                  <c:v>Tasa x 100 mil</c:v>
                </c:pt>
              </c:strCache>
            </c:strRef>
          </c:tx>
          <c:spPr>
            <a:ln w="28575" cap="rnd">
              <a:solidFill>
                <a:srgbClr val="47A9A1"/>
              </a:solidFill>
              <a:round/>
            </a:ln>
            <a:effectLst/>
          </c:spPr>
          <c:marker>
            <c:symbol val="none"/>
          </c:marker>
          <c:dLbls>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rgbClr val="47A9A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leftArrow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Prevalencia!$E$5:$E$23</c:f>
              <c:strCache>
                <c:ptCount val="19"/>
                <c:pt idx="0">
                  <c:v>16= Otros tumores de la piel</c:v>
                </c:pt>
                <c:pt idx="1">
                  <c:v>1= CAC Mama</c:v>
                </c:pt>
                <c:pt idx="2">
                  <c:v>2= CAC Próstata</c:v>
                </c:pt>
                <c:pt idx="3">
                  <c:v>4= CAC Colorectal</c:v>
                </c:pt>
                <c:pt idx="4">
                  <c:v>22= Glándulas tiroides y endocrinas</c:v>
                </c:pt>
                <c:pt idx="5">
                  <c:v>3= CAC Cérvix</c:v>
                </c:pt>
                <c:pt idx="6">
                  <c:v>24= Otros tumores malignos del tejido linfático, de los órganos hematopoyéticos y de tejidos afines</c:v>
                </c:pt>
                <c:pt idx="7">
                  <c:v>20= Vías urinarias</c:v>
                </c:pt>
                <c:pt idx="8">
                  <c:v>18= Otros órganos genitales femeninos</c:v>
                </c:pt>
                <c:pt idx="9">
                  <c:v>9= CAC Linfoma No Hodgkin</c:v>
                </c:pt>
                <c:pt idx="10">
                  <c:v>5= CAC Estómago</c:v>
                </c:pt>
                <c:pt idx="11">
                  <c:v>13= Otros órganos digestivos</c:v>
                </c:pt>
                <c:pt idx="12">
                  <c:v>6= CAC Melanoma</c:v>
                </c:pt>
                <c:pt idx="13">
                  <c:v>19= Otros órganos genitales masculinos</c:v>
                </c:pt>
                <c:pt idx="14">
                  <c:v>12= Labio, cavidad bucal y faringe</c:v>
                </c:pt>
                <c:pt idx="15">
                  <c:v>21= Ojo, encéfalo, y otras partes del sistema nervioso</c:v>
                </c:pt>
                <c:pt idx="16">
                  <c:v>7= CAC Pulmón</c:v>
                </c:pt>
                <c:pt idx="17">
                  <c:v>8= CAC Linfoma Hodgkin</c:v>
                </c:pt>
                <c:pt idx="18">
                  <c:v>17= Tejidos mesoteliales (excepto pulmón) y tejidos blandos</c:v>
                </c:pt>
              </c:strCache>
            </c:strRef>
          </c:cat>
          <c:val>
            <c:numRef>
              <c:f>Prevalencia!$G$5:$G$23</c:f>
              <c:numCache>
                <c:formatCode>0</c:formatCode>
                <c:ptCount val="19"/>
                <c:pt idx="0">
                  <c:v>418.67250182348647</c:v>
                </c:pt>
                <c:pt idx="1">
                  <c:v>287.381473377097</c:v>
                </c:pt>
                <c:pt idx="2">
                  <c:v>207.14806710430341</c:v>
                </c:pt>
                <c:pt idx="3">
                  <c:v>92.38998298079261</c:v>
                </c:pt>
                <c:pt idx="4">
                  <c:v>91.417456844152682</c:v>
                </c:pt>
                <c:pt idx="5">
                  <c:v>70.021881838074393</c:v>
                </c:pt>
                <c:pt idx="6">
                  <c:v>47.167517627036226</c:v>
                </c:pt>
                <c:pt idx="7">
                  <c:v>47.167517627036226</c:v>
                </c:pt>
                <c:pt idx="8">
                  <c:v>45.708728422076341</c:v>
                </c:pt>
                <c:pt idx="9">
                  <c:v>38.901045465596887</c:v>
                </c:pt>
                <c:pt idx="10">
                  <c:v>29.175784099197664</c:v>
                </c:pt>
                <c:pt idx="11">
                  <c:v>23.826890347678095</c:v>
                </c:pt>
                <c:pt idx="12">
                  <c:v>19.936785801118404</c:v>
                </c:pt>
                <c:pt idx="13">
                  <c:v>17.505470459518598</c:v>
                </c:pt>
                <c:pt idx="14">
                  <c:v>17.019207391198638</c:v>
                </c:pt>
                <c:pt idx="15">
                  <c:v>16.046681254558717</c:v>
                </c:pt>
                <c:pt idx="16">
                  <c:v>13.615365912958913</c:v>
                </c:pt>
                <c:pt idx="17">
                  <c:v>13.615365912958913</c:v>
                </c:pt>
                <c:pt idx="18">
                  <c:v>12.156576707999028</c:v>
                </c:pt>
              </c:numCache>
            </c:numRef>
          </c:val>
          <c:smooth val="0"/>
          <c:extLst>
            <c:ext xmlns:c16="http://schemas.microsoft.com/office/drawing/2014/chart" uri="{C3380CC4-5D6E-409C-BE32-E72D297353CC}">
              <c16:uniqueId val="{00000001-D1D7-4051-B475-2A0FFBE00404}"/>
            </c:ext>
          </c:extLst>
        </c:ser>
        <c:dLbls>
          <c:showLegendKey val="0"/>
          <c:showVal val="0"/>
          <c:showCatName val="0"/>
          <c:showSerName val="0"/>
          <c:showPercent val="0"/>
          <c:showBubbleSize val="0"/>
        </c:dLbls>
        <c:marker val="1"/>
        <c:smooth val="0"/>
        <c:axId val="2105938160"/>
        <c:axId val="2105943440"/>
      </c:lineChart>
      <c:catAx>
        <c:axId val="21059352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2105933840"/>
        <c:crosses val="autoZero"/>
        <c:auto val="1"/>
        <c:lblAlgn val="ctr"/>
        <c:lblOffset val="100"/>
        <c:noMultiLvlLbl val="0"/>
      </c:catAx>
      <c:valAx>
        <c:axId val="21059338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2105935280"/>
        <c:crosses val="autoZero"/>
        <c:crossBetween val="between"/>
      </c:valAx>
      <c:valAx>
        <c:axId val="2105943440"/>
        <c:scaling>
          <c:orientation val="minMax"/>
        </c:scaling>
        <c:delete val="0"/>
        <c:axPos val="r"/>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2105938160"/>
        <c:crosses val="max"/>
        <c:crossBetween val="between"/>
      </c:valAx>
      <c:catAx>
        <c:axId val="2105938160"/>
        <c:scaling>
          <c:orientation val="minMax"/>
        </c:scaling>
        <c:delete val="1"/>
        <c:axPos val="b"/>
        <c:numFmt formatCode="General" sourceLinked="1"/>
        <c:majorTickMark val="none"/>
        <c:minorTickMark val="none"/>
        <c:tickLblPos val="nextTo"/>
        <c:crossAx val="2105943440"/>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47A9A1"/>
                </a:solidFill>
                <a:latin typeface="+mn-lt"/>
                <a:ea typeface="+mn-ea"/>
                <a:cs typeface="+mn-cs"/>
              </a:defRPr>
            </a:pPr>
            <a:r>
              <a:rPr lang="es-CO" b="1">
                <a:solidFill>
                  <a:srgbClr val="47A9A1"/>
                </a:solidFill>
              </a:rPr>
              <a:t>Prevalencia de cánceres Priorizados Salud Total Septiembre 2026 </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47A9A1"/>
              </a:solidFill>
              <a:latin typeface="+mn-lt"/>
              <a:ea typeface="+mn-ea"/>
              <a:cs typeface="+mn-cs"/>
            </a:defRPr>
          </a:pPr>
          <a:endParaRPr lang="es-CO"/>
        </a:p>
      </c:txPr>
    </c:title>
    <c:autoTitleDeleted val="0"/>
    <c:plotArea>
      <c:layout/>
      <c:barChart>
        <c:barDir val="col"/>
        <c:grouping val="clustered"/>
        <c:varyColors val="0"/>
        <c:ser>
          <c:idx val="0"/>
          <c:order val="0"/>
          <c:tx>
            <c:strRef>
              <c:f>Prevalencia!$F$80</c:f>
              <c:strCache>
                <c:ptCount val="1"/>
                <c:pt idx="0">
                  <c:v>Casos</c:v>
                </c:pt>
              </c:strCache>
            </c:strRef>
          </c:tx>
          <c:spPr>
            <a:solidFill>
              <a:srgbClr val="47A9A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47A9A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Prevalencia!$E$81:$E$91</c:f>
              <c:strCache>
                <c:ptCount val="11"/>
                <c:pt idx="0">
                  <c:v>1= CAC Mama</c:v>
                </c:pt>
                <c:pt idx="1">
                  <c:v>2= CAC Próstata</c:v>
                </c:pt>
                <c:pt idx="2">
                  <c:v>4= CAC Colorectal</c:v>
                </c:pt>
                <c:pt idx="3">
                  <c:v>3= CAC Cérvix</c:v>
                </c:pt>
                <c:pt idx="4">
                  <c:v>9= CAC Linfoma No Hodgkin</c:v>
                </c:pt>
                <c:pt idx="5">
                  <c:v>5= CAC Estómago</c:v>
                </c:pt>
                <c:pt idx="6">
                  <c:v>6= CAC Melanoma</c:v>
                </c:pt>
                <c:pt idx="7">
                  <c:v>8= CAC Linfoma Hodgkin</c:v>
                </c:pt>
                <c:pt idx="8">
                  <c:v>7= CAC Pulmón</c:v>
                </c:pt>
                <c:pt idx="9">
                  <c:v>10= CAC Leucemia Linfocitica Aguda</c:v>
                </c:pt>
                <c:pt idx="10">
                  <c:v>11= CAC Leucemia Mielocitica Aguda</c:v>
                </c:pt>
              </c:strCache>
            </c:strRef>
          </c:cat>
          <c:val>
            <c:numRef>
              <c:f>Prevalencia!$F$81:$F$91</c:f>
              <c:numCache>
                <c:formatCode>General</c:formatCode>
                <c:ptCount val="11"/>
                <c:pt idx="0">
                  <c:v>591</c:v>
                </c:pt>
                <c:pt idx="1">
                  <c:v>426</c:v>
                </c:pt>
                <c:pt idx="2">
                  <c:v>190</c:v>
                </c:pt>
                <c:pt idx="3">
                  <c:v>144</c:v>
                </c:pt>
                <c:pt idx="4">
                  <c:v>80</c:v>
                </c:pt>
                <c:pt idx="5">
                  <c:v>60</c:v>
                </c:pt>
                <c:pt idx="6">
                  <c:v>41</c:v>
                </c:pt>
                <c:pt idx="7">
                  <c:v>28</c:v>
                </c:pt>
                <c:pt idx="8">
                  <c:v>28</c:v>
                </c:pt>
                <c:pt idx="9">
                  <c:v>11</c:v>
                </c:pt>
                <c:pt idx="10">
                  <c:v>9</c:v>
                </c:pt>
              </c:numCache>
            </c:numRef>
          </c:val>
          <c:extLst>
            <c:ext xmlns:c16="http://schemas.microsoft.com/office/drawing/2014/chart" uri="{C3380CC4-5D6E-409C-BE32-E72D297353CC}">
              <c16:uniqueId val="{00000000-D395-4E70-9A7A-551FE029A375}"/>
            </c:ext>
          </c:extLst>
        </c:ser>
        <c:dLbls>
          <c:showLegendKey val="0"/>
          <c:showVal val="0"/>
          <c:showCatName val="0"/>
          <c:showSerName val="0"/>
          <c:showPercent val="0"/>
          <c:showBubbleSize val="0"/>
        </c:dLbls>
        <c:gapWidth val="219"/>
        <c:axId val="1260037823"/>
        <c:axId val="1260042623"/>
      </c:barChart>
      <c:lineChart>
        <c:grouping val="standard"/>
        <c:varyColors val="0"/>
        <c:ser>
          <c:idx val="1"/>
          <c:order val="1"/>
          <c:tx>
            <c:strRef>
              <c:f>Prevalencia!$G$80</c:f>
              <c:strCache>
                <c:ptCount val="1"/>
                <c:pt idx="0">
                  <c:v>Tasa x 100 mil</c:v>
                </c:pt>
              </c:strCache>
            </c:strRef>
          </c:tx>
          <c:spPr>
            <a:ln w="28575" cap="rnd">
              <a:solidFill>
                <a:srgbClr val="47A9A1"/>
              </a:solidFill>
              <a:round/>
            </a:ln>
            <a:effectLst/>
          </c:spPr>
          <c:marker>
            <c:symbol val="none"/>
          </c:marker>
          <c:dPt>
            <c:idx val="1"/>
            <c:marker>
              <c:symbol val="none"/>
            </c:marker>
            <c:bubble3D val="0"/>
            <c:spPr>
              <a:ln w="28575" cap="rnd">
                <a:solidFill>
                  <a:schemeClr val="tx1"/>
                </a:solidFill>
                <a:round/>
              </a:ln>
              <a:effectLst/>
            </c:spPr>
            <c:extLst>
              <c:ext xmlns:c16="http://schemas.microsoft.com/office/drawing/2014/chart" uri="{C3380CC4-5D6E-409C-BE32-E72D297353CC}">
                <c16:uniqueId val="{00000002-D395-4E70-9A7A-551FE029A375}"/>
              </c:ext>
            </c:extLst>
          </c:dPt>
          <c:dLbls>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leftArrow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Prevalencia!$E$81:$E$91</c:f>
              <c:strCache>
                <c:ptCount val="11"/>
                <c:pt idx="0">
                  <c:v>1= CAC Mama</c:v>
                </c:pt>
                <c:pt idx="1">
                  <c:v>2= CAC Próstata</c:v>
                </c:pt>
                <c:pt idx="2">
                  <c:v>4= CAC Colorectal</c:v>
                </c:pt>
                <c:pt idx="3">
                  <c:v>3= CAC Cérvix</c:v>
                </c:pt>
                <c:pt idx="4">
                  <c:v>9= CAC Linfoma No Hodgkin</c:v>
                </c:pt>
                <c:pt idx="5">
                  <c:v>5= CAC Estómago</c:v>
                </c:pt>
                <c:pt idx="6">
                  <c:v>6= CAC Melanoma</c:v>
                </c:pt>
                <c:pt idx="7">
                  <c:v>8= CAC Linfoma Hodgkin</c:v>
                </c:pt>
                <c:pt idx="8">
                  <c:v>7= CAC Pulmón</c:v>
                </c:pt>
                <c:pt idx="9">
                  <c:v>10= CAC Leucemia Linfocitica Aguda</c:v>
                </c:pt>
                <c:pt idx="10">
                  <c:v>11= CAC Leucemia Mielocitica Aguda</c:v>
                </c:pt>
              </c:strCache>
            </c:strRef>
          </c:cat>
          <c:val>
            <c:numRef>
              <c:f>Prevalencia!$G$81:$G$91</c:f>
              <c:numCache>
                <c:formatCode>0</c:formatCode>
                <c:ptCount val="11"/>
                <c:pt idx="0">
                  <c:v>287.381473377097</c:v>
                </c:pt>
                <c:pt idx="1">
                  <c:v>207.14806710430341</c:v>
                </c:pt>
                <c:pt idx="2">
                  <c:v>92.38998298079261</c:v>
                </c:pt>
                <c:pt idx="3">
                  <c:v>70.021881838074393</c:v>
                </c:pt>
                <c:pt idx="4">
                  <c:v>38.901045465596887</c:v>
                </c:pt>
                <c:pt idx="5">
                  <c:v>29.175784099197664</c:v>
                </c:pt>
                <c:pt idx="6">
                  <c:v>19.936785801118404</c:v>
                </c:pt>
                <c:pt idx="7">
                  <c:v>13.615365912958913</c:v>
                </c:pt>
                <c:pt idx="8">
                  <c:v>13.615365912958913</c:v>
                </c:pt>
                <c:pt idx="9">
                  <c:v>5.3488937515195722</c:v>
                </c:pt>
                <c:pt idx="10">
                  <c:v>4.3763676148796495</c:v>
                </c:pt>
              </c:numCache>
            </c:numRef>
          </c:val>
          <c:smooth val="0"/>
          <c:extLst>
            <c:ext xmlns:c16="http://schemas.microsoft.com/office/drawing/2014/chart" uri="{C3380CC4-5D6E-409C-BE32-E72D297353CC}">
              <c16:uniqueId val="{00000001-D395-4E70-9A7A-551FE029A375}"/>
            </c:ext>
          </c:extLst>
        </c:ser>
        <c:dLbls>
          <c:showLegendKey val="0"/>
          <c:showVal val="0"/>
          <c:showCatName val="0"/>
          <c:showSerName val="0"/>
          <c:showPercent val="0"/>
          <c:showBubbleSize val="0"/>
        </c:dLbls>
        <c:marker val="1"/>
        <c:smooth val="0"/>
        <c:axId val="1455953551"/>
        <c:axId val="234379087"/>
      </c:lineChart>
      <c:catAx>
        <c:axId val="12600378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260042623"/>
        <c:crosses val="autoZero"/>
        <c:auto val="1"/>
        <c:lblAlgn val="ctr"/>
        <c:lblOffset val="100"/>
        <c:noMultiLvlLbl val="0"/>
      </c:catAx>
      <c:valAx>
        <c:axId val="126004262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260037823"/>
        <c:crosses val="autoZero"/>
        <c:crossBetween val="between"/>
      </c:valAx>
      <c:valAx>
        <c:axId val="234379087"/>
        <c:scaling>
          <c:orientation val="minMax"/>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455953551"/>
        <c:crosses val="max"/>
        <c:crossBetween val="between"/>
      </c:valAx>
      <c:catAx>
        <c:axId val="1455953551"/>
        <c:scaling>
          <c:orientation val="minMax"/>
        </c:scaling>
        <c:delete val="1"/>
        <c:axPos val="b"/>
        <c:numFmt formatCode="General" sourceLinked="1"/>
        <c:majorTickMark val="out"/>
        <c:minorTickMark val="none"/>
        <c:tickLblPos val="nextTo"/>
        <c:crossAx val="234379087"/>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s-CO" b="1"/>
              <a:t>Prevalencia de cánceres Priorizados Septiembre 2025</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Prevalencia!$F$95</c:f>
              <c:strCache>
                <c:ptCount val="1"/>
                <c:pt idx="0">
                  <c:v>Casos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Prevalencia!$E$96:$E$106</c:f>
              <c:strCache>
                <c:ptCount val="11"/>
                <c:pt idx="0">
                  <c:v>1= CAC Mama</c:v>
                </c:pt>
                <c:pt idx="1">
                  <c:v>2= CAC Próstata</c:v>
                </c:pt>
                <c:pt idx="2">
                  <c:v>4= CAC Colorectal</c:v>
                </c:pt>
                <c:pt idx="3">
                  <c:v>3= CAC Cérvix</c:v>
                </c:pt>
                <c:pt idx="4">
                  <c:v>9= CAC Linfoma No Hodgkin</c:v>
                </c:pt>
                <c:pt idx="5">
                  <c:v>5= CAC Estómago</c:v>
                </c:pt>
                <c:pt idx="6">
                  <c:v>6= CAC Melanoma</c:v>
                </c:pt>
                <c:pt idx="7">
                  <c:v>8= CAC Linfoma Hodgkin</c:v>
                </c:pt>
                <c:pt idx="8">
                  <c:v>7= CAC Pulmón</c:v>
                </c:pt>
                <c:pt idx="9">
                  <c:v>11= CAC Leucemia Mielocitica Aguda</c:v>
                </c:pt>
                <c:pt idx="10">
                  <c:v>10= CAC Leucemia Linfocitica Aguda</c:v>
                </c:pt>
              </c:strCache>
            </c:strRef>
          </c:cat>
          <c:val>
            <c:numRef>
              <c:f>Prevalencia!$F$96:$F$106</c:f>
              <c:numCache>
                <c:formatCode>General</c:formatCode>
                <c:ptCount val="11"/>
                <c:pt idx="0">
                  <c:v>503</c:v>
                </c:pt>
                <c:pt idx="1">
                  <c:v>341</c:v>
                </c:pt>
                <c:pt idx="2">
                  <c:v>150</c:v>
                </c:pt>
                <c:pt idx="3">
                  <c:v>109</c:v>
                </c:pt>
                <c:pt idx="4">
                  <c:v>59</c:v>
                </c:pt>
                <c:pt idx="5">
                  <c:v>45</c:v>
                </c:pt>
                <c:pt idx="6">
                  <c:v>33</c:v>
                </c:pt>
                <c:pt idx="7">
                  <c:v>25</c:v>
                </c:pt>
                <c:pt idx="8">
                  <c:v>17</c:v>
                </c:pt>
                <c:pt idx="9">
                  <c:v>8</c:v>
                </c:pt>
                <c:pt idx="10">
                  <c:v>7</c:v>
                </c:pt>
              </c:numCache>
            </c:numRef>
          </c:val>
          <c:extLst>
            <c:ext xmlns:c16="http://schemas.microsoft.com/office/drawing/2014/chart" uri="{C3380CC4-5D6E-409C-BE32-E72D297353CC}">
              <c16:uniqueId val="{00000000-FE56-48FB-A28E-A7CBEE290B53}"/>
            </c:ext>
          </c:extLst>
        </c:ser>
        <c:dLbls>
          <c:showLegendKey val="0"/>
          <c:showVal val="0"/>
          <c:showCatName val="0"/>
          <c:showSerName val="0"/>
          <c:showPercent val="0"/>
          <c:showBubbleSize val="0"/>
        </c:dLbls>
        <c:gapWidth val="219"/>
        <c:axId val="1261169343"/>
        <c:axId val="1261169823"/>
      </c:barChart>
      <c:lineChart>
        <c:grouping val="standard"/>
        <c:varyColors val="0"/>
        <c:ser>
          <c:idx val="1"/>
          <c:order val="1"/>
          <c:tx>
            <c:strRef>
              <c:f>Prevalencia!$G$95</c:f>
              <c:strCache>
                <c:ptCount val="1"/>
                <c:pt idx="0">
                  <c:v>Tasa x 100 mil</c:v>
                </c:pt>
              </c:strCache>
            </c:strRef>
          </c:tx>
          <c:spPr>
            <a:ln w="28575" cap="rnd">
              <a:solidFill>
                <a:srgbClr val="47A9A1"/>
              </a:solidFill>
              <a:round/>
            </a:ln>
            <a:effectLst/>
          </c:spPr>
          <c:marker>
            <c:symbol val="none"/>
          </c:marker>
          <c:dLbls>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1" i="0" u="none" strike="noStrike" kern="1200" baseline="0">
                    <a:solidFill>
                      <a:srgbClr val="47A9A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leftArrow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Prevalencia!$E$96:$E$106</c:f>
              <c:strCache>
                <c:ptCount val="11"/>
                <c:pt idx="0">
                  <c:v>1= CAC Mama</c:v>
                </c:pt>
                <c:pt idx="1">
                  <c:v>2= CAC Próstata</c:v>
                </c:pt>
                <c:pt idx="2">
                  <c:v>4= CAC Colorectal</c:v>
                </c:pt>
                <c:pt idx="3">
                  <c:v>3= CAC Cérvix</c:v>
                </c:pt>
                <c:pt idx="4">
                  <c:v>9= CAC Linfoma No Hodgkin</c:v>
                </c:pt>
                <c:pt idx="5">
                  <c:v>5= CAC Estómago</c:v>
                </c:pt>
                <c:pt idx="6">
                  <c:v>6= CAC Melanoma</c:v>
                </c:pt>
                <c:pt idx="7">
                  <c:v>8= CAC Linfoma Hodgkin</c:v>
                </c:pt>
                <c:pt idx="8">
                  <c:v>7= CAC Pulmón</c:v>
                </c:pt>
                <c:pt idx="9">
                  <c:v>11= CAC Leucemia Mielocitica Aguda</c:v>
                </c:pt>
                <c:pt idx="10">
                  <c:v>10= CAC Leucemia Linfocitica Aguda</c:v>
                </c:pt>
              </c:strCache>
            </c:strRef>
          </c:cat>
          <c:val>
            <c:numRef>
              <c:f>Prevalencia!$G$96:$G$106</c:f>
              <c:numCache>
                <c:formatCode>0</c:formatCode>
                <c:ptCount val="11"/>
                <c:pt idx="0">
                  <c:v>244.59032336494042</c:v>
                </c:pt>
                <c:pt idx="1">
                  <c:v>165.81570629710674</c:v>
                </c:pt>
                <c:pt idx="2">
                  <c:v>72.939460247994163</c:v>
                </c:pt>
                <c:pt idx="3">
                  <c:v>53.002674446875766</c:v>
                </c:pt>
                <c:pt idx="4">
                  <c:v>28.689521030877703</c:v>
                </c:pt>
                <c:pt idx="5">
                  <c:v>21.881838074398249</c:v>
                </c:pt>
                <c:pt idx="6">
                  <c:v>16.046681254558717</c:v>
                </c:pt>
                <c:pt idx="7">
                  <c:v>12.156576707999028</c:v>
                </c:pt>
                <c:pt idx="8">
                  <c:v>8.2664721614393386</c:v>
                </c:pt>
                <c:pt idx="9">
                  <c:v>3.8901045465596891</c:v>
                </c:pt>
                <c:pt idx="10">
                  <c:v>3.4038414782397282</c:v>
                </c:pt>
              </c:numCache>
            </c:numRef>
          </c:val>
          <c:smooth val="0"/>
          <c:extLst>
            <c:ext xmlns:c16="http://schemas.microsoft.com/office/drawing/2014/chart" uri="{C3380CC4-5D6E-409C-BE32-E72D297353CC}">
              <c16:uniqueId val="{00000001-FE56-48FB-A28E-A7CBEE290B53}"/>
            </c:ext>
          </c:extLst>
        </c:ser>
        <c:dLbls>
          <c:showLegendKey val="0"/>
          <c:showVal val="0"/>
          <c:showCatName val="0"/>
          <c:showSerName val="0"/>
          <c:showPercent val="0"/>
          <c:showBubbleSize val="0"/>
        </c:dLbls>
        <c:marker val="1"/>
        <c:smooth val="0"/>
        <c:axId val="1590771055"/>
        <c:axId val="1647713903"/>
      </c:lineChart>
      <c:catAx>
        <c:axId val="12611693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261169823"/>
        <c:crosses val="autoZero"/>
        <c:auto val="1"/>
        <c:lblAlgn val="ctr"/>
        <c:lblOffset val="100"/>
        <c:noMultiLvlLbl val="0"/>
      </c:catAx>
      <c:valAx>
        <c:axId val="126116982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261169343"/>
        <c:crosses val="autoZero"/>
        <c:crossBetween val="between"/>
      </c:valAx>
      <c:valAx>
        <c:axId val="1647713903"/>
        <c:scaling>
          <c:orientation val="minMax"/>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590771055"/>
        <c:crosses val="max"/>
        <c:crossBetween val="between"/>
      </c:valAx>
      <c:catAx>
        <c:axId val="1590771055"/>
        <c:scaling>
          <c:orientation val="minMax"/>
        </c:scaling>
        <c:delete val="1"/>
        <c:axPos val="b"/>
        <c:numFmt formatCode="General" sourceLinked="1"/>
        <c:majorTickMark val="out"/>
        <c:minorTickMark val="none"/>
        <c:tickLblPos val="nextTo"/>
        <c:crossAx val="1647713903"/>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1"/>
  </c:externalData>
</c:chartSpace>
</file>

<file path=ppt/charts/chart5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47A9A1"/>
                </a:solidFill>
                <a:latin typeface="+mn-lt"/>
                <a:ea typeface="+mn-ea"/>
                <a:cs typeface="+mn-cs"/>
              </a:defRPr>
            </a:pPr>
            <a:r>
              <a:rPr lang="es-CO" sz="1400" b="1" i="0" u="none" strike="noStrike" kern="1200" spc="0" baseline="0">
                <a:solidFill>
                  <a:srgbClr val="47A9A1"/>
                </a:solidFill>
              </a:rPr>
              <a:t>Prevalencia de cánceres No priorizados Septiembre 2026 </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47A9A1"/>
              </a:solidFill>
              <a:latin typeface="+mn-lt"/>
              <a:ea typeface="+mn-ea"/>
              <a:cs typeface="+mn-cs"/>
            </a:defRPr>
          </a:pPr>
          <a:endParaRPr lang="es-CO"/>
        </a:p>
      </c:txPr>
    </c:title>
    <c:autoTitleDeleted val="0"/>
    <c:plotArea>
      <c:layout/>
      <c:barChart>
        <c:barDir val="col"/>
        <c:grouping val="clustered"/>
        <c:varyColors val="0"/>
        <c:ser>
          <c:idx val="0"/>
          <c:order val="0"/>
          <c:tx>
            <c:strRef>
              <c:f>Prevalencia!$F$112</c:f>
              <c:strCache>
                <c:ptCount val="1"/>
                <c:pt idx="0">
                  <c:v>Casos</c:v>
                </c:pt>
              </c:strCache>
            </c:strRef>
          </c:tx>
          <c:spPr>
            <a:solidFill>
              <a:srgbClr val="47A9A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47A9A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Prevalencia!$E$113:$E$126</c:f>
              <c:strCache>
                <c:ptCount val="14"/>
                <c:pt idx="0">
                  <c:v>16= Otros tumores de la piel</c:v>
                </c:pt>
                <c:pt idx="1">
                  <c:v>22= Glándulas tiroides y endocrinas</c:v>
                </c:pt>
                <c:pt idx="2">
                  <c:v>24= Otros tumores malignos del tejido linfático, de los órganos hematopoyéticos y de tejidos afines</c:v>
                </c:pt>
                <c:pt idx="3">
                  <c:v>20= Vías urinarias</c:v>
                </c:pt>
                <c:pt idx="4">
                  <c:v>18= Otros órganos genitales femeninos</c:v>
                </c:pt>
                <c:pt idx="5">
                  <c:v>13= Otros órganos digestivos</c:v>
                </c:pt>
                <c:pt idx="6">
                  <c:v>19= Otros órganos genitales masculinos</c:v>
                </c:pt>
                <c:pt idx="7">
                  <c:v>12= Labio, cavidad bucal y faringe</c:v>
                </c:pt>
                <c:pt idx="8">
                  <c:v>21= Ojo, encéfalo, y otras partes del sistema nervioso</c:v>
                </c:pt>
                <c:pt idx="9">
                  <c:v>17= Tejidos mesoteliales (excepto pulmón) y tejidos blandos</c:v>
                </c:pt>
                <c:pt idx="10">
                  <c:v>14= Otros órganos respiratorios e intratorácicos</c:v>
                </c:pt>
                <c:pt idx="11">
                  <c:v>23= Otros sitios, sitios mal definidos, sitios no especificados</c:v>
                </c:pt>
                <c:pt idx="12">
                  <c:v>25= Tumores secundarios</c:v>
                </c:pt>
                <c:pt idx="13">
                  <c:v>15= Huesos y cartílagos articulares</c:v>
                </c:pt>
              </c:strCache>
            </c:strRef>
          </c:cat>
          <c:val>
            <c:numRef>
              <c:f>Prevalencia!$F$113:$F$126</c:f>
              <c:numCache>
                <c:formatCode>General</c:formatCode>
                <c:ptCount val="14"/>
                <c:pt idx="0">
                  <c:v>861</c:v>
                </c:pt>
                <c:pt idx="1">
                  <c:v>188</c:v>
                </c:pt>
                <c:pt idx="2">
                  <c:v>97</c:v>
                </c:pt>
                <c:pt idx="3">
                  <c:v>97</c:v>
                </c:pt>
                <c:pt idx="4">
                  <c:v>94</c:v>
                </c:pt>
                <c:pt idx="5">
                  <c:v>49</c:v>
                </c:pt>
                <c:pt idx="6">
                  <c:v>36</c:v>
                </c:pt>
                <c:pt idx="7">
                  <c:v>35</c:v>
                </c:pt>
                <c:pt idx="8">
                  <c:v>33</c:v>
                </c:pt>
                <c:pt idx="9">
                  <c:v>25</c:v>
                </c:pt>
                <c:pt idx="10">
                  <c:v>20</c:v>
                </c:pt>
                <c:pt idx="11">
                  <c:v>16</c:v>
                </c:pt>
                <c:pt idx="12">
                  <c:v>8</c:v>
                </c:pt>
                <c:pt idx="13">
                  <c:v>6</c:v>
                </c:pt>
              </c:numCache>
            </c:numRef>
          </c:val>
          <c:extLst>
            <c:ext xmlns:c16="http://schemas.microsoft.com/office/drawing/2014/chart" uri="{C3380CC4-5D6E-409C-BE32-E72D297353CC}">
              <c16:uniqueId val="{00000000-A59A-4D82-86A2-AA74FA774657}"/>
            </c:ext>
          </c:extLst>
        </c:ser>
        <c:dLbls>
          <c:showLegendKey val="0"/>
          <c:showVal val="0"/>
          <c:showCatName val="0"/>
          <c:showSerName val="0"/>
          <c:showPercent val="0"/>
          <c:showBubbleSize val="0"/>
        </c:dLbls>
        <c:gapWidth val="219"/>
        <c:axId val="46102208"/>
        <c:axId val="46112768"/>
      </c:barChart>
      <c:lineChart>
        <c:grouping val="standard"/>
        <c:varyColors val="0"/>
        <c:ser>
          <c:idx val="1"/>
          <c:order val="1"/>
          <c:tx>
            <c:strRef>
              <c:f>Prevalencia!$G$112</c:f>
              <c:strCache>
                <c:ptCount val="1"/>
                <c:pt idx="0">
                  <c:v>Tasa x 100 mil</c:v>
                </c:pt>
              </c:strCache>
            </c:strRef>
          </c:tx>
          <c:spPr>
            <a:ln w="28575" cap="rnd">
              <a:solidFill>
                <a:schemeClr val="tx1"/>
              </a:solidFill>
              <a:round/>
            </a:ln>
            <a:effectLst/>
          </c:spPr>
          <c:marker>
            <c:symbol val="none"/>
          </c:marker>
          <c:dLbls>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leftArrow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Prevalencia!$E$113:$E$126</c:f>
              <c:strCache>
                <c:ptCount val="14"/>
                <c:pt idx="0">
                  <c:v>16= Otros tumores de la piel</c:v>
                </c:pt>
                <c:pt idx="1">
                  <c:v>22= Glándulas tiroides y endocrinas</c:v>
                </c:pt>
                <c:pt idx="2">
                  <c:v>24= Otros tumores malignos del tejido linfático, de los órganos hematopoyéticos y de tejidos afines</c:v>
                </c:pt>
                <c:pt idx="3">
                  <c:v>20= Vías urinarias</c:v>
                </c:pt>
                <c:pt idx="4">
                  <c:v>18= Otros órganos genitales femeninos</c:v>
                </c:pt>
                <c:pt idx="5">
                  <c:v>13= Otros órganos digestivos</c:v>
                </c:pt>
                <c:pt idx="6">
                  <c:v>19= Otros órganos genitales masculinos</c:v>
                </c:pt>
                <c:pt idx="7">
                  <c:v>12= Labio, cavidad bucal y faringe</c:v>
                </c:pt>
                <c:pt idx="8">
                  <c:v>21= Ojo, encéfalo, y otras partes del sistema nervioso</c:v>
                </c:pt>
                <c:pt idx="9">
                  <c:v>17= Tejidos mesoteliales (excepto pulmón) y tejidos blandos</c:v>
                </c:pt>
                <c:pt idx="10">
                  <c:v>14= Otros órganos respiratorios e intratorácicos</c:v>
                </c:pt>
                <c:pt idx="11">
                  <c:v>23= Otros sitios, sitios mal definidos, sitios no especificados</c:v>
                </c:pt>
                <c:pt idx="12">
                  <c:v>25= Tumores secundarios</c:v>
                </c:pt>
                <c:pt idx="13">
                  <c:v>15= Huesos y cartílagos articulares</c:v>
                </c:pt>
              </c:strCache>
            </c:strRef>
          </c:cat>
          <c:val>
            <c:numRef>
              <c:f>Prevalencia!$G$113:$G$126</c:f>
              <c:numCache>
                <c:formatCode>0</c:formatCode>
                <c:ptCount val="14"/>
                <c:pt idx="0">
                  <c:v>418.67250182348647</c:v>
                </c:pt>
                <c:pt idx="1">
                  <c:v>91.417456844152682</c:v>
                </c:pt>
                <c:pt idx="2">
                  <c:v>47.167517627036226</c:v>
                </c:pt>
                <c:pt idx="3">
                  <c:v>47.167517627036226</c:v>
                </c:pt>
                <c:pt idx="4">
                  <c:v>45.708728422076341</c:v>
                </c:pt>
                <c:pt idx="5">
                  <c:v>23.826890347678095</c:v>
                </c:pt>
                <c:pt idx="6">
                  <c:v>17.505470459518598</c:v>
                </c:pt>
                <c:pt idx="7">
                  <c:v>17.019207391198638</c:v>
                </c:pt>
                <c:pt idx="8">
                  <c:v>16.046681254558717</c:v>
                </c:pt>
                <c:pt idx="9">
                  <c:v>12.156576707999028</c:v>
                </c:pt>
                <c:pt idx="10">
                  <c:v>9.7252613663992218</c:v>
                </c:pt>
                <c:pt idx="11">
                  <c:v>7.7802090931193781</c:v>
                </c:pt>
                <c:pt idx="12">
                  <c:v>3.8901045465596891</c:v>
                </c:pt>
                <c:pt idx="13">
                  <c:v>2.9175784099197668</c:v>
                </c:pt>
              </c:numCache>
            </c:numRef>
          </c:val>
          <c:smooth val="0"/>
          <c:extLst>
            <c:ext xmlns:c16="http://schemas.microsoft.com/office/drawing/2014/chart" uri="{C3380CC4-5D6E-409C-BE32-E72D297353CC}">
              <c16:uniqueId val="{00000001-A59A-4D82-86A2-AA74FA774657}"/>
            </c:ext>
          </c:extLst>
        </c:ser>
        <c:dLbls>
          <c:showLegendKey val="0"/>
          <c:showVal val="0"/>
          <c:showCatName val="0"/>
          <c:showSerName val="0"/>
          <c:showPercent val="0"/>
          <c:showBubbleSize val="0"/>
        </c:dLbls>
        <c:marker val="1"/>
        <c:smooth val="0"/>
        <c:axId val="547071359"/>
        <c:axId val="1647683663"/>
      </c:lineChart>
      <c:catAx>
        <c:axId val="461022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46112768"/>
        <c:crosses val="autoZero"/>
        <c:auto val="1"/>
        <c:lblAlgn val="ctr"/>
        <c:lblOffset val="100"/>
        <c:noMultiLvlLbl val="0"/>
      </c:catAx>
      <c:valAx>
        <c:axId val="461127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46102208"/>
        <c:crosses val="autoZero"/>
        <c:crossBetween val="between"/>
      </c:valAx>
      <c:valAx>
        <c:axId val="1647683663"/>
        <c:scaling>
          <c:orientation val="minMax"/>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547071359"/>
        <c:crosses val="max"/>
        <c:crossBetween val="between"/>
      </c:valAx>
      <c:catAx>
        <c:axId val="547071359"/>
        <c:scaling>
          <c:orientation val="minMax"/>
        </c:scaling>
        <c:delete val="1"/>
        <c:axPos val="b"/>
        <c:numFmt formatCode="General" sourceLinked="1"/>
        <c:majorTickMark val="out"/>
        <c:minorTickMark val="none"/>
        <c:tickLblPos val="nextTo"/>
        <c:crossAx val="1647683663"/>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5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r>
              <a:rPr lang="es-CO" sz="1400" b="1" i="0" u="none" strike="noStrike" kern="1200" spc="0" baseline="0">
                <a:solidFill>
                  <a:schemeClr val="tx1"/>
                </a:solidFill>
              </a:rPr>
              <a:t>Prevalencia de cánceres No priorizados Septiembre 2025 </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endParaRPr lang="es-CO"/>
        </a:p>
      </c:txPr>
    </c:title>
    <c:autoTitleDeleted val="0"/>
    <c:plotArea>
      <c:layout/>
      <c:barChart>
        <c:barDir val="col"/>
        <c:grouping val="clustered"/>
        <c:varyColors val="0"/>
        <c:ser>
          <c:idx val="0"/>
          <c:order val="0"/>
          <c:tx>
            <c:strRef>
              <c:f>Prevalencia!$F$131</c:f>
              <c:strCache>
                <c:ptCount val="1"/>
                <c:pt idx="0">
                  <c:v>Casos</c:v>
                </c:pt>
              </c:strCache>
            </c:strRef>
          </c:tx>
          <c:spPr>
            <a:solidFill>
              <a:schemeClr val="accent1"/>
            </a:solidFill>
            <a:ln>
              <a:noFill/>
            </a:ln>
            <a:effectLst/>
          </c:spPr>
          <c:invertIfNegative val="0"/>
          <c:cat>
            <c:strRef>
              <c:f>Prevalencia!$E$132:$E$145</c:f>
              <c:strCache>
                <c:ptCount val="14"/>
                <c:pt idx="0">
                  <c:v>16= Otros tumores de la piel</c:v>
                </c:pt>
                <c:pt idx="1">
                  <c:v>22= Glándulas tiroides y endocrinas</c:v>
                </c:pt>
                <c:pt idx="2">
                  <c:v>20= Vías urinarias</c:v>
                </c:pt>
                <c:pt idx="3">
                  <c:v>24= Otros tumores malignos del tejido linfático, de los órganos hematopoyéticos y de tejidos afines</c:v>
                </c:pt>
                <c:pt idx="4">
                  <c:v>18= Otros órganos genitales femeninos</c:v>
                </c:pt>
                <c:pt idx="5">
                  <c:v>12= Labio, cavidad bucal y faringe</c:v>
                </c:pt>
                <c:pt idx="6">
                  <c:v>13= Otros órganos digestivos</c:v>
                </c:pt>
                <c:pt idx="7">
                  <c:v>21= Ojo, encéfalo, y otras partes del sistema nervioso</c:v>
                </c:pt>
                <c:pt idx="8">
                  <c:v>19= Otros órganos genitales masculinos</c:v>
                </c:pt>
                <c:pt idx="9">
                  <c:v>14= Otros órganos respiratorios e intratorácicos</c:v>
                </c:pt>
                <c:pt idx="10">
                  <c:v>17= Tejidos mesoteliales (excepto pulmón) y tejidos blandos</c:v>
                </c:pt>
                <c:pt idx="11">
                  <c:v>23= Otros sitios, sitios mal definidos, sitios no especificados</c:v>
                </c:pt>
                <c:pt idx="12">
                  <c:v>25= Tumores secundarios</c:v>
                </c:pt>
                <c:pt idx="13">
                  <c:v>15= Huesos y cartílagos articulares</c:v>
                </c:pt>
              </c:strCache>
            </c:strRef>
          </c:cat>
          <c:val>
            <c:numRef>
              <c:f>Prevalencia!$F$132:$F$145</c:f>
              <c:numCache>
                <c:formatCode>General</c:formatCode>
                <c:ptCount val="14"/>
                <c:pt idx="0">
                  <c:v>649</c:v>
                </c:pt>
                <c:pt idx="1">
                  <c:v>163</c:v>
                </c:pt>
                <c:pt idx="2">
                  <c:v>84</c:v>
                </c:pt>
                <c:pt idx="3">
                  <c:v>80</c:v>
                </c:pt>
                <c:pt idx="4">
                  <c:v>72</c:v>
                </c:pt>
                <c:pt idx="5">
                  <c:v>27</c:v>
                </c:pt>
                <c:pt idx="6">
                  <c:v>32</c:v>
                </c:pt>
                <c:pt idx="7">
                  <c:v>21</c:v>
                </c:pt>
                <c:pt idx="8">
                  <c:v>28</c:v>
                </c:pt>
                <c:pt idx="9">
                  <c:v>17</c:v>
                </c:pt>
                <c:pt idx="10">
                  <c:v>18</c:v>
                </c:pt>
                <c:pt idx="11">
                  <c:v>12</c:v>
                </c:pt>
                <c:pt idx="12">
                  <c:v>8</c:v>
                </c:pt>
                <c:pt idx="13">
                  <c:v>5</c:v>
                </c:pt>
              </c:numCache>
            </c:numRef>
          </c:val>
          <c:extLst>
            <c:ext xmlns:c16="http://schemas.microsoft.com/office/drawing/2014/chart" uri="{C3380CC4-5D6E-409C-BE32-E72D297353CC}">
              <c16:uniqueId val="{00000000-993F-4AAC-9F92-0D9F51FC88C2}"/>
            </c:ext>
          </c:extLst>
        </c:ser>
        <c:dLbls>
          <c:showLegendKey val="0"/>
          <c:showVal val="0"/>
          <c:showCatName val="0"/>
          <c:showSerName val="0"/>
          <c:showPercent val="0"/>
          <c:showBubbleSize val="0"/>
        </c:dLbls>
        <c:gapWidth val="219"/>
        <c:axId val="1973648959"/>
        <c:axId val="1647603983"/>
      </c:barChart>
      <c:lineChart>
        <c:grouping val="standard"/>
        <c:varyColors val="0"/>
        <c:ser>
          <c:idx val="1"/>
          <c:order val="1"/>
          <c:tx>
            <c:strRef>
              <c:f>Prevalencia!$G$131</c:f>
              <c:strCache>
                <c:ptCount val="1"/>
                <c:pt idx="0">
                  <c:v>Tasa x 100 mil</c:v>
                </c:pt>
              </c:strCache>
            </c:strRef>
          </c:tx>
          <c:spPr>
            <a:ln w="28575" cap="rnd">
              <a:solidFill>
                <a:srgbClr val="47A9A1"/>
              </a:solidFill>
              <a:round/>
            </a:ln>
            <a:effectLst/>
          </c:spPr>
          <c:marker>
            <c:symbol val="none"/>
          </c:marker>
          <c:dLbls>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1" i="0" u="none" strike="noStrike" kern="1200" baseline="0">
                    <a:solidFill>
                      <a:srgbClr val="47A9A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leftArrow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Prevalencia!$E$132:$E$145</c:f>
              <c:strCache>
                <c:ptCount val="14"/>
                <c:pt idx="0">
                  <c:v>16= Otros tumores de la piel</c:v>
                </c:pt>
                <c:pt idx="1">
                  <c:v>22= Glándulas tiroides y endocrinas</c:v>
                </c:pt>
                <c:pt idx="2">
                  <c:v>20= Vías urinarias</c:v>
                </c:pt>
                <c:pt idx="3">
                  <c:v>24= Otros tumores malignos del tejido linfático, de los órganos hematopoyéticos y de tejidos afines</c:v>
                </c:pt>
                <c:pt idx="4">
                  <c:v>18= Otros órganos genitales femeninos</c:v>
                </c:pt>
                <c:pt idx="5">
                  <c:v>12= Labio, cavidad bucal y faringe</c:v>
                </c:pt>
                <c:pt idx="6">
                  <c:v>13= Otros órganos digestivos</c:v>
                </c:pt>
                <c:pt idx="7">
                  <c:v>21= Ojo, encéfalo, y otras partes del sistema nervioso</c:v>
                </c:pt>
                <c:pt idx="8">
                  <c:v>19= Otros órganos genitales masculinos</c:v>
                </c:pt>
                <c:pt idx="9">
                  <c:v>14= Otros órganos respiratorios e intratorácicos</c:v>
                </c:pt>
                <c:pt idx="10">
                  <c:v>17= Tejidos mesoteliales (excepto pulmón) y tejidos blandos</c:v>
                </c:pt>
                <c:pt idx="11">
                  <c:v>23= Otros sitios, sitios mal definidos, sitios no especificados</c:v>
                </c:pt>
                <c:pt idx="12">
                  <c:v>25= Tumores secundarios</c:v>
                </c:pt>
                <c:pt idx="13">
                  <c:v>15= Huesos y cartílagos articulares</c:v>
                </c:pt>
              </c:strCache>
            </c:strRef>
          </c:cat>
          <c:val>
            <c:numRef>
              <c:f>Prevalencia!$G$132:$G$145</c:f>
              <c:numCache>
                <c:formatCode>0</c:formatCode>
                <c:ptCount val="14"/>
                <c:pt idx="0">
                  <c:v>315.58473133965475</c:v>
                </c:pt>
                <c:pt idx="1">
                  <c:v>79.260880136153659</c:v>
                </c:pt>
                <c:pt idx="2">
                  <c:v>40.846097738876736</c:v>
                </c:pt>
                <c:pt idx="3">
                  <c:v>38.901045465596887</c:v>
                </c:pt>
                <c:pt idx="4">
                  <c:v>35.010940919037196</c:v>
                </c:pt>
                <c:pt idx="5">
                  <c:v>13.129102844638949</c:v>
                </c:pt>
                <c:pt idx="6">
                  <c:v>15.560418186238756</c:v>
                </c:pt>
                <c:pt idx="7">
                  <c:v>10.211524434719184</c:v>
                </c:pt>
                <c:pt idx="8">
                  <c:v>13.615365912958913</c:v>
                </c:pt>
                <c:pt idx="9">
                  <c:v>8.2664721614393386</c:v>
                </c:pt>
                <c:pt idx="10">
                  <c:v>8.7527352297592991</c:v>
                </c:pt>
                <c:pt idx="11">
                  <c:v>5.8351568198395336</c:v>
                </c:pt>
                <c:pt idx="12">
                  <c:v>3.8901045465596891</c:v>
                </c:pt>
                <c:pt idx="13">
                  <c:v>2.4313153415998054</c:v>
                </c:pt>
              </c:numCache>
            </c:numRef>
          </c:val>
          <c:smooth val="0"/>
          <c:extLst>
            <c:ext xmlns:c16="http://schemas.microsoft.com/office/drawing/2014/chart" uri="{C3380CC4-5D6E-409C-BE32-E72D297353CC}">
              <c16:uniqueId val="{00000001-993F-4AAC-9F92-0D9F51FC88C2}"/>
            </c:ext>
          </c:extLst>
        </c:ser>
        <c:dLbls>
          <c:showLegendKey val="0"/>
          <c:showVal val="0"/>
          <c:showCatName val="0"/>
          <c:showSerName val="0"/>
          <c:showPercent val="0"/>
          <c:showBubbleSize val="0"/>
        </c:dLbls>
        <c:marker val="1"/>
        <c:smooth val="0"/>
        <c:axId val="636851807"/>
        <c:axId val="1647731183"/>
      </c:lineChart>
      <c:catAx>
        <c:axId val="19736489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647603983"/>
        <c:crosses val="autoZero"/>
        <c:auto val="1"/>
        <c:lblAlgn val="ctr"/>
        <c:lblOffset val="100"/>
        <c:noMultiLvlLbl val="0"/>
      </c:catAx>
      <c:valAx>
        <c:axId val="164760398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973648959"/>
        <c:crosses val="autoZero"/>
        <c:crossBetween val="between"/>
      </c:valAx>
      <c:valAx>
        <c:axId val="1647731183"/>
        <c:scaling>
          <c:orientation val="minMax"/>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636851807"/>
        <c:crosses val="max"/>
        <c:crossBetween val="between"/>
      </c:valAx>
      <c:catAx>
        <c:axId val="636851807"/>
        <c:scaling>
          <c:orientation val="minMax"/>
        </c:scaling>
        <c:delete val="1"/>
        <c:axPos val="b"/>
        <c:numFmt formatCode="General" sourceLinked="1"/>
        <c:majorTickMark val="out"/>
        <c:minorTickMark val="none"/>
        <c:tickLblPos val="nextTo"/>
        <c:crossAx val="1647731183"/>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5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mn-lt"/>
                <a:ea typeface="+mn-ea"/>
                <a:cs typeface="+mn-cs"/>
              </a:defRPr>
            </a:pPr>
            <a:r>
              <a:rPr lang="es-CO" sz="1600" noProof="0"/>
              <a:t>Oportunidad</a:t>
            </a:r>
            <a:r>
              <a:rPr lang="es-CO" sz="1600" baseline="0" noProof="0"/>
              <a:t> de ingreso a modelo de paciente confirmado</a:t>
            </a:r>
          </a:p>
        </c:rich>
      </c:tx>
      <c:layout>
        <c:manualLayout>
          <c:xMode val="edge"/>
          <c:yMode val="edge"/>
          <c:x val="0.14268072916666666"/>
          <c:y val="2.2337918176381609E-2"/>
        </c:manualLayout>
      </c:layout>
      <c:overlay val="0"/>
      <c:spPr>
        <a:noFill/>
        <a:ln>
          <a:noFill/>
        </a:ln>
        <a:effectLst/>
      </c:spPr>
      <c:txPr>
        <a:bodyPr rot="0" spcFirstLastPara="1" vertOverflow="ellipsis" vert="horz" wrap="square" anchor="ctr" anchorCtr="1"/>
        <a:lstStyle/>
        <a:p>
          <a:pPr>
            <a:defRPr sz="1600" b="0" i="0" u="none" strike="noStrike" kern="1200" spc="0" baseline="0">
              <a:solidFill>
                <a:schemeClr val="tx1"/>
              </a:solidFill>
              <a:latin typeface="+mn-lt"/>
              <a:ea typeface="+mn-ea"/>
              <a:cs typeface="+mn-cs"/>
            </a:defRPr>
          </a:pPr>
          <a:endParaRPr lang="es-CO"/>
        </a:p>
      </c:txPr>
    </c:title>
    <c:autoTitleDeleted val="0"/>
    <c:plotArea>
      <c:layout>
        <c:manualLayout>
          <c:layoutTarget val="inner"/>
          <c:xMode val="edge"/>
          <c:yMode val="edge"/>
          <c:x val="3.3771953701940229E-2"/>
          <c:y val="0.17744946742497006"/>
          <c:w val="0.95378600517029466"/>
          <c:h val="0.47452956771670823"/>
        </c:manualLayout>
      </c:layout>
      <c:barChart>
        <c:barDir val="col"/>
        <c:grouping val="clustered"/>
        <c:varyColors val="0"/>
        <c:ser>
          <c:idx val="0"/>
          <c:order val="0"/>
          <c:tx>
            <c:strRef>
              <c:f>Hoja1!$B$1</c:f>
              <c:strCache>
                <c:ptCount val="1"/>
                <c:pt idx="0">
                  <c:v>2025</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Hoja1!$B$2:$B$13</c:f>
              <c:numCache>
                <c:formatCode>General</c:formatCode>
                <c:ptCount val="12"/>
                <c:pt idx="0">
                  <c:v>1</c:v>
                </c:pt>
                <c:pt idx="1">
                  <c:v>1.1000000000000001</c:v>
                </c:pt>
                <c:pt idx="2">
                  <c:v>1.3</c:v>
                </c:pt>
                <c:pt idx="3">
                  <c:v>1</c:v>
                </c:pt>
                <c:pt idx="4">
                  <c:v>1.2</c:v>
                </c:pt>
                <c:pt idx="5">
                  <c:v>1.1000000000000001</c:v>
                </c:pt>
                <c:pt idx="6">
                  <c:v>0.8</c:v>
                </c:pt>
                <c:pt idx="7">
                  <c:v>1</c:v>
                </c:pt>
                <c:pt idx="8">
                  <c:v>1</c:v>
                </c:pt>
                <c:pt idx="9">
                  <c:v>1.2</c:v>
                </c:pt>
                <c:pt idx="10">
                  <c:v>1.3</c:v>
                </c:pt>
                <c:pt idx="11">
                  <c:v>1</c:v>
                </c:pt>
              </c:numCache>
            </c:numRef>
          </c:val>
          <c:extLst>
            <c:ext xmlns:c16="http://schemas.microsoft.com/office/drawing/2014/chart" uri="{C3380CC4-5D6E-409C-BE32-E72D297353CC}">
              <c16:uniqueId val="{00000000-1D4E-4A77-BE7E-8A0F19784B49}"/>
            </c:ext>
          </c:extLst>
        </c:ser>
        <c:ser>
          <c:idx val="1"/>
          <c:order val="1"/>
          <c:tx>
            <c:strRef>
              <c:f>Hoja1!$C$1</c:f>
              <c:strCache>
                <c:ptCount val="1"/>
                <c:pt idx="0">
                  <c:v>2026</c:v>
                </c:pt>
              </c:strCache>
            </c:strRef>
          </c:tx>
          <c:spPr>
            <a:solidFill>
              <a:srgbClr val="45A9A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45A9A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Hoja1!$C$2:$C$13</c:f>
              <c:numCache>
                <c:formatCode>General</c:formatCode>
                <c:ptCount val="12"/>
                <c:pt idx="0">
                  <c:v>2</c:v>
                </c:pt>
                <c:pt idx="1">
                  <c:v>1.8</c:v>
                </c:pt>
                <c:pt idx="2">
                  <c:v>1.6</c:v>
                </c:pt>
                <c:pt idx="3">
                  <c:v>1.4</c:v>
                </c:pt>
                <c:pt idx="4">
                  <c:v>1.5</c:v>
                </c:pt>
                <c:pt idx="5">
                  <c:v>1.3</c:v>
                </c:pt>
                <c:pt idx="6">
                  <c:v>1.6</c:v>
                </c:pt>
                <c:pt idx="7">
                  <c:v>1.5</c:v>
                </c:pt>
                <c:pt idx="8">
                  <c:v>1.7</c:v>
                </c:pt>
              </c:numCache>
            </c:numRef>
          </c:val>
          <c:extLst>
            <c:ext xmlns:c16="http://schemas.microsoft.com/office/drawing/2014/chart" uri="{C3380CC4-5D6E-409C-BE32-E72D297353CC}">
              <c16:uniqueId val="{00000000-A94F-453F-9430-D9F03B554404}"/>
            </c:ext>
          </c:extLst>
        </c:ser>
        <c:dLbls>
          <c:showLegendKey val="0"/>
          <c:showVal val="0"/>
          <c:showCatName val="0"/>
          <c:showSerName val="0"/>
          <c:showPercent val="0"/>
          <c:showBubbleSize val="0"/>
        </c:dLbls>
        <c:gapWidth val="150"/>
        <c:axId val="241713408"/>
        <c:axId val="241711008"/>
      </c:barChart>
      <c:lineChart>
        <c:grouping val="standard"/>
        <c:varyColors val="0"/>
        <c:ser>
          <c:idx val="2"/>
          <c:order val="2"/>
          <c:tx>
            <c:strRef>
              <c:f>Hoja1!$D$1</c:f>
              <c:strCache>
                <c:ptCount val="1"/>
                <c:pt idx="0">
                  <c:v>Meta</c:v>
                </c:pt>
              </c:strCache>
            </c:strRef>
          </c:tx>
          <c:spPr>
            <a:ln w="28575" cap="rnd">
              <a:solidFill>
                <a:schemeClr val="accent1">
                  <a:lumMod val="50000"/>
                </a:schemeClr>
              </a:solidFill>
              <a:round/>
            </a:ln>
            <a:effectLst/>
          </c:spPr>
          <c:marker>
            <c:symbol val="none"/>
          </c:marker>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Hoja1!$D$2:$D$13</c:f>
              <c:numCache>
                <c:formatCode>General</c:formatCode>
                <c:ptCount val="12"/>
                <c:pt idx="0">
                  <c:v>1</c:v>
                </c:pt>
                <c:pt idx="1">
                  <c:v>1</c:v>
                </c:pt>
                <c:pt idx="2">
                  <c:v>1</c:v>
                </c:pt>
                <c:pt idx="3">
                  <c:v>1</c:v>
                </c:pt>
                <c:pt idx="4">
                  <c:v>1</c:v>
                </c:pt>
                <c:pt idx="5">
                  <c:v>1</c:v>
                </c:pt>
                <c:pt idx="6">
                  <c:v>1</c:v>
                </c:pt>
                <c:pt idx="7">
                  <c:v>1</c:v>
                </c:pt>
                <c:pt idx="8">
                  <c:v>1</c:v>
                </c:pt>
                <c:pt idx="9">
                  <c:v>1</c:v>
                </c:pt>
                <c:pt idx="10">
                  <c:v>1</c:v>
                </c:pt>
              </c:numCache>
            </c:numRef>
          </c:val>
          <c:smooth val="0"/>
          <c:extLst>
            <c:ext xmlns:c16="http://schemas.microsoft.com/office/drawing/2014/chart" uri="{C3380CC4-5D6E-409C-BE32-E72D297353CC}">
              <c16:uniqueId val="{00000000-E51E-4140-8D6F-2814189F129B}"/>
            </c:ext>
          </c:extLst>
        </c:ser>
        <c:dLbls>
          <c:showLegendKey val="0"/>
          <c:showVal val="0"/>
          <c:showCatName val="0"/>
          <c:showSerName val="0"/>
          <c:showPercent val="0"/>
          <c:showBubbleSize val="0"/>
        </c:dLbls>
        <c:marker val="1"/>
        <c:smooth val="0"/>
        <c:axId val="241713408"/>
        <c:axId val="241711008"/>
      </c:lineChart>
      <c:catAx>
        <c:axId val="241713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s-CO"/>
          </a:p>
        </c:txPr>
        <c:crossAx val="241711008"/>
        <c:crosses val="autoZero"/>
        <c:auto val="1"/>
        <c:lblAlgn val="ctr"/>
        <c:lblOffset val="100"/>
        <c:noMultiLvlLbl val="0"/>
      </c:catAx>
      <c:valAx>
        <c:axId val="241711008"/>
        <c:scaling>
          <c:orientation val="minMax"/>
          <c:max val="2"/>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s-CO"/>
          </a:p>
        </c:txPr>
        <c:crossAx val="241713408"/>
        <c:crosses val="autoZero"/>
        <c:crossBetween val="between"/>
        <c:majorUnit val="8"/>
      </c:valAx>
      <c:spPr>
        <a:noFill/>
        <a:ln>
          <a:noFill/>
        </a:ln>
        <a:effectLst/>
      </c:spPr>
    </c:plotArea>
    <c:legend>
      <c:legendPos val="r"/>
      <c:layout>
        <c:manualLayout>
          <c:xMode val="edge"/>
          <c:yMode val="edge"/>
          <c:x val="6.8040104166666657E-2"/>
          <c:y val="0.8238785227712847"/>
          <c:w val="0.82006527777777782"/>
          <c:h val="0.17612164491504556"/>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accent1"/>
      </a:solidFill>
    </a:ln>
    <a:effectLst/>
  </c:spPr>
  <c:txPr>
    <a:bodyPr/>
    <a:lstStyle/>
    <a:p>
      <a:pPr>
        <a:defRPr>
          <a:solidFill>
            <a:schemeClr val="tx1"/>
          </a:solidFill>
        </a:defRPr>
      </a:pPr>
      <a:endParaRPr lang="es-CO"/>
    </a:p>
  </c:txPr>
  <c:externalData r:id="rId3">
    <c:autoUpdate val="0"/>
  </c:externalData>
</c:chartSpace>
</file>

<file path=ppt/charts/chart5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s-CO" sz="1600" b="0" i="0" u="none" strike="noStrike" kern="1200" spc="0" baseline="0" dirty="0" smtClean="0">
                <a:solidFill>
                  <a:schemeClr val="tx1">
                    <a:lumMod val="65000"/>
                    <a:lumOff val="35000"/>
                  </a:schemeClr>
                </a:solidFill>
                <a:latin typeface="+mn-lt"/>
                <a:ea typeface="+mn-ea"/>
                <a:cs typeface="+mn-cs"/>
              </a:defRPr>
            </a:pPr>
            <a:r>
              <a:rPr lang="es-CO" sz="1400" b="1" noProof="0">
                <a:solidFill>
                  <a:schemeClr val="tx1"/>
                </a:solidFill>
              </a:rPr>
              <a:t>Oportunidad de consulta Especializada</a:t>
            </a:r>
          </a:p>
        </c:rich>
      </c:tx>
      <c:layout>
        <c:manualLayout>
          <c:xMode val="edge"/>
          <c:yMode val="edge"/>
          <c:x val="0.25177673611111112"/>
          <c:y val="0"/>
        </c:manualLayout>
      </c:layout>
      <c:overlay val="0"/>
      <c:spPr>
        <a:noFill/>
        <a:ln>
          <a:noFill/>
        </a:ln>
        <a:effectLst/>
      </c:spPr>
      <c:txPr>
        <a:bodyPr rot="0" spcFirstLastPara="1" vertOverflow="ellipsis" vert="horz" wrap="square" anchor="ctr" anchorCtr="1"/>
        <a:lstStyle/>
        <a:p>
          <a:pPr>
            <a:defRPr lang="es-CO" sz="1600" b="0" i="0" u="none" strike="noStrike" kern="1200" spc="0" baseline="0" dirty="0" smtClean="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Hoja1!$B$1</c:f>
              <c:strCache>
                <c:ptCount val="1"/>
                <c:pt idx="0">
                  <c:v>2025</c:v>
                </c:pt>
              </c:strCache>
            </c:strRef>
          </c:tx>
          <c:spPr>
            <a:solidFill>
              <a:schemeClr val="tx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Hoja1!$B$2:$B$13</c:f>
              <c:numCache>
                <c:formatCode>0.0</c:formatCode>
                <c:ptCount val="12"/>
                <c:pt idx="0">
                  <c:v>6.75</c:v>
                </c:pt>
                <c:pt idx="1">
                  <c:v>7.15</c:v>
                </c:pt>
                <c:pt idx="2">
                  <c:v>5.7</c:v>
                </c:pt>
                <c:pt idx="3">
                  <c:v>7</c:v>
                </c:pt>
                <c:pt idx="4">
                  <c:v>6.3</c:v>
                </c:pt>
                <c:pt idx="5">
                  <c:v>5.5</c:v>
                </c:pt>
                <c:pt idx="6">
                  <c:v>7.8</c:v>
                </c:pt>
                <c:pt idx="7">
                  <c:v>5.5</c:v>
                </c:pt>
                <c:pt idx="8">
                  <c:v>5.4</c:v>
                </c:pt>
                <c:pt idx="9">
                  <c:v>7</c:v>
                </c:pt>
                <c:pt idx="10">
                  <c:v>13.8</c:v>
                </c:pt>
                <c:pt idx="11">
                  <c:v>11.3</c:v>
                </c:pt>
              </c:numCache>
            </c:numRef>
          </c:val>
          <c:extLst>
            <c:ext xmlns:c16="http://schemas.microsoft.com/office/drawing/2014/chart" uri="{C3380CC4-5D6E-409C-BE32-E72D297353CC}">
              <c16:uniqueId val="{00000000-722B-4854-82FF-F073DB459EB1}"/>
            </c:ext>
          </c:extLst>
        </c:ser>
        <c:ser>
          <c:idx val="1"/>
          <c:order val="1"/>
          <c:tx>
            <c:strRef>
              <c:f>Hoja1!$C$1</c:f>
              <c:strCache>
                <c:ptCount val="1"/>
                <c:pt idx="0">
                  <c:v>2026</c:v>
                </c:pt>
              </c:strCache>
            </c:strRef>
          </c:tx>
          <c:spPr>
            <a:solidFill>
              <a:srgbClr val="45A9A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4FA9A7"/>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Hoja1!$C$2:$C$13</c:f>
              <c:numCache>
                <c:formatCode>0.0</c:formatCode>
                <c:ptCount val="12"/>
                <c:pt idx="0">
                  <c:v>10</c:v>
                </c:pt>
                <c:pt idx="1">
                  <c:v>8.6999999999999993</c:v>
                </c:pt>
                <c:pt idx="2">
                  <c:v>12.2</c:v>
                </c:pt>
                <c:pt idx="3">
                  <c:v>13.6</c:v>
                </c:pt>
                <c:pt idx="4">
                  <c:v>11.6</c:v>
                </c:pt>
                <c:pt idx="5">
                  <c:v>8.1999999999999993</c:v>
                </c:pt>
                <c:pt idx="6">
                  <c:v>7.7</c:v>
                </c:pt>
                <c:pt idx="7">
                  <c:v>9.1</c:v>
                </c:pt>
                <c:pt idx="8">
                  <c:v>6.5</c:v>
                </c:pt>
              </c:numCache>
            </c:numRef>
          </c:val>
          <c:extLst>
            <c:ext xmlns:c16="http://schemas.microsoft.com/office/drawing/2014/chart" uri="{C3380CC4-5D6E-409C-BE32-E72D297353CC}">
              <c16:uniqueId val="{00000000-36B0-400D-828E-C8125DC6D275}"/>
            </c:ext>
          </c:extLst>
        </c:ser>
        <c:dLbls>
          <c:showLegendKey val="0"/>
          <c:showVal val="0"/>
          <c:showCatName val="0"/>
          <c:showSerName val="0"/>
          <c:showPercent val="0"/>
          <c:showBubbleSize val="0"/>
        </c:dLbls>
        <c:gapWidth val="150"/>
        <c:axId val="241713408"/>
        <c:axId val="241711008"/>
      </c:barChart>
      <c:lineChart>
        <c:grouping val="standard"/>
        <c:varyColors val="0"/>
        <c:ser>
          <c:idx val="2"/>
          <c:order val="2"/>
          <c:tx>
            <c:strRef>
              <c:f>Hoja1!$D$1</c:f>
              <c:strCache>
                <c:ptCount val="1"/>
                <c:pt idx="0">
                  <c:v>Meta</c:v>
                </c:pt>
              </c:strCache>
            </c:strRef>
          </c:tx>
          <c:spPr>
            <a:ln w="28575" cap="rnd">
              <a:solidFill>
                <a:schemeClr val="accent1">
                  <a:lumMod val="50000"/>
                </a:schemeClr>
              </a:solidFill>
              <a:round/>
            </a:ln>
            <a:effectLst/>
          </c:spPr>
          <c:marker>
            <c:symbol val="circle"/>
            <c:size val="5"/>
            <c:spPr>
              <a:solidFill>
                <a:schemeClr val="bg1"/>
              </a:solidFill>
              <a:ln w="9525">
                <a:solidFill>
                  <a:schemeClr val="accent1">
                    <a:lumMod val="50000"/>
                  </a:schemeClr>
                </a:solidFill>
              </a:ln>
              <a:effectLst/>
            </c:spPr>
          </c:marker>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Hoja1!$D$2:$D$13</c:f>
              <c:numCache>
                <c:formatCode>0</c:formatCode>
                <c:ptCount val="12"/>
                <c:pt idx="0">
                  <c:v>10</c:v>
                </c:pt>
                <c:pt idx="1">
                  <c:v>10</c:v>
                </c:pt>
                <c:pt idx="2">
                  <c:v>10</c:v>
                </c:pt>
                <c:pt idx="3">
                  <c:v>10</c:v>
                </c:pt>
                <c:pt idx="4">
                  <c:v>10</c:v>
                </c:pt>
                <c:pt idx="5">
                  <c:v>10</c:v>
                </c:pt>
                <c:pt idx="6">
                  <c:v>10</c:v>
                </c:pt>
                <c:pt idx="7">
                  <c:v>10</c:v>
                </c:pt>
                <c:pt idx="8">
                  <c:v>10</c:v>
                </c:pt>
                <c:pt idx="9">
                  <c:v>10</c:v>
                </c:pt>
                <c:pt idx="10">
                  <c:v>10</c:v>
                </c:pt>
                <c:pt idx="11">
                  <c:v>10</c:v>
                </c:pt>
              </c:numCache>
            </c:numRef>
          </c:val>
          <c:smooth val="0"/>
          <c:extLst>
            <c:ext xmlns:c16="http://schemas.microsoft.com/office/drawing/2014/chart" uri="{C3380CC4-5D6E-409C-BE32-E72D297353CC}">
              <c16:uniqueId val="{00000000-4BDC-4A83-A57C-BADBDCE374CF}"/>
            </c:ext>
          </c:extLst>
        </c:ser>
        <c:dLbls>
          <c:showLegendKey val="0"/>
          <c:showVal val="0"/>
          <c:showCatName val="0"/>
          <c:showSerName val="0"/>
          <c:showPercent val="0"/>
          <c:showBubbleSize val="0"/>
        </c:dLbls>
        <c:marker val="1"/>
        <c:smooth val="0"/>
        <c:axId val="241713408"/>
        <c:axId val="241711008"/>
      </c:lineChart>
      <c:catAx>
        <c:axId val="241713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s-CO"/>
          </a:p>
        </c:txPr>
        <c:crossAx val="241711008"/>
        <c:crosses val="autoZero"/>
        <c:auto val="1"/>
        <c:lblAlgn val="ctr"/>
        <c:lblOffset val="100"/>
        <c:noMultiLvlLbl val="0"/>
      </c:catAx>
      <c:valAx>
        <c:axId val="241711008"/>
        <c:scaling>
          <c:orientation val="minMax"/>
          <c:max val="15"/>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241713408"/>
        <c:crosses val="autoZero"/>
        <c:crossBetween val="between"/>
        <c:majorUnit val="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accent1"/>
      </a:solidFill>
    </a:ln>
    <a:effectLst/>
  </c:spPr>
  <c:txPr>
    <a:bodyPr/>
    <a:lstStyle/>
    <a:p>
      <a:pPr>
        <a:defRPr/>
      </a:pPr>
      <a:endParaRPr lang="es-CO"/>
    </a:p>
  </c:txPr>
  <c:externalData r:id="rId3">
    <c:autoUpdate val="0"/>
  </c:externalData>
</c:chartSpace>
</file>

<file path=ppt/charts/chart5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r>
              <a:rPr lang="es-CO" sz="1400" b="1" noProof="0">
                <a:solidFill>
                  <a:schemeClr val="tx1"/>
                </a:solidFill>
              </a:rPr>
              <a:t>Oportunidad de consulta</a:t>
            </a:r>
            <a:r>
              <a:rPr lang="es-CO" sz="1400" b="1" baseline="0" noProof="0">
                <a:solidFill>
                  <a:schemeClr val="tx1"/>
                </a:solidFill>
              </a:rPr>
              <a:t> Sub especializada</a:t>
            </a:r>
            <a:endParaRPr lang="es-CO" sz="1400" b="1" noProof="0">
              <a:solidFill>
                <a:schemeClr val="tx1"/>
              </a:solidFill>
            </a:endParaRPr>
          </a:p>
        </c:rich>
      </c:tx>
      <c:layout>
        <c:manualLayout>
          <c:xMode val="edge"/>
          <c:yMode val="edge"/>
          <c:x val="0.21411770833333332"/>
          <c:y val="0"/>
        </c:manualLayout>
      </c:layout>
      <c:overlay val="0"/>
      <c:spPr>
        <a:noFill/>
        <a:ln>
          <a:noFill/>
        </a:ln>
        <a:effectLst/>
      </c:spPr>
      <c:txPr>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manualLayout>
          <c:layoutTarget val="inner"/>
          <c:xMode val="edge"/>
          <c:yMode val="edge"/>
          <c:x val="8.5589409722222232E-2"/>
          <c:y val="0.2176162900188324"/>
          <c:w val="0.89015711805555553"/>
          <c:h val="0.63171610169491521"/>
        </c:manualLayout>
      </c:layout>
      <c:barChart>
        <c:barDir val="col"/>
        <c:grouping val="clustered"/>
        <c:varyColors val="0"/>
        <c:ser>
          <c:idx val="0"/>
          <c:order val="0"/>
          <c:tx>
            <c:strRef>
              <c:f>Hoja1!$B$1</c:f>
              <c:strCache>
                <c:ptCount val="1"/>
                <c:pt idx="0">
                  <c:v>2025</c:v>
                </c:pt>
              </c:strCache>
            </c:strRef>
          </c:tx>
          <c:spPr>
            <a:solidFill>
              <a:schemeClr val="tx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Hoja1!$B$2:$B$13</c:f>
              <c:numCache>
                <c:formatCode>0</c:formatCode>
                <c:ptCount val="12"/>
                <c:pt idx="0">
                  <c:v>15.8</c:v>
                </c:pt>
                <c:pt idx="1">
                  <c:v>9.3000000000000007</c:v>
                </c:pt>
                <c:pt idx="2">
                  <c:v>9.3000000000000007</c:v>
                </c:pt>
                <c:pt idx="3">
                  <c:v>12.3</c:v>
                </c:pt>
                <c:pt idx="4">
                  <c:v>11.9</c:v>
                </c:pt>
                <c:pt idx="5">
                  <c:v>12.2</c:v>
                </c:pt>
                <c:pt idx="6">
                  <c:v>13.8</c:v>
                </c:pt>
                <c:pt idx="7">
                  <c:v>11.6</c:v>
                </c:pt>
                <c:pt idx="8">
                  <c:v>13.1</c:v>
                </c:pt>
                <c:pt idx="9">
                  <c:v>9.6</c:v>
                </c:pt>
                <c:pt idx="10">
                  <c:v>15</c:v>
                </c:pt>
                <c:pt idx="11">
                  <c:v>10.8</c:v>
                </c:pt>
              </c:numCache>
            </c:numRef>
          </c:val>
          <c:extLst>
            <c:ext xmlns:c16="http://schemas.microsoft.com/office/drawing/2014/chart" uri="{C3380CC4-5D6E-409C-BE32-E72D297353CC}">
              <c16:uniqueId val="{00000000-9004-40C9-8912-2B4D41862851}"/>
            </c:ext>
          </c:extLst>
        </c:ser>
        <c:ser>
          <c:idx val="1"/>
          <c:order val="1"/>
          <c:tx>
            <c:strRef>
              <c:f>Hoja1!$C$1</c:f>
              <c:strCache>
                <c:ptCount val="1"/>
                <c:pt idx="0">
                  <c:v>2026</c:v>
                </c:pt>
              </c:strCache>
            </c:strRef>
          </c:tx>
          <c:spPr>
            <a:solidFill>
              <a:srgbClr val="45A9A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45A9A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Hoja1!$C$2:$C$13</c:f>
              <c:numCache>
                <c:formatCode>0</c:formatCode>
                <c:ptCount val="12"/>
                <c:pt idx="0">
                  <c:v>10.199999999999999</c:v>
                </c:pt>
                <c:pt idx="1">
                  <c:v>9.6999999999999993</c:v>
                </c:pt>
                <c:pt idx="2">
                  <c:v>12</c:v>
                </c:pt>
                <c:pt idx="3">
                  <c:v>11.7</c:v>
                </c:pt>
                <c:pt idx="4">
                  <c:v>9.3000000000000007</c:v>
                </c:pt>
                <c:pt idx="5">
                  <c:v>9</c:v>
                </c:pt>
                <c:pt idx="6">
                  <c:v>10.8</c:v>
                </c:pt>
                <c:pt idx="7">
                  <c:v>8.8000000000000007</c:v>
                </c:pt>
                <c:pt idx="8">
                  <c:v>10.4</c:v>
                </c:pt>
              </c:numCache>
            </c:numRef>
          </c:val>
          <c:extLst>
            <c:ext xmlns:c16="http://schemas.microsoft.com/office/drawing/2014/chart" uri="{C3380CC4-5D6E-409C-BE32-E72D297353CC}">
              <c16:uniqueId val="{00000000-6DB9-412F-94BF-11044C5CBBE5}"/>
            </c:ext>
          </c:extLst>
        </c:ser>
        <c:dLbls>
          <c:showLegendKey val="0"/>
          <c:showVal val="0"/>
          <c:showCatName val="0"/>
          <c:showSerName val="0"/>
          <c:showPercent val="0"/>
          <c:showBubbleSize val="0"/>
        </c:dLbls>
        <c:gapWidth val="150"/>
        <c:axId val="241713408"/>
        <c:axId val="241711008"/>
      </c:barChart>
      <c:lineChart>
        <c:grouping val="standard"/>
        <c:varyColors val="0"/>
        <c:ser>
          <c:idx val="2"/>
          <c:order val="2"/>
          <c:tx>
            <c:strRef>
              <c:f>Hoja1!$D$1</c:f>
              <c:strCache>
                <c:ptCount val="1"/>
                <c:pt idx="0">
                  <c:v>Meta</c:v>
                </c:pt>
              </c:strCache>
            </c:strRef>
          </c:tx>
          <c:spPr>
            <a:ln w="28575" cap="rnd">
              <a:solidFill>
                <a:schemeClr val="accent1">
                  <a:lumMod val="50000"/>
                </a:schemeClr>
              </a:solidFill>
              <a:round/>
            </a:ln>
            <a:effectLst/>
          </c:spPr>
          <c:marker>
            <c:symbol val="circle"/>
            <c:size val="5"/>
            <c:spPr>
              <a:solidFill>
                <a:schemeClr val="accent3"/>
              </a:solidFill>
              <a:ln w="9525">
                <a:solidFill>
                  <a:schemeClr val="accent1">
                    <a:lumMod val="50000"/>
                  </a:schemeClr>
                </a:solidFill>
              </a:ln>
              <a:effectLst/>
            </c:spPr>
          </c:marker>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Hoja1!$D$2:$D$13</c:f>
              <c:numCache>
                <c:formatCode>General</c:formatCode>
                <c:ptCount val="12"/>
                <c:pt idx="0">
                  <c:v>15</c:v>
                </c:pt>
                <c:pt idx="1">
                  <c:v>15</c:v>
                </c:pt>
                <c:pt idx="2">
                  <c:v>15</c:v>
                </c:pt>
                <c:pt idx="3">
                  <c:v>15</c:v>
                </c:pt>
                <c:pt idx="4">
                  <c:v>15</c:v>
                </c:pt>
                <c:pt idx="5">
                  <c:v>15</c:v>
                </c:pt>
                <c:pt idx="6">
                  <c:v>15</c:v>
                </c:pt>
                <c:pt idx="7">
                  <c:v>15</c:v>
                </c:pt>
                <c:pt idx="8">
                  <c:v>15</c:v>
                </c:pt>
                <c:pt idx="9">
                  <c:v>15</c:v>
                </c:pt>
                <c:pt idx="10">
                  <c:v>15</c:v>
                </c:pt>
                <c:pt idx="11">
                  <c:v>15</c:v>
                </c:pt>
              </c:numCache>
            </c:numRef>
          </c:val>
          <c:smooth val="0"/>
          <c:extLst>
            <c:ext xmlns:c16="http://schemas.microsoft.com/office/drawing/2014/chart" uri="{C3380CC4-5D6E-409C-BE32-E72D297353CC}">
              <c16:uniqueId val="{00000000-8060-4FF0-96BA-F874B4D3546E}"/>
            </c:ext>
          </c:extLst>
        </c:ser>
        <c:dLbls>
          <c:showLegendKey val="0"/>
          <c:showVal val="0"/>
          <c:showCatName val="0"/>
          <c:showSerName val="0"/>
          <c:showPercent val="0"/>
          <c:showBubbleSize val="0"/>
        </c:dLbls>
        <c:marker val="1"/>
        <c:smooth val="0"/>
        <c:axId val="241713408"/>
        <c:axId val="241711008"/>
      </c:lineChart>
      <c:catAx>
        <c:axId val="241713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s-CO"/>
          </a:p>
        </c:txPr>
        <c:crossAx val="241711008"/>
        <c:crosses val="autoZero"/>
        <c:auto val="1"/>
        <c:lblAlgn val="ctr"/>
        <c:lblOffset val="100"/>
        <c:noMultiLvlLbl val="0"/>
      </c:catAx>
      <c:valAx>
        <c:axId val="241711008"/>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24171340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accent1"/>
      </a:solidFill>
    </a:ln>
    <a:effectLst/>
  </c:spPr>
  <c:txPr>
    <a:bodyPr/>
    <a:lstStyle/>
    <a:p>
      <a:pPr>
        <a:defRPr/>
      </a:pPr>
      <a:endParaRPr lang="es-CO"/>
    </a:p>
  </c:txPr>
  <c:externalData r:id="rId3">
    <c:autoUpdate val="0"/>
  </c:externalData>
</c:chartSpace>
</file>

<file path=ppt/charts/chart5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mn-lt"/>
                <a:ea typeface="+mn-ea"/>
                <a:cs typeface="+mn-cs"/>
              </a:defRPr>
            </a:pPr>
            <a:r>
              <a:rPr lang="es-CO" sz="1600" noProof="0"/>
              <a:t>Oportunidad</a:t>
            </a:r>
            <a:r>
              <a:rPr lang="es-CO" sz="1600" baseline="0" noProof="0"/>
              <a:t> de ingreso a modelo de paciente sospechoso</a:t>
            </a:r>
            <a:endParaRPr lang="es-CO" sz="1600" noProof="0"/>
          </a:p>
        </c:rich>
      </c:tx>
      <c:layout>
        <c:manualLayout>
          <c:xMode val="edge"/>
          <c:yMode val="edge"/>
          <c:x val="0.22426059027777778"/>
          <c:y val="4.4476959709127684E-3"/>
        </c:manualLayout>
      </c:layout>
      <c:overlay val="0"/>
      <c:spPr>
        <a:noFill/>
        <a:ln>
          <a:noFill/>
        </a:ln>
        <a:effectLst/>
      </c:spPr>
      <c:txPr>
        <a:bodyPr rot="0" spcFirstLastPara="1" vertOverflow="ellipsis" vert="horz" wrap="square" anchor="ctr" anchorCtr="1"/>
        <a:lstStyle/>
        <a:p>
          <a:pPr>
            <a:defRPr sz="1600" b="0" i="0" u="none" strike="noStrike" kern="1200" spc="0" baseline="0">
              <a:solidFill>
                <a:schemeClr val="tx1"/>
              </a:solidFill>
              <a:latin typeface="+mn-lt"/>
              <a:ea typeface="+mn-ea"/>
              <a:cs typeface="+mn-cs"/>
            </a:defRPr>
          </a:pPr>
          <a:endParaRPr lang="es-CO"/>
        </a:p>
      </c:txPr>
    </c:title>
    <c:autoTitleDeleted val="0"/>
    <c:plotArea>
      <c:layout>
        <c:manualLayout>
          <c:layoutTarget val="inner"/>
          <c:xMode val="edge"/>
          <c:yMode val="edge"/>
          <c:x val="5.4533854166666666E-2"/>
          <c:y val="0.23971715455323245"/>
          <c:w val="0.95378600517029466"/>
          <c:h val="0.52790193775957295"/>
        </c:manualLayout>
      </c:layout>
      <c:barChart>
        <c:barDir val="col"/>
        <c:grouping val="clustered"/>
        <c:varyColors val="0"/>
        <c:ser>
          <c:idx val="0"/>
          <c:order val="0"/>
          <c:tx>
            <c:strRef>
              <c:f>Hoja1!$C$1</c:f>
              <c:strCache>
                <c:ptCount val="1"/>
                <c:pt idx="0">
                  <c:v>2025</c:v>
                </c:pt>
              </c:strCache>
            </c:strRef>
          </c:tx>
          <c:spPr>
            <a:solidFill>
              <a:schemeClr val="tx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Hoja1!$C$2:$C$13</c:f>
              <c:numCache>
                <c:formatCode>0</c:formatCode>
                <c:ptCount val="12"/>
                <c:pt idx="0">
                  <c:v>15.8</c:v>
                </c:pt>
                <c:pt idx="1">
                  <c:v>9.8000000000000007</c:v>
                </c:pt>
                <c:pt idx="2">
                  <c:v>12</c:v>
                </c:pt>
                <c:pt idx="3">
                  <c:v>12.9</c:v>
                </c:pt>
                <c:pt idx="4">
                  <c:v>12.4</c:v>
                </c:pt>
                <c:pt idx="5">
                  <c:v>13.8</c:v>
                </c:pt>
                <c:pt idx="6">
                  <c:v>9.6999999999999993</c:v>
                </c:pt>
                <c:pt idx="7">
                  <c:v>12.2</c:v>
                </c:pt>
                <c:pt idx="8">
                  <c:v>17.2</c:v>
                </c:pt>
                <c:pt idx="9">
                  <c:v>10.1</c:v>
                </c:pt>
                <c:pt idx="10">
                  <c:v>10.4</c:v>
                </c:pt>
                <c:pt idx="11">
                  <c:v>9.1999999999999993</c:v>
                </c:pt>
              </c:numCache>
            </c:numRef>
          </c:val>
          <c:extLst>
            <c:ext xmlns:c16="http://schemas.microsoft.com/office/drawing/2014/chart" uri="{C3380CC4-5D6E-409C-BE32-E72D297353CC}">
              <c16:uniqueId val="{00000000-4218-4F55-875F-26E42812C772}"/>
            </c:ext>
          </c:extLst>
        </c:ser>
        <c:ser>
          <c:idx val="1"/>
          <c:order val="1"/>
          <c:tx>
            <c:strRef>
              <c:f>Hoja1!$D$1</c:f>
              <c:strCache>
                <c:ptCount val="1"/>
                <c:pt idx="0">
                  <c:v>2026</c:v>
                </c:pt>
              </c:strCache>
            </c:strRef>
          </c:tx>
          <c:spPr>
            <a:solidFill>
              <a:srgbClr val="45A9A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4FA9A7"/>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Hoja1!$D$2:$D$13</c:f>
              <c:numCache>
                <c:formatCode>0</c:formatCode>
                <c:ptCount val="12"/>
                <c:pt idx="0">
                  <c:v>5</c:v>
                </c:pt>
                <c:pt idx="1">
                  <c:v>5</c:v>
                </c:pt>
                <c:pt idx="2">
                  <c:v>4</c:v>
                </c:pt>
                <c:pt idx="3">
                  <c:v>4</c:v>
                </c:pt>
                <c:pt idx="4">
                  <c:v>5</c:v>
                </c:pt>
                <c:pt idx="5">
                  <c:v>5</c:v>
                </c:pt>
                <c:pt idx="6">
                  <c:v>6</c:v>
                </c:pt>
                <c:pt idx="7">
                  <c:v>8</c:v>
                </c:pt>
                <c:pt idx="8">
                  <c:v>14</c:v>
                </c:pt>
              </c:numCache>
            </c:numRef>
          </c:val>
          <c:extLst>
            <c:ext xmlns:c16="http://schemas.microsoft.com/office/drawing/2014/chart" uri="{C3380CC4-5D6E-409C-BE32-E72D297353CC}">
              <c16:uniqueId val="{00000001-4218-4F55-875F-26E42812C772}"/>
            </c:ext>
          </c:extLst>
        </c:ser>
        <c:dLbls>
          <c:dLblPos val="outEnd"/>
          <c:showLegendKey val="0"/>
          <c:showVal val="1"/>
          <c:showCatName val="0"/>
          <c:showSerName val="0"/>
          <c:showPercent val="0"/>
          <c:showBubbleSize val="0"/>
        </c:dLbls>
        <c:gapWidth val="120"/>
        <c:overlap val="-5"/>
        <c:axId val="241713408"/>
        <c:axId val="241711008"/>
      </c:barChart>
      <c:lineChart>
        <c:grouping val="standard"/>
        <c:varyColors val="0"/>
        <c:ser>
          <c:idx val="2"/>
          <c:order val="2"/>
          <c:tx>
            <c:strRef>
              <c:f>Hoja1!$E$1</c:f>
              <c:strCache>
                <c:ptCount val="1"/>
                <c:pt idx="0">
                  <c:v>Meta</c:v>
                </c:pt>
              </c:strCache>
            </c:strRef>
          </c:tx>
          <c:spPr>
            <a:ln w="28575" cap="rnd">
              <a:solidFill>
                <a:schemeClr val="accent1">
                  <a:lumMod val="50000"/>
                </a:schemeClr>
              </a:solidFill>
              <a:round/>
            </a:ln>
            <a:effectLst/>
          </c:spPr>
          <c:marker>
            <c:symbol val="circle"/>
            <c:size val="5"/>
            <c:spPr>
              <a:solidFill>
                <a:schemeClr val="accent3"/>
              </a:solidFill>
              <a:ln w="9525">
                <a:solidFill>
                  <a:schemeClr val="accent1">
                    <a:lumMod val="50000"/>
                  </a:schemeClr>
                </a:solidFill>
              </a:ln>
              <a:effectLst/>
            </c:spPr>
          </c:marker>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Hoja1!$E$2:$E$13</c:f>
              <c:numCache>
                <c:formatCode>0</c:formatCode>
                <c:ptCount val="12"/>
                <c:pt idx="0">
                  <c:v>16</c:v>
                </c:pt>
                <c:pt idx="1">
                  <c:v>16</c:v>
                </c:pt>
                <c:pt idx="2">
                  <c:v>16</c:v>
                </c:pt>
                <c:pt idx="3">
                  <c:v>16</c:v>
                </c:pt>
                <c:pt idx="4">
                  <c:v>16</c:v>
                </c:pt>
                <c:pt idx="5">
                  <c:v>16</c:v>
                </c:pt>
                <c:pt idx="6">
                  <c:v>16</c:v>
                </c:pt>
                <c:pt idx="7">
                  <c:v>16</c:v>
                </c:pt>
                <c:pt idx="8">
                  <c:v>16</c:v>
                </c:pt>
                <c:pt idx="9">
                  <c:v>16</c:v>
                </c:pt>
                <c:pt idx="10">
                  <c:v>16</c:v>
                </c:pt>
                <c:pt idx="11">
                  <c:v>16</c:v>
                </c:pt>
              </c:numCache>
            </c:numRef>
          </c:val>
          <c:smooth val="0"/>
          <c:extLst>
            <c:ext xmlns:c16="http://schemas.microsoft.com/office/drawing/2014/chart" uri="{C3380CC4-5D6E-409C-BE32-E72D297353CC}">
              <c16:uniqueId val="{00000002-4218-4F55-875F-26E42812C772}"/>
            </c:ext>
          </c:extLst>
        </c:ser>
        <c:dLbls>
          <c:showLegendKey val="0"/>
          <c:showVal val="0"/>
          <c:showCatName val="0"/>
          <c:showSerName val="0"/>
          <c:showPercent val="0"/>
          <c:showBubbleSize val="0"/>
        </c:dLbls>
        <c:marker val="1"/>
        <c:smooth val="0"/>
        <c:axId val="241713408"/>
        <c:axId val="241711008"/>
      </c:lineChart>
      <c:catAx>
        <c:axId val="241713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s-CO"/>
          </a:p>
        </c:txPr>
        <c:crossAx val="241711008"/>
        <c:crosses val="autoZero"/>
        <c:auto val="1"/>
        <c:lblAlgn val="ctr"/>
        <c:lblOffset val="100"/>
        <c:noMultiLvlLbl val="0"/>
      </c:catAx>
      <c:valAx>
        <c:axId val="241711008"/>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s-CO"/>
          </a:p>
        </c:txPr>
        <c:crossAx val="241713408"/>
        <c:crosses val="autoZero"/>
        <c:crossBetween val="between"/>
        <c:majorUnit val="8"/>
      </c:valAx>
      <c:spPr>
        <a:noFill/>
        <a:ln>
          <a:noFill/>
        </a:ln>
        <a:effectLst/>
      </c:spPr>
    </c:plotArea>
    <c:legend>
      <c:legendPos val="r"/>
      <c:layout>
        <c:manualLayout>
          <c:xMode val="edge"/>
          <c:yMode val="edge"/>
          <c:x val="3.9376909722222228E-2"/>
          <c:y val="0.90393712148618888"/>
          <c:w val="0.92148888888888869"/>
          <c:h val="4.7138222833770699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accent1"/>
      </a:solidFill>
    </a:ln>
    <a:effectLst/>
  </c:spPr>
  <c:txPr>
    <a:bodyPr/>
    <a:lstStyle/>
    <a:p>
      <a:pPr>
        <a:defRPr>
          <a:solidFill>
            <a:schemeClr val="tx1"/>
          </a:solidFill>
        </a:defRPr>
      </a:pPr>
      <a:endParaRPr lang="es-CO"/>
    </a:p>
  </c:txPr>
  <c:externalData r:id="rId3">
    <c:autoUpdate val="0"/>
  </c:externalData>
</c:chartSpace>
</file>

<file path=ppt/charts/chart5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s-CO" sz="1600" b="1" noProof="0">
                <a:solidFill>
                  <a:schemeClr val="tx1"/>
                </a:solidFill>
              </a:rPr>
              <a:t>Oportunidad</a:t>
            </a:r>
            <a:r>
              <a:rPr lang="es-CO" sz="1600" b="1" baseline="0" noProof="0">
                <a:solidFill>
                  <a:schemeClr val="tx1"/>
                </a:solidFill>
              </a:rPr>
              <a:t> de quimioterapia</a:t>
            </a:r>
            <a:endParaRPr lang="es-CO" sz="1600" b="1" noProof="0">
              <a:solidFill>
                <a:schemeClr val="tx1"/>
              </a:solidFill>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Hoja1!$C$1</c:f>
              <c:strCache>
                <c:ptCount val="1"/>
                <c:pt idx="0">
                  <c:v>2025</c:v>
                </c:pt>
              </c:strCache>
            </c:strRef>
          </c:tx>
          <c:spPr>
            <a:solidFill>
              <a:srgbClr val="00A19C"/>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45A9A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Hoja1!$C$2:$C$13</c:f>
              <c:numCache>
                <c:formatCode>0</c:formatCode>
                <c:ptCount val="12"/>
                <c:pt idx="0">
                  <c:v>10</c:v>
                </c:pt>
                <c:pt idx="1">
                  <c:v>7</c:v>
                </c:pt>
                <c:pt idx="2">
                  <c:v>7</c:v>
                </c:pt>
                <c:pt idx="3">
                  <c:v>7</c:v>
                </c:pt>
                <c:pt idx="4">
                  <c:v>7</c:v>
                </c:pt>
                <c:pt idx="5">
                  <c:v>7</c:v>
                </c:pt>
                <c:pt idx="6">
                  <c:v>9.5</c:v>
                </c:pt>
                <c:pt idx="7">
                  <c:v>10</c:v>
                </c:pt>
                <c:pt idx="8">
                  <c:v>11</c:v>
                </c:pt>
                <c:pt idx="9">
                  <c:v>7.8</c:v>
                </c:pt>
                <c:pt idx="10">
                  <c:v>8.4</c:v>
                </c:pt>
                <c:pt idx="11">
                  <c:v>8.1</c:v>
                </c:pt>
              </c:numCache>
            </c:numRef>
          </c:val>
          <c:extLst>
            <c:ext xmlns:c16="http://schemas.microsoft.com/office/drawing/2014/chart" uri="{C3380CC4-5D6E-409C-BE32-E72D297353CC}">
              <c16:uniqueId val="{00000000-42D9-4FD8-AB28-EAFCE23E12DC}"/>
            </c:ext>
          </c:extLst>
        </c:ser>
        <c:ser>
          <c:idx val="1"/>
          <c:order val="1"/>
          <c:tx>
            <c:strRef>
              <c:f>Hoja1!$D$1</c:f>
              <c:strCache>
                <c:ptCount val="1"/>
                <c:pt idx="0">
                  <c:v>2026</c:v>
                </c:pt>
              </c:strCache>
            </c:strRef>
          </c:tx>
          <c:spPr>
            <a:solidFill>
              <a:schemeClr val="tx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Hoja1!$D$2:$D$13</c:f>
              <c:numCache>
                <c:formatCode>0</c:formatCode>
                <c:ptCount val="12"/>
                <c:pt idx="0">
                  <c:v>20</c:v>
                </c:pt>
                <c:pt idx="1">
                  <c:v>18.2</c:v>
                </c:pt>
                <c:pt idx="2">
                  <c:v>14</c:v>
                </c:pt>
                <c:pt idx="3">
                  <c:v>15</c:v>
                </c:pt>
                <c:pt idx="4">
                  <c:v>12</c:v>
                </c:pt>
                <c:pt idx="5">
                  <c:v>11.5</c:v>
                </c:pt>
                <c:pt idx="6">
                  <c:v>12</c:v>
                </c:pt>
                <c:pt idx="7">
                  <c:v>15</c:v>
                </c:pt>
                <c:pt idx="8">
                  <c:v>13.3</c:v>
                </c:pt>
              </c:numCache>
            </c:numRef>
          </c:val>
          <c:extLst>
            <c:ext xmlns:c16="http://schemas.microsoft.com/office/drawing/2014/chart" uri="{C3380CC4-5D6E-409C-BE32-E72D297353CC}">
              <c16:uniqueId val="{00000000-0786-4630-A172-FEC81A43E53A}"/>
            </c:ext>
          </c:extLst>
        </c:ser>
        <c:dLbls>
          <c:showLegendKey val="0"/>
          <c:showVal val="0"/>
          <c:showCatName val="0"/>
          <c:showSerName val="0"/>
          <c:showPercent val="0"/>
          <c:showBubbleSize val="0"/>
        </c:dLbls>
        <c:gapWidth val="75"/>
        <c:overlap val="-25"/>
        <c:axId val="1418613503"/>
        <c:axId val="1418609663"/>
      </c:barChart>
      <c:lineChart>
        <c:grouping val="standard"/>
        <c:varyColors val="0"/>
        <c:ser>
          <c:idx val="2"/>
          <c:order val="2"/>
          <c:tx>
            <c:strRef>
              <c:f>Hoja1!$E$1</c:f>
              <c:strCache>
                <c:ptCount val="1"/>
                <c:pt idx="0">
                  <c:v>meta</c:v>
                </c:pt>
              </c:strCache>
            </c:strRef>
          </c:tx>
          <c:spPr>
            <a:ln w="28575" cap="rnd">
              <a:solidFill>
                <a:schemeClr val="accent1">
                  <a:lumMod val="50000"/>
                </a:schemeClr>
              </a:solidFill>
              <a:round/>
            </a:ln>
            <a:effectLst/>
          </c:spPr>
          <c:marker>
            <c:symbol val="none"/>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Hoja1!$E$2:$E$13</c:f>
              <c:numCache>
                <c:formatCode>0</c:formatCode>
                <c:ptCount val="12"/>
                <c:pt idx="0">
                  <c:v>15</c:v>
                </c:pt>
                <c:pt idx="1">
                  <c:v>15</c:v>
                </c:pt>
                <c:pt idx="2">
                  <c:v>15</c:v>
                </c:pt>
                <c:pt idx="3">
                  <c:v>15</c:v>
                </c:pt>
                <c:pt idx="4">
                  <c:v>15</c:v>
                </c:pt>
                <c:pt idx="5">
                  <c:v>15</c:v>
                </c:pt>
                <c:pt idx="6">
                  <c:v>15</c:v>
                </c:pt>
                <c:pt idx="7">
                  <c:v>15</c:v>
                </c:pt>
                <c:pt idx="8">
                  <c:v>15</c:v>
                </c:pt>
                <c:pt idx="9">
                  <c:v>15</c:v>
                </c:pt>
                <c:pt idx="10">
                  <c:v>15</c:v>
                </c:pt>
                <c:pt idx="11">
                  <c:v>15</c:v>
                </c:pt>
              </c:numCache>
            </c:numRef>
          </c:val>
          <c:smooth val="0"/>
          <c:extLst>
            <c:ext xmlns:c16="http://schemas.microsoft.com/office/drawing/2014/chart" uri="{C3380CC4-5D6E-409C-BE32-E72D297353CC}">
              <c16:uniqueId val="{00000002-6D7F-4BAD-97FA-5A0142977C93}"/>
            </c:ext>
          </c:extLst>
        </c:ser>
        <c:dLbls>
          <c:showLegendKey val="0"/>
          <c:showVal val="0"/>
          <c:showCatName val="0"/>
          <c:showSerName val="0"/>
          <c:showPercent val="0"/>
          <c:showBubbleSize val="0"/>
        </c:dLbls>
        <c:marker val="1"/>
        <c:smooth val="0"/>
        <c:axId val="1418613503"/>
        <c:axId val="1418609663"/>
      </c:lineChart>
      <c:catAx>
        <c:axId val="14186135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418609663"/>
        <c:crosses val="autoZero"/>
        <c:auto val="1"/>
        <c:lblAlgn val="ctr"/>
        <c:lblOffset val="100"/>
        <c:noMultiLvlLbl val="0"/>
      </c:catAx>
      <c:valAx>
        <c:axId val="1418609663"/>
        <c:scaling>
          <c:orientation val="minMax"/>
          <c:max val="25"/>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418613503"/>
        <c:crosses val="autoZero"/>
        <c:crossBetween val="between"/>
        <c:majorUnit val="5"/>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s-CO"/>
    </a:p>
  </c:txPr>
  <c:externalData r:id="rId3">
    <c:autoUpdate val="0"/>
  </c:externalData>
</c:chartSpace>
</file>

<file path=ppt/charts/chart6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s-CO" sz="1600" b="1" noProof="0">
                <a:solidFill>
                  <a:schemeClr val="tx1"/>
                </a:solidFill>
              </a:rPr>
              <a:t>Oportunidad de</a:t>
            </a:r>
            <a:r>
              <a:rPr lang="es-CO" sz="1600" b="1" baseline="0" noProof="0">
                <a:solidFill>
                  <a:schemeClr val="tx1"/>
                </a:solidFill>
              </a:rPr>
              <a:t> procedimientos quirúrgicos </a:t>
            </a:r>
            <a:endParaRPr lang="es-CO" sz="1600" b="1" noProof="0">
              <a:solidFill>
                <a:schemeClr val="tx1"/>
              </a:solidFill>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Hoja1!$C$1</c:f>
              <c:strCache>
                <c:ptCount val="1"/>
                <c:pt idx="0">
                  <c:v>2025</c:v>
                </c:pt>
              </c:strCache>
            </c:strRef>
          </c:tx>
          <c:spPr>
            <a:solidFill>
              <a:srgbClr val="00A19C"/>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45A9A1"/>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Hoja1!$C$2:$C$13</c:f>
              <c:numCache>
                <c:formatCode>0</c:formatCode>
                <c:ptCount val="12"/>
                <c:pt idx="0">
                  <c:v>61</c:v>
                </c:pt>
                <c:pt idx="1">
                  <c:v>58</c:v>
                </c:pt>
                <c:pt idx="2">
                  <c:v>54.9</c:v>
                </c:pt>
                <c:pt idx="3">
                  <c:v>79</c:v>
                </c:pt>
                <c:pt idx="4">
                  <c:v>60.5</c:v>
                </c:pt>
                <c:pt idx="5">
                  <c:v>31.7</c:v>
                </c:pt>
                <c:pt idx="6">
                  <c:v>48.1</c:v>
                </c:pt>
                <c:pt idx="7">
                  <c:v>47.8</c:v>
                </c:pt>
                <c:pt idx="8">
                  <c:v>44</c:v>
                </c:pt>
                <c:pt idx="9">
                  <c:v>47.3</c:v>
                </c:pt>
                <c:pt idx="10">
                  <c:v>53</c:v>
                </c:pt>
                <c:pt idx="11">
                  <c:v>40.700000000000003</c:v>
                </c:pt>
              </c:numCache>
            </c:numRef>
          </c:val>
          <c:extLst>
            <c:ext xmlns:c16="http://schemas.microsoft.com/office/drawing/2014/chart" uri="{C3380CC4-5D6E-409C-BE32-E72D297353CC}">
              <c16:uniqueId val="{00000000-9D83-4C8F-842A-320324160D41}"/>
            </c:ext>
          </c:extLst>
        </c:ser>
        <c:ser>
          <c:idx val="1"/>
          <c:order val="1"/>
          <c:tx>
            <c:strRef>
              <c:f>Hoja1!$D$1</c:f>
              <c:strCache>
                <c:ptCount val="1"/>
                <c:pt idx="0">
                  <c:v>2026</c:v>
                </c:pt>
              </c:strCache>
            </c:strRef>
          </c:tx>
          <c:spPr>
            <a:solidFill>
              <a:schemeClr val="tx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Hoja1!$D$2:$D$13</c:f>
              <c:numCache>
                <c:formatCode>General</c:formatCode>
                <c:ptCount val="12"/>
                <c:pt idx="0">
                  <c:v>45</c:v>
                </c:pt>
                <c:pt idx="1">
                  <c:v>60</c:v>
                </c:pt>
                <c:pt idx="2">
                  <c:v>62</c:v>
                </c:pt>
                <c:pt idx="3">
                  <c:v>64</c:v>
                </c:pt>
                <c:pt idx="4">
                  <c:v>51</c:v>
                </c:pt>
                <c:pt idx="5">
                  <c:v>56</c:v>
                </c:pt>
                <c:pt idx="6">
                  <c:v>54</c:v>
                </c:pt>
                <c:pt idx="7">
                  <c:v>42</c:v>
                </c:pt>
                <c:pt idx="8">
                  <c:v>78</c:v>
                </c:pt>
              </c:numCache>
            </c:numRef>
          </c:val>
          <c:extLst>
            <c:ext xmlns:c16="http://schemas.microsoft.com/office/drawing/2014/chart" uri="{C3380CC4-5D6E-409C-BE32-E72D297353CC}">
              <c16:uniqueId val="{00000000-34C9-42DA-B53E-E477EA48F6F7}"/>
            </c:ext>
          </c:extLst>
        </c:ser>
        <c:dLbls>
          <c:showLegendKey val="0"/>
          <c:showVal val="0"/>
          <c:showCatName val="0"/>
          <c:showSerName val="0"/>
          <c:showPercent val="0"/>
          <c:showBubbleSize val="0"/>
        </c:dLbls>
        <c:gapWidth val="75"/>
        <c:overlap val="-25"/>
        <c:axId val="1418613503"/>
        <c:axId val="1418609663"/>
      </c:barChart>
      <c:lineChart>
        <c:grouping val="standard"/>
        <c:varyColors val="0"/>
        <c:ser>
          <c:idx val="2"/>
          <c:order val="2"/>
          <c:tx>
            <c:strRef>
              <c:f>Hoja1!$E$1</c:f>
              <c:strCache>
                <c:ptCount val="1"/>
                <c:pt idx="0">
                  <c:v>Meta</c:v>
                </c:pt>
              </c:strCache>
            </c:strRef>
          </c:tx>
          <c:spPr>
            <a:ln w="28575" cap="rnd">
              <a:solidFill>
                <a:schemeClr val="accent1">
                  <a:lumMod val="50000"/>
                </a:schemeClr>
              </a:solidFill>
              <a:round/>
            </a:ln>
            <a:effectLst/>
          </c:spPr>
          <c:marker>
            <c:symbol val="circle"/>
            <c:size val="5"/>
            <c:spPr>
              <a:solidFill>
                <a:schemeClr val="accent3"/>
              </a:solidFill>
              <a:ln w="9525">
                <a:solidFill>
                  <a:schemeClr val="accent1">
                    <a:lumMod val="50000"/>
                  </a:schemeClr>
                </a:solidFill>
              </a:ln>
              <a:effectLst/>
            </c:spPr>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Hoja1!$E$2:$E$13</c:f>
              <c:numCache>
                <c:formatCode>General</c:formatCode>
                <c:ptCount val="12"/>
                <c:pt idx="0">
                  <c:v>25</c:v>
                </c:pt>
                <c:pt idx="1">
                  <c:v>25</c:v>
                </c:pt>
                <c:pt idx="2">
                  <c:v>25</c:v>
                </c:pt>
                <c:pt idx="3">
                  <c:v>25</c:v>
                </c:pt>
                <c:pt idx="4">
                  <c:v>25</c:v>
                </c:pt>
                <c:pt idx="5">
                  <c:v>25</c:v>
                </c:pt>
                <c:pt idx="6">
                  <c:v>25</c:v>
                </c:pt>
                <c:pt idx="7">
                  <c:v>25</c:v>
                </c:pt>
                <c:pt idx="8">
                  <c:v>25</c:v>
                </c:pt>
                <c:pt idx="9">
                  <c:v>25</c:v>
                </c:pt>
                <c:pt idx="10">
                  <c:v>25</c:v>
                </c:pt>
                <c:pt idx="11">
                  <c:v>25</c:v>
                </c:pt>
              </c:numCache>
            </c:numRef>
          </c:val>
          <c:smooth val="0"/>
          <c:extLst>
            <c:ext xmlns:c16="http://schemas.microsoft.com/office/drawing/2014/chart" uri="{C3380CC4-5D6E-409C-BE32-E72D297353CC}">
              <c16:uniqueId val="{00000001-34C9-42DA-B53E-E477EA48F6F7}"/>
            </c:ext>
          </c:extLst>
        </c:ser>
        <c:dLbls>
          <c:showLegendKey val="0"/>
          <c:showVal val="0"/>
          <c:showCatName val="0"/>
          <c:showSerName val="0"/>
          <c:showPercent val="0"/>
          <c:showBubbleSize val="0"/>
        </c:dLbls>
        <c:marker val="1"/>
        <c:smooth val="0"/>
        <c:axId val="1418613503"/>
        <c:axId val="1418609663"/>
      </c:lineChart>
      <c:catAx>
        <c:axId val="14186135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418609663"/>
        <c:crosses val="autoZero"/>
        <c:auto val="1"/>
        <c:lblAlgn val="ctr"/>
        <c:lblOffset val="100"/>
        <c:noMultiLvlLbl val="0"/>
      </c:catAx>
      <c:valAx>
        <c:axId val="1418609663"/>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41861350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s-CO"/>
    </a:p>
  </c:txPr>
  <c:externalData r:id="rId3">
    <c:autoUpdate val="0"/>
  </c:externalData>
</c:chartSpace>
</file>

<file path=ppt/charts/chart6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s-CO" sz="1600" b="1" noProof="0">
                <a:solidFill>
                  <a:schemeClr val="tx1"/>
                </a:solidFill>
              </a:rPr>
              <a:t>Oportunidad de radioterapia</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Hoja1!$C$1</c:f>
              <c:strCache>
                <c:ptCount val="1"/>
                <c:pt idx="0">
                  <c:v>2025</c:v>
                </c:pt>
              </c:strCache>
            </c:strRef>
          </c:tx>
          <c:spPr>
            <a:solidFill>
              <a:srgbClr val="00A19C"/>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45A9A1"/>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Hoja1!$C$2:$C$13</c:f>
              <c:numCache>
                <c:formatCode>General</c:formatCode>
                <c:ptCount val="12"/>
                <c:pt idx="0">
                  <c:v>14</c:v>
                </c:pt>
                <c:pt idx="1">
                  <c:v>12</c:v>
                </c:pt>
                <c:pt idx="2">
                  <c:v>10</c:v>
                </c:pt>
                <c:pt idx="3">
                  <c:v>14</c:v>
                </c:pt>
                <c:pt idx="4">
                  <c:v>13</c:v>
                </c:pt>
                <c:pt idx="5">
                  <c:v>13</c:v>
                </c:pt>
                <c:pt idx="6">
                  <c:v>16</c:v>
                </c:pt>
                <c:pt idx="7">
                  <c:v>14</c:v>
                </c:pt>
                <c:pt idx="8">
                  <c:v>15</c:v>
                </c:pt>
                <c:pt idx="9">
                  <c:v>14</c:v>
                </c:pt>
                <c:pt idx="10">
                  <c:v>15</c:v>
                </c:pt>
                <c:pt idx="11">
                  <c:v>14</c:v>
                </c:pt>
              </c:numCache>
            </c:numRef>
          </c:val>
          <c:extLst>
            <c:ext xmlns:c16="http://schemas.microsoft.com/office/drawing/2014/chart" uri="{C3380CC4-5D6E-409C-BE32-E72D297353CC}">
              <c16:uniqueId val="{00000000-6418-4EE4-A229-E94A84EF1777}"/>
            </c:ext>
          </c:extLst>
        </c:ser>
        <c:ser>
          <c:idx val="1"/>
          <c:order val="1"/>
          <c:tx>
            <c:strRef>
              <c:f>Hoja1!$D$1</c:f>
              <c:strCache>
                <c:ptCount val="1"/>
                <c:pt idx="0">
                  <c:v>2026</c:v>
                </c:pt>
              </c:strCache>
            </c:strRef>
          </c:tx>
          <c:spPr>
            <a:solidFill>
              <a:schemeClr val="tx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Hoja1!$D$2:$D$13</c:f>
              <c:numCache>
                <c:formatCode>General</c:formatCode>
                <c:ptCount val="12"/>
                <c:pt idx="0">
                  <c:v>19</c:v>
                </c:pt>
                <c:pt idx="1">
                  <c:v>21.5</c:v>
                </c:pt>
                <c:pt idx="2">
                  <c:v>38</c:v>
                </c:pt>
                <c:pt idx="3">
                  <c:v>36</c:v>
                </c:pt>
                <c:pt idx="4">
                  <c:v>34</c:v>
                </c:pt>
                <c:pt idx="5">
                  <c:v>35</c:v>
                </c:pt>
                <c:pt idx="6">
                  <c:v>27</c:v>
                </c:pt>
                <c:pt idx="7">
                  <c:v>34</c:v>
                </c:pt>
                <c:pt idx="8">
                  <c:v>30</c:v>
                </c:pt>
              </c:numCache>
            </c:numRef>
          </c:val>
          <c:extLst>
            <c:ext xmlns:c16="http://schemas.microsoft.com/office/drawing/2014/chart" uri="{C3380CC4-5D6E-409C-BE32-E72D297353CC}">
              <c16:uniqueId val="{00000002-5161-4943-AF65-3595DDD867F1}"/>
            </c:ext>
          </c:extLst>
        </c:ser>
        <c:dLbls>
          <c:showLegendKey val="0"/>
          <c:showVal val="0"/>
          <c:showCatName val="0"/>
          <c:showSerName val="0"/>
          <c:showPercent val="0"/>
          <c:showBubbleSize val="0"/>
        </c:dLbls>
        <c:gapWidth val="75"/>
        <c:overlap val="-25"/>
        <c:axId val="1418613503"/>
        <c:axId val="1418609663"/>
      </c:barChart>
      <c:lineChart>
        <c:grouping val="standard"/>
        <c:varyColors val="0"/>
        <c:ser>
          <c:idx val="2"/>
          <c:order val="2"/>
          <c:tx>
            <c:strRef>
              <c:f>Hoja1!$E$1</c:f>
              <c:strCache>
                <c:ptCount val="1"/>
                <c:pt idx="0">
                  <c:v>Meta</c:v>
                </c:pt>
              </c:strCache>
            </c:strRef>
          </c:tx>
          <c:spPr>
            <a:ln w="28575" cap="rnd">
              <a:solidFill>
                <a:schemeClr val="accent1">
                  <a:lumMod val="50000"/>
                </a:schemeClr>
              </a:solidFill>
              <a:round/>
            </a:ln>
            <a:effectLst/>
          </c:spPr>
          <c:marker>
            <c:symbol val="circle"/>
            <c:size val="5"/>
            <c:spPr>
              <a:solidFill>
                <a:schemeClr val="accent3"/>
              </a:solidFill>
              <a:ln w="9525">
                <a:solidFill>
                  <a:schemeClr val="accent1">
                    <a:lumMod val="50000"/>
                  </a:schemeClr>
                </a:solidFill>
              </a:ln>
              <a:effectLst/>
            </c:spPr>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Hoja1!$E$2:$E$13</c:f>
              <c:numCache>
                <c:formatCode>General</c:formatCode>
                <c:ptCount val="12"/>
                <c:pt idx="0">
                  <c:v>16</c:v>
                </c:pt>
                <c:pt idx="1">
                  <c:v>16</c:v>
                </c:pt>
                <c:pt idx="2">
                  <c:v>16</c:v>
                </c:pt>
                <c:pt idx="3">
                  <c:v>16</c:v>
                </c:pt>
                <c:pt idx="4">
                  <c:v>16</c:v>
                </c:pt>
                <c:pt idx="5">
                  <c:v>16</c:v>
                </c:pt>
                <c:pt idx="6">
                  <c:v>16</c:v>
                </c:pt>
                <c:pt idx="7">
                  <c:v>16</c:v>
                </c:pt>
                <c:pt idx="8">
                  <c:v>16</c:v>
                </c:pt>
                <c:pt idx="9">
                  <c:v>16</c:v>
                </c:pt>
                <c:pt idx="10">
                  <c:v>16</c:v>
                </c:pt>
                <c:pt idx="11">
                  <c:v>16</c:v>
                </c:pt>
              </c:numCache>
            </c:numRef>
          </c:val>
          <c:smooth val="0"/>
          <c:extLst>
            <c:ext xmlns:c16="http://schemas.microsoft.com/office/drawing/2014/chart" uri="{C3380CC4-5D6E-409C-BE32-E72D297353CC}">
              <c16:uniqueId val="{00000003-5161-4943-AF65-3595DDD867F1}"/>
            </c:ext>
          </c:extLst>
        </c:ser>
        <c:dLbls>
          <c:showLegendKey val="0"/>
          <c:showVal val="0"/>
          <c:showCatName val="0"/>
          <c:showSerName val="0"/>
          <c:showPercent val="0"/>
          <c:showBubbleSize val="0"/>
        </c:dLbls>
        <c:marker val="1"/>
        <c:smooth val="0"/>
        <c:axId val="1418613503"/>
        <c:axId val="1418609663"/>
      </c:lineChart>
      <c:catAx>
        <c:axId val="14186135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418609663"/>
        <c:crosses val="autoZero"/>
        <c:auto val="1"/>
        <c:lblAlgn val="ctr"/>
        <c:lblOffset val="100"/>
        <c:noMultiLvlLbl val="0"/>
      </c:catAx>
      <c:valAx>
        <c:axId val="141860966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418613503"/>
        <c:crosses val="autoZero"/>
        <c:crossBetween val="between"/>
        <c:majorUnit val="4"/>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s-CO"/>
    </a:p>
  </c:txPr>
  <c:externalData r:id="rId3">
    <c:autoUpdate val="0"/>
  </c:externalData>
</c:chartSpace>
</file>

<file path=ppt/charts/chart6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s-CO" sz="1600" b="1" noProof="0">
                <a:solidFill>
                  <a:schemeClr val="tx1"/>
                </a:solidFill>
              </a:rPr>
              <a:t>Oportunidad de medicamentos</a:t>
            </a:r>
            <a:r>
              <a:rPr lang="es-CO" sz="1600" b="1" baseline="0" noProof="0">
                <a:solidFill>
                  <a:schemeClr val="tx1"/>
                </a:solidFill>
              </a:rPr>
              <a:t> orales</a:t>
            </a:r>
            <a:endParaRPr lang="es-CO" sz="1600" b="1" noProof="0">
              <a:solidFill>
                <a:schemeClr val="tx1"/>
              </a:solidFill>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Hoja1!$C$1</c:f>
              <c:strCache>
                <c:ptCount val="1"/>
                <c:pt idx="0">
                  <c:v>2025</c:v>
                </c:pt>
              </c:strCache>
            </c:strRef>
          </c:tx>
          <c:spPr>
            <a:solidFill>
              <a:srgbClr val="00A19C"/>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45A9A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Hoja1!$C$2:$C$13</c:f>
              <c:numCache>
                <c:formatCode>0</c:formatCode>
                <c:ptCount val="12"/>
                <c:pt idx="0">
                  <c:v>7</c:v>
                </c:pt>
                <c:pt idx="1">
                  <c:v>7</c:v>
                </c:pt>
                <c:pt idx="2">
                  <c:v>7</c:v>
                </c:pt>
                <c:pt idx="3">
                  <c:v>7</c:v>
                </c:pt>
                <c:pt idx="4">
                  <c:v>7</c:v>
                </c:pt>
                <c:pt idx="5">
                  <c:v>7</c:v>
                </c:pt>
                <c:pt idx="6">
                  <c:v>13</c:v>
                </c:pt>
                <c:pt idx="7">
                  <c:v>8</c:v>
                </c:pt>
                <c:pt idx="8">
                  <c:v>11</c:v>
                </c:pt>
                <c:pt idx="9">
                  <c:v>14.5</c:v>
                </c:pt>
                <c:pt idx="10">
                  <c:v>9</c:v>
                </c:pt>
                <c:pt idx="11">
                  <c:v>5</c:v>
                </c:pt>
              </c:numCache>
            </c:numRef>
          </c:val>
          <c:extLst>
            <c:ext xmlns:c16="http://schemas.microsoft.com/office/drawing/2014/chart" uri="{C3380CC4-5D6E-409C-BE32-E72D297353CC}">
              <c16:uniqueId val="{00000000-9E38-4C13-ADEB-0305696DC97A}"/>
            </c:ext>
          </c:extLst>
        </c:ser>
        <c:ser>
          <c:idx val="1"/>
          <c:order val="1"/>
          <c:tx>
            <c:strRef>
              <c:f>Hoja1!$D$1</c:f>
              <c:strCache>
                <c:ptCount val="1"/>
                <c:pt idx="0">
                  <c:v>2026</c:v>
                </c:pt>
              </c:strCache>
            </c:strRef>
          </c:tx>
          <c:spPr>
            <a:solidFill>
              <a:schemeClr val="tx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Hoja1!$D$2:$D$13</c:f>
              <c:numCache>
                <c:formatCode>0</c:formatCode>
                <c:ptCount val="12"/>
                <c:pt idx="0">
                  <c:v>20</c:v>
                </c:pt>
                <c:pt idx="1">
                  <c:v>15.3</c:v>
                </c:pt>
                <c:pt idx="2">
                  <c:v>14</c:v>
                </c:pt>
                <c:pt idx="3">
                  <c:v>15</c:v>
                </c:pt>
                <c:pt idx="4">
                  <c:v>12</c:v>
                </c:pt>
                <c:pt idx="5">
                  <c:v>11.5</c:v>
                </c:pt>
                <c:pt idx="6">
                  <c:v>12</c:v>
                </c:pt>
                <c:pt idx="7">
                  <c:v>15</c:v>
                </c:pt>
                <c:pt idx="8">
                  <c:v>13</c:v>
                </c:pt>
              </c:numCache>
            </c:numRef>
          </c:val>
          <c:extLst>
            <c:ext xmlns:c16="http://schemas.microsoft.com/office/drawing/2014/chart" uri="{C3380CC4-5D6E-409C-BE32-E72D297353CC}">
              <c16:uniqueId val="{00000000-E416-40FA-BEBF-FFA027E60D10}"/>
            </c:ext>
          </c:extLst>
        </c:ser>
        <c:dLbls>
          <c:showLegendKey val="0"/>
          <c:showVal val="0"/>
          <c:showCatName val="0"/>
          <c:showSerName val="0"/>
          <c:showPercent val="0"/>
          <c:showBubbleSize val="0"/>
        </c:dLbls>
        <c:gapWidth val="75"/>
        <c:overlap val="-25"/>
        <c:axId val="1418613503"/>
        <c:axId val="1418609663"/>
      </c:barChart>
      <c:lineChart>
        <c:grouping val="standard"/>
        <c:varyColors val="0"/>
        <c:ser>
          <c:idx val="2"/>
          <c:order val="2"/>
          <c:tx>
            <c:strRef>
              <c:f>Hoja1!$E$1</c:f>
              <c:strCache>
                <c:ptCount val="1"/>
                <c:pt idx="0">
                  <c:v>Meta</c:v>
                </c:pt>
              </c:strCache>
            </c:strRef>
          </c:tx>
          <c:spPr>
            <a:ln w="28575" cap="rnd">
              <a:solidFill>
                <a:schemeClr val="accent1">
                  <a:lumMod val="50000"/>
                </a:schemeClr>
              </a:solidFill>
              <a:round/>
            </a:ln>
            <a:effectLst/>
          </c:spPr>
          <c:marker>
            <c:symbol val="none"/>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Hoja1!$E$2:$E$13</c:f>
              <c:numCache>
                <c:formatCode>General</c:formatCode>
                <c:ptCount val="12"/>
                <c:pt idx="0">
                  <c:v>10</c:v>
                </c:pt>
                <c:pt idx="1">
                  <c:v>10</c:v>
                </c:pt>
                <c:pt idx="2">
                  <c:v>10</c:v>
                </c:pt>
                <c:pt idx="3">
                  <c:v>10</c:v>
                </c:pt>
                <c:pt idx="4">
                  <c:v>10</c:v>
                </c:pt>
                <c:pt idx="5">
                  <c:v>10</c:v>
                </c:pt>
                <c:pt idx="6">
                  <c:v>10</c:v>
                </c:pt>
                <c:pt idx="7">
                  <c:v>10</c:v>
                </c:pt>
                <c:pt idx="8">
                  <c:v>10</c:v>
                </c:pt>
                <c:pt idx="9">
                  <c:v>10</c:v>
                </c:pt>
                <c:pt idx="10">
                  <c:v>10</c:v>
                </c:pt>
                <c:pt idx="11">
                  <c:v>10</c:v>
                </c:pt>
              </c:numCache>
            </c:numRef>
          </c:val>
          <c:smooth val="0"/>
          <c:extLst>
            <c:ext xmlns:c16="http://schemas.microsoft.com/office/drawing/2014/chart" uri="{C3380CC4-5D6E-409C-BE32-E72D297353CC}">
              <c16:uniqueId val="{00000001-A12E-4D7F-9CB6-B2760F16B6CA}"/>
            </c:ext>
          </c:extLst>
        </c:ser>
        <c:dLbls>
          <c:showLegendKey val="0"/>
          <c:showVal val="0"/>
          <c:showCatName val="0"/>
          <c:showSerName val="0"/>
          <c:showPercent val="0"/>
          <c:showBubbleSize val="0"/>
        </c:dLbls>
        <c:marker val="1"/>
        <c:smooth val="0"/>
        <c:axId val="1418613503"/>
        <c:axId val="1418609663"/>
      </c:lineChart>
      <c:catAx>
        <c:axId val="14186135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418609663"/>
        <c:crosses val="autoZero"/>
        <c:auto val="1"/>
        <c:lblAlgn val="ctr"/>
        <c:lblOffset val="100"/>
        <c:noMultiLvlLbl val="0"/>
      </c:catAx>
      <c:valAx>
        <c:axId val="1418609663"/>
        <c:scaling>
          <c:orientation val="minMax"/>
          <c:max val="25"/>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418613503"/>
        <c:crosses val="autoZero"/>
        <c:crossBetween val="between"/>
      </c:valAx>
      <c:spPr>
        <a:noFill/>
        <a:ln>
          <a:solidFill>
            <a:schemeClr val="tx1">
              <a:alpha val="95000"/>
            </a:schemeClr>
          </a:solid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s-CO"/>
    </a:p>
  </c:txPr>
  <c:externalData r:id="rId3">
    <c:autoUpdate val="0"/>
  </c:externalData>
</c:chartSpace>
</file>

<file path=ppt/charts/chart6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s-CO" sz="2000" b="1" i="0" u="none" strike="noStrike" kern="1200" spc="0" baseline="0" noProof="0">
                <a:solidFill>
                  <a:srgbClr val="80589F">
                    <a:lumMod val="65000"/>
                    <a:lumOff val="35000"/>
                  </a:srgbClr>
                </a:solidFill>
              </a:rPr>
              <a:t>% Pacientes en tratamiento del total de la cohorte Salud Total</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manualLayout>
          <c:layoutTarget val="inner"/>
          <c:xMode val="edge"/>
          <c:yMode val="edge"/>
          <c:x val="4.5579972691069871E-2"/>
          <c:y val="0.16629897686185896"/>
          <c:w val="0.91336541229928081"/>
          <c:h val="0.625348026652084"/>
        </c:manualLayout>
      </c:layout>
      <c:barChart>
        <c:barDir val="col"/>
        <c:grouping val="clustered"/>
        <c:varyColors val="0"/>
        <c:ser>
          <c:idx val="0"/>
          <c:order val="0"/>
          <c:tx>
            <c:strRef>
              <c:f>Hoja1!$A$2</c:f>
              <c:strCache>
                <c:ptCount val="1"/>
                <c:pt idx="0">
                  <c:v>Terapia sistemica</c:v>
                </c:pt>
              </c:strCache>
            </c:strRef>
          </c:tx>
          <c:spPr>
            <a:solidFill>
              <a:schemeClr val="accent1"/>
            </a:solidFill>
            <a:ln>
              <a:noFill/>
            </a:ln>
            <a:effectLst/>
          </c:spPr>
          <c:invertIfNegative val="0"/>
          <c:cat>
            <c:strRef>
              <c:f>Hoja1!$E$1:$V$1</c:f>
              <c:strCache>
                <c:ptCount val="18"/>
                <c:pt idx="0">
                  <c:v>abr-25</c:v>
                </c:pt>
                <c:pt idx="1">
                  <c:v>may-25</c:v>
                </c:pt>
                <c:pt idx="2">
                  <c:v>jun-25</c:v>
                </c:pt>
                <c:pt idx="3">
                  <c:v>jul-25</c:v>
                </c:pt>
                <c:pt idx="4">
                  <c:v>ago-25</c:v>
                </c:pt>
                <c:pt idx="5">
                  <c:v>sep-25</c:v>
                </c:pt>
                <c:pt idx="6">
                  <c:v>oct-25</c:v>
                </c:pt>
                <c:pt idx="7">
                  <c:v>nov-25</c:v>
                </c:pt>
                <c:pt idx="8">
                  <c:v>dic-25</c:v>
                </c:pt>
                <c:pt idx="9">
                  <c:v>ene-26</c:v>
                </c:pt>
                <c:pt idx="10">
                  <c:v>feb-26</c:v>
                </c:pt>
                <c:pt idx="11">
                  <c:v>mar-26</c:v>
                </c:pt>
                <c:pt idx="12">
                  <c:v>abr-26</c:v>
                </c:pt>
                <c:pt idx="13">
                  <c:v>may-26</c:v>
                </c:pt>
                <c:pt idx="14">
                  <c:v>jun-26</c:v>
                </c:pt>
                <c:pt idx="15">
                  <c:v>jul-26</c:v>
                </c:pt>
                <c:pt idx="16">
                  <c:v>ago-26</c:v>
                </c:pt>
                <c:pt idx="17">
                  <c:v>sep-26</c:v>
                </c:pt>
              </c:strCache>
            </c:strRef>
          </c:cat>
          <c:val>
            <c:numRef>
              <c:f>Hoja1!$E$2:$V$2</c:f>
              <c:numCache>
                <c:formatCode>0%</c:formatCode>
                <c:ptCount val="18"/>
                <c:pt idx="0">
                  <c:v>0.15852156057494868</c:v>
                </c:pt>
                <c:pt idx="1">
                  <c:v>0.16086434573829531</c:v>
                </c:pt>
                <c:pt idx="2">
                  <c:v>0.14595660749506903</c:v>
                </c:pt>
                <c:pt idx="3">
                  <c:v>0.15423270197139544</c:v>
                </c:pt>
                <c:pt idx="4">
                  <c:v>0.15803503427265803</c:v>
                </c:pt>
                <c:pt idx="5">
                  <c:v>0.15398886827458255</c:v>
                </c:pt>
                <c:pt idx="6">
                  <c:v>0.160882140274765</c:v>
                </c:pt>
                <c:pt idx="7">
                  <c:v>0.15648180854821617</c:v>
                </c:pt>
                <c:pt idx="8">
                  <c:v>0.16247848537005163</c:v>
                </c:pt>
                <c:pt idx="9">
                  <c:v>0.15761052986837665</c:v>
                </c:pt>
                <c:pt idx="10">
                  <c:v>0.17407283661877715</c:v>
                </c:pt>
                <c:pt idx="11">
                  <c:v>0.15070284406668846</c:v>
                </c:pt>
                <c:pt idx="12">
                  <c:v>0.1530976321764515</c:v>
                </c:pt>
                <c:pt idx="13">
                  <c:v>0.13489445910290238</c:v>
                </c:pt>
                <c:pt idx="14">
                  <c:v>0.11614364283403429</c:v>
                </c:pt>
                <c:pt idx="15">
                  <c:v>9.643201542912247E-2</c:v>
                </c:pt>
                <c:pt idx="16">
                  <c:v>7.9567154678548691E-2</c:v>
                </c:pt>
                <c:pt idx="17">
                  <c:v>8.9820359281437126E-2</c:v>
                </c:pt>
              </c:numCache>
            </c:numRef>
          </c:val>
          <c:extLst>
            <c:ext xmlns:c16="http://schemas.microsoft.com/office/drawing/2014/chart" uri="{C3380CC4-5D6E-409C-BE32-E72D297353CC}">
              <c16:uniqueId val="{00000000-23E9-48BE-B6B1-EAD9636087D7}"/>
            </c:ext>
          </c:extLst>
        </c:ser>
        <c:ser>
          <c:idx val="1"/>
          <c:order val="1"/>
          <c:tx>
            <c:strRef>
              <c:f>Hoja1!$A$3</c:f>
              <c:strCache>
                <c:ptCount val="1"/>
                <c:pt idx="0">
                  <c:v>Radioterapia</c:v>
                </c:pt>
              </c:strCache>
            </c:strRef>
          </c:tx>
          <c:spPr>
            <a:solidFill>
              <a:srgbClr val="1CA6A0"/>
            </a:solidFill>
            <a:ln>
              <a:noFill/>
            </a:ln>
            <a:effectLst/>
          </c:spPr>
          <c:invertIfNegative val="0"/>
          <c:cat>
            <c:strRef>
              <c:f>Hoja1!$E$1:$V$1</c:f>
              <c:strCache>
                <c:ptCount val="18"/>
                <c:pt idx="0">
                  <c:v>abr-25</c:v>
                </c:pt>
                <c:pt idx="1">
                  <c:v>may-25</c:v>
                </c:pt>
                <c:pt idx="2">
                  <c:v>jun-25</c:v>
                </c:pt>
                <c:pt idx="3">
                  <c:v>jul-25</c:v>
                </c:pt>
                <c:pt idx="4">
                  <c:v>ago-25</c:v>
                </c:pt>
                <c:pt idx="5">
                  <c:v>sep-25</c:v>
                </c:pt>
                <c:pt idx="6">
                  <c:v>oct-25</c:v>
                </c:pt>
                <c:pt idx="7">
                  <c:v>nov-25</c:v>
                </c:pt>
                <c:pt idx="8">
                  <c:v>dic-25</c:v>
                </c:pt>
                <c:pt idx="9">
                  <c:v>ene-26</c:v>
                </c:pt>
                <c:pt idx="10">
                  <c:v>feb-26</c:v>
                </c:pt>
                <c:pt idx="11">
                  <c:v>mar-26</c:v>
                </c:pt>
                <c:pt idx="12">
                  <c:v>abr-26</c:v>
                </c:pt>
                <c:pt idx="13">
                  <c:v>may-26</c:v>
                </c:pt>
                <c:pt idx="14">
                  <c:v>jun-26</c:v>
                </c:pt>
                <c:pt idx="15">
                  <c:v>jul-26</c:v>
                </c:pt>
                <c:pt idx="16">
                  <c:v>ago-26</c:v>
                </c:pt>
                <c:pt idx="17">
                  <c:v>sep-26</c:v>
                </c:pt>
              </c:strCache>
            </c:strRef>
          </c:cat>
          <c:val>
            <c:numRef>
              <c:f>Hoja1!$E$3:$V$3</c:f>
              <c:numCache>
                <c:formatCode>0%</c:formatCode>
                <c:ptCount val="18"/>
                <c:pt idx="0">
                  <c:v>9.8562628336755654E-3</c:v>
                </c:pt>
                <c:pt idx="1">
                  <c:v>6.4025610244097643E-3</c:v>
                </c:pt>
                <c:pt idx="2">
                  <c:v>7.889546351084813E-3</c:v>
                </c:pt>
                <c:pt idx="3">
                  <c:v>9.6637031310398136E-3</c:v>
                </c:pt>
                <c:pt idx="4">
                  <c:v>1.2566641279512566E-2</c:v>
                </c:pt>
                <c:pt idx="5">
                  <c:v>5.9369202226345081E-3</c:v>
                </c:pt>
                <c:pt idx="6">
                  <c:v>2.8922631959508315E-3</c:v>
                </c:pt>
                <c:pt idx="7">
                  <c:v>6.0049452490286122E-3</c:v>
                </c:pt>
                <c:pt idx="8">
                  <c:v>6.1962134251290881E-3</c:v>
                </c:pt>
                <c:pt idx="9">
                  <c:v>4.3874451569355386E-3</c:v>
                </c:pt>
                <c:pt idx="10">
                  <c:v>7.6845973939191443E-3</c:v>
                </c:pt>
                <c:pt idx="11">
                  <c:v>8.1726054266100037E-3</c:v>
                </c:pt>
                <c:pt idx="12">
                  <c:v>8.108984755108661E-3</c:v>
                </c:pt>
                <c:pt idx="13">
                  <c:v>6.2664907651715038E-3</c:v>
                </c:pt>
                <c:pt idx="14">
                  <c:v>9.0585571012617282E-3</c:v>
                </c:pt>
                <c:pt idx="15">
                  <c:v>7.0716811314689813E-3</c:v>
                </c:pt>
                <c:pt idx="16" formatCode="0.0%">
                  <c:v>4.1374920432845318E-3</c:v>
                </c:pt>
                <c:pt idx="17" formatCode="0.0%">
                  <c:v>4.7273873306019542E-3</c:v>
                </c:pt>
              </c:numCache>
            </c:numRef>
          </c:val>
          <c:extLst>
            <c:ext xmlns:c16="http://schemas.microsoft.com/office/drawing/2014/chart" uri="{C3380CC4-5D6E-409C-BE32-E72D297353CC}">
              <c16:uniqueId val="{00000001-23E9-48BE-B6B1-EAD9636087D7}"/>
            </c:ext>
          </c:extLst>
        </c:ser>
        <c:ser>
          <c:idx val="2"/>
          <c:order val="2"/>
          <c:tx>
            <c:strRef>
              <c:f>Hoja1!$A$4</c:f>
              <c:strCache>
                <c:ptCount val="1"/>
                <c:pt idx="0">
                  <c:v>Cirugia</c:v>
                </c:pt>
              </c:strCache>
            </c:strRef>
          </c:tx>
          <c:spPr>
            <a:solidFill>
              <a:schemeClr val="bg1">
                <a:lumMod val="50000"/>
              </a:schemeClr>
            </a:solidFill>
            <a:ln>
              <a:noFill/>
            </a:ln>
            <a:effectLst/>
          </c:spPr>
          <c:invertIfNegative val="0"/>
          <c:cat>
            <c:strRef>
              <c:f>Hoja1!$E$1:$V$1</c:f>
              <c:strCache>
                <c:ptCount val="18"/>
                <c:pt idx="0">
                  <c:v>abr-25</c:v>
                </c:pt>
                <c:pt idx="1">
                  <c:v>may-25</c:v>
                </c:pt>
                <c:pt idx="2">
                  <c:v>jun-25</c:v>
                </c:pt>
                <c:pt idx="3">
                  <c:v>jul-25</c:v>
                </c:pt>
                <c:pt idx="4">
                  <c:v>ago-25</c:v>
                </c:pt>
                <c:pt idx="5">
                  <c:v>sep-25</c:v>
                </c:pt>
                <c:pt idx="6">
                  <c:v>oct-25</c:v>
                </c:pt>
                <c:pt idx="7">
                  <c:v>nov-25</c:v>
                </c:pt>
                <c:pt idx="8">
                  <c:v>dic-25</c:v>
                </c:pt>
                <c:pt idx="9">
                  <c:v>ene-26</c:v>
                </c:pt>
                <c:pt idx="10">
                  <c:v>feb-26</c:v>
                </c:pt>
                <c:pt idx="11">
                  <c:v>mar-26</c:v>
                </c:pt>
                <c:pt idx="12">
                  <c:v>abr-26</c:v>
                </c:pt>
                <c:pt idx="13">
                  <c:v>may-26</c:v>
                </c:pt>
                <c:pt idx="14">
                  <c:v>jun-26</c:v>
                </c:pt>
                <c:pt idx="15">
                  <c:v>jul-26</c:v>
                </c:pt>
                <c:pt idx="16">
                  <c:v>ago-26</c:v>
                </c:pt>
                <c:pt idx="17">
                  <c:v>sep-26</c:v>
                </c:pt>
              </c:strCache>
            </c:strRef>
          </c:cat>
          <c:val>
            <c:numRef>
              <c:f>Hoja1!$E$4:$V$4</c:f>
              <c:numCache>
                <c:formatCode>0%</c:formatCode>
                <c:ptCount val="18"/>
                <c:pt idx="0">
                  <c:v>2.3819301848049281E-2</c:v>
                </c:pt>
                <c:pt idx="1">
                  <c:v>2.6810724289715888E-2</c:v>
                </c:pt>
                <c:pt idx="2">
                  <c:v>2.3668639053254437E-2</c:v>
                </c:pt>
                <c:pt idx="3">
                  <c:v>2.7831465017394665E-2</c:v>
                </c:pt>
                <c:pt idx="4">
                  <c:v>2.1706016755521706E-2</c:v>
                </c:pt>
                <c:pt idx="5">
                  <c:v>2.1892393320964751E-2</c:v>
                </c:pt>
                <c:pt idx="6">
                  <c:v>2.0607375271149676E-2</c:v>
                </c:pt>
                <c:pt idx="7">
                  <c:v>1.907453196750265E-2</c:v>
                </c:pt>
                <c:pt idx="8">
                  <c:v>1.549053356282272E-2</c:v>
                </c:pt>
                <c:pt idx="9">
                  <c:v>2.5987175160310495E-2</c:v>
                </c:pt>
                <c:pt idx="10">
                  <c:v>4.0093551620447712E-2</c:v>
                </c:pt>
                <c:pt idx="11">
                  <c:v>3.3671134357633213E-2</c:v>
                </c:pt>
                <c:pt idx="12">
                  <c:v>3.5030814142069412E-2</c:v>
                </c:pt>
                <c:pt idx="13">
                  <c:v>4.4525065963060689E-2</c:v>
                </c:pt>
                <c:pt idx="14">
                  <c:v>3.8175347783888709E-2</c:v>
                </c:pt>
                <c:pt idx="15">
                  <c:v>2.185792349726776E-2</c:v>
                </c:pt>
                <c:pt idx="16">
                  <c:v>1.5913430935709738E-2</c:v>
                </c:pt>
                <c:pt idx="17">
                  <c:v>2.1430822565395524E-2</c:v>
                </c:pt>
              </c:numCache>
            </c:numRef>
          </c:val>
          <c:extLst>
            <c:ext xmlns:c16="http://schemas.microsoft.com/office/drawing/2014/chart" uri="{C3380CC4-5D6E-409C-BE32-E72D297353CC}">
              <c16:uniqueId val="{00000002-23E9-48BE-B6B1-EAD9636087D7}"/>
            </c:ext>
          </c:extLst>
        </c:ser>
        <c:dLbls>
          <c:showLegendKey val="0"/>
          <c:showVal val="0"/>
          <c:showCatName val="0"/>
          <c:showSerName val="0"/>
          <c:showPercent val="0"/>
          <c:showBubbleSize val="0"/>
        </c:dLbls>
        <c:gapWidth val="219"/>
        <c:axId val="2061031887"/>
        <c:axId val="2061024207"/>
      </c:barChart>
      <c:lineChart>
        <c:grouping val="standard"/>
        <c:varyColors val="0"/>
        <c:ser>
          <c:idx val="3"/>
          <c:order val="3"/>
          <c:tx>
            <c:strRef>
              <c:f>Hoja1!$A$5</c:f>
              <c:strCache>
                <c:ptCount val="1"/>
                <c:pt idx="0">
                  <c:v>Total</c:v>
                </c:pt>
              </c:strCache>
            </c:strRef>
          </c:tx>
          <c:spPr>
            <a:ln w="28575" cap="rnd">
              <a:solidFill>
                <a:srgbClr val="000000"/>
              </a:solidFill>
              <a:round/>
            </a:ln>
            <a:effectLst/>
          </c:spPr>
          <c:marker>
            <c:symbol val="none"/>
          </c:marker>
          <c:dLbls>
            <c:spPr>
              <a:solidFill>
                <a:srgbClr val="FFFFFF"/>
              </a:solidFill>
              <a:ln>
                <a:solidFill>
                  <a:srgbClr val="80589F">
                    <a:lumMod val="25000"/>
                    <a:lumOff val="75000"/>
                  </a:srgbClr>
                </a:solidFill>
              </a:ln>
              <a:effectLst/>
            </c:spPr>
            <c:txPr>
              <a:bodyPr rot="0" spcFirstLastPara="1" vertOverflow="clip" horzOverflow="clip" vert="horz" wrap="square" lIns="36576" tIns="18288" rIns="36576" bIns="18288" anchor="ctr" anchorCtr="1">
                <a:spAutoFit/>
              </a:bodyPr>
              <a:lstStyle/>
              <a:p>
                <a:pPr>
                  <a:defRPr sz="1197" b="0" i="0" u="none" strike="noStrike" kern="1200" baseline="0">
                    <a:solidFill>
                      <a:srgbClr val="000000"/>
                    </a:solidFill>
                    <a:latin typeface="+mn-lt"/>
                    <a:ea typeface="+mn-ea"/>
                    <a:cs typeface="+mn-cs"/>
                  </a:defRPr>
                </a:pPr>
                <a:endParaRPr lang="es-CO"/>
              </a:p>
            </c:txPr>
            <c:dLblPos val="t"/>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Hoja1!$E$1:$V$1</c:f>
              <c:strCache>
                <c:ptCount val="18"/>
                <c:pt idx="0">
                  <c:v>abr-25</c:v>
                </c:pt>
                <c:pt idx="1">
                  <c:v>may-25</c:v>
                </c:pt>
                <c:pt idx="2">
                  <c:v>jun-25</c:v>
                </c:pt>
                <c:pt idx="3">
                  <c:v>jul-25</c:v>
                </c:pt>
                <c:pt idx="4">
                  <c:v>ago-25</c:v>
                </c:pt>
                <c:pt idx="5">
                  <c:v>sep-25</c:v>
                </c:pt>
                <c:pt idx="6">
                  <c:v>oct-25</c:v>
                </c:pt>
                <c:pt idx="7">
                  <c:v>nov-25</c:v>
                </c:pt>
                <c:pt idx="8">
                  <c:v>dic-25</c:v>
                </c:pt>
                <c:pt idx="9">
                  <c:v>ene-26</c:v>
                </c:pt>
                <c:pt idx="10">
                  <c:v>feb-26</c:v>
                </c:pt>
                <c:pt idx="11">
                  <c:v>mar-26</c:v>
                </c:pt>
                <c:pt idx="12">
                  <c:v>abr-26</c:v>
                </c:pt>
                <c:pt idx="13">
                  <c:v>may-26</c:v>
                </c:pt>
                <c:pt idx="14">
                  <c:v>jun-26</c:v>
                </c:pt>
                <c:pt idx="15">
                  <c:v>jul-26</c:v>
                </c:pt>
                <c:pt idx="16">
                  <c:v>ago-26</c:v>
                </c:pt>
                <c:pt idx="17">
                  <c:v>sep-26</c:v>
                </c:pt>
              </c:strCache>
            </c:strRef>
          </c:cat>
          <c:val>
            <c:numRef>
              <c:f>Hoja1!$E$5:$V$5</c:f>
              <c:numCache>
                <c:formatCode>0%</c:formatCode>
                <c:ptCount val="18"/>
                <c:pt idx="0">
                  <c:v>0.19219712525667354</c:v>
                </c:pt>
                <c:pt idx="1">
                  <c:v>0.19407763105242096</c:v>
                </c:pt>
                <c:pt idx="2">
                  <c:v>0.1775147928994083</c:v>
                </c:pt>
                <c:pt idx="3">
                  <c:v>0.19172787011982992</c:v>
                </c:pt>
                <c:pt idx="4">
                  <c:v>0.19230769230769229</c:v>
                </c:pt>
                <c:pt idx="5">
                  <c:v>0.18181818181818182</c:v>
                </c:pt>
                <c:pt idx="6">
                  <c:v>0.18438177874186551</c:v>
                </c:pt>
                <c:pt idx="7">
                  <c:v>0.18156128576474742</c:v>
                </c:pt>
                <c:pt idx="8">
                  <c:v>0.18416523235800342</c:v>
                </c:pt>
                <c:pt idx="9">
                  <c:v>0.18798515018562267</c:v>
                </c:pt>
                <c:pt idx="10">
                  <c:v>0.22185098563314398</c:v>
                </c:pt>
                <c:pt idx="11">
                  <c:v>0.19254658385093168</c:v>
                </c:pt>
                <c:pt idx="12">
                  <c:v>0.19623743107362956</c:v>
                </c:pt>
                <c:pt idx="13">
                  <c:v>0.18568601583113456</c:v>
                </c:pt>
                <c:pt idx="14">
                  <c:v>0.16337754771918472</c:v>
                </c:pt>
                <c:pt idx="15">
                  <c:v>0.12536162005785922</c:v>
                </c:pt>
                <c:pt idx="16">
                  <c:v>9.9618077657542964E-2</c:v>
                </c:pt>
                <c:pt idx="17">
                  <c:v>0.1159785691774346</c:v>
                </c:pt>
              </c:numCache>
            </c:numRef>
          </c:val>
          <c:smooth val="0"/>
          <c:extLst>
            <c:ext xmlns:c16="http://schemas.microsoft.com/office/drawing/2014/chart" uri="{C3380CC4-5D6E-409C-BE32-E72D297353CC}">
              <c16:uniqueId val="{00000003-23E9-48BE-B6B1-EAD9636087D7}"/>
            </c:ext>
          </c:extLst>
        </c:ser>
        <c:dLbls>
          <c:showLegendKey val="0"/>
          <c:showVal val="0"/>
          <c:showCatName val="0"/>
          <c:showSerName val="0"/>
          <c:showPercent val="0"/>
          <c:showBubbleSize val="0"/>
        </c:dLbls>
        <c:marker val="1"/>
        <c:smooth val="0"/>
        <c:axId val="2061031887"/>
        <c:axId val="2061024207"/>
      </c:lineChart>
      <c:catAx>
        <c:axId val="20610318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2061024207"/>
        <c:crosses val="autoZero"/>
        <c:auto val="1"/>
        <c:lblAlgn val="ctr"/>
        <c:lblOffset val="100"/>
        <c:noMultiLvlLbl val="0"/>
      </c:catAx>
      <c:valAx>
        <c:axId val="2061024207"/>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206103188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6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8158A1"/>
                </a:solidFill>
                <a:latin typeface="+mn-lt"/>
                <a:ea typeface="+mn-ea"/>
                <a:cs typeface="+mn-cs"/>
              </a:defRPr>
            </a:pPr>
            <a:r>
              <a:rPr lang="es-CO" b="1">
                <a:solidFill>
                  <a:srgbClr val="8158A1"/>
                </a:solidFill>
              </a:rPr>
              <a:t>COMPARATIVO</a:t>
            </a:r>
            <a:r>
              <a:rPr lang="es-CO" b="1" baseline="0">
                <a:solidFill>
                  <a:srgbClr val="8158A1"/>
                </a:solidFill>
              </a:rPr>
              <a:t> NPS</a:t>
            </a:r>
            <a:endParaRPr lang="es-CO" b="1">
              <a:solidFill>
                <a:srgbClr val="8158A1"/>
              </a:solidFill>
            </a:endParaRP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8158A1"/>
              </a:solidFill>
              <a:latin typeface="+mn-lt"/>
              <a:ea typeface="+mn-ea"/>
              <a:cs typeface="+mn-cs"/>
            </a:defRPr>
          </a:pPr>
          <a:endParaRPr lang="es-CO"/>
        </a:p>
      </c:txPr>
    </c:title>
    <c:autoTitleDeleted val="0"/>
    <c:plotArea>
      <c:layout/>
      <c:barChart>
        <c:barDir val="col"/>
        <c:grouping val="stacked"/>
        <c:varyColors val="0"/>
        <c:ser>
          <c:idx val="0"/>
          <c:order val="0"/>
          <c:tx>
            <c:strRef>
              <c:f>'2026'!$AD$2</c:f>
              <c:strCache>
                <c:ptCount val="1"/>
                <c:pt idx="0">
                  <c:v>APOSTOLES</c:v>
                </c:pt>
              </c:strCache>
            </c:strRef>
          </c:tx>
          <c:spPr>
            <a:solidFill>
              <a:srgbClr val="8158A1"/>
            </a:solidFill>
            <a:ln>
              <a:noFill/>
            </a:ln>
            <a:effectLst/>
          </c:spPr>
          <c:invertIfNegative val="0"/>
          <c:cat>
            <c:strRef>
              <c:f>'2026'!$AE$1:$AK$1</c:f>
              <c:strCache>
                <c:ptCount val="7"/>
                <c:pt idx="0">
                  <c:v>ENE</c:v>
                </c:pt>
                <c:pt idx="1">
                  <c:v>FEB</c:v>
                </c:pt>
                <c:pt idx="2">
                  <c:v>MAR</c:v>
                </c:pt>
                <c:pt idx="3">
                  <c:v>ABR</c:v>
                </c:pt>
                <c:pt idx="4">
                  <c:v>MAY</c:v>
                </c:pt>
                <c:pt idx="5">
                  <c:v>JUN</c:v>
                </c:pt>
                <c:pt idx="6">
                  <c:v>JUL</c:v>
                </c:pt>
              </c:strCache>
            </c:strRef>
          </c:cat>
          <c:val>
            <c:numRef>
              <c:f>'2026'!$AE$2:$AK$2</c:f>
              <c:numCache>
                <c:formatCode>General</c:formatCode>
                <c:ptCount val="7"/>
                <c:pt idx="0">
                  <c:v>307</c:v>
                </c:pt>
                <c:pt idx="1">
                  <c:v>49</c:v>
                </c:pt>
                <c:pt idx="2">
                  <c:v>276</c:v>
                </c:pt>
                <c:pt idx="3">
                  <c:v>303</c:v>
                </c:pt>
                <c:pt idx="4">
                  <c:v>325</c:v>
                </c:pt>
                <c:pt idx="5">
                  <c:v>439</c:v>
                </c:pt>
                <c:pt idx="6">
                  <c:v>528</c:v>
                </c:pt>
              </c:numCache>
            </c:numRef>
          </c:val>
          <c:extLst>
            <c:ext xmlns:c16="http://schemas.microsoft.com/office/drawing/2014/chart" uri="{C3380CC4-5D6E-409C-BE32-E72D297353CC}">
              <c16:uniqueId val="{00000000-1E70-4CB2-B7BE-EB026B99D571}"/>
            </c:ext>
          </c:extLst>
        </c:ser>
        <c:ser>
          <c:idx val="1"/>
          <c:order val="1"/>
          <c:tx>
            <c:strRef>
              <c:f>'2026'!$AD$3</c:f>
              <c:strCache>
                <c:ptCount val="1"/>
                <c:pt idx="0">
                  <c:v>NEUTROS</c:v>
                </c:pt>
              </c:strCache>
            </c:strRef>
          </c:tx>
          <c:spPr>
            <a:solidFill>
              <a:srgbClr val="47A9BF"/>
            </a:solidFill>
            <a:ln>
              <a:noFill/>
            </a:ln>
            <a:effectLst/>
          </c:spPr>
          <c:invertIfNegative val="0"/>
          <c:cat>
            <c:strRef>
              <c:f>'2026'!$AE$1:$AK$1</c:f>
              <c:strCache>
                <c:ptCount val="7"/>
                <c:pt idx="0">
                  <c:v>ENE</c:v>
                </c:pt>
                <c:pt idx="1">
                  <c:v>FEB</c:v>
                </c:pt>
                <c:pt idx="2">
                  <c:v>MAR</c:v>
                </c:pt>
                <c:pt idx="3">
                  <c:v>ABR</c:v>
                </c:pt>
                <c:pt idx="4">
                  <c:v>MAY</c:v>
                </c:pt>
                <c:pt idx="5">
                  <c:v>JUN</c:v>
                </c:pt>
                <c:pt idx="6">
                  <c:v>JUL</c:v>
                </c:pt>
              </c:strCache>
            </c:strRef>
          </c:cat>
          <c:val>
            <c:numRef>
              <c:f>'2026'!$AE$3:$AK$3</c:f>
              <c:numCache>
                <c:formatCode>General</c:formatCode>
                <c:ptCount val="7"/>
                <c:pt idx="0">
                  <c:v>3</c:v>
                </c:pt>
                <c:pt idx="1">
                  <c:v>2</c:v>
                </c:pt>
                <c:pt idx="2">
                  <c:v>6</c:v>
                </c:pt>
                <c:pt idx="3">
                  <c:v>20</c:v>
                </c:pt>
                <c:pt idx="4">
                  <c:v>9</c:v>
                </c:pt>
                <c:pt idx="5">
                  <c:v>1</c:v>
                </c:pt>
                <c:pt idx="6">
                  <c:v>3</c:v>
                </c:pt>
              </c:numCache>
            </c:numRef>
          </c:val>
          <c:extLst>
            <c:ext xmlns:c16="http://schemas.microsoft.com/office/drawing/2014/chart" uri="{C3380CC4-5D6E-409C-BE32-E72D297353CC}">
              <c16:uniqueId val="{00000001-1E70-4CB2-B7BE-EB026B99D571}"/>
            </c:ext>
          </c:extLst>
        </c:ser>
        <c:ser>
          <c:idx val="2"/>
          <c:order val="2"/>
          <c:tx>
            <c:strRef>
              <c:f>'2026'!$AD$4</c:f>
              <c:strCache>
                <c:ptCount val="1"/>
                <c:pt idx="0">
                  <c:v>DETRACTORES</c:v>
                </c:pt>
              </c:strCache>
            </c:strRef>
          </c:tx>
          <c:spPr>
            <a:solidFill>
              <a:srgbClr val="FF0000"/>
            </a:solidFill>
            <a:ln>
              <a:noFill/>
            </a:ln>
            <a:effectLst/>
          </c:spPr>
          <c:invertIfNegative val="0"/>
          <c:cat>
            <c:strRef>
              <c:f>'2026'!$AE$1:$AK$1</c:f>
              <c:strCache>
                <c:ptCount val="7"/>
                <c:pt idx="0">
                  <c:v>ENE</c:v>
                </c:pt>
                <c:pt idx="1">
                  <c:v>FEB</c:v>
                </c:pt>
                <c:pt idx="2">
                  <c:v>MAR</c:v>
                </c:pt>
                <c:pt idx="3">
                  <c:v>ABR</c:v>
                </c:pt>
                <c:pt idx="4">
                  <c:v>MAY</c:v>
                </c:pt>
                <c:pt idx="5">
                  <c:v>JUN</c:v>
                </c:pt>
                <c:pt idx="6">
                  <c:v>JUL</c:v>
                </c:pt>
              </c:strCache>
            </c:strRef>
          </c:cat>
          <c:val>
            <c:numRef>
              <c:f>'2026'!$AE$4:$AK$4</c:f>
              <c:numCache>
                <c:formatCode>General</c:formatCode>
                <c:ptCount val="7"/>
                <c:pt idx="0">
                  <c:v>4</c:v>
                </c:pt>
                <c:pt idx="1">
                  <c:v>1</c:v>
                </c:pt>
                <c:pt idx="2">
                  <c:v>13</c:v>
                </c:pt>
                <c:pt idx="3">
                  <c:v>16</c:v>
                </c:pt>
                <c:pt idx="4">
                  <c:v>9</c:v>
                </c:pt>
                <c:pt idx="5">
                  <c:v>3</c:v>
                </c:pt>
                <c:pt idx="6">
                  <c:v>2</c:v>
                </c:pt>
              </c:numCache>
            </c:numRef>
          </c:val>
          <c:extLst>
            <c:ext xmlns:c16="http://schemas.microsoft.com/office/drawing/2014/chart" uri="{C3380CC4-5D6E-409C-BE32-E72D297353CC}">
              <c16:uniqueId val="{00000002-1E70-4CB2-B7BE-EB026B99D571}"/>
            </c:ext>
          </c:extLst>
        </c:ser>
        <c:dLbls>
          <c:showLegendKey val="0"/>
          <c:showVal val="0"/>
          <c:showCatName val="0"/>
          <c:showSerName val="0"/>
          <c:showPercent val="0"/>
          <c:showBubbleSize val="0"/>
        </c:dLbls>
        <c:gapWidth val="150"/>
        <c:overlap val="100"/>
        <c:axId val="1860293279"/>
        <c:axId val="1860295679"/>
      </c:barChart>
      <c:catAx>
        <c:axId val="18602932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860295679"/>
        <c:crosses val="autoZero"/>
        <c:auto val="1"/>
        <c:lblAlgn val="ctr"/>
        <c:lblOffset val="100"/>
        <c:noMultiLvlLbl val="0"/>
      </c:catAx>
      <c:valAx>
        <c:axId val="186029567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860293279"/>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100" b="0" i="0" u="none" strike="noStrike" kern="1200" baseline="0">
                <a:solidFill>
                  <a:schemeClr val="tx1">
                    <a:lumMod val="75000"/>
                  </a:schemeClr>
                </a:solidFill>
                <a:latin typeface="+mn-lt"/>
                <a:ea typeface="+mn-ea"/>
                <a:cs typeface="+mn-cs"/>
              </a:defRPr>
            </a:pPr>
            <a:endParaRPr lang="es-CO"/>
          </a:p>
        </c:txPr>
      </c:dTable>
      <c:spPr>
        <a:noFill/>
        <a:ln>
          <a:noFill/>
        </a:ln>
        <a:effectLst/>
      </c:spPr>
    </c:plotArea>
    <c:legend>
      <c:legendPos val="b"/>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7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6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75000"/>
                  </a:schemeClr>
                </a:solidFill>
                <a:latin typeface="+mn-lt"/>
                <a:ea typeface="+mn-ea"/>
                <a:cs typeface="+mn-cs"/>
              </a:defRPr>
            </a:pPr>
            <a:r>
              <a:rPr lang="es-CO" b="1">
                <a:solidFill>
                  <a:schemeClr val="tx1">
                    <a:lumMod val="75000"/>
                  </a:schemeClr>
                </a:solidFill>
              </a:rPr>
              <a:t>NPS</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75000"/>
                </a:schemeClr>
              </a:solidFill>
              <a:latin typeface="+mn-lt"/>
              <a:ea typeface="+mn-ea"/>
              <a:cs typeface="+mn-cs"/>
            </a:defRPr>
          </a:pPr>
          <a:endParaRPr lang="es-CO"/>
        </a:p>
      </c:txPr>
    </c:title>
    <c:autoTitleDeleted val="0"/>
    <c:plotArea>
      <c:layout/>
      <c:barChart>
        <c:barDir val="col"/>
        <c:grouping val="clustered"/>
        <c:varyColors val="0"/>
        <c:ser>
          <c:idx val="0"/>
          <c:order val="0"/>
          <c:tx>
            <c:strRef>
              <c:f>'2026'!$A$15</c:f>
              <c:strCache>
                <c:ptCount val="1"/>
                <c:pt idx="0">
                  <c:v>2026</c:v>
                </c:pt>
              </c:strCache>
            </c:strRef>
          </c:tx>
          <c:spPr>
            <a:solidFill>
              <a:srgbClr val="8158A1"/>
            </a:solidFill>
            <a:ln>
              <a:solidFill>
                <a:srgbClr val="7030A0"/>
              </a:solidFill>
              <a:prstDash val="solid"/>
            </a:ln>
            <a:effectLst/>
          </c:spPr>
          <c:invertIfNegative val="0"/>
          <c:dPt>
            <c:idx val="0"/>
            <c:invertIfNegative val="0"/>
            <c:bubble3D val="0"/>
            <c:spPr>
              <a:solidFill>
                <a:srgbClr val="8158A1"/>
              </a:solidFill>
              <a:ln>
                <a:solidFill>
                  <a:srgbClr val="8158A1"/>
                </a:solidFill>
                <a:prstDash val="solid"/>
              </a:ln>
              <a:effectLst/>
            </c:spPr>
            <c:extLst>
              <c:ext xmlns:c16="http://schemas.microsoft.com/office/drawing/2014/chart" uri="{C3380CC4-5D6E-409C-BE32-E72D297353CC}">
                <c16:uniqueId val="{00000001-0ACA-45B2-B34E-B1FC1FDFB592}"/>
              </c:ext>
            </c:extLst>
          </c:dPt>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'2026'!$C$3:$I$3</c:f>
              <c:strCache>
                <c:ptCount val="7"/>
                <c:pt idx="0">
                  <c:v>ENE</c:v>
                </c:pt>
                <c:pt idx="1">
                  <c:v>FEB</c:v>
                </c:pt>
                <c:pt idx="2">
                  <c:v>MAR</c:v>
                </c:pt>
                <c:pt idx="3">
                  <c:v>ABR</c:v>
                </c:pt>
                <c:pt idx="4">
                  <c:v>MAY</c:v>
                </c:pt>
                <c:pt idx="5">
                  <c:v>JUN</c:v>
                </c:pt>
                <c:pt idx="6">
                  <c:v>JUL</c:v>
                </c:pt>
              </c:strCache>
              <c:extLst/>
            </c:strRef>
          </c:cat>
          <c:val>
            <c:numRef>
              <c:f>'2026'!$C$15:$I$15</c:f>
              <c:numCache>
                <c:formatCode>0.0</c:formatCode>
                <c:ptCount val="7"/>
                <c:pt idx="0">
                  <c:v>96.496815286624198</c:v>
                </c:pt>
                <c:pt idx="1">
                  <c:v>92.307692307692307</c:v>
                </c:pt>
                <c:pt idx="2">
                  <c:v>89.152542372881356</c:v>
                </c:pt>
                <c:pt idx="3">
                  <c:v>84.660766961651916</c:v>
                </c:pt>
                <c:pt idx="4">
                  <c:v>92.128279883381921</c:v>
                </c:pt>
                <c:pt idx="5">
                  <c:v>98.419864559819416</c:v>
                </c:pt>
                <c:pt idx="6">
                  <c:v>98.686679174484055</c:v>
                </c:pt>
              </c:numCache>
              <c:extLst/>
            </c:numRef>
          </c:val>
          <c:extLst>
            <c:ext xmlns:c16="http://schemas.microsoft.com/office/drawing/2014/chart" uri="{C3380CC4-5D6E-409C-BE32-E72D297353CC}">
              <c16:uniqueId val="{00000002-0ACA-45B2-B34E-B1FC1FDFB592}"/>
            </c:ext>
          </c:extLst>
        </c:ser>
        <c:dLbls>
          <c:showLegendKey val="0"/>
          <c:showVal val="0"/>
          <c:showCatName val="0"/>
          <c:showSerName val="0"/>
          <c:showPercent val="0"/>
          <c:showBubbleSize val="0"/>
        </c:dLbls>
        <c:gapWidth val="150"/>
        <c:axId val="869602463"/>
        <c:axId val="869604863"/>
      </c:barChart>
      <c:lineChart>
        <c:grouping val="standard"/>
        <c:varyColors val="0"/>
        <c:ser>
          <c:idx val="1"/>
          <c:order val="1"/>
          <c:tx>
            <c:strRef>
              <c:f>'2026'!$A$17</c:f>
              <c:strCache>
                <c:ptCount val="1"/>
                <c:pt idx="0">
                  <c:v>META</c:v>
                </c:pt>
              </c:strCache>
            </c:strRef>
          </c:tx>
          <c:spPr>
            <a:ln w="28575" cap="rnd">
              <a:solidFill>
                <a:srgbClr val="FF0000"/>
              </a:solidFill>
              <a:prstDash val="sysDot"/>
              <a:round/>
            </a:ln>
            <a:effectLst/>
          </c:spPr>
          <c:marker>
            <c:symbol val="none"/>
          </c:marker>
          <c:dLbls>
            <c:delete val="1"/>
          </c:dLbls>
          <c:cat>
            <c:strRef>
              <c:f>'2026'!$C$3:$I$3</c:f>
              <c:strCache>
                <c:ptCount val="7"/>
                <c:pt idx="0">
                  <c:v>ENE</c:v>
                </c:pt>
                <c:pt idx="1">
                  <c:v>FEB</c:v>
                </c:pt>
                <c:pt idx="2">
                  <c:v>MAR</c:v>
                </c:pt>
                <c:pt idx="3">
                  <c:v>ABR</c:v>
                </c:pt>
                <c:pt idx="4">
                  <c:v>MAY</c:v>
                </c:pt>
                <c:pt idx="5">
                  <c:v>JUN</c:v>
                </c:pt>
                <c:pt idx="6">
                  <c:v>JUL</c:v>
                </c:pt>
              </c:strCache>
              <c:extLst/>
            </c:strRef>
          </c:cat>
          <c:val>
            <c:numRef>
              <c:f>'2026'!$C$17:$I$17</c:f>
              <c:numCache>
                <c:formatCode>General</c:formatCode>
                <c:ptCount val="7"/>
                <c:pt idx="0">
                  <c:v>75</c:v>
                </c:pt>
                <c:pt idx="1">
                  <c:v>75</c:v>
                </c:pt>
                <c:pt idx="2">
                  <c:v>75</c:v>
                </c:pt>
                <c:pt idx="3">
                  <c:v>75</c:v>
                </c:pt>
                <c:pt idx="4">
                  <c:v>75</c:v>
                </c:pt>
                <c:pt idx="5">
                  <c:v>75</c:v>
                </c:pt>
                <c:pt idx="6">
                  <c:v>75</c:v>
                </c:pt>
              </c:numCache>
              <c:extLst/>
            </c:numRef>
          </c:val>
          <c:smooth val="0"/>
          <c:extLst>
            <c:ext xmlns:c16="http://schemas.microsoft.com/office/drawing/2014/chart" uri="{C3380CC4-5D6E-409C-BE32-E72D297353CC}">
              <c16:uniqueId val="{00000003-0ACA-45B2-B34E-B1FC1FDFB592}"/>
            </c:ext>
          </c:extLst>
        </c:ser>
        <c:dLbls>
          <c:dLblPos val="t"/>
          <c:showLegendKey val="0"/>
          <c:showVal val="1"/>
          <c:showCatName val="0"/>
          <c:showSerName val="0"/>
          <c:showPercent val="0"/>
          <c:showBubbleSize val="0"/>
        </c:dLbls>
        <c:marker val="1"/>
        <c:smooth val="0"/>
        <c:axId val="869602463"/>
        <c:axId val="869604863"/>
      </c:lineChart>
      <c:catAx>
        <c:axId val="8696024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s-CO"/>
          </a:p>
        </c:txPr>
        <c:crossAx val="869604863"/>
        <c:crosses val="autoZero"/>
        <c:auto val="1"/>
        <c:lblAlgn val="ctr"/>
        <c:lblOffset val="100"/>
        <c:noMultiLvlLbl val="0"/>
      </c:catAx>
      <c:valAx>
        <c:axId val="869604863"/>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s-CO"/>
          </a:p>
        </c:txPr>
        <c:crossAx val="869602463"/>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6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75000"/>
                  </a:schemeClr>
                </a:solidFill>
                <a:latin typeface="+mn-lt"/>
                <a:ea typeface="+mn-ea"/>
                <a:cs typeface="+mn-cs"/>
              </a:defRPr>
            </a:pPr>
            <a:r>
              <a:rPr lang="es-CO" b="1">
                <a:solidFill>
                  <a:schemeClr val="tx1">
                    <a:lumMod val="75000"/>
                  </a:schemeClr>
                </a:solidFill>
              </a:rPr>
              <a:t>Satisfacción</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75000"/>
                </a:schemeClr>
              </a:solidFill>
              <a:latin typeface="+mn-lt"/>
              <a:ea typeface="+mn-ea"/>
              <a:cs typeface="+mn-cs"/>
            </a:defRPr>
          </a:pPr>
          <a:endParaRPr lang="es-CO"/>
        </a:p>
      </c:txPr>
    </c:title>
    <c:autoTitleDeleted val="0"/>
    <c:plotArea>
      <c:layout/>
      <c:barChart>
        <c:barDir val="col"/>
        <c:grouping val="clustered"/>
        <c:varyColors val="0"/>
        <c:ser>
          <c:idx val="0"/>
          <c:order val="0"/>
          <c:tx>
            <c:strRef>
              <c:f>'2026'!$A$27</c:f>
              <c:strCache>
                <c:ptCount val="1"/>
                <c:pt idx="0">
                  <c:v>2026</c:v>
                </c:pt>
              </c:strCache>
            </c:strRef>
          </c:tx>
          <c:spPr>
            <a:solidFill>
              <a:srgbClr val="8158A1"/>
            </a:solidFill>
            <a:ln>
              <a:solidFill>
                <a:srgbClr val="8158A1"/>
              </a:solidFill>
              <a:prstDash val="soli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'2026'!$C$21:$I$21</c:f>
              <c:strCache>
                <c:ptCount val="7"/>
                <c:pt idx="0">
                  <c:v>ENE</c:v>
                </c:pt>
                <c:pt idx="1">
                  <c:v>FEB</c:v>
                </c:pt>
                <c:pt idx="2">
                  <c:v>MAR</c:v>
                </c:pt>
                <c:pt idx="3">
                  <c:v>ABR</c:v>
                </c:pt>
                <c:pt idx="4">
                  <c:v>MAY</c:v>
                </c:pt>
                <c:pt idx="5">
                  <c:v>JUN</c:v>
                </c:pt>
                <c:pt idx="6">
                  <c:v>JUL</c:v>
                </c:pt>
              </c:strCache>
              <c:extLst/>
            </c:strRef>
          </c:cat>
          <c:val>
            <c:numRef>
              <c:f>'2026'!$C$27:$I$27</c:f>
              <c:numCache>
                <c:formatCode>0.00</c:formatCode>
                <c:ptCount val="7"/>
                <c:pt idx="0">
                  <c:v>4.9044585987261149</c:v>
                </c:pt>
                <c:pt idx="1">
                  <c:v>4.9411764705882355</c:v>
                </c:pt>
                <c:pt idx="2">
                  <c:v>4.8453947368421053</c:v>
                </c:pt>
                <c:pt idx="3">
                  <c:v>4.7323529411764707</c:v>
                </c:pt>
                <c:pt idx="4">
                  <c:v>4.8804664723032074</c:v>
                </c:pt>
                <c:pt idx="5">
                  <c:v>4.9660633484162897</c:v>
                </c:pt>
                <c:pt idx="6">
                  <c:v>4.9643527204502815</c:v>
                </c:pt>
              </c:numCache>
              <c:extLst/>
            </c:numRef>
          </c:val>
          <c:extLst>
            <c:ext xmlns:c16="http://schemas.microsoft.com/office/drawing/2014/chart" uri="{C3380CC4-5D6E-409C-BE32-E72D297353CC}">
              <c16:uniqueId val="{00000000-52D3-4CA2-85F2-7BA90E2B5DBE}"/>
            </c:ext>
          </c:extLst>
        </c:ser>
        <c:dLbls>
          <c:showLegendKey val="0"/>
          <c:showVal val="0"/>
          <c:showCatName val="0"/>
          <c:showSerName val="0"/>
          <c:showPercent val="0"/>
          <c:showBubbleSize val="0"/>
        </c:dLbls>
        <c:gapWidth val="150"/>
        <c:axId val="1023563519"/>
        <c:axId val="1023557759"/>
      </c:barChart>
      <c:lineChart>
        <c:grouping val="standard"/>
        <c:varyColors val="0"/>
        <c:ser>
          <c:idx val="1"/>
          <c:order val="1"/>
          <c:tx>
            <c:strRef>
              <c:f>'2026'!$A$29</c:f>
              <c:strCache>
                <c:ptCount val="1"/>
                <c:pt idx="0">
                  <c:v>META</c:v>
                </c:pt>
              </c:strCache>
            </c:strRef>
          </c:tx>
          <c:spPr>
            <a:ln w="28575" cap="rnd">
              <a:solidFill>
                <a:srgbClr val="FF0000"/>
              </a:solidFill>
              <a:prstDash val="sysDot"/>
              <a:round/>
            </a:ln>
            <a:effectLst/>
          </c:spPr>
          <c:marker>
            <c:symbol val="none"/>
          </c:marker>
          <c:cat>
            <c:strRef>
              <c:f>'2026'!$C$21:$I$21</c:f>
              <c:strCache>
                <c:ptCount val="7"/>
                <c:pt idx="0">
                  <c:v>ENE</c:v>
                </c:pt>
                <c:pt idx="1">
                  <c:v>FEB</c:v>
                </c:pt>
                <c:pt idx="2">
                  <c:v>MAR</c:v>
                </c:pt>
                <c:pt idx="3">
                  <c:v>ABR</c:v>
                </c:pt>
                <c:pt idx="4">
                  <c:v>MAY</c:v>
                </c:pt>
                <c:pt idx="5">
                  <c:v>JUN</c:v>
                </c:pt>
                <c:pt idx="6">
                  <c:v>JUL</c:v>
                </c:pt>
              </c:strCache>
              <c:extLst/>
            </c:strRef>
          </c:cat>
          <c:val>
            <c:numRef>
              <c:f>'2026'!$C$29:$I$29</c:f>
              <c:numCache>
                <c:formatCode>General</c:formatCode>
                <c:ptCount val="7"/>
                <c:pt idx="0">
                  <c:v>4.8</c:v>
                </c:pt>
                <c:pt idx="1">
                  <c:v>4.8</c:v>
                </c:pt>
                <c:pt idx="2">
                  <c:v>4.8</c:v>
                </c:pt>
                <c:pt idx="3">
                  <c:v>4.8</c:v>
                </c:pt>
                <c:pt idx="4">
                  <c:v>4.8</c:v>
                </c:pt>
                <c:pt idx="5">
                  <c:v>4.8</c:v>
                </c:pt>
                <c:pt idx="6">
                  <c:v>4.8</c:v>
                </c:pt>
              </c:numCache>
              <c:extLst/>
            </c:numRef>
          </c:val>
          <c:smooth val="0"/>
          <c:extLst>
            <c:ext xmlns:c16="http://schemas.microsoft.com/office/drawing/2014/chart" uri="{C3380CC4-5D6E-409C-BE32-E72D297353CC}">
              <c16:uniqueId val="{00000001-52D3-4CA2-85F2-7BA90E2B5DBE}"/>
            </c:ext>
          </c:extLst>
        </c:ser>
        <c:dLbls>
          <c:showLegendKey val="0"/>
          <c:showVal val="0"/>
          <c:showCatName val="0"/>
          <c:showSerName val="0"/>
          <c:showPercent val="0"/>
          <c:showBubbleSize val="0"/>
        </c:dLbls>
        <c:marker val="1"/>
        <c:smooth val="0"/>
        <c:axId val="1023563519"/>
        <c:axId val="1023557759"/>
      </c:lineChart>
      <c:catAx>
        <c:axId val="102356351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023557759"/>
        <c:crosses val="autoZero"/>
        <c:auto val="1"/>
        <c:lblAlgn val="ctr"/>
        <c:lblOffset val="100"/>
        <c:noMultiLvlLbl val="0"/>
      </c:catAx>
      <c:valAx>
        <c:axId val="1023557759"/>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023563519"/>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6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75000"/>
                  </a:schemeClr>
                </a:solidFill>
                <a:latin typeface="+mn-lt"/>
                <a:ea typeface="+mn-ea"/>
                <a:cs typeface="+mn-cs"/>
              </a:defRPr>
            </a:pPr>
            <a:r>
              <a:rPr lang="es-CO" b="1">
                <a:solidFill>
                  <a:schemeClr val="tx1">
                    <a:lumMod val="75000"/>
                  </a:schemeClr>
                </a:solidFill>
              </a:rPr>
              <a:t>CES</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75000"/>
                </a:schemeClr>
              </a:solidFill>
              <a:latin typeface="+mn-lt"/>
              <a:ea typeface="+mn-ea"/>
              <a:cs typeface="+mn-cs"/>
            </a:defRPr>
          </a:pPr>
          <a:endParaRPr lang="es-CO"/>
        </a:p>
      </c:txPr>
    </c:title>
    <c:autoTitleDeleted val="0"/>
    <c:plotArea>
      <c:layout/>
      <c:barChart>
        <c:barDir val="col"/>
        <c:grouping val="clustered"/>
        <c:varyColors val="0"/>
        <c:ser>
          <c:idx val="0"/>
          <c:order val="0"/>
          <c:tx>
            <c:strRef>
              <c:f>'2026'!$A$40</c:f>
              <c:strCache>
                <c:ptCount val="1"/>
                <c:pt idx="0">
                  <c:v>2026</c:v>
                </c:pt>
              </c:strCache>
            </c:strRef>
          </c:tx>
          <c:spPr>
            <a:solidFill>
              <a:srgbClr val="8158A1"/>
            </a:solidFill>
            <a:ln>
              <a:solidFill>
                <a:srgbClr val="8158A1"/>
              </a:solidFill>
              <a:prstDash val="soli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'2026'!$C$33:$I$33</c:f>
              <c:strCache>
                <c:ptCount val="7"/>
                <c:pt idx="0">
                  <c:v>ENE</c:v>
                </c:pt>
                <c:pt idx="1">
                  <c:v>FEB</c:v>
                </c:pt>
                <c:pt idx="2">
                  <c:v>MAR</c:v>
                </c:pt>
                <c:pt idx="3">
                  <c:v>ABR</c:v>
                </c:pt>
                <c:pt idx="4">
                  <c:v>MAY</c:v>
                </c:pt>
                <c:pt idx="5">
                  <c:v>JUN</c:v>
                </c:pt>
                <c:pt idx="6">
                  <c:v>JUL</c:v>
                </c:pt>
              </c:strCache>
              <c:extLst/>
            </c:strRef>
          </c:cat>
          <c:val>
            <c:numRef>
              <c:f>'2026'!$C$40:$I$40</c:f>
              <c:numCache>
                <c:formatCode>0%</c:formatCode>
                <c:ptCount val="7"/>
                <c:pt idx="0">
                  <c:v>0.9713375796178344</c:v>
                </c:pt>
                <c:pt idx="1">
                  <c:v>0.98076923076923073</c:v>
                </c:pt>
                <c:pt idx="2">
                  <c:v>0.92434210526315785</c:v>
                </c:pt>
                <c:pt idx="3">
                  <c:v>0.92647058823529416</c:v>
                </c:pt>
                <c:pt idx="4">
                  <c:v>0.96501457725947526</c:v>
                </c:pt>
                <c:pt idx="5">
                  <c:v>0.98645598194130923</c:v>
                </c:pt>
                <c:pt idx="6">
                  <c:v>0.98874296435272047</c:v>
                </c:pt>
              </c:numCache>
              <c:extLst/>
            </c:numRef>
          </c:val>
          <c:extLst>
            <c:ext xmlns:c16="http://schemas.microsoft.com/office/drawing/2014/chart" uri="{C3380CC4-5D6E-409C-BE32-E72D297353CC}">
              <c16:uniqueId val="{00000000-7997-45BB-B166-81C0BC0939C4}"/>
            </c:ext>
          </c:extLst>
        </c:ser>
        <c:dLbls>
          <c:showLegendKey val="0"/>
          <c:showVal val="0"/>
          <c:showCatName val="0"/>
          <c:showSerName val="0"/>
          <c:showPercent val="0"/>
          <c:showBubbleSize val="0"/>
        </c:dLbls>
        <c:gapWidth val="150"/>
        <c:axId val="1144050351"/>
        <c:axId val="1144050831"/>
      </c:barChart>
      <c:lineChart>
        <c:grouping val="standard"/>
        <c:varyColors val="0"/>
        <c:ser>
          <c:idx val="1"/>
          <c:order val="1"/>
          <c:tx>
            <c:strRef>
              <c:f>'2026'!$A$42</c:f>
              <c:strCache>
                <c:ptCount val="1"/>
                <c:pt idx="0">
                  <c:v>META</c:v>
                </c:pt>
              </c:strCache>
            </c:strRef>
          </c:tx>
          <c:spPr>
            <a:ln w="28575" cap="rnd">
              <a:solidFill>
                <a:srgbClr val="FF0000"/>
              </a:solidFill>
              <a:prstDash val="sysDot"/>
              <a:round/>
            </a:ln>
            <a:effectLst/>
          </c:spPr>
          <c:marker>
            <c:symbol val="none"/>
          </c:marker>
          <c:cat>
            <c:strRef>
              <c:f>'2026'!$C$33:$I$33</c:f>
              <c:strCache>
                <c:ptCount val="7"/>
                <c:pt idx="0">
                  <c:v>ENE</c:v>
                </c:pt>
                <c:pt idx="1">
                  <c:v>FEB</c:v>
                </c:pt>
                <c:pt idx="2">
                  <c:v>MAR</c:v>
                </c:pt>
                <c:pt idx="3">
                  <c:v>ABR</c:v>
                </c:pt>
                <c:pt idx="4">
                  <c:v>MAY</c:v>
                </c:pt>
                <c:pt idx="5">
                  <c:v>JUN</c:v>
                </c:pt>
                <c:pt idx="6">
                  <c:v>JUL</c:v>
                </c:pt>
              </c:strCache>
              <c:extLst/>
            </c:strRef>
          </c:cat>
          <c:val>
            <c:numRef>
              <c:f>'2026'!$C$42:$I$42</c:f>
              <c:numCache>
                <c:formatCode>0%</c:formatCode>
                <c:ptCount val="7"/>
                <c:pt idx="0">
                  <c:v>0.9</c:v>
                </c:pt>
                <c:pt idx="1">
                  <c:v>0.9</c:v>
                </c:pt>
                <c:pt idx="2">
                  <c:v>0.9</c:v>
                </c:pt>
                <c:pt idx="3">
                  <c:v>0.9</c:v>
                </c:pt>
                <c:pt idx="4">
                  <c:v>0.9</c:v>
                </c:pt>
                <c:pt idx="5">
                  <c:v>0.9</c:v>
                </c:pt>
                <c:pt idx="6">
                  <c:v>0.9</c:v>
                </c:pt>
              </c:numCache>
              <c:extLst/>
            </c:numRef>
          </c:val>
          <c:smooth val="0"/>
          <c:extLst>
            <c:ext xmlns:c16="http://schemas.microsoft.com/office/drawing/2014/chart" uri="{C3380CC4-5D6E-409C-BE32-E72D297353CC}">
              <c16:uniqueId val="{00000001-7997-45BB-B166-81C0BC0939C4}"/>
            </c:ext>
          </c:extLst>
        </c:ser>
        <c:dLbls>
          <c:showLegendKey val="0"/>
          <c:showVal val="0"/>
          <c:showCatName val="0"/>
          <c:showSerName val="0"/>
          <c:showPercent val="0"/>
          <c:showBubbleSize val="0"/>
        </c:dLbls>
        <c:marker val="1"/>
        <c:smooth val="0"/>
        <c:axId val="1144050351"/>
        <c:axId val="1144050831"/>
      </c:lineChart>
      <c:catAx>
        <c:axId val="11440503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144050831"/>
        <c:crosses val="autoZero"/>
        <c:auto val="1"/>
        <c:lblAlgn val="ctr"/>
        <c:lblOffset val="100"/>
        <c:noMultiLvlLbl val="0"/>
      </c:catAx>
      <c:valAx>
        <c:axId val="1144050831"/>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144050351"/>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6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75000"/>
                  </a:schemeClr>
                </a:solidFill>
                <a:latin typeface="+mn-lt"/>
                <a:ea typeface="+mn-ea"/>
                <a:cs typeface="+mn-cs"/>
              </a:defRPr>
            </a:pPr>
            <a:r>
              <a:rPr lang="es-CO" b="1">
                <a:solidFill>
                  <a:schemeClr val="tx1">
                    <a:lumMod val="75000"/>
                  </a:schemeClr>
                </a:solidFill>
              </a:rPr>
              <a:t>FCR</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75000"/>
                </a:schemeClr>
              </a:solidFill>
              <a:latin typeface="+mn-lt"/>
              <a:ea typeface="+mn-ea"/>
              <a:cs typeface="+mn-cs"/>
            </a:defRPr>
          </a:pPr>
          <a:endParaRPr lang="es-CO"/>
        </a:p>
      </c:txPr>
    </c:title>
    <c:autoTitleDeleted val="0"/>
    <c:plotArea>
      <c:layout/>
      <c:barChart>
        <c:barDir val="col"/>
        <c:grouping val="clustered"/>
        <c:varyColors val="0"/>
        <c:ser>
          <c:idx val="0"/>
          <c:order val="0"/>
          <c:tx>
            <c:strRef>
              <c:f>'2026'!$A$49</c:f>
              <c:strCache>
                <c:ptCount val="1"/>
                <c:pt idx="0">
                  <c:v>2026</c:v>
                </c:pt>
              </c:strCache>
            </c:strRef>
          </c:tx>
          <c:spPr>
            <a:solidFill>
              <a:srgbClr val="8158A1"/>
            </a:solidFill>
            <a:ln>
              <a:solidFill>
                <a:srgbClr val="8158A1"/>
              </a:solidFill>
              <a:prstDash val="soli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'2026'!$C$45:$I$45</c:f>
              <c:strCache>
                <c:ptCount val="7"/>
                <c:pt idx="0">
                  <c:v>ENE</c:v>
                </c:pt>
                <c:pt idx="1">
                  <c:v>FEB</c:v>
                </c:pt>
                <c:pt idx="2">
                  <c:v>MAR</c:v>
                </c:pt>
                <c:pt idx="3">
                  <c:v>ABR</c:v>
                </c:pt>
                <c:pt idx="4">
                  <c:v>MAY</c:v>
                </c:pt>
                <c:pt idx="5">
                  <c:v>JUN</c:v>
                </c:pt>
                <c:pt idx="6">
                  <c:v>JUL</c:v>
                </c:pt>
              </c:strCache>
              <c:extLst/>
            </c:strRef>
          </c:cat>
          <c:val>
            <c:numRef>
              <c:f>'2026'!$C$49:$I$49</c:f>
              <c:numCache>
                <c:formatCode>0%</c:formatCode>
                <c:ptCount val="7"/>
                <c:pt idx="0">
                  <c:v>0.9713375796178344</c:v>
                </c:pt>
                <c:pt idx="1">
                  <c:v>0.96153846153846156</c:v>
                </c:pt>
                <c:pt idx="2">
                  <c:v>0.93729372937293731</c:v>
                </c:pt>
                <c:pt idx="3">
                  <c:v>0.93823529411764706</c:v>
                </c:pt>
                <c:pt idx="4">
                  <c:v>0.99125364431486884</c:v>
                </c:pt>
                <c:pt idx="5">
                  <c:v>1</c:v>
                </c:pt>
                <c:pt idx="6">
                  <c:v>1</c:v>
                </c:pt>
              </c:numCache>
              <c:extLst/>
            </c:numRef>
          </c:val>
          <c:extLst>
            <c:ext xmlns:c16="http://schemas.microsoft.com/office/drawing/2014/chart" uri="{C3380CC4-5D6E-409C-BE32-E72D297353CC}">
              <c16:uniqueId val="{00000000-617C-48A7-BBF3-3AACB84066A0}"/>
            </c:ext>
          </c:extLst>
        </c:ser>
        <c:dLbls>
          <c:showLegendKey val="0"/>
          <c:showVal val="0"/>
          <c:showCatName val="0"/>
          <c:showSerName val="0"/>
          <c:showPercent val="0"/>
          <c:showBubbleSize val="0"/>
        </c:dLbls>
        <c:gapWidth val="150"/>
        <c:axId val="786814367"/>
        <c:axId val="786823487"/>
      </c:barChart>
      <c:lineChart>
        <c:grouping val="standard"/>
        <c:varyColors val="0"/>
        <c:ser>
          <c:idx val="1"/>
          <c:order val="1"/>
          <c:tx>
            <c:strRef>
              <c:f>'2026'!$A$51</c:f>
              <c:strCache>
                <c:ptCount val="1"/>
                <c:pt idx="0">
                  <c:v>META</c:v>
                </c:pt>
              </c:strCache>
            </c:strRef>
          </c:tx>
          <c:spPr>
            <a:ln w="28575" cap="rnd">
              <a:solidFill>
                <a:srgbClr val="FF0000"/>
              </a:solidFill>
              <a:prstDash val="sysDot"/>
              <a:round/>
            </a:ln>
            <a:effectLst/>
          </c:spPr>
          <c:marker>
            <c:symbol val="none"/>
          </c:marker>
          <c:cat>
            <c:strRef>
              <c:f>'2026'!$C$45:$I$45</c:f>
              <c:strCache>
                <c:ptCount val="7"/>
                <c:pt idx="0">
                  <c:v>ENE</c:v>
                </c:pt>
                <c:pt idx="1">
                  <c:v>FEB</c:v>
                </c:pt>
                <c:pt idx="2">
                  <c:v>MAR</c:v>
                </c:pt>
                <c:pt idx="3">
                  <c:v>ABR</c:v>
                </c:pt>
                <c:pt idx="4">
                  <c:v>MAY</c:v>
                </c:pt>
                <c:pt idx="5">
                  <c:v>JUN</c:v>
                </c:pt>
                <c:pt idx="6">
                  <c:v>JUL</c:v>
                </c:pt>
              </c:strCache>
              <c:extLst/>
            </c:strRef>
          </c:cat>
          <c:val>
            <c:numRef>
              <c:f>'2026'!$C$51:$I$51</c:f>
              <c:numCache>
                <c:formatCode>0%</c:formatCode>
                <c:ptCount val="7"/>
                <c:pt idx="0">
                  <c:v>0.9</c:v>
                </c:pt>
                <c:pt idx="1">
                  <c:v>0.9</c:v>
                </c:pt>
                <c:pt idx="2">
                  <c:v>0.9</c:v>
                </c:pt>
                <c:pt idx="3">
                  <c:v>0.9</c:v>
                </c:pt>
                <c:pt idx="4">
                  <c:v>0.9</c:v>
                </c:pt>
                <c:pt idx="5">
                  <c:v>0.9</c:v>
                </c:pt>
                <c:pt idx="6">
                  <c:v>0.9</c:v>
                </c:pt>
              </c:numCache>
              <c:extLst/>
            </c:numRef>
          </c:val>
          <c:smooth val="0"/>
          <c:extLst>
            <c:ext xmlns:c16="http://schemas.microsoft.com/office/drawing/2014/chart" uri="{C3380CC4-5D6E-409C-BE32-E72D297353CC}">
              <c16:uniqueId val="{00000001-617C-48A7-BBF3-3AACB84066A0}"/>
            </c:ext>
          </c:extLst>
        </c:ser>
        <c:ser>
          <c:idx val="2"/>
          <c:order val="2"/>
          <c:tx>
            <c:strRef>
              <c:f>'2026'!$A$50</c:f>
              <c:strCache>
                <c:ptCount val="1"/>
                <c:pt idx="0">
                  <c:v>2025</c:v>
                </c:pt>
              </c:strCache>
            </c:strRef>
          </c:tx>
          <c:spPr>
            <a:ln w="28575" cap="rnd">
              <a:solidFill>
                <a:srgbClr val="47A9BF"/>
              </a:solidFill>
              <a:round/>
            </a:ln>
            <a:effectLst/>
          </c:spPr>
          <c:marker>
            <c:symbol val="none"/>
          </c:marker>
          <c:cat>
            <c:strLit>
              <c:ptCount val="7"/>
              <c:pt idx="0">
                <c:v>ENE</c:v>
              </c:pt>
              <c:pt idx="1">
                <c:v>FEB</c:v>
              </c:pt>
              <c:pt idx="2">
                <c:v>MAR</c:v>
              </c:pt>
              <c:pt idx="3">
                <c:v>ABR</c:v>
              </c:pt>
              <c:pt idx="4">
                <c:v>MAY</c:v>
              </c:pt>
              <c:pt idx="5">
                <c:v>JUN</c:v>
              </c:pt>
              <c:pt idx="6">
                <c:v>JUL</c:v>
              </c:pt>
              <c:extLst>
                <c:ext xmlns:c15="http://schemas.microsoft.com/office/drawing/2012/chart" uri="{02D57815-91ED-43cb-92C2-25804820EDAC}">
                  <c15:autoCat val="1"/>
                </c:ext>
              </c:extLst>
            </c:strLit>
          </c:cat>
          <c:val>
            <c:numRef>
              <c:f>'2026'!$C$50:$I$50</c:f>
              <c:numCache>
                <c:formatCode>0%</c:formatCode>
                <c:ptCount val="7"/>
                <c:pt idx="0">
                  <c:v>0.92</c:v>
                </c:pt>
                <c:pt idx="1">
                  <c:v>0.93</c:v>
                </c:pt>
                <c:pt idx="2">
                  <c:v>0.94</c:v>
                </c:pt>
                <c:pt idx="3">
                  <c:v>0.95</c:v>
                </c:pt>
                <c:pt idx="4">
                  <c:v>0.96</c:v>
                </c:pt>
                <c:pt idx="5">
                  <c:v>0.95</c:v>
                </c:pt>
                <c:pt idx="6">
                  <c:v>0.95</c:v>
                </c:pt>
              </c:numCache>
              <c:extLst/>
            </c:numRef>
          </c:val>
          <c:smooth val="0"/>
          <c:extLst>
            <c:ext xmlns:c16="http://schemas.microsoft.com/office/drawing/2014/chart" uri="{C3380CC4-5D6E-409C-BE32-E72D297353CC}">
              <c16:uniqueId val="{00000002-617C-48A7-BBF3-3AACB84066A0}"/>
            </c:ext>
          </c:extLst>
        </c:ser>
        <c:dLbls>
          <c:showLegendKey val="0"/>
          <c:showVal val="0"/>
          <c:showCatName val="0"/>
          <c:showSerName val="0"/>
          <c:showPercent val="0"/>
          <c:showBubbleSize val="0"/>
        </c:dLbls>
        <c:marker val="1"/>
        <c:smooth val="0"/>
        <c:axId val="786814367"/>
        <c:axId val="786823487"/>
      </c:lineChart>
      <c:catAx>
        <c:axId val="7868143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786823487"/>
        <c:crosses val="autoZero"/>
        <c:auto val="1"/>
        <c:lblAlgn val="ctr"/>
        <c:lblOffset val="100"/>
        <c:noMultiLvlLbl val="0"/>
      </c:catAx>
      <c:valAx>
        <c:axId val="786823487"/>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78681436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6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'Por Cliente'!$A$4</c:f>
              <c:strCache>
                <c:ptCount val="1"/>
                <c:pt idx="0">
                  <c:v>Petición</c:v>
                </c:pt>
              </c:strCache>
            </c:strRef>
          </c:tx>
          <c:spPr>
            <a:solidFill>
              <a:srgbClr val="FF6699"/>
            </a:solidFill>
            <a:ln>
              <a:noFill/>
            </a:ln>
            <a:effectLst/>
          </c:spPr>
          <c:invertIfNegative val="0"/>
          <c:cat>
            <c:strRef>
              <c:f>'Por Cliente'!$B$3:$H$3</c:f>
              <c:strCache>
                <c:ptCount val="7"/>
                <c:pt idx="0">
                  <c:v>ENE</c:v>
                </c:pt>
                <c:pt idx="1">
                  <c:v>FEB</c:v>
                </c:pt>
                <c:pt idx="2">
                  <c:v>MAR</c:v>
                </c:pt>
                <c:pt idx="3">
                  <c:v>ABR</c:v>
                </c:pt>
                <c:pt idx="4">
                  <c:v>MAY</c:v>
                </c:pt>
                <c:pt idx="5">
                  <c:v>JUN</c:v>
                </c:pt>
                <c:pt idx="6">
                  <c:v>JUL</c:v>
                </c:pt>
              </c:strCache>
            </c:strRef>
          </c:cat>
          <c:val>
            <c:numRef>
              <c:f>'Por Cliente'!$B$4:$H$4</c:f>
              <c:numCache>
                <c:formatCode>0</c:formatCode>
                <c:ptCount val="7"/>
                <c:pt idx="0">
                  <c:v>21</c:v>
                </c:pt>
                <c:pt idx="1">
                  <c:v>11</c:v>
                </c:pt>
                <c:pt idx="2">
                  <c:v>18</c:v>
                </c:pt>
                <c:pt idx="3">
                  <c:v>18</c:v>
                </c:pt>
                <c:pt idx="4">
                  <c:v>27</c:v>
                </c:pt>
                <c:pt idx="5">
                  <c:v>29</c:v>
                </c:pt>
                <c:pt idx="6">
                  <c:v>8</c:v>
                </c:pt>
              </c:numCache>
            </c:numRef>
          </c:val>
          <c:extLst>
            <c:ext xmlns:c16="http://schemas.microsoft.com/office/drawing/2014/chart" uri="{C3380CC4-5D6E-409C-BE32-E72D297353CC}">
              <c16:uniqueId val="{00000000-7B98-4DF0-A0A6-01985EEE910D}"/>
            </c:ext>
          </c:extLst>
        </c:ser>
        <c:ser>
          <c:idx val="1"/>
          <c:order val="1"/>
          <c:tx>
            <c:strRef>
              <c:f>'Por Cliente'!$A$5</c:f>
              <c:strCache>
                <c:ptCount val="1"/>
                <c:pt idx="0">
                  <c:v>Queja</c:v>
                </c:pt>
              </c:strCache>
            </c:strRef>
          </c:tx>
          <c:spPr>
            <a:solidFill>
              <a:srgbClr val="47A9A8"/>
            </a:solidFill>
            <a:ln>
              <a:noFill/>
            </a:ln>
            <a:effectLst/>
          </c:spPr>
          <c:invertIfNegative val="0"/>
          <c:cat>
            <c:strRef>
              <c:f>'Por Cliente'!$B$3:$H$3</c:f>
              <c:strCache>
                <c:ptCount val="7"/>
                <c:pt idx="0">
                  <c:v>ENE</c:v>
                </c:pt>
                <c:pt idx="1">
                  <c:v>FEB</c:v>
                </c:pt>
                <c:pt idx="2">
                  <c:v>MAR</c:v>
                </c:pt>
                <c:pt idx="3">
                  <c:v>ABR</c:v>
                </c:pt>
                <c:pt idx="4">
                  <c:v>MAY</c:v>
                </c:pt>
                <c:pt idx="5">
                  <c:v>JUN</c:v>
                </c:pt>
                <c:pt idx="6">
                  <c:v>JUL</c:v>
                </c:pt>
              </c:strCache>
            </c:strRef>
          </c:cat>
          <c:val>
            <c:numRef>
              <c:f>'Por Cliente'!$B$5:$H$5</c:f>
              <c:numCache>
                <c:formatCode>0</c:formatCode>
                <c:ptCount val="7"/>
                <c:pt idx="0">
                  <c:v>0</c:v>
                </c:pt>
                <c:pt idx="1">
                  <c:v>1</c:v>
                </c:pt>
                <c:pt idx="2">
                  <c:v>1</c:v>
                </c:pt>
                <c:pt idx="3">
                  <c:v>0</c:v>
                </c:pt>
                <c:pt idx="4">
                  <c:v>0</c:v>
                </c:pt>
                <c:pt idx="5">
                  <c:v>2</c:v>
                </c:pt>
                <c:pt idx="6">
                  <c:v>2</c:v>
                </c:pt>
              </c:numCache>
            </c:numRef>
          </c:val>
          <c:extLst>
            <c:ext xmlns:c16="http://schemas.microsoft.com/office/drawing/2014/chart" uri="{C3380CC4-5D6E-409C-BE32-E72D297353CC}">
              <c16:uniqueId val="{00000001-7B98-4DF0-A0A6-01985EEE910D}"/>
            </c:ext>
          </c:extLst>
        </c:ser>
        <c:ser>
          <c:idx val="2"/>
          <c:order val="2"/>
          <c:tx>
            <c:strRef>
              <c:f>'Por Cliente'!$A$6</c:f>
              <c:strCache>
                <c:ptCount val="1"/>
                <c:pt idx="0">
                  <c:v>Reclamo</c:v>
                </c:pt>
              </c:strCache>
            </c:strRef>
          </c:tx>
          <c:spPr>
            <a:solidFill>
              <a:srgbClr val="002060"/>
            </a:solidFill>
            <a:ln>
              <a:noFill/>
            </a:ln>
            <a:effectLst/>
          </c:spPr>
          <c:invertIfNegative val="0"/>
          <c:cat>
            <c:strRef>
              <c:f>'Por Cliente'!$B$3:$H$3</c:f>
              <c:strCache>
                <c:ptCount val="7"/>
                <c:pt idx="0">
                  <c:v>ENE</c:v>
                </c:pt>
                <c:pt idx="1">
                  <c:v>FEB</c:v>
                </c:pt>
                <c:pt idx="2">
                  <c:v>MAR</c:v>
                </c:pt>
                <c:pt idx="3">
                  <c:v>ABR</c:v>
                </c:pt>
                <c:pt idx="4">
                  <c:v>MAY</c:v>
                </c:pt>
                <c:pt idx="5">
                  <c:v>JUN</c:v>
                </c:pt>
                <c:pt idx="6">
                  <c:v>JUL</c:v>
                </c:pt>
              </c:strCache>
            </c:strRef>
          </c:cat>
          <c:val>
            <c:numRef>
              <c:f>'Por Cliente'!$B$6:$H$6</c:f>
              <c:numCache>
                <c:formatCode>0</c:formatCode>
                <c:ptCount val="7"/>
                <c:pt idx="0">
                  <c:v>18</c:v>
                </c:pt>
                <c:pt idx="1">
                  <c:v>19</c:v>
                </c:pt>
                <c:pt idx="2">
                  <c:v>26</c:v>
                </c:pt>
                <c:pt idx="3">
                  <c:v>43</c:v>
                </c:pt>
                <c:pt idx="4">
                  <c:v>29</c:v>
                </c:pt>
                <c:pt idx="5">
                  <c:v>22</c:v>
                </c:pt>
                <c:pt idx="6">
                  <c:v>46</c:v>
                </c:pt>
              </c:numCache>
            </c:numRef>
          </c:val>
          <c:extLst>
            <c:ext xmlns:c16="http://schemas.microsoft.com/office/drawing/2014/chart" uri="{C3380CC4-5D6E-409C-BE32-E72D297353CC}">
              <c16:uniqueId val="{00000002-7B98-4DF0-A0A6-01985EEE910D}"/>
            </c:ext>
          </c:extLst>
        </c:ser>
        <c:ser>
          <c:idx val="3"/>
          <c:order val="3"/>
          <c:tx>
            <c:strRef>
              <c:f>'Por Cliente'!$A$7</c:f>
              <c:strCache>
                <c:ptCount val="1"/>
                <c:pt idx="0">
                  <c:v>Sugerencia</c:v>
                </c:pt>
              </c:strCache>
            </c:strRef>
          </c:tx>
          <c:spPr>
            <a:solidFill>
              <a:srgbClr val="FFC000"/>
            </a:solidFill>
            <a:ln>
              <a:noFill/>
            </a:ln>
            <a:effectLst/>
          </c:spPr>
          <c:invertIfNegative val="0"/>
          <c:cat>
            <c:strRef>
              <c:f>'Por Cliente'!$B$3:$H$3</c:f>
              <c:strCache>
                <c:ptCount val="7"/>
                <c:pt idx="0">
                  <c:v>ENE</c:v>
                </c:pt>
                <c:pt idx="1">
                  <c:v>FEB</c:v>
                </c:pt>
                <c:pt idx="2">
                  <c:v>MAR</c:v>
                </c:pt>
                <c:pt idx="3">
                  <c:v>ABR</c:v>
                </c:pt>
                <c:pt idx="4">
                  <c:v>MAY</c:v>
                </c:pt>
                <c:pt idx="5">
                  <c:v>JUN</c:v>
                </c:pt>
                <c:pt idx="6">
                  <c:v>JUL</c:v>
                </c:pt>
              </c:strCache>
            </c:strRef>
          </c:cat>
          <c:val>
            <c:numRef>
              <c:f>'Por Cliente'!$B$7:$H$7</c:f>
              <c:numCache>
                <c:formatCode>0</c:formatCode>
                <c:ptCount val="7"/>
                <c:pt idx="0">
                  <c:v>2</c:v>
                </c:pt>
                <c:pt idx="1">
                  <c:v>6</c:v>
                </c:pt>
                <c:pt idx="2">
                  <c:v>1</c:v>
                </c:pt>
                <c:pt idx="3">
                  <c:v>0</c:v>
                </c:pt>
                <c:pt idx="4">
                  <c:v>0</c:v>
                </c:pt>
                <c:pt idx="5">
                  <c:v>0</c:v>
                </c:pt>
                <c:pt idx="6">
                  <c:v>2</c:v>
                </c:pt>
              </c:numCache>
            </c:numRef>
          </c:val>
          <c:extLst>
            <c:ext xmlns:c16="http://schemas.microsoft.com/office/drawing/2014/chart" uri="{C3380CC4-5D6E-409C-BE32-E72D297353CC}">
              <c16:uniqueId val="{00000003-7B98-4DF0-A0A6-01985EEE910D}"/>
            </c:ext>
          </c:extLst>
        </c:ser>
        <c:ser>
          <c:idx val="4"/>
          <c:order val="4"/>
          <c:tx>
            <c:strRef>
              <c:f>'Por Cliente'!$A$8</c:f>
              <c:strCache>
                <c:ptCount val="1"/>
                <c:pt idx="0">
                  <c:v>Felicitación</c:v>
                </c:pt>
              </c:strCache>
            </c:strRef>
          </c:tx>
          <c:spPr>
            <a:solidFill>
              <a:srgbClr val="8158A1"/>
            </a:solidFill>
            <a:ln>
              <a:noFill/>
            </a:ln>
            <a:effectLst/>
          </c:spPr>
          <c:invertIfNegative val="0"/>
          <c:cat>
            <c:strRef>
              <c:f>'Por Cliente'!$B$3:$H$3</c:f>
              <c:strCache>
                <c:ptCount val="7"/>
                <c:pt idx="0">
                  <c:v>ENE</c:v>
                </c:pt>
                <c:pt idx="1">
                  <c:v>FEB</c:v>
                </c:pt>
                <c:pt idx="2">
                  <c:v>MAR</c:v>
                </c:pt>
                <c:pt idx="3">
                  <c:v>ABR</c:v>
                </c:pt>
                <c:pt idx="4">
                  <c:v>MAY</c:v>
                </c:pt>
                <c:pt idx="5">
                  <c:v>JUN</c:v>
                </c:pt>
                <c:pt idx="6">
                  <c:v>JUL</c:v>
                </c:pt>
              </c:strCache>
            </c:strRef>
          </c:cat>
          <c:val>
            <c:numRef>
              <c:f>'Por Cliente'!$B$8:$H$8</c:f>
              <c:numCache>
                <c:formatCode>0</c:formatCode>
                <c:ptCount val="7"/>
                <c:pt idx="0">
                  <c:v>5</c:v>
                </c:pt>
                <c:pt idx="1">
                  <c:v>13</c:v>
                </c:pt>
                <c:pt idx="2">
                  <c:v>3</c:v>
                </c:pt>
                <c:pt idx="3">
                  <c:v>16</c:v>
                </c:pt>
                <c:pt idx="4">
                  <c:v>2</c:v>
                </c:pt>
                <c:pt idx="5">
                  <c:v>3</c:v>
                </c:pt>
                <c:pt idx="6">
                  <c:v>25</c:v>
                </c:pt>
              </c:numCache>
            </c:numRef>
          </c:val>
          <c:extLst>
            <c:ext xmlns:c16="http://schemas.microsoft.com/office/drawing/2014/chart" uri="{C3380CC4-5D6E-409C-BE32-E72D297353CC}">
              <c16:uniqueId val="{00000004-7B98-4DF0-A0A6-01985EEE910D}"/>
            </c:ext>
          </c:extLst>
        </c:ser>
        <c:dLbls>
          <c:showLegendKey val="0"/>
          <c:showVal val="0"/>
          <c:showCatName val="0"/>
          <c:showSerName val="0"/>
          <c:showPercent val="0"/>
          <c:showBubbleSize val="0"/>
        </c:dLbls>
        <c:gapWidth val="150"/>
        <c:overlap val="100"/>
        <c:axId val="1423960095"/>
        <c:axId val="1423977855"/>
      </c:barChart>
      <c:catAx>
        <c:axId val="142396009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50000"/>
                  </a:schemeClr>
                </a:solidFill>
                <a:latin typeface="+mn-lt"/>
                <a:ea typeface="+mn-ea"/>
                <a:cs typeface="+mn-cs"/>
              </a:defRPr>
            </a:pPr>
            <a:endParaRPr lang="es-CO"/>
          </a:p>
        </c:txPr>
        <c:crossAx val="1423977855"/>
        <c:crosses val="autoZero"/>
        <c:auto val="1"/>
        <c:lblAlgn val="ctr"/>
        <c:lblOffset val="100"/>
        <c:noMultiLvlLbl val="0"/>
      </c:catAx>
      <c:valAx>
        <c:axId val="1423977855"/>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423960095"/>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050" b="0" i="0" u="none" strike="noStrike" kern="1200" baseline="0">
                <a:solidFill>
                  <a:schemeClr val="tx1">
                    <a:lumMod val="50000"/>
                  </a:schemeClr>
                </a:solidFill>
                <a:latin typeface="+mn-lt"/>
                <a:ea typeface="+mn-ea"/>
                <a:cs typeface="+mn-cs"/>
              </a:defRPr>
            </a:pPr>
            <a:endParaRPr lang="es-CO"/>
          </a:p>
        </c:txPr>
      </c:dTable>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50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7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s-CO" sz="1400" b="1" i="0" u="sng" strike="noStrike" kern="1200" spc="0" baseline="0">
                <a:solidFill>
                  <a:prstClr val="black">
                    <a:lumMod val="65000"/>
                    <a:lumOff val="35000"/>
                  </a:prstClr>
                </a:solidFill>
              </a:rPr>
              <a:t>ESTADOS DE CITA SALUD TOTAL</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spPr>
            <a:solidFill>
              <a:srgbClr val="47A9A1"/>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800" b="1" i="0" u="none" strike="noStrike" kern="1200" baseline="0">
                    <a:solidFill>
                      <a:schemeClr val="bg1">
                        <a:lumMod val="50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'SALUD TOTAL'!$D$6:$D$8</c:f>
              <c:strCache>
                <c:ptCount val="3"/>
                <c:pt idx="0">
                  <c:v>ATENDIDA</c:v>
                </c:pt>
                <c:pt idx="1">
                  <c:v>CANCELADA</c:v>
                </c:pt>
                <c:pt idx="2">
                  <c:v>INCUMPLIDA</c:v>
                </c:pt>
              </c:strCache>
            </c:strRef>
          </c:cat>
          <c:val>
            <c:numRef>
              <c:f>'SALUD TOTAL'!$E$6:$E$8</c:f>
              <c:numCache>
                <c:formatCode>#,##0</c:formatCode>
                <c:ptCount val="3"/>
                <c:pt idx="0">
                  <c:v>18474</c:v>
                </c:pt>
                <c:pt idx="1">
                  <c:v>2833</c:v>
                </c:pt>
                <c:pt idx="2">
                  <c:v>2099</c:v>
                </c:pt>
              </c:numCache>
            </c:numRef>
          </c:val>
          <c:extLst>
            <c:ext xmlns:c16="http://schemas.microsoft.com/office/drawing/2014/chart" uri="{C3380CC4-5D6E-409C-BE32-E72D297353CC}">
              <c16:uniqueId val="{00000000-1130-45E6-B426-07CFE04E4AE5}"/>
            </c:ext>
          </c:extLst>
        </c:ser>
        <c:dLbls>
          <c:showLegendKey val="0"/>
          <c:showVal val="1"/>
          <c:showCatName val="0"/>
          <c:showSerName val="0"/>
          <c:showPercent val="0"/>
          <c:showBubbleSize val="0"/>
        </c:dLbls>
        <c:gapWidth val="219"/>
        <c:overlap val="-27"/>
        <c:axId val="931177167"/>
        <c:axId val="931183887"/>
      </c:barChart>
      <c:lineChart>
        <c:grouping val="standard"/>
        <c:varyColors val="0"/>
        <c:ser>
          <c:idx val="1"/>
          <c:order val="1"/>
          <c:spPr>
            <a:ln w="28575" cap="rnd">
              <a:solidFill>
                <a:schemeClr val="accent2"/>
              </a:solidFill>
              <a:round/>
            </a:ln>
            <a:effectLst/>
          </c:spPr>
          <c:marker>
            <c:symbol val="none"/>
          </c:marker>
          <c:dLbls>
            <c:dLbl>
              <c:idx val="0"/>
              <c:layout>
                <c:manualLayout>
                  <c:x val="4.09286110186797E-2"/>
                  <c:y val="-8.011657867039313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130-45E6-B426-07CFE04E4AE5}"/>
                </c:ext>
              </c:extLst>
            </c:dLbl>
            <c:dLbl>
              <c:idx val="1"/>
              <c:layout>
                <c:manualLayout>
                  <c:x val="3.7342818343850906E-2"/>
                  <c:y val="-0.15057359702215659"/>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1130-45E6-B426-07CFE04E4AE5}"/>
                </c:ext>
              </c:extLst>
            </c:dLbl>
            <c:dLbl>
              <c:idx val="2"/>
              <c:layout>
                <c:manualLayout>
                  <c:x val="5.1865025477570555E-2"/>
                  <c:y val="-8.213105292117628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1130-45E6-B426-07CFE04E4AE5}"/>
                </c:ext>
              </c:extLst>
            </c:dLbl>
            <c:spPr>
              <a:noFill/>
              <a:ln>
                <a:noFill/>
              </a:ln>
              <a:effectLst/>
            </c:spPr>
            <c:txPr>
              <a:bodyPr rot="0" spcFirstLastPara="1" vertOverflow="ellipsis" vert="horz" wrap="square" lIns="38100" tIns="19050" rIns="38100" bIns="19050" anchor="ctr" anchorCtr="0">
                <a:spAutoFit/>
              </a:bodyPr>
              <a:lstStyle/>
              <a:p>
                <a:pPr algn="ctr">
                  <a:defRPr lang="en-US" sz="1800" b="1" i="0" u="none" strike="noStrike" kern="1200" baseline="0">
                    <a:solidFill>
                      <a:srgbClr val="00A19C"/>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'SALUD TOTAL'!$D$6:$D$8</c:f>
              <c:strCache>
                <c:ptCount val="3"/>
                <c:pt idx="0">
                  <c:v>ATENDIDA</c:v>
                </c:pt>
                <c:pt idx="1">
                  <c:v>CANCELADA</c:v>
                </c:pt>
                <c:pt idx="2">
                  <c:v>INCUMPLIDA</c:v>
                </c:pt>
              </c:strCache>
            </c:strRef>
          </c:cat>
          <c:val>
            <c:numRef>
              <c:f>'SALUD TOTAL'!$F$6:$F$8</c:f>
              <c:numCache>
                <c:formatCode>0%</c:formatCode>
                <c:ptCount val="3"/>
                <c:pt idx="0">
                  <c:v>0.78928479876954627</c:v>
                </c:pt>
                <c:pt idx="1">
                  <c:v>0.12103734085277279</c:v>
                </c:pt>
                <c:pt idx="2">
                  <c:v>8.967786037768094E-2</c:v>
                </c:pt>
              </c:numCache>
            </c:numRef>
          </c:val>
          <c:smooth val="0"/>
          <c:extLst>
            <c:ext xmlns:c16="http://schemas.microsoft.com/office/drawing/2014/chart" uri="{C3380CC4-5D6E-409C-BE32-E72D297353CC}">
              <c16:uniqueId val="{00000002-1130-45E6-B426-07CFE04E4AE5}"/>
            </c:ext>
          </c:extLst>
        </c:ser>
        <c:dLbls>
          <c:showLegendKey val="0"/>
          <c:showVal val="1"/>
          <c:showCatName val="0"/>
          <c:showSerName val="0"/>
          <c:showPercent val="0"/>
          <c:showBubbleSize val="0"/>
        </c:dLbls>
        <c:marker val="1"/>
        <c:smooth val="0"/>
        <c:axId val="931181967"/>
        <c:axId val="931181487"/>
      </c:lineChart>
      <c:catAx>
        <c:axId val="931177167"/>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400" b="1" i="0" u="none" strike="noStrike" kern="1200" baseline="0">
                <a:solidFill>
                  <a:schemeClr val="tx1">
                    <a:lumMod val="65000"/>
                    <a:lumOff val="35000"/>
                  </a:schemeClr>
                </a:solidFill>
                <a:latin typeface="+mn-lt"/>
                <a:ea typeface="+mn-ea"/>
                <a:cs typeface="+mn-cs"/>
              </a:defRPr>
            </a:pPr>
            <a:endParaRPr lang="es-CO"/>
          </a:p>
        </c:txPr>
        <c:crossAx val="931183887"/>
        <c:crosses val="autoZero"/>
        <c:auto val="1"/>
        <c:lblAlgn val="ctr"/>
        <c:lblOffset val="100"/>
        <c:noMultiLvlLbl val="0"/>
      </c:catAx>
      <c:valAx>
        <c:axId val="931183887"/>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700" b="0" i="0" u="none" strike="noStrike" kern="1200" baseline="0">
                <a:solidFill>
                  <a:schemeClr val="bg1">
                    <a:lumMod val="65000"/>
                  </a:schemeClr>
                </a:solidFill>
                <a:latin typeface="+mn-lt"/>
                <a:ea typeface="+mn-ea"/>
                <a:cs typeface="+mn-cs"/>
              </a:defRPr>
            </a:pPr>
            <a:endParaRPr lang="es-CO"/>
          </a:p>
        </c:txPr>
        <c:crossAx val="931177167"/>
        <c:crosses val="autoZero"/>
        <c:crossBetween val="between"/>
      </c:valAx>
      <c:valAx>
        <c:axId val="931181487"/>
        <c:scaling>
          <c:orientation val="minMax"/>
        </c:scaling>
        <c:delete val="0"/>
        <c:axPos val="r"/>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700" b="0" i="0" u="none" strike="noStrike" kern="1200" baseline="0">
                <a:solidFill>
                  <a:schemeClr val="bg1">
                    <a:lumMod val="65000"/>
                  </a:schemeClr>
                </a:solidFill>
                <a:latin typeface="+mn-lt"/>
                <a:ea typeface="+mn-ea"/>
                <a:cs typeface="+mn-cs"/>
              </a:defRPr>
            </a:pPr>
            <a:endParaRPr lang="es-CO"/>
          </a:p>
        </c:txPr>
        <c:crossAx val="931181967"/>
        <c:crosses val="max"/>
        <c:crossBetween val="between"/>
      </c:valAx>
      <c:catAx>
        <c:axId val="931181967"/>
        <c:scaling>
          <c:orientation val="minMax"/>
        </c:scaling>
        <c:delete val="1"/>
        <c:axPos val="b"/>
        <c:numFmt formatCode="General" sourceLinked="1"/>
        <c:majorTickMark val="none"/>
        <c:minorTickMark val="none"/>
        <c:tickLblPos val="nextTo"/>
        <c:crossAx val="931181487"/>
        <c:crosses val="autoZero"/>
        <c:auto val="1"/>
        <c:lblAlgn val="ctr"/>
        <c:lblOffset val="100"/>
        <c:noMultiLvlLbl val="0"/>
      </c:catAx>
      <c:spPr>
        <a:noFill/>
        <a:ln>
          <a:noFill/>
        </a:ln>
        <a:effectLst/>
      </c:spPr>
    </c:plotArea>
    <c:plotVisOnly val="1"/>
    <c:dispBlanksAs val="gap"/>
    <c:showDLblsOverMax val="0"/>
  </c:chart>
  <c:spPr>
    <a:noFill/>
    <a:ln>
      <a:noFill/>
    </a:ln>
    <a:effectLst/>
  </c:spPr>
  <c:txPr>
    <a:bodyPr/>
    <a:lstStyle/>
    <a:p>
      <a:pPr>
        <a:defRPr/>
      </a:pPr>
      <a:endParaRPr lang="es-CO"/>
    </a:p>
  </c:txPr>
  <c:externalData r:id="rId4">
    <c:autoUpdate val="0"/>
  </c:externalData>
</c:chartSpace>
</file>

<file path=ppt/charts/chart7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s-CO" sz="1400" b="1" i="0" u="sng" strike="noStrike" kern="1200" spc="0" baseline="0">
                <a:solidFill>
                  <a:prstClr val="black">
                    <a:lumMod val="65000"/>
                    <a:lumOff val="35000"/>
                  </a:prstClr>
                </a:solidFill>
              </a:rPr>
              <a:t>TIPOS DE CITA</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pieChart>
        <c:varyColors val="1"/>
        <c:ser>
          <c:idx val="0"/>
          <c:order val="0"/>
          <c:dPt>
            <c:idx val="0"/>
            <c:bubble3D val="0"/>
            <c:spPr>
              <a:solidFill>
                <a:srgbClr val="8158A1"/>
              </a:solidFill>
              <a:ln w="19050">
                <a:solidFill>
                  <a:schemeClr val="lt1"/>
                </a:solidFill>
              </a:ln>
              <a:effectLst/>
            </c:spPr>
            <c:extLst>
              <c:ext xmlns:c16="http://schemas.microsoft.com/office/drawing/2014/chart" uri="{C3380CC4-5D6E-409C-BE32-E72D297353CC}">
                <c16:uniqueId val="{00000001-9600-4047-AF8C-CCB81EE6ABAF}"/>
              </c:ext>
            </c:extLst>
          </c:dPt>
          <c:dPt>
            <c:idx val="1"/>
            <c:bubble3D val="0"/>
            <c:spPr>
              <a:solidFill>
                <a:srgbClr val="47A9A1"/>
              </a:solidFill>
              <a:ln w="19050">
                <a:solidFill>
                  <a:schemeClr val="lt1"/>
                </a:solidFill>
              </a:ln>
              <a:effectLst/>
            </c:spPr>
            <c:extLst>
              <c:ext xmlns:c16="http://schemas.microsoft.com/office/drawing/2014/chart" uri="{C3380CC4-5D6E-409C-BE32-E72D297353CC}">
                <c16:uniqueId val="{00000003-9600-4047-AF8C-CCB81EE6ABAF}"/>
              </c:ext>
            </c:extLst>
          </c:dPt>
          <c:dLbls>
            <c:spPr>
              <a:noFill/>
              <a:ln>
                <a:noFill/>
              </a:ln>
              <a:effectLst/>
            </c:spPr>
            <c:txPr>
              <a:bodyPr rot="0" spcFirstLastPara="1" vertOverflow="ellipsis" vert="horz" wrap="square" lIns="38100" tIns="19050" rIns="38100" bIns="19050" anchor="ctr" anchorCtr="0">
                <a:spAutoFit/>
              </a:bodyPr>
              <a:lstStyle/>
              <a:p>
                <a:pPr algn="ctr">
                  <a:defRPr lang="en-US" sz="1800" b="1" i="0" u="none" strike="noStrike" kern="1200" baseline="0">
                    <a:solidFill>
                      <a:schemeClr val="bg1"/>
                    </a:solidFill>
                    <a:latin typeface="+mn-lt"/>
                    <a:ea typeface="+mn-ea"/>
                    <a:cs typeface="+mn-cs"/>
                  </a:defRPr>
                </a:pPr>
                <a:endParaRPr lang="es-CO"/>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'SALUD TOTAL'!$G$16:$G$17</c:f>
              <c:strCache>
                <c:ptCount val="2"/>
                <c:pt idx="0">
                  <c:v>Presencial</c:v>
                </c:pt>
                <c:pt idx="1">
                  <c:v>Teleconsulta</c:v>
                </c:pt>
              </c:strCache>
            </c:strRef>
          </c:cat>
          <c:val>
            <c:numRef>
              <c:f>'SALUD TOTAL'!$H$16:$H$17</c:f>
              <c:numCache>
                <c:formatCode>0%</c:formatCode>
                <c:ptCount val="2"/>
                <c:pt idx="0">
                  <c:v>0.56904212595061099</c:v>
                </c:pt>
                <c:pt idx="1">
                  <c:v>0.43095787404938907</c:v>
                </c:pt>
              </c:numCache>
            </c:numRef>
          </c:val>
          <c:extLst>
            <c:ext xmlns:c16="http://schemas.microsoft.com/office/drawing/2014/chart" uri="{C3380CC4-5D6E-409C-BE32-E72D297353CC}">
              <c16:uniqueId val="{00000004-9600-4047-AF8C-CCB81EE6ABAF}"/>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lang="en-US" sz="1400" b="1"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4">
    <c:autoUpdate val="0"/>
  </c:externalData>
</c:chartSpace>
</file>

<file path=ppt/charts/chart7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lang="en-US" sz="840" b="0" i="0" u="none" strike="noStrike" kern="1200" spc="0" baseline="0">
                <a:solidFill>
                  <a:schemeClr val="bg1">
                    <a:lumMod val="65000"/>
                  </a:schemeClr>
                </a:solidFill>
                <a:latin typeface="+mn-lt"/>
                <a:ea typeface="+mn-ea"/>
                <a:cs typeface="+mn-cs"/>
              </a:defRPr>
            </a:pPr>
            <a:r>
              <a:rPr lang="es-CO"/>
              <a:t>TIPOS  DE CITA SALUD TOTAL</a:t>
            </a:r>
          </a:p>
        </c:rich>
      </c:tx>
      <c:overlay val="0"/>
      <c:spPr>
        <a:noFill/>
        <a:ln>
          <a:noFill/>
        </a:ln>
        <a:effectLst/>
      </c:spPr>
      <c:txPr>
        <a:bodyPr rot="0" spcFirstLastPara="1" vertOverflow="ellipsis" vert="horz" wrap="square" anchor="ctr" anchorCtr="1"/>
        <a:lstStyle/>
        <a:p>
          <a:pPr>
            <a:defRPr lang="en-US" sz="840" b="0" i="0" u="none" strike="noStrike" kern="1200" spc="0" baseline="0">
              <a:solidFill>
                <a:schemeClr val="bg1">
                  <a:lumMod val="65000"/>
                </a:schemeClr>
              </a:solidFill>
              <a:latin typeface="+mn-lt"/>
              <a:ea typeface="+mn-ea"/>
              <a:cs typeface="+mn-cs"/>
            </a:defRPr>
          </a:pPr>
          <a:endParaRPr lang="es-CO"/>
        </a:p>
      </c:txPr>
    </c:title>
    <c:autoTitleDeleted val="0"/>
    <c:plotArea>
      <c:layout/>
      <c:barChart>
        <c:barDir val="col"/>
        <c:grouping val="clustered"/>
        <c:varyColors val="0"/>
        <c:ser>
          <c:idx val="0"/>
          <c:order val="0"/>
          <c:spPr>
            <a:solidFill>
              <a:srgbClr val="47A9A1"/>
            </a:solidFill>
            <a:ln>
              <a:noFill/>
            </a:ln>
            <a:effectLst/>
          </c:spPr>
          <c:invertIfNegative val="0"/>
          <c:dLbls>
            <c:spPr>
              <a:noFill/>
              <a:ln>
                <a:noFill/>
              </a:ln>
              <a:effectLst/>
            </c:spPr>
            <c:txPr>
              <a:bodyPr rot="0" spcFirstLastPara="1" vertOverflow="ellipsis" vert="horz" wrap="square" anchor="ctr" anchorCtr="0"/>
              <a:lstStyle/>
              <a:p>
                <a:pPr algn="ctr">
                  <a:defRPr lang="en-US" sz="1800" b="1" i="0" u="none" strike="noStrike" kern="1200" baseline="0">
                    <a:solidFill>
                      <a:schemeClr val="bg1">
                        <a:lumMod val="50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'SALUD TOTAL'!$D$74:$D$76</c:f>
              <c:strCache>
                <c:ptCount val="3"/>
                <c:pt idx="0">
                  <c:v>CONTROL</c:v>
                </c:pt>
                <c:pt idx="1">
                  <c:v>1ERA VEZ</c:v>
                </c:pt>
                <c:pt idx="2">
                  <c:v>OTRAS ASIGNACIONES </c:v>
                </c:pt>
              </c:strCache>
            </c:strRef>
          </c:cat>
          <c:val>
            <c:numRef>
              <c:f>'SALUD TOTAL'!$E$74:$E$76</c:f>
              <c:numCache>
                <c:formatCode>#,##0</c:formatCode>
                <c:ptCount val="3"/>
                <c:pt idx="0">
                  <c:v>17530</c:v>
                </c:pt>
                <c:pt idx="1">
                  <c:v>5858</c:v>
                </c:pt>
                <c:pt idx="2">
                  <c:v>18</c:v>
                </c:pt>
              </c:numCache>
            </c:numRef>
          </c:val>
          <c:extLst>
            <c:ext xmlns:c16="http://schemas.microsoft.com/office/drawing/2014/chart" uri="{C3380CC4-5D6E-409C-BE32-E72D297353CC}">
              <c16:uniqueId val="{00000000-61A5-420D-8A36-2D26EF5E702B}"/>
            </c:ext>
          </c:extLst>
        </c:ser>
        <c:dLbls>
          <c:showLegendKey val="0"/>
          <c:showVal val="1"/>
          <c:showCatName val="0"/>
          <c:showSerName val="0"/>
          <c:showPercent val="0"/>
          <c:showBubbleSize val="0"/>
        </c:dLbls>
        <c:gapWidth val="219"/>
        <c:overlap val="-27"/>
        <c:axId val="947677231"/>
        <c:axId val="947678191"/>
      </c:barChart>
      <c:lineChart>
        <c:grouping val="standard"/>
        <c:varyColors val="0"/>
        <c:ser>
          <c:idx val="1"/>
          <c:order val="1"/>
          <c:spPr>
            <a:ln w="28575" cap="rnd">
              <a:solidFill>
                <a:schemeClr val="accent2"/>
              </a:solidFill>
              <a:round/>
            </a:ln>
            <a:effectLst/>
          </c:spPr>
          <c:marker>
            <c:symbol val="none"/>
          </c:marker>
          <c:dLbls>
            <c:dLbl>
              <c:idx val="0"/>
              <c:layout>
                <c:manualLayout>
                  <c:x val="3.3432842107480008E-2"/>
                  <c:y val="8.7186651517699928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1A5-420D-8A36-2D26EF5E702B}"/>
                </c:ext>
              </c:extLst>
            </c:dLbl>
            <c:spPr>
              <a:noFill/>
              <a:ln>
                <a:noFill/>
              </a:ln>
              <a:effectLst/>
            </c:spPr>
            <c:txPr>
              <a:bodyPr rot="0" spcFirstLastPara="1" vertOverflow="ellipsis" vert="horz" wrap="square" anchor="ctr" anchorCtr="0"/>
              <a:lstStyle/>
              <a:p>
                <a:pPr algn="ctr">
                  <a:defRPr lang="en-US" sz="1800" b="1" i="0" u="none" strike="noStrike" kern="1200" baseline="0">
                    <a:solidFill>
                      <a:srgbClr val="00A19C"/>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'SALUD TOTAL'!$D$74:$D$76</c:f>
              <c:strCache>
                <c:ptCount val="3"/>
                <c:pt idx="0">
                  <c:v>CONTROL</c:v>
                </c:pt>
                <c:pt idx="1">
                  <c:v>1ERA VEZ</c:v>
                </c:pt>
                <c:pt idx="2">
                  <c:v>OTRAS ASIGNACIONES </c:v>
                </c:pt>
              </c:strCache>
            </c:strRef>
          </c:cat>
          <c:val>
            <c:numRef>
              <c:f>'SALUD TOTAL'!$F$74:$F$76</c:f>
              <c:numCache>
                <c:formatCode>0%</c:formatCode>
                <c:ptCount val="3"/>
                <c:pt idx="0">
                  <c:v>0.74895325984790229</c:v>
                </c:pt>
                <c:pt idx="1">
                  <c:v>0.25027770657096471</c:v>
                </c:pt>
                <c:pt idx="2">
                  <c:v>7.6903358113304286E-4</c:v>
                </c:pt>
              </c:numCache>
            </c:numRef>
          </c:val>
          <c:smooth val="0"/>
          <c:extLst>
            <c:ext xmlns:c16="http://schemas.microsoft.com/office/drawing/2014/chart" uri="{C3380CC4-5D6E-409C-BE32-E72D297353CC}">
              <c16:uniqueId val="{00000002-61A5-420D-8A36-2D26EF5E702B}"/>
            </c:ext>
          </c:extLst>
        </c:ser>
        <c:dLbls>
          <c:showLegendKey val="0"/>
          <c:showVal val="1"/>
          <c:showCatName val="0"/>
          <c:showSerName val="0"/>
          <c:showPercent val="0"/>
          <c:showBubbleSize val="0"/>
        </c:dLbls>
        <c:marker val="1"/>
        <c:smooth val="0"/>
        <c:axId val="947675791"/>
        <c:axId val="947686351"/>
      </c:lineChart>
      <c:catAx>
        <c:axId val="947677231"/>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400" b="1" i="0" u="none" strike="noStrike" kern="1200" baseline="0">
                <a:solidFill>
                  <a:schemeClr val="tx1">
                    <a:lumMod val="65000"/>
                    <a:lumOff val="35000"/>
                  </a:schemeClr>
                </a:solidFill>
                <a:latin typeface="+mn-lt"/>
                <a:ea typeface="+mn-ea"/>
                <a:cs typeface="+mn-cs"/>
              </a:defRPr>
            </a:pPr>
            <a:endParaRPr lang="es-CO"/>
          </a:p>
        </c:txPr>
        <c:crossAx val="947678191"/>
        <c:crosses val="autoZero"/>
        <c:auto val="1"/>
        <c:lblAlgn val="ctr"/>
        <c:lblOffset val="100"/>
        <c:noMultiLvlLbl val="0"/>
      </c:catAx>
      <c:valAx>
        <c:axId val="947678191"/>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en-US" sz="700" b="0" i="0" u="none" strike="noStrike" kern="1200" baseline="0">
                <a:solidFill>
                  <a:schemeClr val="bg1">
                    <a:lumMod val="65000"/>
                  </a:schemeClr>
                </a:solidFill>
                <a:latin typeface="+mn-lt"/>
                <a:ea typeface="+mn-ea"/>
                <a:cs typeface="+mn-cs"/>
              </a:defRPr>
            </a:pPr>
            <a:endParaRPr lang="es-CO"/>
          </a:p>
        </c:txPr>
        <c:crossAx val="947677231"/>
        <c:crosses val="autoZero"/>
        <c:crossBetween val="between"/>
      </c:valAx>
      <c:valAx>
        <c:axId val="947686351"/>
        <c:scaling>
          <c:orientation val="minMax"/>
        </c:scaling>
        <c:delete val="0"/>
        <c:axPos val="r"/>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en-US" sz="700" b="0" i="0" u="none" strike="noStrike" kern="1200" baseline="0">
                <a:solidFill>
                  <a:schemeClr val="bg1">
                    <a:lumMod val="65000"/>
                  </a:schemeClr>
                </a:solidFill>
                <a:latin typeface="+mn-lt"/>
                <a:ea typeface="+mn-ea"/>
                <a:cs typeface="+mn-cs"/>
              </a:defRPr>
            </a:pPr>
            <a:endParaRPr lang="es-CO"/>
          </a:p>
        </c:txPr>
        <c:crossAx val="947675791"/>
        <c:crosses val="max"/>
        <c:crossBetween val="between"/>
      </c:valAx>
      <c:catAx>
        <c:axId val="947675791"/>
        <c:scaling>
          <c:orientation val="minMax"/>
        </c:scaling>
        <c:delete val="1"/>
        <c:axPos val="b"/>
        <c:numFmt formatCode="General" sourceLinked="1"/>
        <c:majorTickMark val="none"/>
        <c:minorTickMark val="none"/>
        <c:tickLblPos val="nextTo"/>
        <c:crossAx val="947686351"/>
        <c:crosses val="autoZero"/>
        <c:auto val="1"/>
        <c:lblAlgn val="ctr"/>
        <c:lblOffset val="100"/>
        <c:noMultiLvlLbl val="0"/>
      </c:catAx>
      <c:spPr>
        <a:noFill/>
        <a:ln>
          <a:noFill/>
        </a:ln>
        <a:effectLst/>
      </c:spPr>
    </c:plotArea>
    <c:plotVisOnly val="1"/>
    <c:dispBlanksAs val="gap"/>
    <c:showDLblsOverMax val="0"/>
  </c:chart>
  <c:spPr>
    <a:noFill/>
    <a:ln>
      <a:noFill/>
    </a:ln>
    <a:effectLst/>
  </c:spPr>
  <c:txPr>
    <a:bodyPr/>
    <a:lstStyle/>
    <a:p>
      <a:pPr algn="ctr">
        <a:defRPr lang="en-US" sz="700" b="0" i="0" u="none" strike="noStrike" kern="1200" baseline="0">
          <a:solidFill>
            <a:schemeClr val="bg1">
              <a:lumMod val="65000"/>
            </a:schemeClr>
          </a:solidFill>
          <a:latin typeface="+mn-lt"/>
          <a:ea typeface="+mn-ea"/>
          <a:cs typeface="+mn-cs"/>
        </a:defRPr>
      </a:pPr>
      <a:endParaRPr lang="es-CO"/>
    </a:p>
  </c:txPr>
  <c:externalData r:id="rId4">
    <c:autoUpdate val="0"/>
  </c:externalData>
</c:chartSpace>
</file>

<file path=ppt/charts/chart7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s-CO" b="1" noProof="0"/>
              <a:t>Ingresos </a:t>
            </a:r>
            <a:r>
              <a:rPr lang="es-CO" b="1" baseline="0" noProof="0"/>
              <a:t> de paciente Año 2025/2026</a:t>
            </a:r>
            <a:endParaRPr lang="es-CO" b="1" noProof="0"/>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1"/>
          <c:order val="0"/>
          <c:tx>
            <c:strRef>
              <c:f>Ingreso!$C$84</c:f>
              <c:strCache>
                <c:ptCount val="1"/>
                <c:pt idx="0">
                  <c:v>2025</c:v>
                </c:pt>
              </c:strCache>
            </c:strRef>
          </c:tx>
          <c:spPr>
            <a:solidFill>
              <a:schemeClr val="tx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s-CO"/>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Ingreso!$A$85:$A$96</c:f>
              <c:strCache>
                <c:ptCount val="12"/>
                <c:pt idx="0">
                  <c:v>Enero</c:v>
                </c:pt>
                <c:pt idx="1">
                  <c:v>Febrero</c:v>
                </c:pt>
                <c:pt idx="2">
                  <c:v>Marzo</c:v>
                </c:pt>
                <c:pt idx="3">
                  <c:v>Abril</c:v>
                </c:pt>
                <c:pt idx="4">
                  <c:v>Mayo</c:v>
                </c:pt>
                <c:pt idx="5">
                  <c:v>Junio</c:v>
                </c:pt>
                <c:pt idx="6">
                  <c:v>Julio</c:v>
                </c:pt>
                <c:pt idx="7">
                  <c:v>Agosto</c:v>
                </c:pt>
                <c:pt idx="8">
                  <c:v>Septiembre</c:v>
                </c:pt>
                <c:pt idx="9">
                  <c:v>Octubre</c:v>
                </c:pt>
                <c:pt idx="10">
                  <c:v>Noviembre</c:v>
                </c:pt>
                <c:pt idx="11">
                  <c:v>Diciembre</c:v>
                </c:pt>
              </c:strCache>
            </c:strRef>
          </c:cat>
          <c:val>
            <c:numRef>
              <c:f>Ingreso!$C$85:$C$96</c:f>
              <c:numCache>
                <c:formatCode>General</c:formatCode>
                <c:ptCount val="12"/>
                <c:pt idx="0">
                  <c:v>34</c:v>
                </c:pt>
                <c:pt idx="1">
                  <c:v>35</c:v>
                </c:pt>
                <c:pt idx="2">
                  <c:v>37</c:v>
                </c:pt>
                <c:pt idx="3">
                  <c:v>31</c:v>
                </c:pt>
                <c:pt idx="4">
                  <c:v>32</c:v>
                </c:pt>
                <c:pt idx="5">
                  <c:v>45</c:v>
                </c:pt>
                <c:pt idx="6">
                  <c:v>41</c:v>
                </c:pt>
                <c:pt idx="7">
                  <c:v>21</c:v>
                </c:pt>
                <c:pt idx="8">
                  <c:v>39</c:v>
                </c:pt>
                <c:pt idx="9">
                  <c:v>32</c:v>
                </c:pt>
                <c:pt idx="10">
                  <c:v>32</c:v>
                </c:pt>
                <c:pt idx="11">
                  <c:v>32</c:v>
                </c:pt>
              </c:numCache>
            </c:numRef>
          </c:val>
          <c:extLst>
            <c:ext xmlns:c16="http://schemas.microsoft.com/office/drawing/2014/chart" uri="{C3380CC4-5D6E-409C-BE32-E72D297353CC}">
              <c16:uniqueId val="{00000001-3812-44B1-88E9-C14EF24050BD}"/>
            </c:ext>
          </c:extLst>
        </c:ser>
        <c:ser>
          <c:idx val="2"/>
          <c:order val="1"/>
          <c:tx>
            <c:strRef>
              <c:f>Ingreso!$D$84</c:f>
              <c:strCache>
                <c:ptCount val="1"/>
                <c:pt idx="0">
                  <c:v>2026</c:v>
                </c:pt>
              </c:strCache>
            </c:strRef>
          </c:tx>
          <c:spPr>
            <a:solidFill>
              <a:srgbClr val="45A9A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s-CO"/>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Ingreso!$A$85:$A$96</c:f>
              <c:strCache>
                <c:ptCount val="12"/>
                <c:pt idx="0">
                  <c:v>Enero</c:v>
                </c:pt>
                <c:pt idx="1">
                  <c:v>Febrero</c:v>
                </c:pt>
                <c:pt idx="2">
                  <c:v>Marzo</c:v>
                </c:pt>
                <c:pt idx="3">
                  <c:v>Abril</c:v>
                </c:pt>
                <c:pt idx="4">
                  <c:v>Mayo</c:v>
                </c:pt>
                <c:pt idx="5">
                  <c:v>Junio</c:v>
                </c:pt>
                <c:pt idx="6">
                  <c:v>Julio</c:v>
                </c:pt>
                <c:pt idx="7">
                  <c:v>Agosto</c:v>
                </c:pt>
                <c:pt idx="8">
                  <c:v>Septiembre</c:v>
                </c:pt>
                <c:pt idx="9">
                  <c:v>Octubre</c:v>
                </c:pt>
                <c:pt idx="10">
                  <c:v>Noviembre</c:v>
                </c:pt>
                <c:pt idx="11">
                  <c:v>Diciembre</c:v>
                </c:pt>
              </c:strCache>
            </c:strRef>
          </c:cat>
          <c:val>
            <c:numRef>
              <c:f>Ingreso!$D$85:$D$96</c:f>
              <c:numCache>
                <c:formatCode>General</c:formatCode>
                <c:ptCount val="12"/>
                <c:pt idx="0">
                  <c:v>24</c:v>
                </c:pt>
                <c:pt idx="1">
                  <c:v>35</c:v>
                </c:pt>
                <c:pt idx="2">
                  <c:v>48</c:v>
                </c:pt>
                <c:pt idx="3">
                  <c:v>32</c:v>
                </c:pt>
                <c:pt idx="4">
                  <c:v>51</c:v>
                </c:pt>
                <c:pt idx="5">
                  <c:v>38</c:v>
                </c:pt>
                <c:pt idx="6">
                  <c:v>41</c:v>
                </c:pt>
                <c:pt idx="7">
                  <c:v>27</c:v>
                </c:pt>
                <c:pt idx="8">
                  <c:v>32</c:v>
                </c:pt>
              </c:numCache>
            </c:numRef>
          </c:val>
          <c:extLst>
            <c:ext xmlns:c16="http://schemas.microsoft.com/office/drawing/2014/chart" uri="{C3380CC4-5D6E-409C-BE32-E72D297353CC}">
              <c16:uniqueId val="{00000002-3812-44B1-88E9-C14EF24050BD}"/>
            </c:ext>
          </c:extLst>
        </c:ser>
        <c:dLbls>
          <c:showLegendKey val="0"/>
          <c:showVal val="0"/>
          <c:showCatName val="0"/>
          <c:showSerName val="0"/>
          <c:showPercent val="0"/>
          <c:showBubbleSize val="0"/>
        </c:dLbls>
        <c:gapWidth val="219"/>
        <c:axId val="161892223"/>
        <c:axId val="161887903"/>
      </c:barChart>
      <c:lineChart>
        <c:grouping val="standard"/>
        <c:varyColors val="0"/>
        <c:ser>
          <c:idx val="4"/>
          <c:order val="2"/>
          <c:tx>
            <c:strRef>
              <c:f>Ingreso!$F$84</c:f>
              <c:strCache>
                <c:ptCount val="1"/>
                <c:pt idx="0">
                  <c:v>Tasa 2025</c:v>
                </c:pt>
              </c:strCache>
            </c:strRef>
          </c:tx>
          <c:spPr>
            <a:ln w="28575" cap="rnd">
              <a:solidFill>
                <a:schemeClr val="tx1"/>
              </a:solidFill>
              <a:round/>
            </a:ln>
            <a:effectLst/>
          </c:spPr>
          <c:marker>
            <c:symbol val="none"/>
          </c:marker>
          <c:dLbls>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leftArrow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Ingreso!$A$85:$A$96</c:f>
              <c:strCache>
                <c:ptCount val="12"/>
                <c:pt idx="0">
                  <c:v>Enero</c:v>
                </c:pt>
                <c:pt idx="1">
                  <c:v>Febrero</c:v>
                </c:pt>
                <c:pt idx="2">
                  <c:v>Marzo</c:v>
                </c:pt>
                <c:pt idx="3">
                  <c:v>Abril</c:v>
                </c:pt>
                <c:pt idx="4">
                  <c:v>Mayo</c:v>
                </c:pt>
                <c:pt idx="5">
                  <c:v>Junio</c:v>
                </c:pt>
                <c:pt idx="6">
                  <c:v>Julio</c:v>
                </c:pt>
                <c:pt idx="7">
                  <c:v>Agosto</c:v>
                </c:pt>
                <c:pt idx="8">
                  <c:v>Septiembre</c:v>
                </c:pt>
                <c:pt idx="9">
                  <c:v>Octubre</c:v>
                </c:pt>
                <c:pt idx="10">
                  <c:v>Noviembre</c:v>
                </c:pt>
                <c:pt idx="11">
                  <c:v>Diciembre</c:v>
                </c:pt>
              </c:strCache>
            </c:strRef>
          </c:cat>
          <c:val>
            <c:numRef>
              <c:f>Ingreso!$F$85:$F$96</c:f>
              <c:numCache>
                <c:formatCode>General</c:formatCode>
                <c:ptCount val="12"/>
                <c:pt idx="0">
                  <c:v>37.6</c:v>
                </c:pt>
                <c:pt idx="1">
                  <c:v>38.700000000000003</c:v>
                </c:pt>
                <c:pt idx="2">
                  <c:v>40.9</c:v>
                </c:pt>
                <c:pt idx="3">
                  <c:v>34.299999999999997</c:v>
                </c:pt>
                <c:pt idx="4">
                  <c:v>35.4</c:v>
                </c:pt>
                <c:pt idx="5">
                  <c:v>49.7</c:v>
                </c:pt>
                <c:pt idx="6">
                  <c:v>45.3</c:v>
                </c:pt>
                <c:pt idx="7">
                  <c:v>23.2</c:v>
                </c:pt>
                <c:pt idx="8">
                  <c:v>43.1</c:v>
                </c:pt>
                <c:pt idx="9">
                  <c:v>35.4</c:v>
                </c:pt>
                <c:pt idx="10">
                  <c:v>35.4</c:v>
                </c:pt>
                <c:pt idx="11">
                  <c:v>35.4</c:v>
                </c:pt>
              </c:numCache>
            </c:numRef>
          </c:val>
          <c:smooth val="0"/>
          <c:extLst>
            <c:ext xmlns:c16="http://schemas.microsoft.com/office/drawing/2014/chart" uri="{C3380CC4-5D6E-409C-BE32-E72D297353CC}">
              <c16:uniqueId val="{00000004-3812-44B1-88E9-C14EF24050BD}"/>
            </c:ext>
          </c:extLst>
        </c:ser>
        <c:ser>
          <c:idx val="5"/>
          <c:order val="3"/>
          <c:tx>
            <c:strRef>
              <c:f>Ingreso!$G$84</c:f>
              <c:strCache>
                <c:ptCount val="1"/>
                <c:pt idx="0">
                  <c:v>Tasa 2026</c:v>
                </c:pt>
              </c:strCache>
            </c:strRef>
          </c:tx>
          <c:spPr>
            <a:ln w="28575" cap="rnd">
              <a:solidFill>
                <a:srgbClr val="4FA9A7"/>
              </a:solidFill>
              <a:round/>
            </a:ln>
            <a:effectLst/>
          </c:spPr>
          <c:marker>
            <c:symbol val="none"/>
          </c:marker>
          <c:dLbls>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rgbClr val="45A9A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leftArrow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Ingreso!$A$85:$A$96</c:f>
              <c:strCache>
                <c:ptCount val="12"/>
                <c:pt idx="0">
                  <c:v>Enero</c:v>
                </c:pt>
                <c:pt idx="1">
                  <c:v>Febrero</c:v>
                </c:pt>
                <c:pt idx="2">
                  <c:v>Marzo</c:v>
                </c:pt>
                <c:pt idx="3">
                  <c:v>Abril</c:v>
                </c:pt>
                <c:pt idx="4">
                  <c:v>Mayo</c:v>
                </c:pt>
                <c:pt idx="5">
                  <c:v>Junio</c:v>
                </c:pt>
                <c:pt idx="6">
                  <c:v>Julio</c:v>
                </c:pt>
                <c:pt idx="7">
                  <c:v>Agosto</c:v>
                </c:pt>
                <c:pt idx="8">
                  <c:v>Septiembre</c:v>
                </c:pt>
                <c:pt idx="9">
                  <c:v>Octubre</c:v>
                </c:pt>
                <c:pt idx="10">
                  <c:v>Noviembre</c:v>
                </c:pt>
                <c:pt idx="11">
                  <c:v>Diciembre</c:v>
                </c:pt>
              </c:strCache>
            </c:strRef>
          </c:cat>
          <c:val>
            <c:numRef>
              <c:f>Ingreso!$G$85:$G$96</c:f>
              <c:numCache>
                <c:formatCode>0.0</c:formatCode>
                <c:ptCount val="12"/>
                <c:pt idx="0" formatCode="General">
                  <c:v>24.3</c:v>
                </c:pt>
                <c:pt idx="1">
                  <c:v>38.672751179518912</c:v>
                </c:pt>
                <c:pt idx="2">
                  <c:v>53.036915903340216</c:v>
                </c:pt>
                <c:pt idx="3">
                  <c:v>35.357943935560144</c:v>
                </c:pt>
                <c:pt idx="4">
                  <c:v>56.351723147298991</c:v>
                </c:pt>
                <c:pt idx="5">
                  <c:v>41.98755842347768</c:v>
                </c:pt>
                <c:pt idx="6">
                  <c:v>45.30236566743644</c:v>
                </c:pt>
                <c:pt idx="7">
                  <c:v>29.833265195628876</c:v>
                </c:pt>
                <c:pt idx="8">
                  <c:v>35.357943935560144</c:v>
                </c:pt>
              </c:numCache>
            </c:numRef>
          </c:val>
          <c:smooth val="0"/>
          <c:extLst>
            <c:ext xmlns:c16="http://schemas.microsoft.com/office/drawing/2014/chart" uri="{C3380CC4-5D6E-409C-BE32-E72D297353CC}">
              <c16:uniqueId val="{00000005-3812-44B1-88E9-C14EF24050BD}"/>
            </c:ext>
          </c:extLst>
        </c:ser>
        <c:dLbls>
          <c:showLegendKey val="0"/>
          <c:showVal val="0"/>
          <c:showCatName val="0"/>
          <c:showSerName val="0"/>
          <c:showPercent val="0"/>
          <c:showBubbleSize val="0"/>
        </c:dLbls>
        <c:marker val="1"/>
        <c:smooth val="0"/>
        <c:axId val="161892223"/>
        <c:axId val="161887903"/>
      </c:lineChart>
      <c:catAx>
        <c:axId val="1618922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61887903"/>
        <c:crosses val="autoZero"/>
        <c:auto val="1"/>
        <c:lblAlgn val="ctr"/>
        <c:lblOffset val="100"/>
        <c:noMultiLvlLbl val="0"/>
      </c:catAx>
      <c:valAx>
        <c:axId val="16188790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618922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7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1" i="0" u="none" strike="noStrike" kern="1200" spc="0" baseline="0">
                <a:solidFill>
                  <a:schemeClr val="tx1">
                    <a:lumMod val="65000"/>
                    <a:lumOff val="35000"/>
                  </a:schemeClr>
                </a:solidFill>
                <a:latin typeface="+mn-lt"/>
                <a:ea typeface="+mn-ea"/>
                <a:cs typeface="+mn-cs"/>
              </a:defRPr>
            </a:pPr>
            <a:r>
              <a:rPr lang="es-CO" b="1" noProof="0"/>
              <a:t>Incidencia </a:t>
            </a:r>
            <a:r>
              <a:rPr lang="es-CO" b="1" baseline="0" noProof="0"/>
              <a:t>año 2024/2025</a:t>
            </a:r>
            <a:endParaRPr lang="es-CO" b="1" noProof="0"/>
          </a:p>
        </c:rich>
      </c:tx>
      <c:overlay val="0"/>
      <c:spPr>
        <a:noFill/>
        <a:ln>
          <a:noFill/>
        </a:ln>
        <a:effectLst/>
      </c:spPr>
      <c:txPr>
        <a:bodyPr rot="0" spcFirstLastPara="1" vertOverflow="ellipsis" vert="horz" wrap="square" anchor="ctr" anchorCtr="1"/>
        <a:lstStyle/>
        <a:p>
          <a:pPr>
            <a:defRPr sz="1862" b="1"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1"/>
          <c:order val="0"/>
          <c:tx>
            <c:strRef>
              <c:f>Hoja1!$C$1</c:f>
              <c:strCache>
                <c:ptCount val="1"/>
                <c:pt idx="0">
                  <c:v>2025</c:v>
                </c:pt>
              </c:strCache>
            </c:strRef>
          </c:tx>
          <c:spPr>
            <a:solidFill>
              <a:srgbClr val="00A19C"/>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s-CO"/>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Hoja1!$A$2:$A$14</c:f>
              <c:strCache>
                <c:ptCount val="12"/>
                <c:pt idx="0">
                  <c:v>Enero</c:v>
                </c:pt>
                <c:pt idx="1">
                  <c:v>Febrero</c:v>
                </c:pt>
                <c:pt idx="2">
                  <c:v>Marzo</c:v>
                </c:pt>
                <c:pt idx="3">
                  <c:v>Abril</c:v>
                </c:pt>
                <c:pt idx="4">
                  <c:v>Mayo</c:v>
                </c:pt>
                <c:pt idx="5">
                  <c:v>Junio</c:v>
                </c:pt>
                <c:pt idx="6">
                  <c:v>Julio</c:v>
                </c:pt>
                <c:pt idx="7">
                  <c:v>Agosto</c:v>
                </c:pt>
                <c:pt idx="8">
                  <c:v>Septiembre</c:v>
                </c:pt>
                <c:pt idx="9">
                  <c:v>Octubre</c:v>
                </c:pt>
                <c:pt idx="10">
                  <c:v>Noviembre</c:v>
                </c:pt>
                <c:pt idx="11">
                  <c:v>Diciembre</c:v>
                </c:pt>
              </c:strCache>
            </c:strRef>
          </c:cat>
          <c:val>
            <c:numRef>
              <c:f>Hoja1!$C$2:$C$14</c:f>
              <c:numCache>
                <c:formatCode>General</c:formatCode>
                <c:ptCount val="13"/>
                <c:pt idx="0">
                  <c:v>18</c:v>
                </c:pt>
                <c:pt idx="1">
                  <c:v>32</c:v>
                </c:pt>
                <c:pt idx="2">
                  <c:v>32</c:v>
                </c:pt>
                <c:pt idx="3">
                  <c:v>18</c:v>
                </c:pt>
                <c:pt idx="4">
                  <c:v>25</c:v>
                </c:pt>
                <c:pt idx="5">
                  <c:v>34</c:v>
                </c:pt>
                <c:pt idx="6">
                  <c:v>29</c:v>
                </c:pt>
                <c:pt idx="7">
                  <c:v>17</c:v>
                </c:pt>
                <c:pt idx="8">
                  <c:v>34</c:v>
                </c:pt>
                <c:pt idx="9">
                  <c:v>28</c:v>
                </c:pt>
                <c:pt idx="10">
                  <c:v>30</c:v>
                </c:pt>
                <c:pt idx="11">
                  <c:v>19</c:v>
                </c:pt>
              </c:numCache>
            </c:numRef>
          </c:val>
          <c:extLst>
            <c:ext xmlns:c16="http://schemas.microsoft.com/office/drawing/2014/chart" uri="{C3380CC4-5D6E-409C-BE32-E72D297353CC}">
              <c16:uniqueId val="{00000001-717B-4EDE-A99C-6D4C3ED72D8E}"/>
            </c:ext>
          </c:extLst>
        </c:ser>
        <c:ser>
          <c:idx val="2"/>
          <c:order val="1"/>
          <c:tx>
            <c:strRef>
              <c:f>Hoja1!$D$1</c:f>
              <c:strCache>
                <c:ptCount val="1"/>
                <c:pt idx="0">
                  <c:v>2026</c:v>
                </c:pt>
              </c:strCache>
            </c:strRef>
          </c:tx>
          <c:spPr>
            <a:solidFill>
              <a:schemeClr val="tx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s-CO"/>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Hoja1!$A$2:$A$14</c:f>
              <c:strCache>
                <c:ptCount val="12"/>
                <c:pt idx="0">
                  <c:v>Enero</c:v>
                </c:pt>
                <c:pt idx="1">
                  <c:v>Febrero</c:v>
                </c:pt>
                <c:pt idx="2">
                  <c:v>Marzo</c:v>
                </c:pt>
                <c:pt idx="3">
                  <c:v>Abril</c:v>
                </c:pt>
                <c:pt idx="4">
                  <c:v>Mayo</c:v>
                </c:pt>
                <c:pt idx="5">
                  <c:v>Junio</c:v>
                </c:pt>
                <c:pt idx="6">
                  <c:v>Julio</c:v>
                </c:pt>
                <c:pt idx="7">
                  <c:v>Agosto</c:v>
                </c:pt>
                <c:pt idx="8">
                  <c:v>Septiembre</c:v>
                </c:pt>
                <c:pt idx="9">
                  <c:v>Octubre</c:v>
                </c:pt>
                <c:pt idx="10">
                  <c:v>Noviembre</c:v>
                </c:pt>
                <c:pt idx="11">
                  <c:v>Diciembre</c:v>
                </c:pt>
              </c:strCache>
            </c:strRef>
          </c:cat>
          <c:val>
            <c:numRef>
              <c:f>Hoja1!$D$2:$D$14</c:f>
              <c:numCache>
                <c:formatCode>General</c:formatCode>
                <c:ptCount val="13"/>
                <c:pt idx="0">
                  <c:v>8</c:v>
                </c:pt>
                <c:pt idx="1">
                  <c:v>21</c:v>
                </c:pt>
                <c:pt idx="2">
                  <c:v>32</c:v>
                </c:pt>
                <c:pt idx="3">
                  <c:v>26</c:v>
                </c:pt>
                <c:pt idx="4">
                  <c:v>43</c:v>
                </c:pt>
                <c:pt idx="5">
                  <c:v>26</c:v>
                </c:pt>
                <c:pt idx="6">
                  <c:v>34</c:v>
                </c:pt>
                <c:pt idx="7">
                  <c:v>24</c:v>
                </c:pt>
                <c:pt idx="8">
                  <c:v>29</c:v>
                </c:pt>
              </c:numCache>
            </c:numRef>
          </c:val>
          <c:extLst>
            <c:ext xmlns:c16="http://schemas.microsoft.com/office/drawing/2014/chart" uri="{C3380CC4-5D6E-409C-BE32-E72D297353CC}">
              <c16:uniqueId val="{00000002-717B-4EDE-A99C-6D4C3ED72D8E}"/>
            </c:ext>
          </c:extLst>
        </c:ser>
        <c:dLbls>
          <c:showLegendKey val="0"/>
          <c:showVal val="0"/>
          <c:showCatName val="0"/>
          <c:showSerName val="0"/>
          <c:showPercent val="0"/>
          <c:showBubbleSize val="0"/>
        </c:dLbls>
        <c:gapWidth val="219"/>
        <c:axId val="767574176"/>
        <c:axId val="767575616"/>
      </c:barChart>
      <c:lineChart>
        <c:grouping val="standard"/>
        <c:varyColors val="0"/>
        <c:ser>
          <c:idx val="4"/>
          <c:order val="2"/>
          <c:tx>
            <c:strRef>
              <c:f>Hoja1!$F$1</c:f>
              <c:strCache>
                <c:ptCount val="1"/>
                <c:pt idx="0">
                  <c:v>Tasa 2025</c:v>
                </c:pt>
              </c:strCache>
            </c:strRef>
          </c:tx>
          <c:spPr>
            <a:ln w="28575" cap="rnd">
              <a:solidFill>
                <a:srgbClr val="00A19C"/>
              </a:solidFill>
              <a:round/>
            </a:ln>
            <a:effectLst/>
          </c:spPr>
          <c:marker>
            <c:symbol val="none"/>
          </c:marker>
          <c:dLbls>
            <c:spPr>
              <a:solidFill>
                <a:schemeClr val="lt1"/>
              </a:solidFill>
              <a:ln>
                <a:solidFill>
                  <a:srgbClr val="00A19C"/>
                </a:solidFill>
              </a:ln>
              <a:effectLst/>
            </c:spPr>
            <c:txPr>
              <a:bodyPr rot="0" spcFirstLastPara="1" vertOverflow="clip" horzOverflow="clip" vert="horz" wrap="square" lIns="36576" tIns="18288" rIns="36576" bIns="18288" anchor="ctr" anchorCtr="1">
                <a:spAutoFit/>
              </a:bodyPr>
              <a:lstStyle/>
              <a:p>
                <a:pPr>
                  <a:defRPr sz="1197" b="1" i="0" u="none" strike="noStrike" kern="1200" baseline="0">
                    <a:solidFill>
                      <a:srgbClr val="00A19C"/>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leftArrow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Hoja1!$A$2:$A$14</c:f>
              <c:strCache>
                <c:ptCount val="12"/>
                <c:pt idx="0">
                  <c:v>Enero</c:v>
                </c:pt>
                <c:pt idx="1">
                  <c:v>Febrero</c:v>
                </c:pt>
                <c:pt idx="2">
                  <c:v>Marzo</c:v>
                </c:pt>
                <c:pt idx="3">
                  <c:v>Abril</c:v>
                </c:pt>
                <c:pt idx="4">
                  <c:v>Mayo</c:v>
                </c:pt>
                <c:pt idx="5">
                  <c:v>Junio</c:v>
                </c:pt>
                <c:pt idx="6">
                  <c:v>Julio</c:v>
                </c:pt>
                <c:pt idx="7">
                  <c:v>Agosto</c:v>
                </c:pt>
                <c:pt idx="8">
                  <c:v>Septiembre</c:v>
                </c:pt>
                <c:pt idx="9">
                  <c:v>Octubre</c:v>
                </c:pt>
                <c:pt idx="10">
                  <c:v>Noviembre</c:v>
                </c:pt>
                <c:pt idx="11">
                  <c:v>Diciembre</c:v>
                </c:pt>
              </c:strCache>
            </c:strRef>
          </c:cat>
          <c:val>
            <c:numRef>
              <c:f>Hoja1!$F$2:$F$14</c:f>
              <c:numCache>
                <c:formatCode>0.0</c:formatCode>
                <c:ptCount val="13"/>
                <c:pt idx="0">
                  <c:v>19.888843463752583</c:v>
                </c:pt>
                <c:pt idx="1">
                  <c:v>35.357943935560144</c:v>
                </c:pt>
                <c:pt idx="2">
                  <c:v>35.357943935560144</c:v>
                </c:pt>
                <c:pt idx="3">
                  <c:v>19.888843463752583</c:v>
                </c:pt>
                <c:pt idx="4">
                  <c:v>27.623393699656365</c:v>
                </c:pt>
                <c:pt idx="5">
                  <c:v>37.567815431532658</c:v>
                </c:pt>
                <c:pt idx="6">
                  <c:v>32.043136691601383</c:v>
                </c:pt>
                <c:pt idx="7">
                  <c:v>18.783907715766329</c:v>
                </c:pt>
                <c:pt idx="8">
                  <c:v>37.567815431532658</c:v>
                </c:pt>
                <c:pt idx="9">
                  <c:v>30.938200943615126</c:v>
                </c:pt>
                <c:pt idx="10">
                  <c:v>33.148072439587636</c:v>
                </c:pt>
                <c:pt idx="11">
                  <c:v>20.99377921173884</c:v>
                </c:pt>
              </c:numCache>
            </c:numRef>
          </c:val>
          <c:smooth val="0"/>
          <c:extLst>
            <c:ext xmlns:c16="http://schemas.microsoft.com/office/drawing/2014/chart" uri="{C3380CC4-5D6E-409C-BE32-E72D297353CC}">
              <c16:uniqueId val="{00000000-570C-409E-ABBB-3346F26C9911}"/>
            </c:ext>
          </c:extLst>
        </c:ser>
        <c:ser>
          <c:idx val="5"/>
          <c:order val="3"/>
          <c:tx>
            <c:strRef>
              <c:f>Hoja1!$G$1</c:f>
              <c:strCache>
                <c:ptCount val="1"/>
                <c:pt idx="0">
                  <c:v>Tasa 2026</c:v>
                </c:pt>
              </c:strCache>
            </c:strRef>
          </c:tx>
          <c:spPr>
            <a:ln w="28575" cap="rnd">
              <a:solidFill>
                <a:schemeClr val="tx1"/>
              </a:solidFill>
              <a:round/>
            </a:ln>
            <a:effectLst/>
          </c:spPr>
          <c:marker>
            <c:symbol val="none"/>
          </c:marker>
          <c:dLbls>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leftArrow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Hoja1!$A$2:$A$14</c:f>
              <c:strCache>
                <c:ptCount val="12"/>
                <c:pt idx="0">
                  <c:v>Enero</c:v>
                </c:pt>
                <c:pt idx="1">
                  <c:v>Febrero</c:v>
                </c:pt>
                <c:pt idx="2">
                  <c:v>Marzo</c:v>
                </c:pt>
                <c:pt idx="3">
                  <c:v>Abril</c:v>
                </c:pt>
                <c:pt idx="4">
                  <c:v>Mayo</c:v>
                </c:pt>
                <c:pt idx="5">
                  <c:v>Junio</c:v>
                </c:pt>
                <c:pt idx="6">
                  <c:v>Julio</c:v>
                </c:pt>
                <c:pt idx="7">
                  <c:v>Agosto</c:v>
                </c:pt>
                <c:pt idx="8">
                  <c:v>Septiembre</c:v>
                </c:pt>
                <c:pt idx="9">
                  <c:v>Octubre</c:v>
                </c:pt>
                <c:pt idx="10">
                  <c:v>Noviembre</c:v>
                </c:pt>
                <c:pt idx="11">
                  <c:v>Diciembre</c:v>
                </c:pt>
              </c:strCache>
            </c:strRef>
          </c:cat>
          <c:val>
            <c:numRef>
              <c:f>Hoja1!$G$2:$G$14</c:f>
              <c:numCache>
                <c:formatCode>0.0</c:formatCode>
                <c:ptCount val="13"/>
                <c:pt idx="0">
                  <c:v>8.8394859838900359</c:v>
                </c:pt>
                <c:pt idx="1">
                  <c:v>23.203650707711347</c:v>
                </c:pt>
                <c:pt idx="2">
                  <c:v>35.357943935560144</c:v>
                </c:pt>
                <c:pt idx="3">
                  <c:v>28.728329447642619</c:v>
                </c:pt>
                <c:pt idx="4">
                  <c:v>47.512237163408948</c:v>
                </c:pt>
                <c:pt idx="5">
                  <c:v>28.728329447642619</c:v>
                </c:pt>
                <c:pt idx="6">
                  <c:v>37.567815431532658</c:v>
                </c:pt>
                <c:pt idx="7">
                  <c:v>26.518457951670108</c:v>
                </c:pt>
                <c:pt idx="8">
                  <c:v>32.043136691601383</c:v>
                </c:pt>
              </c:numCache>
            </c:numRef>
          </c:val>
          <c:smooth val="0"/>
          <c:extLst>
            <c:ext xmlns:c16="http://schemas.microsoft.com/office/drawing/2014/chart" uri="{C3380CC4-5D6E-409C-BE32-E72D297353CC}">
              <c16:uniqueId val="{00000001-570C-409E-ABBB-3346F26C9911}"/>
            </c:ext>
          </c:extLst>
        </c:ser>
        <c:dLbls>
          <c:showLegendKey val="0"/>
          <c:showVal val="0"/>
          <c:showCatName val="0"/>
          <c:showSerName val="0"/>
          <c:showPercent val="0"/>
          <c:showBubbleSize val="0"/>
        </c:dLbls>
        <c:marker val="1"/>
        <c:smooth val="0"/>
        <c:axId val="767574176"/>
        <c:axId val="767575616"/>
      </c:lineChart>
      <c:catAx>
        <c:axId val="767574176"/>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s-CO" noProof="0"/>
                  <a:t>Casos</a:t>
                </a:r>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s-CO"/>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767575616"/>
        <c:crosses val="autoZero"/>
        <c:auto val="1"/>
        <c:lblAlgn val="ctr"/>
        <c:lblOffset val="100"/>
        <c:noMultiLvlLbl val="0"/>
      </c:catAx>
      <c:valAx>
        <c:axId val="76757561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s-CO" b="1" noProof="0" err="1">
                    <a:solidFill>
                      <a:srgbClr val="6B6B6B"/>
                    </a:solidFill>
                  </a:rPr>
                  <a:t>N°</a:t>
                </a:r>
                <a:r>
                  <a:rPr lang="es-CO" b="1" noProof="0">
                    <a:solidFill>
                      <a:srgbClr val="6B6B6B"/>
                    </a:solidFill>
                  </a:rPr>
                  <a:t> pacientes</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s-CO"/>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7675741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s-CO"/>
    </a:p>
  </c:txPr>
  <c:externalData r:id="rId3">
    <c:autoUpdate val="0"/>
  </c:externalData>
</c:chartSpace>
</file>

<file path=ppt/charts/chart7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r>
              <a:rPr lang="es-CO" sz="1600" b="1" noProof="0"/>
              <a:t>Prevalencia Sanitas 2025/2026</a:t>
            </a:r>
          </a:p>
        </c:rich>
      </c:tx>
      <c:layout>
        <c:manualLayout>
          <c:xMode val="edge"/>
          <c:yMode val="edge"/>
          <c:x val="0.3892807030517092"/>
          <c:y val="4.8976851121941924E-2"/>
        </c:manualLayout>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Prevalencia!$G$58</c:f>
              <c:strCache>
                <c:ptCount val="1"/>
                <c:pt idx="0">
                  <c:v>2025</c:v>
                </c:pt>
              </c:strCache>
            </c:strRef>
          </c:tx>
          <c:spPr>
            <a:solidFill>
              <a:srgbClr val="45A9A7"/>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bg1"/>
                    </a:solidFill>
                    <a:latin typeface="+mn-lt"/>
                    <a:ea typeface="+mn-ea"/>
                    <a:cs typeface="+mn-cs"/>
                  </a:defRPr>
                </a:pPr>
                <a:endParaRPr lang="es-CO"/>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Prevalencia!$E$59:$E$70</c:f>
              <c:strCache>
                <c:ptCount val="12"/>
                <c:pt idx="0">
                  <c:v>enero </c:v>
                </c:pt>
                <c:pt idx="1">
                  <c:v>feb</c:v>
                </c:pt>
                <c:pt idx="2">
                  <c:v>mar</c:v>
                </c:pt>
                <c:pt idx="3">
                  <c:v>abr</c:v>
                </c:pt>
                <c:pt idx="4">
                  <c:v>may</c:v>
                </c:pt>
                <c:pt idx="5">
                  <c:v>jun</c:v>
                </c:pt>
                <c:pt idx="6">
                  <c:v>jul</c:v>
                </c:pt>
                <c:pt idx="7">
                  <c:v>ago</c:v>
                </c:pt>
                <c:pt idx="8">
                  <c:v>sep</c:v>
                </c:pt>
                <c:pt idx="9">
                  <c:v>oct</c:v>
                </c:pt>
                <c:pt idx="10">
                  <c:v>nov</c:v>
                </c:pt>
                <c:pt idx="11">
                  <c:v>dic</c:v>
                </c:pt>
              </c:strCache>
            </c:strRef>
          </c:cat>
          <c:val>
            <c:numRef>
              <c:f>Prevalencia!$G$59:$G$70</c:f>
              <c:numCache>
                <c:formatCode>General</c:formatCode>
                <c:ptCount val="12"/>
                <c:pt idx="0">
                  <c:v>1501</c:v>
                </c:pt>
                <c:pt idx="1">
                  <c:v>1536</c:v>
                </c:pt>
                <c:pt idx="2">
                  <c:v>1573</c:v>
                </c:pt>
                <c:pt idx="3">
                  <c:v>1604</c:v>
                </c:pt>
                <c:pt idx="4">
                  <c:v>1636</c:v>
                </c:pt>
                <c:pt idx="5">
                  <c:v>1681</c:v>
                </c:pt>
                <c:pt idx="6">
                  <c:v>1722</c:v>
                </c:pt>
                <c:pt idx="7">
                  <c:v>1743</c:v>
                </c:pt>
                <c:pt idx="8">
                  <c:v>1782</c:v>
                </c:pt>
                <c:pt idx="9">
                  <c:v>1814</c:v>
                </c:pt>
                <c:pt idx="10">
                  <c:v>1846</c:v>
                </c:pt>
                <c:pt idx="11">
                  <c:v>1880</c:v>
                </c:pt>
              </c:numCache>
            </c:numRef>
          </c:val>
          <c:extLst>
            <c:ext xmlns:c16="http://schemas.microsoft.com/office/drawing/2014/chart" uri="{C3380CC4-5D6E-409C-BE32-E72D297353CC}">
              <c16:uniqueId val="{00000000-4F01-4F75-8E90-4C3DBB9050D3}"/>
            </c:ext>
          </c:extLst>
        </c:ser>
        <c:ser>
          <c:idx val="1"/>
          <c:order val="1"/>
          <c:tx>
            <c:strRef>
              <c:f>Prevalencia!$H$58</c:f>
              <c:strCache>
                <c:ptCount val="1"/>
                <c:pt idx="0">
                  <c:v>2026</c:v>
                </c:pt>
              </c:strCache>
            </c:strRef>
          </c:tx>
          <c:spPr>
            <a:solidFill>
              <a:srgbClr val="8158A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mn-lt"/>
                    <a:ea typeface="+mn-ea"/>
                    <a:cs typeface="+mn-cs"/>
                  </a:defRPr>
                </a:pPr>
                <a:endParaRPr lang="es-CO"/>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Prevalencia!$E$59:$E$70</c:f>
              <c:strCache>
                <c:ptCount val="12"/>
                <c:pt idx="0">
                  <c:v>enero </c:v>
                </c:pt>
                <c:pt idx="1">
                  <c:v>feb</c:v>
                </c:pt>
                <c:pt idx="2">
                  <c:v>mar</c:v>
                </c:pt>
                <c:pt idx="3">
                  <c:v>abr</c:v>
                </c:pt>
                <c:pt idx="4">
                  <c:v>may</c:v>
                </c:pt>
                <c:pt idx="5">
                  <c:v>jun</c:v>
                </c:pt>
                <c:pt idx="6">
                  <c:v>jul</c:v>
                </c:pt>
                <c:pt idx="7">
                  <c:v>ago</c:v>
                </c:pt>
                <c:pt idx="8">
                  <c:v>sep</c:v>
                </c:pt>
                <c:pt idx="9">
                  <c:v>oct</c:v>
                </c:pt>
                <c:pt idx="10">
                  <c:v>nov</c:v>
                </c:pt>
                <c:pt idx="11">
                  <c:v>dic</c:v>
                </c:pt>
              </c:strCache>
            </c:strRef>
          </c:cat>
          <c:val>
            <c:numRef>
              <c:f>Prevalencia!$H$59:$H$70</c:f>
              <c:numCache>
                <c:formatCode>General</c:formatCode>
                <c:ptCount val="12"/>
                <c:pt idx="0">
                  <c:v>1756</c:v>
                </c:pt>
                <c:pt idx="1">
                  <c:v>1791</c:v>
                </c:pt>
                <c:pt idx="2">
                  <c:v>1839</c:v>
                </c:pt>
                <c:pt idx="3">
                  <c:v>1871</c:v>
                </c:pt>
                <c:pt idx="4">
                  <c:v>1922</c:v>
                </c:pt>
                <c:pt idx="5">
                  <c:v>1960</c:v>
                </c:pt>
                <c:pt idx="6">
                  <c:v>2001</c:v>
                </c:pt>
                <c:pt idx="7">
                  <c:v>2028</c:v>
                </c:pt>
                <c:pt idx="8">
                  <c:v>2060</c:v>
                </c:pt>
              </c:numCache>
            </c:numRef>
          </c:val>
          <c:extLst>
            <c:ext xmlns:c16="http://schemas.microsoft.com/office/drawing/2014/chart" uri="{C3380CC4-5D6E-409C-BE32-E72D297353CC}">
              <c16:uniqueId val="{00000001-4F01-4F75-8E90-4C3DBB9050D3}"/>
            </c:ext>
          </c:extLst>
        </c:ser>
        <c:dLbls>
          <c:showLegendKey val="0"/>
          <c:showVal val="0"/>
          <c:showCatName val="0"/>
          <c:showSerName val="0"/>
          <c:showPercent val="0"/>
          <c:showBubbleSize val="0"/>
        </c:dLbls>
        <c:gapWidth val="0"/>
        <c:overlap val="-16"/>
        <c:axId val="1220671247"/>
        <c:axId val="1220675567"/>
      </c:barChart>
      <c:lineChart>
        <c:grouping val="standard"/>
        <c:varyColors val="0"/>
        <c:ser>
          <c:idx val="2"/>
          <c:order val="2"/>
          <c:tx>
            <c:strRef>
              <c:f>Prevalencia!$I$58</c:f>
              <c:strCache>
                <c:ptCount val="1"/>
                <c:pt idx="0">
                  <c:v>Tasa de prevalencia 2025</c:v>
                </c:pt>
              </c:strCache>
            </c:strRef>
          </c:tx>
          <c:spPr>
            <a:ln w="28575" cap="rnd">
              <a:solidFill>
                <a:srgbClr val="45A9A7"/>
              </a:solidFill>
              <a:round/>
            </a:ln>
            <a:effectLst/>
          </c:spPr>
          <c:marker>
            <c:symbol val="none"/>
          </c:marker>
          <c:dLbls>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leftArrow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Prevalencia!$E$59:$E$70</c:f>
              <c:strCache>
                <c:ptCount val="12"/>
                <c:pt idx="0">
                  <c:v>enero </c:v>
                </c:pt>
                <c:pt idx="1">
                  <c:v>feb</c:v>
                </c:pt>
                <c:pt idx="2">
                  <c:v>mar</c:v>
                </c:pt>
                <c:pt idx="3">
                  <c:v>abr</c:v>
                </c:pt>
                <c:pt idx="4">
                  <c:v>may</c:v>
                </c:pt>
                <c:pt idx="5">
                  <c:v>jun</c:v>
                </c:pt>
                <c:pt idx="6">
                  <c:v>jul</c:v>
                </c:pt>
                <c:pt idx="7">
                  <c:v>ago</c:v>
                </c:pt>
                <c:pt idx="8">
                  <c:v>sep</c:v>
                </c:pt>
                <c:pt idx="9">
                  <c:v>oct</c:v>
                </c:pt>
                <c:pt idx="10">
                  <c:v>nov</c:v>
                </c:pt>
                <c:pt idx="11">
                  <c:v>dic</c:v>
                </c:pt>
              </c:strCache>
            </c:strRef>
          </c:cat>
          <c:val>
            <c:numRef>
              <c:f>Prevalencia!$I$59:$I$70</c:f>
              <c:numCache>
                <c:formatCode>0</c:formatCode>
                <c:ptCount val="12"/>
                <c:pt idx="0">
                  <c:v>1658.5085577273683</c:v>
                </c:pt>
                <c:pt idx="1">
                  <c:v>1697.1813089068869</c:v>
                </c:pt>
                <c:pt idx="2">
                  <c:v>1738.0639315823785</c:v>
                </c:pt>
                <c:pt idx="3">
                  <c:v>1772.3169397699523</c:v>
                </c:pt>
                <c:pt idx="4">
                  <c:v>1807.6748837055127</c:v>
                </c:pt>
                <c:pt idx="5">
                  <c:v>1857.3969923648942</c:v>
                </c:pt>
                <c:pt idx="6">
                  <c:v>1902.6993580323306</c:v>
                </c:pt>
                <c:pt idx="7">
                  <c:v>1925.9030087400417</c:v>
                </c:pt>
                <c:pt idx="8">
                  <c:v>1968.9955029115056</c:v>
                </c:pt>
                <c:pt idx="9">
                  <c:v>2004.3534468470659</c:v>
                </c:pt>
                <c:pt idx="10">
                  <c:v>2039.711390782626</c:v>
                </c:pt>
                <c:pt idx="11">
                  <c:v>2077.2792062141584</c:v>
                </c:pt>
              </c:numCache>
            </c:numRef>
          </c:val>
          <c:smooth val="0"/>
          <c:extLst>
            <c:ext xmlns:c16="http://schemas.microsoft.com/office/drawing/2014/chart" uri="{C3380CC4-5D6E-409C-BE32-E72D297353CC}">
              <c16:uniqueId val="{00000002-4F01-4F75-8E90-4C3DBB9050D3}"/>
            </c:ext>
          </c:extLst>
        </c:ser>
        <c:ser>
          <c:idx val="3"/>
          <c:order val="3"/>
          <c:tx>
            <c:strRef>
              <c:f>Prevalencia!$J$58</c:f>
              <c:strCache>
                <c:ptCount val="1"/>
                <c:pt idx="0">
                  <c:v>Tasa de prevalencia 2026</c:v>
                </c:pt>
              </c:strCache>
            </c:strRef>
          </c:tx>
          <c:spPr>
            <a:ln w="28575" cap="rnd">
              <a:solidFill>
                <a:schemeClr val="tx2"/>
              </a:solidFill>
              <a:round/>
            </a:ln>
            <a:effectLst/>
          </c:spPr>
          <c:marker>
            <c:symbol val="none"/>
          </c:marker>
          <c:dLbls>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1" i="0" u="none" strike="noStrike" kern="1200" baseline="0">
                    <a:solidFill>
                      <a:srgbClr val="8158A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leftArrow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Prevalencia!$E$59:$E$70</c:f>
              <c:strCache>
                <c:ptCount val="12"/>
                <c:pt idx="0">
                  <c:v>enero </c:v>
                </c:pt>
                <c:pt idx="1">
                  <c:v>feb</c:v>
                </c:pt>
                <c:pt idx="2">
                  <c:v>mar</c:v>
                </c:pt>
                <c:pt idx="3">
                  <c:v>abr</c:v>
                </c:pt>
                <c:pt idx="4">
                  <c:v>may</c:v>
                </c:pt>
                <c:pt idx="5">
                  <c:v>jun</c:v>
                </c:pt>
                <c:pt idx="6">
                  <c:v>jul</c:v>
                </c:pt>
                <c:pt idx="7">
                  <c:v>ago</c:v>
                </c:pt>
                <c:pt idx="8">
                  <c:v>sep</c:v>
                </c:pt>
                <c:pt idx="9">
                  <c:v>oct</c:v>
                </c:pt>
                <c:pt idx="10">
                  <c:v>nov</c:v>
                </c:pt>
                <c:pt idx="11">
                  <c:v>dic</c:v>
                </c:pt>
              </c:strCache>
            </c:strRef>
          </c:cat>
          <c:val>
            <c:numRef>
              <c:f>Prevalencia!$J$59:$J$70</c:f>
              <c:numCache>
                <c:formatCode>0</c:formatCode>
                <c:ptCount val="12"/>
                <c:pt idx="0">
                  <c:v>1940.2671734638632</c:v>
                </c:pt>
                <c:pt idx="1">
                  <c:v>1978.939924643382</c:v>
                </c:pt>
                <c:pt idx="2">
                  <c:v>2031.9768405467221</c:v>
                </c:pt>
                <c:pt idx="3">
                  <c:v>2067.3347844822824</c:v>
                </c:pt>
                <c:pt idx="4">
                  <c:v>2123.6865076295812</c:v>
                </c:pt>
                <c:pt idx="5">
                  <c:v>2165.6740660530591</c:v>
                </c:pt>
                <c:pt idx="6">
                  <c:v>2210.9764317204954</c:v>
                </c:pt>
                <c:pt idx="7">
                  <c:v>2240.8096969161243</c:v>
                </c:pt>
                <c:pt idx="8">
                  <c:v>2276.1676408516842</c:v>
                </c:pt>
              </c:numCache>
            </c:numRef>
          </c:val>
          <c:smooth val="0"/>
          <c:extLst>
            <c:ext xmlns:c16="http://schemas.microsoft.com/office/drawing/2014/chart" uri="{C3380CC4-5D6E-409C-BE32-E72D297353CC}">
              <c16:uniqueId val="{00000000-A473-47EF-B952-AF018567EF47}"/>
            </c:ext>
          </c:extLst>
        </c:ser>
        <c:dLbls>
          <c:showLegendKey val="0"/>
          <c:showVal val="0"/>
          <c:showCatName val="0"/>
          <c:showSerName val="0"/>
          <c:showPercent val="0"/>
          <c:showBubbleSize val="0"/>
        </c:dLbls>
        <c:marker val="1"/>
        <c:smooth val="0"/>
        <c:axId val="1220671247"/>
        <c:axId val="1220675567"/>
      </c:lineChart>
      <c:catAx>
        <c:axId val="12206712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220675567"/>
        <c:crosses val="autoZero"/>
        <c:auto val="1"/>
        <c:lblAlgn val="ctr"/>
        <c:lblOffset val="100"/>
        <c:noMultiLvlLbl val="0"/>
      </c:catAx>
      <c:valAx>
        <c:axId val="122067556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22067124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7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rgbClr val="4FA9A7"/>
                </a:solidFill>
                <a:latin typeface="+mn-lt"/>
                <a:ea typeface="+mn-ea"/>
                <a:cs typeface="+mn-cs"/>
              </a:defRPr>
            </a:pPr>
            <a:r>
              <a:rPr lang="es-CO" sz="1600" b="1" i="0" u="none" strike="noStrike" kern="1200" spc="0" baseline="0" noProof="0">
                <a:solidFill>
                  <a:srgbClr val="4FA9A7"/>
                </a:solidFill>
              </a:rPr>
              <a:t>Distribución de la Cohorte Sanitas</a:t>
            </a:r>
          </a:p>
        </c:rich>
      </c:tx>
      <c:overlay val="0"/>
      <c:spPr>
        <a:noFill/>
        <a:ln>
          <a:noFill/>
        </a:ln>
        <a:effectLst/>
      </c:spPr>
      <c:txPr>
        <a:bodyPr rot="0" spcFirstLastPara="1" vertOverflow="ellipsis" vert="horz" wrap="square" anchor="ctr" anchorCtr="1"/>
        <a:lstStyle/>
        <a:p>
          <a:pPr>
            <a:defRPr sz="1600" b="1" i="0" u="none" strike="noStrike" kern="1200" spc="0" baseline="0">
              <a:solidFill>
                <a:srgbClr val="4FA9A7"/>
              </a:solidFill>
              <a:latin typeface="+mn-lt"/>
              <a:ea typeface="+mn-ea"/>
              <a:cs typeface="+mn-cs"/>
            </a:defRPr>
          </a:pPr>
          <a:endParaRPr lang="es-CO"/>
        </a:p>
      </c:txPr>
    </c:title>
    <c:autoTitleDeleted val="0"/>
    <c:plotArea>
      <c:layout/>
      <c:barChart>
        <c:barDir val="col"/>
        <c:grouping val="clustered"/>
        <c:varyColors val="0"/>
        <c:ser>
          <c:idx val="0"/>
          <c:order val="0"/>
          <c:tx>
            <c:strRef>
              <c:f>Prevalencia!$S$4</c:f>
              <c:strCache>
                <c:ptCount val="1"/>
                <c:pt idx="0">
                  <c:v>Casos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Prevalencia!$R$5:$R$28</c:f>
              <c:strCache>
                <c:ptCount val="24"/>
                <c:pt idx="0">
                  <c:v>16= Otros tumores de la piel</c:v>
                </c:pt>
                <c:pt idx="1">
                  <c:v>1= CAC Mama</c:v>
                </c:pt>
                <c:pt idx="2">
                  <c:v>2= CAC Próstata</c:v>
                </c:pt>
                <c:pt idx="3">
                  <c:v>3= CAC Cérvix</c:v>
                </c:pt>
                <c:pt idx="4">
                  <c:v>22= Glándulas tiroides y endocrinas</c:v>
                </c:pt>
                <c:pt idx="5">
                  <c:v>4= CAC Colorectal</c:v>
                </c:pt>
                <c:pt idx="6">
                  <c:v>18= Otros órganos genitales femeninos</c:v>
                </c:pt>
                <c:pt idx="7">
                  <c:v>9= CAC Linfoma No Hodgkin</c:v>
                </c:pt>
                <c:pt idx="8">
                  <c:v>5= CAC Estómago</c:v>
                </c:pt>
                <c:pt idx="9">
                  <c:v>20= Vías urinarias</c:v>
                </c:pt>
                <c:pt idx="10">
                  <c:v>19= Otros órganos genitales masculinos</c:v>
                </c:pt>
                <c:pt idx="11">
                  <c:v>17= Tejidos mesoteliales (excepto pulmón) y tejidos blandos</c:v>
                </c:pt>
                <c:pt idx="12">
                  <c:v>6= CAC Melanoma</c:v>
                </c:pt>
                <c:pt idx="13">
                  <c:v>24= Otros tumores malignos del tejido linfático, de los órganos hematopoyéticos y de tejidos afines</c:v>
                </c:pt>
                <c:pt idx="14">
                  <c:v>12= Labio, cavidad bucal y faringe</c:v>
                </c:pt>
                <c:pt idx="15">
                  <c:v>13= Otros órganos digestivos</c:v>
                </c:pt>
                <c:pt idx="16">
                  <c:v>21= Ojo, encéfalo, y otras partes del sistema nervioso</c:v>
                </c:pt>
                <c:pt idx="17">
                  <c:v>7= CAC Pulmón</c:v>
                </c:pt>
                <c:pt idx="18">
                  <c:v>23= Otros sitios, sitios mal definidos, sitios no especificados</c:v>
                </c:pt>
                <c:pt idx="19">
                  <c:v>8= CAC Linfoma Hodgkin</c:v>
                </c:pt>
                <c:pt idx="20">
                  <c:v>15= Huesos y cartílagos articulares</c:v>
                </c:pt>
                <c:pt idx="21">
                  <c:v>14= Otros órganos respiratorios e intratorácicos</c:v>
                </c:pt>
                <c:pt idx="22">
                  <c:v>11= CAC Leucemia Mielocitica Aguda</c:v>
                </c:pt>
                <c:pt idx="23">
                  <c:v>25= Tumores secundarios</c:v>
                </c:pt>
              </c:strCache>
            </c:strRef>
          </c:cat>
          <c:val>
            <c:numRef>
              <c:f>Prevalencia!$S$5:$S$28</c:f>
              <c:numCache>
                <c:formatCode>General</c:formatCode>
                <c:ptCount val="24"/>
                <c:pt idx="0">
                  <c:v>553</c:v>
                </c:pt>
                <c:pt idx="1">
                  <c:v>318</c:v>
                </c:pt>
                <c:pt idx="2">
                  <c:v>224</c:v>
                </c:pt>
                <c:pt idx="3">
                  <c:v>215</c:v>
                </c:pt>
                <c:pt idx="4">
                  <c:v>160</c:v>
                </c:pt>
                <c:pt idx="5">
                  <c:v>130</c:v>
                </c:pt>
                <c:pt idx="6">
                  <c:v>73</c:v>
                </c:pt>
                <c:pt idx="7">
                  <c:v>63</c:v>
                </c:pt>
                <c:pt idx="8">
                  <c:v>57</c:v>
                </c:pt>
                <c:pt idx="9">
                  <c:v>46</c:v>
                </c:pt>
                <c:pt idx="10">
                  <c:v>35</c:v>
                </c:pt>
                <c:pt idx="11">
                  <c:v>29</c:v>
                </c:pt>
                <c:pt idx="12">
                  <c:v>27</c:v>
                </c:pt>
                <c:pt idx="13">
                  <c:v>25</c:v>
                </c:pt>
                <c:pt idx="14">
                  <c:v>23</c:v>
                </c:pt>
                <c:pt idx="15">
                  <c:v>19</c:v>
                </c:pt>
                <c:pt idx="16">
                  <c:v>14</c:v>
                </c:pt>
                <c:pt idx="17">
                  <c:v>10</c:v>
                </c:pt>
                <c:pt idx="18">
                  <c:v>10</c:v>
                </c:pt>
                <c:pt idx="19">
                  <c:v>7</c:v>
                </c:pt>
                <c:pt idx="20">
                  <c:v>6</c:v>
                </c:pt>
                <c:pt idx="21">
                  <c:v>6</c:v>
                </c:pt>
                <c:pt idx="22">
                  <c:v>5</c:v>
                </c:pt>
                <c:pt idx="23">
                  <c:v>5</c:v>
                </c:pt>
              </c:numCache>
            </c:numRef>
          </c:val>
          <c:extLst>
            <c:ext xmlns:c16="http://schemas.microsoft.com/office/drawing/2014/chart" uri="{C3380CC4-5D6E-409C-BE32-E72D297353CC}">
              <c16:uniqueId val="{00000000-2AB4-4323-889C-921DDF2D7DA1}"/>
            </c:ext>
          </c:extLst>
        </c:ser>
        <c:dLbls>
          <c:showLegendKey val="0"/>
          <c:showVal val="0"/>
          <c:showCatName val="0"/>
          <c:showSerName val="0"/>
          <c:showPercent val="0"/>
          <c:showBubbleSize val="0"/>
        </c:dLbls>
        <c:gapWidth val="219"/>
        <c:overlap val="-27"/>
        <c:axId val="1465844416"/>
        <c:axId val="1465838176"/>
      </c:barChart>
      <c:lineChart>
        <c:grouping val="standard"/>
        <c:varyColors val="0"/>
        <c:ser>
          <c:idx val="1"/>
          <c:order val="1"/>
          <c:tx>
            <c:strRef>
              <c:f>Prevalencia!$T$4</c:f>
              <c:strCache>
                <c:ptCount val="1"/>
                <c:pt idx="0">
                  <c:v>Tasa x 100 mil</c:v>
                </c:pt>
              </c:strCache>
            </c:strRef>
          </c:tx>
          <c:spPr>
            <a:ln w="28575" cap="rnd">
              <a:solidFill>
                <a:srgbClr val="4FA9A7"/>
              </a:solidFill>
              <a:round/>
            </a:ln>
            <a:effectLst/>
          </c:spPr>
          <c:marker>
            <c:symbol val="none"/>
          </c:marker>
          <c:dLbls>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rgbClr val="4FA9A7"/>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leftArrow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Prevalencia!$R$5:$R$28</c:f>
              <c:strCache>
                <c:ptCount val="24"/>
                <c:pt idx="0">
                  <c:v>16= Otros tumores de la piel</c:v>
                </c:pt>
                <c:pt idx="1">
                  <c:v>1= CAC Mama</c:v>
                </c:pt>
                <c:pt idx="2">
                  <c:v>2= CAC Próstata</c:v>
                </c:pt>
                <c:pt idx="3">
                  <c:v>3= CAC Cérvix</c:v>
                </c:pt>
                <c:pt idx="4">
                  <c:v>22= Glándulas tiroides y endocrinas</c:v>
                </c:pt>
                <c:pt idx="5">
                  <c:v>4= CAC Colorectal</c:v>
                </c:pt>
                <c:pt idx="6">
                  <c:v>18= Otros órganos genitales femeninos</c:v>
                </c:pt>
                <c:pt idx="7">
                  <c:v>9= CAC Linfoma No Hodgkin</c:v>
                </c:pt>
                <c:pt idx="8">
                  <c:v>5= CAC Estómago</c:v>
                </c:pt>
                <c:pt idx="9">
                  <c:v>20= Vías urinarias</c:v>
                </c:pt>
                <c:pt idx="10">
                  <c:v>19= Otros órganos genitales masculinos</c:v>
                </c:pt>
                <c:pt idx="11">
                  <c:v>17= Tejidos mesoteliales (excepto pulmón) y tejidos blandos</c:v>
                </c:pt>
                <c:pt idx="12">
                  <c:v>6= CAC Melanoma</c:v>
                </c:pt>
                <c:pt idx="13">
                  <c:v>24= Otros tumores malignos del tejido linfático, de los órganos hematopoyéticos y de tejidos afines</c:v>
                </c:pt>
                <c:pt idx="14">
                  <c:v>12= Labio, cavidad bucal y faringe</c:v>
                </c:pt>
                <c:pt idx="15">
                  <c:v>13= Otros órganos digestivos</c:v>
                </c:pt>
                <c:pt idx="16">
                  <c:v>21= Ojo, encéfalo, y otras partes del sistema nervioso</c:v>
                </c:pt>
                <c:pt idx="17">
                  <c:v>7= CAC Pulmón</c:v>
                </c:pt>
                <c:pt idx="18">
                  <c:v>23= Otros sitios, sitios mal definidos, sitios no especificados</c:v>
                </c:pt>
                <c:pt idx="19">
                  <c:v>8= CAC Linfoma Hodgkin</c:v>
                </c:pt>
                <c:pt idx="20">
                  <c:v>15= Huesos y cartílagos articulares</c:v>
                </c:pt>
                <c:pt idx="21">
                  <c:v>14= Otros órganos respiratorios e intratorácicos</c:v>
                </c:pt>
                <c:pt idx="22">
                  <c:v>11= CAC Leucemia Mielocitica Aguda</c:v>
                </c:pt>
                <c:pt idx="23">
                  <c:v>25= Tumores secundarios</c:v>
                </c:pt>
              </c:strCache>
            </c:strRef>
          </c:cat>
          <c:val>
            <c:numRef>
              <c:f>Prevalencia!$T$5:$T$28</c:f>
              <c:numCache>
                <c:formatCode>0</c:formatCode>
                <c:ptCount val="24"/>
                <c:pt idx="0">
                  <c:v>611.02946863639875</c:v>
                </c:pt>
                <c:pt idx="1">
                  <c:v>351.36956785962894</c:v>
                </c:pt>
                <c:pt idx="2">
                  <c:v>247.50560754892101</c:v>
                </c:pt>
                <c:pt idx="3">
                  <c:v>237.56118581704476</c:v>
                </c:pt>
                <c:pt idx="4">
                  <c:v>176.78971967780075</c:v>
                </c:pt>
                <c:pt idx="5">
                  <c:v>143.6416472382131</c:v>
                </c:pt>
                <c:pt idx="6">
                  <c:v>80.660309602996591</c:v>
                </c:pt>
                <c:pt idx="7">
                  <c:v>69.610952123134041</c:v>
                </c:pt>
                <c:pt idx="8">
                  <c:v>62.981337635216512</c:v>
                </c:pt>
                <c:pt idx="9">
                  <c:v>50.827044407367715</c:v>
                </c:pt>
                <c:pt idx="10">
                  <c:v>38.672751179518912</c:v>
                </c:pt>
                <c:pt idx="11">
                  <c:v>32.043136691601383</c:v>
                </c:pt>
                <c:pt idx="12">
                  <c:v>29.833265195628876</c:v>
                </c:pt>
                <c:pt idx="13">
                  <c:v>27.623393699656365</c:v>
                </c:pt>
                <c:pt idx="14">
                  <c:v>25.413522203683858</c:v>
                </c:pt>
                <c:pt idx="15">
                  <c:v>20.99377921173884</c:v>
                </c:pt>
                <c:pt idx="16">
                  <c:v>15.469100471807563</c:v>
                </c:pt>
                <c:pt idx="17">
                  <c:v>11.049357479862547</c:v>
                </c:pt>
                <c:pt idx="18">
                  <c:v>11.049357479862547</c:v>
                </c:pt>
                <c:pt idx="19">
                  <c:v>7.7345502359037814</c:v>
                </c:pt>
                <c:pt idx="20">
                  <c:v>6.6296144879175269</c:v>
                </c:pt>
                <c:pt idx="21">
                  <c:v>6.6296144879175269</c:v>
                </c:pt>
                <c:pt idx="22">
                  <c:v>5.5246787399312733</c:v>
                </c:pt>
                <c:pt idx="23">
                  <c:v>5.5246787399312733</c:v>
                </c:pt>
              </c:numCache>
            </c:numRef>
          </c:val>
          <c:smooth val="0"/>
          <c:extLst>
            <c:ext xmlns:c16="http://schemas.microsoft.com/office/drawing/2014/chart" uri="{C3380CC4-5D6E-409C-BE32-E72D297353CC}">
              <c16:uniqueId val="{00000001-2AB4-4323-889C-921DDF2D7DA1}"/>
            </c:ext>
          </c:extLst>
        </c:ser>
        <c:dLbls>
          <c:showLegendKey val="0"/>
          <c:showVal val="0"/>
          <c:showCatName val="0"/>
          <c:showSerName val="0"/>
          <c:showPercent val="0"/>
          <c:showBubbleSize val="0"/>
        </c:dLbls>
        <c:marker val="1"/>
        <c:smooth val="0"/>
        <c:axId val="1465839616"/>
        <c:axId val="1465837696"/>
      </c:lineChart>
      <c:catAx>
        <c:axId val="1465844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465838176"/>
        <c:crosses val="autoZero"/>
        <c:auto val="1"/>
        <c:lblAlgn val="ctr"/>
        <c:lblOffset val="100"/>
        <c:noMultiLvlLbl val="0"/>
      </c:catAx>
      <c:valAx>
        <c:axId val="14658381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465844416"/>
        <c:crosses val="autoZero"/>
        <c:crossBetween val="between"/>
      </c:valAx>
      <c:valAx>
        <c:axId val="1465837696"/>
        <c:scaling>
          <c:orientation val="minMax"/>
        </c:scaling>
        <c:delete val="0"/>
        <c:axPos val="r"/>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465839616"/>
        <c:crosses val="max"/>
        <c:crossBetween val="between"/>
      </c:valAx>
      <c:catAx>
        <c:axId val="1465839616"/>
        <c:scaling>
          <c:orientation val="minMax"/>
        </c:scaling>
        <c:delete val="1"/>
        <c:axPos val="b"/>
        <c:numFmt formatCode="General" sourceLinked="1"/>
        <c:majorTickMark val="none"/>
        <c:minorTickMark val="none"/>
        <c:tickLblPos val="nextTo"/>
        <c:crossAx val="1465837696"/>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1"/>
  </c:externalData>
</c:chartSpace>
</file>

<file path=ppt/charts/chart7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rgbClr val="4FA9A7"/>
                </a:solidFill>
                <a:latin typeface="+mn-lt"/>
                <a:ea typeface="+mn-ea"/>
                <a:cs typeface="+mn-cs"/>
              </a:defRPr>
            </a:pPr>
            <a:r>
              <a:rPr lang="es-CO" sz="1400" b="1" i="0" u="none" strike="noStrike" kern="1200" spc="0" baseline="0" noProof="0">
                <a:solidFill>
                  <a:srgbClr val="4FA9A7"/>
                </a:solidFill>
              </a:rPr>
              <a:t>Prevalencia de cánceres priorizados Septiembre 2025</a:t>
            </a:r>
            <a:endParaRPr lang="es-CO" sz="1400" b="0" i="0" u="none" strike="noStrike" kern="1200" spc="0" baseline="0" noProof="0">
              <a:solidFill>
                <a:srgbClr val="4FA9A7"/>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rgbClr val="4FA9A7"/>
              </a:solidFill>
              <a:latin typeface="+mn-lt"/>
              <a:ea typeface="+mn-ea"/>
              <a:cs typeface="+mn-cs"/>
            </a:defRPr>
          </a:pPr>
          <a:endParaRPr lang="es-CO"/>
        </a:p>
      </c:txPr>
    </c:title>
    <c:autoTitleDeleted val="0"/>
    <c:plotArea>
      <c:layout/>
      <c:barChart>
        <c:barDir val="col"/>
        <c:grouping val="clustered"/>
        <c:varyColors val="0"/>
        <c:ser>
          <c:idx val="0"/>
          <c:order val="0"/>
          <c:tx>
            <c:strRef>
              <c:f>Prevalencia!$F$169</c:f>
              <c:strCache>
                <c:ptCount val="1"/>
                <c:pt idx="0">
                  <c:v>Casos</c:v>
                </c:pt>
              </c:strCache>
            </c:strRef>
          </c:tx>
          <c:spPr>
            <a:solidFill>
              <a:srgbClr val="4FA9A7"/>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4FA9A7"/>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Prevalencia!$E$170:$E$179</c:f>
              <c:strCache>
                <c:ptCount val="10"/>
                <c:pt idx="0">
                  <c:v>1= CAC Mama</c:v>
                </c:pt>
                <c:pt idx="1">
                  <c:v>2= CAC Próstata</c:v>
                </c:pt>
                <c:pt idx="2">
                  <c:v>3= CAC Cérvix</c:v>
                </c:pt>
                <c:pt idx="3">
                  <c:v>4= CAC Colorectal</c:v>
                </c:pt>
                <c:pt idx="4">
                  <c:v>9= CAC Linfoma No Hodgkin</c:v>
                </c:pt>
                <c:pt idx="5">
                  <c:v>5= CAC Estómago</c:v>
                </c:pt>
                <c:pt idx="6">
                  <c:v>6= CAC Melanoma</c:v>
                </c:pt>
                <c:pt idx="7">
                  <c:v>7= CAC Pulmón</c:v>
                </c:pt>
                <c:pt idx="8">
                  <c:v>8= CAC Linfoma Hodgkin</c:v>
                </c:pt>
                <c:pt idx="9">
                  <c:v>11= CAC Leucemia Mielocitica Aguda</c:v>
                </c:pt>
              </c:strCache>
            </c:strRef>
          </c:cat>
          <c:val>
            <c:numRef>
              <c:f>Prevalencia!$F$170:$F$179</c:f>
              <c:numCache>
                <c:formatCode>General</c:formatCode>
                <c:ptCount val="10"/>
                <c:pt idx="0">
                  <c:v>271</c:v>
                </c:pt>
                <c:pt idx="1">
                  <c:v>177</c:v>
                </c:pt>
                <c:pt idx="2">
                  <c:v>177</c:v>
                </c:pt>
                <c:pt idx="3">
                  <c:v>98</c:v>
                </c:pt>
                <c:pt idx="4">
                  <c:v>48</c:v>
                </c:pt>
                <c:pt idx="5">
                  <c:v>38</c:v>
                </c:pt>
                <c:pt idx="6">
                  <c:v>20</c:v>
                </c:pt>
                <c:pt idx="7">
                  <c:v>6</c:v>
                </c:pt>
                <c:pt idx="8">
                  <c:v>5</c:v>
                </c:pt>
                <c:pt idx="9">
                  <c:v>3</c:v>
                </c:pt>
              </c:numCache>
            </c:numRef>
          </c:val>
          <c:extLst>
            <c:ext xmlns:c16="http://schemas.microsoft.com/office/drawing/2014/chart" uri="{C3380CC4-5D6E-409C-BE32-E72D297353CC}">
              <c16:uniqueId val="{00000000-8690-4734-9E64-94CBBEAFD98A}"/>
            </c:ext>
          </c:extLst>
        </c:ser>
        <c:dLbls>
          <c:showLegendKey val="0"/>
          <c:showVal val="0"/>
          <c:showCatName val="0"/>
          <c:showSerName val="0"/>
          <c:showPercent val="0"/>
          <c:showBubbleSize val="0"/>
        </c:dLbls>
        <c:gapWidth val="219"/>
        <c:axId val="976635328"/>
        <c:axId val="976642528"/>
      </c:barChart>
      <c:lineChart>
        <c:grouping val="standard"/>
        <c:varyColors val="0"/>
        <c:ser>
          <c:idx val="1"/>
          <c:order val="1"/>
          <c:tx>
            <c:strRef>
              <c:f>Prevalencia!$G$169</c:f>
              <c:strCache>
                <c:ptCount val="1"/>
                <c:pt idx="0">
                  <c:v>Tasa x 100 mil</c:v>
                </c:pt>
              </c:strCache>
            </c:strRef>
          </c:tx>
          <c:spPr>
            <a:ln w="28575" cap="rnd">
              <a:solidFill>
                <a:schemeClr val="tx1"/>
              </a:solidFill>
              <a:round/>
            </a:ln>
            <a:effectLst/>
          </c:spPr>
          <c:marker>
            <c:symbol val="none"/>
          </c:marker>
          <c:dLbls>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leftArrow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Prevalencia!$E$170:$E$179</c:f>
              <c:strCache>
                <c:ptCount val="10"/>
                <c:pt idx="0">
                  <c:v>1= CAC Mama</c:v>
                </c:pt>
                <c:pt idx="1">
                  <c:v>2= CAC Próstata</c:v>
                </c:pt>
                <c:pt idx="2">
                  <c:v>3= CAC Cérvix</c:v>
                </c:pt>
                <c:pt idx="3">
                  <c:v>4= CAC Colorectal</c:v>
                </c:pt>
                <c:pt idx="4">
                  <c:v>9= CAC Linfoma No Hodgkin</c:v>
                </c:pt>
                <c:pt idx="5">
                  <c:v>5= CAC Estómago</c:v>
                </c:pt>
                <c:pt idx="6">
                  <c:v>6= CAC Melanoma</c:v>
                </c:pt>
                <c:pt idx="7">
                  <c:v>7= CAC Pulmón</c:v>
                </c:pt>
                <c:pt idx="8">
                  <c:v>8= CAC Linfoma Hodgkin</c:v>
                </c:pt>
                <c:pt idx="9">
                  <c:v>11= CAC Leucemia Mielocitica Aguda</c:v>
                </c:pt>
              </c:strCache>
            </c:strRef>
          </c:cat>
          <c:val>
            <c:numRef>
              <c:f>Prevalencia!$G$170:$G$179</c:f>
              <c:numCache>
                <c:formatCode>0</c:formatCode>
                <c:ptCount val="10"/>
                <c:pt idx="0">
                  <c:v>299.43758770427502</c:v>
                </c:pt>
                <c:pt idx="1">
                  <c:v>195.57362739356705</c:v>
                </c:pt>
                <c:pt idx="2">
                  <c:v>195.57362739356705</c:v>
                </c:pt>
                <c:pt idx="3">
                  <c:v>108.28370330265295</c:v>
                </c:pt>
                <c:pt idx="4">
                  <c:v>53.036915903340216</c:v>
                </c:pt>
                <c:pt idx="5">
                  <c:v>41.98755842347768</c:v>
                </c:pt>
                <c:pt idx="6">
                  <c:v>22.098714959725093</c:v>
                </c:pt>
                <c:pt idx="7">
                  <c:v>6.6296144879175269</c:v>
                </c:pt>
                <c:pt idx="8">
                  <c:v>5.5246787399312733</c:v>
                </c:pt>
                <c:pt idx="9">
                  <c:v>3.3148072439587635</c:v>
                </c:pt>
              </c:numCache>
            </c:numRef>
          </c:val>
          <c:smooth val="0"/>
          <c:extLst>
            <c:ext xmlns:c16="http://schemas.microsoft.com/office/drawing/2014/chart" uri="{C3380CC4-5D6E-409C-BE32-E72D297353CC}">
              <c16:uniqueId val="{00000001-8690-4734-9E64-94CBBEAFD98A}"/>
            </c:ext>
          </c:extLst>
        </c:ser>
        <c:dLbls>
          <c:showLegendKey val="0"/>
          <c:showVal val="0"/>
          <c:showCatName val="0"/>
          <c:showSerName val="0"/>
          <c:showPercent val="0"/>
          <c:showBubbleSize val="0"/>
        </c:dLbls>
        <c:marker val="1"/>
        <c:smooth val="0"/>
        <c:axId val="976635328"/>
        <c:axId val="976642528"/>
      </c:lineChart>
      <c:catAx>
        <c:axId val="9766353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976642528"/>
        <c:crosses val="autoZero"/>
        <c:auto val="1"/>
        <c:lblAlgn val="ctr"/>
        <c:lblOffset val="100"/>
        <c:noMultiLvlLbl val="0"/>
      </c:catAx>
      <c:valAx>
        <c:axId val="9766425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97663532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1"/>
  </c:externalData>
</c:chartSpace>
</file>

<file path=ppt/charts/chart7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s-CO" sz="1400" b="1" i="0" u="none" strike="noStrike" kern="1200" spc="0" baseline="0" noProof="0">
                <a:solidFill>
                  <a:srgbClr val="80589F">
                    <a:lumMod val="65000"/>
                    <a:lumOff val="35000"/>
                  </a:srgbClr>
                </a:solidFill>
              </a:rPr>
              <a:t>Prevalencia de cánceres priorizados Septiembre 2026</a:t>
            </a:r>
            <a:endParaRPr lang="es-CO" sz="1400" b="0" i="0" u="none" strike="noStrike" kern="1200" spc="0" baseline="0" noProof="0">
              <a:solidFill>
                <a:sysClr val="windowText" lastClr="000000">
                  <a:lumMod val="65000"/>
                  <a:lumOff val="35000"/>
                </a:sysClr>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Prevalencia!$F$186</c:f>
              <c:strCache>
                <c:ptCount val="1"/>
                <c:pt idx="0">
                  <c:v>Casos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Prevalencia!$E$187:$E$196</c:f>
              <c:strCache>
                <c:ptCount val="10"/>
                <c:pt idx="0">
                  <c:v>1= CAC Mama</c:v>
                </c:pt>
                <c:pt idx="1">
                  <c:v>2= CAC Próstata</c:v>
                </c:pt>
                <c:pt idx="2">
                  <c:v>3= CAC Cérvix</c:v>
                </c:pt>
                <c:pt idx="3">
                  <c:v>4= CAC Colorectal</c:v>
                </c:pt>
                <c:pt idx="4">
                  <c:v>9= CAC Linfoma No Hodgkin</c:v>
                </c:pt>
                <c:pt idx="5">
                  <c:v>5= CAC Estómago</c:v>
                </c:pt>
                <c:pt idx="6">
                  <c:v>6= CAC Melanoma</c:v>
                </c:pt>
                <c:pt idx="7">
                  <c:v>7= CAC Pulmón</c:v>
                </c:pt>
                <c:pt idx="8">
                  <c:v>8= CAC Linfoma Hodgkin</c:v>
                </c:pt>
                <c:pt idx="9">
                  <c:v>11= CAC Leucemia Mielocitica Aguda</c:v>
                </c:pt>
              </c:strCache>
            </c:strRef>
          </c:cat>
          <c:val>
            <c:numRef>
              <c:f>Prevalencia!$F$187:$F$196</c:f>
              <c:numCache>
                <c:formatCode>General</c:formatCode>
                <c:ptCount val="10"/>
                <c:pt idx="0">
                  <c:v>318</c:v>
                </c:pt>
                <c:pt idx="1">
                  <c:v>224</c:v>
                </c:pt>
                <c:pt idx="2">
                  <c:v>215</c:v>
                </c:pt>
                <c:pt idx="3">
                  <c:v>130</c:v>
                </c:pt>
                <c:pt idx="4">
                  <c:v>63</c:v>
                </c:pt>
                <c:pt idx="5">
                  <c:v>57</c:v>
                </c:pt>
                <c:pt idx="6">
                  <c:v>27</c:v>
                </c:pt>
                <c:pt idx="7">
                  <c:v>10</c:v>
                </c:pt>
                <c:pt idx="8">
                  <c:v>7</c:v>
                </c:pt>
                <c:pt idx="9">
                  <c:v>5</c:v>
                </c:pt>
              </c:numCache>
            </c:numRef>
          </c:val>
          <c:extLst>
            <c:ext xmlns:c16="http://schemas.microsoft.com/office/drawing/2014/chart" uri="{C3380CC4-5D6E-409C-BE32-E72D297353CC}">
              <c16:uniqueId val="{00000000-24F6-4A4E-ACE9-5C3210580497}"/>
            </c:ext>
          </c:extLst>
        </c:ser>
        <c:dLbls>
          <c:showLegendKey val="0"/>
          <c:showVal val="0"/>
          <c:showCatName val="0"/>
          <c:showSerName val="0"/>
          <c:showPercent val="0"/>
          <c:showBubbleSize val="0"/>
        </c:dLbls>
        <c:gapWidth val="219"/>
        <c:axId val="972620480"/>
        <c:axId val="972615200"/>
      </c:barChart>
      <c:lineChart>
        <c:grouping val="standard"/>
        <c:varyColors val="0"/>
        <c:ser>
          <c:idx val="1"/>
          <c:order val="1"/>
          <c:tx>
            <c:strRef>
              <c:f>Prevalencia!$G$186</c:f>
              <c:strCache>
                <c:ptCount val="1"/>
                <c:pt idx="0">
                  <c:v>Tasa x 100 mil</c:v>
                </c:pt>
              </c:strCache>
            </c:strRef>
          </c:tx>
          <c:spPr>
            <a:ln w="28575" cap="rnd">
              <a:solidFill>
                <a:srgbClr val="4FA9A7"/>
              </a:solidFill>
              <a:round/>
            </a:ln>
            <a:effectLst/>
          </c:spPr>
          <c:marker>
            <c:symbol val="none"/>
          </c:marker>
          <c:dLbls>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rgbClr val="4FA9A7"/>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leftArrow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Prevalencia!$E$187:$E$196</c:f>
              <c:strCache>
                <c:ptCount val="10"/>
                <c:pt idx="0">
                  <c:v>1= CAC Mama</c:v>
                </c:pt>
                <c:pt idx="1">
                  <c:v>2= CAC Próstata</c:v>
                </c:pt>
                <c:pt idx="2">
                  <c:v>3= CAC Cérvix</c:v>
                </c:pt>
                <c:pt idx="3">
                  <c:v>4= CAC Colorectal</c:v>
                </c:pt>
                <c:pt idx="4">
                  <c:v>9= CAC Linfoma No Hodgkin</c:v>
                </c:pt>
                <c:pt idx="5">
                  <c:v>5= CAC Estómago</c:v>
                </c:pt>
                <c:pt idx="6">
                  <c:v>6= CAC Melanoma</c:v>
                </c:pt>
                <c:pt idx="7">
                  <c:v>7= CAC Pulmón</c:v>
                </c:pt>
                <c:pt idx="8">
                  <c:v>8= CAC Linfoma Hodgkin</c:v>
                </c:pt>
                <c:pt idx="9">
                  <c:v>11= CAC Leucemia Mielocitica Aguda</c:v>
                </c:pt>
              </c:strCache>
            </c:strRef>
          </c:cat>
          <c:val>
            <c:numRef>
              <c:f>Prevalencia!$G$187:$G$196</c:f>
              <c:numCache>
                <c:formatCode>0</c:formatCode>
                <c:ptCount val="10"/>
                <c:pt idx="0">
                  <c:v>351.36956785962894</c:v>
                </c:pt>
                <c:pt idx="1">
                  <c:v>247.50560754892101</c:v>
                </c:pt>
                <c:pt idx="2">
                  <c:v>237.56118581704476</c:v>
                </c:pt>
                <c:pt idx="3">
                  <c:v>143.6416472382131</c:v>
                </c:pt>
                <c:pt idx="4">
                  <c:v>69.610952123134041</c:v>
                </c:pt>
                <c:pt idx="5">
                  <c:v>62.981337635216512</c:v>
                </c:pt>
                <c:pt idx="6">
                  <c:v>29.833265195628876</c:v>
                </c:pt>
                <c:pt idx="7">
                  <c:v>11.049357479862547</c:v>
                </c:pt>
                <c:pt idx="8">
                  <c:v>7.7345502359037814</c:v>
                </c:pt>
                <c:pt idx="9">
                  <c:v>5.5246787399312733</c:v>
                </c:pt>
              </c:numCache>
            </c:numRef>
          </c:val>
          <c:smooth val="0"/>
          <c:extLst>
            <c:ext xmlns:c16="http://schemas.microsoft.com/office/drawing/2014/chart" uri="{C3380CC4-5D6E-409C-BE32-E72D297353CC}">
              <c16:uniqueId val="{00000001-24F6-4A4E-ACE9-5C3210580497}"/>
            </c:ext>
          </c:extLst>
        </c:ser>
        <c:dLbls>
          <c:showLegendKey val="0"/>
          <c:showVal val="0"/>
          <c:showCatName val="0"/>
          <c:showSerName val="0"/>
          <c:showPercent val="0"/>
          <c:showBubbleSize val="0"/>
        </c:dLbls>
        <c:marker val="1"/>
        <c:smooth val="0"/>
        <c:axId val="972620480"/>
        <c:axId val="972615200"/>
      </c:lineChart>
      <c:catAx>
        <c:axId val="9726204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972615200"/>
        <c:crosses val="autoZero"/>
        <c:auto val="1"/>
        <c:lblAlgn val="ctr"/>
        <c:lblOffset val="100"/>
        <c:noMultiLvlLbl val="0"/>
      </c:catAx>
      <c:valAx>
        <c:axId val="9726152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97262048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1"/>
  </c:externalData>
</c:chartSpace>
</file>

<file path=ppt/charts/chart7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rgbClr val="4FA9A7"/>
                </a:solidFill>
                <a:latin typeface="+mn-lt"/>
                <a:ea typeface="+mn-ea"/>
                <a:cs typeface="+mn-cs"/>
              </a:defRPr>
            </a:pPr>
            <a:r>
              <a:rPr lang="es-CO" sz="1400" b="1" i="0" u="none" strike="noStrike" kern="1200" spc="0" baseline="0" noProof="0">
                <a:solidFill>
                  <a:srgbClr val="4FA9A7"/>
                </a:solidFill>
              </a:rPr>
              <a:t>Prevalencia de cánceres No priorizados Septiembre 2025</a:t>
            </a:r>
            <a:endParaRPr lang="es-CO" noProof="0">
              <a:solidFill>
                <a:srgbClr val="4FA9A7"/>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rgbClr val="4FA9A7"/>
              </a:solidFill>
              <a:latin typeface="+mn-lt"/>
              <a:ea typeface="+mn-ea"/>
              <a:cs typeface="+mn-cs"/>
            </a:defRPr>
          </a:pPr>
          <a:endParaRPr lang="es-CO"/>
        </a:p>
      </c:txPr>
    </c:title>
    <c:autoTitleDeleted val="0"/>
    <c:plotArea>
      <c:layout/>
      <c:barChart>
        <c:barDir val="col"/>
        <c:grouping val="clustered"/>
        <c:varyColors val="0"/>
        <c:ser>
          <c:idx val="0"/>
          <c:order val="0"/>
          <c:tx>
            <c:strRef>
              <c:f>Prevalencia!$F$151</c:f>
              <c:strCache>
                <c:ptCount val="1"/>
                <c:pt idx="0">
                  <c:v>Casos</c:v>
                </c:pt>
              </c:strCache>
            </c:strRef>
          </c:tx>
          <c:spPr>
            <a:solidFill>
              <a:srgbClr val="4FA9A7"/>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4FA9A7"/>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Prevalencia!$E$152:$E$164</c:f>
              <c:strCache>
                <c:ptCount val="13"/>
                <c:pt idx="0">
                  <c:v>16= Otros tumores de la piel</c:v>
                </c:pt>
                <c:pt idx="1">
                  <c:v>22= Glándulas tiroides y endocrinas</c:v>
                </c:pt>
                <c:pt idx="2">
                  <c:v>18= Otros órganos genitales femeninos</c:v>
                </c:pt>
                <c:pt idx="3">
                  <c:v>20= Vías urinarias</c:v>
                </c:pt>
                <c:pt idx="4">
                  <c:v>19= Otros órganos genitales masculinos</c:v>
                </c:pt>
                <c:pt idx="5">
                  <c:v>17= Tejidos mesoteliales (excepto pulmón) y tejidos blandos</c:v>
                </c:pt>
                <c:pt idx="6">
                  <c:v>24= Otros tumores malignos del tejido linfático, de los órganos hematopoyéticos y de tejidos afines</c:v>
                </c:pt>
                <c:pt idx="7">
                  <c:v>12= Labio, cavidad bucal y faringe</c:v>
                </c:pt>
                <c:pt idx="8">
                  <c:v>13= Otros órganos digestivos</c:v>
                </c:pt>
                <c:pt idx="9">
                  <c:v>21= Ojo, encéfalo, y otras partes del sistema nervioso</c:v>
                </c:pt>
                <c:pt idx="10">
                  <c:v>23= Otros sitios, sitios mal definidos, sitios no especificados</c:v>
                </c:pt>
                <c:pt idx="11">
                  <c:v>15= Huesos y cartílagos articulares</c:v>
                </c:pt>
                <c:pt idx="12">
                  <c:v>14= Otros órganos respiratorios e intratorácicos</c:v>
                </c:pt>
              </c:strCache>
            </c:strRef>
          </c:cat>
          <c:val>
            <c:numRef>
              <c:f>Prevalencia!$F$152:$F$164</c:f>
              <c:numCache>
                <c:formatCode>General</c:formatCode>
                <c:ptCount val="13"/>
                <c:pt idx="0">
                  <c:v>434</c:v>
                </c:pt>
                <c:pt idx="1">
                  <c:v>136</c:v>
                </c:pt>
                <c:pt idx="2">
                  <c:v>61</c:v>
                </c:pt>
                <c:pt idx="3">
                  <c:v>37</c:v>
                </c:pt>
                <c:pt idx="4">
                  <c:v>29</c:v>
                </c:pt>
                <c:pt idx="5">
                  <c:v>20</c:v>
                </c:pt>
                <c:pt idx="6">
                  <c:v>21</c:v>
                </c:pt>
                <c:pt idx="7">
                  <c:v>18</c:v>
                </c:pt>
                <c:pt idx="8">
                  <c:v>13</c:v>
                </c:pt>
                <c:pt idx="9">
                  <c:v>11</c:v>
                </c:pt>
                <c:pt idx="10">
                  <c:v>8</c:v>
                </c:pt>
                <c:pt idx="11">
                  <c:v>6</c:v>
                </c:pt>
                <c:pt idx="12">
                  <c:v>4</c:v>
                </c:pt>
              </c:numCache>
            </c:numRef>
          </c:val>
          <c:extLst>
            <c:ext xmlns:c16="http://schemas.microsoft.com/office/drawing/2014/chart" uri="{C3380CC4-5D6E-409C-BE32-E72D297353CC}">
              <c16:uniqueId val="{00000000-62BA-4C78-A544-1C4844993041}"/>
            </c:ext>
          </c:extLst>
        </c:ser>
        <c:dLbls>
          <c:showLegendKey val="0"/>
          <c:showVal val="0"/>
          <c:showCatName val="0"/>
          <c:showSerName val="0"/>
          <c:showPercent val="0"/>
          <c:showBubbleSize val="0"/>
        </c:dLbls>
        <c:gapWidth val="219"/>
        <c:axId val="976553728"/>
        <c:axId val="976546048"/>
      </c:barChart>
      <c:lineChart>
        <c:grouping val="standard"/>
        <c:varyColors val="0"/>
        <c:ser>
          <c:idx val="1"/>
          <c:order val="1"/>
          <c:tx>
            <c:strRef>
              <c:f>Prevalencia!$G$151</c:f>
              <c:strCache>
                <c:ptCount val="1"/>
                <c:pt idx="0">
                  <c:v>Tasa x 100 mil</c:v>
                </c:pt>
              </c:strCache>
            </c:strRef>
          </c:tx>
          <c:spPr>
            <a:ln w="28575" cap="rnd">
              <a:solidFill>
                <a:schemeClr val="tx1"/>
              </a:solidFill>
              <a:round/>
            </a:ln>
            <a:effectLst/>
          </c:spPr>
          <c:marker>
            <c:symbol val="none"/>
          </c:marker>
          <c:dLbls>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leftArrow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Prevalencia!$E$152:$E$164</c:f>
              <c:strCache>
                <c:ptCount val="13"/>
                <c:pt idx="0">
                  <c:v>16= Otros tumores de la piel</c:v>
                </c:pt>
                <c:pt idx="1">
                  <c:v>22= Glándulas tiroides y endocrinas</c:v>
                </c:pt>
                <c:pt idx="2">
                  <c:v>18= Otros órganos genitales femeninos</c:v>
                </c:pt>
                <c:pt idx="3">
                  <c:v>20= Vías urinarias</c:v>
                </c:pt>
                <c:pt idx="4">
                  <c:v>19= Otros órganos genitales masculinos</c:v>
                </c:pt>
                <c:pt idx="5">
                  <c:v>17= Tejidos mesoteliales (excepto pulmón) y tejidos blandos</c:v>
                </c:pt>
                <c:pt idx="6">
                  <c:v>24= Otros tumores malignos del tejido linfático, de los órganos hematopoyéticos y de tejidos afines</c:v>
                </c:pt>
                <c:pt idx="7">
                  <c:v>12= Labio, cavidad bucal y faringe</c:v>
                </c:pt>
                <c:pt idx="8">
                  <c:v>13= Otros órganos digestivos</c:v>
                </c:pt>
                <c:pt idx="9">
                  <c:v>21= Ojo, encéfalo, y otras partes del sistema nervioso</c:v>
                </c:pt>
                <c:pt idx="10">
                  <c:v>23= Otros sitios, sitios mal definidos, sitios no especificados</c:v>
                </c:pt>
                <c:pt idx="11">
                  <c:v>15= Huesos y cartílagos articulares</c:v>
                </c:pt>
                <c:pt idx="12">
                  <c:v>14= Otros órganos respiratorios e intratorácicos</c:v>
                </c:pt>
              </c:strCache>
            </c:strRef>
          </c:cat>
          <c:val>
            <c:numRef>
              <c:f>Prevalencia!$G$152:$G$164</c:f>
              <c:numCache>
                <c:formatCode>0</c:formatCode>
                <c:ptCount val="13"/>
                <c:pt idx="0">
                  <c:v>479.5421146260345</c:v>
                </c:pt>
                <c:pt idx="1">
                  <c:v>150.27126172613063</c:v>
                </c:pt>
                <c:pt idx="2">
                  <c:v>67.401080627161534</c:v>
                </c:pt>
                <c:pt idx="3">
                  <c:v>40.882622675491419</c:v>
                </c:pt>
                <c:pt idx="4">
                  <c:v>32.043136691601383</c:v>
                </c:pt>
                <c:pt idx="5">
                  <c:v>22.098714959725093</c:v>
                </c:pt>
                <c:pt idx="6">
                  <c:v>23.203650707711347</c:v>
                </c:pt>
                <c:pt idx="7">
                  <c:v>19.888843463752583</c:v>
                </c:pt>
                <c:pt idx="8">
                  <c:v>14.364164723821309</c:v>
                </c:pt>
                <c:pt idx="9">
                  <c:v>12.1542932278488</c:v>
                </c:pt>
                <c:pt idx="10">
                  <c:v>8.8394859838900359</c:v>
                </c:pt>
                <c:pt idx="11">
                  <c:v>6.6296144879175269</c:v>
                </c:pt>
                <c:pt idx="12">
                  <c:v>4.419742991945018</c:v>
                </c:pt>
              </c:numCache>
            </c:numRef>
          </c:val>
          <c:smooth val="0"/>
          <c:extLst>
            <c:ext xmlns:c16="http://schemas.microsoft.com/office/drawing/2014/chart" uri="{C3380CC4-5D6E-409C-BE32-E72D297353CC}">
              <c16:uniqueId val="{00000001-62BA-4C78-A544-1C4844993041}"/>
            </c:ext>
          </c:extLst>
        </c:ser>
        <c:dLbls>
          <c:showLegendKey val="0"/>
          <c:showVal val="0"/>
          <c:showCatName val="0"/>
          <c:showSerName val="0"/>
          <c:showPercent val="0"/>
          <c:showBubbleSize val="0"/>
        </c:dLbls>
        <c:marker val="1"/>
        <c:smooth val="0"/>
        <c:axId val="976553728"/>
        <c:axId val="976546048"/>
      </c:lineChart>
      <c:catAx>
        <c:axId val="9765537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s-CO"/>
          </a:p>
        </c:txPr>
        <c:crossAx val="976546048"/>
        <c:crosses val="autoZero"/>
        <c:auto val="1"/>
        <c:lblAlgn val="ctr"/>
        <c:lblOffset val="100"/>
        <c:noMultiLvlLbl val="0"/>
      </c:catAx>
      <c:valAx>
        <c:axId val="9765460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97655372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1"/>
  </c:externalData>
</c:chartSpace>
</file>

<file path=ppt/charts/chart8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s-CO" sz="1400" b="1" i="0" u="none" strike="noStrike" kern="1200" spc="0" baseline="0" noProof="0">
                <a:solidFill>
                  <a:srgbClr val="80589F">
                    <a:lumMod val="65000"/>
                    <a:lumOff val="35000"/>
                  </a:srgbClr>
                </a:solidFill>
              </a:rPr>
              <a:t>Prevalencia de cánceres No priorizados Septiembre 2026</a:t>
            </a:r>
            <a:endParaRPr lang="es-CO" sz="1400" b="0" i="0" u="none" strike="noStrike" kern="1200" spc="0" baseline="0" noProof="0">
              <a:solidFill>
                <a:sysClr val="windowText" lastClr="000000">
                  <a:lumMod val="65000"/>
                  <a:lumOff val="35000"/>
                </a:sysClr>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Prevalencia!$F$202</c:f>
              <c:strCache>
                <c:ptCount val="1"/>
                <c:pt idx="0">
                  <c:v>Casos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Prevalencia!$E$203:$E$216</c:f>
              <c:strCache>
                <c:ptCount val="14"/>
                <c:pt idx="0">
                  <c:v>16= Otros tumores de la piel</c:v>
                </c:pt>
                <c:pt idx="1">
                  <c:v>22= Glándulas tiroides y endocrinas</c:v>
                </c:pt>
                <c:pt idx="2">
                  <c:v>18= Otros órganos genitales femeninos</c:v>
                </c:pt>
                <c:pt idx="3">
                  <c:v>20= Vías urinarias</c:v>
                </c:pt>
                <c:pt idx="4">
                  <c:v>19= Otros órganos genitales masculinos</c:v>
                </c:pt>
                <c:pt idx="5">
                  <c:v>17= Tejidos mesoteliales (excepto pulmón) y tejidos blandos</c:v>
                </c:pt>
                <c:pt idx="6">
                  <c:v>24= Otros tumores malignos del tejido linfático, de los órganos hematopoyéticos y de tejidos afines</c:v>
                </c:pt>
                <c:pt idx="7">
                  <c:v>12= Labio, cavidad bucal y faringe</c:v>
                </c:pt>
                <c:pt idx="8">
                  <c:v>13= Otros órganos digestivos</c:v>
                </c:pt>
                <c:pt idx="9">
                  <c:v>21= Ojo, encéfalo, y otras partes del sistema nervioso</c:v>
                </c:pt>
                <c:pt idx="10">
                  <c:v>23= Otros sitios, sitios mal definidos, sitios no especificados</c:v>
                </c:pt>
                <c:pt idx="11">
                  <c:v>14= Otros órganos respiratorios e intratorácicos</c:v>
                </c:pt>
                <c:pt idx="12">
                  <c:v>15= Huesos y cartílagos articulares</c:v>
                </c:pt>
                <c:pt idx="13">
                  <c:v>25= Tumores secundarios</c:v>
                </c:pt>
              </c:strCache>
            </c:strRef>
          </c:cat>
          <c:val>
            <c:numRef>
              <c:f>Prevalencia!$F$203:$F$216</c:f>
              <c:numCache>
                <c:formatCode>General</c:formatCode>
                <c:ptCount val="14"/>
                <c:pt idx="0">
                  <c:v>553</c:v>
                </c:pt>
                <c:pt idx="1">
                  <c:v>160</c:v>
                </c:pt>
                <c:pt idx="2">
                  <c:v>73</c:v>
                </c:pt>
                <c:pt idx="3">
                  <c:v>46</c:v>
                </c:pt>
                <c:pt idx="4">
                  <c:v>35</c:v>
                </c:pt>
                <c:pt idx="5">
                  <c:v>29</c:v>
                </c:pt>
                <c:pt idx="6">
                  <c:v>25</c:v>
                </c:pt>
                <c:pt idx="7">
                  <c:v>23</c:v>
                </c:pt>
                <c:pt idx="8">
                  <c:v>19</c:v>
                </c:pt>
                <c:pt idx="9">
                  <c:v>14</c:v>
                </c:pt>
                <c:pt idx="10">
                  <c:v>10</c:v>
                </c:pt>
                <c:pt idx="11">
                  <c:v>6</c:v>
                </c:pt>
                <c:pt idx="12">
                  <c:v>6</c:v>
                </c:pt>
                <c:pt idx="13">
                  <c:v>5</c:v>
                </c:pt>
              </c:numCache>
            </c:numRef>
          </c:val>
          <c:extLst>
            <c:ext xmlns:c16="http://schemas.microsoft.com/office/drawing/2014/chart" uri="{C3380CC4-5D6E-409C-BE32-E72D297353CC}">
              <c16:uniqueId val="{00000000-E6B8-43B6-B1B3-9278087CB92F}"/>
            </c:ext>
          </c:extLst>
        </c:ser>
        <c:dLbls>
          <c:showLegendKey val="0"/>
          <c:showVal val="0"/>
          <c:showCatName val="0"/>
          <c:showSerName val="0"/>
          <c:showPercent val="0"/>
          <c:showBubbleSize val="0"/>
        </c:dLbls>
        <c:gapWidth val="219"/>
        <c:axId val="972565760"/>
        <c:axId val="972553760"/>
      </c:barChart>
      <c:lineChart>
        <c:grouping val="standard"/>
        <c:varyColors val="0"/>
        <c:ser>
          <c:idx val="1"/>
          <c:order val="1"/>
          <c:tx>
            <c:strRef>
              <c:f>Prevalencia!$G$202</c:f>
              <c:strCache>
                <c:ptCount val="1"/>
                <c:pt idx="0">
                  <c:v>Tasa x 100 mil</c:v>
                </c:pt>
              </c:strCache>
            </c:strRef>
          </c:tx>
          <c:spPr>
            <a:ln w="28575" cap="rnd">
              <a:solidFill>
                <a:srgbClr val="4FA9A7"/>
              </a:solidFill>
              <a:round/>
            </a:ln>
            <a:effectLst/>
          </c:spPr>
          <c:marker>
            <c:symbol val="none"/>
          </c:marker>
          <c:dLbls>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rgbClr val="4FA9A7"/>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leftArrow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Prevalencia!$E$203:$E$216</c:f>
              <c:strCache>
                <c:ptCount val="14"/>
                <c:pt idx="0">
                  <c:v>16= Otros tumores de la piel</c:v>
                </c:pt>
                <c:pt idx="1">
                  <c:v>22= Glándulas tiroides y endocrinas</c:v>
                </c:pt>
                <c:pt idx="2">
                  <c:v>18= Otros órganos genitales femeninos</c:v>
                </c:pt>
                <c:pt idx="3">
                  <c:v>20= Vías urinarias</c:v>
                </c:pt>
                <c:pt idx="4">
                  <c:v>19= Otros órganos genitales masculinos</c:v>
                </c:pt>
                <c:pt idx="5">
                  <c:v>17= Tejidos mesoteliales (excepto pulmón) y tejidos blandos</c:v>
                </c:pt>
                <c:pt idx="6">
                  <c:v>24= Otros tumores malignos del tejido linfático, de los órganos hematopoyéticos y de tejidos afines</c:v>
                </c:pt>
                <c:pt idx="7">
                  <c:v>12= Labio, cavidad bucal y faringe</c:v>
                </c:pt>
                <c:pt idx="8">
                  <c:v>13= Otros órganos digestivos</c:v>
                </c:pt>
                <c:pt idx="9">
                  <c:v>21= Ojo, encéfalo, y otras partes del sistema nervioso</c:v>
                </c:pt>
                <c:pt idx="10">
                  <c:v>23= Otros sitios, sitios mal definidos, sitios no especificados</c:v>
                </c:pt>
                <c:pt idx="11">
                  <c:v>14= Otros órganos respiratorios e intratorácicos</c:v>
                </c:pt>
                <c:pt idx="12">
                  <c:v>15= Huesos y cartílagos articulares</c:v>
                </c:pt>
                <c:pt idx="13">
                  <c:v>25= Tumores secundarios</c:v>
                </c:pt>
              </c:strCache>
            </c:strRef>
          </c:cat>
          <c:val>
            <c:numRef>
              <c:f>Prevalencia!$G$203:$G$216</c:f>
              <c:numCache>
                <c:formatCode>0</c:formatCode>
                <c:ptCount val="14"/>
                <c:pt idx="0">
                  <c:v>611.02946863639875</c:v>
                </c:pt>
                <c:pt idx="1">
                  <c:v>176.78971967780075</c:v>
                </c:pt>
                <c:pt idx="2">
                  <c:v>80.660309602996591</c:v>
                </c:pt>
                <c:pt idx="3">
                  <c:v>50.827044407367715</c:v>
                </c:pt>
                <c:pt idx="4">
                  <c:v>38.672751179518912</c:v>
                </c:pt>
                <c:pt idx="5">
                  <c:v>32.043136691601383</c:v>
                </c:pt>
                <c:pt idx="6">
                  <c:v>27.623393699656365</c:v>
                </c:pt>
                <c:pt idx="7">
                  <c:v>25.413522203683858</c:v>
                </c:pt>
                <c:pt idx="8">
                  <c:v>20.99377921173884</c:v>
                </c:pt>
                <c:pt idx="9">
                  <c:v>15.469100471807563</c:v>
                </c:pt>
                <c:pt idx="10">
                  <c:v>11.049357479862547</c:v>
                </c:pt>
                <c:pt idx="11">
                  <c:v>6.6296144879175269</c:v>
                </c:pt>
                <c:pt idx="12">
                  <c:v>6.6296144879175269</c:v>
                </c:pt>
                <c:pt idx="13">
                  <c:v>5.5246787399312733</c:v>
                </c:pt>
              </c:numCache>
            </c:numRef>
          </c:val>
          <c:smooth val="0"/>
          <c:extLst>
            <c:ext xmlns:c16="http://schemas.microsoft.com/office/drawing/2014/chart" uri="{C3380CC4-5D6E-409C-BE32-E72D297353CC}">
              <c16:uniqueId val="{00000001-E6B8-43B6-B1B3-9278087CB92F}"/>
            </c:ext>
          </c:extLst>
        </c:ser>
        <c:dLbls>
          <c:showLegendKey val="0"/>
          <c:showVal val="0"/>
          <c:showCatName val="0"/>
          <c:showSerName val="0"/>
          <c:showPercent val="0"/>
          <c:showBubbleSize val="0"/>
        </c:dLbls>
        <c:marker val="1"/>
        <c:smooth val="0"/>
        <c:axId val="972565760"/>
        <c:axId val="972553760"/>
      </c:lineChart>
      <c:catAx>
        <c:axId val="9725657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s-CO"/>
          </a:p>
        </c:txPr>
        <c:crossAx val="972553760"/>
        <c:crosses val="autoZero"/>
        <c:auto val="1"/>
        <c:lblAlgn val="ctr"/>
        <c:lblOffset val="100"/>
        <c:noMultiLvlLbl val="0"/>
      </c:catAx>
      <c:valAx>
        <c:axId val="9725537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9725657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1"/>
  </c:externalData>
</c:chartSpace>
</file>

<file path=ppt/charts/chart8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mn-lt"/>
                <a:ea typeface="+mn-ea"/>
                <a:cs typeface="+mn-cs"/>
              </a:defRPr>
            </a:pPr>
            <a:r>
              <a:rPr lang="es-CO" sz="1600" noProof="0"/>
              <a:t>Oportunidad</a:t>
            </a:r>
            <a:r>
              <a:rPr lang="es-CO" sz="1600" baseline="0" noProof="0"/>
              <a:t> de ingreso a modelo de paciente confirmado</a:t>
            </a:r>
          </a:p>
        </c:rich>
      </c:tx>
      <c:layout>
        <c:manualLayout>
          <c:xMode val="edge"/>
          <c:yMode val="edge"/>
          <c:x val="0.14268072916666666"/>
          <c:y val="2.2337918176381609E-2"/>
        </c:manualLayout>
      </c:layout>
      <c:overlay val="0"/>
      <c:spPr>
        <a:noFill/>
        <a:ln>
          <a:noFill/>
        </a:ln>
        <a:effectLst/>
      </c:spPr>
      <c:txPr>
        <a:bodyPr rot="0" spcFirstLastPara="1" vertOverflow="ellipsis" vert="horz" wrap="square" anchor="ctr" anchorCtr="1"/>
        <a:lstStyle/>
        <a:p>
          <a:pPr>
            <a:defRPr sz="1600" b="0" i="0" u="none" strike="noStrike" kern="1200" spc="0" baseline="0">
              <a:solidFill>
                <a:schemeClr val="tx1"/>
              </a:solidFill>
              <a:latin typeface="+mn-lt"/>
              <a:ea typeface="+mn-ea"/>
              <a:cs typeface="+mn-cs"/>
            </a:defRPr>
          </a:pPr>
          <a:endParaRPr lang="es-CO"/>
        </a:p>
      </c:txPr>
    </c:title>
    <c:autoTitleDeleted val="0"/>
    <c:plotArea>
      <c:layout>
        <c:manualLayout>
          <c:layoutTarget val="inner"/>
          <c:xMode val="edge"/>
          <c:yMode val="edge"/>
          <c:x val="3.3771953701940229E-2"/>
          <c:y val="0.17744946742497006"/>
          <c:w val="0.95378600517029466"/>
          <c:h val="0.47452956771670823"/>
        </c:manualLayout>
      </c:layout>
      <c:barChart>
        <c:barDir val="col"/>
        <c:grouping val="clustered"/>
        <c:varyColors val="0"/>
        <c:ser>
          <c:idx val="0"/>
          <c:order val="0"/>
          <c:tx>
            <c:strRef>
              <c:f>Hoja1!$B$1</c:f>
              <c:strCache>
                <c:ptCount val="1"/>
                <c:pt idx="0">
                  <c:v>2025</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Hoja1!$B$2:$B$13</c:f>
              <c:numCache>
                <c:formatCode>General</c:formatCode>
                <c:ptCount val="12"/>
                <c:pt idx="0">
                  <c:v>1</c:v>
                </c:pt>
                <c:pt idx="1">
                  <c:v>1.1000000000000001</c:v>
                </c:pt>
                <c:pt idx="2">
                  <c:v>1.3</c:v>
                </c:pt>
                <c:pt idx="3">
                  <c:v>1</c:v>
                </c:pt>
                <c:pt idx="4">
                  <c:v>1.2</c:v>
                </c:pt>
                <c:pt idx="5">
                  <c:v>1.1000000000000001</c:v>
                </c:pt>
                <c:pt idx="6">
                  <c:v>0.8</c:v>
                </c:pt>
                <c:pt idx="7">
                  <c:v>1</c:v>
                </c:pt>
                <c:pt idx="8">
                  <c:v>1</c:v>
                </c:pt>
                <c:pt idx="9">
                  <c:v>1.2</c:v>
                </c:pt>
                <c:pt idx="10">
                  <c:v>1.3</c:v>
                </c:pt>
                <c:pt idx="11">
                  <c:v>1</c:v>
                </c:pt>
              </c:numCache>
            </c:numRef>
          </c:val>
          <c:extLst>
            <c:ext xmlns:c16="http://schemas.microsoft.com/office/drawing/2014/chart" uri="{C3380CC4-5D6E-409C-BE32-E72D297353CC}">
              <c16:uniqueId val="{00000000-1D4E-4A77-BE7E-8A0F19784B49}"/>
            </c:ext>
          </c:extLst>
        </c:ser>
        <c:ser>
          <c:idx val="1"/>
          <c:order val="1"/>
          <c:tx>
            <c:strRef>
              <c:f>Hoja1!$C$1</c:f>
              <c:strCache>
                <c:ptCount val="1"/>
                <c:pt idx="0">
                  <c:v>2026</c:v>
                </c:pt>
              </c:strCache>
            </c:strRef>
          </c:tx>
          <c:spPr>
            <a:solidFill>
              <a:srgbClr val="45A9A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45A9A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Hoja1!$C$2:$C$13</c:f>
              <c:numCache>
                <c:formatCode>General</c:formatCode>
                <c:ptCount val="12"/>
                <c:pt idx="0">
                  <c:v>2</c:v>
                </c:pt>
                <c:pt idx="1">
                  <c:v>1.8</c:v>
                </c:pt>
                <c:pt idx="2">
                  <c:v>1.3</c:v>
                </c:pt>
                <c:pt idx="3">
                  <c:v>1.2</c:v>
                </c:pt>
                <c:pt idx="4">
                  <c:v>1.7</c:v>
                </c:pt>
                <c:pt idx="5">
                  <c:v>1.1000000000000001</c:v>
                </c:pt>
                <c:pt idx="6">
                  <c:v>1.4</c:v>
                </c:pt>
                <c:pt idx="7">
                  <c:v>1.8</c:v>
                </c:pt>
                <c:pt idx="8">
                  <c:v>1.9</c:v>
                </c:pt>
              </c:numCache>
            </c:numRef>
          </c:val>
          <c:extLst>
            <c:ext xmlns:c16="http://schemas.microsoft.com/office/drawing/2014/chart" uri="{C3380CC4-5D6E-409C-BE32-E72D297353CC}">
              <c16:uniqueId val="{00000000-A94F-453F-9430-D9F03B554404}"/>
            </c:ext>
          </c:extLst>
        </c:ser>
        <c:dLbls>
          <c:showLegendKey val="0"/>
          <c:showVal val="0"/>
          <c:showCatName val="0"/>
          <c:showSerName val="0"/>
          <c:showPercent val="0"/>
          <c:showBubbleSize val="0"/>
        </c:dLbls>
        <c:gapWidth val="150"/>
        <c:axId val="241713408"/>
        <c:axId val="241711008"/>
      </c:barChart>
      <c:lineChart>
        <c:grouping val="standard"/>
        <c:varyColors val="0"/>
        <c:ser>
          <c:idx val="2"/>
          <c:order val="2"/>
          <c:tx>
            <c:strRef>
              <c:f>Hoja1!$D$1</c:f>
              <c:strCache>
                <c:ptCount val="1"/>
                <c:pt idx="0">
                  <c:v>Meta</c:v>
                </c:pt>
              </c:strCache>
            </c:strRef>
          </c:tx>
          <c:spPr>
            <a:ln w="28575" cap="rnd">
              <a:solidFill>
                <a:schemeClr val="accent1">
                  <a:lumMod val="50000"/>
                </a:schemeClr>
              </a:solidFill>
              <a:round/>
            </a:ln>
            <a:effectLst/>
          </c:spPr>
          <c:marker>
            <c:symbol val="none"/>
          </c:marker>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Hoja1!$D$2:$D$13</c:f>
              <c:numCache>
                <c:formatCode>General</c:formatCode>
                <c:ptCount val="12"/>
                <c:pt idx="0">
                  <c:v>1</c:v>
                </c:pt>
                <c:pt idx="1">
                  <c:v>1</c:v>
                </c:pt>
                <c:pt idx="2">
                  <c:v>1</c:v>
                </c:pt>
                <c:pt idx="3">
                  <c:v>1</c:v>
                </c:pt>
                <c:pt idx="4">
                  <c:v>1</c:v>
                </c:pt>
                <c:pt idx="5">
                  <c:v>1</c:v>
                </c:pt>
                <c:pt idx="6">
                  <c:v>1</c:v>
                </c:pt>
                <c:pt idx="7">
                  <c:v>1</c:v>
                </c:pt>
                <c:pt idx="8">
                  <c:v>1</c:v>
                </c:pt>
                <c:pt idx="9">
                  <c:v>1</c:v>
                </c:pt>
                <c:pt idx="10">
                  <c:v>1</c:v>
                </c:pt>
              </c:numCache>
            </c:numRef>
          </c:val>
          <c:smooth val="0"/>
          <c:extLst>
            <c:ext xmlns:c16="http://schemas.microsoft.com/office/drawing/2014/chart" uri="{C3380CC4-5D6E-409C-BE32-E72D297353CC}">
              <c16:uniqueId val="{00000000-E51E-4140-8D6F-2814189F129B}"/>
            </c:ext>
          </c:extLst>
        </c:ser>
        <c:dLbls>
          <c:showLegendKey val="0"/>
          <c:showVal val="0"/>
          <c:showCatName val="0"/>
          <c:showSerName val="0"/>
          <c:showPercent val="0"/>
          <c:showBubbleSize val="0"/>
        </c:dLbls>
        <c:marker val="1"/>
        <c:smooth val="0"/>
        <c:axId val="241713408"/>
        <c:axId val="241711008"/>
      </c:lineChart>
      <c:catAx>
        <c:axId val="241713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s-CO"/>
          </a:p>
        </c:txPr>
        <c:crossAx val="241711008"/>
        <c:crosses val="autoZero"/>
        <c:auto val="1"/>
        <c:lblAlgn val="ctr"/>
        <c:lblOffset val="100"/>
        <c:noMultiLvlLbl val="0"/>
      </c:catAx>
      <c:valAx>
        <c:axId val="241711008"/>
        <c:scaling>
          <c:orientation val="minMax"/>
          <c:max val="2"/>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s-CO"/>
          </a:p>
        </c:txPr>
        <c:crossAx val="241713408"/>
        <c:crosses val="autoZero"/>
        <c:crossBetween val="between"/>
        <c:majorUnit val="8"/>
      </c:valAx>
      <c:spPr>
        <a:noFill/>
        <a:ln>
          <a:noFill/>
        </a:ln>
        <a:effectLst/>
      </c:spPr>
    </c:plotArea>
    <c:legend>
      <c:legendPos val="r"/>
      <c:layout>
        <c:manualLayout>
          <c:xMode val="edge"/>
          <c:yMode val="edge"/>
          <c:x val="6.8040104166666657E-2"/>
          <c:y val="0.8238785227712847"/>
          <c:w val="0.82006527777777782"/>
          <c:h val="0.17612164491504556"/>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accent1"/>
      </a:solidFill>
    </a:ln>
    <a:effectLst/>
  </c:spPr>
  <c:txPr>
    <a:bodyPr/>
    <a:lstStyle/>
    <a:p>
      <a:pPr>
        <a:defRPr>
          <a:solidFill>
            <a:schemeClr val="tx1"/>
          </a:solidFill>
        </a:defRPr>
      </a:pPr>
      <a:endParaRPr lang="es-CO"/>
    </a:p>
  </c:txPr>
  <c:externalData r:id="rId3">
    <c:autoUpdate val="0"/>
  </c:externalData>
</c:chartSpace>
</file>

<file path=ppt/charts/chart8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s-CO" sz="1600" b="0" i="0" u="none" strike="noStrike" kern="1200" spc="0" baseline="0" dirty="0" smtClean="0">
                <a:solidFill>
                  <a:schemeClr val="tx1">
                    <a:lumMod val="65000"/>
                    <a:lumOff val="35000"/>
                  </a:schemeClr>
                </a:solidFill>
                <a:latin typeface="+mn-lt"/>
                <a:ea typeface="+mn-ea"/>
                <a:cs typeface="+mn-cs"/>
              </a:defRPr>
            </a:pPr>
            <a:r>
              <a:rPr lang="es-CO" sz="1400" b="1" noProof="0">
                <a:solidFill>
                  <a:schemeClr val="tx1"/>
                </a:solidFill>
              </a:rPr>
              <a:t>Oportunidad de consulta Especializada</a:t>
            </a:r>
          </a:p>
        </c:rich>
      </c:tx>
      <c:layout>
        <c:manualLayout>
          <c:xMode val="edge"/>
          <c:yMode val="edge"/>
          <c:x val="0.25177673611111112"/>
          <c:y val="0"/>
        </c:manualLayout>
      </c:layout>
      <c:overlay val="0"/>
      <c:spPr>
        <a:noFill/>
        <a:ln>
          <a:noFill/>
        </a:ln>
        <a:effectLst/>
      </c:spPr>
      <c:txPr>
        <a:bodyPr rot="0" spcFirstLastPara="1" vertOverflow="ellipsis" vert="horz" wrap="square" anchor="ctr" anchorCtr="1"/>
        <a:lstStyle/>
        <a:p>
          <a:pPr>
            <a:defRPr lang="es-CO" sz="1600" b="0" i="0" u="none" strike="noStrike" kern="1200" spc="0" baseline="0" dirty="0" smtClean="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Hoja1!$B$1</c:f>
              <c:strCache>
                <c:ptCount val="1"/>
                <c:pt idx="0">
                  <c:v>2025</c:v>
                </c:pt>
              </c:strCache>
            </c:strRef>
          </c:tx>
          <c:spPr>
            <a:solidFill>
              <a:schemeClr val="tx1">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Hoja1!$B$2:$B$13</c:f>
              <c:numCache>
                <c:formatCode>0.0</c:formatCode>
                <c:ptCount val="12"/>
                <c:pt idx="0">
                  <c:v>6.75</c:v>
                </c:pt>
                <c:pt idx="1">
                  <c:v>7.15</c:v>
                </c:pt>
                <c:pt idx="2">
                  <c:v>5.7</c:v>
                </c:pt>
                <c:pt idx="3">
                  <c:v>7</c:v>
                </c:pt>
                <c:pt idx="4">
                  <c:v>6.3</c:v>
                </c:pt>
                <c:pt idx="5">
                  <c:v>5.5</c:v>
                </c:pt>
                <c:pt idx="6">
                  <c:v>7.8</c:v>
                </c:pt>
                <c:pt idx="7">
                  <c:v>5.5</c:v>
                </c:pt>
                <c:pt idx="8">
                  <c:v>5.4</c:v>
                </c:pt>
                <c:pt idx="9">
                  <c:v>7</c:v>
                </c:pt>
                <c:pt idx="10">
                  <c:v>13.8</c:v>
                </c:pt>
                <c:pt idx="11">
                  <c:v>11.3</c:v>
                </c:pt>
              </c:numCache>
            </c:numRef>
          </c:val>
          <c:extLst>
            <c:ext xmlns:c16="http://schemas.microsoft.com/office/drawing/2014/chart" uri="{C3380CC4-5D6E-409C-BE32-E72D297353CC}">
              <c16:uniqueId val="{00000000-722B-4854-82FF-F073DB459EB1}"/>
            </c:ext>
          </c:extLst>
        </c:ser>
        <c:ser>
          <c:idx val="1"/>
          <c:order val="1"/>
          <c:tx>
            <c:strRef>
              <c:f>Hoja1!$C$1</c:f>
              <c:strCache>
                <c:ptCount val="1"/>
                <c:pt idx="0">
                  <c:v>2026</c:v>
                </c:pt>
              </c:strCache>
            </c:strRef>
          </c:tx>
          <c:spPr>
            <a:solidFill>
              <a:srgbClr val="45A9A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4FA9A7"/>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Hoja1!$C$2:$C$13</c:f>
              <c:numCache>
                <c:formatCode>0.0</c:formatCode>
                <c:ptCount val="12"/>
                <c:pt idx="0">
                  <c:v>10</c:v>
                </c:pt>
                <c:pt idx="1">
                  <c:v>8.6999999999999993</c:v>
                </c:pt>
                <c:pt idx="2">
                  <c:v>9</c:v>
                </c:pt>
                <c:pt idx="3">
                  <c:v>11</c:v>
                </c:pt>
                <c:pt idx="4">
                  <c:v>10.7</c:v>
                </c:pt>
                <c:pt idx="5">
                  <c:v>10.199999999999999</c:v>
                </c:pt>
                <c:pt idx="6">
                  <c:v>9.8000000000000007</c:v>
                </c:pt>
                <c:pt idx="7">
                  <c:v>7.3</c:v>
                </c:pt>
                <c:pt idx="8">
                  <c:v>10.8</c:v>
                </c:pt>
              </c:numCache>
            </c:numRef>
          </c:val>
          <c:extLst>
            <c:ext xmlns:c16="http://schemas.microsoft.com/office/drawing/2014/chart" uri="{C3380CC4-5D6E-409C-BE32-E72D297353CC}">
              <c16:uniqueId val="{00000000-36B0-400D-828E-C8125DC6D275}"/>
            </c:ext>
          </c:extLst>
        </c:ser>
        <c:dLbls>
          <c:showLegendKey val="0"/>
          <c:showVal val="0"/>
          <c:showCatName val="0"/>
          <c:showSerName val="0"/>
          <c:showPercent val="0"/>
          <c:showBubbleSize val="0"/>
        </c:dLbls>
        <c:gapWidth val="150"/>
        <c:axId val="241713408"/>
        <c:axId val="241711008"/>
      </c:barChart>
      <c:lineChart>
        <c:grouping val="standard"/>
        <c:varyColors val="0"/>
        <c:ser>
          <c:idx val="2"/>
          <c:order val="2"/>
          <c:tx>
            <c:strRef>
              <c:f>Hoja1!$D$1</c:f>
              <c:strCache>
                <c:ptCount val="1"/>
                <c:pt idx="0">
                  <c:v>Meta</c:v>
                </c:pt>
              </c:strCache>
            </c:strRef>
          </c:tx>
          <c:spPr>
            <a:ln w="28575" cap="rnd">
              <a:solidFill>
                <a:schemeClr val="accent1">
                  <a:lumMod val="50000"/>
                </a:schemeClr>
              </a:solidFill>
              <a:round/>
            </a:ln>
            <a:effectLst/>
          </c:spPr>
          <c:marker>
            <c:symbol val="circle"/>
            <c:size val="5"/>
            <c:spPr>
              <a:solidFill>
                <a:schemeClr val="bg1"/>
              </a:solidFill>
              <a:ln w="9525">
                <a:solidFill>
                  <a:schemeClr val="accent1">
                    <a:lumMod val="50000"/>
                  </a:schemeClr>
                </a:solidFill>
              </a:ln>
              <a:effectLst/>
            </c:spPr>
          </c:marker>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Hoja1!$D$2:$D$13</c:f>
              <c:numCache>
                <c:formatCode>0</c:formatCode>
                <c:ptCount val="12"/>
                <c:pt idx="0">
                  <c:v>10</c:v>
                </c:pt>
                <c:pt idx="1">
                  <c:v>10</c:v>
                </c:pt>
                <c:pt idx="2">
                  <c:v>10</c:v>
                </c:pt>
                <c:pt idx="3">
                  <c:v>10</c:v>
                </c:pt>
                <c:pt idx="4">
                  <c:v>10</c:v>
                </c:pt>
                <c:pt idx="5">
                  <c:v>10</c:v>
                </c:pt>
                <c:pt idx="6">
                  <c:v>10</c:v>
                </c:pt>
                <c:pt idx="7">
                  <c:v>10</c:v>
                </c:pt>
                <c:pt idx="8">
                  <c:v>10</c:v>
                </c:pt>
                <c:pt idx="9">
                  <c:v>10</c:v>
                </c:pt>
                <c:pt idx="10">
                  <c:v>10</c:v>
                </c:pt>
                <c:pt idx="11">
                  <c:v>10</c:v>
                </c:pt>
              </c:numCache>
            </c:numRef>
          </c:val>
          <c:smooth val="0"/>
          <c:extLst>
            <c:ext xmlns:c16="http://schemas.microsoft.com/office/drawing/2014/chart" uri="{C3380CC4-5D6E-409C-BE32-E72D297353CC}">
              <c16:uniqueId val="{00000000-4BDC-4A83-A57C-BADBDCE374CF}"/>
            </c:ext>
          </c:extLst>
        </c:ser>
        <c:dLbls>
          <c:showLegendKey val="0"/>
          <c:showVal val="0"/>
          <c:showCatName val="0"/>
          <c:showSerName val="0"/>
          <c:showPercent val="0"/>
          <c:showBubbleSize val="0"/>
        </c:dLbls>
        <c:marker val="1"/>
        <c:smooth val="0"/>
        <c:axId val="241713408"/>
        <c:axId val="241711008"/>
      </c:lineChart>
      <c:catAx>
        <c:axId val="241713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s-CO"/>
          </a:p>
        </c:txPr>
        <c:crossAx val="241711008"/>
        <c:crosses val="autoZero"/>
        <c:auto val="1"/>
        <c:lblAlgn val="ctr"/>
        <c:lblOffset val="100"/>
        <c:noMultiLvlLbl val="0"/>
      </c:catAx>
      <c:valAx>
        <c:axId val="241711008"/>
        <c:scaling>
          <c:orientation val="minMax"/>
          <c:max val="15"/>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241713408"/>
        <c:crosses val="autoZero"/>
        <c:crossBetween val="between"/>
        <c:majorUnit val="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accent1"/>
      </a:solidFill>
    </a:ln>
    <a:effectLst/>
  </c:spPr>
  <c:txPr>
    <a:bodyPr/>
    <a:lstStyle/>
    <a:p>
      <a:pPr>
        <a:defRPr/>
      </a:pPr>
      <a:endParaRPr lang="es-CO"/>
    </a:p>
  </c:txPr>
  <c:externalData r:id="rId3">
    <c:autoUpdate val="0"/>
  </c:externalData>
</c:chartSpace>
</file>

<file path=ppt/charts/chart8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r>
              <a:rPr lang="es-CO" sz="1400" b="1" noProof="0">
                <a:solidFill>
                  <a:schemeClr val="tx1"/>
                </a:solidFill>
              </a:rPr>
              <a:t>Oportunidad de consulta</a:t>
            </a:r>
            <a:r>
              <a:rPr lang="es-CO" sz="1400" b="1" baseline="0" noProof="0">
                <a:solidFill>
                  <a:schemeClr val="tx1"/>
                </a:solidFill>
              </a:rPr>
              <a:t> Sub especializada</a:t>
            </a:r>
            <a:endParaRPr lang="es-CO" sz="1400" b="1" noProof="0">
              <a:solidFill>
                <a:schemeClr val="tx1"/>
              </a:solidFill>
            </a:endParaRPr>
          </a:p>
        </c:rich>
      </c:tx>
      <c:layout>
        <c:manualLayout>
          <c:xMode val="edge"/>
          <c:yMode val="edge"/>
          <c:x val="0.21411770833333332"/>
          <c:y val="0"/>
        </c:manualLayout>
      </c:layout>
      <c:overlay val="0"/>
      <c:spPr>
        <a:noFill/>
        <a:ln>
          <a:noFill/>
        </a:ln>
        <a:effectLst/>
      </c:spPr>
      <c:txPr>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manualLayout>
          <c:layoutTarget val="inner"/>
          <c:xMode val="edge"/>
          <c:yMode val="edge"/>
          <c:x val="8.5589409722222232E-2"/>
          <c:y val="0.2176162900188324"/>
          <c:w val="0.89015711805555553"/>
          <c:h val="0.63171610169491521"/>
        </c:manualLayout>
      </c:layout>
      <c:barChart>
        <c:barDir val="col"/>
        <c:grouping val="clustered"/>
        <c:varyColors val="0"/>
        <c:ser>
          <c:idx val="0"/>
          <c:order val="0"/>
          <c:tx>
            <c:strRef>
              <c:f>Hoja1!$B$1</c:f>
              <c:strCache>
                <c:ptCount val="1"/>
                <c:pt idx="0">
                  <c:v>2025</c:v>
                </c:pt>
              </c:strCache>
            </c:strRef>
          </c:tx>
          <c:spPr>
            <a:solidFill>
              <a:schemeClr val="tx1">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Hoja1!$B$2:$B$13</c:f>
              <c:numCache>
                <c:formatCode>0</c:formatCode>
                <c:ptCount val="12"/>
                <c:pt idx="0">
                  <c:v>15.8</c:v>
                </c:pt>
                <c:pt idx="1">
                  <c:v>9.3000000000000007</c:v>
                </c:pt>
                <c:pt idx="2">
                  <c:v>9.3000000000000007</c:v>
                </c:pt>
                <c:pt idx="3">
                  <c:v>12.3</c:v>
                </c:pt>
                <c:pt idx="4">
                  <c:v>11.9</c:v>
                </c:pt>
                <c:pt idx="5">
                  <c:v>12.2</c:v>
                </c:pt>
                <c:pt idx="6">
                  <c:v>13.8</c:v>
                </c:pt>
                <c:pt idx="7">
                  <c:v>11.6</c:v>
                </c:pt>
                <c:pt idx="8">
                  <c:v>13.1</c:v>
                </c:pt>
                <c:pt idx="9">
                  <c:v>9.6</c:v>
                </c:pt>
                <c:pt idx="10">
                  <c:v>15</c:v>
                </c:pt>
                <c:pt idx="11">
                  <c:v>10.8</c:v>
                </c:pt>
              </c:numCache>
            </c:numRef>
          </c:val>
          <c:extLst>
            <c:ext xmlns:c16="http://schemas.microsoft.com/office/drawing/2014/chart" uri="{C3380CC4-5D6E-409C-BE32-E72D297353CC}">
              <c16:uniqueId val="{00000000-9004-40C9-8912-2B4D41862851}"/>
            </c:ext>
          </c:extLst>
        </c:ser>
        <c:ser>
          <c:idx val="1"/>
          <c:order val="1"/>
          <c:tx>
            <c:strRef>
              <c:f>Hoja1!$C$1</c:f>
              <c:strCache>
                <c:ptCount val="1"/>
                <c:pt idx="0">
                  <c:v>2026</c:v>
                </c:pt>
              </c:strCache>
            </c:strRef>
          </c:tx>
          <c:spPr>
            <a:solidFill>
              <a:srgbClr val="45A9A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45A9A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Hoja1!$C$2:$C$13</c:f>
              <c:numCache>
                <c:formatCode>0</c:formatCode>
                <c:ptCount val="12"/>
                <c:pt idx="0">
                  <c:v>8</c:v>
                </c:pt>
                <c:pt idx="1">
                  <c:v>9</c:v>
                </c:pt>
                <c:pt idx="2">
                  <c:v>9</c:v>
                </c:pt>
                <c:pt idx="3">
                  <c:v>11</c:v>
                </c:pt>
                <c:pt idx="4">
                  <c:v>9</c:v>
                </c:pt>
                <c:pt idx="5">
                  <c:v>9</c:v>
                </c:pt>
                <c:pt idx="6">
                  <c:v>10</c:v>
                </c:pt>
                <c:pt idx="7">
                  <c:v>9</c:v>
                </c:pt>
                <c:pt idx="8">
                  <c:v>9</c:v>
                </c:pt>
              </c:numCache>
            </c:numRef>
          </c:val>
          <c:extLst>
            <c:ext xmlns:c16="http://schemas.microsoft.com/office/drawing/2014/chart" uri="{C3380CC4-5D6E-409C-BE32-E72D297353CC}">
              <c16:uniqueId val="{00000000-6DB9-412F-94BF-11044C5CBBE5}"/>
            </c:ext>
          </c:extLst>
        </c:ser>
        <c:dLbls>
          <c:showLegendKey val="0"/>
          <c:showVal val="0"/>
          <c:showCatName val="0"/>
          <c:showSerName val="0"/>
          <c:showPercent val="0"/>
          <c:showBubbleSize val="0"/>
        </c:dLbls>
        <c:gapWidth val="150"/>
        <c:axId val="241713408"/>
        <c:axId val="241711008"/>
      </c:barChart>
      <c:lineChart>
        <c:grouping val="standard"/>
        <c:varyColors val="0"/>
        <c:ser>
          <c:idx val="2"/>
          <c:order val="2"/>
          <c:tx>
            <c:strRef>
              <c:f>Hoja1!$D$1</c:f>
              <c:strCache>
                <c:ptCount val="1"/>
                <c:pt idx="0">
                  <c:v>Meta</c:v>
                </c:pt>
              </c:strCache>
            </c:strRef>
          </c:tx>
          <c:spPr>
            <a:ln w="28575" cap="rnd">
              <a:solidFill>
                <a:schemeClr val="accent1">
                  <a:lumMod val="50000"/>
                </a:schemeClr>
              </a:solidFill>
              <a:round/>
            </a:ln>
            <a:effectLst/>
          </c:spPr>
          <c:marker>
            <c:symbol val="circle"/>
            <c:size val="5"/>
            <c:spPr>
              <a:solidFill>
                <a:schemeClr val="accent3"/>
              </a:solidFill>
              <a:ln w="9525">
                <a:solidFill>
                  <a:schemeClr val="accent1">
                    <a:lumMod val="50000"/>
                  </a:schemeClr>
                </a:solidFill>
              </a:ln>
              <a:effectLst/>
            </c:spPr>
          </c:marker>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Hoja1!$D$2:$D$13</c:f>
              <c:numCache>
                <c:formatCode>General</c:formatCode>
                <c:ptCount val="12"/>
                <c:pt idx="0">
                  <c:v>15</c:v>
                </c:pt>
                <c:pt idx="1">
                  <c:v>15</c:v>
                </c:pt>
                <c:pt idx="2">
                  <c:v>15</c:v>
                </c:pt>
                <c:pt idx="3">
                  <c:v>15</c:v>
                </c:pt>
                <c:pt idx="4">
                  <c:v>15</c:v>
                </c:pt>
                <c:pt idx="5">
                  <c:v>15</c:v>
                </c:pt>
                <c:pt idx="6">
                  <c:v>15</c:v>
                </c:pt>
                <c:pt idx="7">
                  <c:v>15</c:v>
                </c:pt>
                <c:pt idx="8">
                  <c:v>15</c:v>
                </c:pt>
                <c:pt idx="9">
                  <c:v>15</c:v>
                </c:pt>
                <c:pt idx="10">
                  <c:v>15</c:v>
                </c:pt>
                <c:pt idx="11">
                  <c:v>15</c:v>
                </c:pt>
              </c:numCache>
            </c:numRef>
          </c:val>
          <c:smooth val="0"/>
          <c:extLst>
            <c:ext xmlns:c16="http://schemas.microsoft.com/office/drawing/2014/chart" uri="{C3380CC4-5D6E-409C-BE32-E72D297353CC}">
              <c16:uniqueId val="{00000000-8060-4FF0-96BA-F874B4D3546E}"/>
            </c:ext>
          </c:extLst>
        </c:ser>
        <c:dLbls>
          <c:showLegendKey val="0"/>
          <c:showVal val="0"/>
          <c:showCatName val="0"/>
          <c:showSerName val="0"/>
          <c:showPercent val="0"/>
          <c:showBubbleSize val="0"/>
        </c:dLbls>
        <c:marker val="1"/>
        <c:smooth val="0"/>
        <c:axId val="241713408"/>
        <c:axId val="241711008"/>
      </c:lineChart>
      <c:catAx>
        <c:axId val="241713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s-CO"/>
          </a:p>
        </c:txPr>
        <c:crossAx val="241711008"/>
        <c:crosses val="autoZero"/>
        <c:auto val="1"/>
        <c:lblAlgn val="ctr"/>
        <c:lblOffset val="100"/>
        <c:noMultiLvlLbl val="0"/>
      </c:catAx>
      <c:valAx>
        <c:axId val="241711008"/>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24171340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accent1"/>
      </a:solidFill>
    </a:ln>
    <a:effectLst/>
  </c:spPr>
  <c:txPr>
    <a:bodyPr/>
    <a:lstStyle/>
    <a:p>
      <a:pPr>
        <a:defRPr/>
      </a:pPr>
      <a:endParaRPr lang="es-CO"/>
    </a:p>
  </c:txPr>
  <c:externalData r:id="rId3">
    <c:autoUpdate val="0"/>
  </c:externalData>
</c:chartSpace>
</file>

<file path=ppt/charts/chart8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s-CO" sz="1600" b="1" noProof="0">
                <a:solidFill>
                  <a:schemeClr val="tx1"/>
                </a:solidFill>
              </a:rPr>
              <a:t>Oportunidad</a:t>
            </a:r>
            <a:r>
              <a:rPr lang="es-CO" sz="1600" b="1" baseline="0" noProof="0">
                <a:solidFill>
                  <a:schemeClr val="tx1"/>
                </a:solidFill>
              </a:rPr>
              <a:t> de quimioterapia</a:t>
            </a:r>
            <a:endParaRPr lang="es-CO" sz="1600" b="1" noProof="0">
              <a:solidFill>
                <a:schemeClr val="tx1"/>
              </a:solidFill>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Hoja1!$C$1</c:f>
              <c:strCache>
                <c:ptCount val="1"/>
                <c:pt idx="0">
                  <c:v>2025</c:v>
                </c:pt>
              </c:strCache>
            </c:strRef>
          </c:tx>
          <c:spPr>
            <a:solidFill>
              <a:srgbClr val="00A19C"/>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45A9A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Hoja1!$C$2:$C$13</c:f>
              <c:numCache>
                <c:formatCode>0</c:formatCode>
                <c:ptCount val="12"/>
                <c:pt idx="0">
                  <c:v>10</c:v>
                </c:pt>
                <c:pt idx="1">
                  <c:v>7</c:v>
                </c:pt>
                <c:pt idx="2">
                  <c:v>7</c:v>
                </c:pt>
                <c:pt idx="3">
                  <c:v>7</c:v>
                </c:pt>
                <c:pt idx="4">
                  <c:v>7</c:v>
                </c:pt>
                <c:pt idx="5">
                  <c:v>7</c:v>
                </c:pt>
                <c:pt idx="6">
                  <c:v>9.5</c:v>
                </c:pt>
                <c:pt idx="7">
                  <c:v>10</c:v>
                </c:pt>
                <c:pt idx="8">
                  <c:v>11</c:v>
                </c:pt>
                <c:pt idx="9">
                  <c:v>7.8</c:v>
                </c:pt>
                <c:pt idx="10">
                  <c:v>8.4</c:v>
                </c:pt>
                <c:pt idx="11">
                  <c:v>8.1</c:v>
                </c:pt>
              </c:numCache>
            </c:numRef>
          </c:val>
          <c:extLst>
            <c:ext xmlns:c16="http://schemas.microsoft.com/office/drawing/2014/chart" uri="{C3380CC4-5D6E-409C-BE32-E72D297353CC}">
              <c16:uniqueId val="{00000000-42D9-4FD8-AB28-EAFCE23E12DC}"/>
            </c:ext>
          </c:extLst>
        </c:ser>
        <c:ser>
          <c:idx val="1"/>
          <c:order val="1"/>
          <c:tx>
            <c:strRef>
              <c:f>Hoja1!$D$1</c:f>
              <c:strCache>
                <c:ptCount val="1"/>
                <c:pt idx="0">
                  <c:v>2026</c:v>
                </c:pt>
              </c:strCache>
            </c:strRef>
          </c:tx>
          <c:spPr>
            <a:solidFill>
              <a:schemeClr val="tx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Hoja1!$D$2:$D$13</c:f>
              <c:numCache>
                <c:formatCode>0</c:formatCode>
                <c:ptCount val="12"/>
                <c:pt idx="0">
                  <c:v>20</c:v>
                </c:pt>
                <c:pt idx="1">
                  <c:v>18.2</c:v>
                </c:pt>
                <c:pt idx="2">
                  <c:v>15</c:v>
                </c:pt>
                <c:pt idx="3">
                  <c:v>10</c:v>
                </c:pt>
                <c:pt idx="4">
                  <c:v>11</c:v>
                </c:pt>
                <c:pt idx="5">
                  <c:v>10</c:v>
                </c:pt>
                <c:pt idx="6">
                  <c:v>12</c:v>
                </c:pt>
                <c:pt idx="7">
                  <c:v>15</c:v>
                </c:pt>
              </c:numCache>
            </c:numRef>
          </c:val>
          <c:extLst>
            <c:ext xmlns:c16="http://schemas.microsoft.com/office/drawing/2014/chart" uri="{C3380CC4-5D6E-409C-BE32-E72D297353CC}">
              <c16:uniqueId val="{00000000-0786-4630-A172-FEC81A43E53A}"/>
            </c:ext>
          </c:extLst>
        </c:ser>
        <c:dLbls>
          <c:showLegendKey val="0"/>
          <c:showVal val="0"/>
          <c:showCatName val="0"/>
          <c:showSerName val="0"/>
          <c:showPercent val="0"/>
          <c:showBubbleSize val="0"/>
        </c:dLbls>
        <c:gapWidth val="75"/>
        <c:overlap val="-25"/>
        <c:axId val="1418613503"/>
        <c:axId val="1418609663"/>
      </c:barChart>
      <c:lineChart>
        <c:grouping val="standard"/>
        <c:varyColors val="0"/>
        <c:ser>
          <c:idx val="2"/>
          <c:order val="2"/>
          <c:tx>
            <c:strRef>
              <c:f>Hoja1!$E$1</c:f>
              <c:strCache>
                <c:ptCount val="1"/>
                <c:pt idx="0">
                  <c:v>meta</c:v>
                </c:pt>
              </c:strCache>
            </c:strRef>
          </c:tx>
          <c:spPr>
            <a:ln w="28575" cap="rnd">
              <a:solidFill>
                <a:schemeClr val="accent1">
                  <a:lumMod val="50000"/>
                </a:schemeClr>
              </a:solidFill>
              <a:round/>
            </a:ln>
            <a:effectLst/>
          </c:spPr>
          <c:marker>
            <c:symbol val="none"/>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Hoja1!$E$2:$E$13</c:f>
              <c:numCache>
                <c:formatCode>0</c:formatCode>
                <c:ptCount val="12"/>
                <c:pt idx="0">
                  <c:v>15</c:v>
                </c:pt>
                <c:pt idx="1">
                  <c:v>15</c:v>
                </c:pt>
                <c:pt idx="2">
                  <c:v>15</c:v>
                </c:pt>
                <c:pt idx="3">
                  <c:v>15</c:v>
                </c:pt>
                <c:pt idx="4">
                  <c:v>15</c:v>
                </c:pt>
                <c:pt idx="5">
                  <c:v>15</c:v>
                </c:pt>
                <c:pt idx="6">
                  <c:v>15</c:v>
                </c:pt>
                <c:pt idx="7">
                  <c:v>15</c:v>
                </c:pt>
                <c:pt idx="8">
                  <c:v>15</c:v>
                </c:pt>
                <c:pt idx="9">
                  <c:v>15</c:v>
                </c:pt>
                <c:pt idx="10">
                  <c:v>15</c:v>
                </c:pt>
                <c:pt idx="11">
                  <c:v>15</c:v>
                </c:pt>
              </c:numCache>
            </c:numRef>
          </c:val>
          <c:smooth val="0"/>
          <c:extLst>
            <c:ext xmlns:c16="http://schemas.microsoft.com/office/drawing/2014/chart" uri="{C3380CC4-5D6E-409C-BE32-E72D297353CC}">
              <c16:uniqueId val="{00000002-6D7F-4BAD-97FA-5A0142977C93}"/>
            </c:ext>
          </c:extLst>
        </c:ser>
        <c:dLbls>
          <c:showLegendKey val="0"/>
          <c:showVal val="0"/>
          <c:showCatName val="0"/>
          <c:showSerName val="0"/>
          <c:showPercent val="0"/>
          <c:showBubbleSize val="0"/>
        </c:dLbls>
        <c:marker val="1"/>
        <c:smooth val="0"/>
        <c:axId val="1418613503"/>
        <c:axId val="1418609663"/>
      </c:lineChart>
      <c:catAx>
        <c:axId val="14186135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418609663"/>
        <c:crosses val="autoZero"/>
        <c:auto val="1"/>
        <c:lblAlgn val="ctr"/>
        <c:lblOffset val="100"/>
        <c:noMultiLvlLbl val="0"/>
      </c:catAx>
      <c:valAx>
        <c:axId val="1418609663"/>
        <c:scaling>
          <c:orientation val="minMax"/>
          <c:max val="25"/>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418613503"/>
        <c:crosses val="autoZero"/>
        <c:crossBetween val="between"/>
        <c:majorUnit val="5"/>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s-CO"/>
    </a:p>
  </c:txPr>
  <c:externalData r:id="rId3">
    <c:autoUpdate val="0"/>
  </c:externalData>
</c:chartSpace>
</file>

<file path=ppt/charts/chart8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s-CO" sz="1600" b="1" noProof="0">
                <a:solidFill>
                  <a:schemeClr val="tx1"/>
                </a:solidFill>
              </a:rPr>
              <a:t>Oportunidad de</a:t>
            </a:r>
            <a:r>
              <a:rPr lang="es-CO" sz="1600" b="1" baseline="0" noProof="0">
                <a:solidFill>
                  <a:schemeClr val="tx1"/>
                </a:solidFill>
              </a:rPr>
              <a:t> procedimientos quirúrgicos </a:t>
            </a:r>
            <a:endParaRPr lang="es-CO" sz="1600" b="1" noProof="0">
              <a:solidFill>
                <a:schemeClr val="tx1"/>
              </a:solidFill>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Hoja1!$C$1</c:f>
              <c:strCache>
                <c:ptCount val="1"/>
                <c:pt idx="0">
                  <c:v>2025</c:v>
                </c:pt>
              </c:strCache>
            </c:strRef>
          </c:tx>
          <c:spPr>
            <a:solidFill>
              <a:srgbClr val="00A19C"/>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45A9A1"/>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Hoja1!$C$2:$C$13</c:f>
              <c:numCache>
                <c:formatCode>0</c:formatCode>
                <c:ptCount val="12"/>
                <c:pt idx="0">
                  <c:v>61</c:v>
                </c:pt>
                <c:pt idx="1">
                  <c:v>58</c:v>
                </c:pt>
                <c:pt idx="2">
                  <c:v>54.9</c:v>
                </c:pt>
                <c:pt idx="3">
                  <c:v>79</c:v>
                </c:pt>
                <c:pt idx="4">
                  <c:v>60.5</c:v>
                </c:pt>
                <c:pt idx="5">
                  <c:v>31.7</c:v>
                </c:pt>
                <c:pt idx="6">
                  <c:v>48.1</c:v>
                </c:pt>
                <c:pt idx="7">
                  <c:v>47.8</c:v>
                </c:pt>
                <c:pt idx="8">
                  <c:v>44</c:v>
                </c:pt>
                <c:pt idx="9">
                  <c:v>47.3</c:v>
                </c:pt>
                <c:pt idx="10">
                  <c:v>53</c:v>
                </c:pt>
                <c:pt idx="11">
                  <c:v>40.700000000000003</c:v>
                </c:pt>
              </c:numCache>
            </c:numRef>
          </c:val>
          <c:extLst>
            <c:ext xmlns:c16="http://schemas.microsoft.com/office/drawing/2014/chart" uri="{C3380CC4-5D6E-409C-BE32-E72D297353CC}">
              <c16:uniqueId val="{00000000-9D83-4C8F-842A-320324160D41}"/>
            </c:ext>
          </c:extLst>
        </c:ser>
        <c:ser>
          <c:idx val="1"/>
          <c:order val="1"/>
          <c:tx>
            <c:strRef>
              <c:f>Hoja1!$D$1</c:f>
              <c:strCache>
                <c:ptCount val="1"/>
                <c:pt idx="0">
                  <c:v>2026</c:v>
                </c:pt>
              </c:strCache>
            </c:strRef>
          </c:tx>
          <c:spPr>
            <a:solidFill>
              <a:schemeClr val="tx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Hoja1!$D$2:$D$13</c:f>
              <c:numCache>
                <c:formatCode>General</c:formatCode>
                <c:ptCount val="12"/>
                <c:pt idx="0">
                  <c:v>38</c:v>
                </c:pt>
                <c:pt idx="1">
                  <c:v>40</c:v>
                </c:pt>
                <c:pt idx="2">
                  <c:v>29</c:v>
                </c:pt>
                <c:pt idx="3">
                  <c:v>32</c:v>
                </c:pt>
                <c:pt idx="4">
                  <c:v>47</c:v>
                </c:pt>
                <c:pt idx="5">
                  <c:v>45</c:v>
                </c:pt>
                <c:pt idx="6">
                  <c:v>57</c:v>
                </c:pt>
                <c:pt idx="7">
                  <c:v>55</c:v>
                </c:pt>
                <c:pt idx="8">
                  <c:v>41</c:v>
                </c:pt>
              </c:numCache>
            </c:numRef>
          </c:val>
          <c:extLst>
            <c:ext xmlns:c16="http://schemas.microsoft.com/office/drawing/2014/chart" uri="{C3380CC4-5D6E-409C-BE32-E72D297353CC}">
              <c16:uniqueId val="{00000000-34C9-42DA-B53E-E477EA48F6F7}"/>
            </c:ext>
          </c:extLst>
        </c:ser>
        <c:dLbls>
          <c:showLegendKey val="0"/>
          <c:showVal val="0"/>
          <c:showCatName val="0"/>
          <c:showSerName val="0"/>
          <c:showPercent val="0"/>
          <c:showBubbleSize val="0"/>
        </c:dLbls>
        <c:gapWidth val="75"/>
        <c:overlap val="-25"/>
        <c:axId val="1418613503"/>
        <c:axId val="1418609663"/>
      </c:barChart>
      <c:lineChart>
        <c:grouping val="standard"/>
        <c:varyColors val="0"/>
        <c:ser>
          <c:idx val="2"/>
          <c:order val="2"/>
          <c:tx>
            <c:strRef>
              <c:f>Hoja1!$E$1</c:f>
              <c:strCache>
                <c:ptCount val="1"/>
                <c:pt idx="0">
                  <c:v>Meta</c:v>
                </c:pt>
              </c:strCache>
            </c:strRef>
          </c:tx>
          <c:spPr>
            <a:ln w="28575" cap="rnd">
              <a:solidFill>
                <a:schemeClr val="accent1">
                  <a:lumMod val="50000"/>
                </a:schemeClr>
              </a:solidFill>
              <a:round/>
            </a:ln>
            <a:effectLst/>
          </c:spPr>
          <c:marker>
            <c:symbol val="circle"/>
            <c:size val="5"/>
            <c:spPr>
              <a:solidFill>
                <a:schemeClr val="accent3"/>
              </a:solidFill>
              <a:ln w="9525">
                <a:solidFill>
                  <a:schemeClr val="accent1">
                    <a:lumMod val="50000"/>
                  </a:schemeClr>
                </a:solidFill>
              </a:ln>
              <a:effectLst/>
            </c:spPr>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Hoja1!$E$2:$E$13</c:f>
              <c:numCache>
                <c:formatCode>General</c:formatCode>
                <c:ptCount val="12"/>
                <c:pt idx="0">
                  <c:v>25</c:v>
                </c:pt>
                <c:pt idx="1">
                  <c:v>25</c:v>
                </c:pt>
                <c:pt idx="2">
                  <c:v>25</c:v>
                </c:pt>
                <c:pt idx="3">
                  <c:v>25</c:v>
                </c:pt>
                <c:pt idx="4">
                  <c:v>25</c:v>
                </c:pt>
                <c:pt idx="5">
                  <c:v>25</c:v>
                </c:pt>
                <c:pt idx="6">
                  <c:v>25</c:v>
                </c:pt>
                <c:pt idx="7">
                  <c:v>25</c:v>
                </c:pt>
                <c:pt idx="8">
                  <c:v>25</c:v>
                </c:pt>
                <c:pt idx="9">
                  <c:v>25</c:v>
                </c:pt>
                <c:pt idx="10">
                  <c:v>25</c:v>
                </c:pt>
                <c:pt idx="11">
                  <c:v>25</c:v>
                </c:pt>
              </c:numCache>
            </c:numRef>
          </c:val>
          <c:smooth val="0"/>
          <c:extLst>
            <c:ext xmlns:c16="http://schemas.microsoft.com/office/drawing/2014/chart" uri="{C3380CC4-5D6E-409C-BE32-E72D297353CC}">
              <c16:uniqueId val="{00000001-34C9-42DA-B53E-E477EA48F6F7}"/>
            </c:ext>
          </c:extLst>
        </c:ser>
        <c:dLbls>
          <c:showLegendKey val="0"/>
          <c:showVal val="0"/>
          <c:showCatName val="0"/>
          <c:showSerName val="0"/>
          <c:showPercent val="0"/>
          <c:showBubbleSize val="0"/>
        </c:dLbls>
        <c:marker val="1"/>
        <c:smooth val="0"/>
        <c:axId val="1418613503"/>
        <c:axId val="1418609663"/>
      </c:lineChart>
      <c:catAx>
        <c:axId val="14186135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418609663"/>
        <c:crosses val="autoZero"/>
        <c:auto val="1"/>
        <c:lblAlgn val="ctr"/>
        <c:lblOffset val="100"/>
        <c:noMultiLvlLbl val="0"/>
      </c:catAx>
      <c:valAx>
        <c:axId val="1418609663"/>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41861350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s-CO"/>
    </a:p>
  </c:txPr>
  <c:externalData r:id="rId3">
    <c:autoUpdate val="0"/>
  </c:externalData>
</c:chartSpace>
</file>

<file path=ppt/charts/chart8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s-CO" sz="1600" b="1" noProof="0">
                <a:solidFill>
                  <a:schemeClr val="tx1"/>
                </a:solidFill>
              </a:rPr>
              <a:t>Oportunidad de radioterapia</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Hoja1!$C$1</c:f>
              <c:strCache>
                <c:ptCount val="1"/>
                <c:pt idx="0">
                  <c:v>2025</c:v>
                </c:pt>
              </c:strCache>
            </c:strRef>
          </c:tx>
          <c:spPr>
            <a:solidFill>
              <a:srgbClr val="00A19C"/>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45A9A1"/>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Hoja1!$C$2:$C$13</c:f>
              <c:numCache>
                <c:formatCode>General</c:formatCode>
                <c:ptCount val="12"/>
                <c:pt idx="0">
                  <c:v>14</c:v>
                </c:pt>
                <c:pt idx="1">
                  <c:v>12</c:v>
                </c:pt>
                <c:pt idx="2">
                  <c:v>10</c:v>
                </c:pt>
                <c:pt idx="3">
                  <c:v>14</c:v>
                </c:pt>
                <c:pt idx="4">
                  <c:v>13</c:v>
                </c:pt>
                <c:pt idx="5">
                  <c:v>13</c:v>
                </c:pt>
                <c:pt idx="6">
                  <c:v>16</c:v>
                </c:pt>
                <c:pt idx="7">
                  <c:v>14</c:v>
                </c:pt>
                <c:pt idx="8">
                  <c:v>15</c:v>
                </c:pt>
                <c:pt idx="9">
                  <c:v>14</c:v>
                </c:pt>
                <c:pt idx="10">
                  <c:v>15</c:v>
                </c:pt>
                <c:pt idx="11">
                  <c:v>14</c:v>
                </c:pt>
              </c:numCache>
            </c:numRef>
          </c:val>
          <c:extLst>
            <c:ext xmlns:c16="http://schemas.microsoft.com/office/drawing/2014/chart" uri="{C3380CC4-5D6E-409C-BE32-E72D297353CC}">
              <c16:uniqueId val="{00000000-6418-4EE4-A229-E94A84EF1777}"/>
            </c:ext>
          </c:extLst>
        </c:ser>
        <c:ser>
          <c:idx val="1"/>
          <c:order val="1"/>
          <c:tx>
            <c:strRef>
              <c:f>Hoja1!$D$1</c:f>
              <c:strCache>
                <c:ptCount val="1"/>
                <c:pt idx="0">
                  <c:v>2026</c:v>
                </c:pt>
              </c:strCache>
            </c:strRef>
          </c:tx>
          <c:spPr>
            <a:solidFill>
              <a:schemeClr val="tx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Hoja1!$D$2:$D$13</c:f>
              <c:numCache>
                <c:formatCode>General</c:formatCode>
                <c:ptCount val="12"/>
                <c:pt idx="0">
                  <c:v>20</c:v>
                </c:pt>
                <c:pt idx="1">
                  <c:v>14</c:v>
                </c:pt>
                <c:pt idx="2">
                  <c:v>16</c:v>
                </c:pt>
                <c:pt idx="3">
                  <c:v>15</c:v>
                </c:pt>
                <c:pt idx="4">
                  <c:v>13</c:v>
                </c:pt>
                <c:pt idx="5">
                  <c:v>17</c:v>
                </c:pt>
                <c:pt idx="6">
                  <c:v>15</c:v>
                </c:pt>
              </c:numCache>
            </c:numRef>
          </c:val>
          <c:extLst>
            <c:ext xmlns:c16="http://schemas.microsoft.com/office/drawing/2014/chart" uri="{C3380CC4-5D6E-409C-BE32-E72D297353CC}">
              <c16:uniqueId val="{00000002-5161-4943-AF65-3595DDD867F1}"/>
            </c:ext>
          </c:extLst>
        </c:ser>
        <c:dLbls>
          <c:showLegendKey val="0"/>
          <c:showVal val="0"/>
          <c:showCatName val="0"/>
          <c:showSerName val="0"/>
          <c:showPercent val="0"/>
          <c:showBubbleSize val="0"/>
        </c:dLbls>
        <c:gapWidth val="75"/>
        <c:overlap val="-25"/>
        <c:axId val="1418613503"/>
        <c:axId val="1418609663"/>
      </c:barChart>
      <c:lineChart>
        <c:grouping val="standard"/>
        <c:varyColors val="0"/>
        <c:ser>
          <c:idx val="2"/>
          <c:order val="2"/>
          <c:tx>
            <c:strRef>
              <c:f>Hoja1!$E$1</c:f>
              <c:strCache>
                <c:ptCount val="1"/>
                <c:pt idx="0">
                  <c:v>Meta</c:v>
                </c:pt>
              </c:strCache>
            </c:strRef>
          </c:tx>
          <c:spPr>
            <a:ln w="28575" cap="rnd">
              <a:solidFill>
                <a:schemeClr val="accent1">
                  <a:lumMod val="50000"/>
                </a:schemeClr>
              </a:solidFill>
              <a:round/>
            </a:ln>
            <a:effectLst/>
          </c:spPr>
          <c:marker>
            <c:symbol val="circle"/>
            <c:size val="5"/>
            <c:spPr>
              <a:solidFill>
                <a:schemeClr val="accent3"/>
              </a:solidFill>
              <a:ln w="9525">
                <a:solidFill>
                  <a:schemeClr val="accent1">
                    <a:lumMod val="50000"/>
                  </a:schemeClr>
                </a:solidFill>
              </a:ln>
              <a:effectLst/>
            </c:spPr>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Hoja1!$E$2:$E$13</c:f>
              <c:numCache>
                <c:formatCode>General</c:formatCode>
                <c:ptCount val="12"/>
                <c:pt idx="0">
                  <c:v>16</c:v>
                </c:pt>
                <c:pt idx="1">
                  <c:v>16</c:v>
                </c:pt>
                <c:pt idx="2">
                  <c:v>16</c:v>
                </c:pt>
                <c:pt idx="3">
                  <c:v>16</c:v>
                </c:pt>
                <c:pt idx="4">
                  <c:v>16</c:v>
                </c:pt>
                <c:pt idx="5">
                  <c:v>16</c:v>
                </c:pt>
                <c:pt idx="6">
                  <c:v>16</c:v>
                </c:pt>
                <c:pt idx="7">
                  <c:v>16</c:v>
                </c:pt>
                <c:pt idx="8">
                  <c:v>16</c:v>
                </c:pt>
                <c:pt idx="9">
                  <c:v>16</c:v>
                </c:pt>
                <c:pt idx="10">
                  <c:v>16</c:v>
                </c:pt>
                <c:pt idx="11">
                  <c:v>16</c:v>
                </c:pt>
              </c:numCache>
            </c:numRef>
          </c:val>
          <c:smooth val="0"/>
          <c:extLst>
            <c:ext xmlns:c16="http://schemas.microsoft.com/office/drawing/2014/chart" uri="{C3380CC4-5D6E-409C-BE32-E72D297353CC}">
              <c16:uniqueId val="{00000003-5161-4943-AF65-3595DDD867F1}"/>
            </c:ext>
          </c:extLst>
        </c:ser>
        <c:dLbls>
          <c:showLegendKey val="0"/>
          <c:showVal val="0"/>
          <c:showCatName val="0"/>
          <c:showSerName val="0"/>
          <c:showPercent val="0"/>
          <c:showBubbleSize val="0"/>
        </c:dLbls>
        <c:marker val="1"/>
        <c:smooth val="0"/>
        <c:axId val="1418613503"/>
        <c:axId val="1418609663"/>
      </c:lineChart>
      <c:catAx>
        <c:axId val="14186135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418609663"/>
        <c:crosses val="autoZero"/>
        <c:auto val="1"/>
        <c:lblAlgn val="ctr"/>
        <c:lblOffset val="100"/>
        <c:noMultiLvlLbl val="0"/>
      </c:catAx>
      <c:valAx>
        <c:axId val="141860966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418613503"/>
        <c:crosses val="autoZero"/>
        <c:crossBetween val="between"/>
        <c:majorUnit val="4"/>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s-CO"/>
    </a:p>
  </c:txPr>
  <c:externalData r:id="rId3">
    <c:autoUpdate val="0"/>
  </c:externalData>
</c:chartSpace>
</file>

<file path=ppt/charts/chart8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s-CO" sz="1600" b="1" noProof="0">
                <a:solidFill>
                  <a:schemeClr val="tx1"/>
                </a:solidFill>
              </a:rPr>
              <a:t>Oportunidad de medicamentos</a:t>
            </a:r>
            <a:r>
              <a:rPr lang="es-CO" sz="1600" b="1" baseline="0" noProof="0">
                <a:solidFill>
                  <a:schemeClr val="tx1"/>
                </a:solidFill>
              </a:rPr>
              <a:t> orales</a:t>
            </a:r>
            <a:endParaRPr lang="es-CO" sz="1600" b="1" noProof="0">
              <a:solidFill>
                <a:schemeClr val="tx1"/>
              </a:solidFill>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Hoja1!$C$1</c:f>
              <c:strCache>
                <c:ptCount val="1"/>
                <c:pt idx="0">
                  <c:v>2025</c:v>
                </c:pt>
              </c:strCache>
            </c:strRef>
          </c:tx>
          <c:spPr>
            <a:solidFill>
              <a:srgbClr val="00A19C"/>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45A9A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Hoja1!$C$2:$C$13</c:f>
              <c:numCache>
                <c:formatCode>0</c:formatCode>
                <c:ptCount val="12"/>
                <c:pt idx="0">
                  <c:v>7</c:v>
                </c:pt>
                <c:pt idx="1">
                  <c:v>7</c:v>
                </c:pt>
                <c:pt idx="2">
                  <c:v>7</c:v>
                </c:pt>
                <c:pt idx="3">
                  <c:v>7</c:v>
                </c:pt>
                <c:pt idx="4">
                  <c:v>7</c:v>
                </c:pt>
                <c:pt idx="5">
                  <c:v>7</c:v>
                </c:pt>
                <c:pt idx="6">
                  <c:v>13</c:v>
                </c:pt>
                <c:pt idx="7">
                  <c:v>8</c:v>
                </c:pt>
                <c:pt idx="8">
                  <c:v>11</c:v>
                </c:pt>
                <c:pt idx="9">
                  <c:v>14.5</c:v>
                </c:pt>
                <c:pt idx="10">
                  <c:v>9</c:v>
                </c:pt>
                <c:pt idx="11">
                  <c:v>5</c:v>
                </c:pt>
              </c:numCache>
            </c:numRef>
          </c:val>
          <c:extLst>
            <c:ext xmlns:c16="http://schemas.microsoft.com/office/drawing/2014/chart" uri="{C3380CC4-5D6E-409C-BE32-E72D297353CC}">
              <c16:uniqueId val="{00000000-9E38-4C13-ADEB-0305696DC97A}"/>
            </c:ext>
          </c:extLst>
        </c:ser>
        <c:ser>
          <c:idx val="1"/>
          <c:order val="1"/>
          <c:tx>
            <c:strRef>
              <c:f>Hoja1!$D$1</c:f>
              <c:strCache>
                <c:ptCount val="1"/>
                <c:pt idx="0">
                  <c:v>2026</c:v>
                </c:pt>
              </c:strCache>
            </c:strRef>
          </c:tx>
          <c:spPr>
            <a:solidFill>
              <a:schemeClr val="tx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Hoja1!$D$2:$D$13</c:f>
              <c:numCache>
                <c:formatCode>0</c:formatCode>
                <c:ptCount val="12"/>
                <c:pt idx="0">
                  <c:v>20</c:v>
                </c:pt>
                <c:pt idx="1">
                  <c:v>15.3</c:v>
                </c:pt>
                <c:pt idx="2">
                  <c:v>15</c:v>
                </c:pt>
                <c:pt idx="3">
                  <c:v>12</c:v>
                </c:pt>
                <c:pt idx="4">
                  <c:v>11</c:v>
                </c:pt>
                <c:pt idx="5">
                  <c:v>10</c:v>
                </c:pt>
                <c:pt idx="6">
                  <c:v>12</c:v>
                </c:pt>
                <c:pt idx="7">
                  <c:v>15</c:v>
                </c:pt>
              </c:numCache>
            </c:numRef>
          </c:val>
          <c:extLst>
            <c:ext xmlns:c16="http://schemas.microsoft.com/office/drawing/2014/chart" uri="{C3380CC4-5D6E-409C-BE32-E72D297353CC}">
              <c16:uniqueId val="{00000000-E416-40FA-BEBF-FFA027E60D10}"/>
            </c:ext>
          </c:extLst>
        </c:ser>
        <c:dLbls>
          <c:showLegendKey val="0"/>
          <c:showVal val="0"/>
          <c:showCatName val="0"/>
          <c:showSerName val="0"/>
          <c:showPercent val="0"/>
          <c:showBubbleSize val="0"/>
        </c:dLbls>
        <c:gapWidth val="75"/>
        <c:overlap val="-25"/>
        <c:axId val="1418613503"/>
        <c:axId val="1418609663"/>
      </c:barChart>
      <c:lineChart>
        <c:grouping val="standard"/>
        <c:varyColors val="0"/>
        <c:ser>
          <c:idx val="2"/>
          <c:order val="2"/>
          <c:tx>
            <c:strRef>
              <c:f>Hoja1!$E$1</c:f>
              <c:strCache>
                <c:ptCount val="1"/>
                <c:pt idx="0">
                  <c:v>Meta</c:v>
                </c:pt>
              </c:strCache>
            </c:strRef>
          </c:tx>
          <c:spPr>
            <a:ln w="28575" cap="rnd">
              <a:solidFill>
                <a:schemeClr val="accent1">
                  <a:lumMod val="50000"/>
                </a:schemeClr>
              </a:solidFill>
              <a:round/>
            </a:ln>
            <a:effectLst/>
          </c:spPr>
          <c:marker>
            <c:symbol val="none"/>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Hoja1!$E$2:$E$13</c:f>
              <c:numCache>
                <c:formatCode>General</c:formatCode>
                <c:ptCount val="12"/>
                <c:pt idx="0">
                  <c:v>10</c:v>
                </c:pt>
                <c:pt idx="1">
                  <c:v>10</c:v>
                </c:pt>
                <c:pt idx="2">
                  <c:v>10</c:v>
                </c:pt>
                <c:pt idx="3">
                  <c:v>10</c:v>
                </c:pt>
                <c:pt idx="4">
                  <c:v>10</c:v>
                </c:pt>
                <c:pt idx="5">
                  <c:v>10</c:v>
                </c:pt>
                <c:pt idx="6">
                  <c:v>10</c:v>
                </c:pt>
                <c:pt idx="7">
                  <c:v>10</c:v>
                </c:pt>
                <c:pt idx="8">
                  <c:v>10</c:v>
                </c:pt>
                <c:pt idx="9">
                  <c:v>10</c:v>
                </c:pt>
                <c:pt idx="10">
                  <c:v>10</c:v>
                </c:pt>
                <c:pt idx="11">
                  <c:v>10</c:v>
                </c:pt>
              </c:numCache>
            </c:numRef>
          </c:val>
          <c:smooth val="0"/>
          <c:extLst>
            <c:ext xmlns:c16="http://schemas.microsoft.com/office/drawing/2014/chart" uri="{C3380CC4-5D6E-409C-BE32-E72D297353CC}">
              <c16:uniqueId val="{00000001-A12E-4D7F-9CB6-B2760F16B6CA}"/>
            </c:ext>
          </c:extLst>
        </c:ser>
        <c:dLbls>
          <c:showLegendKey val="0"/>
          <c:showVal val="0"/>
          <c:showCatName val="0"/>
          <c:showSerName val="0"/>
          <c:showPercent val="0"/>
          <c:showBubbleSize val="0"/>
        </c:dLbls>
        <c:marker val="1"/>
        <c:smooth val="0"/>
        <c:axId val="1418613503"/>
        <c:axId val="1418609663"/>
      </c:lineChart>
      <c:catAx>
        <c:axId val="14186135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418609663"/>
        <c:crosses val="autoZero"/>
        <c:auto val="1"/>
        <c:lblAlgn val="ctr"/>
        <c:lblOffset val="100"/>
        <c:noMultiLvlLbl val="0"/>
      </c:catAx>
      <c:valAx>
        <c:axId val="1418609663"/>
        <c:scaling>
          <c:orientation val="minMax"/>
          <c:max val="25"/>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418613503"/>
        <c:crosses val="autoZero"/>
        <c:crossBetween val="between"/>
      </c:valAx>
      <c:spPr>
        <a:noFill/>
        <a:ln>
          <a:solidFill>
            <a:schemeClr val="tx1">
              <a:alpha val="95000"/>
            </a:schemeClr>
          </a:solid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s-CO"/>
    </a:p>
  </c:txPr>
  <c:externalData r:id="rId3">
    <c:autoUpdate val="0"/>
  </c:externalData>
</c:chartSpace>
</file>

<file path=ppt/charts/chart8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5579972691069871E-2"/>
          <c:y val="0.16629897686185896"/>
          <c:w val="0.91336541229928081"/>
          <c:h val="0.625348026652084"/>
        </c:manualLayout>
      </c:layout>
      <c:barChart>
        <c:barDir val="col"/>
        <c:grouping val="clustered"/>
        <c:varyColors val="0"/>
        <c:ser>
          <c:idx val="0"/>
          <c:order val="0"/>
          <c:tx>
            <c:strRef>
              <c:f>Hoja1!$A$2</c:f>
              <c:strCache>
                <c:ptCount val="1"/>
                <c:pt idx="0">
                  <c:v>Terapia sistemica</c:v>
                </c:pt>
              </c:strCache>
            </c:strRef>
          </c:tx>
          <c:spPr>
            <a:solidFill>
              <a:schemeClr val="accent1"/>
            </a:solidFill>
            <a:ln>
              <a:noFill/>
            </a:ln>
            <a:effectLst/>
          </c:spPr>
          <c:invertIfNegative val="0"/>
          <c:cat>
            <c:strRef>
              <c:f>Hoja1!$E$1:$V$1</c:f>
              <c:strCache>
                <c:ptCount val="18"/>
                <c:pt idx="0">
                  <c:v>abr-25</c:v>
                </c:pt>
                <c:pt idx="1">
                  <c:v>may-25</c:v>
                </c:pt>
                <c:pt idx="2">
                  <c:v>jun-25</c:v>
                </c:pt>
                <c:pt idx="3">
                  <c:v>jul-25</c:v>
                </c:pt>
                <c:pt idx="4">
                  <c:v>ago-25</c:v>
                </c:pt>
                <c:pt idx="5">
                  <c:v>sep-25</c:v>
                </c:pt>
                <c:pt idx="6">
                  <c:v>oct-25</c:v>
                </c:pt>
                <c:pt idx="7">
                  <c:v>nov-25</c:v>
                </c:pt>
                <c:pt idx="8">
                  <c:v>dic-25</c:v>
                </c:pt>
                <c:pt idx="9">
                  <c:v>ene-26</c:v>
                </c:pt>
                <c:pt idx="10">
                  <c:v>feb-26</c:v>
                </c:pt>
                <c:pt idx="11">
                  <c:v>mar-26</c:v>
                </c:pt>
                <c:pt idx="12">
                  <c:v>abr-26</c:v>
                </c:pt>
                <c:pt idx="13">
                  <c:v>may-26</c:v>
                </c:pt>
                <c:pt idx="14">
                  <c:v>jun-26</c:v>
                </c:pt>
                <c:pt idx="15">
                  <c:v>jul-26</c:v>
                </c:pt>
                <c:pt idx="16">
                  <c:v>ago-26</c:v>
                </c:pt>
                <c:pt idx="17">
                  <c:v>sep-26</c:v>
                </c:pt>
              </c:strCache>
            </c:strRef>
          </c:cat>
          <c:val>
            <c:numRef>
              <c:f>Hoja1!$E$2:$V$2</c:f>
              <c:numCache>
                <c:formatCode>0%</c:formatCode>
                <c:ptCount val="18"/>
                <c:pt idx="0">
                  <c:v>0.18391521197007482</c:v>
                </c:pt>
                <c:pt idx="1">
                  <c:v>0.15586797066014671</c:v>
                </c:pt>
                <c:pt idx="2">
                  <c:v>0.13682331945270673</c:v>
                </c:pt>
                <c:pt idx="3">
                  <c:v>0.16492450638792103</c:v>
                </c:pt>
                <c:pt idx="4">
                  <c:v>0.13138267355134825</c:v>
                </c:pt>
                <c:pt idx="5">
                  <c:v>0.13355780022446689</c:v>
                </c:pt>
                <c:pt idx="6">
                  <c:v>0.12183020948180816</c:v>
                </c:pt>
                <c:pt idx="7">
                  <c:v>0.11538461538461539</c:v>
                </c:pt>
                <c:pt idx="8">
                  <c:v>0.11608093716719915</c:v>
                </c:pt>
                <c:pt idx="9">
                  <c:v>0.13226909920182439</c:v>
                </c:pt>
                <c:pt idx="10">
                  <c:v>0.12807606263982102</c:v>
                </c:pt>
                <c:pt idx="11">
                  <c:v>0.1247276688453159</c:v>
                </c:pt>
                <c:pt idx="12">
                  <c:v>0.12044967880085652</c:v>
                </c:pt>
                <c:pt idx="13">
                  <c:v>0.11881188118811881</c:v>
                </c:pt>
                <c:pt idx="14">
                  <c:v>8.0224833929483902E-2</c:v>
                </c:pt>
                <c:pt idx="15">
                  <c:v>7.7461269365317345E-2</c:v>
                </c:pt>
                <c:pt idx="16">
                  <c:v>5.5719921104536489E-2</c:v>
                </c:pt>
                <c:pt idx="17">
                  <c:v>8.2038834951456308E-2</c:v>
                </c:pt>
              </c:numCache>
            </c:numRef>
          </c:val>
          <c:extLst>
            <c:ext xmlns:c16="http://schemas.microsoft.com/office/drawing/2014/chart" uri="{C3380CC4-5D6E-409C-BE32-E72D297353CC}">
              <c16:uniqueId val="{00000000-23E9-48BE-B6B1-EAD9636087D7}"/>
            </c:ext>
          </c:extLst>
        </c:ser>
        <c:ser>
          <c:idx val="1"/>
          <c:order val="1"/>
          <c:tx>
            <c:strRef>
              <c:f>Hoja1!$A$3</c:f>
              <c:strCache>
                <c:ptCount val="1"/>
                <c:pt idx="0">
                  <c:v>Radioterapia</c:v>
                </c:pt>
              </c:strCache>
            </c:strRef>
          </c:tx>
          <c:spPr>
            <a:solidFill>
              <a:srgbClr val="1CA6A0"/>
            </a:solidFill>
            <a:ln>
              <a:noFill/>
            </a:ln>
            <a:effectLst/>
          </c:spPr>
          <c:invertIfNegative val="0"/>
          <c:cat>
            <c:strRef>
              <c:f>Hoja1!$E$1:$V$1</c:f>
              <c:strCache>
                <c:ptCount val="18"/>
                <c:pt idx="0">
                  <c:v>abr-25</c:v>
                </c:pt>
                <c:pt idx="1">
                  <c:v>may-25</c:v>
                </c:pt>
                <c:pt idx="2">
                  <c:v>jun-25</c:v>
                </c:pt>
                <c:pt idx="3">
                  <c:v>jul-25</c:v>
                </c:pt>
                <c:pt idx="4">
                  <c:v>ago-25</c:v>
                </c:pt>
                <c:pt idx="5">
                  <c:v>sep-25</c:v>
                </c:pt>
                <c:pt idx="6">
                  <c:v>oct-25</c:v>
                </c:pt>
                <c:pt idx="7">
                  <c:v>nov-25</c:v>
                </c:pt>
                <c:pt idx="8">
                  <c:v>dic-25</c:v>
                </c:pt>
                <c:pt idx="9">
                  <c:v>ene-26</c:v>
                </c:pt>
                <c:pt idx="10">
                  <c:v>feb-26</c:v>
                </c:pt>
                <c:pt idx="11">
                  <c:v>mar-26</c:v>
                </c:pt>
                <c:pt idx="12">
                  <c:v>abr-26</c:v>
                </c:pt>
                <c:pt idx="13">
                  <c:v>may-26</c:v>
                </c:pt>
                <c:pt idx="14">
                  <c:v>jun-26</c:v>
                </c:pt>
                <c:pt idx="15">
                  <c:v>jul-26</c:v>
                </c:pt>
                <c:pt idx="16">
                  <c:v>ago-26</c:v>
                </c:pt>
                <c:pt idx="17">
                  <c:v>sep-26</c:v>
                </c:pt>
              </c:strCache>
            </c:strRef>
          </c:cat>
          <c:val>
            <c:numRef>
              <c:f>Hoja1!$E$3:$V$3</c:f>
              <c:numCache>
                <c:formatCode>0%</c:formatCode>
                <c:ptCount val="18"/>
                <c:pt idx="0">
                  <c:v>4.9875311720698253E-3</c:v>
                </c:pt>
                <c:pt idx="1">
                  <c:v>9.1687041564792182E-3</c:v>
                </c:pt>
                <c:pt idx="2">
                  <c:v>7.138607971445568E-3</c:v>
                </c:pt>
                <c:pt idx="3">
                  <c:v>6.387921022067364E-3</c:v>
                </c:pt>
                <c:pt idx="4">
                  <c:v>6.8846815834767644E-3</c:v>
                </c:pt>
                <c:pt idx="5">
                  <c:v>8.4175084175084174E-3</c:v>
                </c:pt>
                <c:pt idx="6">
                  <c:v>7.1664829106945979E-3</c:v>
                </c:pt>
                <c:pt idx="7">
                  <c:v>6.5005417118093175E-3</c:v>
                </c:pt>
                <c:pt idx="8">
                  <c:v>2.6624068157614484E-3</c:v>
                </c:pt>
                <c:pt idx="9">
                  <c:v>5.7012542759407071E-3</c:v>
                </c:pt>
                <c:pt idx="10">
                  <c:v>3.9149888143176735E-3</c:v>
                </c:pt>
                <c:pt idx="11">
                  <c:v>5.9912854030501088E-3</c:v>
                </c:pt>
                <c:pt idx="12">
                  <c:v>5.8886509635974306E-3</c:v>
                </c:pt>
                <c:pt idx="13">
                  <c:v>8.8587806149035952E-3</c:v>
                </c:pt>
                <c:pt idx="14">
                  <c:v>6.1318344404701075E-3</c:v>
                </c:pt>
                <c:pt idx="15">
                  <c:v>9.4952523738130942E-3</c:v>
                </c:pt>
                <c:pt idx="16" formatCode="0.0%">
                  <c:v>4.4378698224852072E-3</c:v>
                </c:pt>
                <c:pt idx="17" formatCode="0.0%">
                  <c:v>6.3106796116504851E-3</c:v>
                </c:pt>
              </c:numCache>
            </c:numRef>
          </c:val>
          <c:extLst>
            <c:ext xmlns:c16="http://schemas.microsoft.com/office/drawing/2014/chart" uri="{C3380CC4-5D6E-409C-BE32-E72D297353CC}">
              <c16:uniqueId val="{00000001-23E9-48BE-B6B1-EAD9636087D7}"/>
            </c:ext>
          </c:extLst>
        </c:ser>
        <c:ser>
          <c:idx val="2"/>
          <c:order val="2"/>
          <c:tx>
            <c:strRef>
              <c:f>Hoja1!$A$4</c:f>
              <c:strCache>
                <c:ptCount val="1"/>
                <c:pt idx="0">
                  <c:v>Cirugia</c:v>
                </c:pt>
              </c:strCache>
            </c:strRef>
          </c:tx>
          <c:spPr>
            <a:solidFill>
              <a:schemeClr val="bg1">
                <a:lumMod val="50000"/>
              </a:schemeClr>
            </a:solidFill>
            <a:ln>
              <a:noFill/>
            </a:ln>
            <a:effectLst/>
          </c:spPr>
          <c:invertIfNegative val="0"/>
          <c:cat>
            <c:strRef>
              <c:f>Hoja1!$E$1:$V$1</c:f>
              <c:strCache>
                <c:ptCount val="18"/>
                <c:pt idx="0">
                  <c:v>abr-25</c:v>
                </c:pt>
                <c:pt idx="1">
                  <c:v>may-25</c:v>
                </c:pt>
                <c:pt idx="2">
                  <c:v>jun-25</c:v>
                </c:pt>
                <c:pt idx="3">
                  <c:v>jul-25</c:v>
                </c:pt>
                <c:pt idx="4">
                  <c:v>ago-25</c:v>
                </c:pt>
                <c:pt idx="5">
                  <c:v>sep-25</c:v>
                </c:pt>
                <c:pt idx="6">
                  <c:v>oct-25</c:v>
                </c:pt>
                <c:pt idx="7">
                  <c:v>nov-25</c:v>
                </c:pt>
                <c:pt idx="8">
                  <c:v>dic-25</c:v>
                </c:pt>
                <c:pt idx="9">
                  <c:v>ene-26</c:v>
                </c:pt>
                <c:pt idx="10">
                  <c:v>feb-26</c:v>
                </c:pt>
                <c:pt idx="11">
                  <c:v>mar-26</c:v>
                </c:pt>
                <c:pt idx="12">
                  <c:v>abr-26</c:v>
                </c:pt>
                <c:pt idx="13">
                  <c:v>may-26</c:v>
                </c:pt>
                <c:pt idx="14">
                  <c:v>jun-26</c:v>
                </c:pt>
                <c:pt idx="15">
                  <c:v>jul-26</c:v>
                </c:pt>
                <c:pt idx="16">
                  <c:v>ago-26</c:v>
                </c:pt>
                <c:pt idx="17">
                  <c:v>sep-26</c:v>
                </c:pt>
              </c:strCache>
            </c:strRef>
          </c:cat>
          <c:val>
            <c:numRef>
              <c:f>Hoja1!$E$4:$V$4</c:f>
              <c:numCache>
                <c:formatCode>0%</c:formatCode>
                <c:ptCount val="18"/>
                <c:pt idx="0">
                  <c:v>2.1820448877805487E-2</c:v>
                </c:pt>
                <c:pt idx="1">
                  <c:v>1.9559902200488997E-2</c:v>
                </c:pt>
                <c:pt idx="2">
                  <c:v>1.7251635930993457E-2</c:v>
                </c:pt>
                <c:pt idx="3">
                  <c:v>1.9163763066202089E-2</c:v>
                </c:pt>
                <c:pt idx="4">
                  <c:v>2.2948938611589215E-2</c:v>
                </c:pt>
                <c:pt idx="5">
                  <c:v>1.4029180695847363E-2</c:v>
                </c:pt>
                <c:pt idx="6">
                  <c:v>1.0474090407938258E-2</c:v>
                </c:pt>
                <c:pt idx="7">
                  <c:v>1.1917659804983749E-2</c:v>
                </c:pt>
                <c:pt idx="8">
                  <c:v>1.2779552715654952E-2</c:v>
                </c:pt>
                <c:pt idx="9">
                  <c:v>2.2805017103762829E-2</c:v>
                </c:pt>
                <c:pt idx="10">
                  <c:v>3.3557046979865772E-2</c:v>
                </c:pt>
                <c:pt idx="11">
                  <c:v>5.6644880174291937E-2</c:v>
                </c:pt>
                <c:pt idx="12">
                  <c:v>4.3897216274089934E-2</c:v>
                </c:pt>
                <c:pt idx="13">
                  <c:v>3.5956227201667537E-2</c:v>
                </c:pt>
                <c:pt idx="14">
                  <c:v>2.6571282575370465E-2</c:v>
                </c:pt>
                <c:pt idx="15">
                  <c:v>4.1479260369815092E-2</c:v>
                </c:pt>
                <c:pt idx="16">
                  <c:v>2.514792899408284E-2</c:v>
                </c:pt>
                <c:pt idx="17">
                  <c:v>3.3495145631067959E-2</c:v>
                </c:pt>
              </c:numCache>
            </c:numRef>
          </c:val>
          <c:extLst>
            <c:ext xmlns:c16="http://schemas.microsoft.com/office/drawing/2014/chart" uri="{C3380CC4-5D6E-409C-BE32-E72D297353CC}">
              <c16:uniqueId val="{00000002-23E9-48BE-B6B1-EAD9636087D7}"/>
            </c:ext>
          </c:extLst>
        </c:ser>
        <c:dLbls>
          <c:showLegendKey val="0"/>
          <c:showVal val="0"/>
          <c:showCatName val="0"/>
          <c:showSerName val="0"/>
          <c:showPercent val="0"/>
          <c:showBubbleSize val="0"/>
        </c:dLbls>
        <c:gapWidth val="219"/>
        <c:axId val="2061031887"/>
        <c:axId val="2061024207"/>
      </c:barChart>
      <c:lineChart>
        <c:grouping val="standard"/>
        <c:varyColors val="0"/>
        <c:ser>
          <c:idx val="3"/>
          <c:order val="3"/>
          <c:tx>
            <c:strRef>
              <c:f>Hoja1!$A$5</c:f>
              <c:strCache>
                <c:ptCount val="1"/>
                <c:pt idx="0">
                  <c:v>%</c:v>
                </c:pt>
              </c:strCache>
            </c:strRef>
          </c:tx>
          <c:spPr>
            <a:ln w="28575" cap="rnd">
              <a:solidFill>
                <a:srgbClr val="000000"/>
              </a:solidFill>
              <a:round/>
            </a:ln>
            <a:effectLst/>
          </c:spPr>
          <c:marker>
            <c:symbol val="none"/>
          </c:marker>
          <c:dLbls>
            <c:spPr>
              <a:solidFill>
                <a:srgbClr val="FFFFFF"/>
              </a:solidFill>
              <a:ln>
                <a:solidFill>
                  <a:srgbClr val="80589F">
                    <a:lumMod val="25000"/>
                    <a:lumOff val="75000"/>
                  </a:srgbClr>
                </a:solidFill>
              </a:ln>
              <a:effectLst/>
            </c:spPr>
            <c:txPr>
              <a:bodyPr rot="0" spcFirstLastPara="1" vertOverflow="clip" horzOverflow="clip" vert="horz" wrap="square" lIns="36576" tIns="18288" rIns="36576" bIns="18288" anchor="ctr" anchorCtr="1">
                <a:spAutoFit/>
              </a:bodyPr>
              <a:lstStyle/>
              <a:p>
                <a:pPr>
                  <a:defRPr sz="1197" b="0" i="0" u="none" strike="noStrike" kern="1200" baseline="0">
                    <a:solidFill>
                      <a:srgbClr val="000000"/>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Hoja1!$E$1:$V$1</c:f>
              <c:strCache>
                <c:ptCount val="18"/>
                <c:pt idx="0">
                  <c:v>abr-25</c:v>
                </c:pt>
                <c:pt idx="1">
                  <c:v>may-25</c:v>
                </c:pt>
                <c:pt idx="2">
                  <c:v>jun-25</c:v>
                </c:pt>
                <c:pt idx="3">
                  <c:v>jul-25</c:v>
                </c:pt>
                <c:pt idx="4">
                  <c:v>ago-25</c:v>
                </c:pt>
                <c:pt idx="5">
                  <c:v>sep-25</c:v>
                </c:pt>
                <c:pt idx="6">
                  <c:v>oct-25</c:v>
                </c:pt>
                <c:pt idx="7">
                  <c:v>nov-25</c:v>
                </c:pt>
                <c:pt idx="8">
                  <c:v>dic-25</c:v>
                </c:pt>
                <c:pt idx="9">
                  <c:v>ene-26</c:v>
                </c:pt>
                <c:pt idx="10">
                  <c:v>feb-26</c:v>
                </c:pt>
                <c:pt idx="11">
                  <c:v>mar-26</c:v>
                </c:pt>
                <c:pt idx="12">
                  <c:v>abr-26</c:v>
                </c:pt>
                <c:pt idx="13">
                  <c:v>may-26</c:v>
                </c:pt>
                <c:pt idx="14">
                  <c:v>jun-26</c:v>
                </c:pt>
                <c:pt idx="15">
                  <c:v>jul-26</c:v>
                </c:pt>
                <c:pt idx="16">
                  <c:v>ago-26</c:v>
                </c:pt>
                <c:pt idx="17">
                  <c:v>sep-26</c:v>
                </c:pt>
              </c:strCache>
            </c:strRef>
          </c:cat>
          <c:val>
            <c:numRef>
              <c:f>Hoja1!$E$5:$V$5</c:f>
              <c:numCache>
                <c:formatCode>0%</c:formatCode>
                <c:ptCount val="18"/>
                <c:pt idx="0">
                  <c:v>0.21072319201995013</c:v>
                </c:pt>
                <c:pt idx="1">
                  <c:v>0.18459657701711493</c:v>
                </c:pt>
                <c:pt idx="2">
                  <c:v>0.16121356335514578</c:v>
                </c:pt>
                <c:pt idx="3">
                  <c:v>0.19047619047619049</c:v>
                </c:pt>
                <c:pt idx="4">
                  <c:v>0.16121629374641425</c:v>
                </c:pt>
                <c:pt idx="5">
                  <c:v>0.15600448933782265</c:v>
                </c:pt>
                <c:pt idx="6">
                  <c:v>0.13947078280044101</c:v>
                </c:pt>
                <c:pt idx="7">
                  <c:v>0.13380281690140847</c:v>
                </c:pt>
                <c:pt idx="8">
                  <c:v>0.13152289669861555</c:v>
                </c:pt>
                <c:pt idx="9">
                  <c:v>0.16077537058152791</c:v>
                </c:pt>
                <c:pt idx="10">
                  <c:v>0.16554809843400448</c:v>
                </c:pt>
                <c:pt idx="11">
                  <c:v>0.18736383442265797</c:v>
                </c:pt>
                <c:pt idx="12">
                  <c:v>0.17023554603854388</c:v>
                </c:pt>
                <c:pt idx="13">
                  <c:v>0.16362688900468991</c:v>
                </c:pt>
                <c:pt idx="14">
                  <c:v>0.11292795094532447</c:v>
                </c:pt>
                <c:pt idx="15">
                  <c:v>0.12843578210894552</c:v>
                </c:pt>
                <c:pt idx="16">
                  <c:v>8.5305719921104542E-2</c:v>
                </c:pt>
                <c:pt idx="17">
                  <c:v>0.12184466019417475</c:v>
                </c:pt>
              </c:numCache>
            </c:numRef>
          </c:val>
          <c:smooth val="0"/>
          <c:extLst>
            <c:ext xmlns:c16="http://schemas.microsoft.com/office/drawing/2014/chart" uri="{C3380CC4-5D6E-409C-BE32-E72D297353CC}">
              <c16:uniqueId val="{00000000-1A6B-4004-8026-ABD440415F1C}"/>
            </c:ext>
          </c:extLst>
        </c:ser>
        <c:dLbls>
          <c:showLegendKey val="0"/>
          <c:showVal val="0"/>
          <c:showCatName val="0"/>
          <c:showSerName val="0"/>
          <c:showPercent val="0"/>
          <c:showBubbleSize val="0"/>
        </c:dLbls>
        <c:marker val="1"/>
        <c:smooth val="0"/>
        <c:axId val="2061031887"/>
        <c:axId val="2061024207"/>
      </c:lineChart>
      <c:catAx>
        <c:axId val="20610318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2061024207"/>
        <c:crosses val="autoZero"/>
        <c:auto val="1"/>
        <c:lblAlgn val="ctr"/>
        <c:lblOffset val="100"/>
        <c:noMultiLvlLbl val="0"/>
      </c:catAx>
      <c:valAx>
        <c:axId val="2061024207"/>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206103188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8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8158A1"/>
                </a:solidFill>
                <a:latin typeface="+mn-lt"/>
                <a:ea typeface="+mn-ea"/>
                <a:cs typeface="+mn-cs"/>
              </a:defRPr>
            </a:pPr>
            <a:r>
              <a:rPr lang="es-CO" b="1">
                <a:solidFill>
                  <a:srgbClr val="8158A1"/>
                </a:solidFill>
              </a:rPr>
              <a:t>COMPARATIVO</a:t>
            </a:r>
            <a:r>
              <a:rPr lang="es-CO" b="1" baseline="0">
                <a:solidFill>
                  <a:srgbClr val="8158A1"/>
                </a:solidFill>
              </a:rPr>
              <a:t> NPS</a:t>
            </a:r>
            <a:endParaRPr lang="es-CO" b="1">
              <a:solidFill>
                <a:srgbClr val="8158A1"/>
              </a:solidFill>
            </a:endParaRP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8158A1"/>
              </a:solidFill>
              <a:latin typeface="+mn-lt"/>
              <a:ea typeface="+mn-ea"/>
              <a:cs typeface="+mn-cs"/>
            </a:defRPr>
          </a:pPr>
          <a:endParaRPr lang="es-CO"/>
        </a:p>
      </c:txPr>
    </c:title>
    <c:autoTitleDeleted val="0"/>
    <c:plotArea>
      <c:layout/>
      <c:barChart>
        <c:barDir val="col"/>
        <c:grouping val="stacked"/>
        <c:varyColors val="0"/>
        <c:ser>
          <c:idx val="0"/>
          <c:order val="0"/>
          <c:tx>
            <c:strRef>
              <c:f>'2026'!$AD$57</c:f>
              <c:strCache>
                <c:ptCount val="1"/>
                <c:pt idx="0">
                  <c:v>APOSTOLES</c:v>
                </c:pt>
              </c:strCache>
            </c:strRef>
          </c:tx>
          <c:spPr>
            <a:solidFill>
              <a:srgbClr val="8158A1"/>
            </a:solidFill>
            <a:ln>
              <a:noFill/>
            </a:ln>
            <a:effectLst/>
          </c:spPr>
          <c:invertIfNegative val="0"/>
          <c:cat>
            <c:strRef>
              <c:f>'2026'!$AE$1:$AK$1</c:f>
              <c:strCache>
                <c:ptCount val="7"/>
                <c:pt idx="0">
                  <c:v>ENE</c:v>
                </c:pt>
                <c:pt idx="1">
                  <c:v>FEB</c:v>
                </c:pt>
                <c:pt idx="2">
                  <c:v>MAR</c:v>
                </c:pt>
                <c:pt idx="3">
                  <c:v>ABR</c:v>
                </c:pt>
                <c:pt idx="4">
                  <c:v>MAY</c:v>
                </c:pt>
                <c:pt idx="5">
                  <c:v>JUN</c:v>
                </c:pt>
                <c:pt idx="6">
                  <c:v>JUL</c:v>
                </c:pt>
              </c:strCache>
            </c:strRef>
          </c:cat>
          <c:val>
            <c:numRef>
              <c:f>'2026'!$AE$57:$AK$57</c:f>
              <c:numCache>
                <c:formatCode>General</c:formatCode>
                <c:ptCount val="7"/>
                <c:pt idx="0">
                  <c:v>279</c:v>
                </c:pt>
                <c:pt idx="1">
                  <c:v>168</c:v>
                </c:pt>
                <c:pt idx="2">
                  <c:v>196</c:v>
                </c:pt>
                <c:pt idx="3">
                  <c:v>199</c:v>
                </c:pt>
                <c:pt idx="4">
                  <c:v>245</c:v>
                </c:pt>
                <c:pt idx="5">
                  <c:v>333</c:v>
                </c:pt>
                <c:pt idx="6">
                  <c:v>352</c:v>
                </c:pt>
              </c:numCache>
            </c:numRef>
          </c:val>
          <c:extLst>
            <c:ext xmlns:c16="http://schemas.microsoft.com/office/drawing/2014/chart" uri="{C3380CC4-5D6E-409C-BE32-E72D297353CC}">
              <c16:uniqueId val="{00000000-29CC-47E9-98F1-FEC2A7EDDFCA}"/>
            </c:ext>
          </c:extLst>
        </c:ser>
        <c:ser>
          <c:idx val="1"/>
          <c:order val="1"/>
          <c:tx>
            <c:strRef>
              <c:f>'2026'!$AD$58</c:f>
              <c:strCache>
                <c:ptCount val="1"/>
                <c:pt idx="0">
                  <c:v>NEUTROS</c:v>
                </c:pt>
              </c:strCache>
            </c:strRef>
          </c:tx>
          <c:spPr>
            <a:solidFill>
              <a:srgbClr val="47A9BF"/>
            </a:solidFill>
            <a:ln>
              <a:noFill/>
            </a:ln>
            <a:effectLst/>
          </c:spPr>
          <c:invertIfNegative val="0"/>
          <c:cat>
            <c:strRef>
              <c:f>'2026'!$AE$1:$AK$1</c:f>
              <c:strCache>
                <c:ptCount val="7"/>
                <c:pt idx="0">
                  <c:v>ENE</c:v>
                </c:pt>
                <c:pt idx="1">
                  <c:v>FEB</c:v>
                </c:pt>
                <c:pt idx="2">
                  <c:v>MAR</c:v>
                </c:pt>
                <c:pt idx="3">
                  <c:v>ABR</c:v>
                </c:pt>
                <c:pt idx="4">
                  <c:v>MAY</c:v>
                </c:pt>
                <c:pt idx="5">
                  <c:v>JUN</c:v>
                </c:pt>
                <c:pt idx="6">
                  <c:v>JUL</c:v>
                </c:pt>
              </c:strCache>
            </c:strRef>
          </c:cat>
          <c:val>
            <c:numRef>
              <c:f>'2026'!$AE$58:$AK$58</c:f>
              <c:numCache>
                <c:formatCode>General</c:formatCode>
                <c:ptCount val="7"/>
                <c:pt idx="0">
                  <c:v>2</c:v>
                </c:pt>
                <c:pt idx="1">
                  <c:v>28</c:v>
                </c:pt>
                <c:pt idx="2">
                  <c:v>5</c:v>
                </c:pt>
                <c:pt idx="3">
                  <c:v>8</c:v>
                </c:pt>
                <c:pt idx="4">
                  <c:v>1</c:v>
                </c:pt>
                <c:pt idx="5">
                  <c:v>3</c:v>
                </c:pt>
                <c:pt idx="6">
                  <c:v>1</c:v>
                </c:pt>
              </c:numCache>
            </c:numRef>
          </c:val>
          <c:extLst>
            <c:ext xmlns:c16="http://schemas.microsoft.com/office/drawing/2014/chart" uri="{C3380CC4-5D6E-409C-BE32-E72D297353CC}">
              <c16:uniqueId val="{00000001-29CC-47E9-98F1-FEC2A7EDDFCA}"/>
            </c:ext>
          </c:extLst>
        </c:ser>
        <c:ser>
          <c:idx val="2"/>
          <c:order val="2"/>
          <c:tx>
            <c:strRef>
              <c:f>'2026'!$AD$59</c:f>
              <c:strCache>
                <c:ptCount val="1"/>
                <c:pt idx="0">
                  <c:v>DETRACTORES</c:v>
                </c:pt>
              </c:strCache>
            </c:strRef>
          </c:tx>
          <c:spPr>
            <a:solidFill>
              <a:srgbClr val="FF0000"/>
            </a:solidFill>
            <a:ln>
              <a:noFill/>
            </a:ln>
            <a:effectLst/>
          </c:spPr>
          <c:invertIfNegative val="0"/>
          <c:cat>
            <c:strRef>
              <c:f>'2026'!$AE$1:$AK$1</c:f>
              <c:strCache>
                <c:ptCount val="7"/>
                <c:pt idx="0">
                  <c:v>ENE</c:v>
                </c:pt>
                <c:pt idx="1">
                  <c:v>FEB</c:v>
                </c:pt>
                <c:pt idx="2">
                  <c:v>MAR</c:v>
                </c:pt>
                <c:pt idx="3">
                  <c:v>ABR</c:v>
                </c:pt>
                <c:pt idx="4">
                  <c:v>MAY</c:v>
                </c:pt>
                <c:pt idx="5">
                  <c:v>JUN</c:v>
                </c:pt>
                <c:pt idx="6">
                  <c:v>JUL</c:v>
                </c:pt>
              </c:strCache>
            </c:strRef>
          </c:cat>
          <c:val>
            <c:numRef>
              <c:f>'2026'!$AE$59:$AK$59</c:f>
              <c:numCache>
                <c:formatCode>General</c:formatCode>
                <c:ptCount val="7"/>
                <c:pt idx="0">
                  <c:v>1</c:v>
                </c:pt>
                <c:pt idx="1">
                  <c:v>9</c:v>
                </c:pt>
                <c:pt idx="2">
                  <c:v>7</c:v>
                </c:pt>
                <c:pt idx="3">
                  <c:v>3</c:v>
                </c:pt>
                <c:pt idx="4">
                  <c:v>6</c:v>
                </c:pt>
                <c:pt idx="5">
                  <c:v>2</c:v>
                </c:pt>
                <c:pt idx="6">
                  <c:v>1</c:v>
                </c:pt>
              </c:numCache>
            </c:numRef>
          </c:val>
          <c:extLst>
            <c:ext xmlns:c16="http://schemas.microsoft.com/office/drawing/2014/chart" uri="{C3380CC4-5D6E-409C-BE32-E72D297353CC}">
              <c16:uniqueId val="{00000002-29CC-47E9-98F1-FEC2A7EDDFCA}"/>
            </c:ext>
          </c:extLst>
        </c:ser>
        <c:dLbls>
          <c:showLegendKey val="0"/>
          <c:showVal val="0"/>
          <c:showCatName val="0"/>
          <c:showSerName val="0"/>
          <c:showPercent val="0"/>
          <c:showBubbleSize val="0"/>
        </c:dLbls>
        <c:gapWidth val="150"/>
        <c:overlap val="100"/>
        <c:axId val="1860293279"/>
        <c:axId val="1860295679"/>
      </c:barChart>
      <c:catAx>
        <c:axId val="18602932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860295679"/>
        <c:crosses val="autoZero"/>
        <c:auto val="1"/>
        <c:lblAlgn val="ctr"/>
        <c:lblOffset val="100"/>
        <c:noMultiLvlLbl val="0"/>
      </c:catAx>
      <c:valAx>
        <c:axId val="186029567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860293279"/>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100" b="0" i="0" u="none" strike="noStrike" kern="1200" baseline="0">
                <a:solidFill>
                  <a:schemeClr val="tx1">
                    <a:lumMod val="75000"/>
                  </a:schemeClr>
                </a:solidFill>
                <a:latin typeface="+mn-lt"/>
                <a:ea typeface="+mn-ea"/>
                <a:cs typeface="+mn-cs"/>
              </a:defRPr>
            </a:pPr>
            <a:endParaRPr lang="es-CO"/>
          </a:p>
        </c:txPr>
      </c:dTable>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7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9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7030A0"/>
                </a:solidFill>
                <a:latin typeface="+mn-lt"/>
                <a:ea typeface="+mn-ea"/>
                <a:cs typeface="+mn-cs"/>
              </a:defRPr>
            </a:pPr>
            <a:r>
              <a:rPr lang="es-CO"/>
              <a:t>CES</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7030A0"/>
              </a:solidFill>
              <a:latin typeface="+mn-lt"/>
              <a:ea typeface="+mn-ea"/>
              <a:cs typeface="+mn-cs"/>
            </a:defRPr>
          </a:pPr>
          <a:endParaRPr lang="es-CO"/>
        </a:p>
      </c:txPr>
    </c:title>
    <c:autoTitleDeleted val="0"/>
    <c:plotArea>
      <c:layout/>
      <c:barChart>
        <c:barDir val="col"/>
        <c:grouping val="clustered"/>
        <c:varyColors val="0"/>
        <c:ser>
          <c:idx val="0"/>
          <c:order val="0"/>
          <c:tx>
            <c:strRef>
              <c:f>'2026'!$A$93</c:f>
              <c:strCache>
                <c:ptCount val="1"/>
                <c:pt idx="0">
                  <c:v>2026</c:v>
                </c:pt>
              </c:strCache>
            </c:strRef>
          </c:tx>
          <c:spPr>
            <a:solidFill>
              <a:srgbClr val="8158A1"/>
            </a:solidFill>
            <a:ln>
              <a:solidFill>
                <a:srgbClr val="8158A1"/>
              </a:solidFill>
              <a:prstDash val="soli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'2026'!$C$86:$I$86</c:f>
              <c:strCache>
                <c:ptCount val="7"/>
                <c:pt idx="0">
                  <c:v>ENE</c:v>
                </c:pt>
                <c:pt idx="1">
                  <c:v>FEB</c:v>
                </c:pt>
                <c:pt idx="2">
                  <c:v>MAR</c:v>
                </c:pt>
                <c:pt idx="3">
                  <c:v>ABR</c:v>
                </c:pt>
                <c:pt idx="4">
                  <c:v>MAY</c:v>
                </c:pt>
                <c:pt idx="5">
                  <c:v>JUN</c:v>
                </c:pt>
                <c:pt idx="6">
                  <c:v>JUL</c:v>
                </c:pt>
              </c:strCache>
              <c:extLst/>
            </c:strRef>
          </c:cat>
          <c:val>
            <c:numRef>
              <c:f>'2026'!$C$93:$I$93</c:f>
              <c:numCache>
                <c:formatCode>0%</c:formatCode>
                <c:ptCount val="7"/>
                <c:pt idx="0">
                  <c:v>0.98226950354609932</c:v>
                </c:pt>
                <c:pt idx="1">
                  <c:v>0.91707317073170735</c:v>
                </c:pt>
                <c:pt idx="2">
                  <c:v>0.9285714285714286</c:v>
                </c:pt>
                <c:pt idx="3">
                  <c:v>0.9425837320574163</c:v>
                </c:pt>
                <c:pt idx="4">
                  <c:v>0.9760956175298805</c:v>
                </c:pt>
                <c:pt idx="5">
                  <c:v>0.98816568047337283</c:v>
                </c:pt>
                <c:pt idx="6">
                  <c:v>0.99717514124293782</c:v>
                </c:pt>
              </c:numCache>
              <c:extLst/>
            </c:numRef>
          </c:val>
          <c:extLst>
            <c:ext xmlns:c16="http://schemas.microsoft.com/office/drawing/2014/chart" uri="{C3380CC4-5D6E-409C-BE32-E72D297353CC}">
              <c16:uniqueId val="{00000000-66BD-4175-BD46-E384D2AD6E16}"/>
            </c:ext>
          </c:extLst>
        </c:ser>
        <c:dLbls>
          <c:showLegendKey val="0"/>
          <c:showVal val="0"/>
          <c:showCatName val="0"/>
          <c:showSerName val="0"/>
          <c:showPercent val="0"/>
          <c:showBubbleSize val="0"/>
        </c:dLbls>
        <c:gapWidth val="150"/>
        <c:axId val="304009135"/>
        <c:axId val="304009615"/>
      </c:barChart>
      <c:lineChart>
        <c:grouping val="standard"/>
        <c:varyColors val="0"/>
        <c:ser>
          <c:idx val="1"/>
          <c:order val="1"/>
          <c:tx>
            <c:strRef>
              <c:f>'2026'!$A$95</c:f>
              <c:strCache>
                <c:ptCount val="1"/>
                <c:pt idx="0">
                  <c:v>META</c:v>
                </c:pt>
              </c:strCache>
            </c:strRef>
          </c:tx>
          <c:spPr>
            <a:ln w="28575" cap="rnd">
              <a:solidFill>
                <a:srgbClr val="FF0000"/>
              </a:solidFill>
              <a:prstDash val="sysDot"/>
              <a:round/>
            </a:ln>
            <a:effectLst/>
          </c:spPr>
          <c:marker>
            <c:symbol val="none"/>
          </c:marker>
          <c:dLbls>
            <c:delete val="1"/>
          </c:dLbls>
          <c:cat>
            <c:strRef>
              <c:f>'2026'!$C$86:$I$86</c:f>
              <c:strCache>
                <c:ptCount val="7"/>
                <c:pt idx="0">
                  <c:v>ENE</c:v>
                </c:pt>
                <c:pt idx="1">
                  <c:v>FEB</c:v>
                </c:pt>
                <c:pt idx="2">
                  <c:v>MAR</c:v>
                </c:pt>
                <c:pt idx="3">
                  <c:v>ABR</c:v>
                </c:pt>
                <c:pt idx="4">
                  <c:v>MAY</c:v>
                </c:pt>
                <c:pt idx="5">
                  <c:v>JUN</c:v>
                </c:pt>
                <c:pt idx="6">
                  <c:v>JUL</c:v>
                </c:pt>
              </c:strCache>
              <c:extLst/>
            </c:strRef>
          </c:cat>
          <c:val>
            <c:numRef>
              <c:f>'2026'!$C$95:$I$95</c:f>
              <c:numCache>
                <c:formatCode>0%</c:formatCode>
                <c:ptCount val="7"/>
                <c:pt idx="0">
                  <c:v>0.9</c:v>
                </c:pt>
                <c:pt idx="1">
                  <c:v>0.9</c:v>
                </c:pt>
                <c:pt idx="2">
                  <c:v>0.9</c:v>
                </c:pt>
                <c:pt idx="3">
                  <c:v>0.9</c:v>
                </c:pt>
                <c:pt idx="4">
                  <c:v>0.9</c:v>
                </c:pt>
                <c:pt idx="5">
                  <c:v>0.9</c:v>
                </c:pt>
                <c:pt idx="6">
                  <c:v>0.9</c:v>
                </c:pt>
              </c:numCache>
              <c:extLst/>
            </c:numRef>
          </c:val>
          <c:smooth val="0"/>
          <c:extLst>
            <c:ext xmlns:c16="http://schemas.microsoft.com/office/drawing/2014/chart" uri="{C3380CC4-5D6E-409C-BE32-E72D297353CC}">
              <c16:uniqueId val="{00000001-66BD-4175-BD46-E384D2AD6E16}"/>
            </c:ext>
          </c:extLst>
        </c:ser>
        <c:dLbls>
          <c:dLblPos val="t"/>
          <c:showLegendKey val="0"/>
          <c:showVal val="1"/>
          <c:showCatName val="0"/>
          <c:showSerName val="0"/>
          <c:showPercent val="0"/>
          <c:showBubbleSize val="0"/>
        </c:dLbls>
        <c:marker val="1"/>
        <c:smooth val="0"/>
        <c:axId val="304009135"/>
        <c:axId val="304009615"/>
      </c:lineChart>
      <c:catAx>
        <c:axId val="3040091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304009615"/>
        <c:crosses val="autoZero"/>
        <c:auto val="1"/>
        <c:lblAlgn val="ctr"/>
        <c:lblOffset val="100"/>
        <c:noMultiLvlLbl val="0"/>
      </c:catAx>
      <c:valAx>
        <c:axId val="304009615"/>
        <c:scaling>
          <c:orientation val="minMax"/>
          <c:min val="0.84000000000000008"/>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304009135"/>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9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7030A0"/>
                </a:solidFill>
                <a:latin typeface="+mn-lt"/>
                <a:ea typeface="+mn-ea"/>
                <a:cs typeface="+mn-cs"/>
              </a:defRPr>
            </a:pPr>
            <a:r>
              <a:rPr lang="en-US"/>
              <a:t>Satisfacción</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7030A0"/>
              </a:solidFill>
              <a:latin typeface="+mn-lt"/>
              <a:ea typeface="+mn-ea"/>
              <a:cs typeface="+mn-cs"/>
            </a:defRPr>
          </a:pPr>
          <a:endParaRPr lang="es-CO"/>
        </a:p>
      </c:txPr>
    </c:title>
    <c:autoTitleDeleted val="0"/>
    <c:plotArea>
      <c:layout/>
      <c:barChart>
        <c:barDir val="col"/>
        <c:grouping val="clustered"/>
        <c:varyColors val="0"/>
        <c:ser>
          <c:idx val="0"/>
          <c:order val="0"/>
          <c:tx>
            <c:strRef>
              <c:f>'2026'!$A$80</c:f>
              <c:strCache>
                <c:ptCount val="1"/>
                <c:pt idx="0">
                  <c:v>2026</c:v>
                </c:pt>
              </c:strCache>
            </c:strRef>
          </c:tx>
          <c:spPr>
            <a:solidFill>
              <a:srgbClr val="8158A1"/>
            </a:solidFill>
            <a:ln>
              <a:solidFill>
                <a:srgbClr val="8158A1"/>
              </a:solidFill>
              <a:prstDash val="soli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'2026'!$C$74:$I$74</c:f>
              <c:strCache>
                <c:ptCount val="7"/>
                <c:pt idx="0">
                  <c:v>ENE</c:v>
                </c:pt>
                <c:pt idx="1">
                  <c:v>FEB</c:v>
                </c:pt>
                <c:pt idx="2">
                  <c:v>MAR</c:v>
                </c:pt>
                <c:pt idx="3">
                  <c:v>ABR</c:v>
                </c:pt>
                <c:pt idx="4">
                  <c:v>MAY</c:v>
                </c:pt>
                <c:pt idx="5">
                  <c:v>JUN</c:v>
                </c:pt>
                <c:pt idx="6">
                  <c:v>JUL</c:v>
                </c:pt>
              </c:strCache>
              <c:extLst/>
            </c:strRef>
          </c:cat>
          <c:val>
            <c:numRef>
              <c:f>'2026'!$C$80:$I$80</c:f>
              <c:numCache>
                <c:formatCode>0.00</c:formatCode>
                <c:ptCount val="7"/>
                <c:pt idx="0">
                  <c:v>4.9219858156028371</c:v>
                </c:pt>
                <c:pt idx="1">
                  <c:v>4.7121951219512193</c:v>
                </c:pt>
                <c:pt idx="2">
                  <c:v>4.7772511848341228</c:v>
                </c:pt>
                <c:pt idx="3">
                  <c:v>4.8190476190476188</c:v>
                </c:pt>
                <c:pt idx="4">
                  <c:v>4.8571428571428568</c:v>
                </c:pt>
                <c:pt idx="5">
                  <c:v>4.9704142011834316</c:v>
                </c:pt>
                <c:pt idx="6">
                  <c:v>4.9717514124293789</c:v>
                </c:pt>
              </c:numCache>
              <c:extLst/>
            </c:numRef>
          </c:val>
          <c:extLst>
            <c:ext xmlns:c16="http://schemas.microsoft.com/office/drawing/2014/chart" uri="{C3380CC4-5D6E-409C-BE32-E72D297353CC}">
              <c16:uniqueId val="{00000000-8A28-4E2E-B910-545B1A708909}"/>
            </c:ext>
          </c:extLst>
        </c:ser>
        <c:dLbls>
          <c:showLegendKey val="0"/>
          <c:showVal val="0"/>
          <c:showCatName val="0"/>
          <c:showSerName val="0"/>
          <c:showPercent val="0"/>
          <c:showBubbleSize val="0"/>
        </c:dLbls>
        <c:gapWidth val="150"/>
        <c:axId val="269787551"/>
        <c:axId val="269786591"/>
      </c:barChart>
      <c:lineChart>
        <c:grouping val="standard"/>
        <c:varyColors val="0"/>
        <c:ser>
          <c:idx val="1"/>
          <c:order val="1"/>
          <c:tx>
            <c:strRef>
              <c:f>'2026'!$A$82</c:f>
              <c:strCache>
                <c:ptCount val="1"/>
                <c:pt idx="0">
                  <c:v>META</c:v>
                </c:pt>
              </c:strCache>
            </c:strRef>
          </c:tx>
          <c:spPr>
            <a:ln w="28575" cap="rnd">
              <a:solidFill>
                <a:srgbClr val="FF0000"/>
              </a:solidFill>
              <a:prstDash val="sysDot"/>
              <a:round/>
            </a:ln>
            <a:effectLst/>
          </c:spPr>
          <c:marker>
            <c:symbol val="none"/>
          </c:marker>
          <c:cat>
            <c:strRef>
              <c:f>'2026'!$C$74:$I$74</c:f>
              <c:strCache>
                <c:ptCount val="7"/>
                <c:pt idx="0">
                  <c:v>ENE</c:v>
                </c:pt>
                <c:pt idx="1">
                  <c:v>FEB</c:v>
                </c:pt>
                <c:pt idx="2">
                  <c:v>MAR</c:v>
                </c:pt>
                <c:pt idx="3">
                  <c:v>ABR</c:v>
                </c:pt>
                <c:pt idx="4">
                  <c:v>MAY</c:v>
                </c:pt>
                <c:pt idx="5">
                  <c:v>JUN</c:v>
                </c:pt>
                <c:pt idx="6">
                  <c:v>JUL</c:v>
                </c:pt>
              </c:strCache>
              <c:extLst/>
            </c:strRef>
          </c:cat>
          <c:val>
            <c:numRef>
              <c:f>'2026'!$C$82:$I$82</c:f>
              <c:numCache>
                <c:formatCode>0.0</c:formatCode>
                <c:ptCount val="7"/>
                <c:pt idx="0">
                  <c:v>4.8</c:v>
                </c:pt>
                <c:pt idx="1">
                  <c:v>4.8</c:v>
                </c:pt>
                <c:pt idx="2">
                  <c:v>4.8</c:v>
                </c:pt>
                <c:pt idx="3">
                  <c:v>4.8</c:v>
                </c:pt>
                <c:pt idx="4">
                  <c:v>4.8</c:v>
                </c:pt>
                <c:pt idx="5">
                  <c:v>4.8</c:v>
                </c:pt>
                <c:pt idx="6" formatCode="General">
                  <c:v>4.8</c:v>
                </c:pt>
              </c:numCache>
              <c:extLst/>
            </c:numRef>
          </c:val>
          <c:smooth val="0"/>
          <c:extLst>
            <c:ext xmlns:c16="http://schemas.microsoft.com/office/drawing/2014/chart" uri="{C3380CC4-5D6E-409C-BE32-E72D297353CC}">
              <c16:uniqueId val="{00000001-8A28-4E2E-B910-545B1A708909}"/>
            </c:ext>
          </c:extLst>
        </c:ser>
        <c:dLbls>
          <c:showLegendKey val="0"/>
          <c:showVal val="0"/>
          <c:showCatName val="0"/>
          <c:showSerName val="0"/>
          <c:showPercent val="0"/>
          <c:showBubbleSize val="0"/>
        </c:dLbls>
        <c:marker val="1"/>
        <c:smooth val="0"/>
        <c:axId val="269787551"/>
        <c:axId val="269786591"/>
      </c:lineChart>
      <c:catAx>
        <c:axId val="2697875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75000"/>
                  </a:schemeClr>
                </a:solidFill>
                <a:latin typeface="+mn-lt"/>
                <a:ea typeface="+mn-ea"/>
                <a:cs typeface="+mn-cs"/>
              </a:defRPr>
            </a:pPr>
            <a:endParaRPr lang="es-CO"/>
          </a:p>
        </c:txPr>
        <c:crossAx val="269786591"/>
        <c:crosses val="autoZero"/>
        <c:auto val="1"/>
        <c:lblAlgn val="ctr"/>
        <c:lblOffset val="100"/>
        <c:noMultiLvlLbl val="0"/>
      </c:catAx>
      <c:valAx>
        <c:axId val="269786591"/>
        <c:scaling>
          <c:orientation val="minMax"/>
          <c:min val="4.5"/>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269787551"/>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9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7030A0"/>
                </a:solidFill>
                <a:latin typeface="+mn-lt"/>
                <a:ea typeface="+mn-ea"/>
                <a:cs typeface="+mn-cs"/>
              </a:defRPr>
            </a:pPr>
            <a:r>
              <a:rPr lang="es-CO"/>
              <a:t>FCR</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7030A0"/>
              </a:solidFill>
              <a:latin typeface="+mn-lt"/>
              <a:ea typeface="+mn-ea"/>
              <a:cs typeface="+mn-cs"/>
            </a:defRPr>
          </a:pPr>
          <a:endParaRPr lang="es-CO"/>
        </a:p>
      </c:txPr>
    </c:title>
    <c:autoTitleDeleted val="0"/>
    <c:plotArea>
      <c:layout/>
      <c:barChart>
        <c:barDir val="col"/>
        <c:grouping val="clustered"/>
        <c:varyColors val="0"/>
        <c:ser>
          <c:idx val="0"/>
          <c:order val="0"/>
          <c:tx>
            <c:strRef>
              <c:f>'2026'!$A$102:$B$102</c:f>
              <c:strCache>
                <c:ptCount val="2"/>
                <c:pt idx="0">
                  <c:v>2026</c:v>
                </c:pt>
              </c:strCache>
            </c:strRef>
          </c:tx>
          <c:spPr>
            <a:solidFill>
              <a:srgbClr val="8158A1"/>
            </a:solidFill>
            <a:ln>
              <a:solidFill>
                <a:srgbClr val="8158A1"/>
              </a:solidFill>
              <a:prstDash val="soli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'2026'!$C$98:$I$98</c:f>
              <c:strCache>
                <c:ptCount val="7"/>
                <c:pt idx="0">
                  <c:v>ENE</c:v>
                </c:pt>
                <c:pt idx="1">
                  <c:v>FEB</c:v>
                </c:pt>
                <c:pt idx="2">
                  <c:v>MAR</c:v>
                </c:pt>
                <c:pt idx="3">
                  <c:v>ABR</c:v>
                </c:pt>
                <c:pt idx="4">
                  <c:v>MAY</c:v>
                </c:pt>
                <c:pt idx="5">
                  <c:v>JUN</c:v>
                </c:pt>
                <c:pt idx="6">
                  <c:v>JUL</c:v>
                </c:pt>
              </c:strCache>
              <c:extLst/>
            </c:strRef>
          </c:cat>
          <c:val>
            <c:numRef>
              <c:f>'2026'!$C$102:$I$102</c:f>
              <c:numCache>
                <c:formatCode>0%</c:formatCode>
                <c:ptCount val="7"/>
                <c:pt idx="0">
                  <c:v>0.98581560283687941</c:v>
                </c:pt>
                <c:pt idx="1">
                  <c:v>0.94607843137254899</c:v>
                </c:pt>
                <c:pt idx="2">
                  <c:v>0.94285714285714284</c:v>
                </c:pt>
                <c:pt idx="3">
                  <c:v>0.96190476190476193</c:v>
                </c:pt>
                <c:pt idx="4">
                  <c:v>0.99601593625498008</c:v>
                </c:pt>
                <c:pt idx="5">
                  <c:v>1</c:v>
                </c:pt>
                <c:pt idx="6">
                  <c:v>0.99717514124293782</c:v>
                </c:pt>
              </c:numCache>
              <c:extLst/>
            </c:numRef>
          </c:val>
          <c:extLst>
            <c:ext xmlns:c16="http://schemas.microsoft.com/office/drawing/2014/chart" uri="{C3380CC4-5D6E-409C-BE32-E72D297353CC}">
              <c16:uniqueId val="{00000000-E017-449A-B3E9-35D6E301DDD1}"/>
            </c:ext>
          </c:extLst>
        </c:ser>
        <c:dLbls>
          <c:showLegendKey val="0"/>
          <c:showVal val="0"/>
          <c:showCatName val="0"/>
          <c:showSerName val="0"/>
          <c:showPercent val="0"/>
          <c:showBubbleSize val="0"/>
        </c:dLbls>
        <c:gapWidth val="150"/>
        <c:axId val="1248717855"/>
        <c:axId val="1248715455"/>
      </c:barChart>
      <c:lineChart>
        <c:grouping val="standard"/>
        <c:varyColors val="0"/>
        <c:ser>
          <c:idx val="1"/>
          <c:order val="1"/>
          <c:tx>
            <c:strRef>
              <c:f>'2026'!$A$104</c:f>
              <c:strCache>
                <c:ptCount val="1"/>
                <c:pt idx="0">
                  <c:v>META</c:v>
                </c:pt>
              </c:strCache>
            </c:strRef>
          </c:tx>
          <c:spPr>
            <a:ln w="28575" cap="rnd">
              <a:solidFill>
                <a:srgbClr val="FF0000"/>
              </a:solidFill>
              <a:prstDash val="sysDot"/>
              <a:round/>
            </a:ln>
            <a:effectLst/>
          </c:spPr>
          <c:marker>
            <c:symbol val="none"/>
          </c:marker>
          <c:cat>
            <c:strRef>
              <c:f>'2026'!$C$98:$I$98</c:f>
              <c:strCache>
                <c:ptCount val="7"/>
                <c:pt idx="0">
                  <c:v>ENE</c:v>
                </c:pt>
                <c:pt idx="1">
                  <c:v>FEB</c:v>
                </c:pt>
                <c:pt idx="2">
                  <c:v>MAR</c:v>
                </c:pt>
                <c:pt idx="3">
                  <c:v>ABR</c:v>
                </c:pt>
                <c:pt idx="4">
                  <c:v>MAY</c:v>
                </c:pt>
                <c:pt idx="5">
                  <c:v>JUN</c:v>
                </c:pt>
                <c:pt idx="6">
                  <c:v>JUL</c:v>
                </c:pt>
              </c:strCache>
              <c:extLst/>
            </c:strRef>
          </c:cat>
          <c:val>
            <c:numRef>
              <c:f>'2026'!$C$104:$I$104</c:f>
              <c:numCache>
                <c:formatCode>0%</c:formatCode>
                <c:ptCount val="7"/>
                <c:pt idx="0">
                  <c:v>0.9</c:v>
                </c:pt>
                <c:pt idx="1">
                  <c:v>0.9</c:v>
                </c:pt>
                <c:pt idx="2">
                  <c:v>0.9</c:v>
                </c:pt>
                <c:pt idx="3">
                  <c:v>0.9</c:v>
                </c:pt>
                <c:pt idx="4">
                  <c:v>0.9</c:v>
                </c:pt>
                <c:pt idx="5">
                  <c:v>0.9</c:v>
                </c:pt>
                <c:pt idx="6">
                  <c:v>0.9</c:v>
                </c:pt>
              </c:numCache>
              <c:extLst/>
            </c:numRef>
          </c:val>
          <c:smooth val="0"/>
          <c:extLst>
            <c:ext xmlns:c16="http://schemas.microsoft.com/office/drawing/2014/chart" uri="{C3380CC4-5D6E-409C-BE32-E72D297353CC}">
              <c16:uniqueId val="{00000001-E017-449A-B3E9-35D6E301DDD1}"/>
            </c:ext>
          </c:extLst>
        </c:ser>
        <c:dLbls>
          <c:showLegendKey val="0"/>
          <c:showVal val="0"/>
          <c:showCatName val="0"/>
          <c:showSerName val="0"/>
          <c:showPercent val="0"/>
          <c:showBubbleSize val="0"/>
        </c:dLbls>
        <c:marker val="1"/>
        <c:smooth val="0"/>
        <c:axId val="1248717855"/>
        <c:axId val="1248715455"/>
      </c:lineChart>
      <c:catAx>
        <c:axId val="12487178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248715455"/>
        <c:crosses val="autoZero"/>
        <c:auto val="1"/>
        <c:lblAlgn val="ctr"/>
        <c:lblOffset val="100"/>
        <c:noMultiLvlLbl val="0"/>
      </c:catAx>
      <c:valAx>
        <c:axId val="1248715455"/>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248717855"/>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9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7030A0"/>
                </a:solidFill>
                <a:latin typeface="+mn-lt"/>
                <a:ea typeface="+mn-ea"/>
                <a:cs typeface="+mn-cs"/>
              </a:defRPr>
            </a:pPr>
            <a:r>
              <a:rPr lang="es-CO"/>
              <a:t>NPS</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7030A0"/>
              </a:solidFill>
              <a:latin typeface="+mn-lt"/>
              <a:ea typeface="+mn-ea"/>
              <a:cs typeface="+mn-cs"/>
            </a:defRPr>
          </a:pPr>
          <a:endParaRPr lang="es-CO"/>
        </a:p>
      </c:txPr>
    </c:title>
    <c:autoTitleDeleted val="0"/>
    <c:plotArea>
      <c:layout/>
      <c:barChart>
        <c:barDir val="col"/>
        <c:grouping val="clustered"/>
        <c:varyColors val="0"/>
        <c:ser>
          <c:idx val="0"/>
          <c:order val="0"/>
          <c:tx>
            <c:strRef>
              <c:f>'2026'!$A$68</c:f>
              <c:strCache>
                <c:ptCount val="1"/>
                <c:pt idx="0">
                  <c:v>2026</c:v>
                </c:pt>
              </c:strCache>
            </c:strRef>
          </c:tx>
          <c:spPr>
            <a:solidFill>
              <a:srgbClr val="8158A1"/>
            </a:solidFill>
            <a:ln>
              <a:solidFill>
                <a:srgbClr val="8158A1"/>
              </a:solidFill>
              <a:prstDash val="soli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'2026'!$C$56:$I$56</c:f>
              <c:strCache>
                <c:ptCount val="7"/>
                <c:pt idx="0">
                  <c:v>ENE</c:v>
                </c:pt>
                <c:pt idx="1">
                  <c:v>FEB</c:v>
                </c:pt>
                <c:pt idx="2">
                  <c:v>MAR</c:v>
                </c:pt>
                <c:pt idx="3">
                  <c:v>ABR</c:v>
                </c:pt>
                <c:pt idx="4">
                  <c:v>MAY</c:v>
                </c:pt>
                <c:pt idx="5">
                  <c:v>JUN</c:v>
                </c:pt>
                <c:pt idx="6">
                  <c:v>JUL</c:v>
                </c:pt>
              </c:strCache>
              <c:extLst/>
            </c:strRef>
          </c:cat>
          <c:val>
            <c:numRef>
              <c:f>'2026'!$C$68:$I$68</c:f>
              <c:numCache>
                <c:formatCode>0.0</c:formatCode>
                <c:ptCount val="7"/>
                <c:pt idx="0">
                  <c:v>98.581560283687949</c:v>
                </c:pt>
                <c:pt idx="1">
                  <c:v>77.560975609756085</c:v>
                </c:pt>
                <c:pt idx="2">
                  <c:v>90.865384615384613</c:v>
                </c:pt>
                <c:pt idx="3">
                  <c:v>93.333333333333329</c:v>
                </c:pt>
                <c:pt idx="4" formatCode="0.00">
                  <c:v>94.841269841269835</c:v>
                </c:pt>
                <c:pt idx="5" formatCode="0.00">
                  <c:v>97.928994082840234</c:v>
                </c:pt>
                <c:pt idx="6" formatCode="0.00">
                  <c:v>99.152542372881356</c:v>
                </c:pt>
              </c:numCache>
              <c:extLst/>
            </c:numRef>
          </c:val>
          <c:extLst>
            <c:ext xmlns:c16="http://schemas.microsoft.com/office/drawing/2014/chart" uri="{C3380CC4-5D6E-409C-BE32-E72D297353CC}">
              <c16:uniqueId val="{00000000-0CBB-46C6-9A95-DF70B3AC40C6}"/>
            </c:ext>
          </c:extLst>
        </c:ser>
        <c:dLbls>
          <c:showLegendKey val="0"/>
          <c:showVal val="0"/>
          <c:showCatName val="0"/>
          <c:showSerName val="0"/>
          <c:showPercent val="0"/>
          <c:showBubbleSize val="0"/>
        </c:dLbls>
        <c:gapWidth val="150"/>
        <c:axId val="1152251327"/>
        <c:axId val="1152253727"/>
      </c:barChart>
      <c:lineChart>
        <c:grouping val="standard"/>
        <c:varyColors val="0"/>
        <c:ser>
          <c:idx val="1"/>
          <c:order val="1"/>
          <c:tx>
            <c:strRef>
              <c:f>'2026'!$A$70</c:f>
              <c:strCache>
                <c:ptCount val="1"/>
                <c:pt idx="0">
                  <c:v>META</c:v>
                </c:pt>
              </c:strCache>
            </c:strRef>
          </c:tx>
          <c:spPr>
            <a:ln w="28575" cap="rnd">
              <a:solidFill>
                <a:srgbClr val="FF0000"/>
              </a:solidFill>
              <a:prstDash val="sysDot"/>
              <a:round/>
            </a:ln>
            <a:effectLst/>
          </c:spPr>
          <c:marker>
            <c:symbol val="none"/>
          </c:marker>
          <c:cat>
            <c:strRef>
              <c:f>'2026'!$C$56:$I$56</c:f>
              <c:strCache>
                <c:ptCount val="7"/>
                <c:pt idx="0">
                  <c:v>ENE</c:v>
                </c:pt>
                <c:pt idx="1">
                  <c:v>FEB</c:v>
                </c:pt>
                <c:pt idx="2">
                  <c:v>MAR</c:v>
                </c:pt>
                <c:pt idx="3">
                  <c:v>ABR</c:v>
                </c:pt>
                <c:pt idx="4">
                  <c:v>MAY</c:v>
                </c:pt>
                <c:pt idx="5">
                  <c:v>JUN</c:v>
                </c:pt>
                <c:pt idx="6">
                  <c:v>JUL</c:v>
                </c:pt>
              </c:strCache>
              <c:extLst/>
            </c:strRef>
          </c:cat>
          <c:val>
            <c:numRef>
              <c:f>'2026'!$C$70:$I$70</c:f>
              <c:numCache>
                <c:formatCode>General</c:formatCode>
                <c:ptCount val="7"/>
                <c:pt idx="0">
                  <c:v>75</c:v>
                </c:pt>
                <c:pt idx="1">
                  <c:v>75</c:v>
                </c:pt>
                <c:pt idx="2">
                  <c:v>75</c:v>
                </c:pt>
                <c:pt idx="3">
                  <c:v>75</c:v>
                </c:pt>
                <c:pt idx="4">
                  <c:v>75</c:v>
                </c:pt>
                <c:pt idx="5">
                  <c:v>75</c:v>
                </c:pt>
                <c:pt idx="6">
                  <c:v>75</c:v>
                </c:pt>
              </c:numCache>
              <c:extLst/>
            </c:numRef>
          </c:val>
          <c:smooth val="0"/>
          <c:extLst>
            <c:ext xmlns:c16="http://schemas.microsoft.com/office/drawing/2014/chart" uri="{C3380CC4-5D6E-409C-BE32-E72D297353CC}">
              <c16:uniqueId val="{00000001-0CBB-46C6-9A95-DF70B3AC40C6}"/>
            </c:ext>
          </c:extLst>
        </c:ser>
        <c:dLbls>
          <c:showLegendKey val="0"/>
          <c:showVal val="0"/>
          <c:showCatName val="0"/>
          <c:showSerName val="0"/>
          <c:showPercent val="0"/>
          <c:showBubbleSize val="0"/>
        </c:dLbls>
        <c:marker val="1"/>
        <c:smooth val="0"/>
        <c:axId val="1152251327"/>
        <c:axId val="1152253727"/>
      </c:lineChart>
      <c:catAx>
        <c:axId val="1152251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152253727"/>
        <c:crosses val="autoZero"/>
        <c:auto val="1"/>
        <c:lblAlgn val="ctr"/>
        <c:lblOffset val="100"/>
        <c:noMultiLvlLbl val="0"/>
      </c:catAx>
      <c:valAx>
        <c:axId val="1152253727"/>
        <c:scaling>
          <c:orientation val="minMax"/>
          <c:min val="65"/>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15225132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9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'Por Cliente'!$A$16</c:f>
              <c:strCache>
                <c:ptCount val="1"/>
                <c:pt idx="0">
                  <c:v>Petición</c:v>
                </c:pt>
              </c:strCache>
            </c:strRef>
          </c:tx>
          <c:spPr>
            <a:solidFill>
              <a:srgbClr val="FF6699"/>
            </a:solidFill>
            <a:ln>
              <a:noFill/>
            </a:ln>
            <a:effectLst/>
          </c:spPr>
          <c:invertIfNegative val="0"/>
          <c:cat>
            <c:strRef>
              <c:f>'Por Cliente'!$B$3:$H$3</c:f>
              <c:strCache>
                <c:ptCount val="7"/>
                <c:pt idx="0">
                  <c:v>ENE</c:v>
                </c:pt>
                <c:pt idx="1">
                  <c:v>FEB</c:v>
                </c:pt>
                <c:pt idx="2">
                  <c:v>MAR</c:v>
                </c:pt>
                <c:pt idx="3">
                  <c:v>ABR</c:v>
                </c:pt>
                <c:pt idx="4">
                  <c:v>MAY</c:v>
                </c:pt>
                <c:pt idx="5">
                  <c:v>JUN</c:v>
                </c:pt>
                <c:pt idx="6">
                  <c:v>JUL</c:v>
                </c:pt>
              </c:strCache>
            </c:strRef>
          </c:cat>
          <c:val>
            <c:numRef>
              <c:f>'Por Cliente'!$B$16:$H$16</c:f>
              <c:numCache>
                <c:formatCode>General</c:formatCode>
                <c:ptCount val="7"/>
                <c:pt idx="0">
                  <c:v>8</c:v>
                </c:pt>
                <c:pt idx="1">
                  <c:v>22</c:v>
                </c:pt>
                <c:pt idx="2">
                  <c:v>21</c:v>
                </c:pt>
                <c:pt idx="3">
                  <c:v>31</c:v>
                </c:pt>
                <c:pt idx="4">
                  <c:v>15</c:v>
                </c:pt>
                <c:pt idx="5">
                  <c:v>19</c:v>
                </c:pt>
                <c:pt idx="6">
                  <c:v>23</c:v>
                </c:pt>
              </c:numCache>
            </c:numRef>
          </c:val>
          <c:extLst>
            <c:ext xmlns:c16="http://schemas.microsoft.com/office/drawing/2014/chart" uri="{C3380CC4-5D6E-409C-BE32-E72D297353CC}">
              <c16:uniqueId val="{00000000-261E-41CE-8CA4-B808EA0D41D6}"/>
            </c:ext>
          </c:extLst>
        </c:ser>
        <c:ser>
          <c:idx val="1"/>
          <c:order val="1"/>
          <c:tx>
            <c:strRef>
              <c:f>'Por Cliente'!$A$17</c:f>
              <c:strCache>
                <c:ptCount val="1"/>
                <c:pt idx="0">
                  <c:v>Queja</c:v>
                </c:pt>
              </c:strCache>
            </c:strRef>
          </c:tx>
          <c:spPr>
            <a:solidFill>
              <a:srgbClr val="47A9A8"/>
            </a:solidFill>
            <a:ln>
              <a:noFill/>
            </a:ln>
            <a:effectLst/>
          </c:spPr>
          <c:invertIfNegative val="0"/>
          <c:cat>
            <c:strRef>
              <c:f>'Por Cliente'!$B$3:$H$3</c:f>
              <c:strCache>
                <c:ptCount val="7"/>
                <c:pt idx="0">
                  <c:v>ENE</c:v>
                </c:pt>
                <c:pt idx="1">
                  <c:v>FEB</c:v>
                </c:pt>
                <c:pt idx="2">
                  <c:v>MAR</c:v>
                </c:pt>
                <c:pt idx="3">
                  <c:v>ABR</c:v>
                </c:pt>
                <c:pt idx="4">
                  <c:v>MAY</c:v>
                </c:pt>
                <c:pt idx="5">
                  <c:v>JUN</c:v>
                </c:pt>
                <c:pt idx="6">
                  <c:v>JUL</c:v>
                </c:pt>
              </c:strCache>
            </c:strRef>
          </c:cat>
          <c:val>
            <c:numRef>
              <c:f>'Por Cliente'!$B$17:$H$17</c:f>
              <c:numCache>
                <c:formatCode>0</c:formatCode>
                <c:ptCount val="7"/>
                <c:pt idx="0">
                  <c:v>0</c:v>
                </c:pt>
                <c:pt idx="1">
                  <c:v>1</c:v>
                </c:pt>
                <c:pt idx="2">
                  <c:v>2</c:v>
                </c:pt>
                <c:pt idx="3">
                  <c:v>1</c:v>
                </c:pt>
                <c:pt idx="4">
                  <c:v>1</c:v>
                </c:pt>
                <c:pt idx="5">
                  <c:v>1</c:v>
                </c:pt>
                <c:pt idx="6">
                  <c:v>0</c:v>
                </c:pt>
              </c:numCache>
            </c:numRef>
          </c:val>
          <c:extLst>
            <c:ext xmlns:c16="http://schemas.microsoft.com/office/drawing/2014/chart" uri="{C3380CC4-5D6E-409C-BE32-E72D297353CC}">
              <c16:uniqueId val="{00000001-261E-41CE-8CA4-B808EA0D41D6}"/>
            </c:ext>
          </c:extLst>
        </c:ser>
        <c:ser>
          <c:idx val="2"/>
          <c:order val="2"/>
          <c:tx>
            <c:strRef>
              <c:f>'Por Cliente'!$A$18</c:f>
              <c:strCache>
                <c:ptCount val="1"/>
                <c:pt idx="0">
                  <c:v>Reclamo</c:v>
                </c:pt>
              </c:strCache>
            </c:strRef>
          </c:tx>
          <c:spPr>
            <a:solidFill>
              <a:srgbClr val="002060"/>
            </a:solidFill>
            <a:ln>
              <a:noFill/>
            </a:ln>
            <a:effectLst/>
          </c:spPr>
          <c:invertIfNegative val="0"/>
          <c:cat>
            <c:strRef>
              <c:f>'Por Cliente'!$B$3:$H$3</c:f>
              <c:strCache>
                <c:ptCount val="7"/>
                <c:pt idx="0">
                  <c:v>ENE</c:v>
                </c:pt>
                <c:pt idx="1">
                  <c:v>FEB</c:v>
                </c:pt>
                <c:pt idx="2">
                  <c:v>MAR</c:v>
                </c:pt>
                <c:pt idx="3">
                  <c:v>ABR</c:v>
                </c:pt>
                <c:pt idx="4">
                  <c:v>MAY</c:v>
                </c:pt>
                <c:pt idx="5">
                  <c:v>JUN</c:v>
                </c:pt>
                <c:pt idx="6">
                  <c:v>JUL</c:v>
                </c:pt>
              </c:strCache>
            </c:strRef>
          </c:cat>
          <c:val>
            <c:numRef>
              <c:f>'Por Cliente'!$B$18:$H$18</c:f>
              <c:numCache>
                <c:formatCode>0</c:formatCode>
                <c:ptCount val="7"/>
                <c:pt idx="0">
                  <c:v>1</c:v>
                </c:pt>
                <c:pt idx="1">
                  <c:v>5</c:v>
                </c:pt>
                <c:pt idx="2">
                  <c:v>1</c:v>
                </c:pt>
                <c:pt idx="3">
                  <c:v>18</c:v>
                </c:pt>
                <c:pt idx="4">
                  <c:v>5</c:v>
                </c:pt>
                <c:pt idx="5">
                  <c:v>10</c:v>
                </c:pt>
                <c:pt idx="6">
                  <c:v>14</c:v>
                </c:pt>
              </c:numCache>
            </c:numRef>
          </c:val>
          <c:extLst>
            <c:ext xmlns:c16="http://schemas.microsoft.com/office/drawing/2014/chart" uri="{C3380CC4-5D6E-409C-BE32-E72D297353CC}">
              <c16:uniqueId val="{00000002-261E-41CE-8CA4-B808EA0D41D6}"/>
            </c:ext>
          </c:extLst>
        </c:ser>
        <c:ser>
          <c:idx val="3"/>
          <c:order val="3"/>
          <c:tx>
            <c:strRef>
              <c:f>'Por Cliente'!$A$19</c:f>
              <c:strCache>
                <c:ptCount val="1"/>
                <c:pt idx="0">
                  <c:v>Sugerencia</c:v>
                </c:pt>
              </c:strCache>
            </c:strRef>
          </c:tx>
          <c:spPr>
            <a:solidFill>
              <a:srgbClr val="FFC000"/>
            </a:solidFill>
            <a:ln>
              <a:noFill/>
            </a:ln>
            <a:effectLst/>
          </c:spPr>
          <c:invertIfNegative val="0"/>
          <c:cat>
            <c:strRef>
              <c:f>'Por Cliente'!$B$3:$H$3</c:f>
              <c:strCache>
                <c:ptCount val="7"/>
                <c:pt idx="0">
                  <c:v>ENE</c:v>
                </c:pt>
                <c:pt idx="1">
                  <c:v>FEB</c:v>
                </c:pt>
                <c:pt idx="2">
                  <c:v>MAR</c:v>
                </c:pt>
                <c:pt idx="3">
                  <c:v>ABR</c:v>
                </c:pt>
                <c:pt idx="4">
                  <c:v>MAY</c:v>
                </c:pt>
                <c:pt idx="5">
                  <c:v>JUN</c:v>
                </c:pt>
                <c:pt idx="6">
                  <c:v>JUL</c:v>
                </c:pt>
              </c:strCache>
            </c:strRef>
          </c:cat>
          <c:val>
            <c:numRef>
              <c:f>'Por Cliente'!$B$19:$H$19</c:f>
              <c:numCache>
                <c:formatCode>0</c:formatCode>
                <c:ptCount val="7"/>
                <c:pt idx="0">
                  <c:v>0</c:v>
                </c:pt>
                <c:pt idx="1">
                  <c:v>2</c:v>
                </c:pt>
                <c:pt idx="2">
                  <c:v>0</c:v>
                </c:pt>
                <c:pt idx="3">
                  <c:v>0</c:v>
                </c:pt>
                <c:pt idx="4">
                  <c:v>0</c:v>
                </c:pt>
                <c:pt idx="5">
                  <c:v>0</c:v>
                </c:pt>
                <c:pt idx="6">
                  <c:v>0</c:v>
                </c:pt>
              </c:numCache>
            </c:numRef>
          </c:val>
          <c:extLst>
            <c:ext xmlns:c16="http://schemas.microsoft.com/office/drawing/2014/chart" uri="{C3380CC4-5D6E-409C-BE32-E72D297353CC}">
              <c16:uniqueId val="{00000003-261E-41CE-8CA4-B808EA0D41D6}"/>
            </c:ext>
          </c:extLst>
        </c:ser>
        <c:ser>
          <c:idx val="4"/>
          <c:order val="4"/>
          <c:tx>
            <c:strRef>
              <c:f>'Por Cliente'!$A$20</c:f>
              <c:strCache>
                <c:ptCount val="1"/>
                <c:pt idx="0">
                  <c:v>Felicitación</c:v>
                </c:pt>
              </c:strCache>
            </c:strRef>
          </c:tx>
          <c:spPr>
            <a:solidFill>
              <a:srgbClr val="8158A1"/>
            </a:solidFill>
            <a:ln>
              <a:noFill/>
            </a:ln>
            <a:effectLst/>
          </c:spPr>
          <c:invertIfNegative val="0"/>
          <c:cat>
            <c:strRef>
              <c:f>'Por Cliente'!$B$3:$H$3</c:f>
              <c:strCache>
                <c:ptCount val="7"/>
                <c:pt idx="0">
                  <c:v>ENE</c:v>
                </c:pt>
                <c:pt idx="1">
                  <c:v>FEB</c:v>
                </c:pt>
                <c:pt idx="2">
                  <c:v>MAR</c:v>
                </c:pt>
                <c:pt idx="3">
                  <c:v>ABR</c:v>
                </c:pt>
                <c:pt idx="4">
                  <c:v>MAY</c:v>
                </c:pt>
                <c:pt idx="5">
                  <c:v>JUN</c:v>
                </c:pt>
                <c:pt idx="6">
                  <c:v>JUL</c:v>
                </c:pt>
              </c:strCache>
            </c:strRef>
          </c:cat>
          <c:val>
            <c:numRef>
              <c:f>'Por Cliente'!$B$20:$H$20</c:f>
              <c:numCache>
                <c:formatCode>0</c:formatCode>
                <c:ptCount val="7"/>
                <c:pt idx="0">
                  <c:v>2</c:v>
                </c:pt>
                <c:pt idx="1">
                  <c:v>19</c:v>
                </c:pt>
                <c:pt idx="2">
                  <c:v>8</c:v>
                </c:pt>
                <c:pt idx="3">
                  <c:v>3</c:v>
                </c:pt>
                <c:pt idx="4">
                  <c:v>2</c:v>
                </c:pt>
                <c:pt idx="5">
                  <c:v>2</c:v>
                </c:pt>
                <c:pt idx="6">
                  <c:v>3</c:v>
                </c:pt>
              </c:numCache>
            </c:numRef>
          </c:val>
          <c:extLst>
            <c:ext xmlns:c16="http://schemas.microsoft.com/office/drawing/2014/chart" uri="{C3380CC4-5D6E-409C-BE32-E72D297353CC}">
              <c16:uniqueId val="{00000004-261E-41CE-8CA4-B808EA0D41D6}"/>
            </c:ext>
          </c:extLst>
        </c:ser>
        <c:dLbls>
          <c:showLegendKey val="0"/>
          <c:showVal val="0"/>
          <c:showCatName val="0"/>
          <c:showSerName val="0"/>
          <c:showPercent val="0"/>
          <c:showBubbleSize val="0"/>
        </c:dLbls>
        <c:gapWidth val="150"/>
        <c:overlap val="100"/>
        <c:axId val="1421382431"/>
        <c:axId val="1421384351"/>
      </c:barChart>
      <c:catAx>
        <c:axId val="142138243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421384351"/>
        <c:crosses val="autoZero"/>
        <c:auto val="1"/>
        <c:lblAlgn val="ctr"/>
        <c:lblOffset val="100"/>
        <c:noMultiLvlLbl val="0"/>
      </c:catAx>
      <c:valAx>
        <c:axId val="142138435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421382431"/>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100" b="0" i="0" u="none" strike="noStrike" kern="1200" baseline="0">
                <a:solidFill>
                  <a:schemeClr val="tx1">
                    <a:lumMod val="50000"/>
                  </a:schemeClr>
                </a:solidFill>
                <a:latin typeface="+mn-lt"/>
                <a:ea typeface="+mn-ea"/>
                <a:cs typeface="+mn-cs"/>
              </a:defRPr>
            </a:pPr>
            <a:endParaRPr lang="es-CO"/>
          </a:p>
        </c:txPr>
      </c:dTable>
      <c:spPr>
        <a:noFill/>
        <a:ln>
          <a:noFill/>
        </a:ln>
        <a:effectLst/>
      </c:spPr>
    </c:plotArea>
    <c:legend>
      <c:legendPos val="b"/>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50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9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s-CO" sz="1400" b="1" i="0" u="sng" strike="noStrike" kern="1200" spc="0" baseline="0">
                <a:solidFill>
                  <a:prstClr val="black">
                    <a:lumMod val="65000"/>
                    <a:lumOff val="35000"/>
                  </a:prstClr>
                </a:solidFill>
              </a:rPr>
              <a:t>ESTADOS DE CITA SANITAS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spPr>
            <a:solidFill>
              <a:srgbClr val="47A9A1"/>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800" b="1" i="0" u="none" strike="noStrike" kern="1200" baseline="0">
                    <a:solidFill>
                      <a:schemeClr val="bg1">
                        <a:lumMod val="50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SANITAS!$D$6:$D$8</c:f>
              <c:strCache>
                <c:ptCount val="3"/>
                <c:pt idx="0">
                  <c:v>ATENDIDA</c:v>
                </c:pt>
                <c:pt idx="1">
                  <c:v>CANCELADA</c:v>
                </c:pt>
                <c:pt idx="2">
                  <c:v>INCUMPLIDA</c:v>
                </c:pt>
              </c:strCache>
            </c:strRef>
          </c:cat>
          <c:val>
            <c:numRef>
              <c:f>SANITAS!$E$6:$E$8</c:f>
              <c:numCache>
                <c:formatCode>#,##0</c:formatCode>
                <c:ptCount val="3"/>
                <c:pt idx="0">
                  <c:v>17457</c:v>
                </c:pt>
                <c:pt idx="1">
                  <c:v>2473</c:v>
                </c:pt>
                <c:pt idx="2">
                  <c:v>1594</c:v>
                </c:pt>
              </c:numCache>
            </c:numRef>
          </c:val>
          <c:extLst>
            <c:ext xmlns:c16="http://schemas.microsoft.com/office/drawing/2014/chart" uri="{C3380CC4-5D6E-409C-BE32-E72D297353CC}">
              <c16:uniqueId val="{00000000-79BD-4534-9AB3-439001E33AEE}"/>
            </c:ext>
          </c:extLst>
        </c:ser>
        <c:dLbls>
          <c:showLegendKey val="0"/>
          <c:showVal val="1"/>
          <c:showCatName val="0"/>
          <c:showSerName val="0"/>
          <c:showPercent val="0"/>
          <c:showBubbleSize val="0"/>
        </c:dLbls>
        <c:gapWidth val="219"/>
        <c:overlap val="-27"/>
        <c:axId val="943641407"/>
        <c:axId val="943643327"/>
      </c:barChart>
      <c:lineChart>
        <c:grouping val="standard"/>
        <c:varyColors val="0"/>
        <c:ser>
          <c:idx val="1"/>
          <c:order val="1"/>
          <c:spPr>
            <a:ln w="285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0">
                <a:spAutoFit/>
              </a:bodyPr>
              <a:lstStyle/>
              <a:p>
                <a:pPr algn="ctr" rtl="0">
                  <a:defRPr lang="en-US" sz="1800" b="1" i="0" u="none" strike="noStrike" kern="1200" baseline="0">
                    <a:solidFill>
                      <a:srgbClr val="00A19C"/>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SANITAS!$D$6:$D$8</c:f>
              <c:strCache>
                <c:ptCount val="3"/>
                <c:pt idx="0">
                  <c:v>ATENDIDA</c:v>
                </c:pt>
                <c:pt idx="1">
                  <c:v>CANCELADA</c:v>
                </c:pt>
                <c:pt idx="2">
                  <c:v>INCUMPLIDA</c:v>
                </c:pt>
              </c:strCache>
            </c:strRef>
          </c:cat>
          <c:val>
            <c:numRef>
              <c:f>SANITAS!$F$6:$F$8</c:f>
              <c:numCache>
                <c:formatCode>0%</c:formatCode>
                <c:ptCount val="3"/>
                <c:pt idx="0">
                  <c:v>0.81104813231741313</c:v>
                </c:pt>
                <c:pt idx="1">
                  <c:v>0.11489500092919532</c:v>
                </c:pt>
                <c:pt idx="2">
                  <c:v>7.4056866753391556E-2</c:v>
                </c:pt>
              </c:numCache>
            </c:numRef>
          </c:val>
          <c:smooth val="0"/>
          <c:extLst>
            <c:ext xmlns:c16="http://schemas.microsoft.com/office/drawing/2014/chart" uri="{C3380CC4-5D6E-409C-BE32-E72D297353CC}">
              <c16:uniqueId val="{00000001-79BD-4534-9AB3-439001E33AEE}"/>
            </c:ext>
          </c:extLst>
        </c:ser>
        <c:dLbls>
          <c:showLegendKey val="0"/>
          <c:showVal val="1"/>
          <c:showCatName val="0"/>
          <c:showSerName val="0"/>
          <c:showPercent val="0"/>
          <c:showBubbleSize val="0"/>
        </c:dLbls>
        <c:marker val="1"/>
        <c:smooth val="0"/>
        <c:axId val="1183083520"/>
        <c:axId val="1176140016"/>
      </c:lineChart>
      <c:catAx>
        <c:axId val="943641407"/>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400" b="1" i="0" u="none" strike="noStrike" kern="1200" baseline="0">
                <a:solidFill>
                  <a:schemeClr val="tx1">
                    <a:lumMod val="65000"/>
                    <a:lumOff val="35000"/>
                  </a:schemeClr>
                </a:solidFill>
                <a:latin typeface="+mn-lt"/>
                <a:ea typeface="+mn-ea"/>
                <a:cs typeface="+mn-cs"/>
              </a:defRPr>
            </a:pPr>
            <a:endParaRPr lang="es-CO"/>
          </a:p>
        </c:txPr>
        <c:crossAx val="943643327"/>
        <c:crosses val="autoZero"/>
        <c:auto val="1"/>
        <c:lblAlgn val="ctr"/>
        <c:lblOffset val="100"/>
        <c:noMultiLvlLbl val="0"/>
      </c:catAx>
      <c:valAx>
        <c:axId val="943643327"/>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700" b="0" i="0" u="none" strike="noStrike" kern="1200" baseline="0">
                <a:solidFill>
                  <a:schemeClr val="bg1">
                    <a:lumMod val="65000"/>
                  </a:schemeClr>
                </a:solidFill>
                <a:latin typeface="+mn-lt"/>
                <a:ea typeface="+mn-ea"/>
                <a:cs typeface="+mn-cs"/>
              </a:defRPr>
            </a:pPr>
            <a:endParaRPr lang="es-CO"/>
          </a:p>
        </c:txPr>
        <c:crossAx val="943641407"/>
        <c:crosses val="autoZero"/>
        <c:crossBetween val="between"/>
      </c:valAx>
      <c:valAx>
        <c:axId val="1176140016"/>
        <c:scaling>
          <c:orientation val="minMax"/>
        </c:scaling>
        <c:delete val="0"/>
        <c:axPos val="r"/>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700" b="0" i="0" u="none" strike="noStrike" kern="1200" baseline="0">
                <a:solidFill>
                  <a:schemeClr val="bg1">
                    <a:lumMod val="65000"/>
                  </a:schemeClr>
                </a:solidFill>
                <a:latin typeface="+mn-lt"/>
                <a:ea typeface="+mn-ea"/>
                <a:cs typeface="+mn-cs"/>
              </a:defRPr>
            </a:pPr>
            <a:endParaRPr lang="es-CO"/>
          </a:p>
        </c:txPr>
        <c:crossAx val="1183083520"/>
        <c:crosses val="max"/>
        <c:crossBetween val="between"/>
      </c:valAx>
      <c:catAx>
        <c:axId val="1183083520"/>
        <c:scaling>
          <c:orientation val="minMax"/>
        </c:scaling>
        <c:delete val="1"/>
        <c:axPos val="b"/>
        <c:numFmt formatCode="General" sourceLinked="1"/>
        <c:majorTickMark val="none"/>
        <c:minorTickMark val="none"/>
        <c:tickLblPos val="nextTo"/>
        <c:crossAx val="1176140016"/>
        <c:crosses val="autoZero"/>
        <c:auto val="1"/>
        <c:lblAlgn val="ctr"/>
        <c:lblOffset val="100"/>
        <c:noMultiLvlLbl val="0"/>
      </c:catAx>
      <c:spPr>
        <a:noFill/>
        <a:ln>
          <a:noFill/>
        </a:ln>
        <a:effectLst/>
      </c:spPr>
    </c:plotArea>
    <c:plotVisOnly val="1"/>
    <c:dispBlanksAs val="gap"/>
    <c:showDLblsOverMax val="0"/>
  </c:chart>
  <c:spPr>
    <a:noFill/>
    <a:ln>
      <a:noFill/>
    </a:ln>
    <a:effectLst/>
  </c:spPr>
  <c:txPr>
    <a:bodyPr/>
    <a:lstStyle/>
    <a:p>
      <a:pPr>
        <a:defRPr/>
      </a:pPr>
      <a:endParaRPr lang="es-CO"/>
    </a:p>
  </c:txPr>
  <c:externalData r:id="rId4">
    <c:autoUpdate val="0"/>
  </c:externalData>
</c:chartSpace>
</file>

<file path=ppt/charts/chart9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s-CO" sz="1400" b="1" i="0" u="sng" strike="noStrike" kern="1200" spc="0" baseline="0">
                <a:solidFill>
                  <a:prstClr val="black">
                    <a:lumMod val="65000"/>
                    <a:lumOff val="35000"/>
                  </a:prstClr>
                </a:solidFill>
              </a:rPr>
              <a:t>TIPOS DE CITA</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pieChart>
        <c:varyColors val="1"/>
        <c:ser>
          <c:idx val="0"/>
          <c:order val="0"/>
          <c:dPt>
            <c:idx val="0"/>
            <c:bubble3D val="0"/>
            <c:spPr>
              <a:solidFill>
                <a:srgbClr val="47A9A1"/>
              </a:solidFill>
              <a:ln w="19050">
                <a:solidFill>
                  <a:schemeClr val="lt1"/>
                </a:solidFill>
              </a:ln>
              <a:effectLst/>
            </c:spPr>
            <c:extLst>
              <c:ext xmlns:c16="http://schemas.microsoft.com/office/drawing/2014/chart" uri="{C3380CC4-5D6E-409C-BE32-E72D297353CC}">
                <c16:uniqueId val="{00000001-541F-4167-A4FB-642DE8AAF564}"/>
              </c:ext>
            </c:extLst>
          </c:dPt>
          <c:dPt>
            <c:idx val="1"/>
            <c:bubble3D val="0"/>
            <c:spPr>
              <a:solidFill>
                <a:srgbClr val="8158A1"/>
              </a:solidFill>
              <a:ln w="19050">
                <a:solidFill>
                  <a:schemeClr val="lt1"/>
                </a:solidFill>
              </a:ln>
              <a:effectLst/>
            </c:spPr>
            <c:extLst>
              <c:ext xmlns:c16="http://schemas.microsoft.com/office/drawing/2014/chart" uri="{C3380CC4-5D6E-409C-BE32-E72D297353CC}">
                <c16:uniqueId val="{00000003-541F-4167-A4FB-642DE8AAF564}"/>
              </c:ext>
            </c:extLst>
          </c:dPt>
          <c:dLbls>
            <c:spPr>
              <a:noFill/>
              <a:ln>
                <a:noFill/>
              </a:ln>
              <a:effectLst/>
            </c:spPr>
            <c:txPr>
              <a:bodyPr rot="0" spcFirstLastPara="1" vertOverflow="ellipsis" vert="horz" wrap="square" lIns="38100" tIns="19050" rIns="38100" bIns="19050" anchor="ctr" anchorCtr="0">
                <a:spAutoFit/>
              </a:bodyPr>
              <a:lstStyle/>
              <a:p>
                <a:pPr algn="ctr" rtl="0">
                  <a:defRPr lang="en-US" sz="1800" b="1" i="0" u="none" strike="noStrike" kern="1200" spc="0" baseline="0">
                    <a:solidFill>
                      <a:schemeClr val="bg1"/>
                    </a:solidFill>
                    <a:latin typeface="+mn-lt"/>
                    <a:ea typeface="+mn-ea"/>
                    <a:cs typeface="+mn-cs"/>
                  </a:defRPr>
                </a:pPr>
                <a:endParaRPr lang="es-CO"/>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SANITAS!$G$16:$G$17</c:f>
              <c:strCache>
                <c:ptCount val="2"/>
                <c:pt idx="0">
                  <c:v>Presencial</c:v>
                </c:pt>
                <c:pt idx="1">
                  <c:v>Teleconsulta</c:v>
                </c:pt>
              </c:strCache>
            </c:strRef>
          </c:cat>
          <c:val>
            <c:numRef>
              <c:f>SANITAS!$H$16:$H$17</c:f>
              <c:numCache>
                <c:formatCode>0%</c:formatCode>
                <c:ptCount val="2"/>
                <c:pt idx="0">
                  <c:v>0.41790559375580749</c:v>
                </c:pt>
                <c:pt idx="1">
                  <c:v>0.58209440624419251</c:v>
                </c:pt>
              </c:numCache>
            </c:numRef>
          </c:val>
          <c:extLst>
            <c:ext xmlns:c16="http://schemas.microsoft.com/office/drawing/2014/chart" uri="{C3380CC4-5D6E-409C-BE32-E72D297353CC}">
              <c16:uniqueId val="{00000004-541F-4167-A4FB-642DE8AAF564}"/>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lgn="ctr">
            <a:defRPr lang="en-US" sz="1400" b="1" i="0" u="none" strike="noStrike" kern="1200" spc="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4">
    <c:autoUpdate val="0"/>
  </c:externalData>
</c:chartSpace>
</file>

<file path=ppt/charts/chart9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s-CO" sz="1400" b="1" i="0" u="sng" strike="noStrike" kern="1200" spc="0" baseline="0">
                <a:solidFill>
                  <a:prstClr val="black">
                    <a:lumMod val="65000"/>
                    <a:lumOff val="35000"/>
                  </a:prstClr>
                </a:solidFill>
              </a:rPr>
              <a:t>TIPO  DE CITA SANITAS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spPr>
            <a:solidFill>
              <a:srgbClr val="47A9A1"/>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800" b="1" i="0" u="none" strike="noStrike" kern="1200" baseline="0">
                    <a:solidFill>
                      <a:schemeClr val="bg1">
                        <a:lumMod val="50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SANITAS!$D$79:$D$81</c:f>
              <c:strCache>
                <c:ptCount val="3"/>
                <c:pt idx="0">
                  <c:v>CONTROL</c:v>
                </c:pt>
                <c:pt idx="1">
                  <c:v>1ERA VEZ</c:v>
                </c:pt>
                <c:pt idx="2">
                  <c:v>OTRAS ASIGNACIONES </c:v>
                </c:pt>
              </c:strCache>
            </c:strRef>
          </c:cat>
          <c:val>
            <c:numRef>
              <c:f>SANITAS!$E$79:$E$81</c:f>
              <c:numCache>
                <c:formatCode>#,##0</c:formatCode>
                <c:ptCount val="3"/>
                <c:pt idx="0">
                  <c:v>19044</c:v>
                </c:pt>
                <c:pt idx="1">
                  <c:v>2412</c:v>
                </c:pt>
                <c:pt idx="2">
                  <c:v>68</c:v>
                </c:pt>
              </c:numCache>
            </c:numRef>
          </c:val>
          <c:extLst>
            <c:ext xmlns:c16="http://schemas.microsoft.com/office/drawing/2014/chart" uri="{C3380CC4-5D6E-409C-BE32-E72D297353CC}">
              <c16:uniqueId val="{00000000-8442-40BA-A18A-47279A602575}"/>
            </c:ext>
          </c:extLst>
        </c:ser>
        <c:dLbls>
          <c:showLegendKey val="0"/>
          <c:showVal val="1"/>
          <c:showCatName val="0"/>
          <c:showSerName val="0"/>
          <c:showPercent val="0"/>
          <c:showBubbleSize val="0"/>
        </c:dLbls>
        <c:gapWidth val="219"/>
        <c:overlap val="-27"/>
        <c:axId val="1173889008"/>
        <c:axId val="1173880368"/>
      </c:barChart>
      <c:lineChart>
        <c:grouping val="standard"/>
        <c:varyColors val="0"/>
        <c:ser>
          <c:idx val="1"/>
          <c:order val="1"/>
          <c:spPr>
            <a:ln w="285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0">
                <a:spAutoFit/>
              </a:bodyPr>
              <a:lstStyle/>
              <a:p>
                <a:pPr algn="ctr" rtl="0">
                  <a:defRPr lang="en-US" sz="1800" b="1" i="0" u="none" strike="noStrike" kern="1200" baseline="0">
                    <a:solidFill>
                      <a:srgbClr val="00A19C"/>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SANITAS!$D$79:$D$81</c:f>
              <c:strCache>
                <c:ptCount val="3"/>
                <c:pt idx="0">
                  <c:v>CONTROL</c:v>
                </c:pt>
                <c:pt idx="1">
                  <c:v>1ERA VEZ</c:v>
                </c:pt>
                <c:pt idx="2">
                  <c:v>OTRAS ASIGNACIONES </c:v>
                </c:pt>
              </c:strCache>
            </c:strRef>
          </c:cat>
          <c:val>
            <c:numRef>
              <c:f>SANITAS!$F$79:$F$81</c:f>
              <c:numCache>
                <c:formatCode>0%</c:formatCode>
                <c:ptCount val="3"/>
                <c:pt idx="0">
                  <c:v>0.88477978070990526</c:v>
                </c:pt>
                <c:pt idx="1">
                  <c:v>0.11206095521278572</c:v>
                </c:pt>
                <c:pt idx="2">
                  <c:v>3.1592640773090504E-3</c:v>
                </c:pt>
              </c:numCache>
            </c:numRef>
          </c:val>
          <c:smooth val="0"/>
          <c:extLst>
            <c:ext xmlns:c16="http://schemas.microsoft.com/office/drawing/2014/chart" uri="{C3380CC4-5D6E-409C-BE32-E72D297353CC}">
              <c16:uniqueId val="{00000001-8442-40BA-A18A-47279A602575}"/>
            </c:ext>
          </c:extLst>
        </c:ser>
        <c:dLbls>
          <c:showLegendKey val="0"/>
          <c:showVal val="1"/>
          <c:showCatName val="0"/>
          <c:showSerName val="0"/>
          <c:showPercent val="0"/>
          <c:showBubbleSize val="0"/>
        </c:dLbls>
        <c:marker val="1"/>
        <c:smooth val="0"/>
        <c:axId val="1173894768"/>
        <c:axId val="1173893328"/>
      </c:lineChart>
      <c:catAx>
        <c:axId val="117388900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400" b="1" i="0" u="none" strike="noStrike" kern="1200" baseline="0">
                <a:solidFill>
                  <a:schemeClr val="tx1">
                    <a:lumMod val="65000"/>
                    <a:lumOff val="35000"/>
                  </a:schemeClr>
                </a:solidFill>
                <a:latin typeface="+mn-lt"/>
                <a:ea typeface="+mn-ea"/>
                <a:cs typeface="+mn-cs"/>
              </a:defRPr>
            </a:pPr>
            <a:endParaRPr lang="es-CO"/>
          </a:p>
        </c:txPr>
        <c:crossAx val="1173880368"/>
        <c:crosses val="autoZero"/>
        <c:auto val="1"/>
        <c:lblAlgn val="ctr"/>
        <c:lblOffset val="100"/>
        <c:noMultiLvlLbl val="0"/>
      </c:catAx>
      <c:valAx>
        <c:axId val="1173880368"/>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700" b="0" i="0" u="none" strike="noStrike" kern="1200" baseline="0">
                <a:solidFill>
                  <a:schemeClr val="bg1">
                    <a:lumMod val="65000"/>
                  </a:schemeClr>
                </a:solidFill>
                <a:latin typeface="+mn-lt"/>
                <a:ea typeface="+mn-ea"/>
                <a:cs typeface="+mn-cs"/>
              </a:defRPr>
            </a:pPr>
            <a:endParaRPr lang="es-CO"/>
          </a:p>
        </c:txPr>
        <c:crossAx val="1173889008"/>
        <c:crosses val="autoZero"/>
        <c:crossBetween val="between"/>
      </c:valAx>
      <c:valAx>
        <c:axId val="1173893328"/>
        <c:scaling>
          <c:orientation val="minMax"/>
        </c:scaling>
        <c:delete val="0"/>
        <c:axPos val="r"/>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700" b="0" i="0" u="none" strike="noStrike" kern="1200" baseline="0">
                <a:solidFill>
                  <a:schemeClr val="bg1">
                    <a:lumMod val="65000"/>
                  </a:schemeClr>
                </a:solidFill>
                <a:latin typeface="+mn-lt"/>
                <a:ea typeface="+mn-ea"/>
                <a:cs typeface="+mn-cs"/>
              </a:defRPr>
            </a:pPr>
            <a:endParaRPr lang="es-CO"/>
          </a:p>
        </c:txPr>
        <c:crossAx val="1173894768"/>
        <c:crosses val="max"/>
        <c:crossBetween val="between"/>
      </c:valAx>
      <c:catAx>
        <c:axId val="1173894768"/>
        <c:scaling>
          <c:orientation val="minMax"/>
        </c:scaling>
        <c:delete val="1"/>
        <c:axPos val="b"/>
        <c:numFmt formatCode="General" sourceLinked="1"/>
        <c:majorTickMark val="none"/>
        <c:minorTickMark val="none"/>
        <c:tickLblPos val="nextTo"/>
        <c:crossAx val="1173893328"/>
        <c:crosses val="autoZero"/>
        <c:auto val="1"/>
        <c:lblAlgn val="ctr"/>
        <c:lblOffset val="100"/>
        <c:noMultiLvlLbl val="0"/>
      </c:catAx>
      <c:spPr>
        <a:noFill/>
        <a:ln>
          <a:noFill/>
        </a:ln>
        <a:effectLst/>
      </c:spPr>
    </c:plotArea>
    <c:plotVisOnly val="1"/>
    <c:dispBlanksAs val="gap"/>
    <c:showDLblsOverMax val="0"/>
  </c:chart>
  <c:spPr>
    <a:noFill/>
    <a:ln>
      <a:noFill/>
    </a:ln>
    <a:effectLst/>
  </c:spPr>
  <c:txPr>
    <a:bodyPr/>
    <a:lstStyle/>
    <a:p>
      <a:pPr>
        <a:defRPr/>
      </a:pPr>
      <a:endParaRPr lang="es-CO"/>
    </a:p>
  </c:txPr>
  <c:externalData r:id="rId4">
    <c:autoUpdate val="0"/>
  </c:externalData>
</c:chartSpace>
</file>

<file path=ppt/charts/chart9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s-CO" b="1" noProof="0"/>
              <a:t>Ingresos 2025/2026</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manualLayout>
          <c:layoutTarget val="inner"/>
          <c:xMode val="edge"/>
          <c:yMode val="edge"/>
          <c:x val="5.2373472826779691E-2"/>
          <c:y val="0.16541003683661459"/>
          <c:w val="0.94380263497285644"/>
          <c:h val="0.71977879989684479"/>
        </c:manualLayout>
      </c:layout>
      <c:barChart>
        <c:barDir val="col"/>
        <c:grouping val="clustered"/>
        <c:varyColors val="0"/>
        <c:ser>
          <c:idx val="0"/>
          <c:order val="0"/>
          <c:tx>
            <c:strRef>
              <c:f>Indicadores!$C$41</c:f>
              <c:strCache>
                <c:ptCount val="1"/>
                <c:pt idx="0">
                  <c:v>2025</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Indicadores!$B$43:$B$53</c:f>
              <c:strCache>
                <c:ptCount val="11"/>
                <c:pt idx="0">
                  <c:v>feb-26</c:v>
                </c:pt>
                <c:pt idx="1">
                  <c:v>mar-26</c:v>
                </c:pt>
                <c:pt idx="2">
                  <c:v>abr-26</c:v>
                </c:pt>
                <c:pt idx="3">
                  <c:v>may-26</c:v>
                </c:pt>
                <c:pt idx="4">
                  <c:v>Junio</c:v>
                </c:pt>
                <c:pt idx="5">
                  <c:v>Julio</c:v>
                </c:pt>
                <c:pt idx="6">
                  <c:v>Agosto</c:v>
                </c:pt>
                <c:pt idx="7">
                  <c:v>Septiembre</c:v>
                </c:pt>
                <c:pt idx="8">
                  <c:v>Octubre</c:v>
                </c:pt>
                <c:pt idx="9">
                  <c:v>Noviembre</c:v>
                </c:pt>
                <c:pt idx="10">
                  <c:v>Diciembre</c:v>
                </c:pt>
              </c:strCache>
            </c:strRef>
          </c:cat>
          <c:val>
            <c:numRef>
              <c:f>Indicadores!$C$43:$C$53</c:f>
              <c:numCache>
                <c:formatCode>General</c:formatCode>
                <c:ptCount val="11"/>
                <c:pt idx="8">
                  <c:v>3451</c:v>
                </c:pt>
                <c:pt idx="9">
                  <c:v>640</c:v>
                </c:pt>
                <c:pt idx="10">
                  <c:v>71</c:v>
                </c:pt>
              </c:numCache>
            </c:numRef>
          </c:val>
          <c:extLst>
            <c:ext xmlns:c16="http://schemas.microsoft.com/office/drawing/2014/chart" uri="{C3380CC4-5D6E-409C-BE32-E72D297353CC}">
              <c16:uniqueId val="{00000000-5A52-4144-91E6-2C6CDEC87FB4}"/>
            </c:ext>
          </c:extLst>
        </c:ser>
        <c:ser>
          <c:idx val="1"/>
          <c:order val="1"/>
          <c:tx>
            <c:strRef>
              <c:f>Indicadores!$D$41</c:f>
              <c:strCache>
                <c:ptCount val="1"/>
                <c:pt idx="0">
                  <c:v>2026</c:v>
                </c:pt>
              </c:strCache>
            </c:strRef>
          </c:tx>
          <c:spPr>
            <a:solidFill>
              <a:srgbClr val="45A9A7"/>
            </a:solidFill>
            <a:ln>
              <a:noFill/>
            </a:ln>
            <a:effectLst/>
          </c:spPr>
          <c:invertIfNegative val="0"/>
          <c:dLbls>
            <c:spPr>
              <a:noFill/>
              <a:ln>
                <a:solidFill>
                  <a:srgbClr val="4FA9A7"/>
                </a:solid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4FA9A7"/>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Indicadores!$B$43:$B$53</c:f>
              <c:strCache>
                <c:ptCount val="11"/>
                <c:pt idx="0">
                  <c:v>feb-26</c:v>
                </c:pt>
                <c:pt idx="1">
                  <c:v>mar-26</c:v>
                </c:pt>
                <c:pt idx="2">
                  <c:v>abr-26</c:v>
                </c:pt>
                <c:pt idx="3">
                  <c:v>may-26</c:v>
                </c:pt>
                <c:pt idx="4">
                  <c:v>Junio</c:v>
                </c:pt>
                <c:pt idx="5">
                  <c:v>Julio</c:v>
                </c:pt>
                <c:pt idx="6">
                  <c:v>Agosto</c:v>
                </c:pt>
                <c:pt idx="7">
                  <c:v>Septiembre</c:v>
                </c:pt>
                <c:pt idx="8">
                  <c:v>Octubre</c:v>
                </c:pt>
                <c:pt idx="9">
                  <c:v>Noviembre</c:v>
                </c:pt>
                <c:pt idx="10">
                  <c:v>Diciembre</c:v>
                </c:pt>
              </c:strCache>
            </c:strRef>
          </c:cat>
          <c:val>
            <c:numRef>
              <c:f>Indicadores!$D$43:$D$53</c:f>
              <c:numCache>
                <c:formatCode>General</c:formatCode>
                <c:ptCount val="11"/>
                <c:pt idx="0">
                  <c:v>5</c:v>
                </c:pt>
                <c:pt idx="1">
                  <c:v>50</c:v>
                </c:pt>
                <c:pt idx="2">
                  <c:v>55</c:v>
                </c:pt>
                <c:pt idx="3">
                  <c:v>74</c:v>
                </c:pt>
                <c:pt idx="4">
                  <c:v>57</c:v>
                </c:pt>
                <c:pt idx="5">
                  <c:v>54</c:v>
                </c:pt>
                <c:pt idx="6">
                  <c:v>40</c:v>
                </c:pt>
                <c:pt idx="7">
                  <c:v>38</c:v>
                </c:pt>
              </c:numCache>
            </c:numRef>
          </c:val>
          <c:extLst>
            <c:ext xmlns:c16="http://schemas.microsoft.com/office/drawing/2014/chart" uri="{C3380CC4-5D6E-409C-BE32-E72D297353CC}">
              <c16:uniqueId val="{00000001-5A52-4144-91E6-2C6CDEC87FB4}"/>
            </c:ext>
          </c:extLst>
        </c:ser>
        <c:dLbls>
          <c:showLegendKey val="0"/>
          <c:showVal val="0"/>
          <c:showCatName val="0"/>
          <c:showSerName val="0"/>
          <c:showPercent val="0"/>
          <c:showBubbleSize val="0"/>
        </c:dLbls>
        <c:gapWidth val="219"/>
        <c:axId val="1121282128"/>
        <c:axId val="1121272048"/>
      </c:barChart>
      <c:lineChart>
        <c:grouping val="standard"/>
        <c:varyColors val="0"/>
        <c:ser>
          <c:idx val="2"/>
          <c:order val="2"/>
          <c:tx>
            <c:strRef>
              <c:f>Indicadores!$E$41</c:f>
              <c:strCache>
                <c:ptCount val="1"/>
                <c:pt idx="0">
                  <c:v>Tasa 2025</c:v>
                </c:pt>
              </c:strCache>
            </c:strRef>
          </c:tx>
          <c:spPr>
            <a:ln w="28575" cap="rnd">
              <a:solidFill>
                <a:srgbClr val="7030A0"/>
              </a:solidFill>
              <a:round/>
            </a:ln>
            <a:effectLst/>
          </c:spPr>
          <c:marker>
            <c:symbol val="none"/>
          </c:marker>
          <c:dLbls>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leftArrow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Indicadores!$B$43:$B$53</c:f>
              <c:strCache>
                <c:ptCount val="11"/>
                <c:pt idx="0">
                  <c:v>feb-26</c:v>
                </c:pt>
                <c:pt idx="1">
                  <c:v>mar-26</c:v>
                </c:pt>
                <c:pt idx="2">
                  <c:v>abr-26</c:v>
                </c:pt>
                <c:pt idx="3">
                  <c:v>may-26</c:v>
                </c:pt>
                <c:pt idx="4">
                  <c:v>Junio</c:v>
                </c:pt>
                <c:pt idx="5">
                  <c:v>Julio</c:v>
                </c:pt>
                <c:pt idx="6">
                  <c:v>Agosto</c:v>
                </c:pt>
                <c:pt idx="7">
                  <c:v>Septiembre</c:v>
                </c:pt>
                <c:pt idx="8">
                  <c:v>Octubre</c:v>
                </c:pt>
                <c:pt idx="9">
                  <c:v>Noviembre</c:v>
                </c:pt>
                <c:pt idx="10">
                  <c:v>Diciembre</c:v>
                </c:pt>
              </c:strCache>
            </c:strRef>
          </c:cat>
          <c:val>
            <c:numRef>
              <c:f>Indicadores!$E$43:$E$53</c:f>
              <c:numCache>
                <c:formatCode>General</c:formatCode>
                <c:ptCount val="11"/>
                <c:pt idx="8" formatCode="0.0">
                  <c:v>1179.0067781786379</c:v>
                </c:pt>
                <c:pt idx="9" formatCode="0.0">
                  <c:v>218.65092380015304</c:v>
                </c:pt>
                <c:pt idx="10" formatCode="0.0">
                  <c:v>24.25658685907948</c:v>
                </c:pt>
              </c:numCache>
            </c:numRef>
          </c:val>
          <c:smooth val="0"/>
          <c:extLst>
            <c:ext xmlns:c16="http://schemas.microsoft.com/office/drawing/2014/chart" uri="{C3380CC4-5D6E-409C-BE32-E72D297353CC}">
              <c16:uniqueId val="{00000002-5A52-4144-91E6-2C6CDEC87FB4}"/>
            </c:ext>
          </c:extLst>
        </c:ser>
        <c:ser>
          <c:idx val="3"/>
          <c:order val="3"/>
          <c:tx>
            <c:strRef>
              <c:f>Indicadores!$F$41</c:f>
              <c:strCache>
                <c:ptCount val="1"/>
                <c:pt idx="0">
                  <c:v>Tasa 2026</c:v>
                </c:pt>
              </c:strCache>
            </c:strRef>
          </c:tx>
          <c:spPr>
            <a:ln w="28575" cap="rnd">
              <a:solidFill>
                <a:srgbClr val="4FA9A7"/>
              </a:solidFill>
              <a:round/>
            </a:ln>
            <a:effectLst/>
          </c:spPr>
          <c:marker>
            <c:symbol val="none"/>
          </c:marker>
          <c:dLbls>
            <c:spPr>
              <a:solidFill>
                <a:schemeClr val="lt1"/>
              </a:solidFill>
              <a:ln>
                <a:solidFill>
                  <a:schemeClr val="tx1"/>
                </a:solidFill>
              </a:ln>
              <a:effectLst/>
            </c:spPr>
            <c:txPr>
              <a:bodyPr rot="0" spcFirstLastPara="1" vertOverflow="clip" horzOverflow="clip" vert="horz" wrap="square" lIns="36576" tIns="18288" rIns="36576" bIns="18288"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leftArrow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Indicadores!$B$43:$B$53</c:f>
              <c:strCache>
                <c:ptCount val="11"/>
                <c:pt idx="0">
                  <c:v>feb-26</c:v>
                </c:pt>
                <c:pt idx="1">
                  <c:v>mar-26</c:v>
                </c:pt>
                <c:pt idx="2">
                  <c:v>abr-26</c:v>
                </c:pt>
                <c:pt idx="3">
                  <c:v>may-26</c:v>
                </c:pt>
                <c:pt idx="4">
                  <c:v>Junio</c:v>
                </c:pt>
                <c:pt idx="5">
                  <c:v>Julio</c:v>
                </c:pt>
                <c:pt idx="6">
                  <c:v>Agosto</c:v>
                </c:pt>
                <c:pt idx="7">
                  <c:v>Septiembre</c:v>
                </c:pt>
                <c:pt idx="8">
                  <c:v>Octubre</c:v>
                </c:pt>
                <c:pt idx="9">
                  <c:v>Noviembre</c:v>
                </c:pt>
                <c:pt idx="10">
                  <c:v>Diciembre</c:v>
                </c:pt>
              </c:strCache>
            </c:strRef>
          </c:cat>
          <c:val>
            <c:numRef>
              <c:f>Indicadores!$F$43:$F$53</c:f>
              <c:numCache>
                <c:formatCode>0</c:formatCode>
                <c:ptCount val="11"/>
                <c:pt idx="0">
                  <c:v>1.7082103421886956</c:v>
                </c:pt>
                <c:pt idx="1">
                  <c:v>17.082103421886959</c:v>
                </c:pt>
                <c:pt idx="2">
                  <c:v>18.790313764075652</c:v>
                </c:pt>
                <c:pt idx="3">
                  <c:v>25.281513064392698</c:v>
                </c:pt>
                <c:pt idx="4" formatCode="General">
                  <c:v>16</c:v>
                </c:pt>
                <c:pt idx="5" formatCode="General">
                  <c:v>16</c:v>
                </c:pt>
                <c:pt idx="6" formatCode="General">
                  <c:v>10</c:v>
                </c:pt>
                <c:pt idx="7" formatCode="General">
                  <c:v>10</c:v>
                </c:pt>
              </c:numCache>
            </c:numRef>
          </c:val>
          <c:smooth val="0"/>
          <c:extLst>
            <c:ext xmlns:c16="http://schemas.microsoft.com/office/drawing/2014/chart" uri="{C3380CC4-5D6E-409C-BE32-E72D297353CC}">
              <c16:uniqueId val="{00000003-5A52-4144-91E6-2C6CDEC87FB4}"/>
            </c:ext>
          </c:extLst>
        </c:ser>
        <c:dLbls>
          <c:showLegendKey val="0"/>
          <c:showVal val="0"/>
          <c:showCatName val="0"/>
          <c:showSerName val="0"/>
          <c:showPercent val="0"/>
          <c:showBubbleSize val="0"/>
        </c:dLbls>
        <c:marker val="1"/>
        <c:smooth val="0"/>
        <c:axId val="1121282128"/>
        <c:axId val="1121272048"/>
      </c:lineChart>
      <c:catAx>
        <c:axId val="1121282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121272048"/>
        <c:crosses val="autoZero"/>
        <c:auto val="1"/>
        <c:lblAlgn val="ctr"/>
        <c:lblOffset val="100"/>
        <c:noMultiLvlLbl val="0"/>
      </c:catAx>
      <c:valAx>
        <c:axId val="1121272048"/>
        <c:scaling>
          <c:orientation val="minMax"/>
          <c:max val="3500"/>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12128212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9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1" i="0" u="none" strike="noStrike" kern="1200" spc="0" baseline="0">
                <a:solidFill>
                  <a:schemeClr val="tx1">
                    <a:lumMod val="65000"/>
                    <a:lumOff val="35000"/>
                  </a:schemeClr>
                </a:solidFill>
                <a:latin typeface="+mn-lt"/>
                <a:ea typeface="+mn-ea"/>
                <a:cs typeface="+mn-cs"/>
              </a:defRPr>
            </a:pPr>
            <a:r>
              <a:rPr lang="es-CO" b="1" noProof="0"/>
              <a:t>Incidencia </a:t>
            </a:r>
            <a:r>
              <a:rPr lang="es-CO" b="1" baseline="0" noProof="0"/>
              <a:t>año 2025/2026</a:t>
            </a:r>
            <a:endParaRPr lang="es-CO" b="1" noProof="0"/>
          </a:p>
        </c:rich>
      </c:tx>
      <c:overlay val="0"/>
      <c:spPr>
        <a:noFill/>
        <a:ln>
          <a:noFill/>
        </a:ln>
        <a:effectLst/>
      </c:spPr>
      <c:txPr>
        <a:bodyPr rot="0" spcFirstLastPara="1" vertOverflow="ellipsis" vert="horz" wrap="square" anchor="ctr" anchorCtr="1"/>
        <a:lstStyle/>
        <a:p>
          <a:pPr>
            <a:defRPr sz="1862" b="1"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1"/>
          <c:order val="0"/>
          <c:tx>
            <c:strRef>
              <c:f>Hoja1!$B$1</c:f>
              <c:strCache>
                <c:ptCount val="1"/>
                <c:pt idx="0">
                  <c:v>2025</c:v>
                </c:pt>
              </c:strCache>
            </c:strRef>
          </c:tx>
          <c:spPr>
            <a:solidFill>
              <a:srgbClr val="00A19C"/>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4FA9A7"/>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Hoja1!$A$2:$A$14</c:f>
              <c:strCache>
                <c:ptCount val="12"/>
                <c:pt idx="0">
                  <c:v>Enero</c:v>
                </c:pt>
                <c:pt idx="1">
                  <c:v>Febrero</c:v>
                </c:pt>
                <c:pt idx="2">
                  <c:v>Marzo</c:v>
                </c:pt>
                <c:pt idx="3">
                  <c:v>Abril</c:v>
                </c:pt>
                <c:pt idx="4">
                  <c:v>Mayo</c:v>
                </c:pt>
                <c:pt idx="5">
                  <c:v>Junio</c:v>
                </c:pt>
                <c:pt idx="6">
                  <c:v>Julio</c:v>
                </c:pt>
                <c:pt idx="7">
                  <c:v>Agosto</c:v>
                </c:pt>
                <c:pt idx="8">
                  <c:v>Septiembre</c:v>
                </c:pt>
                <c:pt idx="9">
                  <c:v>Octubre</c:v>
                </c:pt>
                <c:pt idx="10">
                  <c:v>Noviembre</c:v>
                </c:pt>
                <c:pt idx="11">
                  <c:v>Diciembre</c:v>
                </c:pt>
              </c:strCache>
            </c:strRef>
          </c:cat>
          <c:val>
            <c:numRef>
              <c:f>Hoja1!$B$2:$B$14</c:f>
              <c:numCache>
                <c:formatCode>General</c:formatCode>
                <c:ptCount val="13"/>
                <c:pt idx="9">
                  <c:v>3532</c:v>
                </c:pt>
                <c:pt idx="10">
                  <c:v>658</c:v>
                </c:pt>
                <c:pt idx="11">
                  <c:v>78</c:v>
                </c:pt>
              </c:numCache>
            </c:numRef>
          </c:val>
          <c:extLst>
            <c:ext xmlns:c16="http://schemas.microsoft.com/office/drawing/2014/chart" uri="{C3380CC4-5D6E-409C-BE32-E72D297353CC}">
              <c16:uniqueId val="{00000001-717B-4EDE-A99C-6D4C3ED72D8E}"/>
            </c:ext>
          </c:extLst>
        </c:ser>
        <c:ser>
          <c:idx val="2"/>
          <c:order val="1"/>
          <c:tx>
            <c:strRef>
              <c:f>Hoja1!$C$1</c:f>
              <c:strCache>
                <c:ptCount val="1"/>
                <c:pt idx="0">
                  <c:v>2026</c:v>
                </c:pt>
              </c:strCache>
            </c:strRef>
          </c:tx>
          <c:spPr>
            <a:solidFill>
              <a:schemeClr val="tx1"/>
            </a:solidFill>
            <a:ln>
              <a:noFill/>
            </a:ln>
            <a:effectLst/>
          </c:spPr>
          <c:invertIfNegative val="0"/>
          <c:dLbls>
            <c:spPr>
              <a:solidFill>
                <a:schemeClr val="tx1"/>
              </a:solid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s-CO"/>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Hoja1!$A$2:$A$14</c:f>
              <c:strCache>
                <c:ptCount val="12"/>
                <c:pt idx="0">
                  <c:v>Enero</c:v>
                </c:pt>
                <c:pt idx="1">
                  <c:v>Febrero</c:v>
                </c:pt>
                <c:pt idx="2">
                  <c:v>Marzo</c:v>
                </c:pt>
                <c:pt idx="3">
                  <c:v>Abril</c:v>
                </c:pt>
                <c:pt idx="4">
                  <c:v>Mayo</c:v>
                </c:pt>
                <c:pt idx="5">
                  <c:v>Junio</c:v>
                </c:pt>
                <c:pt idx="6">
                  <c:v>Julio</c:v>
                </c:pt>
                <c:pt idx="7">
                  <c:v>Agosto</c:v>
                </c:pt>
                <c:pt idx="8">
                  <c:v>Septiembre</c:v>
                </c:pt>
                <c:pt idx="9">
                  <c:v>Octubre</c:v>
                </c:pt>
                <c:pt idx="10">
                  <c:v>Noviembre</c:v>
                </c:pt>
                <c:pt idx="11">
                  <c:v>Diciembre</c:v>
                </c:pt>
              </c:strCache>
            </c:strRef>
          </c:cat>
          <c:val>
            <c:numRef>
              <c:f>Hoja1!$C$2:$C$14</c:f>
              <c:numCache>
                <c:formatCode>General</c:formatCode>
                <c:ptCount val="13"/>
                <c:pt idx="0">
                  <c:v>20</c:v>
                </c:pt>
                <c:pt idx="1">
                  <c:v>18</c:v>
                </c:pt>
                <c:pt idx="2">
                  <c:v>36</c:v>
                </c:pt>
                <c:pt idx="3">
                  <c:v>49</c:v>
                </c:pt>
                <c:pt idx="4">
                  <c:v>54</c:v>
                </c:pt>
                <c:pt idx="5">
                  <c:v>46</c:v>
                </c:pt>
                <c:pt idx="6">
                  <c:v>46</c:v>
                </c:pt>
                <c:pt idx="7">
                  <c:v>37</c:v>
                </c:pt>
                <c:pt idx="8">
                  <c:v>31</c:v>
                </c:pt>
              </c:numCache>
            </c:numRef>
          </c:val>
          <c:extLst>
            <c:ext xmlns:c16="http://schemas.microsoft.com/office/drawing/2014/chart" uri="{C3380CC4-5D6E-409C-BE32-E72D297353CC}">
              <c16:uniqueId val="{00000002-717B-4EDE-A99C-6D4C3ED72D8E}"/>
            </c:ext>
          </c:extLst>
        </c:ser>
        <c:dLbls>
          <c:showLegendKey val="0"/>
          <c:showVal val="0"/>
          <c:showCatName val="0"/>
          <c:showSerName val="0"/>
          <c:showPercent val="0"/>
          <c:showBubbleSize val="0"/>
        </c:dLbls>
        <c:gapWidth val="219"/>
        <c:axId val="767574176"/>
        <c:axId val="767575616"/>
      </c:barChart>
      <c:lineChart>
        <c:grouping val="standard"/>
        <c:varyColors val="0"/>
        <c:ser>
          <c:idx val="4"/>
          <c:order val="2"/>
          <c:tx>
            <c:strRef>
              <c:f>Hoja1!$D$1</c:f>
              <c:strCache>
                <c:ptCount val="1"/>
                <c:pt idx="0">
                  <c:v>Tasa 2025</c:v>
                </c:pt>
              </c:strCache>
            </c:strRef>
          </c:tx>
          <c:spPr>
            <a:ln w="28575" cap="rnd">
              <a:solidFill>
                <a:schemeClr val="tx1"/>
              </a:solidFill>
              <a:round/>
            </a:ln>
            <a:effectLst/>
          </c:spPr>
          <c:marker>
            <c:symbol val="none"/>
          </c:marker>
          <c:dLbls>
            <c:spPr>
              <a:solidFill>
                <a:schemeClr val="lt1"/>
              </a:solidFill>
              <a:ln>
                <a:solidFill>
                  <a:srgbClr val="00A19C"/>
                </a:solidFill>
              </a:ln>
              <a:effectLst/>
            </c:spPr>
            <c:txPr>
              <a:bodyPr rot="0" spcFirstLastPara="1" vertOverflow="clip" horzOverflow="clip" vert="horz" wrap="square" lIns="36576" tIns="18288" rIns="36576" bIns="18288" anchor="ctr" anchorCtr="1">
                <a:spAutoFit/>
              </a:bodyPr>
              <a:lstStyle/>
              <a:p>
                <a:pPr>
                  <a:defRPr sz="1197" b="1" i="0" u="none" strike="noStrike" kern="1200" baseline="0">
                    <a:solidFill>
                      <a:schemeClr val="tx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leftArrow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Hoja1!$A$2:$A$14</c:f>
              <c:strCache>
                <c:ptCount val="12"/>
                <c:pt idx="0">
                  <c:v>Enero</c:v>
                </c:pt>
                <c:pt idx="1">
                  <c:v>Febrero</c:v>
                </c:pt>
                <c:pt idx="2">
                  <c:v>Marzo</c:v>
                </c:pt>
                <c:pt idx="3">
                  <c:v>Abril</c:v>
                </c:pt>
                <c:pt idx="4">
                  <c:v>Mayo</c:v>
                </c:pt>
                <c:pt idx="5">
                  <c:v>Junio</c:v>
                </c:pt>
                <c:pt idx="6">
                  <c:v>Julio</c:v>
                </c:pt>
                <c:pt idx="7">
                  <c:v>Agosto</c:v>
                </c:pt>
                <c:pt idx="8">
                  <c:v>Septiembre</c:v>
                </c:pt>
                <c:pt idx="9">
                  <c:v>Octubre</c:v>
                </c:pt>
                <c:pt idx="10">
                  <c:v>Noviembre</c:v>
                </c:pt>
                <c:pt idx="11">
                  <c:v>Diciembre</c:v>
                </c:pt>
              </c:strCache>
            </c:strRef>
          </c:cat>
          <c:val>
            <c:numRef>
              <c:f>Hoja1!$D$2:$D$14</c:f>
              <c:numCache>
                <c:formatCode>General</c:formatCode>
                <c:ptCount val="13"/>
                <c:pt idx="9" formatCode="0">
                  <c:v>1206.6797857220945</c:v>
                </c:pt>
                <c:pt idx="10" formatCode="0">
                  <c:v>224.80048103203234</c:v>
                </c:pt>
                <c:pt idx="11" formatCode="0">
                  <c:v>26.648081338143651</c:v>
                </c:pt>
              </c:numCache>
            </c:numRef>
          </c:val>
          <c:smooth val="0"/>
          <c:extLst>
            <c:ext xmlns:c16="http://schemas.microsoft.com/office/drawing/2014/chart" uri="{C3380CC4-5D6E-409C-BE32-E72D297353CC}">
              <c16:uniqueId val="{00000000-570C-409E-ABBB-3346F26C9911}"/>
            </c:ext>
          </c:extLst>
        </c:ser>
        <c:ser>
          <c:idx val="0"/>
          <c:order val="3"/>
          <c:tx>
            <c:strRef>
              <c:f>Hoja1!$E$1</c:f>
              <c:strCache>
                <c:ptCount val="1"/>
                <c:pt idx="0">
                  <c:v>Tasa 2026</c:v>
                </c:pt>
              </c:strCache>
            </c:strRef>
          </c:tx>
          <c:spPr>
            <a:ln w="28575" cap="rnd">
              <a:solidFill>
                <a:srgbClr val="4FA9A7"/>
              </a:solidFill>
              <a:round/>
            </a:ln>
            <a:effectLst/>
          </c:spPr>
          <c:marker>
            <c:symbol val="none"/>
          </c:marker>
          <c:dLbls>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1197" b="0" i="0" u="none" strike="noStrike" kern="1200" baseline="0">
                    <a:solidFill>
                      <a:srgbClr val="4FA9A7"/>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leftArrow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Hoja1!$A$2:$A$14</c:f>
              <c:strCache>
                <c:ptCount val="12"/>
                <c:pt idx="0">
                  <c:v>Enero</c:v>
                </c:pt>
                <c:pt idx="1">
                  <c:v>Febrero</c:v>
                </c:pt>
                <c:pt idx="2">
                  <c:v>Marzo</c:v>
                </c:pt>
                <c:pt idx="3">
                  <c:v>Abril</c:v>
                </c:pt>
                <c:pt idx="4">
                  <c:v>Mayo</c:v>
                </c:pt>
                <c:pt idx="5">
                  <c:v>Junio</c:v>
                </c:pt>
                <c:pt idx="6">
                  <c:v>Julio</c:v>
                </c:pt>
                <c:pt idx="7">
                  <c:v>Agosto</c:v>
                </c:pt>
                <c:pt idx="8">
                  <c:v>Septiembre</c:v>
                </c:pt>
                <c:pt idx="9">
                  <c:v>Octubre</c:v>
                </c:pt>
                <c:pt idx="10">
                  <c:v>Noviembre</c:v>
                </c:pt>
                <c:pt idx="11">
                  <c:v>Diciembre</c:v>
                </c:pt>
              </c:strCache>
            </c:strRef>
          </c:cat>
          <c:val>
            <c:numRef>
              <c:f>Hoja1!$E$2:$E$14</c:f>
              <c:numCache>
                <c:formatCode>0.0</c:formatCode>
                <c:ptCount val="13"/>
                <c:pt idx="0">
                  <c:v>6.8328413687547824</c:v>
                </c:pt>
                <c:pt idx="1">
                  <c:v>6.1495572318793048</c:v>
                </c:pt>
                <c:pt idx="2">
                  <c:v>12.29911446375861</c:v>
                </c:pt>
                <c:pt idx="3">
                  <c:v>16.74046135344922</c:v>
                </c:pt>
                <c:pt idx="4">
                  <c:v>18.448671695637916</c:v>
                </c:pt>
                <c:pt idx="5">
                  <c:v>15.715535148136002</c:v>
                </c:pt>
                <c:pt idx="6">
                  <c:v>15.715535148136002</c:v>
                </c:pt>
                <c:pt idx="7">
                  <c:v>12.640756532196349</c:v>
                </c:pt>
                <c:pt idx="8">
                  <c:v>10.590904121569913</c:v>
                </c:pt>
              </c:numCache>
            </c:numRef>
          </c:val>
          <c:smooth val="0"/>
          <c:extLst>
            <c:ext xmlns:c16="http://schemas.microsoft.com/office/drawing/2014/chart" uri="{C3380CC4-5D6E-409C-BE32-E72D297353CC}">
              <c16:uniqueId val="{00000000-1571-4E0F-8DB4-D5198ED64BE1}"/>
            </c:ext>
          </c:extLst>
        </c:ser>
        <c:dLbls>
          <c:showLegendKey val="0"/>
          <c:showVal val="0"/>
          <c:showCatName val="0"/>
          <c:showSerName val="0"/>
          <c:showPercent val="0"/>
          <c:showBubbleSize val="0"/>
        </c:dLbls>
        <c:marker val="1"/>
        <c:smooth val="0"/>
        <c:axId val="767574176"/>
        <c:axId val="767575616"/>
      </c:lineChart>
      <c:catAx>
        <c:axId val="767574176"/>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s-CO" noProof="0"/>
                  <a:t>Casos</a:t>
                </a:r>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s-CO"/>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767575616"/>
        <c:crosses val="autoZero"/>
        <c:auto val="1"/>
        <c:lblAlgn val="ctr"/>
        <c:lblOffset val="100"/>
        <c:noMultiLvlLbl val="0"/>
      </c:catAx>
      <c:valAx>
        <c:axId val="767575616"/>
        <c:scaling>
          <c:orientation val="minMax"/>
          <c:max val="356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s-CO" b="1" noProof="0" err="1">
                    <a:solidFill>
                      <a:srgbClr val="6B6B6B"/>
                    </a:solidFill>
                  </a:rPr>
                  <a:t>N°</a:t>
                </a:r>
                <a:r>
                  <a:rPr lang="es-CO" b="1" noProof="0">
                    <a:solidFill>
                      <a:srgbClr val="6B6B6B"/>
                    </a:solidFill>
                  </a:rPr>
                  <a:t> pacientes</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s-CO"/>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7675741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s-CO"/>
    </a:p>
  </c:txPr>
  <c:externalData r:id="rId3">
    <c:autoUpdate val="0"/>
  </c:externalData>
</c:chartSpace>
</file>

<file path=ppt/charts/chart10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s-CO" sz="1400" b="1" i="0" u="none" strike="noStrike" kern="1200" spc="0" baseline="0" noProof="0">
                <a:solidFill>
                  <a:schemeClr val="tx1"/>
                </a:solidFill>
              </a:rPr>
              <a:t>Tasa de incidencia de cánceres Emssanar</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Prevalencia!$AP$3</c:f>
              <c:strCache>
                <c:ptCount val="1"/>
                <c:pt idx="0">
                  <c:v>Casos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Prevalencia!$AO$4:$AO$26</c:f>
              <c:strCache>
                <c:ptCount val="22"/>
                <c:pt idx="0">
                  <c:v>16= Otros tumores de la piel</c:v>
                </c:pt>
                <c:pt idx="1">
                  <c:v>1= CAC Mama</c:v>
                </c:pt>
                <c:pt idx="2">
                  <c:v>3= CAC Cérvix</c:v>
                </c:pt>
                <c:pt idx="3">
                  <c:v>4= CAC Colorectal</c:v>
                </c:pt>
                <c:pt idx="4">
                  <c:v>2= CAC Próstata</c:v>
                </c:pt>
                <c:pt idx="5">
                  <c:v>5= CAC Estómago</c:v>
                </c:pt>
                <c:pt idx="6">
                  <c:v>13= Otros órganos digestivos</c:v>
                </c:pt>
                <c:pt idx="7">
                  <c:v>18= Otros órganos genitales femeninos</c:v>
                </c:pt>
                <c:pt idx="8">
                  <c:v>7= CAC Pulmón</c:v>
                </c:pt>
                <c:pt idx="9">
                  <c:v>24= Otros tumores malignos del tejido linfático, de los órganos hematopoyéticos y de tejidos afines</c:v>
                </c:pt>
                <c:pt idx="10">
                  <c:v>12= Labio, cavidad bucal y faringe</c:v>
                </c:pt>
                <c:pt idx="11">
                  <c:v>22= Glándulas tiroides y endocrinas</c:v>
                </c:pt>
                <c:pt idx="12">
                  <c:v>21= Ojo, encéfalo, y otras partes del sistema nervioso</c:v>
                </c:pt>
                <c:pt idx="13">
                  <c:v>20= Vías urinarias</c:v>
                </c:pt>
                <c:pt idx="14">
                  <c:v>23= Otros sitios, sitios mal definidos, sitios no especificados</c:v>
                </c:pt>
                <c:pt idx="15">
                  <c:v>9= CAC Linfoma No Hodgkin</c:v>
                </c:pt>
                <c:pt idx="16">
                  <c:v>15= Huesos y cartílagos articulares</c:v>
                </c:pt>
                <c:pt idx="17">
                  <c:v>17= Tejidos mesoteliales (excepto pulmón) y tejidos blandos</c:v>
                </c:pt>
                <c:pt idx="18">
                  <c:v>19= Otros órganos genitales masculinos</c:v>
                </c:pt>
                <c:pt idx="19">
                  <c:v>25= Tumores secundarios</c:v>
                </c:pt>
                <c:pt idx="20">
                  <c:v>10= CAC Leucemia Linfocitica Aguda</c:v>
                </c:pt>
                <c:pt idx="21">
                  <c:v>6= CAC Melanoma</c:v>
                </c:pt>
              </c:strCache>
            </c:strRef>
          </c:cat>
          <c:val>
            <c:numRef>
              <c:f>Prevalencia!$AP$4:$AP$26</c:f>
              <c:numCache>
                <c:formatCode>General</c:formatCode>
                <c:ptCount val="23"/>
                <c:pt idx="0">
                  <c:v>77</c:v>
                </c:pt>
                <c:pt idx="1">
                  <c:v>77</c:v>
                </c:pt>
                <c:pt idx="2">
                  <c:v>45</c:v>
                </c:pt>
                <c:pt idx="3">
                  <c:v>35</c:v>
                </c:pt>
                <c:pt idx="4">
                  <c:v>26</c:v>
                </c:pt>
                <c:pt idx="5">
                  <c:v>15</c:v>
                </c:pt>
                <c:pt idx="6">
                  <c:v>11</c:v>
                </c:pt>
                <c:pt idx="7">
                  <c:v>8</c:v>
                </c:pt>
                <c:pt idx="8">
                  <c:v>6</c:v>
                </c:pt>
                <c:pt idx="9">
                  <c:v>5</c:v>
                </c:pt>
                <c:pt idx="10">
                  <c:v>5</c:v>
                </c:pt>
                <c:pt idx="11">
                  <c:v>4</c:v>
                </c:pt>
                <c:pt idx="12">
                  <c:v>4</c:v>
                </c:pt>
                <c:pt idx="13">
                  <c:v>4</c:v>
                </c:pt>
                <c:pt idx="14">
                  <c:v>3</c:v>
                </c:pt>
                <c:pt idx="15">
                  <c:v>3</c:v>
                </c:pt>
                <c:pt idx="16">
                  <c:v>3</c:v>
                </c:pt>
                <c:pt idx="17">
                  <c:v>2</c:v>
                </c:pt>
                <c:pt idx="18">
                  <c:v>2</c:v>
                </c:pt>
                <c:pt idx="19">
                  <c:v>1</c:v>
                </c:pt>
                <c:pt idx="20">
                  <c:v>1</c:v>
                </c:pt>
                <c:pt idx="21">
                  <c:v>1</c:v>
                </c:pt>
              </c:numCache>
            </c:numRef>
          </c:val>
          <c:extLst>
            <c:ext xmlns:c16="http://schemas.microsoft.com/office/drawing/2014/chart" uri="{C3380CC4-5D6E-409C-BE32-E72D297353CC}">
              <c16:uniqueId val="{00000000-00CD-4579-8EB0-F3265D4CB126}"/>
            </c:ext>
          </c:extLst>
        </c:ser>
        <c:dLbls>
          <c:showLegendKey val="0"/>
          <c:showVal val="0"/>
          <c:showCatName val="0"/>
          <c:showSerName val="0"/>
          <c:showPercent val="0"/>
          <c:showBubbleSize val="0"/>
        </c:dLbls>
        <c:gapWidth val="219"/>
        <c:axId val="1496556351"/>
        <c:axId val="1496554431"/>
      </c:barChart>
      <c:lineChart>
        <c:grouping val="standard"/>
        <c:varyColors val="0"/>
        <c:ser>
          <c:idx val="1"/>
          <c:order val="1"/>
          <c:tx>
            <c:strRef>
              <c:f>Prevalencia!$AQ$3</c:f>
              <c:strCache>
                <c:ptCount val="1"/>
                <c:pt idx="0">
                  <c:v>Tasa x 100 mil</c:v>
                </c:pt>
              </c:strCache>
            </c:strRef>
          </c:tx>
          <c:spPr>
            <a:ln w="28575" cap="rnd">
              <a:solidFill>
                <a:srgbClr val="4FA9A7"/>
              </a:solidFill>
              <a:round/>
            </a:ln>
            <a:effectLst/>
          </c:spPr>
          <c:marker>
            <c:symbol val="none"/>
          </c:marker>
          <c:dLbls>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leftArrow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Prevalencia!$AO$4:$AO$26</c:f>
              <c:strCache>
                <c:ptCount val="22"/>
                <c:pt idx="0">
                  <c:v>16= Otros tumores de la piel</c:v>
                </c:pt>
                <c:pt idx="1">
                  <c:v>1= CAC Mama</c:v>
                </c:pt>
                <c:pt idx="2">
                  <c:v>3= CAC Cérvix</c:v>
                </c:pt>
                <c:pt idx="3">
                  <c:v>4= CAC Colorectal</c:v>
                </c:pt>
                <c:pt idx="4">
                  <c:v>2= CAC Próstata</c:v>
                </c:pt>
                <c:pt idx="5">
                  <c:v>5= CAC Estómago</c:v>
                </c:pt>
                <c:pt idx="6">
                  <c:v>13= Otros órganos digestivos</c:v>
                </c:pt>
                <c:pt idx="7">
                  <c:v>18= Otros órganos genitales femeninos</c:v>
                </c:pt>
                <c:pt idx="8">
                  <c:v>7= CAC Pulmón</c:v>
                </c:pt>
                <c:pt idx="9">
                  <c:v>24= Otros tumores malignos del tejido linfático, de los órganos hematopoyéticos y de tejidos afines</c:v>
                </c:pt>
                <c:pt idx="10">
                  <c:v>12= Labio, cavidad bucal y faringe</c:v>
                </c:pt>
                <c:pt idx="11">
                  <c:v>22= Glándulas tiroides y endocrinas</c:v>
                </c:pt>
                <c:pt idx="12">
                  <c:v>21= Ojo, encéfalo, y otras partes del sistema nervioso</c:v>
                </c:pt>
                <c:pt idx="13">
                  <c:v>20= Vías urinarias</c:v>
                </c:pt>
                <c:pt idx="14">
                  <c:v>23= Otros sitios, sitios mal definidos, sitios no especificados</c:v>
                </c:pt>
                <c:pt idx="15">
                  <c:v>9= CAC Linfoma No Hodgkin</c:v>
                </c:pt>
                <c:pt idx="16">
                  <c:v>15= Huesos y cartílagos articulares</c:v>
                </c:pt>
                <c:pt idx="17">
                  <c:v>17= Tejidos mesoteliales (excepto pulmón) y tejidos blandos</c:v>
                </c:pt>
                <c:pt idx="18">
                  <c:v>19= Otros órganos genitales masculinos</c:v>
                </c:pt>
                <c:pt idx="19">
                  <c:v>25= Tumores secundarios</c:v>
                </c:pt>
                <c:pt idx="20">
                  <c:v>10= CAC Leucemia Linfocitica Aguda</c:v>
                </c:pt>
                <c:pt idx="21">
                  <c:v>6= CAC Melanoma</c:v>
                </c:pt>
              </c:strCache>
            </c:strRef>
          </c:cat>
          <c:val>
            <c:numRef>
              <c:f>Prevalencia!$AQ$4:$AQ$26</c:f>
              <c:numCache>
                <c:formatCode>0</c:formatCode>
                <c:ptCount val="23"/>
                <c:pt idx="0">
                  <c:v>26.306439269705916</c:v>
                </c:pt>
                <c:pt idx="1">
                  <c:v>26.306439269705916</c:v>
                </c:pt>
                <c:pt idx="2">
                  <c:v>15.373893079698261</c:v>
                </c:pt>
                <c:pt idx="3">
                  <c:v>11.95747239532087</c:v>
                </c:pt>
                <c:pt idx="4">
                  <c:v>8.8826937793812171</c:v>
                </c:pt>
                <c:pt idx="5">
                  <c:v>5.124631026566087</c:v>
                </c:pt>
                <c:pt idx="6">
                  <c:v>3.7580627528151305</c:v>
                </c:pt>
                <c:pt idx="7">
                  <c:v>2.7331365475019131</c:v>
                </c:pt>
                <c:pt idx="8">
                  <c:v>2.0498524106264346</c:v>
                </c:pt>
                <c:pt idx="9">
                  <c:v>1.7082103421886956</c:v>
                </c:pt>
                <c:pt idx="10">
                  <c:v>1.7082103421886956</c:v>
                </c:pt>
                <c:pt idx="11">
                  <c:v>1.3665682737509566</c:v>
                </c:pt>
                <c:pt idx="12">
                  <c:v>1.3665682737509566</c:v>
                </c:pt>
                <c:pt idx="13">
                  <c:v>1.3665682737509566</c:v>
                </c:pt>
                <c:pt idx="14">
                  <c:v>1.0249262053132173</c:v>
                </c:pt>
                <c:pt idx="15">
                  <c:v>1.0249262053132173</c:v>
                </c:pt>
                <c:pt idx="16">
                  <c:v>1.0249262053132173</c:v>
                </c:pt>
                <c:pt idx="17">
                  <c:v>0.68328413687547829</c:v>
                </c:pt>
                <c:pt idx="18">
                  <c:v>0.68328413687547829</c:v>
                </c:pt>
                <c:pt idx="19">
                  <c:v>0.34164206843773914</c:v>
                </c:pt>
                <c:pt idx="20">
                  <c:v>0.34164206843773914</c:v>
                </c:pt>
                <c:pt idx="21">
                  <c:v>0.34164206843773914</c:v>
                </c:pt>
                <c:pt idx="22">
                  <c:v>0</c:v>
                </c:pt>
              </c:numCache>
            </c:numRef>
          </c:val>
          <c:smooth val="0"/>
          <c:extLst>
            <c:ext xmlns:c16="http://schemas.microsoft.com/office/drawing/2014/chart" uri="{C3380CC4-5D6E-409C-BE32-E72D297353CC}">
              <c16:uniqueId val="{00000001-00CD-4579-8EB0-F3265D4CB126}"/>
            </c:ext>
          </c:extLst>
        </c:ser>
        <c:dLbls>
          <c:showLegendKey val="0"/>
          <c:showVal val="0"/>
          <c:showCatName val="0"/>
          <c:showSerName val="0"/>
          <c:showPercent val="0"/>
          <c:showBubbleSize val="0"/>
        </c:dLbls>
        <c:marker val="1"/>
        <c:smooth val="0"/>
        <c:axId val="1496556351"/>
        <c:axId val="1496554431"/>
      </c:lineChart>
      <c:catAx>
        <c:axId val="14965563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496554431"/>
        <c:crosses val="autoZero"/>
        <c:auto val="1"/>
        <c:lblAlgn val="ctr"/>
        <c:lblOffset val="100"/>
        <c:noMultiLvlLbl val="0"/>
      </c:catAx>
      <c:valAx>
        <c:axId val="149655443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49655635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1"/>
  </c:externalData>
</c:chartSpace>
</file>

<file path=ppt/charts/chart10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rgbClr val="4FA9A7"/>
                </a:solidFill>
                <a:latin typeface="+mn-lt"/>
                <a:ea typeface="+mn-ea"/>
                <a:cs typeface="+mn-cs"/>
              </a:defRPr>
            </a:pPr>
            <a:r>
              <a:rPr lang="es-CO" sz="1400" b="1" i="0" u="none" strike="noStrike" kern="1200" spc="0" baseline="0" noProof="0">
                <a:solidFill>
                  <a:srgbClr val="4FA9A7"/>
                </a:solidFill>
              </a:rPr>
              <a:t>Tasa de prevalencia de cánceres  Emssanar</a:t>
            </a:r>
          </a:p>
        </c:rich>
      </c:tx>
      <c:layout>
        <c:manualLayout>
          <c:xMode val="edge"/>
          <c:yMode val="edge"/>
          <c:x val="0.32243321450422369"/>
          <c:y val="4.1666666666666664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rgbClr val="4FA9A7"/>
              </a:solidFill>
              <a:latin typeface="+mn-lt"/>
              <a:ea typeface="+mn-ea"/>
              <a:cs typeface="+mn-cs"/>
            </a:defRPr>
          </a:pPr>
          <a:endParaRPr lang="es-CO"/>
        </a:p>
      </c:txPr>
    </c:title>
    <c:autoTitleDeleted val="0"/>
    <c:plotArea>
      <c:layout/>
      <c:barChart>
        <c:barDir val="col"/>
        <c:grouping val="clustered"/>
        <c:varyColors val="0"/>
        <c:ser>
          <c:idx val="0"/>
          <c:order val="0"/>
          <c:tx>
            <c:strRef>
              <c:f>Prevalencia!$AT$3</c:f>
              <c:strCache>
                <c:ptCount val="1"/>
                <c:pt idx="0">
                  <c:v>Casos</c:v>
                </c:pt>
              </c:strCache>
            </c:strRef>
          </c:tx>
          <c:spPr>
            <a:solidFill>
              <a:srgbClr val="4FA9A7"/>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4FA9A7"/>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Prevalencia!$AS$4:$AS$28</c:f>
              <c:strCache>
                <c:ptCount val="25"/>
                <c:pt idx="0">
                  <c:v>1= CAC Mama</c:v>
                </c:pt>
                <c:pt idx="1">
                  <c:v>16= Otros tumores de la piel</c:v>
                </c:pt>
                <c:pt idx="2">
                  <c:v>3= CAC Cérvix</c:v>
                </c:pt>
                <c:pt idx="3">
                  <c:v>2= CAC Próstata</c:v>
                </c:pt>
                <c:pt idx="4">
                  <c:v>4= CAC Colorectal</c:v>
                </c:pt>
                <c:pt idx="5">
                  <c:v>22= Glándulas tiroides y endocrinas</c:v>
                </c:pt>
                <c:pt idx="6">
                  <c:v>18= Otros órganos genitales femeninos</c:v>
                </c:pt>
                <c:pt idx="7">
                  <c:v>9= CAC Linfoma No Hodgkin</c:v>
                </c:pt>
                <c:pt idx="8">
                  <c:v>5= CAC Estómago</c:v>
                </c:pt>
                <c:pt idx="9">
                  <c:v>24= Otros tumores malignos del tejido linfático, de los órganos hematopoyéticos y de tejidos afines</c:v>
                </c:pt>
                <c:pt idx="10">
                  <c:v>20= Vías urinarias</c:v>
                </c:pt>
                <c:pt idx="11">
                  <c:v>23= Otros sitios, sitios mal definidos, sitios no especificados</c:v>
                </c:pt>
                <c:pt idx="12">
                  <c:v>13= Otros órganos digestivos</c:v>
                </c:pt>
                <c:pt idx="13">
                  <c:v>21= Ojo, encéfalo, y otras partes del sistema nervioso</c:v>
                </c:pt>
                <c:pt idx="14">
                  <c:v>6= CAC Melanoma</c:v>
                </c:pt>
                <c:pt idx="15">
                  <c:v>12= Labio, cavidad bucal y faringe</c:v>
                </c:pt>
                <c:pt idx="16">
                  <c:v>17= Tejidos mesoteliales (excepto pulmón) y tejidos blandos</c:v>
                </c:pt>
                <c:pt idx="17">
                  <c:v>19= Otros órganos genitales masculinos</c:v>
                </c:pt>
                <c:pt idx="18">
                  <c:v>8= CAC Linfoma Hodgkin</c:v>
                </c:pt>
                <c:pt idx="19">
                  <c:v>14= Otros órganos respiratorios e intratorácicos</c:v>
                </c:pt>
                <c:pt idx="20">
                  <c:v>10= CAC Leucemia Linfocitica Aguda</c:v>
                </c:pt>
                <c:pt idx="21">
                  <c:v>7= CAC Pulmón</c:v>
                </c:pt>
                <c:pt idx="22">
                  <c:v>15= Huesos y cartílagos articulares</c:v>
                </c:pt>
                <c:pt idx="23">
                  <c:v>11= CAC Leucemia Mielocitica Aguda</c:v>
                </c:pt>
                <c:pt idx="24">
                  <c:v>25= Tumores secundarios</c:v>
                </c:pt>
              </c:strCache>
            </c:strRef>
          </c:cat>
          <c:val>
            <c:numRef>
              <c:f>Prevalencia!$AT$4:$AT$28</c:f>
              <c:numCache>
                <c:formatCode>General</c:formatCode>
                <c:ptCount val="25"/>
                <c:pt idx="0">
                  <c:v>915</c:v>
                </c:pt>
                <c:pt idx="1">
                  <c:v>884</c:v>
                </c:pt>
                <c:pt idx="2">
                  <c:v>588</c:v>
                </c:pt>
                <c:pt idx="3">
                  <c:v>343</c:v>
                </c:pt>
                <c:pt idx="4">
                  <c:v>268</c:v>
                </c:pt>
                <c:pt idx="5">
                  <c:v>204</c:v>
                </c:pt>
                <c:pt idx="6">
                  <c:v>184</c:v>
                </c:pt>
                <c:pt idx="7">
                  <c:v>104</c:v>
                </c:pt>
                <c:pt idx="8">
                  <c:v>99</c:v>
                </c:pt>
                <c:pt idx="9">
                  <c:v>87</c:v>
                </c:pt>
                <c:pt idx="10">
                  <c:v>75</c:v>
                </c:pt>
                <c:pt idx="11">
                  <c:v>69</c:v>
                </c:pt>
                <c:pt idx="12">
                  <c:v>68</c:v>
                </c:pt>
                <c:pt idx="13">
                  <c:v>54</c:v>
                </c:pt>
                <c:pt idx="14">
                  <c:v>52</c:v>
                </c:pt>
                <c:pt idx="15">
                  <c:v>48</c:v>
                </c:pt>
                <c:pt idx="16">
                  <c:v>45</c:v>
                </c:pt>
                <c:pt idx="17">
                  <c:v>44</c:v>
                </c:pt>
                <c:pt idx="18">
                  <c:v>38</c:v>
                </c:pt>
                <c:pt idx="19">
                  <c:v>36</c:v>
                </c:pt>
                <c:pt idx="20">
                  <c:v>28</c:v>
                </c:pt>
                <c:pt idx="21">
                  <c:v>25</c:v>
                </c:pt>
                <c:pt idx="22">
                  <c:v>20</c:v>
                </c:pt>
                <c:pt idx="23">
                  <c:v>15</c:v>
                </c:pt>
                <c:pt idx="24">
                  <c:v>10</c:v>
                </c:pt>
              </c:numCache>
            </c:numRef>
          </c:val>
          <c:extLst>
            <c:ext xmlns:c16="http://schemas.microsoft.com/office/drawing/2014/chart" uri="{C3380CC4-5D6E-409C-BE32-E72D297353CC}">
              <c16:uniqueId val="{00000000-C371-4D27-BECD-6875B95824EE}"/>
            </c:ext>
          </c:extLst>
        </c:ser>
        <c:dLbls>
          <c:showLegendKey val="0"/>
          <c:showVal val="0"/>
          <c:showCatName val="0"/>
          <c:showSerName val="0"/>
          <c:showPercent val="0"/>
          <c:showBubbleSize val="0"/>
        </c:dLbls>
        <c:gapWidth val="219"/>
        <c:axId val="1820421263"/>
        <c:axId val="1820421743"/>
      </c:barChart>
      <c:lineChart>
        <c:grouping val="standard"/>
        <c:varyColors val="0"/>
        <c:ser>
          <c:idx val="1"/>
          <c:order val="1"/>
          <c:tx>
            <c:strRef>
              <c:f>Prevalencia!$AU$3</c:f>
              <c:strCache>
                <c:ptCount val="1"/>
                <c:pt idx="0">
                  <c:v>Tasa x 100 mil</c:v>
                </c:pt>
              </c:strCache>
            </c:strRef>
          </c:tx>
          <c:spPr>
            <a:ln w="28575" cap="rnd">
              <a:solidFill>
                <a:schemeClr val="tx1"/>
              </a:solidFill>
              <a:round/>
            </a:ln>
            <a:effectLst/>
          </c:spPr>
          <c:marker>
            <c:symbol val="none"/>
          </c:marker>
          <c:dLbls>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leftArrow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Prevalencia!$AS$4:$AS$28</c:f>
              <c:strCache>
                <c:ptCount val="25"/>
                <c:pt idx="0">
                  <c:v>1= CAC Mama</c:v>
                </c:pt>
                <c:pt idx="1">
                  <c:v>16= Otros tumores de la piel</c:v>
                </c:pt>
                <c:pt idx="2">
                  <c:v>3= CAC Cérvix</c:v>
                </c:pt>
                <c:pt idx="3">
                  <c:v>2= CAC Próstata</c:v>
                </c:pt>
                <c:pt idx="4">
                  <c:v>4= CAC Colorectal</c:v>
                </c:pt>
                <c:pt idx="5">
                  <c:v>22= Glándulas tiroides y endocrinas</c:v>
                </c:pt>
                <c:pt idx="6">
                  <c:v>18= Otros órganos genitales femeninos</c:v>
                </c:pt>
                <c:pt idx="7">
                  <c:v>9= CAC Linfoma No Hodgkin</c:v>
                </c:pt>
                <c:pt idx="8">
                  <c:v>5= CAC Estómago</c:v>
                </c:pt>
                <c:pt idx="9">
                  <c:v>24= Otros tumores malignos del tejido linfático, de los órganos hematopoyéticos y de tejidos afines</c:v>
                </c:pt>
                <c:pt idx="10">
                  <c:v>20= Vías urinarias</c:v>
                </c:pt>
                <c:pt idx="11">
                  <c:v>23= Otros sitios, sitios mal definidos, sitios no especificados</c:v>
                </c:pt>
                <c:pt idx="12">
                  <c:v>13= Otros órganos digestivos</c:v>
                </c:pt>
                <c:pt idx="13">
                  <c:v>21= Ojo, encéfalo, y otras partes del sistema nervioso</c:v>
                </c:pt>
                <c:pt idx="14">
                  <c:v>6= CAC Melanoma</c:v>
                </c:pt>
                <c:pt idx="15">
                  <c:v>12= Labio, cavidad bucal y faringe</c:v>
                </c:pt>
                <c:pt idx="16">
                  <c:v>17= Tejidos mesoteliales (excepto pulmón) y tejidos blandos</c:v>
                </c:pt>
                <c:pt idx="17">
                  <c:v>19= Otros órganos genitales masculinos</c:v>
                </c:pt>
                <c:pt idx="18">
                  <c:v>8= CAC Linfoma Hodgkin</c:v>
                </c:pt>
                <c:pt idx="19">
                  <c:v>14= Otros órganos respiratorios e intratorácicos</c:v>
                </c:pt>
                <c:pt idx="20">
                  <c:v>10= CAC Leucemia Linfocitica Aguda</c:v>
                </c:pt>
                <c:pt idx="21">
                  <c:v>7= CAC Pulmón</c:v>
                </c:pt>
                <c:pt idx="22">
                  <c:v>15= Huesos y cartílagos articulares</c:v>
                </c:pt>
                <c:pt idx="23">
                  <c:v>11= CAC Leucemia Mielocitica Aguda</c:v>
                </c:pt>
                <c:pt idx="24">
                  <c:v>25= Tumores secundarios</c:v>
                </c:pt>
              </c:strCache>
            </c:strRef>
          </c:cat>
          <c:val>
            <c:numRef>
              <c:f>Prevalencia!$AU$4:$AU$28</c:f>
              <c:numCache>
                <c:formatCode>0</c:formatCode>
                <c:ptCount val="25"/>
                <c:pt idx="0">
                  <c:v>312.60249262053134</c:v>
                </c:pt>
                <c:pt idx="1">
                  <c:v>302.01158849896137</c:v>
                </c:pt>
                <c:pt idx="2">
                  <c:v>200.88553624139061</c:v>
                </c:pt>
                <c:pt idx="3">
                  <c:v>117.18322947414453</c:v>
                </c:pt>
                <c:pt idx="4">
                  <c:v>91.560074341314092</c:v>
                </c:pt>
                <c:pt idx="5">
                  <c:v>69.69498196129878</c:v>
                </c:pt>
                <c:pt idx="6">
                  <c:v>62.862140592544009</c:v>
                </c:pt>
                <c:pt idx="7">
                  <c:v>35.530775117524868</c:v>
                </c:pt>
                <c:pt idx="8">
                  <c:v>33.822564775336176</c:v>
                </c:pt>
                <c:pt idx="9">
                  <c:v>29.722859954083308</c:v>
                </c:pt>
                <c:pt idx="10">
                  <c:v>25.623155132830433</c:v>
                </c:pt>
                <c:pt idx="11">
                  <c:v>23.573302722204001</c:v>
                </c:pt>
                <c:pt idx="12">
                  <c:v>23.231660653766262</c:v>
                </c:pt>
                <c:pt idx="13">
                  <c:v>18.448671695637916</c:v>
                </c:pt>
                <c:pt idx="14">
                  <c:v>17.765387558762434</c:v>
                </c:pt>
                <c:pt idx="15">
                  <c:v>16.398819285011477</c:v>
                </c:pt>
                <c:pt idx="16">
                  <c:v>15.373893079698261</c:v>
                </c:pt>
                <c:pt idx="17">
                  <c:v>15.032251011260522</c:v>
                </c:pt>
                <c:pt idx="18">
                  <c:v>12.982398600634088</c:v>
                </c:pt>
                <c:pt idx="19">
                  <c:v>12.29911446375861</c:v>
                </c:pt>
                <c:pt idx="20">
                  <c:v>9.5659779162566956</c:v>
                </c:pt>
                <c:pt idx="21">
                  <c:v>8.5410517109434796</c:v>
                </c:pt>
                <c:pt idx="22">
                  <c:v>6.8328413687547824</c:v>
                </c:pt>
                <c:pt idx="23">
                  <c:v>5.124631026566087</c:v>
                </c:pt>
                <c:pt idx="24">
                  <c:v>3.4164206843773912</c:v>
                </c:pt>
              </c:numCache>
            </c:numRef>
          </c:val>
          <c:smooth val="0"/>
          <c:extLst>
            <c:ext xmlns:c16="http://schemas.microsoft.com/office/drawing/2014/chart" uri="{C3380CC4-5D6E-409C-BE32-E72D297353CC}">
              <c16:uniqueId val="{00000001-C371-4D27-BECD-6875B95824EE}"/>
            </c:ext>
          </c:extLst>
        </c:ser>
        <c:dLbls>
          <c:showLegendKey val="0"/>
          <c:showVal val="0"/>
          <c:showCatName val="0"/>
          <c:showSerName val="0"/>
          <c:showPercent val="0"/>
          <c:showBubbleSize val="0"/>
        </c:dLbls>
        <c:marker val="1"/>
        <c:smooth val="0"/>
        <c:axId val="1820421263"/>
        <c:axId val="1820421743"/>
      </c:lineChart>
      <c:catAx>
        <c:axId val="18204212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s-CO"/>
          </a:p>
        </c:txPr>
        <c:crossAx val="1820421743"/>
        <c:crosses val="autoZero"/>
        <c:auto val="1"/>
        <c:lblAlgn val="ctr"/>
        <c:lblOffset val="100"/>
        <c:noMultiLvlLbl val="0"/>
      </c:catAx>
      <c:valAx>
        <c:axId val="182042174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82042126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1"/>
  </c:externalData>
</c:chartSpace>
</file>

<file path=ppt/charts/chart10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4FA9A7"/>
                </a:solidFill>
                <a:latin typeface="+mn-lt"/>
                <a:ea typeface="+mn-ea"/>
                <a:cs typeface="+mn-cs"/>
              </a:defRPr>
            </a:pPr>
            <a:r>
              <a:rPr lang="es-CO" b="1" noProof="0">
                <a:solidFill>
                  <a:srgbClr val="4FA9A7"/>
                </a:solidFill>
              </a:rPr>
              <a:t>Prevalencia Emssanar 2025/2026</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4FA9A7"/>
              </a:solidFill>
              <a:latin typeface="+mn-lt"/>
              <a:ea typeface="+mn-ea"/>
              <a:cs typeface="+mn-cs"/>
            </a:defRPr>
          </a:pPr>
          <a:endParaRPr lang="es-CO"/>
        </a:p>
      </c:txPr>
    </c:title>
    <c:autoTitleDeleted val="0"/>
    <c:plotArea>
      <c:layout/>
      <c:barChart>
        <c:barDir val="col"/>
        <c:grouping val="clustered"/>
        <c:varyColors val="0"/>
        <c:ser>
          <c:idx val="0"/>
          <c:order val="0"/>
          <c:tx>
            <c:strRef>
              <c:f>Prevalencia!$AF$39</c:f>
              <c:strCache>
                <c:ptCount val="1"/>
                <c:pt idx="0">
                  <c:v>Casos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Prevalencia!$AD$49:$AD$60</c:f>
              <c:numCache>
                <c:formatCode>mmm\-yy</c:formatCode>
                <c:ptCount val="12"/>
                <c:pt idx="0">
                  <c:v>45931</c:v>
                </c:pt>
                <c:pt idx="1">
                  <c:v>45962</c:v>
                </c:pt>
                <c:pt idx="2">
                  <c:v>45992</c:v>
                </c:pt>
                <c:pt idx="3">
                  <c:v>46023</c:v>
                </c:pt>
                <c:pt idx="4">
                  <c:v>46054</c:v>
                </c:pt>
                <c:pt idx="5">
                  <c:v>46082</c:v>
                </c:pt>
                <c:pt idx="6">
                  <c:v>46113</c:v>
                </c:pt>
                <c:pt idx="7">
                  <c:v>46143</c:v>
                </c:pt>
                <c:pt idx="8">
                  <c:v>46174</c:v>
                </c:pt>
                <c:pt idx="9">
                  <c:v>46204</c:v>
                </c:pt>
                <c:pt idx="10">
                  <c:v>46235</c:v>
                </c:pt>
                <c:pt idx="11">
                  <c:v>46266</c:v>
                </c:pt>
              </c:numCache>
            </c:numRef>
          </c:cat>
          <c:val>
            <c:numRef>
              <c:f>Prevalencia!$AF$49:$AF$60</c:f>
              <c:numCache>
                <c:formatCode>General</c:formatCode>
                <c:ptCount val="12"/>
                <c:pt idx="0">
                  <c:v>3532</c:v>
                </c:pt>
                <c:pt idx="1">
                  <c:v>3779</c:v>
                </c:pt>
                <c:pt idx="2">
                  <c:v>3812</c:v>
                </c:pt>
                <c:pt idx="3">
                  <c:v>3860</c:v>
                </c:pt>
                <c:pt idx="4">
                  <c:v>3935</c:v>
                </c:pt>
                <c:pt idx="5">
                  <c:v>3985</c:v>
                </c:pt>
                <c:pt idx="6">
                  <c:v>4040</c:v>
                </c:pt>
                <c:pt idx="7">
                  <c:v>4114</c:v>
                </c:pt>
                <c:pt idx="8">
                  <c:v>4171</c:v>
                </c:pt>
                <c:pt idx="9">
                  <c:v>4225</c:v>
                </c:pt>
                <c:pt idx="10">
                  <c:v>4265</c:v>
                </c:pt>
                <c:pt idx="11">
                  <c:v>4303</c:v>
                </c:pt>
              </c:numCache>
            </c:numRef>
          </c:val>
          <c:extLst>
            <c:ext xmlns:c16="http://schemas.microsoft.com/office/drawing/2014/chart" uri="{C3380CC4-5D6E-409C-BE32-E72D297353CC}">
              <c16:uniqueId val="{00000000-E49D-4198-8E43-883B7A31415A}"/>
            </c:ext>
          </c:extLst>
        </c:ser>
        <c:dLbls>
          <c:showLegendKey val="0"/>
          <c:showVal val="0"/>
          <c:showCatName val="0"/>
          <c:showSerName val="0"/>
          <c:showPercent val="0"/>
          <c:showBubbleSize val="0"/>
        </c:dLbls>
        <c:gapWidth val="219"/>
        <c:axId val="1237786207"/>
        <c:axId val="1237787167"/>
      </c:barChart>
      <c:lineChart>
        <c:grouping val="standard"/>
        <c:varyColors val="0"/>
        <c:ser>
          <c:idx val="1"/>
          <c:order val="1"/>
          <c:tx>
            <c:strRef>
              <c:f>Prevalencia!$AG$39</c:f>
              <c:strCache>
                <c:ptCount val="1"/>
                <c:pt idx="0">
                  <c:v>Tasa de prevalencia </c:v>
                </c:pt>
              </c:strCache>
            </c:strRef>
          </c:tx>
          <c:spPr>
            <a:ln w="28575" cap="rnd">
              <a:solidFill>
                <a:srgbClr val="4FA9A7"/>
              </a:solidFill>
              <a:round/>
            </a:ln>
            <a:effectLst/>
          </c:spPr>
          <c:marker>
            <c:symbol val="none"/>
          </c:marker>
          <c:dLbls>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1600" b="0" i="0" u="none" strike="noStrike" kern="1200" baseline="0">
                    <a:solidFill>
                      <a:schemeClr val="dk1">
                        <a:lumMod val="65000"/>
                        <a:lumOff val="3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leftArrow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numRef>
              <c:f>Prevalencia!$AD$49:$AD$60</c:f>
              <c:numCache>
                <c:formatCode>mmm\-yy</c:formatCode>
                <c:ptCount val="12"/>
                <c:pt idx="0">
                  <c:v>45931</c:v>
                </c:pt>
                <c:pt idx="1">
                  <c:v>45962</c:v>
                </c:pt>
                <c:pt idx="2">
                  <c:v>45992</c:v>
                </c:pt>
                <c:pt idx="3">
                  <c:v>46023</c:v>
                </c:pt>
                <c:pt idx="4">
                  <c:v>46054</c:v>
                </c:pt>
                <c:pt idx="5">
                  <c:v>46082</c:v>
                </c:pt>
                <c:pt idx="6">
                  <c:v>46113</c:v>
                </c:pt>
                <c:pt idx="7">
                  <c:v>46143</c:v>
                </c:pt>
                <c:pt idx="8">
                  <c:v>46174</c:v>
                </c:pt>
                <c:pt idx="9">
                  <c:v>46204</c:v>
                </c:pt>
                <c:pt idx="10">
                  <c:v>46235</c:v>
                </c:pt>
                <c:pt idx="11">
                  <c:v>46266</c:v>
                </c:pt>
              </c:numCache>
            </c:numRef>
          </c:cat>
          <c:val>
            <c:numRef>
              <c:f>Prevalencia!$AG$49:$AG$60</c:f>
              <c:numCache>
                <c:formatCode>0</c:formatCode>
                <c:ptCount val="12"/>
                <c:pt idx="0">
                  <c:v>1206.6797857220945</c:v>
                </c:pt>
                <c:pt idx="1">
                  <c:v>1291.0653766262162</c:v>
                </c:pt>
                <c:pt idx="2">
                  <c:v>1302.3395648846617</c:v>
                </c:pt>
                <c:pt idx="3">
                  <c:v>1318.7383841696733</c:v>
                </c:pt>
                <c:pt idx="4">
                  <c:v>1344.3615393025036</c:v>
                </c:pt>
                <c:pt idx="5">
                  <c:v>1361.4436427243907</c:v>
                </c:pt>
                <c:pt idx="6">
                  <c:v>1380.2339564884662</c:v>
                </c:pt>
                <c:pt idx="7">
                  <c:v>1405.5154695528588</c:v>
                </c:pt>
                <c:pt idx="8">
                  <c:v>1424.9890674538101</c:v>
                </c:pt>
                <c:pt idx="9">
                  <c:v>1443.4377391494479</c:v>
                </c:pt>
                <c:pt idx="10">
                  <c:v>1457.1034218869574</c:v>
                </c:pt>
                <c:pt idx="11">
                  <c:v>1470.0858204875915</c:v>
                </c:pt>
              </c:numCache>
            </c:numRef>
          </c:val>
          <c:smooth val="0"/>
          <c:extLst>
            <c:ext xmlns:c16="http://schemas.microsoft.com/office/drawing/2014/chart" uri="{C3380CC4-5D6E-409C-BE32-E72D297353CC}">
              <c16:uniqueId val="{00000001-E49D-4198-8E43-883B7A31415A}"/>
            </c:ext>
          </c:extLst>
        </c:ser>
        <c:dLbls>
          <c:showLegendKey val="0"/>
          <c:showVal val="0"/>
          <c:showCatName val="0"/>
          <c:showSerName val="0"/>
          <c:showPercent val="0"/>
          <c:showBubbleSize val="0"/>
        </c:dLbls>
        <c:marker val="1"/>
        <c:smooth val="0"/>
        <c:axId val="1237786207"/>
        <c:axId val="1237787167"/>
      </c:lineChart>
      <c:dateAx>
        <c:axId val="1237786207"/>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237787167"/>
        <c:crosses val="autoZero"/>
        <c:auto val="1"/>
        <c:lblOffset val="100"/>
        <c:baseTimeUnit val="months"/>
      </c:dateAx>
      <c:valAx>
        <c:axId val="123778716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23778620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10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rgbClr val="4FA9A7"/>
                </a:solidFill>
                <a:latin typeface="+mn-lt"/>
                <a:ea typeface="+mn-ea"/>
                <a:cs typeface="+mn-cs"/>
              </a:defRPr>
            </a:pPr>
            <a:r>
              <a:rPr lang="es-CO" sz="1400" b="1" i="0" u="none" strike="noStrike" kern="1200" spc="0" baseline="0" noProof="0">
                <a:solidFill>
                  <a:srgbClr val="4FA9A7"/>
                </a:solidFill>
              </a:rPr>
              <a:t>Cánceres  No priorizados Septiembre 2026 - Emssanar</a:t>
            </a:r>
          </a:p>
        </c:rich>
      </c:tx>
      <c:overlay val="0"/>
      <c:spPr>
        <a:noFill/>
        <a:ln>
          <a:noFill/>
        </a:ln>
        <a:effectLst/>
      </c:spPr>
      <c:txPr>
        <a:bodyPr rot="0" spcFirstLastPara="1" vertOverflow="ellipsis" vert="horz" wrap="square" anchor="ctr" anchorCtr="1"/>
        <a:lstStyle/>
        <a:p>
          <a:pPr>
            <a:defRPr sz="1400" b="0" i="0" u="none" strike="noStrike" kern="1200" spc="0" baseline="0">
              <a:solidFill>
                <a:srgbClr val="4FA9A7"/>
              </a:solidFill>
              <a:latin typeface="+mn-lt"/>
              <a:ea typeface="+mn-ea"/>
              <a:cs typeface="+mn-cs"/>
            </a:defRPr>
          </a:pPr>
          <a:endParaRPr lang="es-CO"/>
        </a:p>
      </c:txPr>
    </c:title>
    <c:autoTitleDeleted val="0"/>
    <c:plotArea>
      <c:layout/>
      <c:barChart>
        <c:barDir val="col"/>
        <c:grouping val="clustered"/>
        <c:varyColors val="0"/>
        <c:ser>
          <c:idx val="0"/>
          <c:order val="0"/>
          <c:tx>
            <c:strRef>
              <c:f>Prevalencia!$S$79</c:f>
              <c:strCache>
                <c:ptCount val="1"/>
                <c:pt idx="0">
                  <c:v>Casos</c:v>
                </c:pt>
              </c:strCache>
            </c:strRef>
          </c:tx>
          <c:spPr>
            <a:solidFill>
              <a:srgbClr val="4FA9A7"/>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4FA9A7"/>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Prevalencia!$R$80:$R$93</c:f>
              <c:strCache>
                <c:ptCount val="14"/>
                <c:pt idx="0">
                  <c:v>16= Otros tumores de la piel</c:v>
                </c:pt>
                <c:pt idx="1">
                  <c:v>22= Glándulas tiroides y endocrinas</c:v>
                </c:pt>
                <c:pt idx="2">
                  <c:v>18= Otros órganos genitales femeninos</c:v>
                </c:pt>
                <c:pt idx="3">
                  <c:v>24= Otros tumores malignos del tejido linfático, de los órganos hematopoyéticos y de tejidos afines</c:v>
                </c:pt>
                <c:pt idx="4">
                  <c:v>20= Vías urinarias</c:v>
                </c:pt>
                <c:pt idx="5">
                  <c:v>23= Otros sitios, sitios mal definidos, sitios no especificados</c:v>
                </c:pt>
                <c:pt idx="6">
                  <c:v>13= Otros órganos digestivos</c:v>
                </c:pt>
                <c:pt idx="7">
                  <c:v>21= Ojo, encéfalo, y otras partes del sistema nervioso</c:v>
                </c:pt>
                <c:pt idx="8">
                  <c:v>12= Labio, cavidad bucal y faringe</c:v>
                </c:pt>
                <c:pt idx="9">
                  <c:v>17= Tejidos mesoteliales (excepto pulmón) y tejidos blandos</c:v>
                </c:pt>
                <c:pt idx="10">
                  <c:v>19= Otros órganos genitales masculinos</c:v>
                </c:pt>
                <c:pt idx="11">
                  <c:v>14= Otros órganos respiratorios e intratorácicos</c:v>
                </c:pt>
                <c:pt idx="12">
                  <c:v>15= Huesos y cartílagos articulares</c:v>
                </c:pt>
                <c:pt idx="13">
                  <c:v>25= Tumores secundarios</c:v>
                </c:pt>
              </c:strCache>
            </c:strRef>
          </c:cat>
          <c:val>
            <c:numRef>
              <c:f>Prevalencia!$S$80:$S$93</c:f>
              <c:numCache>
                <c:formatCode>General</c:formatCode>
                <c:ptCount val="14"/>
                <c:pt idx="0">
                  <c:v>884</c:v>
                </c:pt>
                <c:pt idx="1">
                  <c:v>204</c:v>
                </c:pt>
                <c:pt idx="2">
                  <c:v>184</c:v>
                </c:pt>
                <c:pt idx="3">
                  <c:v>87</c:v>
                </c:pt>
                <c:pt idx="4">
                  <c:v>75</c:v>
                </c:pt>
                <c:pt idx="5">
                  <c:v>69</c:v>
                </c:pt>
                <c:pt idx="6">
                  <c:v>68</c:v>
                </c:pt>
                <c:pt idx="7">
                  <c:v>54</c:v>
                </c:pt>
                <c:pt idx="8">
                  <c:v>48</c:v>
                </c:pt>
                <c:pt idx="9">
                  <c:v>45</c:v>
                </c:pt>
                <c:pt idx="10">
                  <c:v>44</c:v>
                </c:pt>
                <c:pt idx="11">
                  <c:v>36</c:v>
                </c:pt>
                <c:pt idx="12">
                  <c:v>20</c:v>
                </c:pt>
                <c:pt idx="13">
                  <c:v>10</c:v>
                </c:pt>
              </c:numCache>
            </c:numRef>
          </c:val>
          <c:extLst>
            <c:ext xmlns:c16="http://schemas.microsoft.com/office/drawing/2014/chart" uri="{C3380CC4-5D6E-409C-BE32-E72D297353CC}">
              <c16:uniqueId val="{00000000-1F0C-42B7-A466-141E8DA276EB}"/>
            </c:ext>
          </c:extLst>
        </c:ser>
        <c:dLbls>
          <c:showLegendKey val="0"/>
          <c:showVal val="0"/>
          <c:showCatName val="0"/>
          <c:showSerName val="0"/>
          <c:showPercent val="0"/>
          <c:showBubbleSize val="0"/>
        </c:dLbls>
        <c:gapWidth val="219"/>
        <c:axId val="1098602192"/>
        <c:axId val="1298225615"/>
      </c:barChart>
      <c:lineChart>
        <c:grouping val="standard"/>
        <c:varyColors val="0"/>
        <c:ser>
          <c:idx val="1"/>
          <c:order val="1"/>
          <c:tx>
            <c:strRef>
              <c:f>Prevalencia!$T$79</c:f>
              <c:strCache>
                <c:ptCount val="1"/>
                <c:pt idx="0">
                  <c:v>Tasa x 100 mil</c:v>
                </c:pt>
              </c:strCache>
            </c:strRef>
          </c:tx>
          <c:spPr>
            <a:ln w="28575" cap="rnd">
              <a:solidFill>
                <a:schemeClr val="tx1"/>
              </a:solidFill>
              <a:round/>
            </a:ln>
            <a:effectLst/>
          </c:spPr>
          <c:marker>
            <c:symbol val="none"/>
          </c:marker>
          <c:dLbls>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leftArrow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Prevalencia!$R$80:$R$93</c:f>
              <c:strCache>
                <c:ptCount val="14"/>
                <c:pt idx="0">
                  <c:v>16= Otros tumores de la piel</c:v>
                </c:pt>
                <c:pt idx="1">
                  <c:v>22= Glándulas tiroides y endocrinas</c:v>
                </c:pt>
                <c:pt idx="2">
                  <c:v>18= Otros órganos genitales femeninos</c:v>
                </c:pt>
                <c:pt idx="3">
                  <c:v>24= Otros tumores malignos del tejido linfático, de los órganos hematopoyéticos y de tejidos afines</c:v>
                </c:pt>
                <c:pt idx="4">
                  <c:v>20= Vías urinarias</c:v>
                </c:pt>
                <c:pt idx="5">
                  <c:v>23= Otros sitios, sitios mal definidos, sitios no especificados</c:v>
                </c:pt>
                <c:pt idx="6">
                  <c:v>13= Otros órganos digestivos</c:v>
                </c:pt>
                <c:pt idx="7">
                  <c:v>21= Ojo, encéfalo, y otras partes del sistema nervioso</c:v>
                </c:pt>
                <c:pt idx="8">
                  <c:v>12= Labio, cavidad bucal y faringe</c:v>
                </c:pt>
                <c:pt idx="9">
                  <c:v>17= Tejidos mesoteliales (excepto pulmón) y tejidos blandos</c:v>
                </c:pt>
                <c:pt idx="10">
                  <c:v>19= Otros órganos genitales masculinos</c:v>
                </c:pt>
                <c:pt idx="11">
                  <c:v>14= Otros órganos respiratorios e intratorácicos</c:v>
                </c:pt>
                <c:pt idx="12">
                  <c:v>15= Huesos y cartílagos articulares</c:v>
                </c:pt>
                <c:pt idx="13">
                  <c:v>25= Tumores secundarios</c:v>
                </c:pt>
              </c:strCache>
            </c:strRef>
          </c:cat>
          <c:val>
            <c:numRef>
              <c:f>Prevalencia!$T$80:$T$93</c:f>
              <c:numCache>
                <c:formatCode>0</c:formatCode>
                <c:ptCount val="14"/>
                <c:pt idx="0">
                  <c:v>302.01158849896137</c:v>
                </c:pt>
                <c:pt idx="1">
                  <c:v>69.69498196129878</c:v>
                </c:pt>
                <c:pt idx="2">
                  <c:v>62.862140592544009</c:v>
                </c:pt>
                <c:pt idx="3">
                  <c:v>29.722859954083308</c:v>
                </c:pt>
                <c:pt idx="4">
                  <c:v>25.623155132830433</c:v>
                </c:pt>
                <c:pt idx="5">
                  <c:v>23.573302722204001</c:v>
                </c:pt>
                <c:pt idx="6">
                  <c:v>23.231660653766262</c:v>
                </c:pt>
                <c:pt idx="7">
                  <c:v>18.448671695637916</c:v>
                </c:pt>
                <c:pt idx="8">
                  <c:v>16.398819285011477</c:v>
                </c:pt>
                <c:pt idx="9">
                  <c:v>15.373893079698261</c:v>
                </c:pt>
                <c:pt idx="10">
                  <c:v>15.032251011260522</c:v>
                </c:pt>
                <c:pt idx="11">
                  <c:v>12.29911446375861</c:v>
                </c:pt>
                <c:pt idx="12">
                  <c:v>6.8328413687547824</c:v>
                </c:pt>
                <c:pt idx="13">
                  <c:v>3.4164206843773912</c:v>
                </c:pt>
              </c:numCache>
            </c:numRef>
          </c:val>
          <c:smooth val="0"/>
          <c:extLst>
            <c:ext xmlns:c16="http://schemas.microsoft.com/office/drawing/2014/chart" uri="{C3380CC4-5D6E-409C-BE32-E72D297353CC}">
              <c16:uniqueId val="{00000001-1F0C-42B7-A466-141E8DA276EB}"/>
            </c:ext>
          </c:extLst>
        </c:ser>
        <c:dLbls>
          <c:showLegendKey val="0"/>
          <c:showVal val="0"/>
          <c:showCatName val="0"/>
          <c:showSerName val="0"/>
          <c:showPercent val="0"/>
          <c:showBubbleSize val="0"/>
        </c:dLbls>
        <c:marker val="1"/>
        <c:smooth val="0"/>
        <c:axId val="1098602192"/>
        <c:axId val="1298225615"/>
      </c:lineChart>
      <c:catAx>
        <c:axId val="10986021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298225615"/>
        <c:crosses val="autoZero"/>
        <c:auto val="1"/>
        <c:lblAlgn val="ctr"/>
        <c:lblOffset val="100"/>
        <c:noMultiLvlLbl val="0"/>
      </c:catAx>
      <c:valAx>
        <c:axId val="129822561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09860219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1"/>
  </c:externalData>
</c:chartSpace>
</file>

<file path=ppt/charts/chart10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s-CO" sz="1400" b="1" i="0" u="none" strike="noStrike" kern="1200" spc="0" baseline="0" noProof="0">
                <a:solidFill>
                  <a:schemeClr val="tx1"/>
                </a:solidFill>
              </a:rPr>
              <a:t>Cánceres  priorizados Septiembre 2026- Emssanar</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Prevalencia!$AD$79</c:f>
              <c:strCache>
                <c:ptCount val="1"/>
                <c:pt idx="0">
                  <c:v>Casos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Prevalencia!$AC$80:$AC$90</c:f>
              <c:strCache>
                <c:ptCount val="11"/>
                <c:pt idx="0">
                  <c:v>1= CAC Mama</c:v>
                </c:pt>
                <c:pt idx="1">
                  <c:v>3= CAC Cérvix</c:v>
                </c:pt>
                <c:pt idx="2">
                  <c:v>2= CAC Próstata</c:v>
                </c:pt>
                <c:pt idx="3">
                  <c:v>4= CAC Colorectal</c:v>
                </c:pt>
                <c:pt idx="4">
                  <c:v>9= CAC Linfoma No Hodgkin</c:v>
                </c:pt>
                <c:pt idx="5">
                  <c:v>5= CAC Estómago</c:v>
                </c:pt>
                <c:pt idx="6">
                  <c:v>6= CAC Melanoma</c:v>
                </c:pt>
                <c:pt idx="7">
                  <c:v>8= CAC Linfoma Hodgkin</c:v>
                </c:pt>
                <c:pt idx="8">
                  <c:v>10= CAC Leucemia Linfocitica Aguda</c:v>
                </c:pt>
                <c:pt idx="9">
                  <c:v>7= CAC Pulmón</c:v>
                </c:pt>
                <c:pt idx="10">
                  <c:v>11= CAC Leucemia Mielocitica Aguda</c:v>
                </c:pt>
              </c:strCache>
            </c:strRef>
          </c:cat>
          <c:val>
            <c:numRef>
              <c:f>Prevalencia!$AD$80:$AD$90</c:f>
              <c:numCache>
                <c:formatCode>General</c:formatCode>
                <c:ptCount val="11"/>
                <c:pt idx="0">
                  <c:v>915</c:v>
                </c:pt>
                <c:pt idx="1">
                  <c:v>588</c:v>
                </c:pt>
                <c:pt idx="2">
                  <c:v>343</c:v>
                </c:pt>
                <c:pt idx="3">
                  <c:v>268</c:v>
                </c:pt>
                <c:pt idx="4">
                  <c:v>104</c:v>
                </c:pt>
                <c:pt idx="5">
                  <c:v>99</c:v>
                </c:pt>
                <c:pt idx="6">
                  <c:v>52</c:v>
                </c:pt>
                <c:pt idx="7">
                  <c:v>38</c:v>
                </c:pt>
                <c:pt idx="8">
                  <c:v>28</c:v>
                </c:pt>
                <c:pt idx="9">
                  <c:v>25</c:v>
                </c:pt>
                <c:pt idx="10">
                  <c:v>15</c:v>
                </c:pt>
              </c:numCache>
            </c:numRef>
          </c:val>
          <c:extLst>
            <c:ext xmlns:c16="http://schemas.microsoft.com/office/drawing/2014/chart" uri="{C3380CC4-5D6E-409C-BE32-E72D297353CC}">
              <c16:uniqueId val="{00000000-C896-483B-B6CC-F5A2E4C1DC31}"/>
            </c:ext>
          </c:extLst>
        </c:ser>
        <c:dLbls>
          <c:showLegendKey val="0"/>
          <c:showVal val="0"/>
          <c:showCatName val="0"/>
          <c:showSerName val="0"/>
          <c:showPercent val="0"/>
          <c:showBubbleSize val="0"/>
        </c:dLbls>
        <c:gapWidth val="219"/>
        <c:axId val="1396909151"/>
        <c:axId val="1396916351"/>
      </c:barChart>
      <c:lineChart>
        <c:grouping val="standard"/>
        <c:varyColors val="0"/>
        <c:ser>
          <c:idx val="1"/>
          <c:order val="1"/>
          <c:tx>
            <c:strRef>
              <c:f>Prevalencia!$AE$79</c:f>
              <c:strCache>
                <c:ptCount val="1"/>
                <c:pt idx="0">
                  <c:v>Tasa x 100 mil</c:v>
                </c:pt>
              </c:strCache>
            </c:strRef>
          </c:tx>
          <c:spPr>
            <a:ln w="28575" cap="rnd">
              <a:solidFill>
                <a:srgbClr val="4FA9A7"/>
              </a:solidFill>
              <a:round/>
            </a:ln>
            <a:effectLst/>
          </c:spPr>
          <c:marker>
            <c:symbol val="none"/>
          </c:marker>
          <c:dLbls>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leftArrow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Prevalencia!$AC$80:$AC$90</c:f>
              <c:strCache>
                <c:ptCount val="11"/>
                <c:pt idx="0">
                  <c:v>1= CAC Mama</c:v>
                </c:pt>
                <c:pt idx="1">
                  <c:v>3= CAC Cérvix</c:v>
                </c:pt>
                <c:pt idx="2">
                  <c:v>2= CAC Próstata</c:v>
                </c:pt>
                <c:pt idx="3">
                  <c:v>4= CAC Colorectal</c:v>
                </c:pt>
                <c:pt idx="4">
                  <c:v>9= CAC Linfoma No Hodgkin</c:v>
                </c:pt>
                <c:pt idx="5">
                  <c:v>5= CAC Estómago</c:v>
                </c:pt>
                <c:pt idx="6">
                  <c:v>6= CAC Melanoma</c:v>
                </c:pt>
                <c:pt idx="7">
                  <c:v>8= CAC Linfoma Hodgkin</c:v>
                </c:pt>
                <c:pt idx="8">
                  <c:v>10= CAC Leucemia Linfocitica Aguda</c:v>
                </c:pt>
                <c:pt idx="9">
                  <c:v>7= CAC Pulmón</c:v>
                </c:pt>
                <c:pt idx="10">
                  <c:v>11= CAC Leucemia Mielocitica Aguda</c:v>
                </c:pt>
              </c:strCache>
            </c:strRef>
          </c:cat>
          <c:val>
            <c:numRef>
              <c:f>Prevalencia!$AE$80:$AE$90</c:f>
              <c:numCache>
                <c:formatCode>0</c:formatCode>
                <c:ptCount val="11"/>
                <c:pt idx="0">
                  <c:v>312.60249262053134</c:v>
                </c:pt>
                <c:pt idx="1">
                  <c:v>200.88553624139061</c:v>
                </c:pt>
                <c:pt idx="2">
                  <c:v>117.18322947414453</c:v>
                </c:pt>
                <c:pt idx="3">
                  <c:v>91.560074341314092</c:v>
                </c:pt>
                <c:pt idx="4">
                  <c:v>35.530775117524868</c:v>
                </c:pt>
                <c:pt idx="5">
                  <c:v>33.822564775336176</c:v>
                </c:pt>
                <c:pt idx="6">
                  <c:v>17.765387558762434</c:v>
                </c:pt>
                <c:pt idx="7">
                  <c:v>12.982398600634088</c:v>
                </c:pt>
                <c:pt idx="8">
                  <c:v>9.5659779162566956</c:v>
                </c:pt>
                <c:pt idx="9">
                  <c:v>8.5410517109434796</c:v>
                </c:pt>
                <c:pt idx="10">
                  <c:v>5.124631026566087</c:v>
                </c:pt>
              </c:numCache>
            </c:numRef>
          </c:val>
          <c:smooth val="0"/>
          <c:extLst>
            <c:ext xmlns:c16="http://schemas.microsoft.com/office/drawing/2014/chart" uri="{C3380CC4-5D6E-409C-BE32-E72D297353CC}">
              <c16:uniqueId val="{00000001-C896-483B-B6CC-F5A2E4C1DC31}"/>
            </c:ext>
          </c:extLst>
        </c:ser>
        <c:dLbls>
          <c:showLegendKey val="0"/>
          <c:showVal val="0"/>
          <c:showCatName val="0"/>
          <c:showSerName val="0"/>
          <c:showPercent val="0"/>
          <c:showBubbleSize val="0"/>
        </c:dLbls>
        <c:marker val="1"/>
        <c:smooth val="0"/>
        <c:axId val="1396909151"/>
        <c:axId val="1396916351"/>
      </c:lineChart>
      <c:catAx>
        <c:axId val="13969091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396916351"/>
        <c:crosses val="autoZero"/>
        <c:auto val="1"/>
        <c:lblAlgn val="ctr"/>
        <c:lblOffset val="100"/>
        <c:noMultiLvlLbl val="0"/>
      </c:catAx>
      <c:valAx>
        <c:axId val="139691635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39690915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1"/>
  </c:externalData>
</c:chartSpace>
</file>

<file path=ppt/charts/chart10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5579972691069871E-2"/>
          <c:y val="0.16629897686185896"/>
          <c:w val="0.91336541229928081"/>
          <c:h val="0.625348026652084"/>
        </c:manualLayout>
      </c:layout>
      <c:barChart>
        <c:barDir val="col"/>
        <c:grouping val="clustered"/>
        <c:varyColors val="0"/>
        <c:ser>
          <c:idx val="0"/>
          <c:order val="0"/>
          <c:tx>
            <c:strRef>
              <c:f>Hoja1!$A$2</c:f>
              <c:strCache>
                <c:ptCount val="1"/>
                <c:pt idx="0">
                  <c:v>Terapia sistemica</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Hoja1!$B$1:$M$1</c:f>
              <c:strCache>
                <c:ptCount val="12"/>
                <c:pt idx="0">
                  <c:v>oct-25</c:v>
                </c:pt>
                <c:pt idx="1">
                  <c:v>nov-25</c:v>
                </c:pt>
                <c:pt idx="2">
                  <c:v>dic-25</c:v>
                </c:pt>
                <c:pt idx="3">
                  <c:v>ene-26</c:v>
                </c:pt>
                <c:pt idx="4">
                  <c:v>feb-26</c:v>
                </c:pt>
                <c:pt idx="5">
                  <c:v>mar-26</c:v>
                </c:pt>
                <c:pt idx="6">
                  <c:v>abr-26</c:v>
                </c:pt>
                <c:pt idx="7">
                  <c:v>may-26</c:v>
                </c:pt>
                <c:pt idx="8">
                  <c:v>jun-26</c:v>
                </c:pt>
                <c:pt idx="9">
                  <c:v>jul-26</c:v>
                </c:pt>
                <c:pt idx="10">
                  <c:v>ago-26</c:v>
                </c:pt>
                <c:pt idx="11">
                  <c:v>sep-26</c:v>
                </c:pt>
              </c:strCache>
            </c:strRef>
          </c:cat>
          <c:val>
            <c:numRef>
              <c:f>Hoja1!$B$2:$M$2</c:f>
              <c:numCache>
                <c:formatCode>0%</c:formatCode>
                <c:ptCount val="12"/>
                <c:pt idx="0">
                  <c:v>2.1511307225592899E-2</c:v>
                </c:pt>
                <c:pt idx="1">
                  <c:v>9.0510948905109495E-2</c:v>
                </c:pt>
                <c:pt idx="2">
                  <c:v>6.688792443196323E-2</c:v>
                </c:pt>
                <c:pt idx="3">
                  <c:v>6.3492063492063489E-2</c:v>
                </c:pt>
                <c:pt idx="4">
                  <c:v>7.6371725160652493E-2</c:v>
                </c:pt>
                <c:pt idx="5">
                  <c:v>7.4200634610690749E-2</c:v>
                </c:pt>
                <c:pt idx="6">
                  <c:v>6.3297232250300844E-2</c:v>
                </c:pt>
                <c:pt idx="7">
                  <c:v>6.6572237960339939E-2</c:v>
                </c:pt>
                <c:pt idx="8">
                  <c:v>2.7764594209776935E-2</c:v>
                </c:pt>
                <c:pt idx="9">
                  <c:v>4.1471415182755392E-2</c:v>
                </c:pt>
                <c:pt idx="10">
                  <c:v>3.024662633783155E-2</c:v>
                </c:pt>
                <c:pt idx="11">
                  <c:v>3.8577736462932839E-2</c:v>
                </c:pt>
              </c:numCache>
            </c:numRef>
          </c:val>
          <c:extLst>
            <c:ext xmlns:c16="http://schemas.microsoft.com/office/drawing/2014/chart" uri="{C3380CC4-5D6E-409C-BE32-E72D297353CC}">
              <c16:uniqueId val="{00000000-23E9-48BE-B6B1-EAD9636087D7}"/>
            </c:ext>
          </c:extLst>
        </c:ser>
        <c:ser>
          <c:idx val="1"/>
          <c:order val="1"/>
          <c:tx>
            <c:strRef>
              <c:f>Hoja1!$A$3</c:f>
              <c:strCache>
                <c:ptCount val="1"/>
                <c:pt idx="0">
                  <c:v>Radioterapia</c:v>
                </c:pt>
              </c:strCache>
            </c:strRef>
          </c:tx>
          <c:spPr>
            <a:solidFill>
              <a:srgbClr val="1CA6A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Hoja1!$B$1:$M$1</c:f>
              <c:strCache>
                <c:ptCount val="12"/>
                <c:pt idx="0">
                  <c:v>oct-25</c:v>
                </c:pt>
                <c:pt idx="1">
                  <c:v>nov-25</c:v>
                </c:pt>
                <c:pt idx="2">
                  <c:v>dic-25</c:v>
                </c:pt>
                <c:pt idx="3">
                  <c:v>ene-26</c:v>
                </c:pt>
                <c:pt idx="4">
                  <c:v>feb-26</c:v>
                </c:pt>
                <c:pt idx="5">
                  <c:v>mar-26</c:v>
                </c:pt>
                <c:pt idx="6">
                  <c:v>abr-26</c:v>
                </c:pt>
                <c:pt idx="7">
                  <c:v>may-26</c:v>
                </c:pt>
                <c:pt idx="8">
                  <c:v>jun-26</c:v>
                </c:pt>
                <c:pt idx="9">
                  <c:v>jul-26</c:v>
                </c:pt>
                <c:pt idx="10">
                  <c:v>ago-26</c:v>
                </c:pt>
                <c:pt idx="11">
                  <c:v>sep-26</c:v>
                </c:pt>
              </c:strCache>
            </c:strRef>
          </c:cat>
          <c:val>
            <c:numRef>
              <c:f>Hoja1!$B$3:$M$3</c:f>
              <c:numCache>
                <c:formatCode>0%</c:formatCode>
                <c:ptCount val="12"/>
                <c:pt idx="0">
                  <c:v>1.9305019305019305E-2</c:v>
                </c:pt>
                <c:pt idx="1">
                  <c:v>3.1386861313868614E-2</c:v>
                </c:pt>
                <c:pt idx="2">
                  <c:v>1.7360224661730917E-2</c:v>
                </c:pt>
                <c:pt idx="3">
                  <c:v>1.6880826404635927E-2</c:v>
                </c:pt>
                <c:pt idx="4">
                  <c:v>1.2605042016806723E-2</c:v>
                </c:pt>
                <c:pt idx="5">
                  <c:v>9.7632413961435197E-3</c:v>
                </c:pt>
                <c:pt idx="6">
                  <c:v>9.6269554753309269E-3</c:v>
                </c:pt>
                <c:pt idx="7">
                  <c:v>1.0387157695939566E-2</c:v>
                </c:pt>
                <c:pt idx="8">
                  <c:v>3.7968675842429997E-3</c:v>
                </c:pt>
                <c:pt idx="9">
                  <c:v>9.1377694470477968E-3</c:v>
                </c:pt>
                <c:pt idx="10">
                  <c:v>5.3513261982317357E-3</c:v>
                </c:pt>
                <c:pt idx="11">
                  <c:v>6.971880083662561E-3</c:v>
                </c:pt>
              </c:numCache>
            </c:numRef>
          </c:val>
          <c:extLst>
            <c:ext xmlns:c16="http://schemas.microsoft.com/office/drawing/2014/chart" uri="{C3380CC4-5D6E-409C-BE32-E72D297353CC}">
              <c16:uniqueId val="{00000001-23E9-48BE-B6B1-EAD9636087D7}"/>
            </c:ext>
          </c:extLst>
        </c:ser>
        <c:ser>
          <c:idx val="2"/>
          <c:order val="2"/>
          <c:tx>
            <c:strRef>
              <c:f>Hoja1!$A$4</c:f>
              <c:strCache>
                <c:ptCount val="1"/>
                <c:pt idx="0">
                  <c:v>Cirugia</c:v>
                </c:pt>
              </c:strCache>
            </c:strRef>
          </c:tx>
          <c:spPr>
            <a:solidFill>
              <a:schemeClr val="bg1">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Hoja1!$B$1:$M$1</c:f>
              <c:strCache>
                <c:ptCount val="12"/>
                <c:pt idx="0">
                  <c:v>oct-25</c:v>
                </c:pt>
                <c:pt idx="1">
                  <c:v>nov-25</c:v>
                </c:pt>
                <c:pt idx="2">
                  <c:v>dic-25</c:v>
                </c:pt>
                <c:pt idx="3">
                  <c:v>ene-26</c:v>
                </c:pt>
                <c:pt idx="4">
                  <c:v>feb-26</c:v>
                </c:pt>
                <c:pt idx="5">
                  <c:v>mar-26</c:v>
                </c:pt>
                <c:pt idx="6">
                  <c:v>abr-26</c:v>
                </c:pt>
                <c:pt idx="7">
                  <c:v>may-26</c:v>
                </c:pt>
                <c:pt idx="8">
                  <c:v>jun-26</c:v>
                </c:pt>
                <c:pt idx="9">
                  <c:v>jul-26</c:v>
                </c:pt>
                <c:pt idx="10">
                  <c:v>ago-26</c:v>
                </c:pt>
                <c:pt idx="11">
                  <c:v>sep-26</c:v>
                </c:pt>
              </c:strCache>
            </c:strRef>
          </c:cat>
          <c:val>
            <c:numRef>
              <c:f>Hoja1!$B$4:$M$4</c:f>
              <c:numCache>
                <c:formatCode>0%</c:formatCode>
                <c:ptCount val="12"/>
                <c:pt idx="0">
                  <c:v>7.1704357418643132E-3</c:v>
                </c:pt>
                <c:pt idx="1">
                  <c:v>1.824817518248175E-2</c:v>
                </c:pt>
                <c:pt idx="2">
                  <c:v>1.8126116926219044E-2</c:v>
                </c:pt>
                <c:pt idx="3">
                  <c:v>2.6455026455026454E-2</c:v>
                </c:pt>
                <c:pt idx="4">
                  <c:v>3.6579337617399899E-2</c:v>
                </c:pt>
                <c:pt idx="5">
                  <c:v>3.3683182816695141E-2</c:v>
                </c:pt>
                <c:pt idx="6">
                  <c:v>2.2623345367027679E-2</c:v>
                </c:pt>
                <c:pt idx="7">
                  <c:v>4.1548630783758263E-2</c:v>
                </c:pt>
                <c:pt idx="8">
                  <c:v>1.4000949216896061E-2</c:v>
                </c:pt>
                <c:pt idx="9">
                  <c:v>1.9915651358950327E-2</c:v>
                </c:pt>
                <c:pt idx="10">
                  <c:v>1.675197766402978E-2</c:v>
                </c:pt>
                <c:pt idx="11">
                  <c:v>1.1852196142226355E-2</c:v>
                </c:pt>
              </c:numCache>
            </c:numRef>
          </c:val>
          <c:extLst>
            <c:ext xmlns:c16="http://schemas.microsoft.com/office/drawing/2014/chart" uri="{C3380CC4-5D6E-409C-BE32-E72D297353CC}">
              <c16:uniqueId val="{00000002-23E9-48BE-B6B1-EAD9636087D7}"/>
            </c:ext>
          </c:extLst>
        </c:ser>
        <c:dLbls>
          <c:showLegendKey val="0"/>
          <c:showVal val="0"/>
          <c:showCatName val="0"/>
          <c:showSerName val="0"/>
          <c:showPercent val="0"/>
          <c:showBubbleSize val="0"/>
        </c:dLbls>
        <c:gapWidth val="219"/>
        <c:axId val="2061031887"/>
        <c:axId val="2061024207"/>
      </c:barChart>
      <c:lineChart>
        <c:grouping val="standard"/>
        <c:varyColors val="0"/>
        <c:ser>
          <c:idx val="3"/>
          <c:order val="3"/>
          <c:tx>
            <c:strRef>
              <c:f>Hoja1!$A$5</c:f>
              <c:strCache>
                <c:ptCount val="1"/>
                <c:pt idx="0">
                  <c:v>%</c:v>
                </c:pt>
              </c:strCache>
            </c:strRef>
          </c:tx>
          <c:spPr>
            <a:ln w="28575" cap="rnd">
              <a:solidFill>
                <a:schemeClr val="tx1">
                  <a:lumMod val="50000"/>
                </a:schemeClr>
              </a:solidFill>
              <a:round/>
            </a:ln>
            <a:effectLst/>
          </c:spPr>
          <c:marker>
            <c:symbol val="none"/>
          </c:marker>
          <c:dLbls>
            <c:spPr>
              <a:solidFill>
                <a:srgbClr val="FFFFFF"/>
              </a:solidFill>
              <a:ln>
                <a:solidFill>
                  <a:srgbClr val="80589F">
                    <a:lumMod val="25000"/>
                    <a:lumOff val="75000"/>
                  </a:srgbClr>
                </a:solidFill>
              </a:ln>
              <a:effectLst/>
            </c:spPr>
            <c:txPr>
              <a:bodyPr rot="0" spcFirstLastPara="1" vertOverflow="clip" horzOverflow="clip" vert="horz" wrap="square" lIns="36576" tIns="18288" rIns="36576" bIns="18288" anchor="ctr" anchorCtr="1">
                <a:spAutoFit/>
              </a:bodyPr>
              <a:lstStyle/>
              <a:p>
                <a:pPr>
                  <a:defRPr sz="1197" b="1" i="0" u="none" strike="noStrike" kern="1200" baseline="0">
                    <a:solidFill>
                      <a:srgbClr val="000000"/>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Hoja1!$B$1:$H$1</c:f>
              <c:strCache>
                <c:ptCount val="7"/>
                <c:pt idx="0">
                  <c:v>oct-25</c:v>
                </c:pt>
                <c:pt idx="1">
                  <c:v>nov-25</c:v>
                </c:pt>
                <c:pt idx="2">
                  <c:v>dic-25</c:v>
                </c:pt>
                <c:pt idx="3">
                  <c:v>ene-26</c:v>
                </c:pt>
                <c:pt idx="4">
                  <c:v>feb-26</c:v>
                </c:pt>
                <c:pt idx="5">
                  <c:v>mar-26</c:v>
                </c:pt>
                <c:pt idx="6">
                  <c:v>abr-26</c:v>
                </c:pt>
              </c:strCache>
            </c:strRef>
          </c:cat>
          <c:val>
            <c:numRef>
              <c:f>Hoja1!$B$5:$M$5</c:f>
              <c:numCache>
                <c:formatCode>0%</c:formatCode>
                <c:ptCount val="12"/>
                <c:pt idx="0">
                  <c:v>4.7986762272476564E-2</c:v>
                </c:pt>
                <c:pt idx="1">
                  <c:v>0.14014598540145987</c:v>
                </c:pt>
                <c:pt idx="2">
                  <c:v>0.10237426601991319</c:v>
                </c:pt>
                <c:pt idx="3">
                  <c:v>0.10682791635172587</c:v>
                </c:pt>
                <c:pt idx="4">
                  <c:v>0.12555610479485912</c:v>
                </c:pt>
                <c:pt idx="5">
                  <c:v>0.11764705882352941</c:v>
                </c:pt>
                <c:pt idx="6">
                  <c:v>9.5547533092659453E-2</c:v>
                </c:pt>
                <c:pt idx="7">
                  <c:v>0.11850802644003777</c:v>
                </c:pt>
                <c:pt idx="8">
                  <c:v>4.5562411010915994E-2</c:v>
                </c:pt>
                <c:pt idx="9">
                  <c:v>7.0524835988753518E-2</c:v>
                </c:pt>
                <c:pt idx="10">
                  <c:v>5.234993020009307E-2</c:v>
                </c:pt>
                <c:pt idx="11">
                  <c:v>5.740181268882176E-2</c:v>
                </c:pt>
              </c:numCache>
            </c:numRef>
          </c:val>
          <c:smooth val="0"/>
          <c:extLst>
            <c:ext xmlns:c16="http://schemas.microsoft.com/office/drawing/2014/chart" uri="{C3380CC4-5D6E-409C-BE32-E72D297353CC}">
              <c16:uniqueId val="{00000000-86B5-4326-8112-86A4328D5345}"/>
            </c:ext>
          </c:extLst>
        </c:ser>
        <c:dLbls>
          <c:showLegendKey val="0"/>
          <c:showVal val="0"/>
          <c:showCatName val="0"/>
          <c:showSerName val="0"/>
          <c:showPercent val="0"/>
          <c:showBubbleSize val="0"/>
        </c:dLbls>
        <c:marker val="1"/>
        <c:smooth val="0"/>
        <c:axId val="2061031887"/>
        <c:axId val="2061024207"/>
      </c:lineChart>
      <c:catAx>
        <c:axId val="20610318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2061024207"/>
        <c:crosses val="autoZero"/>
        <c:auto val="1"/>
        <c:lblAlgn val="ctr"/>
        <c:lblOffset val="100"/>
        <c:noMultiLvlLbl val="0"/>
      </c:catAx>
      <c:valAx>
        <c:axId val="2061024207"/>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206103188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10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mn-lt"/>
                <a:ea typeface="+mn-ea"/>
                <a:cs typeface="+mn-cs"/>
              </a:defRPr>
            </a:pPr>
            <a:r>
              <a:rPr lang="es-CO" sz="1600" noProof="0"/>
              <a:t>Oportunidad</a:t>
            </a:r>
            <a:r>
              <a:rPr lang="es-CO" sz="1600" baseline="0" noProof="0"/>
              <a:t> de ingreso a modelo de paciente confirmado</a:t>
            </a:r>
          </a:p>
        </c:rich>
      </c:tx>
      <c:layout>
        <c:manualLayout>
          <c:xMode val="edge"/>
          <c:yMode val="edge"/>
          <c:x val="0.14268072916666666"/>
          <c:y val="2.2337918176381609E-2"/>
        </c:manualLayout>
      </c:layout>
      <c:overlay val="0"/>
      <c:spPr>
        <a:noFill/>
        <a:ln>
          <a:noFill/>
        </a:ln>
        <a:effectLst/>
      </c:spPr>
      <c:txPr>
        <a:bodyPr rot="0" spcFirstLastPara="1" vertOverflow="ellipsis" vert="horz" wrap="square" anchor="ctr" anchorCtr="1"/>
        <a:lstStyle/>
        <a:p>
          <a:pPr>
            <a:defRPr sz="1600" b="0" i="0" u="none" strike="noStrike" kern="1200" spc="0" baseline="0">
              <a:solidFill>
                <a:schemeClr val="tx1"/>
              </a:solidFill>
              <a:latin typeface="+mn-lt"/>
              <a:ea typeface="+mn-ea"/>
              <a:cs typeface="+mn-cs"/>
            </a:defRPr>
          </a:pPr>
          <a:endParaRPr lang="es-CO"/>
        </a:p>
      </c:txPr>
    </c:title>
    <c:autoTitleDeleted val="0"/>
    <c:plotArea>
      <c:layout>
        <c:manualLayout>
          <c:layoutTarget val="inner"/>
          <c:xMode val="edge"/>
          <c:yMode val="edge"/>
          <c:x val="3.3771953701940229E-2"/>
          <c:y val="0.17744946742497006"/>
          <c:w val="0.95378600517029466"/>
          <c:h val="0.47452956771670823"/>
        </c:manualLayout>
      </c:layout>
      <c:barChart>
        <c:barDir val="col"/>
        <c:grouping val="clustered"/>
        <c:varyColors val="0"/>
        <c:ser>
          <c:idx val="0"/>
          <c:order val="0"/>
          <c:tx>
            <c:strRef>
              <c:f>Hoja1!$B$1</c:f>
              <c:strCache>
                <c:ptCount val="1"/>
                <c:pt idx="0">
                  <c:v>2025</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Hoja1!$B$2:$B$13</c:f>
              <c:numCache>
                <c:formatCode>General</c:formatCode>
                <c:ptCount val="12"/>
                <c:pt idx="9">
                  <c:v>1.2</c:v>
                </c:pt>
                <c:pt idx="10">
                  <c:v>1.3</c:v>
                </c:pt>
                <c:pt idx="11">
                  <c:v>1</c:v>
                </c:pt>
              </c:numCache>
            </c:numRef>
          </c:val>
          <c:extLst>
            <c:ext xmlns:c16="http://schemas.microsoft.com/office/drawing/2014/chart" uri="{C3380CC4-5D6E-409C-BE32-E72D297353CC}">
              <c16:uniqueId val="{00000000-1D4E-4A77-BE7E-8A0F19784B49}"/>
            </c:ext>
          </c:extLst>
        </c:ser>
        <c:ser>
          <c:idx val="1"/>
          <c:order val="1"/>
          <c:tx>
            <c:strRef>
              <c:f>Hoja1!$C$1</c:f>
              <c:strCache>
                <c:ptCount val="1"/>
                <c:pt idx="0">
                  <c:v>2026</c:v>
                </c:pt>
              </c:strCache>
            </c:strRef>
          </c:tx>
          <c:spPr>
            <a:solidFill>
              <a:srgbClr val="4FA9A7"/>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Hoja1!$C$2:$C$13</c:f>
              <c:numCache>
                <c:formatCode>General</c:formatCode>
                <c:ptCount val="12"/>
                <c:pt idx="0">
                  <c:v>4</c:v>
                </c:pt>
                <c:pt idx="1">
                  <c:v>1.8</c:v>
                </c:pt>
                <c:pt idx="2">
                  <c:v>2</c:v>
                </c:pt>
                <c:pt idx="3">
                  <c:v>1.5</c:v>
                </c:pt>
                <c:pt idx="4">
                  <c:v>1.5</c:v>
                </c:pt>
                <c:pt idx="5">
                  <c:v>2.5</c:v>
                </c:pt>
                <c:pt idx="6">
                  <c:v>1.9</c:v>
                </c:pt>
                <c:pt idx="7">
                  <c:v>3.8</c:v>
                </c:pt>
                <c:pt idx="8">
                  <c:v>1.8</c:v>
                </c:pt>
              </c:numCache>
            </c:numRef>
          </c:val>
          <c:extLst>
            <c:ext xmlns:c16="http://schemas.microsoft.com/office/drawing/2014/chart" uri="{C3380CC4-5D6E-409C-BE32-E72D297353CC}">
              <c16:uniqueId val="{00000000-A94F-453F-9430-D9F03B554404}"/>
            </c:ext>
          </c:extLst>
        </c:ser>
        <c:dLbls>
          <c:showLegendKey val="0"/>
          <c:showVal val="0"/>
          <c:showCatName val="0"/>
          <c:showSerName val="0"/>
          <c:showPercent val="0"/>
          <c:showBubbleSize val="0"/>
        </c:dLbls>
        <c:gapWidth val="150"/>
        <c:axId val="241713408"/>
        <c:axId val="241711008"/>
      </c:barChart>
      <c:lineChart>
        <c:grouping val="standard"/>
        <c:varyColors val="0"/>
        <c:ser>
          <c:idx val="2"/>
          <c:order val="2"/>
          <c:tx>
            <c:strRef>
              <c:f>Hoja1!$D$1</c:f>
              <c:strCache>
                <c:ptCount val="1"/>
                <c:pt idx="0">
                  <c:v>Meta</c:v>
                </c:pt>
              </c:strCache>
            </c:strRef>
          </c:tx>
          <c:spPr>
            <a:ln w="28575" cap="rnd">
              <a:solidFill>
                <a:srgbClr val="002060"/>
              </a:solidFill>
              <a:round/>
            </a:ln>
            <a:effectLst/>
          </c:spPr>
          <c:marker>
            <c:symbol val="none"/>
          </c:marker>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Hoja1!$D$2:$D$13</c:f>
              <c:numCache>
                <c:formatCode>General</c:formatCode>
                <c:ptCount val="12"/>
                <c:pt idx="0">
                  <c:v>1</c:v>
                </c:pt>
                <c:pt idx="1">
                  <c:v>1</c:v>
                </c:pt>
                <c:pt idx="2">
                  <c:v>1</c:v>
                </c:pt>
                <c:pt idx="3">
                  <c:v>1</c:v>
                </c:pt>
                <c:pt idx="4">
                  <c:v>1</c:v>
                </c:pt>
                <c:pt idx="5">
                  <c:v>1</c:v>
                </c:pt>
                <c:pt idx="6">
                  <c:v>1</c:v>
                </c:pt>
                <c:pt idx="7">
                  <c:v>1</c:v>
                </c:pt>
                <c:pt idx="8">
                  <c:v>1</c:v>
                </c:pt>
                <c:pt idx="9">
                  <c:v>1</c:v>
                </c:pt>
                <c:pt idx="10">
                  <c:v>1</c:v>
                </c:pt>
                <c:pt idx="11">
                  <c:v>1</c:v>
                </c:pt>
              </c:numCache>
            </c:numRef>
          </c:val>
          <c:smooth val="0"/>
          <c:extLst>
            <c:ext xmlns:c16="http://schemas.microsoft.com/office/drawing/2014/chart" uri="{C3380CC4-5D6E-409C-BE32-E72D297353CC}">
              <c16:uniqueId val="{00000000-4243-46B4-934F-1E207B0A70E4}"/>
            </c:ext>
          </c:extLst>
        </c:ser>
        <c:dLbls>
          <c:showLegendKey val="0"/>
          <c:showVal val="0"/>
          <c:showCatName val="0"/>
          <c:showSerName val="0"/>
          <c:showPercent val="0"/>
          <c:showBubbleSize val="0"/>
        </c:dLbls>
        <c:marker val="1"/>
        <c:smooth val="0"/>
        <c:axId val="241713408"/>
        <c:axId val="241711008"/>
      </c:lineChart>
      <c:catAx>
        <c:axId val="241713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s-CO"/>
          </a:p>
        </c:txPr>
        <c:crossAx val="241711008"/>
        <c:crosses val="autoZero"/>
        <c:auto val="1"/>
        <c:lblAlgn val="ctr"/>
        <c:lblOffset val="100"/>
        <c:noMultiLvlLbl val="0"/>
      </c:catAx>
      <c:valAx>
        <c:axId val="241711008"/>
        <c:scaling>
          <c:orientation val="minMax"/>
          <c:max val="5"/>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solidFill>
              <a:srgbClr val="002060"/>
            </a:solid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s-CO"/>
          </a:p>
        </c:txPr>
        <c:crossAx val="241713408"/>
        <c:crosses val="autoZero"/>
        <c:crossBetween val="between"/>
        <c:majorUnit val="8"/>
      </c:valAx>
      <c:spPr>
        <a:noFill/>
        <a:ln>
          <a:noFill/>
        </a:ln>
        <a:effectLst/>
      </c:spPr>
    </c:plotArea>
    <c:legend>
      <c:legendPos val="r"/>
      <c:layout>
        <c:manualLayout>
          <c:xMode val="edge"/>
          <c:yMode val="edge"/>
          <c:x val="0.10993246527777775"/>
          <c:y val="0.85068385689661241"/>
          <c:w val="0.81124583333333333"/>
          <c:h val="0.1493161431033876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accent1"/>
      </a:solidFill>
    </a:ln>
    <a:effectLst/>
  </c:spPr>
  <c:txPr>
    <a:bodyPr/>
    <a:lstStyle/>
    <a:p>
      <a:pPr>
        <a:defRPr>
          <a:solidFill>
            <a:schemeClr val="tx1"/>
          </a:solidFill>
        </a:defRPr>
      </a:pPr>
      <a:endParaRPr lang="es-CO"/>
    </a:p>
  </c:txPr>
  <c:externalData r:id="rId3">
    <c:autoUpdate val="0"/>
  </c:externalData>
</c:chartSpace>
</file>

<file path=ppt/charts/chart10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s-CO" sz="1600" b="0" i="0" u="none" strike="noStrike" kern="1200" spc="0" baseline="0" dirty="0" smtClean="0">
                <a:solidFill>
                  <a:schemeClr val="tx1">
                    <a:lumMod val="65000"/>
                    <a:lumOff val="35000"/>
                  </a:schemeClr>
                </a:solidFill>
                <a:latin typeface="+mn-lt"/>
                <a:ea typeface="+mn-ea"/>
                <a:cs typeface="+mn-cs"/>
              </a:defRPr>
            </a:pPr>
            <a:r>
              <a:rPr lang="es-CO" sz="1400" b="1" noProof="0">
                <a:solidFill>
                  <a:schemeClr val="tx1"/>
                </a:solidFill>
              </a:rPr>
              <a:t>Oportunidad de consulta Especializada</a:t>
            </a:r>
          </a:p>
        </c:rich>
      </c:tx>
      <c:overlay val="0"/>
      <c:spPr>
        <a:noFill/>
        <a:ln>
          <a:noFill/>
        </a:ln>
        <a:effectLst/>
      </c:spPr>
      <c:txPr>
        <a:bodyPr rot="0" spcFirstLastPara="1" vertOverflow="ellipsis" vert="horz" wrap="square" anchor="ctr" anchorCtr="1"/>
        <a:lstStyle/>
        <a:p>
          <a:pPr>
            <a:defRPr lang="es-CO" sz="1600" b="0" i="0" u="none" strike="noStrike" kern="1200" spc="0" baseline="0" dirty="0" smtClean="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Hoja1!$B$1</c:f>
              <c:strCache>
                <c:ptCount val="1"/>
                <c:pt idx="0">
                  <c:v>2025</c:v>
                </c:pt>
              </c:strCache>
            </c:strRef>
          </c:tx>
          <c:spPr>
            <a:solidFill>
              <a:schemeClr val="tx1">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Hoja1!$B$2:$B$13</c:f>
              <c:numCache>
                <c:formatCode>General</c:formatCode>
                <c:ptCount val="12"/>
                <c:pt idx="9" formatCode="0.0">
                  <c:v>7</c:v>
                </c:pt>
                <c:pt idx="10" formatCode="0.0">
                  <c:v>13.8</c:v>
                </c:pt>
                <c:pt idx="11" formatCode="0.0">
                  <c:v>11.3</c:v>
                </c:pt>
              </c:numCache>
            </c:numRef>
          </c:val>
          <c:extLst>
            <c:ext xmlns:c16="http://schemas.microsoft.com/office/drawing/2014/chart" uri="{C3380CC4-5D6E-409C-BE32-E72D297353CC}">
              <c16:uniqueId val="{00000000-722B-4854-82FF-F073DB459EB1}"/>
            </c:ext>
          </c:extLst>
        </c:ser>
        <c:ser>
          <c:idx val="1"/>
          <c:order val="1"/>
          <c:tx>
            <c:strRef>
              <c:f>Hoja1!$C$1</c:f>
              <c:strCache>
                <c:ptCount val="1"/>
                <c:pt idx="0">
                  <c:v>2026</c:v>
                </c:pt>
              </c:strCache>
            </c:strRef>
          </c:tx>
          <c:spPr>
            <a:solidFill>
              <a:srgbClr val="4FA9A7"/>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4FA9A7"/>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Hoja1!$C$2:$C$13</c:f>
              <c:numCache>
                <c:formatCode>0.0</c:formatCode>
                <c:ptCount val="12"/>
                <c:pt idx="0">
                  <c:v>10</c:v>
                </c:pt>
                <c:pt idx="1">
                  <c:v>8.6999999999999993</c:v>
                </c:pt>
                <c:pt idx="2">
                  <c:v>12.2</c:v>
                </c:pt>
                <c:pt idx="3">
                  <c:v>11.6</c:v>
                </c:pt>
                <c:pt idx="4">
                  <c:v>12.4</c:v>
                </c:pt>
                <c:pt idx="5">
                  <c:v>12.2</c:v>
                </c:pt>
                <c:pt idx="6">
                  <c:v>9.5</c:v>
                </c:pt>
                <c:pt idx="7">
                  <c:v>12.2</c:v>
                </c:pt>
                <c:pt idx="8">
                  <c:v>7.8</c:v>
                </c:pt>
              </c:numCache>
            </c:numRef>
          </c:val>
          <c:extLst>
            <c:ext xmlns:c16="http://schemas.microsoft.com/office/drawing/2014/chart" uri="{C3380CC4-5D6E-409C-BE32-E72D297353CC}">
              <c16:uniqueId val="{00000000-36B0-400D-828E-C8125DC6D275}"/>
            </c:ext>
          </c:extLst>
        </c:ser>
        <c:dLbls>
          <c:showLegendKey val="0"/>
          <c:showVal val="0"/>
          <c:showCatName val="0"/>
          <c:showSerName val="0"/>
          <c:showPercent val="0"/>
          <c:showBubbleSize val="0"/>
        </c:dLbls>
        <c:gapWidth val="75"/>
        <c:overlap val="-25"/>
        <c:axId val="241713408"/>
        <c:axId val="241711008"/>
      </c:barChart>
      <c:lineChart>
        <c:grouping val="standard"/>
        <c:varyColors val="0"/>
        <c:ser>
          <c:idx val="2"/>
          <c:order val="2"/>
          <c:tx>
            <c:strRef>
              <c:f>Hoja1!$D$1</c:f>
              <c:strCache>
                <c:ptCount val="1"/>
                <c:pt idx="0">
                  <c:v>Meta</c:v>
                </c:pt>
              </c:strCache>
            </c:strRef>
          </c:tx>
          <c:spPr>
            <a:ln w="28575" cap="rnd">
              <a:solidFill>
                <a:srgbClr val="002060"/>
              </a:solidFill>
              <a:round/>
            </a:ln>
            <a:effectLst/>
          </c:spPr>
          <c:marker>
            <c:symbol val="circle"/>
            <c:size val="5"/>
            <c:spPr>
              <a:solidFill>
                <a:schemeClr val="bg1"/>
              </a:solidFill>
              <a:ln w="9525">
                <a:solidFill>
                  <a:srgbClr val="002060"/>
                </a:solidFill>
              </a:ln>
              <a:effectLst/>
            </c:spPr>
          </c:marker>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Hoja1!$D$2:$D$13</c:f>
              <c:numCache>
                <c:formatCode>0</c:formatCode>
                <c:ptCount val="12"/>
                <c:pt idx="0">
                  <c:v>10</c:v>
                </c:pt>
                <c:pt idx="1">
                  <c:v>10</c:v>
                </c:pt>
                <c:pt idx="2">
                  <c:v>10</c:v>
                </c:pt>
                <c:pt idx="3">
                  <c:v>10</c:v>
                </c:pt>
                <c:pt idx="4">
                  <c:v>10</c:v>
                </c:pt>
                <c:pt idx="5">
                  <c:v>10</c:v>
                </c:pt>
                <c:pt idx="6">
                  <c:v>10</c:v>
                </c:pt>
                <c:pt idx="7">
                  <c:v>10</c:v>
                </c:pt>
                <c:pt idx="8">
                  <c:v>10</c:v>
                </c:pt>
                <c:pt idx="9">
                  <c:v>10</c:v>
                </c:pt>
                <c:pt idx="10">
                  <c:v>10</c:v>
                </c:pt>
                <c:pt idx="11">
                  <c:v>10</c:v>
                </c:pt>
              </c:numCache>
            </c:numRef>
          </c:val>
          <c:smooth val="0"/>
          <c:extLst>
            <c:ext xmlns:c16="http://schemas.microsoft.com/office/drawing/2014/chart" uri="{C3380CC4-5D6E-409C-BE32-E72D297353CC}">
              <c16:uniqueId val="{00000000-F5DB-4C67-9589-AA093A72D106}"/>
            </c:ext>
          </c:extLst>
        </c:ser>
        <c:dLbls>
          <c:showLegendKey val="0"/>
          <c:showVal val="0"/>
          <c:showCatName val="0"/>
          <c:showSerName val="0"/>
          <c:showPercent val="0"/>
          <c:showBubbleSize val="0"/>
        </c:dLbls>
        <c:marker val="1"/>
        <c:smooth val="0"/>
        <c:axId val="241713408"/>
        <c:axId val="241711008"/>
      </c:lineChart>
      <c:catAx>
        <c:axId val="241713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s-CO"/>
          </a:p>
        </c:txPr>
        <c:crossAx val="241711008"/>
        <c:crosses val="autoZero"/>
        <c:auto val="1"/>
        <c:lblAlgn val="ctr"/>
        <c:lblOffset val="100"/>
        <c:noMultiLvlLbl val="0"/>
      </c:catAx>
      <c:valAx>
        <c:axId val="241711008"/>
        <c:scaling>
          <c:orientation val="minMax"/>
          <c:max val="15"/>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241713408"/>
        <c:crosses val="autoZero"/>
        <c:crossBetween val="between"/>
        <c:majorUnit val="2"/>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accent1"/>
      </a:solidFill>
    </a:ln>
    <a:effectLst/>
  </c:spPr>
  <c:txPr>
    <a:bodyPr/>
    <a:lstStyle/>
    <a:p>
      <a:pPr>
        <a:defRPr/>
      </a:pPr>
      <a:endParaRPr lang="es-CO"/>
    </a:p>
  </c:txPr>
  <c:externalData r:id="rId3">
    <c:autoUpdate val="0"/>
  </c:externalData>
</c:chartSpace>
</file>

<file path=ppt/charts/chart10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r>
              <a:rPr lang="es-CO" sz="1400" b="1" noProof="0">
                <a:solidFill>
                  <a:schemeClr val="tx1"/>
                </a:solidFill>
              </a:rPr>
              <a:t>Oportunidad de consulta</a:t>
            </a:r>
            <a:r>
              <a:rPr lang="es-CO" sz="1400" b="1" baseline="0" noProof="0">
                <a:solidFill>
                  <a:schemeClr val="tx1"/>
                </a:solidFill>
              </a:rPr>
              <a:t> Sub especializada</a:t>
            </a:r>
            <a:endParaRPr lang="es-CO" sz="1400" b="1" noProof="0">
              <a:solidFill>
                <a:schemeClr val="tx1"/>
              </a:solidFill>
            </a:endParaRPr>
          </a:p>
        </c:rich>
      </c:tx>
      <c:overlay val="0"/>
      <c:spPr>
        <a:noFill/>
        <a:ln>
          <a:noFill/>
        </a:ln>
        <a:effectLst/>
      </c:spPr>
      <c:txPr>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Hoja1!$B$1</c:f>
              <c:strCache>
                <c:ptCount val="1"/>
                <c:pt idx="0">
                  <c:v>2025</c:v>
                </c:pt>
              </c:strCache>
            </c:strRef>
          </c:tx>
          <c:spPr>
            <a:solidFill>
              <a:schemeClr val="tx1">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Hoja1!$B$2:$B$13</c:f>
              <c:numCache>
                <c:formatCode>General</c:formatCode>
                <c:ptCount val="12"/>
                <c:pt idx="9" formatCode="0.0">
                  <c:v>9.6</c:v>
                </c:pt>
                <c:pt idx="10" formatCode="0.0">
                  <c:v>15</c:v>
                </c:pt>
                <c:pt idx="11" formatCode="0.0">
                  <c:v>10.8</c:v>
                </c:pt>
              </c:numCache>
            </c:numRef>
          </c:val>
          <c:extLst>
            <c:ext xmlns:c16="http://schemas.microsoft.com/office/drawing/2014/chart" uri="{C3380CC4-5D6E-409C-BE32-E72D297353CC}">
              <c16:uniqueId val="{00000000-9004-40C9-8912-2B4D41862851}"/>
            </c:ext>
          </c:extLst>
        </c:ser>
        <c:ser>
          <c:idx val="1"/>
          <c:order val="1"/>
          <c:tx>
            <c:strRef>
              <c:f>Hoja1!$C$1</c:f>
              <c:strCache>
                <c:ptCount val="1"/>
                <c:pt idx="0">
                  <c:v>2026</c:v>
                </c:pt>
              </c:strCache>
            </c:strRef>
          </c:tx>
          <c:spPr>
            <a:solidFill>
              <a:srgbClr val="4FA9A7"/>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4FA9A7"/>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Hoja1!$C$2:$C$13</c:f>
              <c:numCache>
                <c:formatCode>0.0</c:formatCode>
                <c:ptCount val="12"/>
                <c:pt idx="0">
                  <c:v>12</c:v>
                </c:pt>
                <c:pt idx="1">
                  <c:v>10</c:v>
                </c:pt>
                <c:pt idx="2">
                  <c:v>12</c:v>
                </c:pt>
                <c:pt idx="3">
                  <c:v>10.6</c:v>
                </c:pt>
                <c:pt idx="4">
                  <c:v>8.5</c:v>
                </c:pt>
                <c:pt idx="5">
                  <c:v>7.8</c:v>
                </c:pt>
                <c:pt idx="6">
                  <c:v>8.8000000000000007</c:v>
                </c:pt>
                <c:pt idx="7">
                  <c:v>9.1999999999999993</c:v>
                </c:pt>
                <c:pt idx="8">
                  <c:v>7.6</c:v>
                </c:pt>
              </c:numCache>
            </c:numRef>
          </c:val>
          <c:extLst>
            <c:ext xmlns:c16="http://schemas.microsoft.com/office/drawing/2014/chart" uri="{C3380CC4-5D6E-409C-BE32-E72D297353CC}">
              <c16:uniqueId val="{00000000-6DB9-412F-94BF-11044C5CBBE5}"/>
            </c:ext>
          </c:extLst>
        </c:ser>
        <c:dLbls>
          <c:showLegendKey val="0"/>
          <c:showVal val="0"/>
          <c:showCatName val="0"/>
          <c:showSerName val="0"/>
          <c:showPercent val="0"/>
          <c:showBubbleSize val="0"/>
        </c:dLbls>
        <c:gapWidth val="75"/>
        <c:overlap val="-25"/>
        <c:axId val="241713408"/>
        <c:axId val="241711008"/>
      </c:barChart>
      <c:lineChart>
        <c:grouping val="standard"/>
        <c:varyColors val="0"/>
        <c:ser>
          <c:idx val="2"/>
          <c:order val="2"/>
          <c:tx>
            <c:strRef>
              <c:f>Hoja1!$D$1</c:f>
              <c:strCache>
                <c:ptCount val="1"/>
                <c:pt idx="0">
                  <c:v>Meta</c:v>
                </c:pt>
              </c:strCache>
            </c:strRef>
          </c:tx>
          <c:spPr>
            <a:ln w="28575" cap="rnd">
              <a:solidFill>
                <a:srgbClr val="002060"/>
              </a:solidFill>
              <a:round/>
            </a:ln>
            <a:effectLst/>
          </c:spPr>
          <c:marker>
            <c:symbol val="circle"/>
            <c:size val="5"/>
            <c:spPr>
              <a:solidFill>
                <a:schemeClr val="accent3"/>
              </a:solidFill>
              <a:ln w="9525">
                <a:solidFill>
                  <a:srgbClr val="002060"/>
                </a:solidFill>
              </a:ln>
              <a:effectLst/>
            </c:spPr>
          </c:marker>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Hoja1!$D$2:$D$13</c:f>
              <c:numCache>
                <c:formatCode>General</c:formatCode>
                <c:ptCount val="12"/>
                <c:pt idx="0">
                  <c:v>15</c:v>
                </c:pt>
                <c:pt idx="1">
                  <c:v>15</c:v>
                </c:pt>
                <c:pt idx="2">
                  <c:v>15</c:v>
                </c:pt>
                <c:pt idx="3">
                  <c:v>15</c:v>
                </c:pt>
                <c:pt idx="4">
                  <c:v>15</c:v>
                </c:pt>
                <c:pt idx="5">
                  <c:v>15</c:v>
                </c:pt>
                <c:pt idx="6">
                  <c:v>15</c:v>
                </c:pt>
                <c:pt idx="7">
                  <c:v>15</c:v>
                </c:pt>
                <c:pt idx="8">
                  <c:v>15</c:v>
                </c:pt>
                <c:pt idx="9">
                  <c:v>15</c:v>
                </c:pt>
                <c:pt idx="10">
                  <c:v>15</c:v>
                </c:pt>
                <c:pt idx="11">
                  <c:v>15</c:v>
                </c:pt>
              </c:numCache>
            </c:numRef>
          </c:val>
          <c:smooth val="0"/>
          <c:extLst>
            <c:ext xmlns:c16="http://schemas.microsoft.com/office/drawing/2014/chart" uri="{C3380CC4-5D6E-409C-BE32-E72D297353CC}">
              <c16:uniqueId val="{00000000-2989-4078-A956-C828A0E0835E}"/>
            </c:ext>
          </c:extLst>
        </c:ser>
        <c:dLbls>
          <c:showLegendKey val="0"/>
          <c:showVal val="0"/>
          <c:showCatName val="0"/>
          <c:showSerName val="0"/>
          <c:showPercent val="0"/>
          <c:showBubbleSize val="0"/>
        </c:dLbls>
        <c:marker val="1"/>
        <c:smooth val="0"/>
        <c:axId val="241713408"/>
        <c:axId val="241711008"/>
      </c:lineChart>
      <c:catAx>
        <c:axId val="241713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s-CO"/>
          </a:p>
        </c:txPr>
        <c:crossAx val="241711008"/>
        <c:crosses val="autoZero"/>
        <c:auto val="1"/>
        <c:lblAlgn val="ctr"/>
        <c:lblOffset val="100"/>
        <c:noMultiLvlLbl val="0"/>
      </c:catAx>
      <c:valAx>
        <c:axId val="241711008"/>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24171340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accent1"/>
      </a:solidFill>
    </a:ln>
    <a:effectLst/>
  </c:spPr>
  <c:txPr>
    <a:bodyPr/>
    <a:lstStyle/>
    <a:p>
      <a:pPr>
        <a:defRPr/>
      </a:pPr>
      <a:endParaRPr lang="es-CO"/>
    </a:p>
  </c:txPr>
  <c:externalData r:id="rId3">
    <c:autoUpdate val="0"/>
  </c:externalData>
</c:chartSpace>
</file>

<file path=ppt/charts/chart10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mn-lt"/>
                <a:ea typeface="+mn-ea"/>
                <a:cs typeface="+mn-cs"/>
              </a:defRPr>
            </a:pPr>
            <a:r>
              <a:rPr lang="es-CO" sz="1600" noProof="0"/>
              <a:t>Oportunidad</a:t>
            </a:r>
            <a:r>
              <a:rPr lang="es-CO" sz="1600" baseline="0" noProof="0"/>
              <a:t> de ingreso a modelo de paciente sospechoso</a:t>
            </a:r>
            <a:endParaRPr lang="es-CO" sz="1600" noProof="0"/>
          </a:p>
        </c:rich>
      </c:tx>
      <c:layout>
        <c:manualLayout>
          <c:xMode val="edge"/>
          <c:yMode val="edge"/>
          <c:x val="0.22426059027777778"/>
          <c:y val="4.4476959709127684E-3"/>
        </c:manualLayout>
      </c:layout>
      <c:overlay val="0"/>
      <c:spPr>
        <a:noFill/>
        <a:ln>
          <a:noFill/>
        </a:ln>
        <a:effectLst/>
      </c:spPr>
      <c:txPr>
        <a:bodyPr rot="0" spcFirstLastPara="1" vertOverflow="ellipsis" vert="horz" wrap="square" anchor="ctr" anchorCtr="1"/>
        <a:lstStyle/>
        <a:p>
          <a:pPr>
            <a:defRPr sz="1600" b="0" i="0" u="none" strike="noStrike" kern="1200" spc="0" baseline="0">
              <a:solidFill>
                <a:schemeClr val="tx1"/>
              </a:solidFill>
              <a:latin typeface="+mn-lt"/>
              <a:ea typeface="+mn-ea"/>
              <a:cs typeface="+mn-cs"/>
            </a:defRPr>
          </a:pPr>
          <a:endParaRPr lang="es-CO"/>
        </a:p>
      </c:txPr>
    </c:title>
    <c:autoTitleDeleted val="0"/>
    <c:plotArea>
      <c:layout>
        <c:manualLayout>
          <c:layoutTarget val="inner"/>
          <c:xMode val="edge"/>
          <c:yMode val="edge"/>
          <c:x val="5.4533854166666666E-2"/>
          <c:y val="0.23971715455323245"/>
          <c:w val="0.95378600517029466"/>
          <c:h val="0.52790193775957295"/>
        </c:manualLayout>
      </c:layout>
      <c:barChart>
        <c:barDir val="col"/>
        <c:grouping val="clustered"/>
        <c:varyColors val="0"/>
        <c:ser>
          <c:idx val="1"/>
          <c:order val="0"/>
          <c:tx>
            <c:strRef>
              <c:f>Hoja1!$B$1</c:f>
              <c:strCache>
                <c:ptCount val="1"/>
                <c:pt idx="0">
                  <c:v>2026</c:v>
                </c:pt>
              </c:strCache>
            </c:strRef>
          </c:tx>
          <c:spPr>
            <a:solidFill>
              <a:srgbClr val="4FA9A7"/>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Hoja1!$B$2:$B$13</c:f>
              <c:numCache>
                <c:formatCode>General</c:formatCode>
                <c:ptCount val="12"/>
                <c:pt idx="0">
                  <c:v>10</c:v>
                </c:pt>
                <c:pt idx="1">
                  <c:v>4</c:v>
                </c:pt>
                <c:pt idx="2">
                  <c:v>5</c:v>
                </c:pt>
                <c:pt idx="3">
                  <c:v>4</c:v>
                </c:pt>
                <c:pt idx="4">
                  <c:v>4</c:v>
                </c:pt>
                <c:pt idx="5">
                  <c:v>6</c:v>
                </c:pt>
                <c:pt idx="6">
                  <c:v>7</c:v>
                </c:pt>
                <c:pt idx="7">
                  <c:v>10</c:v>
                </c:pt>
                <c:pt idx="8">
                  <c:v>13</c:v>
                </c:pt>
              </c:numCache>
            </c:numRef>
          </c:val>
          <c:extLst>
            <c:ext xmlns:c16="http://schemas.microsoft.com/office/drawing/2014/chart" uri="{C3380CC4-5D6E-409C-BE32-E72D297353CC}">
              <c16:uniqueId val="{00000001-4218-4F55-875F-26E42812C772}"/>
            </c:ext>
          </c:extLst>
        </c:ser>
        <c:ser>
          <c:idx val="2"/>
          <c:order val="1"/>
          <c:tx>
            <c:strRef>
              <c:f>Hoja1!$C$1</c:f>
              <c:strCache>
                <c:ptCount val="1"/>
                <c:pt idx="0">
                  <c:v>2025</c:v>
                </c:pt>
              </c:strCache>
            </c:strRef>
          </c:tx>
          <c:spPr>
            <a:solidFill>
              <a:schemeClr val="tx1">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Hoja1!$C$2:$C$13</c:f>
              <c:numCache>
                <c:formatCode>General</c:formatCode>
                <c:ptCount val="12"/>
                <c:pt idx="9" formatCode="0.0">
                  <c:v>10.1</c:v>
                </c:pt>
                <c:pt idx="10" formatCode="0.0">
                  <c:v>10.4</c:v>
                </c:pt>
                <c:pt idx="11">
                  <c:v>9.1999999999999993</c:v>
                </c:pt>
              </c:numCache>
            </c:numRef>
          </c:val>
          <c:extLst>
            <c:ext xmlns:c16="http://schemas.microsoft.com/office/drawing/2014/chart" uri="{C3380CC4-5D6E-409C-BE32-E72D297353CC}">
              <c16:uniqueId val="{00000002-4218-4F55-875F-26E42812C772}"/>
            </c:ext>
          </c:extLst>
        </c:ser>
        <c:dLbls>
          <c:showLegendKey val="0"/>
          <c:showVal val="0"/>
          <c:showCatName val="0"/>
          <c:showSerName val="0"/>
          <c:showPercent val="0"/>
          <c:showBubbleSize val="0"/>
        </c:dLbls>
        <c:gapWidth val="150"/>
        <c:axId val="241713408"/>
        <c:axId val="241711008"/>
      </c:barChart>
      <c:lineChart>
        <c:grouping val="standard"/>
        <c:varyColors val="0"/>
        <c:ser>
          <c:idx val="0"/>
          <c:order val="2"/>
          <c:tx>
            <c:strRef>
              <c:f>Hoja1!$D$1</c:f>
              <c:strCache>
                <c:ptCount val="1"/>
                <c:pt idx="0">
                  <c:v>Meta</c:v>
                </c:pt>
              </c:strCache>
            </c:strRef>
          </c:tx>
          <c:spPr>
            <a:ln w="28575" cap="rnd">
              <a:solidFill>
                <a:srgbClr val="002060"/>
              </a:solidFill>
              <a:round/>
            </a:ln>
            <a:effectLst/>
          </c:spPr>
          <c:marker>
            <c:symbol val="circle"/>
            <c:size val="5"/>
            <c:spPr>
              <a:solidFill>
                <a:schemeClr val="accent1"/>
              </a:solidFill>
              <a:ln w="9525">
                <a:solidFill>
                  <a:srgbClr val="002060"/>
                </a:solidFill>
              </a:ln>
              <a:effectLst/>
            </c:spPr>
          </c:marker>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Hoja1!$D$2:$D$13</c:f>
              <c:numCache>
                <c:formatCode>0</c:formatCode>
                <c:ptCount val="12"/>
                <c:pt idx="0">
                  <c:v>16</c:v>
                </c:pt>
                <c:pt idx="1">
                  <c:v>16</c:v>
                </c:pt>
                <c:pt idx="2">
                  <c:v>16</c:v>
                </c:pt>
                <c:pt idx="3">
                  <c:v>16</c:v>
                </c:pt>
                <c:pt idx="4">
                  <c:v>16</c:v>
                </c:pt>
                <c:pt idx="5">
                  <c:v>16</c:v>
                </c:pt>
                <c:pt idx="6">
                  <c:v>16</c:v>
                </c:pt>
                <c:pt idx="7">
                  <c:v>16</c:v>
                </c:pt>
                <c:pt idx="8">
                  <c:v>16</c:v>
                </c:pt>
                <c:pt idx="9">
                  <c:v>16</c:v>
                </c:pt>
                <c:pt idx="10">
                  <c:v>16</c:v>
                </c:pt>
                <c:pt idx="11">
                  <c:v>16</c:v>
                </c:pt>
              </c:numCache>
            </c:numRef>
          </c:val>
          <c:smooth val="0"/>
          <c:extLst>
            <c:ext xmlns:c16="http://schemas.microsoft.com/office/drawing/2014/chart" uri="{C3380CC4-5D6E-409C-BE32-E72D297353CC}">
              <c16:uniqueId val="{00000000-29D4-4191-8A1D-63ED058301EE}"/>
            </c:ext>
          </c:extLst>
        </c:ser>
        <c:dLbls>
          <c:showLegendKey val="0"/>
          <c:showVal val="0"/>
          <c:showCatName val="0"/>
          <c:showSerName val="0"/>
          <c:showPercent val="0"/>
          <c:showBubbleSize val="0"/>
        </c:dLbls>
        <c:marker val="1"/>
        <c:smooth val="0"/>
        <c:axId val="241713408"/>
        <c:axId val="241711008"/>
      </c:lineChart>
      <c:catAx>
        <c:axId val="241713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s-CO"/>
          </a:p>
        </c:txPr>
        <c:crossAx val="241711008"/>
        <c:crosses val="autoZero"/>
        <c:auto val="1"/>
        <c:lblAlgn val="ctr"/>
        <c:lblOffset val="100"/>
        <c:noMultiLvlLbl val="0"/>
      </c:catAx>
      <c:valAx>
        <c:axId val="2417110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s-CO"/>
          </a:p>
        </c:txPr>
        <c:crossAx val="241713408"/>
        <c:crosses val="autoZero"/>
        <c:crossBetween val="between"/>
        <c:majorUnit val="8"/>
      </c:valAx>
      <c:spPr>
        <a:noFill/>
        <a:ln>
          <a:noFill/>
        </a:ln>
        <a:effectLst/>
      </c:spPr>
    </c:plotArea>
    <c:legend>
      <c:legendPos val="r"/>
      <c:layout>
        <c:manualLayout>
          <c:xMode val="edge"/>
          <c:yMode val="edge"/>
          <c:x val="0.1937171875"/>
          <c:y val="0.85056476983523566"/>
          <c:w val="0.70982222222222213"/>
          <c:h val="0.14943523016476437"/>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accent1"/>
      </a:solidFill>
    </a:ln>
    <a:effectLst/>
  </c:spPr>
  <c:txPr>
    <a:bodyPr/>
    <a:lstStyle/>
    <a:p>
      <a:pPr>
        <a:defRPr>
          <a:solidFill>
            <a:schemeClr val="tx1"/>
          </a:solidFill>
        </a:defRPr>
      </a:pPr>
      <a:endParaRPr lang="es-CO"/>
    </a:p>
  </c:txPr>
  <c:externalData r:id="rId3">
    <c:autoUpdate val="0"/>
  </c:externalData>
</c:chartSpace>
</file>

<file path=ppt/charts/chart1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s-CO" sz="1600" b="1" noProof="0">
                <a:solidFill>
                  <a:schemeClr val="tx1"/>
                </a:solidFill>
              </a:rPr>
              <a:t>Oportunidad</a:t>
            </a:r>
            <a:r>
              <a:rPr lang="es-CO" sz="1600" b="1" baseline="0" noProof="0">
                <a:solidFill>
                  <a:schemeClr val="tx1"/>
                </a:solidFill>
              </a:rPr>
              <a:t> de quimioterapia</a:t>
            </a:r>
            <a:endParaRPr lang="es-CO" sz="1600" b="1" noProof="0">
              <a:solidFill>
                <a:schemeClr val="tx1"/>
              </a:solidFill>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1"/>
          <c:order val="0"/>
          <c:tx>
            <c:strRef>
              <c:f>Hoja1!$B$1</c:f>
              <c:strCache>
                <c:ptCount val="1"/>
                <c:pt idx="0">
                  <c:v>2026</c:v>
                </c:pt>
              </c:strCache>
            </c:strRef>
          </c:tx>
          <c:spPr>
            <a:solidFill>
              <a:srgbClr val="4FA9A7"/>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4FA9A7"/>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Hoja1!$B$2:$B$13</c:f>
              <c:numCache>
                <c:formatCode>General</c:formatCode>
                <c:ptCount val="12"/>
                <c:pt idx="0">
                  <c:v>31</c:v>
                </c:pt>
                <c:pt idx="1">
                  <c:v>18</c:v>
                </c:pt>
                <c:pt idx="2">
                  <c:v>14</c:v>
                </c:pt>
                <c:pt idx="3">
                  <c:v>15</c:v>
                </c:pt>
                <c:pt idx="4">
                  <c:v>16</c:v>
                </c:pt>
                <c:pt idx="5">
                  <c:v>16</c:v>
                </c:pt>
                <c:pt idx="6">
                  <c:v>17</c:v>
                </c:pt>
                <c:pt idx="7">
                  <c:v>20</c:v>
                </c:pt>
                <c:pt idx="8">
                  <c:v>33</c:v>
                </c:pt>
              </c:numCache>
            </c:numRef>
          </c:val>
          <c:extLst>
            <c:ext xmlns:c16="http://schemas.microsoft.com/office/drawing/2014/chart" uri="{C3380CC4-5D6E-409C-BE32-E72D297353CC}">
              <c16:uniqueId val="{00000000-0786-4630-A172-FEC81A43E53A}"/>
            </c:ext>
          </c:extLst>
        </c:ser>
        <c:dLbls>
          <c:showLegendKey val="0"/>
          <c:showVal val="0"/>
          <c:showCatName val="0"/>
          <c:showSerName val="0"/>
          <c:showPercent val="0"/>
          <c:showBubbleSize val="0"/>
        </c:dLbls>
        <c:gapWidth val="75"/>
        <c:overlap val="-25"/>
        <c:axId val="1418613503"/>
        <c:axId val="1418609663"/>
      </c:barChart>
      <c:barChart>
        <c:barDir val="col"/>
        <c:grouping val="clustered"/>
        <c:varyColors val="0"/>
        <c:ser>
          <c:idx val="2"/>
          <c:order val="1"/>
          <c:tx>
            <c:strRef>
              <c:f>Hoja1!$C$1</c:f>
              <c:strCache>
                <c:ptCount val="1"/>
                <c:pt idx="0">
                  <c:v>2025</c:v>
                </c:pt>
              </c:strCache>
            </c:strRef>
          </c:tx>
          <c:spPr>
            <a:solidFill>
              <a:schemeClr val="tx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Hoja1!$C$2:$C$13</c:f>
              <c:numCache>
                <c:formatCode>General</c:formatCode>
                <c:ptCount val="12"/>
                <c:pt idx="9" formatCode="0.0">
                  <c:v>5.5</c:v>
                </c:pt>
                <c:pt idx="10" formatCode="0.0">
                  <c:v>10.3</c:v>
                </c:pt>
                <c:pt idx="11" formatCode="0.0">
                  <c:v>14.3</c:v>
                </c:pt>
              </c:numCache>
            </c:numRef>
          </c:val>
          <c:extLst>
            <c:ext xmlns:c16="http://schemas.microsoft.com/office/drawing/2014/chart" uri="{C3380CC4-5D6E-409C-BE32-E72D297353CC}">
              <c16:uniqueId val="{00000001-0786-4630-A172-FEC81A43E53A}"/>
            </c:ext>
          </c:extLst>
        </c:ser>
        <c:dLbls>
          <c:showLegendKey val="0"/>
          <c:showVal val="0"/>
          <c:showCatName val="0"/>
          <c:showSerName val="0"/>
          <c:showPercent val="0"/>
          <c:showBubbleSize val="0"/>
        </c:dLbls>
        <c:gapWidth val="75"/>
        <c:overlap val="-25"/>
        <c:axId val="576702784"/>
        <c:axId val="576701824"/>
      </c:barChart>
      <c:lineChart>
        <c:grouping val="standard"/>
        <c:varyColors val="0"/>
        <c:ser>
          <c:idx val="0"/>
          <c:order val="2"/>
          <c:tx>
            <c:strRef>
              <c:f>Hoja1!$D$1</c:f>
              <c:strCache>
                <c:ptCount val="1"/>
                <c:pt idx="0">
                  <c:v>meta</c:v>
                </c:pt>
              </c:strCache>
            </c:strRef>
          </c:tx>
          <c:spPr>
            <a:ln w="28575" cap="rnd">
              <a:solidFill>
                <a:srgbClr val="002060"/>
              </a:solidFill>
              <a:round/>
            </a:ln>
            <a:effectLst/>
          </c:spPr>
          <c:marker>
            <c:symbol val="none"/>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Hoja1!$D$2:$D$13</c:f>
              <c:numCache>
                <c:formatCode>0</c:formatCode>
                <c:ptCount val="12"/>
                <c:pt idx="0">
                  <c:v>15</c:v>
                </c:pt>
                <c:pt idx="1">
                  <c:v>15</c:v>
                </c:pt>
                <c:pt idx="2">
                  <c:v>15</c:v>
                </c:pt>
                <c:pt idx="3">
                  <c:v>15</c:v>
                </c:pt>
                <c:pt idx="4">
                  <c:v>15</c:v>
                </c:pt>
                <c:pt idx="5">
                  <c:v>15</c:v>
                </c:pt>
                <c:pt idx="6">
                  <c:v>15</c:v>
                </c:pt>
                <c:pt idx="7">
                  <c:v>15</c:v>
                </c:pt>
                <c:pt idx="8">
                  <c:v>15</c:v>
                </c:pt>
                <c:pt idx="9">
                  <c:v>15</c:v>
                </c:pt>
                <c:pt idx="10">
                  <c:v>15</c:v>
                </c:pt>
                <c:pt idx="11">
                  <c:v>15</c:v>
                </c:pt>
              </c:numCache>
            </c:numRef>
          </c:val>
          <c:smooth val="0"/>
          <c:extLst>
            <c:ext xmlns:c16="http://schemas.microsoft.com/office/drawing/2014/chart" uri="{C3380CC4-5D6E-409C-BE32-E72D297353CC}">
              <c16:uniqueId val="{00000000-D769-4DA0-B470-CE3FC606F7A2}"/>
            </c:ext>
          </c:extLst>
        </c:ser>
        <c:dLbls>
          <c:showLegendKey val="0"/>
          <c:showVal val="0"/>
          <c:showCatName val="0"/>
          <c:showSerName val="0"/>
          <c:showPercent val="0"/>
          <c:showBubbleSize val="0"/>
        </c:dLbls>
        <c:marker val="1"/>
        <c:smooth val="0"/>
        <c:axId val="576702784"/>
        <c:axId val="576701824"/>
      </c:lineChart>
      <c:catAx>
        <c:axId val="14186135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418609663"/>
        <c:crosses val="autoZero"/>
        <c:auto val="1"/>
        <c:lblAlgn val="ctr"/>
        <c:lblOffset val="100"/>
        <c:noMultiLvlLbl val="0"/>
      </c:catAx>
      <c:valAx>
        <c:axId val="1418609663"/>
        <c:scaling>
          <c:orientation val="minMax"/>
          <c:max val="35"/>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418613503"/>
        <c:crosses val="autoZero"/>
        <c:crossBetween val="between"/>
        <c:majorUnit val="5"/>
      </c:valAx>
      <c:valAx>
        <c:axId val="576701824"/>
        <c:scaling>
          <c:orientation val="minMax"/>
          <c:max val="35"/>
        </c:scaling>
        <c:delete val="0"/>
        <c:axPos val="r"/>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576702784"/>
        <c:crosses val="max"/>
        <c:crossBetween val="between"/>
      </c:valAx>
      <c:catAx>
        <c:axId val="576702784"/>
        <c:scaling>
          <c:orientation val="minMax"/>
        </c:scaling>
        <c:delete val="1"/>
        <c:axPos val="b"/>
        <c:numFmt formatCode="General" sourceLinked="1"/>
        <c:majorTickMark val="out"/>
        <c:minorTickMark val="none"/>
        <c:tickLblPos val="nextTo"/>
        <c:crossAx val="576701824"/>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s-CO"/>
    </a:p>
  </c:txPr>
  <c:externalData r:id="rId3">
    <c:autoUpdate val="0"/>
  </c:externalData>
</c:chartSpace>
</file>

<file path=ppt/charts/chart1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s-CO" sz="1600" b="1" noProof="0">
                <a:solidFill>
                  <a:schemeClr val="tx1"/>
                </a:solidFill>
              </a:rPr>
              <a:t>Oportunidad de medicamentos</a:t>
            </a:r>
            <a:r>
              <a:rPr lang="es-CO" sz="1600" b="1" baseline="0" noProof="0">
                <a:solidFill>
                  <a:schemeClr val="tx1"/>
                </a:solidFill>
              </a:rPr>
              <a:t> orales</a:t>
            </a:r>
            <a:endParaRPr lang="es-CO" sz="1600" b="1" noProof="0">
              <a:solidFill>
                <a:schemeClr val="tx1"/>
              </a:solidFill>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1"/>
          <c:order val="0"/>
          <c:tx>
            <c:strRef>
              <c:f>Hoja1!$B$1</c:f>
              <c:strCache>
                <c:ptCount val="1"/>
                <c:pt idx="0">
                  <c:v>2026</c:v>
                </c:pt>
              </c:strCache>
            </c:strRef>
          </c:tx>
          <c:spPr>
            <a:solidFill>
              <a:srgbClr val="4FA9A7"/>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4FA9A7"/>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Hoja1!$B$2:$B$13</c:f>
              <c:numCache>
                <c:formatCode>0</c:formatCode>
                <c:ptCount val="12"/>
                <c:pt idx="0">
                  <c:v>33</c:v>
                </c:pt>
                <c:pt idx="1">
                  <c:v>20</c:v>
                </c:pt>
                <c:pt idx="2">
                  <c:v>14</c:v>
                </c:pt>
                <c:pt idx="3">
                  <c:v>15</c:v>
                </c:pt>
                <c:pt idx="4">
                  <c:v>16</c:v>
                </c:pt>
                <c:pt idx="5">
                  <c:v>16</c:v>
                </c:pt>
                <c:pt idx="6">
                  <c:v>17</c:v>
                </c:pt>
                <c:pt idx="7">
                  <c:v>20</c:v>
                </c:pt>
                <c:pt idx="8">
                  <c:v>33</c:v>
                </c:pt>
              </c:numCache>
            </c:numRef>
          </c:val>
          <c:extLst>
            <c:ext xmlns:c16="http://schemas.microsoft.com/office/drawing/2014/chart" uri="{C3380CC4-5D6E-409C-BE32-E72D297353CC}">
              <c16:uniqueId val="{00000000-E416-40FA-BEBF-FFA027E60D10}"/>
            </c:ext>
          </c:extLst>
        </c:ser>
        <c:dLbls>
          <c:showLegendKey val="0"/>
          <c:showVal val="0"/>
          <c:showCatName val="0"/>
          <c:showSerName val="0"/>
          <c:showPercent val="0"/>
          <c:showBubbleSize val="0"/>
        </c:dLbls>
        <c:gapWidth val="75"/>
        <c:overlap val="-25"/>
        <c:axId val="1418613503"/>
        <c:axId val="1418609663"/>
      </c:barChart>
      <c:barChart>
        <c:barDir val="col"/>
        <c:grouping val="clustered"/>
        <c:varyColors val="0"/>
        <c:ser>
          <c:idx val="2"/>
          <c:order val="1"/>
          <c:tx>
            <c:strRef>
              <c:f>Hoja1!$C$1</c:f>
              <c:strCache>
                <c:ptCount val="1"/>
                <c:pt idx="0">
                  <c:v>2025</c:v>
                </c:pt>
              </c:strCache>
            </c:strRef>
          </c:tx>
          <c:spPr>
            <a:solidFill>
              <a:schemeClr val="tx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Hoja1!$C$2:$C$13</c:f>
              <c:numCache>
                <c:formatCode>General</c:formatCode>
                <c:ptCount val="12"/>
                <c:pt idx="9" formatCode="0.0">
                  <c:v>5.5</c:v>
                </c:pt>
                <c:pt idx="10" formatCode="0.0">
                  <c:v>10.3</c:v>
                </c:pt>
                <c:pt idx="11" formatCode="0.0">
                  <c:v>14.3</c:v>
                </c:pt>
              </c:numCache>
            </c:numRef>
          </c:val>
          <c:extLst>
            <c:ext xmlns:c16="http://schemas.microsoft.com/office/drawing/2014/chart" uri="{C3380CC4-5D6E-409C-BE32-E72D297353CC}">
              <c16:uniqueId val="{00000001-E416-40FA-BEBF-FFA027E60D10}"/>
            </c:ext>
          </c:extLst>
        </c:ser>
        <c:dLbls>
          <c:showLegendKey val="0"/>
          <c:showVal val="0"/>
          <c:showCatName val="0"/>
          <c:showSerName val="0"/>
          <c:showPercent val="0"/>
          <c:showBubbleSize val="0"/>
        </c:dLbls>
        <c:gapWidth val="75"/>
        <c:overlap val="-25"/>
        <c:axId val="87942944"/>
        <c:axId val="87946784"/>
      </c:barChart>
      <c:lineChart>
        <c:grouping val="standard"/>
        <c:varyColors val="0"/>
        <c:ser>
          <c:idx val="0"/>
          <c:order val="2"/>
          <c:tx>
            <c:strRef>
              <c:f>Hoja1!$D$1</c:f>
              <c:strCache>
                <c:ptCount val="1"/>
                <c:pt idx="0">
                  <c:v>Meta</c:v>
                </c:pt>
              </c:strCache>
            </c:strRef>
          </c:tx>
          <c:spPr>
            <a:ln w="28575" cap="rnd">
              <a:solidFill>
                <a:srgbClr val="002060"/>
              </a:solidFill>
              <a:round/>
            </a:ln>
            <a:effectLst/>
          </c:spPr>
          <c:marker>
            <c:symbol val="none"/>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Hoja1!$D$2:$D$13</c:f>
              <c:numCache>
                <c:formatCode>General</c:formatCode>
                <c:ptCount val="12"/>
                <c:pt idx="0">
                  <c:v>10</c:v>
                </c:pt>
                <c:pt idx="1">
                  <c:v>10</c:v>
                </c:pt>
                <c:pt idx="2">
                  <c:v>10</c:v>
                </c:pt>
                <c:pt idx="3">
                  <c:v>10</c:v>
                </c:pt>
                <c:pt idx="4">
                  <c:v>10</c:v>
                </c:pt>
                <c:pt idx="5">
                  <c:v>10</c:v>
                </c:pt>
                <c:pt idx="6">
                  <c:v>10</c:v>
                </c:pt>
                <c:pt idx="7">
                  <c:v>10</c:v>
                </c:pt>
                <c:pt idx="8">
                  <c:v>10</c:v>
                </c:pt>
                <c:pt idx="9">
                  <c:v>10</c:v>
                </c:pt>
                <c:pt idx="10">
                  <c:v>10</c:v>
                </c:pt>
                <c:pt idx="11">
                  <c:v>10</c:v>
                </c:pt>
              </c:numCache>
            </c:numRef>
          </c:val>
          <c:smooth val="0"/>
          <c:extLst>
            <c:ext xmlns:c16="http://schemas.microsoft.com/office/drawing/2014/chart" uri="{C3380CC4-5D6E-409C-BE32-E72D297353CC}">
              <c16:uniqueId val="{00000000-A545-498F-8308-40695467D12B}"/>
            </c:ext>
          </c:extLst>
        </c:ser>
        <c:dLbls>
          <c:showLegendKey val="0"/>
          <c:showVal val="0"/>
          <c:showCatName val="0"/>
          <c:showSerName val="0"/>
          <c:showPercent val="0"/>
          <c:showBubbleSize val="0"/>
        </c:dLbls>
        <c:marker val="1"/>
        <c:smooth val="0"/>
        <c:axId val="87942944"/>
        <c:axId val="87946784"/>
      </c:lineChart>
      <c:catAx>
        <c:axId val="14186135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418609663"/>
        <c:crosses val="autoZero"/>
        <c:auto val="1"/>
        <c:lblAlgn val="ctr"/>
        <c:lblOffset val="100"/>
        <c:noMultiLvlLbl val="0"/>
      </c:catAx>
      <c:valAx>
        <c:axId val="1418609663"/>
        <c:scaling>
          <c:orientation val="minMax"/>
          <c:max val="35"/>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418613503"/>
        <c:crosses val="autoZero"/>
        <c:crossBetween val="between"/>
      </c:valAx>
      <c:valAx>
        <c:axId val="87946784"/>
        <c:scaling>
          <c:orientation val="minMax"/>
          <c:max val="35"/>
        </c:scaling>
        <c:delete val="0"/>
        <c:axPos val="r"/>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87942944"/>
        <c:crosses val="max"/>
        <c:crossBetween val="between"/>
      </c:valAx>
      <c:catAx>
        <c:axId val="87942944"/>
        <c:scaling>
          <c:orientation val="minMax"/>
        </c:scaling>
        <c:delete val="1"/>
        <c:axPos val="b"/>
        <c:numFmt formatCode="General" sourceLinked="1"/>
        <c:majorTickMark val="out"/>
        <c:minorTickMark val="none"/>
        <c:tickLblPos val="nextTo"/>
        <c:crossAx val="87946784"/>
        <c:crosses val="autoZero"/>
        <c:auto val="1"/>
        <c:lblAlgn val="ctr"/>
        <c:lblOffset val="100"/>
        <c:noMultiLvlLbl val="0"/>
      </c:catAx>
      <c:spPr>
        <a:noFill/>
        <a:ln>
          <a:solidFill>
            <a:schemeClr val="tx1">
              <a:alpha val="95000"/>
            </a:schemeClr>
          </a:solid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s-CO"/>
    </a:p>
  </c:txPr>
  <c:externalData r:id="rId3">
    <c:autoUpdate val="0"/>
  </c:externalData>
</c:chartSpace>
</file>

<file path=ppt/charts/chart1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s-CO" sz="1600" b="1" noProof="0">
                <a:solidFill>
                  <a:schemeClr val="tx1"/>
                </a:solidFill>
              </a:rPr>
              <a:t>Oportunidad de</a:t>
            </a:r>
            <a:r>
              <a:rPr lang="es-CO" sz="1600" b="1" baseline="0" noProof="0">
                <a:solidFill>
                  <a:schemeClr val="tx1"/>
                </a:solidFill>
              </a:rPr>
              <a:t> procedimientos quirúrgicos </a:t>
            </a:r>
            <a:endParaRPr lang="es-CO" sz="1600" b="1" noProof="0">
              <a:solidFill>
                <a:schemeClr val="tx1"/>
              </a:solidFill>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Hoja1!$B$1</c:f>
              <c:strCache>
                <c:ptCount val="1"/>
                <c:pt idx="0">
                  <c:v>2025</c:v>
                </c:pt>
              </c:strCache>
            </c:strRef>
          </c:tx>
          <c:spPr>
            <a:solidFill>
              <a:srgbClr val="00A19C"/>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4FA9A7"/>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Hoja1!$B$2:$B$13</c:f>
              <c:numCache>
                <c:formatCode>General</c:formatCode>
                <c:ptCount val="12"/>
                <c:pt idx="9" formatCode="0.0">
                  <c:v>44.15</c:v>
                </c:pt>
                <c:pt idx="10" formatCode="0.0">
                  <c:v>43</c:v>
                </c:pt>
                <c:pt idx="11" formatCode="0.0">
                  <c:v>40.700000000000003</c:v>
                </c:pt>
              </c:numCache>
            </c:numRef>
          </c:val>
          <c:extLst>
            <c:ext xmlns:c16="http://schemas.microsoft.com/office/drawing/2014/chart" uri="{C3380CC4-5D6E-409C-BE32-E72D297353CC}">
              <c16:uniqueId val="{00000000-9BC0-4352-BEF3-2B2BBCDDB5BE}"/>
            </c:ext>
          </c:extLst>
        </c:ser>
        <c:ser>
          <c:idx val="1"/>
          <c:order val="1"/>
          <c:tx>
            <c:strRef>
              <c:f>Hoja1!$C$1</c:f>
              <c:strCache>
                <c:ptCount val="1"/>
                <c:pt idx="0">
                  <c:v>2026</c:v>
                </c:pt>
              </c:strCache>
            </c:strRef>
          </c:tx>
          <c:spPr>
            <a:solidFill>
              <a:schemeClr val="tx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Hoja1!$C$2:$C$13</c:f>
              <c:numCache>
                <c:formatCode>General</c:formatCode>
                <c:ptCount val="12"/>
                <c:pt idx="0">
                  <c:v>52</c:v>
                </c:pt>
                <c:pt idx="1">
                  <c:v>60</c:v>
                </c:pt>
                <c:pt idx="2" formatCode="0.0">
                  <c:v>61.5</c:v>
                </c:pt>
                <c:pt idx="3">
                  <c:v>63.9</c:v>
                </c:pt>
                <c:pt idx="4">
                  <c:v>59.8</c:v>
                </c:pt>
                <c:pt idx="5" formatCode="0.0">
                  <c:v>66.3</c:v>
                </c:pt>
                <c:pt idx="6" formatCode="0.0">
                  <c:v>52</c:v>
                </c:pt>
                <c:pt idx="7" formatCode="0.0">
                  <c:v>71</c:v>
                </c:pt>
                <c:pt idx="8" formatCode="0.0">
                  <c:v>69</c:v>
                </c:pt>
              </c:numCache>
            </c:numRef>
          </c:val>
          <c:extLst>
            <c:ext xmlns:c16="http://schemas.microsoft.com/office/drawing/2014/chart" uri="{C3380CC4-5D6E-409C-BE32-E72D297353CC}">
              <c16:uniqueId val="{00000001-9BC0-4352-BEF3-2B2BBCDDB5BE}"/>
            </c:ext>
          </c:extLst>
        </c:ser>
        <c:dLbls>
          <c:showLegendKey val="0"/>
          <c:showVal val="0"/>
          <c:showCatName val="0"/>
          <c:showSerName val="0"/>
          <c:showPercent val="0"/>
          <c:showBubbleSize val="0"/>
        </c:dLbls>
        <c:gapWidth val="75"/>
        <c:overlap val="-25"/>
        <c:axId val="-466035408"/>
        <c:axId val="-466030512"/>
      </c:barChart>
      <c:lineChart>
        <c:grouping val="standard"/>
        <c:varyColors val="0"/>
        <c:ser>
          <c:idx val="2"/>
          <c:order val="2"/>
          <c:tx>
            <c:strRef>
              <c:f>Hoja1!$D$1</c:f>
              <c:strCache>
                <c:ptCount val="1"/>
                <c:pt idx="0">
                  <c:v>Meta</c:v>
                </c:pt>
              </c:strCache>
            </c:strRef>
          </c:tx>
          <c:spPr>
            <a:ln w="28575" cap="rnd">
              <a:solidFill>
                <a:srgbClr val="002060"/>
              </a:solidFill>
              <a:round/>
            </a:ln>
            <a:effectLst/>
          </c:spPr>
          <c:marker>
            <c:symbol val="none"/>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Hoja1!$D$2:$D$13</c:f>
              <c:numCache>
                <c:formatCode>General</c:formatCode>
                <c:ptCount val="12"/>
                <c:pt idx="0">
                  <c:v>25</c:v>
                </c:pt>
                <c:pt idx="1">
                  <c:v>25</c:v>
                </c:pt>
                <c:pt idx="2">
                  <c:v>25</c:v>
                </c:pt>
                <c:pt idx="3">
                  <c:v>25</c:v>
                </c:pt>
                <c:pt idx="4">
                  <c:v>25</c:v>
                </c:pt>
                <c:pt idx="5">
                  <c:v>25</c:v>
                </c:pt>
                <c:pt idx="6">
                  <c:v>25</c:v>
                </c:pt>
                <c:pt idx="7">
                  <c:v>25</c:v>
                </c:pt>
                <c:pt idx="8">
                  <c:v>25</c:v>
                </c:pt>
                <c:pt idx="9">
                  <c:v>25</c:v>
                </c:pt>
                <c:pt idx="10">
                  <c:v>25</c:v>
                </c:pt>
                <c:pt idx="11">
                  <c:v>25</c:v>
                </c:pt>
              </c:numCache>
            </c:numRef>
          </c:val>
          <c:smooth val="0"/>
          <c:extLst>
            <c:ext xmlns:c16="http://schemas.microsoft.com/office/drawing/2014/chart" uri="{C3380CC4-5D6E-409C-BE32-E72D297353CC}">
              <c16:uniqueId val="{00000000-9298-4D40-822A-F6F14CED4604}"/>
            </c:ext>
          </c:extLst>
        </c:ser>
        <c:dLbls>
          <c:showLegendKey val="0"/>
          <c:showVal val="0"/>
          <c:showCatName val="0"/>
          <c:showSerName val="0"/>
          <c:showPercent val="0"/>
          <c:showBubbleSize val="0"/>
        </c:dLbls>
        <c:marker val="1"/>
        <c:smooth val="0"/>
        <c:axId val="-466035408"/>
        <c:axId val="-466030512"/>
      </c:lineChart>
      <c:catAx>
        <c:axId val="-466035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466030512"/>
        <c:crosses val="autoZero"/>
        <c:auto val="1"/>
        <c:lblAlgn val="ctr"/>
        <c:lblOffset val="100"/>
        <c:noMultiLvlLbl val="0"/>
      </c:catAx>
      <c:valAx>
        <c:axId val="-4660305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46603540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s-CO"/>
    </a:p>
  </c:txPr>
  <c:externalData r:id="rId3">
    <c:autoUpdate val="0"/>
  </c:externalData>
</c:chartSpace>
</file>

<file path=ppt/charts/chart1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s-CO" sz="1600" b="1" noProof="0">
                <a:solidFill>
                  <a:schemeClr val="tx1"/>
                </a:solidFill>
              </a:rPr>
              <a:t>Oportunidad de radioterapia</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manualLayout>
          <c:layoutTarget val="inner"/>
          <c:xMode val="edge"/>
          <c:yMode val="edge"/>
          <c:x val="6.143350168350168E-2"/>
          <c:y val="0.1920759259259259"/>
          <c:w val="0.9129099326599327"/>
          <c:h val="0.54841740740740741"/>
        </c:manualLayout>
      </c:layout>
      <c:barChart>
        <c:barDir val="col"/>
        <c:grouping val="clustered"/>
        <c:varyColors val="0"/>
        <c:ser>
          <c:idx val="0"/>
          <c:order val="0"/>
          <c:tx>
            <c:strRef>
              <c:f>Hoja1!$B$1</c:f>
              <c:strCache>
                <c:ptCount val="1"/>
                <c:pt idx="0">
                  <c:v>2025</c:v>
                </c:pt>
              </c:strCache>
            </c:strRef>
          </c:tx>
          <c:spPr>
            <a:solidFill>
              <a:srgbClr val="00A19C"/>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4FA9A7"/>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Hoja1!$B$2:$B$13</c:f>
              <c:numCache>
                <c:formatCode>General</c:formatCode>
                <c:ptCount val="12"/>
                <c:pt idx="9">
                  <c:v>7</c:v>
                </c:pt>
                <c:pt idx="10">
                  <c:v>13.5</c:v>
                </c:pt>
                <c:pt idx="11">
                  <c:v>20</c:v>
                </c:pt>
              </c:numCache>
            </c:numRef>
          </c:val>
          <c:extLst>
            <c:ext xmlns:c16="http://schemas.microsoft.com/office/drawing/2014/chart" uri="{C3380CC4-5D6E-409C-BE32-E72D297353CC}">
              <c16:uniqueId val="{00000000-C067-4CFC-9760-6C0CBB2ABD4F}"/>
            </c:ext>
          </c:extLst>
        </c:ser>
        <c:ser>
          <c:idx val="1"/>
          <c:order val="1"/>
          <c:tx>
            <c:strRef>
              <c:f>Hoja1!$C$1</c:f>
              <c:strCache>
                <c:ptCount val="1"/>
                <c:pt idx="0">
                  <c:v>2026</c:v>
                </c:pt>
              </c:strCache>
            </c:strRef>
          </c:tx>
          <c:spPr>
            <a:solidFill>
              <a:schemeClr val="tx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Hoja1!$C$2:$C$13</c:f>
              <c:numCache>
                <c:formatCode>General</c:formatCode>
                <c:ptCount val="12"/>
                <c:pt idx="0">
                  <c:v>18</c:v>
                </c:pt>
                <c:pt idx="1">
                  <c:v>21</c:v>
                </c:pt>
                <c:pt idx="2">
                  <c:v>38</c:v>
                </c:pt>
                <c:pt idx="3">
                  <c:v>42</c:v>
                </c:pt>
                <c:pt idx="4">
                  <c:v>39</c:v>
                </c:pt>
                <c:pt idx="5">
                  <c:v>40</c:v>
                </c:pt>
                <c:pt idx="6">
                  <c:v>34</c:v>
                </c:pt>
                <c:pt idx="7">
                  <c:v>52</c:v>
                </c:pt>
                <c:pt idx="8">
                  <c:v>43</c:v>
                </c:pt>
              </c:numCache>
            </c:numRef>
          </c:val>
          <c:extLst>
            <c:ext xmlns:c16="http://schemas.microsoft.com/office/drawing/2014/chart" uri="{C3380CC4-5D6E-409C-BE32-E72D297353CC}">
              <c16:uniqueId val="{00000001-C067-4CFC-9760-6C0CBB2ABD4F}"/>
            </c:ext>
          </c:extLst>
        </c:ser>
        <c:dLbls>
          <c:showLegendKey val="0"/>
          <c:showVal val="0"/>
          <c:showCatName val="0"/>
          <c:showSerName val="0"/>
          <c:showPercent val="0"/>
          <c:showBubbleSize val="0"/>
        </c:dLbls>
        <c:gapWidth val="75"/>
        <c:overlap val="-25"/>
        <c:axId val="-466036496"/>
        <c:axId val="-466037040"/>
      </c:barChart>
      <c:lineChart>
        <c:grouping val="standard"/>
        <c:varyColors val="0"/>
        <c:ser>
          <c:idx val="2"/>
          <c:order val="2"/>
          <c:tx>
            <c:strRef>
              <c:f>Hoja1!$D$1</c:f>
              <c:strCache>
                <c:ptCount val="1"/>
                <c:pt idx="0">
                  <c:v>meta</c:v>
                </c:pt>
              </c:strCache>
            </c:strRef>
          </c:tx>
          <c:spPr>
            <a:ln w="28575" cap="rnd">
              <a:solidFill>
                <a:srgbClr val="002060"/>
              </a:solidFill>
              <a:round/>
            </a:ln>
            <a:effectLst/>
          </c:spPr>
          <c:marker>
            <c:symbol val="none"/>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Hoja1!$D$2:$D$13</c:f>
              <c:numCache>
                <c:formatCode>General</c:formatCode>
                <c:ptCount val="12"/>
                <c:pt idx="0">
                  <c:v>16</c:v>
                </c:pt>
                <c:pt idx="1">
                  <c:v>16</c:v>
                </c:pt>
                <c:pt idx="2">
                  <c:v>16</c:v>
                </c:pt>
                <c:pt idx="3">
                  <c:v>16</c:v>
                </c:pt>
                <c:pt idx="4">
                  <c:v>16</c:v>
                </c:pt>
                <c:pt idx="5">
                  <c:v>16</c:v>
                </c:pt>
                <c:pt idx="6">
                  <c:v>16</c:v>
                </c:pt>
                <c:pt idx="7">
                  <c:v>16</c:v>
                </c:pt>
                <c:pt idx="8">
                  <c:v>16</c:v>
                </c:pt>
                <c:pt idx="9">
                  <c:v>16</c:v>
                </c:pt>
                <c:pt idx="10">
                  <c:v>16</c:v>
                </c:pt>
                <c:pt idx="11">
                  <c:v>16</c:v>
                </c:pt>
              </c:numCache>
            </c:numRef>
          </c:val>
          <c:smooth val="0"/>
          <c:extLst>
            <c:ext xmlns:c16="http://schemas.microsoft.com/office/drawing/2014/chart" uri="{C3380CC4-5D6E-409C-BE32-E72D297353CC}">
              <c16:uniqueId val="{00000000-EC21-4AC3-927F-57809025798B}"/>
            </c:ext>
          </c:extLst>
        </c:ser>
        <c:dLbls>
          <c:showLegendKey val="0"/>
          <c:showVal val="0"/>
          <c:showCatName val="0"/>
          <c:showSerName val="0"/>
          <c:showPercent val="0"/>
          <c:showBubbleSize val="0"/>
        </c:dLbls>
        <c:marker val="1"/>
        <c:smooth val="0"/>
        <c:axId val="-466036496"/>
        <c:axId val="-466037040"/>
      </c:lineChart>
      <c:catAx>
        <c:axId val="-4660364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466037040"/>
        <c:crosses val="autoZero"/>
        <c:auto val="1"/>
        <c:lblAlgn val="ctr"/>
        <c:lblOffset val="100"/>
        <c:noMultiLvlLbl val="0"/>
      </c:catAx>
      <c:valAx>
        <c:axId val="-4660370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466036496"/>
        <c:crosses val="autoZero"/>
        <c:crossBetween val="between"/>
        <c:majorUnit val="4"/>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s-CO"/>
    </a:p>
  </c:txPr>
  <c:externalData r:id="rId3">
    <c:autoUpdate val="0"/>
  </c:externalData>
</c:chartSpace>
</file>

<file path=ppt/charts/chart1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s-CO" b="1"/>
              <a:t>Hospitalizaciones Emssanar 2026</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Hoja1!$A$3</c:f>
              <c:strCache>
                <c:ptCount val="1"/>
                <c:pt idx="0">
                  <c:v>VALLE</c:v>
                </c:pt>
              </c:strCache>
            </c:strRef>
          </c:tx>
          <c:spPr>
            <a:solidFill>
              <a:srgbClr val="7030A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Hoja1!$B$2:$I$2</c:f>
              <c:numCache>
                <c:formatCode>mmm\-yy</c:formatCode>
                <c:ptCount val="8"/>
                <c:pt idx="0">
                  <c:v>46023</c:v>
                </c:pt>
                <c:pt idx="1">
                  <c:v>46054</c:v>
                </c:pt>
                <c:pt idx="2">
                  <c:v>46082</c:v>
                </c:pt>
                <c:pt idx="3">
                  <c:v>46113</c:v>
                </c:pt>
                <c:pt idx="4">
                  <c:v>46143</c:v>
                </c:pt>
                <c:pt idx="5">
                  <c:v>46174</c:v>
                </c:pt>
                <c:pt idx="6">
                  <c:v>46204</c:v>
                </c:pt>
                <c:pt idx="7">
                  <c:v>46235</c:v>
                </c:pt>
              </c:numCache>
            </c:numRef>
          </c:cat>
          <c:val>
            <c:numRef>
              <c:f>Hoja1!$B$3:$I$3</c:f>
              <c:numCache>
                <c:formatCode>General</c:formatCode>
                <c:ptCount val="8"/>
                <c:pt idx="0">
                  <c:v>24</c:v>
                </c:pt>
                <c:pt idx="1">
                  <c:v>21</c:v>
                </c:pt>
                <c:pt idx="2">
                  <c:v>20</c:v>
                </c:pt>
                <c:pt idx="3">
                  <c:v>25</c:v>
                </c:pt>
                <c:pt idx="4">
                  <c:v>36</c:v>
                </c:pt>
                <c:pt idx="5">
                  <c:v>29</c:v>
                </c:pt>
                <c:pt idx="6">
                  <c:v>21</c:v>
                </c:pt>
                <c:pt idx="7">
                  <c:v>10.4</c:v>
                </c:pt>
              </c:numCache>
            </c:numRef>
          </c:val>
          <c:extLst>
            <c:ext xmlns:c16="http://schemas.microsoft.com/office/drawing/2014/chart" uri="{C3380CC4-5D6E-409C-BE32-E72D297353CC}">
              <c16:uniqueId val="{00000000-1F42-44C4-9EF4-41B43B77D6D0}"/>
            </c:ext>
          </c:extLst>
        </c:ser>
        <c:ser>
          <c:idx val="2"/>
          <c:order val="2"/>
          <c:tx>
            <c:strRef>
              <c:f>Hoja1!$A$5</c:f>
              <c:strCache>
                <c:ptCount val="1"/>
                <c:pt idx="0">
                  <c:v>CAUCA</c:v>
                </c:pt>
              </c:strCache>
            </c:strRef>
          </c:tx>
          <c:spPr>
            <a:solidFill>
              <a:srgbClr val="45A99F"/>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rgbClr val="47A9A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Hoja1!$B$2:$I$2</c:f>
              <c:numCache>
                <c:formatCode>mmm\-yy</c:formatCode>
                <c:ptCount val="8"/>
                <c:pt idx="0">
                  <c:v>46023</c:v>
                </c:pt>
                <c:pt idx="1">
                  <c:v>46054</c:v>
                </c:pt>
                <c:pt idx="2">
                  <c:v>46082</c:v>
                </c:pt>
                <c:pt idx="3">
                  <c:v>46113</c:v>
                </c:pt>
                <c:pt idx="4">
                  <c:v>46143</c:v>
                </c:pt>
                <c:pt idx="5">
                  <c:v>46174</c:v>
                </c:pt>
                <c:pt idx="6">
                  <c:v>46204</c:v>
                </c:pt>
                <c:pt idx="7">
                  <c:v>46235</c:v>
                </c:pt>
              </c:numCache>
            </c:numRef>
          </c:cat>
          <c:val>
            <c:numRef>
              <c:f>Hoja1!$B$5:$I$5</c:f>
              <c:numCache>
                <c:formatCode>General</c:formatCode>
                <c:ptCount val="8"/>
                <c:pt idx="0">
                  <c:v>13</c:v>
                </c:pt>
                <c:pt idx="1">
                  <c:v>15</c:v>
                </c:pt>
                <c:pt idx="2">
                  <c:v>19</c:v>
                </c:pt>
                <c:pt idx="3">
                  <c:v>7</c:v>
                </c:pt>
                <c:pt idx="4">
                  <c:v>11</c:v>
                </c:pt>
                <c:pt idx="5">
                  <c:v>8</c:v>
                </c:pt>
                <c:pt idx="6">
                  <c:v>4</c:v>
                </c:pt>
                <c:pt idx="7">
                  <c:v>14</c:v>
                </c:pt>
              </c:numCache>
            </c:numRef>
          </c:val>
          <c:extLst>
            <c:ext xmlns:c16="http://schemas.microsoft.com/office/drawing/2014/chart" uri="{C3380CC4-5D6E-409C-BE32-E72D297353CC}">
              <c16:uniqueId val="{00000001-1F42-44C4-9EF4-41B43B77D6D0}"/>
            </c:ext>
          </c:extLst>
        </c:ser>
        <c:dLbls>
          <c:showLegendKey val="0"/>
          <c:showVal val="0"/>
          <c:showCatName val="0"/>
          <c:showSerName val="0"/>
          <c:showPercent val="0"/>
          <c:showBubbleSize val="0"/>
        </c:dLbls>
        <c:gapWidth val="150"/>
        <c:axId val="1989998016"/>
        <c:axId val="469225167"/>
      </c:barChart>
      <c:lineChart>
        <c:grouping val="standard"/>
        <c:varyColors val="0"/>
        <c:ser>
          <c:idx val="1"/>
          <c:order val="1"/>
          <c:tx>
            <c:strRef>
              <c:f>Hoja1!$A$4</c:f>
              <c:strCache>
                <c:ptCount val="1"/>
                <c:pt idx="0">
                  <c:v>Prom dia estancia VALLE</c:v>
                </c:pt>
              </c:strCache>
            </c:strRef>
          </c:tx>
          <c:spPr>
            <a:ln w="28575" cap="rnd">
              <a:solidFill>
                <a:srgbClr val="7030A0"/>
              </a:solidFill>
              <a:round/>
            </a:ln>
            <a:effectLst/>
          </c:spPr>
          <c:marker>
            <c:symbol val="none"/>
          </c:marker>
          <c:dLbls>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1" i="0" u="none" strike="noStrike" kern="1200" baseline="0">
                    <a:solidFill>
                      <a:srgbClr val="47A9A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leftArrow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numRef>
              <c:f>Hoja1!$B$2:$I$2</c:f>
              <c:numCache>
                <c:formatCode>mmm\-yy</c:formatCode>
                <c:ptCount val="8"/>
                <c:pt idx="0">
                  <c:v>46023</c:v>
                </c:pt>
                <c:pt idx="1">
                  <c:v>46054</c:v>
                </c:pt>
                <c:pt idx="2">
                  <c:v>46082</c:v>
                </c:pt>
                <c:pt idx="3">
                  <c:v>46113</c:v>
                </c:pt>
                <c:pt idx="4">
                  <c:v>46143</c:v>
                </c:pt>
                <c:pt idx="5">
                  <c:v>46174</c:v>
                </c:pt>
                <c:pt idx="6">
                  <c:v>46204</c:v>
                </c:pt>
                <c:pt idx="7">
                  <c:v>46235</c:v>
                </c:pt>
              </c:numCache>
            </c:numRef>
          </c:cat>
          <c:val>
            <c:numRef>
              <c:f>Hoja1!$B$4:$I$4</c:f>
              <c:numCache>
                <c:formatCode>General</c:formatCode>
                <c:ptCount val="8"/>
                <c:pt idx="0">
                  <c:v>16</c:v>
                </c:pt>
                <c:pt idx="1">
                  <c:v>14</c:v>
                </c:pt>
                <c:pt idx="2">
                  <c:v>5</c:v>
                </c:pt>
                <c:pt idx="3">
                  <c:v>7.8</c:v>
                </c:pt>
                <c:pt idx="4">
                  <c:v>9.8000000000000007</c:v>
                </c:pt>
                <c:pt idx="5">
                  <c:v>11.9</c:v>
                </c:pt>
                <c:pt idx="6">
                  <c:v>6</c:v>
                </c:pt>
              </c:numCache>
            </c:numRef>
          </c:val>
          <c:smooth val="0"/>
          <c:extLst>
            <c:ext xmlns:c16="http://schemas.microsoft.com/office/drawing/2014/chart" uri="{C3380CC4-5D6E-409C-BE32-E72D297353CC}">
              <c16:uniqueId val="{00000002-1F42-44C4-9EF4-41B43B77D6D0}"/>
            </c:ext>
          </c:extLst>
        </c:ser>
        <c:ser>
          <c:idx val="3"/>
          <c:order val="3"/>
          <c:tx>
            <c:strRef>
              <c:f>Hoja1!$A$6</c:f>
              <c:strCache>
                <c:ptCount val="1"/>
                <c:pt idx="0">
                  <c:v>Prom dia estancia CAUCA</c:v>
                </c:pt>
              </c:strCache>
            </c:strRef>
          </c:tx>
          <c:spPr>
            <a:ln w="28575" cap="rnd">
              <a:solidFill>
                <a:srgbClr val="45A99F"/>
              </a:solidFill>
              <a:round/>
            </a:ln>
            <a:effectLst/>
          </c:spPr>
          <c:marker>
            <c:symbol val="none"/>
          </c:marker>
          <c:dLbls>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1" i="0" u="none" strike="noStrike" kern="1200" baseline="0">
                    <a:solidFill>
                      <a:srgbClr val="47A9A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leftArrow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numRef>
              <c:f>Hoja1!$B$2:$I$2</c:f>
              <c:numCache>
                <c:formatCode>mmm\-yy</c:formatCode>
                <c:ptCount val="8"/>
                <c:pt idx="0">
                  <c:v>46023</c:v>
                </c:pt>
                <c:pt idx="1">
                  <c:v>46054</c:v>
                </c:pt>
                <c:pt idx="2">
                  <c:v>46082</c:v>
                </c:pt>
                <c:pt idx="3">
                  <c:v>46113</c:v>
                </c:pt>
                <c:pt idx="4">
                  <c:v>46143</c:v>
                </c:pt>
                <c:pt idx="5">
                  <c:v>46174</c:v>
                </c:pt>
                <c:pt idx="6">
                  <c:v>46204</c:v>
                </c:pt>
                <c:pt idx="7">
                  <c:v>46235</c:v>
                </c:pt>
              </c:numCache>
            </c:numRef>
          </c:cat>
          <c:val>
            <c:numRef>
              <c:f>Hoja1!$B$6:$I$6</c:f>
              <c:numCache>
                <c:formatCode>General</c:formatCode>
                <c:ptCount val="8"/>
                <c:pt idx="0">
                  <c:v>6.6</c:v>
                </c:pt>
                <c:pt idx="1">
                  <c:v>11</c:v>
                </c:pt>
                <c:pt idx="2">
                  <c:v>9</c:v>
                </c:pt>
                <c:pt idx="3">
                  <c:v>13</c:v>
                </c:pt>
                <c:pt idx="4">
                  <c:v>9</c:v>
                </c:pt>
                <c:pt idx="5">
                  <c:v>9.6999999999999993</c:v>
                </c:pt>
                <c:pt idx="6">
                  <c:v>16.7</c:v>
                </c:pt>
                <c:pt idx="7">
                  <c:v>9.6999999999999993</c:v>
                </c:pt>
              </c:numCache>
            </c:numRef>
          </c:val>
          <c:smooth val="0"/>
          <c:extLst>
            <c:ext xmlns:c16="http://schemas.microsoft.com/office/drawing/2014/chart" uri="{C3380CC4-5D6E-409C-BE32-E72D297353CC}">
              <c16:uniqueId val="{00000003-1F42-44C4-9EF4-41B43B77D6D0}"/>
            </c:ext>
          </c:extLst>
        </c:ser>
        <c:dLbls>
          <c:showLegendKey val="0"/>
          <c:showVal val="0"/>
          <c:showCatName val="0"/>
          <c:showSerName val="0"/>
          <c:showPercent val="0"/>
          <c:showBubbleSize val="0"/>
        </c:dLbls>
        <c:marker val="1"/>
        <c:smooth val="0"/>
        <c:axId val="1989998016"/>
        <c:axId val="469225167"/>
      </c:lineChart>
      <c:dateAx>
        <c:axId val="1989998016"/>
        <c:scaling>
          <c:orientation val="minMax"/>
        </c:scaling>
        <c:delete val="0"/>
        <c:axPos val="b"/>
        <c:numFmt formatCode="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469225167"/>
        <c:crosses val="autoZero"/>
        <c:auto val="1"/>
        <c:lblOffset val="100"/>
        <c:baseTimeUnit val="months"/>
      </c:dateAx>
      <c:valAx>
        <c:axId val="46922516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98999801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1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8158A1"/>
                </a:solidFill>
                <a:latin typeface="+mn-lt"/>
                <a:ea typeface="+mn-ea"/>
                <a:cs typeface="+mn-cs"/>
              </a:defRPr>
            </a:pPr>
            <a:r>
              <a:rPr lang="es-CO" b="1" baseline="0">
                <a:solidFill>
                  <a:srgbClr val="8158A1"/>
                </a:solidFill>
              </a:rPr>
              <a:t>NPS</a:t>
            </a:r>
            <a:endParaRPr lang="es-CO" b="1">
              <a:solidFill>
                <a:srgbClr val="8158A1"/>
              </a:solidFill>
            </a:endParaRP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8158A1"/>
              </a:solidFill>
              <a:latin typeface="+mn-lt"/>
              <a:ea typeface="+mn-ea"/>
              <a:cs typeface="+mn-cs"/>
            </a:defRPr>
          </a:pPr>
          <a:endParaRPr lang="es-CO"/>
        </a:p>
      </c:txPr>
    </c:title>
    <c:autoTitleDeleted val="0"/>
    <c:plotArea>
      <c:layout/>
      <c:barChart>
        <c:barDir val="col"/>
        <c:grouping val="percentStacked"/>
        <c:varyColors val="0"/>
        <c:ser>
          <c:idx val="0"/>
          <c:order val="0"/>
          <c:tx>
            <c:strRef>
              <c:f>'2026'!$AD$162</c:f>
              <c:strCache>
                <c:ptCount val="1"/>
                <c:pt idx="0">
                  <c:v>APOSTOLES</c:v>
                </c:pt>
              </c:strCache>
            </c:strRef>
          </c:tx>
          <c:spPr>
            <a:solidFill>
              <a:srgbClr val="8158A1"/>
            </a:solidFill>
            <a:ln>
              <a:noFill/>
            </a:ln>
            <a:effectLst/>
          </c:spPr>
          <c:invertIfNegative val="0"/>
          <c:cat>
            <c:strRef>
              <c:f>'2026'!$AE$1:$AL$1</c:f>
              <c:strCache>
                <c:ptCount val="8"/>
                <c:pt idx="0">
                  <c:v>ENE</c:v>
                </c:pt>
                <c:pt idx="1">
                  <c:v>FEB</c:v>
                </c:pt>
                <c:pt idx="2">
                  <c:v>MAR</c:v>
                </c:pt>
                <c:pt idx="3">
                  <c:v>ABR</c:v>
                </c:pt>
                <c:pt idx="4">
                  <c:v>MAY</c:v>
                </c:pt>
                <c:pt idx="5">
                  <c:v>JUN</c:v>
                </c:pt>
                <c:pt idx="6">
                  <c:v>JUL</c:v>
                </c:pt>
                <c:pt idx="7">
                  <c:v>AGO</c:v>
                </c:pt>
              </c:strCache>
            </c:strRef>
          </c:cat>
          <c:val>
            <c:numRef>
              <c:f>'2026'!$AE$162:$AL$162</c:f>
              <c:numCache>
                <c:formatCode>General</c:formatCode>
                <c:ptCount val="8"/>
                <c:pt idx="0">
                  <c:v>319</c:v>
                </c:pt>
                <c:pt idx="1">
                  <c:v>112</c:v>
                </c:pt>
                <c:pt idx="2">
                  <c:v>303</c:v>
                </c:pt>
                <c:pt idx="3">
                  <c:v>270</c:v>
                </c:pt>
                <c:pt idx="4">
                  <c:v>265</c:v>
                </c:pt>
                <c:pt idx="5">
                  <c:v>102</c:v>
                </c:pt>
                <c:pt idx="6">
                  <c:v>10</c:v>
                </c:pt>
                <c:pt idx="7">
                  <c:v>123</c:v>
                </c:pt>
              </c:numCache>
            </c:numRef>
          </c:val>
          <c:extLst>
            <c:ext xmlns:c16="http://schemas.microsoft.com/office/drawing/2014/chart" uri="{C3380CC4-5D6E-409C-BE32-E72D297353CC}">
              <c16:uniqueId val="{00000000-2428-45B4-9B60-EE5B1E7EF799}"/>
            </c:ext>
          </c:extLst>
        </c:ser>
        <c:ser>
          <c:idx val="1"/>
          <c:order val="1"/>
          <c:tx>
            <c:strRef>
              <c:f>'2026'!$AD$163</c:f>
              <c:strCache>
                <c:ptCount val="1"/>
                <c:pt idx="0">
                  <c:v>NEUTROS</c:v>
                </c:pt>
              </c:strCache>
            </c:strRef>
          </c:tx>
          <c:spPr>
            <a:solidFill>
              <a:srgbClr val="47A9BF"/>
            </a:solidFill>
            <a:ln>
              <a:noFill/>
            </a:ln>
            <a:effectLst/>
          </c:spPr>
          <c:invertIfNegative val="0"/>
          <c:cat>
            <c:strRef>
              <c:f>'2026'!$AE$1:$AL$1</c:f>
              <c:strCache>
                <c:ptCount val="8"/>
                <c:pt idx="0">
                  <c:v>ENE</c:v>
                </c:pt>
                <c:pt idx="1">
                  <c:v>FEB</c:v>
                </c:pt>
                <c:pt idx="2">
                  <c:v>MAR</c:v>
                </c:pt>
                <c:pt idx="3">
                  <c:v>ABR</c:v>
                </c:pt>
                <c:pt idx="4">
                  <c:v>MAY</c:v>
                </c:pt>
                <c:pt idx="5">
                  <c:v>JUN</c:v>
                </c:pt>
                <c:pt idx="6">
                  <c:v>JUL</c:v>
                </c:pt>
                <c:pt idx="7">
                  <c:v>AGO</c:v>
                </c:pt>
              </c:strCache>
            </c:strRef>
          </c:cat>
          <c:val>
            <c:numRef>
              <c:f>'2026'!$AE$163:$AL$163</c:f>
              <c:numCache>
                <c:formatCode>General</c:formatCode>
                <c:ptCount val="8"/>
                <c:pt idx="0">
                  <c:v>6</c:v>
                </c:pt>
                <c:pt idx="1">
                  <c:v>10</c:v>
                </c:pt>
                <c:pt idx="2">
                  <c:v>12</c:v>
                </c:pt>
                <c:pt idx="3">
                  <c:v>15</c:v>
                </c:pt>
                <c:pt idx="4">
                  <c:v>8</c:v>
                </c:pt>
                <c:pt idx="5">
                  <c:v>2</c:v>
                </c:pt>
                <c:pt idx="6">
                  <c:v>0</c:v>
                </c:pt>
                <c:pt idx="7">
                  <c:v>0</c:v>
                </c:pt>
              </c:numCache>
            </c:numRef>
          </c:val>
          <c:extLst>
            <c:ext xmlns:c16="http://schemas.microsoft.com/office/drawing/2014/chart" uri="{C3380CC4-5D6E-409C-BE32-E72D297353CC}">
              <c16:uniqueId val="{00000001-2428-45B4-9B60-EE5B1E7EF799}"/>
            </c:ext>
          </c:extLst>
        </c:ser>
        <c:ser>
          <c:idx val="2"/>
          <c:order val="2"/>
          <c:tx>
            <c:strRef>
              <c:f>'2026'!$AD$164</c:f>
              <c:strCache>
                <c:ptCount val="1"/>
                <c:pt idx="0">
                  <c:v>DETRACTORES</c:v>
                </c:pt>
              </c:strCache>
            </c:strRef>
          </c:tx>
          <c:spPr>
            <a:solidFill>
              <a:srgbClr val="FF0000"/>
            </a:solidFill>
            <a:ln>
              <a:noFill/>
            </a:ln>
            <a:effectLst/>
          </c:spPr>
          <c:invertIfNegative val="0"/>
          <c:cat>
            <c:strRef>
              <c:f>'2026'!$AE$1:$AL$1</c:f>
              <c:strCache>
                <c:ptCount val="8"/>
                <c:pt idx="0">
                  <c:v>ENE</c:v>
                </c:pt>
                <c:pt idx="1">
                  <c:v>FEB</c:v>
                </c:pt>
                <c:pt idx="2">
                  <c:v>MAR</c:v>
                </c:pt>
                <c:pt idx="3">
                  <c:v>ABR</c:v>
                </c:pt>
                <c:pt idx="4">
                  <c:v>MAY</c:v>
                </c:pt>
                <c:pt idx="5">
                  <c:v>JUN</c:v>
                </c:pt>
                <c:pt idx="6">
                  <c:v>JUL</c:v>
                </c:pt>
                <c:pt idx="7">
                  <c:v>AGO</c:v>
                </c:pt>
              </c:strCache>
            </c:strRef>
          </c:cat>
          <c:val>
            <c:numRef>
              <c:f>'2026'!$AE$164:$AL$164</c:f>
              <c:numCache>
                <c:formatCode>General</c:formatCode>
                <c:ptCount val="8"/>
                <c:pt idx="0">
                  <c:v>3</c:v>
                </c:pt>
                <c:pt idx="1">
                  <c:v>1</c:v>
                </c:pt>
                <c:pt idx="2">
                  <c:v>9</c:v>
                </c:pt>
                <c:pt idx="3">
                  <c:v>6</c:v>
                </c:pt>
                <c:pt idx="4">
                  <c:v>7</c:v>
                </c:pt>
                <c:pt idx="5">
                  <c:v>0</c:v>
                </c:pt>
                <c:pt idx="6">
                  <c:v>0</c:v>
                </c:pt>
                <c:pt idx="7">
                  <c:v>0</c:v>
                </c:pt>
              </c:numCache>
            </c:numRef>
          </c:val>
          <c:extLst>
            <c:ext xmlns:c16="http://schemas.microsoft.com/office/drawing/2014/chart" uri="{C3380CC4-5D6E-409C-BE32-E72D297353CC}">
              <c16:uniqueId val="{00000002-2428-45B4-9B60-EE5B1E7EF799}"/>
            </c:ext>
          </c:extLst>
        </c:ser>
        <c:dLbls>
          <c:showLegendKey val="0"/>
          <c:showVal val="0"/>
          <c:showCatName val="0"/>
          <c:showSerName val="0"/>
          <c:showPercent val="0"/>
          <c:showBubbleSize val="0"/>
        </c:dLbls>
        <c:gapWidth val="150"/>
        <c:overlap val="100"/>
        <c:axId val="1860293279"/>
        <c:axId val="1860295679"/>
      </c:barChart>
      <c:catAx>
        <c:axId val="18602932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860295679"/>
        <c:crosses val="autoZero"/>
        <c:auto val="1"/>
        <c:lblAlgn val="ctr"/>
        <c:lblOffset val="100"/>
        <c:noMultiLvlLbl val="0"/>
      </c:catAx>
      <c:valAx>
        <c:axId val="1860295679"/>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860293279"/>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050" b="0" i="0" u="none" strike="noStrike" kern="1200" baseline="0">
                <a:solidFill>
                  <a:schemeClr val="tx1">
                    <a:lumMod val="50000"/>
                  </a:schemeClr>
                </a:solidFill>
                <a:latin typeface="+mn-lt"/>
                <a:ea typeface="+mn-ea"/>
                <a:cs typeface="+mn-cs"/>
              </a:defRPr>
            </a:pPr>
            <a:endParaRPr lang="es-CO"/>
          </a:p>
        </c:txPr>
      </c:dTable>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50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1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7030A0"/>
                </a:solidFill>
                <a:latin typeface="+mn-lt"/>
                <a:ea typeface="+mn-ea"/>
                <a:cs typeface="+mn-cs"/>
              </a:defRPr>
            </a:pPr>
            <a:r>
              <a:rPr lang="es-CO"/>
              <a:t>CES</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7030A0"/>
              </a:solidFill>
              <a:latin typeface="+mn-lt"/>
              <a:ea typeface="+mn-ea"/>
              <a:cs typeface="+mn-cs"/>
            </a:defRPr>
          </a:pPr>
          <a:endParaRPr lang="es-CO"/>
        </a:p>
      </c:txPr>
    </c:title>
    <c:autoTitleDeleted val="0"/>
    <c:plotArea>
      <c:layout/>
      <c:barChart>
        <c:barDir val="col"/>
        <c:grouping val="clustered"/>
        <c:varyColors val="0"/>
        <c:ser>
          <c:idx val="0"/>
          <c:order val="0"/>
          <c:tx>
            <c:strRef>
              <c:f>'2026'!$A$93</c:f>
              <c:strCache>
                <c:ptCount val="1"/>
                <c:pt idx="0">
                  <c:v>2026</c:v>
                </c:pt>
              </c:strCache>
            </c:strRef>
          </c:tx>
          <c:spPr>
            <a:solidFill>
              <a:srgbClr val="8158A1"/>
            </a:solidFill>
            <a:ln>
              <a:solidFill>
                <a:srgbClr val="8158A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50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'2026'!$C$86:$J$86</c:f>
              <c:strCache>
                <c:ptCount val="8"/>
                <c:pt idx="0">
                  <c:v>ENE</c:v>
                </c:pt>
                <c:pt idx="1">
                  <c:v>FEB</c:v>
                </c:pt>
                <c:pt idx="2">
                  <c:v>MAR</c:v>
                </c:pt>
                <c:pt idx="3">
                  <c:v>ABR</c:v>
                </c:pt>
                <c:pt idx="4">
                  <c:v>MAY</c:v>
                </c:pt>
                <c:pt idx="5">
                  <c:v>JUN</c:v>
                </c:pt>
                <c:pt idx="6">
                  <c:v>JUL</c:v>
                </c:pt>
                <c:pt idx="7">
                  <c:v>AGO</c:v>
                </c:pt>
              </c:strCache>
              <c:extLst/>
            </c:strRef>
          </c:cat>
          <c:val>
            <c:numRef>
              <c:f>'2026'!$C$199:$J$199</c:f>
              <c:numCache>
                <c:formatCode>0%</c:formatCode>
                <c:ptCount val="8"/>
                <c:pt idx="0">
                  <c:v>0.96951219512195119</c:v>
                </c:pt>
                <c:pt idx="1">
                  <c:v>0.91056910569105687</c:v>
                </c:pt>
                <c:pt idx="2">
                  <c:v>0.93251533742331283</c:v>
                </c:pt>
                <c:pt idx="3">
                  <c:v>0.93197278911564629</c:v>
                </c:pt>
                <c:pt idx="4">
                  <c:v>0.9642857142857143</c:v>
                </c:pt>
                <c:pt idx="5">
                  <c:v>0.97115384615384615</c:v>
                </c:pt>
                <c:pt idx="6">
                  <c:v>1</c:v>
                </c:pt>
                <c:pt idx="7">
                  <c:v>1</c:v>
                </c:pt>
              </c:numCache>
              <c:extLst/>
            </c:numRef>
          </c:val>
          <c:extLst>
            <c:ext xmlns:c16="http://schemas.microsoft.com/office/drawing/2014/chart" uri="{C3380CC4-5D6E-409C-BE32-E72D297353CC}">
              <c16:uniqueId val="{00000000-AC30-49BC-BF12-AC0E9FDBBCD8}"/>
            </c:ext>
          </c:extLst>
        </c:ser>
        <c:dLbls>
          <c:showLegendKey val="0"/>
          <c:showVal val="0"/>
          <c:showCatName val="0"/>
          <c:showSerName val="0"/>
          <c:showPercent val="0"/>
          <c:showBubbleSize val="0"/>
        </c:dLbls>
        <c:gapWidth val="150"/>
        <c:axId val="304009135"/>
        <c:axId val="304009615"/>
      </c:barChart>
      <c:lineChart>
        <c:grouping val="standard"/>
        <c:varyColors val="0"/>
        <c:ser>
          <c:idx val="1"/>
          <c:order val="1"/>
          <c:tx>
            <c:strRef>
              <c:f>'2026'!$A$95</c:f>
              <c:strCache>
                <c:ptCount val="1"/>
                <c:pt idx="0">
                  <c:v>META</c:v>
                </c:pt>
              </c:strCache>
            </c:strRef>
          </c:tx>
          <c:spPr>
            <a:ln w="28575" cap="rnd">
              <a:solidFill>
                <a:srgbClr val="FF0000"/>
              </a:solidFill>
              <a:prstDash val="sysDot"/>
              <a:round/>
            </a:ln>
            <a:effectLst/>
          </c:spPr>
          <c:marker>
            <c:symbol val="none"/>
          </c:marker>
          <c:dLbls>
            <c:delete val="1"/>
          </c:dLbls>
          <c:cat>
            <c:strRef>
              <c:f>'2026'!$C$86:$J$86</c:f>
              <c:strCache>
                <c:ptCount val="8"/>
                <c:pt idx="0">
                  <c:v>ENE</c:v>
                </c:pt>
                <c:pt idx="1">
                  <c:v>FEB</c:v>
                </c:pt>
                <c:pt idx="2">
                  <c:v>MAR</c:v>
                </c:pt>
                <c:pt idx="3">
                  <c:v>ABR</c:v>
                </c:pt>
                <c:pt idx="4">
                  <c:v>MAY</c:v>
                </c:pt>
                <c:pt idx="5">
                  <c:v>JUN</c:v>
                </c:pt>
                <c:pt idx="6">
                  <c:v>JUL</c:v>
                </c:pt>
                <c:pt idx="7">
                  <c:v>AGO</c:v>
                </c:pt>
              </c:strCache>
              <c:extLst/>
            </c:strRef>
          </c:cat>
          <c:val>
            <c:numRef>
              <c:f>'2026'!$C$95:$J$95</c:f>
              <c:numCache>
                <c:formatCode>0%</c:formatCode>
                <c:ptCount val="8"/>
                <c:pt idx="0">
                  <c:v>0.9</c:v>
                </c:pt>
                <c:pt idx="1">
                  <c:v>0.9</c:v>
                </c:pt>
                <c:pt idx="2">
                  <c:v>0.9</c:v>
                </c:pt>
                <c:pt idx="3">
                  <c:v>0.9</c:v>
                </c:pt>
                <c:pt idx="4">
                  <c:v>0.9</c:v>
                </c:pt>
                <c:pt idx="5">
                  <c:v>0.9</c:v>
                </c:pt>
                <c:pt idx="6">
                  <c:v>0.9</c:v>
                </c:pt>
                <c:pt idx="7">
                  <c:v>0.9</c:v>
                </c:pt>
              </c:numCache>
              <c:extLst/>
            </c:numRef>
          </c:val>
          <c:smooth val="0"/>
          <c:extLst>
            <c:ext xmlns:c16="http://schemas.microsoft.com/office/drawing/2014/chart" uri="{C3380CC4-5D6E-409C-BE32-E72D297353CC}">
              <c16:uniqueId val="{00000001-AC30-49BC-BF12-AC0E9FDBBCD8}"/>
            </c:ext>
          </c:extLst>
        </c:ser>
        <c:ser>
          <c:idx val="2"/>
          <c:order val="2"/>
          <c:tx>
            <c:strRef>
              <c:f>'2026'!$A$147</c:f>
              <c:strCache>
                <c:ptCount val="1"/>
                <c:pt idx="0">
                  <c:v>2025</c:v>
                </c:pt>
              </c:strCache>
            </c:strRef>
          </c:tx>
          <c:spPr>
            <a:ln w="28575" cap="rnd">
              <a:solidFill>
                <a:srgbClr val="47A9BF"/>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47A9BF"/>
                    </a:solidFill>
                    <a:latin typeface="+mn-lt"/>
                    <a:ea typeface="+mn-ea"/>
                    <a:cs typeface="+mn-cs"/>
                  </a:defRPr>
                </a:pPr>
                <a:endParaRPr lang="es-CO"/>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Lit>
              <c:ptCount val="8"/>
              <c:pt idx="0">
                <c:v>ENE</c:v>
              </c:pt>
              <c:pt idx="1">
                <c:v>FEB</c:v>
              </c:pt>
              <c:pt idx="2">
                <c:v>MAR</c:v>
              </c:pt>
              <c:pt idx="3">
                <c:v>ABR</c:v>
              </c:pt>
              <c:pt idx="4">
                <c:v>MAY</c:v>
              </c:pt>
              <c:pt idx="5">
                <c:v>JUN</c:v>
              </c:pt>
              <c:pt idx="6">
                <c:v>JUL</c:v>
              </c:pt>
              <c:pt idx="7">
                <c:v>AGO</c:v>
              </c:pt>
              <c:extLst>
                <c:ext xmlns:c15="http://schemas.microsoft.com/office/drawing/2012/chart" uri="{02D57815-91ED-43cb-92C2-25804820EDAC}">
                  <c15:autoCat val="1"/>
                </c:ext>
              </c:extLst>
            </c:strLit>
          </c:cat>
          <c:val>
            <c:numRef>
              <c:f>'2026'!$C$200:$J$200</c:f>
              <c:numCache>
                <c:formatCode>General</c:formatCode>
                <c:ptCount val="8"/>
              </c:numCache>
              <c:extLst/>
            </c:numRef>
          </c:val>
          <c:smooth val="0"/>
          <c:extLst>
            <c:ext xmlns:c16="http://schemas.microsoft.com/office/drawing/2014/chart" uri="{C3380CC4-5D6E-409C-BE32-E72D297353CC}">
              <c16:uniqueId val="{00000002-AC30-49BC-BF12-AC0E9FDBBCD8}"/>
            </c:ext>
          </c:extLst>
        </c:ser>
        <c:dLbls>
          <c:dLblPos val="t"/>
          <c:showLegendKey val="0"/>
          <c:showVal val="1"/>
          <c:showCatName val="0"/>
          <c:showSerName val="0"/>
          <c:showPercent val="0"/>
          <c:showBubbleSize val="0"/>
        </c:dLbls>
        <c:marker val="1"/>
        <c:smooth val="0"/>
        <c:axId val="304009135"/>
        <c:axId val="304009615"/>
      </c:lineChart>
      <c:catAx>
        <c:axId val="3040091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s-CO"/>
          </a:p>
        </c:txPr>
        <c:crossAx val="304009615"/>
        <c:crosses val="autoZero"/>
        <c:auto val="1"/>
        <c:lblAlgn val="ctr"/>
        <c:lblOffset val="100"/>
        <c:noMultiLvlLbl val="0"/>
      </c:catAx>
      <c:valAx>
        <c:axId val="304009615"/>
        <c:scaling>
          <c:orientation val="minMax"/>
          <c:min val="0.84000000000000008"/>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304009135"/>
        <c:crosses val="autoZero"/>
        <c:crossBetween val="between"/>
      </c:valAx>
      <c:spPr>
        <a:noFill/>
        <a:ln>
          <a:noFill/>
        </a:ln>
        <a:effectLst/>
      </c:spPr>
    </c:plotArea>
    <c:legend>
      <c:legendPos val="r"/>
      <c:legendEntry>
        <c:idx val="2"/>
        <c:delete val="1"/>
      </c:legendEntry>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1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7030A0"/>
                </a:solidFill>
                <a:latin typeface="+mn-lt"/>
                <a:ea typeface="+mn-ea"/>
                <a:cs typeface="+mn-cs"/>
              </a:defRPr>
            </a:pPr>
            <a:r>
              <a:rPr lang="en-US" err="1"/>
              <a:t>Satisfacción</a:t>
            </a:r>
            <a:endParaRPr lang="en-US"/>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7030A0"/>
              </a:solidFill>
              <a:latin typeface="+mn-lt"/>
              <a:ea typeface="+mn-ea"/>
              <a:cs typeface="+mn-cs"/>
            </a:defRPr>
          </a:pPr>
          <a:endParaRPr lang="en-US"/>
        </a:p>
      </c:txPr>
    </c:title>
    <c:autoTitleDeleted val="0"/>
    <c:plotArea>
      <c:layout/>
      <c:barChart>
        <c:barDir val="col"/>
        <c:grouping val="clustered"/>
        <c:varyColors val="0"/>
        <c:ser>
          <c:idx val="0"/>
          <c:order val="0"/>
          <c:tx>
            <c:strRef>
              <c:f>'2026'!$A$80</c:f>
              <c:strCache>
                <c:ptCount val="1"/>
                <c:pt idx="0">
                  <c:v>2026</c:v>
                </c:pt>
              </c:strCache>
            </c:strRef>
          </c:tx>
          <c:spPr>
            <a:solidFill>
              <a:srgbClr val="8158A1"/>
            </a:solidFill>
            <a:ln>
              <a:solidFill>
                <a:srgbClr val="8158A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50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'2026'!$C$74:$J$74</c:f>
              <c:strCache>
                <c:ptCount val="8"/>
                <c:pt idx="0">
                  <c:v>ENE</c:v>
                </c:pt>
                <c:pt idx="1">
                  <c:v>FEB</c:v>
                </c:pt>
                <c:pt idx="2">
                  <c:v>MAR</c:v>
                </c:pt>
                <c:pt idx="3">
                  <c:v>ABR</c:v>
                </c:pt>
                <c:pt idx="4">
                  <c:v>MAY</c:v>
                </c:pt>
                <c:pt idx="5">
                  <c:v>JUN</c:v>
                </c:pt>
                <c:pt idx="6">
                  <c:v>JUL</c:v>
                </c:pt>
                <c:pt idx="7">
                  <c:v>AGO</c:v>
                </c:pt>
              </c:strCache>
              <c:extLst/>
            </c:strRef>
          </c:cat>
          <c:val>
            <c:numRef>
              <c:f>'2026'!$C$186:$J$186</c:f>
              <c:numCache>
                <c:formatCode>0.00</c:formatCode>
                <c:ptCount val="8"/>
                <c:pt idx="0">
                  <c:v>4.9054878048780486</c:v>
                </c:pt>
                <c:pt idx="1">
                  <c:v>4.7723577235772359</c:v>
                </c:pt>
                <c:pt idx="2">
                  <c:v>4.8619631901840492</c:v>
                </c:pt>
                <c:pt idx="3">
                  <c:v>4.8299319727891152</c:v>
                </c:pt>
                <c:pt idx="4">
                  <c:v>4.8214285714285712</c:v>
                </c:pt>
                <c:pt idx="5">
                  <c:v>4.9615384615384617</c:v>
                </c:pt>
                <c:pt idx="6">
                  <c:v>5</c:v>
                </c:pt>
                <c:pt idx="7">
                  <c:v>5</c:v>
                </c:pt>
              </c:numCache>
              <c:extLst/>
            </c:numRef>
          </c:val>
          <c:extLst>
            <c:ext xmlns:c16="http://schemas.microsoft.com/office/drawing/2014/chart" uri="{C3380CC4-5D6E-409C-BE32-E72D297353CC}">
              <c16:uniqueId val="{00000000-9C57-472D-B449-740E05D305F0}"/>
            </c:ext>
          </c:extLst>
        </c:ser>
        <c:dLbls>
          <c:showLegendKey val="0"/>
          <c:showVal val="0"/>
          <c:showCatName val="0"/>
          <c:showSerName val="0"/>
          <c:showPercent val="0"/>
          <c:showBubbleSize val="0"/>
        </c:dLbls>
        <c:gapWidth val="150"/>
        <c:axId val="269787551"/>
        <c:axId val="269786591"/>
      </c:barChart>
      <c:lineChart>
        <c:grouping val="standard"/>
        <c:varyColors val="0"/>
        <c:ser>
          <c:idx val="1"/>
          <c:order val="1"/>
          <c:tx>
            <c:strRef>
              <c:f>'2026'!$A$82</c:f>
              <c:strCache>
                <c:ptCount val="1"/>
                <c:pt idx="0">
                  <c:v>META</c:v>
                </c:pt>
              </c:strCache>
            </c:strRef>
          </c:tx>
          <c:spPr>
            <a:ln w="28575" cap="rnd">
              <a:solidFill>
                <a:srgbClr val="FF0000"/>
              </a:solidFill>
              <a:prstDash val="sysDot"/>
              <a:round/>
            </a:ln>
            <a:effectLst/>
          </c:spPr>
          <c:marker>
            <c:symbol val="none"/>
          </c:marker>
          <c:cat>
            <c:strRef>
              <c:f>'2026'!$C$74:$J$74</c:f>
              <c:strCache>
                <c:ptCount val="8"/>
                <c:pt idx="0">
                  <c:v>ENE</c:v>
                </c:pt>
                <c:pt idx="1">
                  <c:v>FEB</c:v>
                </c:pt>
                <c:pt idx="2">
                  <c:v>MAR</c:v>
                </c:pt>
                <c:pt idx="3">
                  <c:v>ABR</c:v>
                </c:pt>
                <c:pt idx="4">
                  <c:v>MAY</c:v>
                </c:pt>
                <c:pt idx="5">
                  <c:v>JUN</c:v>
                </c:pt>
                <c:pt idx="6">
                  <c:v>JUL</c:v>
                </c:pt>
                <c:pt idx="7">
                  <c:v>AGO</c:v>
                </c:pt>
              </c:strCache>
              <c:extLst/>
            </c:strRef>
          </c:cat>
          <c:val>
            <c:numRef>
              <c:f>'2026'!$C$82:$J$82</c:f>
              <c:numCache>
                <c:formatCode>0.0</c:formatCode>
                <c:ptCount val="8"/>
                <c:pt idx="0">
                  <c:v>4.8</c:v>
                </c:pt>
                <c:pt idx="1">
                  <c:v>4.8</c:v>
                </c:pt>
                <c:pt idx="2">
                  <c:v>4.8</c:v>
                </c:pt>
                <c:pt idx="3">
                  <c:v>4.8</c:v>
                </c:pt>
                <c:pt idx="4">
                  <c:v>4.8</c:v>
                </c:pt>
                <c:pt idx="5">
                  <c:v>4.8</c:v>
                </c:pt>
                <c:pt idx="6" formatCode="General">
                  <c:v>4.8</c:v>
                </c:pt>
                <c:pt idx="7" formatCode="General">
                  <c:v>4.8</c:v>
                </c:pt>
              </c:numCache>
              <c:extLst/>
            </c:numRef>
          </c:val>
          <c:smooth val="0"/>
          <c:extLst>
            <c:ext xmlns:c16="http://schemas.microsoft.com/office/drawing/2014/chart" uri="{C3380CC4-5D6E-409C-BE32-E72D297353CC}">
              <c16:uniqueId val="{00000001-9C57-472D-B449-740E05D305F0}"/>
            </c:ext>
          </c:extLst>
        </c:ser>
        <c:ser>
          <c:idx val="2"/>
          <c:order val="2"/>
          <c:tx>
            <c:strRef>
              <c:f>'2026'!$A$134</c:f>
              <c:strCache>
                <c:ptCount val="1"/>
                <c:pt idx="0">
                  <c:v>2025</c:v>
                </c:pt>
              </c:strCache>
            </c:strRef>
          </c:tx>
          <c:spPr>
            <a:ln w="28575" cap="rnd">
              <a:solidFill>
                <a:srgbClr val="47A9BF"/>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47A9BF"/>
                    </a:solidFill>
                    <a:latin typeface="+mn-lt"/>
                    <a:ea typeface="+mn-ea"/>
                    <a:cs typeface="+mn-cs"/>
                  </a:defRPr>
                </a:pPr>
                <a:endParaRPr lang="es-CO"/>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Lit>
              <c:ptCount val="8"/>
              <c:pt idx="0">
                <c:v>ENE</c:v>
              </c:pt>
              <c:pt idx="1">
                <c:v>FEB</c:v>
              </c:pt>
              <c:pt idx="2">
                <c:v>MAR</c:v>
              </c:pt>
              <c:pt idx="3">
                <c:v>ABR</c:v>
              </c:pt>
              <c:pt idx="4">
                <c:v>MAY</c:v>
              </c:pt>
              <c:pt idx="5">
                <c:v>JUN</c:v>
              </c:pt>
              <c:pt idx="6">
                <c:v>JUL</c:v>
              </c:pt>
              <c:pt idx="7">
                <c:v>AGO</c:v>
              </c:pt>
              <c:extLst>
                <c:ext xmlns:c15="http://schemas.microsoft.com/office/drawing/2012/chart" uri="{02D57815-91ED-43cb-92C2-25804820EDAC}">
                  <c15:autoCat val="1"/>
                </c:ext>
              </c:extLst>
            </c:strLit>
          </c:cat>
          <c:val>
            <c:numRef>
              <c:f>'2026'!$C$187:$J$187</c:f>
              <c:numCache>
                <c:formatCode>General</c:formatCode>
                <c:ptCount val="8"/>
              </c:numCache>
              <c:extLst/>
            </c:numRef>
          </c:val>
          <c:smooth val="0"/>
          <c:extLst>
            <c:ext xmlns:c16="http://schemas.microsoft.com/office/drawing/2014/chart" uri="{C3380CC4-5D6E-409C-BE32-E72D297353CC}">
              <c16:uniqueId val="{00000002-9C57-472D-B449-740E05D305F0}"/>
            </c:ext>
          </c:extLst>
        </c:ser>
        <c:dLbls>
          <c:showLegendKey val="0"/>
          <c:showVal val="0"/>
          <c:showCatName val="0"/>
          <c:showSerName val="0"/>
          <c:showPercent val="0"/>
          <c:showBubbleSize val="0"/>
        </c:dLbls>
        <c:marker val="1"/>
        <c:smooth val="0"/>
        <c:axId val="269787551"/>
        <c:axId val="269786591"/>
      </c:lineChart>
      <c:catAx>
        <c:axId val="2697875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s-CO"/>
          </a:p>
        </c:txPr>
        <c:crossAx val="269786591"/>
        <c:crosses val="autoZero"/>
        <c:auto val="1"/>
        <c:lblAlgn val="ctr"/>
        <c:lblOffset val="100"/>
        <c:noMultiLvlLbl val="0"/>
      </c:catAx>
      <c:valAx>
        <c:axId val="269786591"/>
        <c:scaling>
          <c:orientation val="minMax"/>
          <c:min val="4.5"/>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269787551"/>
        <c:crosses val="autoZero"/>
        <c:crossBetween val="between"/>
      </c:valAx>
      <c:spPr>
        <a:noFill/>
        <a:ln>
          <a:noFill/>
        </a:ln>
        <a:effectLst/>
      </c:spPr>
    </c:plotArea>
    <c:legend>
      <c:legendPos val="r"/>
      <c:legendEntry>
        <c:idx val="2"/>
        <c:delete val="1"/>
      </c:legendEntry>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1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7030A0"/>
                </a:solidFill>
                <a:latin typeface="+mn-lt"/>
                <a:ea typeface="+mn-ea"/>
                <a:cs typeface="+mn-cs"/>
              </a:defRPr>
            </a:pPr>
            <a:r>
              <a:rPr lang="es-CO"/>
              <a:t>FCR</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7030A0"/>
              </a:solidFill>
              <a:latin typeface="+mn-lt"/>
              <a:ea typeface="+mn-ea"/>
              <a:cs typeface="+mn-cs"/>
            </a:defRPr>
          </a:pPr>
          <a:endParaRPr lang="es-CO"/>
        </a:p>
      </c:txPr>
    </c:title>
    <c:autoTitleDeleted val="0"/>
    <c:plotArea>
      <c:layout/>
      <c:barChart>
        <c:barDir val="col"/>
        <c:grouping val="clustered"/>
        <c:varyColors val="0"/>
        <c:ser>
          <c:idx val="0"/>
          <c:order val="0"/>
          <c:tx>
            <c:strRef>
              <c:f>'2026'!$A$155</c:f>
              <c:strCache>
                <c:ptCount val="1"/>
                <c:pt idx="0">
                  <c:v>2026</c:v>
                </c:pt>
              </c:strCache>
            </c:strRef>
          </c:tx>
          <c:spPr>
            <a:solidFill>
              <a:srgbClr val="8158A1"/>
            </a:solidFill>
            <a:ln>
              <a:solidFill>
                <a:srgbClr val="8158A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50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'2026'!$C$98:$J$98</c:f>
              <c:strCache>
                <c:ptCount val="8"/>
                <c:pt idx="0">
                  <c:v>ENE</c:v>
                </c:pt>
                <c:pt idx="1">
                  <c:v>FEB</c:v>
                </c:pt>
                <c:pt idx="2">
                  <c:v>MAR</c:v>
                </c:pt>
                <c:pt idx="3">
                  <c:v>ABR</c:v>
                </c:pt>
                <c:pt idx="4">
                  <c:v>MAY</c:v>
                </c:pt>
                <c:pt idx="5">
                  <c:v>JUN</c:v>
                </c:pt>
                <c:pt idx="6">
                  <c:v>JUL</c:v>
                </c:pt>
                <c:pt idx="7">
                  <c:v>AGO</c:v>
                </c:pt>
              </c:strCache>
              <c:extLst/>
            </c:strRef>
          </c:cat>
          <c:val>
            <c:numRef>
              <c:f>'2026'!$C$208:$J$208</c:f>
              <c:numCache>
                <c:formatCode>0%</c:formatCode>
                <c:ptCount val="8"/>
                <c:pt idx="0">
                  <c:v>0.97865853658536583</c:v>
                </c:pt>
                <c:pt idx="1">
                  <c:v>0.94214876033057848</c:v>
                </c:pt>
                <c:pt idx="2">
                  <c:v>0.95370370370370372</c:v>
                </c:pt>
                <c:pt idx="3">
                  <c:v>0.96928327645051193</c:v>
                </c:pt>
                <c:pt idx="4">
                  <c:v>0.99642857142857144</c:v>
                </c:pt>
                <c:pt idx="5">
                  <c:v>0.99029126213592233</c:v>
                </c:pt>
                <c:pt idx="6">
                  <c:v>1</c:v>
                </c:pt>
                <c:pt idx="7">
                  <c:v>1</c:v>
                </c:pt>
              </c:numCache>
              <c:extLst/>
            </c:numRef>
          </c:val>
          <c:extLst>
            <c:ext xmlns:c16="http://schemas.microsoft.com/office/drawing/2014/chart" uri="{C3380CC4-5D6E-409C-BE32-E72D297353CC}">
              <c16:uniqueId val="{00000000-1BDE-46CA-A6C1-3A0190D17DB9}"/>
            </c:ext>
          </c:extLst>
        </c:ser>
        <c:dLbls>
          <c:showLegendKey val="0"/>
          <c:showVal val="0"/>
          <c:showCatName val="0"/>
          <c:showSerName val="0"/>
          <c:showPercent val="0"/>
          <c:showBubbleSize val="0"/>
        </c:dLbls>
        <c:gapWidth val="150"/>
        <c:axId val="1248717855"/>
        <c:axId val="1248715455"/>
      </c:barChart>
      <c:lineChart>
        <c:grouping val="standard"/>
        <c:varyColors val="0"/>
        <c:ser>
          <c:idx val="1"/>
          <c:order val="1"/>
          <c:tx>
            <c:strRef>
              <c:f>'2026'!$A$104</c:f>
              <c:strCache>
                <c:ptCount val="1"/>
                <c:pt idx="0">
                  <c:v>META</c:v>
                </c:pt>
              </c:strCache>
            </c:strRef>
          </c:tx>
          <c:spPr>
            <a:ln w="28575" cap="rnd">
              <a:solidFill>
                <a:srgbClr val="FF0000"/>
              </a:solidFill>
              <a:prstDash val="sysDot"/>
              <a:round/>
            </a:ln>
            <a:effectLst/>
          </c:spPr>
          <c:marker>
            <c:symbol val="none"/>
          </c:marker>
          <c:cat>
            <c:strRef>
              <c:f>'2026'!$C$98:$J$98</c:f>
              <c:strCache>
                <c:ptCount val="8"/>
                <c:pt idx="0">
                  <c:v>ENE</c:v>
                </c:pt>
                <c:pt idx="1">
                  <c:v>FEB</c:v>
                </c:pt>
                <c:pt idx="2">
                  <c:v>MAR</c:v>
                </c:pt>
                <c:pt idx="3">
                  <c:v>ABR</c:v>
                </c:pt>
                <c:pt idx="4">
                  <c:v>MAY</c:v>
                </c:pt>
                <c:pt idx="5">
                  <c:v>JUN</c:v>
                </c:pt>
                <c:pt idx="6">
                  <c:v>JUL</c:v>
                </c:pt>
                <c:pt idx="7">
                  <c:v>AGO</c:v>
                </c:pt>
              </c:strCache>
              <c:extLst/>
            </c:strRef>
          </c:cat>
          <c:val>
            <c:numRef>
              <c:f>'2026'!$C$104:$J$104</c:f>
              <c:numCache>
                <c:formatCode>0%</c:formatCode>
                <c:ptCount val="8"/>
                <c:pt idx="0">
                  <c:v>0.9</c:v>
                </c:pt>
                <c:pt idx="1">
                  <c:v>0.9</c:v>
                </c:pt>
                <c:pt idx="2">
                  <c:v>0.9</c:v>
                </c:pt>
                <c:pt idx="3">
                  <c:v>0.9</c:v>
                </c:pt>
                <c:pt idx="4">
                  <c:v>0.9</c:v>
                </c:pt>
                <c:pt idx="5">
                  <c:v>0.9</c:v>
                </c:pt>
                <c:pt idx="6">
                  <c:v>0.9</c:v>
                </c:pt>
                <c:pt idx="7">
                  <c:v>0.9</c:v>
                </c:pt>
              </c:numCache>
              <c:extLst/>
            </c:numRef>
          </c:val>
          <c:smooth val="0"/>
          <c:extLst>
            <c:ext xmlns:c16="http://schemas.microsoft.com/office/drawing/2014/chart" uri="{C3380CC4-5D6E-409C-BE32-E72D297353CC}">
              <c16:uniqueId val="{00000001-1BDE-46CA-A6C1-3A0190D17DB9}"/>
            </c:ext>
          </c:extLst>
        </c:ser>
        <c:ser>
          <c:idx val="2"/>
          <c:order val="2"/>
          <c:tx>
            <c:strRef>
              <c:f>'2026'!$A$156</c:f>
              <c:strCache>
                <c:ptCount val="1"/>
                <c:pt idx="0">
                  <c:v>2025</c:v>
                </c:pt>
              </c:strCache>
            </c:strRef>
          </c:tx>
          <c:spPr>
            <a:ln w="28575" cap="rnd">
              <a:solidFill>
                <a:srgbClr val="47A9BF"/>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47A9BF"/>
                    </a:solidFill>
                    <a:latin typeface="+mn-lt"/>
                    <a:ea typeface="+mn-ea"/>
                    <a:cs typeface="+mn-cs"/>
                  </a:defRPr>
                </a:pPr>
                <a:endParaRPr lang="es-CO"/>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Lit>
              <c:ptCount val="8"/>
              <c:pt idx="0">
                <c:v>ENE</c:v>
              </c:pt>
              <c:pt idx="1">
                <c:v>FEB</c:v>
              </c:pt>
              <c:pt idx="2">
                <c:v>MAR</c:v>
              </c:pt>
              <c:pt idx="3">
                <c:v>ABR</c:v>
              </c:pt>
              <c:pt idx="4">
                <c:v>MAY</c:v>
              </c:pt>
              <c:pt idx="5">
                <c:v>JUN</c:v>
              </c:pt>
              <c:pt idx="6">
                <c:v>JUL</c:v>
              </c:pt>
              <c:pt idx="7">
                <c:v>AGO</c:v>
              </c:pt>
              <c:extLst>
                <c:ext xmlns:c15="http://schemas.microsoft.com/office/drawing/2012/chart" uri="{02D57815-91ED-43cb-92C2-25804820EDAC}">
                  <c15:autoCat val="1"/>
                </c:ext>
              </c:extLst>
            </c:strLit>
          </c:cat>
          <c:val>
            <c:numRef>
              <c:f>'2026'!$C$209:$J$209</c:f>
              <c:numCache>
                <c:formatCode>General</c:formatCode>
                <c:ptCount val="8"/>
              </c:numCache>
              <c:extLst/>
            </c:numRef>
          </c:val>
          <c:smooth val="0"/>
          <c:extLst>
            <c:ext xmlns:c16="http://schemas.microsoft.com/office/drawing/2014/chart" uri="{C3380CC4-5D6E-409C-BE32-E72D297353CC}">
              <c16:uniqueId val="{00000002-1BDE-46CA-A6C1-3A0190D17DB9}"/>
            </c:ext>
          </c:extLst>
        </c:ser>
        <c:dLbls>
          <c:showLegendKey val="0"/>
          <c:showVal val="0"/>
          <c:showCatName val="0"/>
          <c:showSerName val="0"/>
          <c:showPercent val="0"/>
          <c:showBubbleSize val="0"/>
        </c:dLbls>
        <c:marker val="1"/>
        <c:smooth val="0"/>
        <c:axId val="1248717855"/>
        <c:axId val="1248715455"/>
      </c:lineChart>
      <c:catAx>
        <c:axId val="12487178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s-CO"/>
          </a:p>
        </c:txPr>
        <c:crossAx val="1248715455"/>
        <c:crosses val="autoZero"/>
        <c:auto val="1"/>
        <c:lblAlgn val="ctr"/>
        <c:lblOffset val="100"/>
        <c:noMultiLvlLbl val="0"/>
      </c:catAx>
      <c:valAx>
        <c:axId val="1248715455"/>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248717855"/>
        <c:crosses val="autoZero"/>
        <c:crossBetween val="between"/>
      </c:valAx>
      <c:spPr>
        <a:noFill/>
        <a:ln>
          <a:noFill/>
        </a:ln>
        <a:effectLst/>
      </c:spPr>
    </c:plotArea>
    <c:legend>
      <c:legendPos val="r"/>
      <c:legendEntry>
        <c:idx val="2"/>
        <c:delete val="1"/>
      </c:legendEntry>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1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8158A1"/>
                </a:solidFill>
                <a:latin typeface="+mn-lt"/>
                <a:ea typeface="+mn-ea"/>
                <a:cs typeface="+mn-cs"/>
              </a:defRPr>
            </a:pPr>
            <a:r>
              <a:rPr lang="es-CO" b="1">
                <a:solidFill>
                  <a:srgbClr val="8158A1"/>
                </a:solidFill>
              </a:rPr>
              <a:t>NPS</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8158A1"/>
              </a:solidFill>
              <a:latin typeface="+mn-lt"/>
              <a:ea typeface="+mn-ea"/>
              <a:cs typeface="+mn-cs"/>
            </a:defRPr>
          </a:pPr>
          <a:endParaRPr lang="es-CO"/>
        </a:p>
      </c:txPr>
    </c:title>
    <c:autoTitleDeleted val="0"/>
    <c:plotArea>
      <c:layout/>
      <c:barChart>
        <c:barDir val="col"/>
        <c:grouping val="clustered"/>
        <c:varyColors val="0"/>
        <c:ser>
          <c:idx val="0"/>
          <c:order val="0"/>
          <c:tx>
            <c:strRef>
              <c:f>'2026'!$A$15</c:f>
              <c:strCache>
                <c:ptCount val="1"/>
                <c:pt idx="0">
                  <c:v>2026</c:v>
                </c:pt>
              </c:strCache>
            </c:strRef>
          </c:tx>
          <c:spPr>
            <a:solidFill>
              <a:srgbClr val="8158A1"/>
            </a:solidFill>
            <a:ln>
              <a:solidFill>
                <a:srgbClr val="8158A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ysClr val="windowText" lastClr="000000"/>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'2026'!$C$3:$J$3</c:f>
              <c:strCache>
                <c:ptCount val="8"/>
                <c:pt idx="0">
                  <c:v>ENE</c:v>
                </c:pt>
                <c:pt idx="1">
                  <c:v>FEB</c:v>
                </c:pt>
                <c:pt idx="2">
                  <c:v>MAR</c:v>
                </c:pt>
                <c:pt idx="3">
                  <c:v>ABR</c:v>
                </c:pt>
                <c:pt idx="4">
                  <c:v>MAY</c:v>
                </c:pt>
                <c:pt idx="5">
                  <c:v>JUN</c:v>
                </c:pt>
                <c:pt idx="6">
                  <c:v>JUL</c:v>
                </c:pt>
                <c:pt idx="7">
                  <c:v>AGO</c:v>
                </c:pt>
              </c:strCache>
              <c:extLst/>
            </c:strRef>
          </c:cat>
          <c:val>
            <c:numRef>
              <c:f>'2026'!$C$174:$J$174</c:f>
              <c:numCache>
                <c:formatCode>0.0</c:formatCode>
                <c:ptCount val="8"/>
                <c:pt idx="0">
                  <c:v>96.341463414634148</c:v>
                </c:pt>
                <c:pt idx="1">
                  <c:v>90.243902439024382</c:v>
                </c:pt>
                <c:pt idx="2">
                  <c:v>90.740740740740748</c:v>
                </c:pt>
                <c:pt idx="3">
                  <c:v>90.721649484536087</c:v>
                </c:pt>
                <c:pt idx="4">
                  <c:v>92.142857142857139</c:v>
                </c:pt>
                <c:pt idx="5">
                  <c:v>98.076923076923066</c:v>
                </c:pt>
                <c:pt idx="6" formatCode="0.00">
                  <c:v>100</c:v>
                </c:pt>
                <c:pt idx="7" formatCode="0.00">
                  <c:v>100</c:v>
                </c:pt>
              </c:numCache>
              <c:extLst/>
            </c:numRef>
          </c:val>
          <c:extLst>
            <c:ext xmlns:c16="http://schemas.microsoft.com/office/drawing/2014/chart" uri="{C3380CC4-5D6E-409C-BE32-E72D297353CC}">
              <c16:uniqueId val="{00000000-84AD-42AE-9798-288D1AAEAFC7}"/>
            </c:ext>
          </c:extLst>
        </c:ser>
        <c:dLbls>
          <c:showLegendKey val="0"/>
          <c:showVal val="0"/>
          <c:showCatName val="0"/>
          <c:showSerName val="0"/>
          <c:showPercent val="0"/>
          <c:showBubbleSize val="0"/>
        </c:dLbls>
        <c:gapWidth val="150"/>
        <c:axId val="869602463"/>
        <c:axId val="869604863"/>
      </c:barChart>
      <c:lineChart>
        <c:grouping val="standard"/>
        <c:varyColors val="0"/>
        <c:ser>
          <c:idx val="1"/>
          <c:order val="1"/>
          <c:tx>
            <c:strRef>
              <c:f>'2026'!$A$17</c:f>
              <c:strCache>
                <c:ptCount val="1"/>
                <c:pt idx="0">
                  <c:v>META</c:v>
                </c:pt>
              </c:strCache>
            </c:strRef>
          </c:tx>
          <c:spPr>
            <a:ln w="28575" cap="rnd">
              <a:solidFill>
                <a:srgbClr val="FF0000"/>
              </a:solidFill>
              <a:prstDash val="sysDot"/>
              <a:round/>
            </a:ln>
            <a:effectLst/>
          </c:spPr>
          <c:marker>
            <c:symbol val="none"/>
          </c:marker>
          <c:dLbls>
            <c:delete val="1"/>
          </c:dLbls>
          <c:cat>
            <c:strRef>
              <c:f>'2026'!$C$3:$J$3</c:f>
              <c:strCache>
                <c:ptCount val="8"/>
                <c:pt idx="0">
                  <c:v>ENE</c:v>
                </c:pt>
                <c:pt idx="1">
                  <c:v>FEB</c:v>
                </c:pt>
                <c:pt idx="2">
                  <c:v>MAR</c:v>
                </c:pt>
                <c:pt idx="3">
                  <c:v>ABR</c:v>
                </c:pt>
                <c:pt idx="4">
                  <c:v>MAY</c:v>
                </c:pt>
                <c:pt idx="5">
                  <c:v>JUN</c:v>
                </c:pt>
                <c:pt idx="6">
                  <c:v>JUL</c:v>
                </c:pt>
                <c:pt idx="7">
                  <c:v>AGO</c:v>
                </c:pt>
              </c:strCache>
              <c:extLst/>
            </c:strRef>
          </c:cat>
          <c:val>
            <c:numRef>
              <c:f>'2026'!$C$176:$J$176</c:f>
              <c:numCache>
                <c:formatCode>General</c:formatCode>
                <c:ptCount val="8"/>
                <c:pt idx="0">
                  <c:v>75</c:v>
                </c:pt>
                <c:pt idx="1">
                  <c:v>75</c:v>
                </c:pt>
                <c:pt idx="2">
                  <c:v>75</c:v>
                </c:pt>
                <c:pt idx="3">
                  <c:v>75</c:v>
                </c:pt>
                <c:pt idx="4">
                  <c:v>75</c:v>
                </c:pt>
                <c:pt idx="5">
                  <c:v>75</c:v>
                </c:pt>
                <c:pt idx="6">
                  <c:v>75</c:v>
                </c:pt>
                <c:pt idx="7">
                  <c:v>75</c:v>
                </c:pt>
              </c:numCache>
              <c:extLst/>
            </c:numRef>
          </c:val>
          <c:smooth val="0"/>
          <c:extLst>
            <c:ext xmlns:c16="http://schemas.microsoft.com/office/drawing/2014/chart" uri="{C3380CC4-5D6E-409C-BE32-E72D297353CC}">
              <c16:uniqueId val="{00000001-84AD-42AE-9798-288D1AAEAFC7}"/>
            </c:ext>
          </c:extLst>
        </c:ser>
        <c:ser>
          <c:idx val="2"/>
          <c:order val="2"/>
          <c:tx>
            <c:strRef>
              <c:f>'2026'!$A$122</c:f>
              <c:strCache>
                <c:ptCount val="1"/>
                <c:pt idx="0">
                  <c:v>2025</c:v>
                </c:pt>
              </c:strCache>
            </c:strRef>
          </c:tx>
          <c:spPr>
            <a:ln w="28575" cap="rnd">
              <a:solidFill>
                <a:srgbClr val="47A9BF"/>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47A9BF"/>
                    </a:solidFill>
                    <a:latin typeface="+mn-lt"/>
                    <a:ea typeface="+mn-ea"/>
                    <a:cs typeface="+mn-cs"/>
                  </a:defRPr>
                </a:pPr>
                <a:endParaRPr lang="es-CO"/>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Lit>
              <c:ptCount val="8"/>
              <c:pt idx="0">
                <c:v>ENE</c:v>
              </c:pt>
              <c:pt idx="1">
                <c:v>FEB</c:v>
              </c:pt>
              <c:pt idx="2">
                <c:v>MAR</c:v>
              </c:pt>
              <c:pt idx="3">
                <c:v>ABR</c:v>
              </c:pt>
              <c:pt idx="4">
                <c:v>MAY</c:v>
              </c:pt>
              <c:pt idx="5">
                <c:v>JUN</c:v>
              </c:pt>
              <c:pt idx="6">
                <c:v>JUL</c:v>
              </c:pt>
              <c:pt idx="7">
                <c:v>AGO</c:v>
              </c:pt>
              <c:extLst>
                <c:ext xmlns:c15="http://schemas.microsoft.com/office/drawing/2012/chart" uri="{02D57815-91ED-43cb-92C2-25804820EDAC}">
                  <c15:autoCat val="1"/>
                </c:ext>
              </c:extLst>
            </c:strLit>
          </c:cat>
          <c:val>
            <c:numRef>
              <c:f>'2026'!$C$175:$J$175</c:f>
              <c:numCache>
                <c:formatCode>General</c:formatCode>
                <c:ptCount val="8"/>
              </c:numCache>
              <c:extLst/>
            </c:numRef>
          </c:val>
          <c:smooth val="0"/>
          <c:extLst>
            <c:ext xmlns:c16="http://schemas.microsoft.com/office/drawing/2014/chart" uri="{C3380CC4-5D6E-409C-BE32-E72D297353CC}">
              <c16:uniqueId val="{00000002-84AD-42AE-9798-288D1AAEAFC7}"/>
            </c:ext>
          </c:extLst>
        </c:ser>
        <c:dLbls>
          <c:dLblPos val="t"/>
          <c:showLegendKey val="0"/>
          <c:showVal val="1"/>
          <c:showCatName val="0"/>
          <c:showSerName val="0"/>
          <c:showPercent val="0"/>
          <c:showBubbleSize val="0"/>
        </c:dLbls>
        <c:marker val="1"/>
        <c:smooth val="0"/>
        <c:axId val="869602463"/>
        <c:axId val="869604863"/>
      </c:lineChart>
      <c:catAx>
        <c:axId val="8696024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s-CO"/>
          </a:p>
        </c:txPr>
        <c:crossAx val="869604863"/>
        <c:crosses val="autoZero"/>
        <c:auto val="1"/>
        <c:lblAlgn val="ctr"/>
        <c:lblOffset val="100"/>
        <c:noMultiLvlLbl val="0"/>
      </c:catAx>
      <c:valAx>
        <c:axId val="869604863"/>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s-CO"/>
          </a:p>
        </c:txPr>
        <c:crossAx val="869602463"/>
        <c:crosses val="autoZero"/>
        <c:crossBetween val="between"/>
      </c:valAx>
      <c:spPr>
        <a:noFill/>
        <a:ln>
          <a:noFill/>
        </a:ln>
        <a:effectLst/>
      </c:spPr>
    </c:plotArea>
    <c:legend>
      <c:legendPos val="r"/>
      <c:legendEntry>
        <c:idx val="2"/>
        <c:delete val="1"/>
      </c:legendEntry>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1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'Por Cliente'!$A$27</c:f>
              <c:strCache>
                <c:ptCount val="1"/>
                <c:pt idx="0">
                  <c:v>Petición</c:v>
                </c:pt>
              </c:strCache>
            </c:strRef>
          </c:tx>
          <c:spPr>
            <a:solidFill>
              <a:srgbClr val="FF6699"/>
            </a:solidFill>
            <a:ln>
              <a:noFill/>
            </a:ln>
            <a:effectLst/>
          </c:spPr>
          <c:invertIfNegative val="0"/>
          <c:cat>
            <c:strRef>
              <c:f>'Por Cliente'!$B$3:$I$3</c:f>
              <c:strCache>
                <c:ptCount val="8"/>
                <c:pt idx="0">
                  <c:v>ENE</c:v>
                </c:pt>
                <c:pt idx="1">
                  <c:v>FEB</c:v>
                </c:pt>
                <c:pt idx="2">
                  <c:v>MAR</c:v>
                </c:pt>
                <c:pt idx="3">
                  <c:v>ABR</c:v>
                </c:pt>
                <c:pt idx="4">
                  <c:v>MAY</c:v>
                </c:pt>
                <c:pt idx="5">
                  <c:v>JUN</c:v>
                </c:pt>
                <c:pt idx="6">
                  <c:v>JUL</c:v>
                </c:pt>
                <c:pt idx="7">
                  <c:v>AGO</c:v>
                </c:pt>
              </c:strCache>
            </c:strRef>
          </c:cat>
          <c:val>
            <c:numRef>
              <c:f>'Por Cliente'!$B$27:$I$27</c:f>
              <c:numCache>
                <c:formatCode>General</c:formatCode>
                <c:ptCount val="8"/>
                <c:pt idx="0">
                  <c:v>7</c:v>
                </c:pt>
                <c:pt idx="1">
                  <c:v>11</c:v>
                </c:pt>
                <c:pt idx="2">
                  <c:v>7</c:v>
                </c:pt>
                <c:pt idx="3">
                  <c:v>11</c:v>
                </c:pt>
                <c:pt idx="4">
                  <c:v>5</c:v>
                </c:pt>
                <c:pt idx="5">
                  <c:v>5</c:v>
                </c:pt>
                <c:pt idx="6">
                  <c:v>13</c:v>
                </c:pt>
                <c:pt idx="7">
                  <c:v>7</c:v>
                </c:pt>
              </c:numCache>
            </c:numRef>
          </c:val>
          <c:extLst>
            <c:ext xmlns:c16="http://schemas.microsoft.com/office/drawing/2014/chart" uri="{C3380CC4-5D6E-409C-BE32-E72D297353CC}">
              <c16:uniqueId val="{00000000-6470-48E6-B329-FB9C31FF3DA5}"/>
            </c:ext>
          </c:extLst>
        </c:ser>
        <c:ser>
          <c:idx val="1"/>
          <c:order val="1"/>
          <c:tx>
            <c:strRef>
              <c:f>'Por Cliente'!$A$28</c:f>
              <c:strCache>
                <c:ptCount val="1"/>
                <c:pt idx="0">
                  <c:v>Queja</c:v>
                </c:pt>
              </c:strCache>
            </c:strRef>
          </c:tx>
          <c:spPr>
            <a:solidFill>
              <a:srgbClr val="47A9BF"/>
            </a:solidFill>
            <a:ln>
              <a:noFill/>
            </a:ln>
            <a:effectLst/>
          </c:spPr>
          <c:invertIfNegative val="0"/>
          <c:cat>
            <c:strRef>
              <c:f>'Por Cliente'!$B$3:$I$3</c:f>
              <c:strCache>
                <c:ptCount val="8"/>
                <c:pt idx="0">
                  <c:v>ENE</c:v>
                </c:pt>
                <c:pt idx="1">
                  <c:v>FEB</c:v>
                </c:pt>
                <c:pt idx="2">
                  <c:v>MAR</c:v>
                </c:pt>
                <c:pt idx="3">
                  <c:v>ABR</c:v>
                </c:pt>
                <c:pt idx="4">
                  <c:v>MAY</c:v>
                </c:pt>
                <c:pt idx="5">
                  <c:v>JUN</c:v>
                </c:pt>
                <c:pt idx="6">
                  <c:v>JUL</c:v>
                </c:pt>
                <c:pt idx="7">
                  <c:v>AGO</c:v>
                </c:pt>
              </c:strCache>
            </c:strRef>
          </c:cat>
          <c:val>
            <c:numRef>
              <c:f>'Por Cliente'!$B$28:$I$28</c:f>
              <c:numCache>
                <c:formatCode>General</c:formatCode>
                <c:ptCount val="8"/>
                <c:pt idx="0">
                  <c:v>0</c:v>
                </c:pt>
                <c:pt idx="1">
                  <c:v>0</c:v>
                </c:pt>
                <c:pt idx="2">
                  <c:v>1</c:v>
                </c:pt>
                <c:pt idx="3">
                  <c:v>0</c:v>
                </c:pt>
                <c:pt idx="4">
                  <c:v>0</c:v>
                </c:pt>
                <c:pt idx="5">
                  <c:v>1</c:v>
                </c:pt>
                <c:pt idx="6">
                  <c:v>0</c:v>
                </c:pt>
                <c:pt idx="7">
                  <c:v>0</c:v>
                </c:pt>
              </c:numCache>
            </c:numRef>
          </c:val>
          <c:extLst>
            <c:ext xmlns:c16="http://schemas.microsoft.com/office/drawing/2014/chart" uri="{C3380CC4-5D6E-409C-BE32-E72D297353CC}">
              <c16:uniqueId val="{00000001-6470-48E6-B329-FB9C31FF3DA5}"/>
            </c:ext>
          </c:extLst>
        </c:ser>
        <c:ser>
          <c:idx val="2"/>
          <c:order val="2"/>
          <c:tx>
            <c:strRef>
              <c:f>'Por Cliente'!$A$29</c:f>
              <c:strCache>
                <c:ptCount val="1"/>
                <c:pt idx="0">
                  <c:v>Reclamo</c:v>
                </c:pt>
              </c:strCache>
            </c:strRef>
          </c:tx>
          <c:spPr>
            <a:solidFill>
              <a:srgbClr val="002060"/>
            </a:solidFill>
            <a:ln>
              <a:noFill/>
            </a:ln>
            <a:effectLst/>
          </c:spPr>
          <c:invertIfNegative val="0"/>
          <c:cat>
            <c:strRef>
              <c:f>'Por Cliente'!$B$3:$I$3</c:f>
              <c:strCache>
                <c:ptCount val="8"/>
                <c:pt idx="0">
                  <c:v>ENE</c:v>
                </c:pt>
                <c:pt idx="1">
                  <c:v>FEB</c:v>
                </c:pt>
                <c:pt idx="2">
                  <c:v>MAR</c:v>
                </c:pt>
                <c:pt idx="3">
                  <c:v>ABR</c:v>
                </c:pt>
                <c:pt idx="4">
                  <c:v>MAY</c:v>
                </c:pt>
                <c:pt idx="5">
                  <c:v>JUN</c:v>
                </c:pt>
                <c:pt idx="6">
                  <c:v>JUL</c:v>
                </c:pt>
                <c:pt idx="7">
                  <c:v>AGO</c:v>
                </c:pt>
              </c:strCache>
            </c:strRef>
          </c:cat>
          <c:val>
            <c:numRef>
              <c:f>'Por Cliente'!$B$29:$I$29</c:f>
              <c:numCache>
                <c:formatCode>General</c:formatCode>
                <c:ptCount val="8"/>
                <c:pt idx="0">
                  <c:v>3</c:v>
                </c:pt>
                <c:pt idx="1">
                  <c:v>10</c:v>
                </c:pt>
                <c:pt idx="2">
                  <c:v>5</c:v>
                </c:pt>
                <c:pt idx="3">
                  <c:v>8</c:v>
                </c:pt>
                <c:pt idx="4">
                  <c:v>29</c:v>
                </c:pt>
                <c:pt idx="5">
                  <c:v>13</c:v>
                </c:pt>
                <c:pt idx="6">
                  <c:v>7</c:v>
                </c:pt>
                <c:pt idx="7">
                  <c:v>3</c:v>
                </c:pt>
              </c:numCache>
            </c:numRef>
          </c:val>
          <c:extLst>
            <c:ext xmlns:c16="http://schemas.microsoft.com/office/drawing/2014/chart" uri="{C3380CC4-5D6E-409C-BE32-E72D297353CC}">
              <c16:uniqueId val="{00000002-6470-48E6-B329-FB9C31FF3DA5}"/>
            </c:ext>
          </c:extLst>
        </c:ser>
        <c:ser>
          <c:idx val="3"/>
          <c:order val="3"/>
          <c:tx>
            <c:strRef>
              <c:f>'Por Cliente'!$A$30</c:f>
              <c:strCache>
                <c:ptCount val="1"/>
                <c:pt idx="0">
                  <c:v>Sugerencia</c:v>
                </c:pt>
              </c:strCache>
            </c:strRef>
          </c:tx>
          <c:spPr>
            <a:solidFill>
              <a:srgbClr val="FFC000"/>
            </a:solidFill>
            <a:ln>
              <a:noFill/>
            </a:ln>
            <a:effectLst/>
          </c:spPr>
          <c:invertIfNegative val="0"/>
          <c:cat>
            <c:strRef>
              <c:f>'Por Cliente'!$B$3:$I$3</c:f>
              <c:strCache>
                <c:ptCount val="8"/>
                <c:pt idx="0">
                  <c:v>ENE</c:v>
                </c:pt>
                <c:pt idx="1">
                  <c:v>FEB</c:v>
                </c:pt>
                <c:pt idx="2">
                  <c:v>MAR</c:v>
                </c:pt>
                <c:pt idx="3">
                  <c:v>ABR</c:v>
                </c:pt>
                <c:pt idx="4">
                  <c:v>MAY</c:v>
                </c:pt>
                <c:pt idx="5">
                  <c:v>JUN</c:v>
                </c:pt>
                <c:pt idx="6">
                  <c:v>JUL</c:v>
                </c:pt>
                <c:pt idx="7">
                  <c:v>AGO</c:v>
                </c:pt>
              </c:strCache>
            </c:strRef>
          </c:cat>
          <c:val>
            <c:numRef>
              <c:f>'Por Cliente'!$B$30:$I$30</c:f>
              <c:numCache>
                <c:formatCode>General</c:formatCode>
                <c:ptCount val="8"/>
                <c:pt idx="0">
                  <c:v>1</c:v>
                </c:pt>
                <c:pt idx="1">
                  <c:v>0</c:v>
                </c:pt>
                <c:pt idx="2">
                  <c:v>0</c:v>
                </c:pt>
                <c:pt idx="3">
                  <c:v>0</c:v>
                </c:pt>
                <c:pt idx="4">
                  <c:v>0</c:v>
                </c:pt>
                <c:pt idx="5">
                  <c:v>1</c:v>
                </c:pt>
                <c:pt idx="6">
                  <c:v>0</c:v>
                </c:pt>
                <c:pt idx="7">
                  <c:v>0</c:v>
                </c:pt>
              </c:numCache>
            </c:numRef>
          </c:val>
          <c:extLst>
            <c:ext xmlns:c16="http://schemas.microsoft.com/office/drawing/2014/chart" uri="{C3380CC4-5D6E-409C-BE32-E72D297353CC}">
              <c16:uniqueId val="{00000003-6470-48E6-B329-FB9C31FF3DA5}"/>
            </c:ext>
          </c:extLst>
        </c:ser>
        <c:ser>
          <c:idx val="4"/>
          <c:order val="4"/>
          <c:tx>
            <c:strRef>
              <c:f>'Por Cliente'!$A$31</c:f>
              <c:strCache>
                <c:ptCount val="1"/>
                <c:pt idx="0">
                  <c:v>Felicitación</c:v>
                </c:pt>
              </c:strCache>
            </c:strRef>
          </c:tx>
          <c:spPr>
            <a:solidFill>
              <a:srgbClr val="8158A1"/>
            </a:solidFill>
            <a:ln>
              <a:noFill/>
            </a:ln>
            <a:effectLst/>
          </c:spPr>
          <c:invertIfNegative val="0"/>
          <c:cat>
            <c:strRef>
              <c:f>'Por Cliente'!$B$3:$I$3</c:f>
              <c:strCache>
                <c:ptCount val="8"/>
                <c:pt idx="0">
                  <c:v>ENE</c:v>
                </c:pt>
                <c:pt idx="1">
                  <c:v>FEB</c:v>
                </c:pt>
                <c:pt idx="2">
                  <c:v>MAR</c:v>
                </c:pt>
                <c:pt idx="3">
                  <c:v>ABR</c:v>
                </c:pt>
                <c:pt idx="4">
                  <c:v>MAY</c:v>
                </c:pt>
                <c:pt idx="5">
                  <c:v>JUN</c:v>
                </c:pt>
                <c:pt idx="6">
                  <c:v>JUL</c:v>
                </c:pt>
                <c:pt idx="7">
                  <c:v>AGO</c:v>
                </c:pt>
              </c:strCache>
            </c:strRef>
          </c:cat>
          <c:val>
            <c:numRef>
              <c:f>'Por Cliente'!$B$31:$I$31</c:f>
              <c:numCache>
                <c:formatCode>General</c:formatCode>
                <c:ptCount val="8"/>
                <c:pt idx="0">
                  <c:v>5</c:v>
                </c:pt>
                <c:pt idx="1">
                  <c:v>3</c:v>
                </c:pt>
                <c:pt idx="2">
                  <c:v>2</c:v>
                </c:pt>
                <c:pt idx="3">
                  <c:v>7</c:v>
                </c:pt>
                <c:pt idx="4">
                  <c:v>1</c:v>
                </c:pt>
                <c:pt idx="5">
                  <c:v>0</c:v>
                </c:pt>
                <c:pt idx="6">
                  <c:v>5</c:v>
                </c:pt>
                <c:pt idx="7">
                  <c:v>1</c:v>
                </c:pt>
              </c:numCache>
            </c:numRef>
          </c:val>
          <c:extLst>
            <c:ext xmlns:c16="http://schemas.microsoft.com/office/drawing/2014/chart" uri="{C3380CC4-5D6E-409C-BE32-E72D297353CC}">
              <c16:uniqueId val="{00000004-6470-48E6-B329-FB9C31FF3DA5}"/>
            </c:ext>
          </c:extLst>
        </c:ser>
        <c:dLbls>
          <c:showLegendKey val="0"/>
          <c:showVal val="0"/>
          <c:showCatName val="0"/>
          <c:showSerName val="0"/>
          <c:showPercent val="0"/>
          <c:showBubbleSize val="0"/>
        </c:dLbls>
        <c:gapWidth val="150"/>
        <c:overlap val="100"/>
        <c:axId val="1421382431"/>
        <c:axId val="1421384351"/>
      </c:barChart>
      <c:catAx>
        <c:axId val="142138243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421384351"/>
        <c:crosses val="autoZero"/>
        <c:auto val="1"/>
        <c:lblAlgn val="ctr"/>
        <c:lblOffset val="100"/>
        <c:noMultiLvlLbl val="0"/>
      </c:catAx>
      <c:valAx>
        <c:axId val="1421384351"/>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421382431"/>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050" b="0" i="0" u="none" strike="noStrike" kern="1200" baseline="0">
                <a:solidFill>
                  <a:schemeClr val="tx1">
                    <a:lumMod val="50000"/>
                  </a:schemeClr>
                </a:solidFill>
                <a:latin typeface="+mn-lt"/>
                <a:ea typeface="+mn-ea"/>
                <a:cs typeface="+mn-cs"/>
              </a:defRPr>
            </a:pPr>
            <a:endParaRPr lang="es-CO"/>
          </a:p>
        </c:txPr>
      </c:dTable>
      <c:spPr>
        <a:noFill/>
        <a:ln>
          <a:noFill/>
        </a:ln>
        <a:effectLst/>
      </c:spPr>
    </c:plotArea>
    <c:legend>
      <c:legendPos val="b"/>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50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1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s-CO" b="1" baseline="0"/>
              <a:t>Tutelas- Incidentes Emssanar 2026</a:t>
            </a:r>
            <a:endParaRPr lang="es-CO" b="1"/>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DatosTutela!$A$38:$A$46</c:f>
              <c:strCache>
                <c:ptCount val="9"/>
                <c:pt idx="0">
                  <c:v>ENERO</c:v>
                </c:pt>
                <c:pt idx="1">
                  <c:v>FEBRERO</c:v>
                </c:pt>
                <c:pt idx="2">
                  <c:v>MARZO</c:v>
                </c:pt>
                <c:pt idx="3">
                  <c:v>ABRIL </c:v>
                </c:pt>
                <c:pt idx="4">
                  <c:v>MAYO</c:v>
                </c:pt>
                <c:pt idx="5">
                  <c:v>JUNIO</c:v>
                </c:pt>
                <c:pt idx="6">
                  <c:v>JULIO</c:v>
                </c:pt>
                <c:pt idx="7">
                  <c:v>AGOSTO</c:v>
                </c:pt>
                <c:pt idx="8">
                  <c:v>SEPTIEMBRE</c:v>
                </c:pt>
              </c:strCache>
            </c:strRef>
          </c:cat>
          <c:val>
            <c:numRef>
              <c:f>DatosTutela!$B$38:$B$46</c:f>
              <c:numCache>
                <c:formatCode>General</c:formatCode>
                <c:ptCount val="9"/>
                <c:pt idx="0">
                  <c:v>9</c:v>
                </c:pt>
                <c:pt idx="1">
                  <c:v>12</c:v>
                </c:pt>
                <c:pt idx="2">
                  <c:v>13</c:v>
                </c:pt>
                <c:pt idx="3">
                  <c:v>17</c:v>
                </c:pt>
                <c:pt idx="4">
                  <c:v>17</c:v>
                </c:pt>
                <c:pt idx="5">
                  <c:v>38</c:v>
                </c:pt>
                <c:pt idx="6">
                  <c:v>39</c:v>
                </c:pt>
                <c:pt idx="7">
                  <c:v>21</c:v>
                </c:pt>
                <c:pt idx="8">
                  <c:v>26</c:v>
                </c:pt>
              </c:numCache>
            </c:numRef>
          </c:val>
          <c:extLst>
            <c:ext xmlns:c16="http://schemas.microsoft.com/office/drawing/2014/chart" uri="{C3380CC4-5D6E-409C-BE32-E72D297353CC}">
              <c16:uniqueId val="{00000000-67A4-4412-89C9-597E904BBB44}"/>
            </c:ext>
          </c:extLst>
        </c:ser>
        <c:dLbls>
          <c:showLegendKey val="0"/>
          <c:showVal val="1"/>
          <c:showCatName val="0"/>
          <c:showSerName val="0"/>
          <c:showPercent val="0"/>
          <c:showBubbleSize val="0"/>
        </c:dLbls>
        <c:gapWidth val="219"/>
        <c:overlap val="-27"/>
        <c:axId val="351943471"/>
        <c:axId val="1956188528"/>
      </c:barChart>
      <c:lineChart>
        <c:grouping val="standard"/>
        <c:varyColors val="0"/>
        <c:ser>
          <c:idx val="1"/>
          <c:order val="1"/>
          <c:spPr>
            <a:ln w="28575" cap="rnd">
              <a:solidFill>
                <a:srgbClr val="47A9A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DatosTutela!$A$38:$A$46</c:f>
              <c:strCache>
                <c:ptCount val="9"/>
                <c:pt idx="0">
                  <c:v>ENERO</c:v>
                </c:pt>
                <c:pt idx="1">
                  <c:v>FEBRERO</c:v>
                </c:pt>
                <c:pt idx="2">
                  <c:v>MARZO</c:v>
                </c:pt>
                <c:pt idx="3">
                  <c:v>ABRIL </c:v>
                </c:pt>
                <c:pt idx="4">
                  <c:v>MAYO</c:v>
                </c:pt>
                <c:pt idx="5">
                  <c:v>JUNIO</c:v>
                </c:pt>
                <c:pt idx="6">
                  <c:v>JULIO</c:v>
                </c:pt>
                <c:pt idx="7">
                  <c:v>AGOSTO</c:v>
                </c:pt>
                <c:pt idx="8">
                  <c:v>SEPTIEMBRE</c:v>
                </c:pt>
              </c:strCache>
            </c:strRef>
          </c:cat>
          <c:val>
            <c:numRef>
              <c:f>DatosTutela!$C$38:$C$46</c:f>
              <c:numCache>
                <c:formatCode>0%</c:formatCode>
                <c:ptCount val="9"/>
                <c:pt idx="0">
                  <c:v>4.6875E-2</c:v>
                </c:pt>
                <c:pt idx="1">
                  <c:v>6.25E-2</c:v>
                </c:pt>
                <c:pt idx="2">
                  <c:v>6.7708333333333329E-2</c:v>
                </c:pt>
                <c:pt idx="3">
                  <c:v>8.8541666666666671E-2</c:v>
                </c:pt>
                <c:pt idx="4">
                  <c:v>8.8541666666666671E-2</c:v>
                </c:pt>
                <c:pt idx="5">
                  <c:v>0.19791666666666666</c:v>
                </c:pt>
                <c:pt idx="6">
                  <c:v>0.203125</c:v>
                </c:pt>
                <c:pt idx="7">
                  <c:v>0.109375</c:v>
                </c:pt>
                <c:pt idx="8">
                  <c:v>0.13541666666666666</c:v>
                </c:pt>
              </c:numCache>
            </c:numRef>
          </c:val>
          <c:smooth val="0"/>
          <c:extLst>
            <c:ext xmlns:c16="http://schemas.microsoft.com/office/drawing/2014/chart" uri="{C3380CC4-5D6E-409C-BE32-E72D297353CC}">
              <c16:uniqueId val="{00000001-67A4-4412-89C9-597E904BBB44}"/>
            </c:ext>
          </c:extLst>
        </c:ser>
        <c:dLbls>
          <c:showLegendKey val="0"/>
          <c:showVal val="1"/>
          <c:showCatName val="0"/>
          <c:showSerName val="0"/>
          <c:showPercent val="0"/>
          <c:showBubbleSize val="0"/>
        </c:dLbls>
        <c:marker val="1"/>
        <c:smooth val="0"/>
        <c:axId val="346799199"/>
        <c:axId val="1956209168"/>
      </c:lineChart>
      <c:catAx>
        <c:axId val="35194347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956188528"/>
        <c:crosses val="autoZero"/>
        <c:auto val="1"/>
        <c:lblAlgn val="ctr"/>
        <c:lblOffset val="100"/>
        <c:noMultiLvlLbl val="0"/>
      </c:catAx>
      <c:valAx>
        <c:axId val="19561885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351943471"/>
        <c:crosses val="autoZero"/>
        <c:crossBetween val="between"/>
      </c:valAx>
      <c:valAx>
        <c:axId val="1956209168"/>
        <c:scaling>
          <c:orientation val="minMax"/>
        </c:scaling>
        <c:delete val="0"/>
        <c:axPos val="r"/>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346799199"/>
        <c:crosses val="max"/>
        <c:crossBetween val="between"/>
      </c:valAx>
      <c:catAx>
        <c:axId val="346799199"/>
        <c:scaling>
          <c:orientation val="minMax"/>
        </c:scaling>
        <c:delete val="1"/>
        <c:axPos val="b"/>
        <c:numFmt formatCode="General" sourceLinked="1"/>
        <c:majorTickMark val="none"/>
        <c:minorTickMark val="none"/>
        <c:tickLblPos val="nextTo"/>
        <c:crossAx val="1956209168"/>
        <c:crosses val="autoZero"/>
        <c:auto val="1"/>
        <c:lblAlgn val="ctr"/>
        <c:lblOffset val="100"/>
        <c:noMultiLvlLbl val="0"/>
      </c:catAx>
      <c:spPr>
        <a:noFill/>
        <a:ln>
          <a:noFill/>
        </a:ln>
        <a:effectLst/>
      </c:spPr>
    </c:plotArea>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1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47A9A1"/>
                </a:solidFill>
                <a:latin typeface="+mn-lt"/>
                <a:ea typeface="+mn-ea"/>
                <a:cs typeface="+mn-cs"/>
              </a:defRPr>
            </a:pPr>
            <a:r>
              <a:rPr lang="es-CO" b="1">
                <a:solidFill>
                  <a:srgbClr val="47A9A1"/>
                </a:solidFill>
              </a:rPr>
              <a:t>Causas tutelas – Incidentes Emssanar 2026</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47A9A1"/>
              </a:solidFill>
              <a:latin typeface="+mn-lt"/>
              <a:ea typeface="+mn-ea"/>
              <a:cs typeface="+mn-cs"/>
            </a:defRPr>
          </a:pPr>
          <a:endParaRPr lang="es-CO"/>
        </a:p>
      </c:txPr>
    </c:title>
    <c:autoTitleDeleted val="0"/>
    <c:plotArea>
      <c:layout/>
      <c:barChart>
        <c:barDir val="bar"/>
        <c:grouping val="clustered"/>
        <c:varyColors val="0"/>
        <c:ser>
          <c:idx val="0"/>
          <c:order val="0"/>
          <c:spPr>
            <a:solidFill>
              <a:schemeClr val="accent1"/>
            </a:solidFill>
            <a:ln>
              <a:noFill/>
            </a:ln>
            <a:effectLst/>
          </c:spPr>
          <c:invertIfNegative val="0"/>
          <c:cat>
            <c:strRef>
              <c:f>DatosTutela!$A$53:$A$63</c:f>
              <c:strCache>
                <c:ptCount val="11"/>
                <c:pt idx="0">
                  <c:v>QUIMIOTERAPIA</c:v>
                </c:pt>
                <c:pt idx="1">
                  <c:v>PROCEDIMIENTO QX</c:v>
                </c:pt>
                <c:pt idx="2">
                  <c:v>CONSULTAS</c:v>
                </c:pt>
                <c:pt idx="3">
                  <c:v>IMÁGENES</c:v>
                </c:pt>
                <c:pt idx="4">
                  <c:v>INSUMOS</c:v>
                </c:pt>
                <c:pt idx="5">
                  <c:v>INGRESO RUTA</c:v>
                </c:pt>
                <c:pt idx="6">
                  <c:v>RADIO Y QUIMIO </c:v>
                </c:pt>
                <c:pt idx="7">
                  <c:v>RADIOTERAPIA</c:v>
                </c:pt>
                <c:pt idx="8">
                  <c:v>ATENCION DE SERVICIO NO CONTRATADO </c:v>
                </c:pt>
                <c:pt idx="9">
                  <c:v>MEDICAMENTO NO ONCO</c:v>
                </c:pt>
                <c:pt idx="10">
                  <c:v>NO INGRESO</c:v>
                </c:pt>
              </c:strCache>
            </c:strRef>
          </c:cat>
          <c:val>
            <c:numRef>
              <c:f>DatosTutela!$B$53:$B$63</c:f>
              <c:numCache>
                <c:formatCode>General</c:formatCode>
                <c:ptCount val="11"/>
                <c:pt idx="0">
                  <c:v>66</c:v>
                </c:pt>
                <c:pt idx="1">
                  <c:v>44</c:v>
                </c:pt>
                <c:pt idx="2">
                  <c:v>40</c:v>
                </c:pt>
                <c:pt idx="3">
                  <c:v>13</c:v>
                </c:pt>
                <c:pt idx="4">
                  <c:v>7</c:v>
                </c:pt>
                <c:pt idx="5">
                  <c:v>6</c:v>
                </c:pt>
                <c:pt idx="6">
                  <c:v>4</c:v>
                </c:pt>
                <c:pt idx="7">
                  <c:v>4</c:v>
                </c:pt>
                <c:pt idx="8">
                  <c:v>2</c:v>
                </c:pt>
                <c:pt idx="9">
                  <c:v>1</c:v>
                </c:pt>
                <c:pt idx="10">
                  <c:v>1</c:v>
                </c:pt>
              </c:numCache>
            </c:numRef>
          </c:val>
          <c:extLst>
            <c:ext xmlns:c16="http://schemas.microsoft.com/office/drawing/2014/chart" uri="{C3380CC4-5D6E-409C-BE32-E72D297353CC}">
              <c16:uniqueId val="{00000000-55BB-4662-8291-C7486C793B01}"/>
            </c:ext>
          </c:extLst>
        </c:ser>
        <c:dLbls>
          <c:showLegendKey val="0"/>
          <c:showVal val="0"/>
          <c:showCatName val="0"/>
          <c:showSerName val="0"/>
          <c:showPercent val="0"/>
          <c:showBubbleSize val="0"/>
        </c:dLbls>
        <c:gapWidth val="182"/>
        <c:axId val="1929468640"/>
        <c:axId val="1956357488"/>
      </c:barChart>
      <c:catAx>
        <c:axId val="192946864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956357488"/>
        <c:crosses val="autoZero"/>
        <c:auto val="1"/>
        <c:lblAlgn val="ctr"/>
        <c:lblOffset val="100"/>
        <c:noMultiLvlLbl val="0"/>
      </c:catAx>
      <c:valAx>
        <c:axId val="195635748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92946864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1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s-CO" sz="1400" b="1" i="0" u="sng" strike="noStrike" kern="1200" spc="0" baseline="0">
                <a:solidFill>
                  <a:prstClr val="black">
                    <a:lumMod val="65000"/>
                    <a:lumOff val="35000"/>
                  </a:prstClr>
                </a:solidFill>
              </a:rPr>
              <a:t>ESTADOS DE CITA EMSSANAR</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spPr>
            <a:solidFill>
              <a:srgbClr val="47A9A1"/>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rtl="0">
                  <a:defRPr lang="en-US" sz="1400" b="1" i="0" u="none" strike="noStrike" kern="1200" spc="0" baseline="0">
                    <a:solidFill>
                      <a:prstClr val="black">
                        <a:lumMod val="65000"/>
                        <a:lumOff val="35000"/>
                      </a:prst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EMSSANAR!$D$6:$D$8</c:f>
              <c:strCache>
                <c:ptCount val="3"/>
                <c:pt idx="0">
                  <c:v>ATENDIDA</c:v>
                </c:pt>
                <c:pt idx="1">
                  <c:v>CANCELADA</c:v>
                </c:pt>
                <c:pt idx="2">
                  <c:v>INCUMPLIDA</c:v>
                </c:pt>
              </c:strCache>
            </c:strRef>
          </c:cat>
          <c:val>
            <c:numRef>
              <c:f>EMSSANAR!$E$6:$E$8</c:f>
              <c:numCache>
                <c:formatCode>#,##0</c:formatCode>
                <c:ptCount val="3"/>
                <c:pt idx="0">
                  <c:v>18548</c:v>
                </c:pt>
                <c:pt idx="1">
                  <c:v>3073</c:v>
                </c:pt>
                <c:pt idx="2">
                  <c:v>1960</c:v>
                </c:pt>
              </c:numCache>
            </c:numRef>
          </c:val>
          <c:extLst>
            <c:ext xmlns:c16="http://schemas.microsoft.com/office/drawing/2014/chart" uri="{C3380CC4-5D6E-409C-BE32-E72D297353CC}">
              <c16:uniqueId val="{00000000-2511-419F-814A-F81BA15D144B}"/>
            </c:ext>
          </c:extLst>
        </c:ser>
        <c:dLbls>
          <c:showLegendKey val="0"/>
          <c:showVal val="1"/>
          <c:showCatName val="0"/>
          <c:showSerName val="0"/>
          <c:showPercent val="0"/>
          <c:showBubbleSize val="0"/>
        </c:dLbls>
        <c:gapWidth val="219"/>
        <c:overlap val="-27"/>
        <c:axId val="1173955248"/>
        <c:axId val="1173944688"/>
      </c:barChart>
      <c:lineChart>
        <c:grouping val="standard"/>
        <c:varyColors val="0"/>
        <c:ser>
          <c:idx val="1"/>
          <c:order val="1"/>
          <c:spPr>
            <a:ln w="28575" cap="rnd">
              <a:solidFill>
                <a:schemeClr val="accent2"/>
              </a:solidFill>
              <a:round/>
            </a:ln>
            <a:effectLst/>
          </c:spPr>
          <c:marker>
            <c:symbol val="none"/>
          </c:marker>
          <c:dLbls>
            <c:dLbl>
              <c:idx val="0"/>
              <c:layout>
                <c:manualLayout>
                  <c:x val="4.1855952245983805E-2"/>
                  <c:y val="-6.97662920772226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175F-4A3B-B315-99C3B18A466D}"/>
                </c:ext>
              </c:extLst>
            </c:dLbl>
            <c:dLbl>
              <c:idx val="1"/>
              <c:layout>
                <c:manualLayout>
                  <c:x val="1.8835178510692711E-2"/>
                  <c:y val="-6.97662920772226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75F-4A3B-B315-99C3B18A466D}"/>
                </c:ext>
              </c:extLst>
            </c:dLbl>
            <c:dLbl>
              <c:idx val="2"/>
              <c:layout>
                <c:manualLayout>
                  <c:x val="3.3484761796787048E-2"/>
                  <c:y val="-8.526991253882779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75F-4A3B-B315-99C3B18A466D}"/>
                </c:ext>
              </c:extLst>
            </c:dLbl>
            <c:spPr>
              <a:noFill/>
              <a:ln>
                <a:noFill/>
              </a:ln>
              <a:effectLst/>
            </c:spPr>
            <c:txPr>
              <a:bodyPr rot="0" spcFirstLastPara="1" vertOverflow="ellipsis" vert="horz" wrap="square" lIns="38100" tIns="19050" rIns="38100" bIns="19050" anchor="ctr" anchorCtr="0">
                <a:spAutoFit/>
              </a:bodyPr>
              <a:lstStyle/>
              <a:p>
                <a:pPr algn="ctr" rtl="0">
                  <a:defRPr lang="en-US" sz="1800" b="1" i="0" u="none" strike="noStrike" kern="1200" baseline="0">
                    <a:solidFill>
                      <a:srgbClr val="00A19C"/>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EMSSANAR!$D$6:$D$8</c:f>
              <c:strCache>
                <c:ptCount val="3"/>
                <c:pt idx="0">
                  <c:v>ATENDIDA</c:v>
                </c:pt>
                <c:pt idx="1">
                  <c:v>CANCELADA</c:v>
                </c:pt>
                <c:pt idx="2">
                  <c:v>INCUMPLIDA</c:v>
                </c:pt>
              </c:strCache>
            </c:strRef>
          </c:cat>
          <c:val>
            <c:numRef>
              <c:f>EMSSANAR!$F$6:$F$8</c:f>
              <c:numCache>
                <c:formatCode>0%</c:formatCode>
                <c:ptCount val="3"/>
                <c:pt idx="0">
                  <c:v>0.78656545523938759</c:v>
                </c:pt>
                <c:pt idx="1">
                  <c:v>0.13031678045884398</c:v>
                </c:pt>
                <c:pt idx="2">
                  <c:v>8.3117764301768371E-2</c:v>
                </c:pt>
              </c:numCache>
            </c:numRef>
          </c:val>
          <c:smooth val="0"/>
          <c:extLst>
            <c:ext xmlns:c16="http://schemas.microsoft.com/office/drawing/2014/chart" uri="{C3380CC4-5D6E-409C-BE32-E72D297353CC}">
              <c16:uniqueId val="{00000001-2511-419F-814A-F81BA15D144B}"/>
            </c:ext>
          </c:extLst>
        </c:ser>
        <c:dLbls>
          <c:showLegendKey val="0"/>
          <c:showVal val="1"/>
          <c:showCatName val="0"/>
          <c:showSerName val="0"/>
          <c:showPercent val="0"/>
          <c:showBubbleSize val="0"/>
        </c:dLbls>
        <c:marker val="1"/>
        <c:smooth val="0"/>
        <c:axId val="1173951888"/>
        <c:axId val="1173951408"/>
      </c:lineChart>
      <c:catAx>
        <c:axId val="117395524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400" b="1" i="0" u="none" strike="noStrike" kern="1200" baseline="0">
                <a:solidFill>
                  <a:schemeClr val="tx1">
                    <a:lumMod val="65000"/>
                    <a:lumOff val="35000"/>
                  </a:schemeClr>
                </a:solidFill>
                <a:latin typeface="+mn-lt"/>
                <a:ea typeface="+mn-ea"/>
                <a:cs typeface="+mn-cs"/>
              </a:defRPr>
            </a:pPr>
            <a:endParaRPr lang="es-CO"/>
          </a:p>
        </c:txPr>
        <c:crossAx val="1173944688"/>
        <c:crosses val="autoZero"/>
        <c:auto val="1"/>
        <c:lblAlgn val="ctr"/>
        <c:lblOffset val="100"/>
        <c:noMultiLvlLbl val="0"/>
      </c:catAx>
      <c:valAx>
        <c:axId val="1173944688"/>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700" b="0" i="0" u="none" strike="noStrike" kern="1200" baseline="0">
                <a:solidFill>
                  <a:schemeClr val="bg1">
                    <a:lumMod val="65000"/>
                  </a:schemeClr>
                </a:solidFill>
                <a:latin typeface="+mn-lt"/>
                <a:ea typeface="+mn-ea"/>
                <a:cs typeface="+mn-cs"/>
              </a:defRPr>
            </a:pPr>
            <a:endParaRPr lang="es-CO"/>
          </a:p>
        </c:txPr>
        <c:crossAx val="1173955248"/>
        <c:crosses val="autoZero"/>
        <c:crossBetween val="between"/>
      </c:valAx>
      <c:valAx>
        <c:axId val="1173951408"/>
        <c:scaling>
          <c:orientation val="minMax"/>
        </c:scaling>
        <c:delete val="0"/>
        <c:axPos val="r"/>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700" b="0" i="0" u="none" strike="noStrike" kern="1200" baseline="0">
                <a:solidFill>
                  <a:schemeClr val="bg1">
                    <a:lumMod val="65000"/>
                  </a:schemeClr>
                </a:solidFill>
                <a:latin typeface="+mn-lt"/>
                <a:ea typeface="+mn-ea"/>
                <a:cs typeface="+mn-cs"/>
              </a:defRPr>
            </a:pPr>
            <a:endParaRPr lang="es-CO"/>
          </a:p>
        </c:txPr>
        <c:crossAx val="1173951888"/>
        <c:crosses val="max"/>
        <c:crossBetween val="between"/>
      </c:valAx>
      <c:catAx>
        <c:axId val="1173951888"/>
        <c:scaling>
          <c:orientation val="minMax"/>
        </c:scaling>
        <c:delete val="1"/>
        <c:axPos val="b"/>
        <c:numFmt formatCode="General" sourceLinked="1"/>
        <c:majorTickMark val="none"/>
        <c:minorTickMark val="none"/>
        <c:tickLblPos val="nextTo"/>
        <c:crossAx val="1173951408"/>
        <c:crosses val="autoZero"/>
        <c:auto val="1"/>
        <c:lblAlgn val="ctr"/>
        <c:lblOffset val="100"/>
        <c:noMultiLvlLbl val="0"/>
      </c:catAx>
      <c:spPr>
        <a:noFill/>
        <a:ln>
          <a:noFill/>
        </a:ln>
        <a:effectLst/>
      </c:spPr>
    </c:plotArea>
    <c:plotVisOnly val="1"/>
    <c:dispBlanksAs val="gap"/>
    <c:showDLblsOverMax val="0"/>
  </c:chart>
  <c:spPr>
    <a:noFill/>
    <a:ln>
      <a:noFill/>
    </a:ln>
    <a:effectLst/>
  </c:spPr>
  <c:txPr>
    <a:bodyPr/>
    <a:lstStyle/>
    <a:p>
      <a:pPr>
        <a:defRPr/>
      </a:pPr>
      <a:endParaRPr lang="es-CO"/>
    </a:p>
  </c:txPr>
  <c:externalData r:id="rId4">
    <c:autoUpdate val="0"/>
  </c:externalData>
</c:chartSpace>
</file>

<file path=ppt/charts/chart1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s-CO" sz="1400" b="1" i="0" u="sng" strike="noStrike" kern="1200" spc="0" baseline="0">
                <a:solidFill>
                  <a:prstClr val="black">
                    <a:lumMod val="65000"/>
                    <a:lumOff val="35000"/>
                  </a:prstClr>
                </a:solidFill>
              </a:rPr>
              <a:t>ESTADOS DE CITA EMSSANAR</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spPr>
            <a:solidFill>
              <a:srgbClr val="47A9A1"/>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rtl="0">
                  <a:defRPr lang="en-US" sz="1400" b="1" i="0" u="none" strike="noStrike" kern="1200" spc="0" baseline="0">
                    <a:solidFill>
                      <a:prstClr val="black">
                        <a:lumMod val="65000"/>
                        <a:lumOff val="35000"/>
                      </a:prst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EMSSANAR!$D$86:$D$88</c:f>
              <c:strCache>
                <c:ptCount val="3"/>
                <c:pt idx="0">
                  <c:v>CONTROL</c:v>
                </c:pt>
                <c:pt idx="1">
                  <c:v>1ERA VEZ</c:v>
                </c:pt>
                <c:pt idx="2">
                  <c:v>OTRAS ASIGNACIONES </c:v>
                </c:pt>
              </c:strCache>
            </c:strRef>
          </c:cat>
          <c:val>
            <c:numRef>
              <c:f>EMSSANAR!$E$86:$E$88</c:f>
              <c:numCache>
                <c:formatCode>#,##0</c:formatCode>
                <c:ptCount val="3"/>
                <c:pt idx="0">
                  <c:v>15620</c:v>
                </c:pt>
                <c:pt idx="1">
                  <c:v>7920</c:v>
                </c:pt>
                <c:pt idx="2">
                  <c:v>41</c:v>
                </c:pt>
              </c:numCache>
            </c:numRef>
          </c:val>
          <c:extLst>
            <c:ext xmlns:c16="http://schemas.microsoft.com/office/drawing/2014/chart" uri="{C3380CC4-5D6E-409C-BE32-E72D297353CC}">
              <c16:uniqueId val="{00000000-8219-45C6-8A34-02038271DA32}"/>
            </c:ext>
          </c:extLst>
        </c:ser>
        <c:dLbls>
          <c:showLegendKey val="0"/>
          <c:showVal val="1"/>
          <c:showCatName val="0"/>
          <c:showSerName val="0"/>
          <c:showPercent val="0"/>
          <c:showBubbleSize val="0"/>
        </c:dLbls>
        <c:gapWidth val="219"/>
        <c:overlap val="-27"/>
        <c:axId val="889928623"/>
        <c:axId val="889929583"/>
      </c:barChart>
      <c:lineChart>
        <c:grouping val="standard"/>
        <c:varyColors val="0"/>
        <c:ser>
          <c:idx val="1"/>
          <c:order val="1"/>
          <c:spPr>
            <a:ln w="28575" cap="rnd">
              <a:solidFill>
                <a:schemeClr val="accent2"/>
              </a:solidFill>
              <a:round/>
            </a:ln>
            <a:effectLst/>
          </c:spPr>
          <c:marker>
            <c:symbol val="none"/>
          </c:marker>
          <c:dLbls>
            <c:dLbl>
              <c:idx val="0"/>
              <c:layout>
                <c:manualLayout>
                  <c:x val="3.6272379867972347E-2"/>
                  <c:y val="-1.28697389875062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C2B-403C-A2B8-90ED44D65026}"/>
                </c:ext>
              </c:extLst>
            </c:dLbl>
            <c:dLbl>
              <c:idx val="1"/>
              <c:layout>
                <c:manualLayout>
                  <c:x val="1.8136189933986174E-2"/>
                  <c:y val="-5.147895595002487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C2B-403C-A2B8-90ED44D65026}"/>
                </c:ext>
              </c:extLst>
            </c:dLbl>
            <c:dLbl>
              <c:idx val="2"/>
              <c:layout>
                <c:manualLayout>
                  <c:x val="3.6272379867972347E-2"/>
                  <c:y val="-0.1415671288625684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DC2B-403C-A2B8-90ED44D65026}"/>
                </c:ext>
              </c:extLst>
            </c:dLbl>
            <c:spPr>
              <a:noFill/>
              <a:ln>
                <a:noFill/>
              </a:ln>
              <a:effectLst/>
            </c:spPr>
            <c:txPr>
              <a:bodyPr rot="0" spcFirstLastPara="1" vertOverflow="ellipsis" vert="horz" wrap="square" lIns="38100" tIns="19050" rIns="38100" bIns="19050" anchor="ctr" anchorCtr="0">
                <a:spAutoFit/>
              </a:bodyPr>
              <a:lstStyle/>
              <a:p>
                <a:pPr algn="ctr" rtl="0">
                  <a:defRPr lang="en-US" sz="1800" b="1" i="0" u="none" strike="noStrike" kern="1200" baseline="0">
                    <a:solidFill>
                      <a:srgbClr val="00A19C"/>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EMSSANAR!$D$86:$D$88</c:f>
              <c:strCache>
                <c:ptCount val="3"/>
                <c:pt idx="0">
                  <c:v>CONTROL</c:v>
                </c:pt>
                <c:pt idx="1">
                  <c:v>1ERA VEZ</c:v>
                </c:pt>
                <c:pt idx="2">
                  <c:v>OTRAS ASIGNACIONES </c:v>
                </c:pt>
              </c:strCache>
            </c:strRef>
          </c:cat>
          <c:val>
            <c:numRef>
              <c:f>EMSSANAR!$F$86:$F$88</c:f>
              <c:numCache>
                <c:formatCode>0%</c:formatCode>
                <c:ptCount val="3"/>
                <c:pt idx="0">
                  <c:v>0.66239769305797036</c:v>
                </c:pt>
                <c:pt idx="1">
                  <c:v>0.33586361901530892</c:v>
                </c:pt>
                <c:pt idx="2" formatCode="0.0%">
                  <c:v>1.7386879267206649E-3</c:v>
                </c:pt>
              </c:numCache>
            </c:numRef>
          </c:val>
          <c:smooth val="0"/>
          <c:extLst>
            <c:ext xmlns:c16="http://schemas.microsoft.com/office/drawing/2014/chart" uri="{C3380CC4-5D6E-409C-BE32-E72D297353CC}">
              <c16:uniqueId val="{00000001-8219-45C6-8A34-02038271DA32}"/>
            </c:ext>
          </c:extLst>
        </c:ser>
        <c:dLbls>
          <c:showLegendKey val="0"/>
          <c:showVal val="1"/>
          <c:showCatName val="0"/>
          <c:showSerName val="0"/>
          <c:showPercent val="0"/>
          <c:showBubbleSize val="0"/>
        </c:dLbls>
        <c:marker val="1"/>
        <c:smooth val="0"/>
        <c:axId val="889925743"/>
        <c:axId val="889917103"/>
      </c:lineChart>
      <c:catAx>
        <c:axId val="889928623"/>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400" b="1" i="0" u="none" strike="noStrike" kern="1200" baseline="0">
                <a:solidFill>
                  <a:schemeClr val="tx1">
                    <a:lumMod val="65000"/>
                    <a:lumOff val="35000"/>
                  </a:schemeClr>
                </a:solidFill>
                <a:latin typeface="+mn-lt"/>
                <a:ea typeface="+mn-ea"/>
                <a:cs typeface="+mn-cs"/>
              </a:defRPr>
            </a:pPr>
            <a:endParaRPr lang="es-CO"/>
          </a:p>
        </c:txPr>
        <c:crossAx val="889929583"/>
        <c:crosses val="autoZero"/>
        <c:auto val="1"/>
        <c:lblAlgn val="ctr"/>
        <c:lblOffset val="100"/>
        <c:noMultiLvlLbl val="0"/>
      </c:catAx>
      <c:valAx>
        <c:axId val="889929583"/>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700" b="0" i="0" u="none" strike="noStrike" kern="1200" baseline="0">
                <a:solidFill>
                  <a:schemeClr val="bg1">
                    <a:lumMod val="65000"/>
                  </a:schemeClr>
                </a:solidFill>
                <a:latin typeface="+mn-lt"/>
                <a:ea typeface="+mn-ea"/>
                <a:cs typeface="+mn-cs"/>
              </a:defRPr>
            </a:pPr>
            <a:endParaRPr lang="es-CO"/>
          </a:p>
        </c:txPr>
        <c:crossAx val="889928623"/>
        <c:crosses val="autoZero"/>
        <c:crossBetween val="between"/>
      </c:valAx>
      <c:valAx>
        <c:axId val="889917103"/>
        <c:scaling>
          <c:orientation val="minMax"/>
        </c:scaling>
        <c:delete val="0"/>
        <c:axPos val="r"/>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700" b="0" i="0" u="none" strike="noStrike" kern="1200" baseline="0">
                <a:solidFill>
                  <a:schemeClr val="bg1">
                    <a:lumMod val="65000"/>
                  </a:schemeClr>
                </a:solidFill>
                <a:latin typeface="+mn-lt"/>
                <a:ea typeface="+mn-ea"/>
                <a:cs typeface="+mn-cs"/>
              </a:defRPr>
            </a:pPr>
            <a:endParaRPr lang="es-CO"/>
          </a:p>
        </c:txPr>
        <c:crossAx val="889925743"/>
        <c:crosses val="max"/>
        <c:crossBetween val="between"/>
      </c:valAx>
      <c:catAx>
        <c:axId val="889925743"/>
        <c:scaling>
          <c:orientation val="minMax"/>
        </c:scaling>
        <c:delete val="1"/>
        <c:axPos val="b"/>
        <c:numFmt formatCode="General" sourceLinked="1"/>
        <c:majorTickMark val="none"/>
        <c:minorTickMark val="none"/>
        <c:tickLblPos val="nextTo"/>
        <c:crossAx val="889917103"/>
        <c:crosses val="autoZero"/>
        <c:auto val="1"/>
        <c:lblAlgn val="ctr"/>
        <c:lblOffset val="100"/>
        <c:noMultiLvlLbl val="0"/>
      </c:catAx>
      <c:spPr>
        <a:noFill/>
        <a:ln>
          <a:noFill/>
        </a:ln>
        <a:effectLst/>
      </c:spPr>
    </c:plotArea>
    <c:plotVisOnly val="1"/>
    <c:dispBlanksAs val="gap"/>
    <c:showDLblsOverMax val="0"/>
  </c:chart>
  <c:spPr>
    <a:noFill/>
    <a:ln>
      <a:noFill/>
    </a:ln>
    <a:effectLst/>
  </c:spPr>
  <c:txPr>
    <a:bodyPr/>
    <a:lstStyle/>
    <a:p>
      <a:pPr>
        <a:defRPr/>
      </a:pPr>
      <a:endParaRPr lang="es-CO"/>
    </a:p>
  </c:txPr>
  <c:externalData r:id="rId4">
    <c:autoUpdate val="0"/>
  </c:externalData>
</c:chartSpace>
</file>

<file path=ppt/charts/chart1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1" i="0" u="none" strike="noStrike" kern="1200" spc="0" baseline="0">
                <a:solidFill>
                  <a:schemeClr val="tx1">
                    <a:lumMod val="65000"/>
                    <a:lumOff val="35000"/>
                  </a:schemeClr>
                </a:solidFill>
                <a:latin typeface="+mn-lt"/>
                <a:ea typeface="+mn-ea"/>
                <a:cs typeface="+mn-cs"/>
              </a:defRPr>
            </a:pPr>
            <a:r>
              <a:rPr lang="es-CO" b="1" noProof="0"/>
              <a:t>Ingresos</a:t>
            </a:r>
            <a:r>
              <a:rPr lang="es-CO" b="1" baseline="0" noProof="0"/>
              <a:t> año 2025/2026</a:t>
            </a:r>
            <a:endParaRPr lang="es-CO" b="1" noProof="0"/>
          </a:p>
        </c:rich>
      </c:tx>
      <c:overlay val="0"/>
      <c:spPr>
        <a:noFill/>
        <a:ln>
          <a:noFill/>
        </a:ln>
        <a:effectLst/>
      </c:spPr>
      <c:txPr>
        <a:bodyPr rot="0" spcFirstLastPara="1" vertOverflow="ellipsis" vert="horz" wrap="square" anchor="ctr" anchorCtr="1"/>
        <a:lstStyle/>
        <a:p>
          <a:pPr>
            <a:defRPr sz="1862" b="1"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manualLayout>
          <c:layoutTarget val="inner"/>
          <c:xMode val="edge"/>
          <c:yMode val="edge"/>
          <c:x val="5.0129836964683878E-2"/>
          <c:y val="0.1436245534215437"/>
          <c:w val="0.90101624119132129"/>
          <c:h val="0.60313674045878396"/>
        </c:manualLayout>
      </c:layout>
      <c:barChart>
        <c:barDir val="col"/>
        <c:grouping val="clustered"/>
        <c:varyColors val="0"/>
        <c:ser>
          <c:idx val="0"/>
          <c:order val="0"/>
          <c:tx>
            <c:strRef>
              <c:f>Hoja1!$B$1</c:f>
              <c:strCache>
                <c:ptCount val="1"/>
                <c:pt idx="0">
                  <c:v>2025</c:v>
                </c:pt>
              </c:strCache>
            </c:strRef>
          </c:tx>
          <c:spPr>
            <a:solidFill>
              <a:srgbClr val="00A19C"/>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4FA9A7"/>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Enero</c:v>
                </c:pt>
                <c:pt idx="1">
                  <c:v>Febrero</c:v>
                </c:pt>
                <c:pt idx="2">
                  <c:v>Marzo</c:v>
                </c:pt>
                <c:pt idx="3">
                  <c:v>Abril</c:v>
                </c:pt>
                <c:pt idx="4">
                  <c:v>Mayo</c:v>
                </c:pt>
                <c:pt idx="5">
                  <c:v>Junio</c:v>
                </c:pt>
                <c:pt idx="6">
                  <c:v>Julio</c:v>
                </c:pt>
                <c:pt idx="7">
                  <c:v>Agosto</c:v>
                </c:pt>
                <c:pt idx="8">
                  <c:v>Septiembre</c:v>
                </c:pt>
                <c:pt idx="9">
                  <c:v>Octubre</c:v>
                </c:pt>
                <c:pt idx="10">
                  <c:v>Noviembre</c:v>
                </c:pt>
                <c:pt idx="11">
                  <c:v>Diciembre</c:v>
                </c:pt>
              </c:strCache>
            </c:strRef>
          </c:cat>
          <c:val>
            <c:numRef>
              <c:f>Hoja1!$B$2:$B$13</c:f>
              <c:numCache>
                <c:formatCode>General</c:formatCode>
                <c:ptCount val="12"/>
                <c:pt idx="0">
                  <c:v>3</c:v>
                </c:pt>
                <c:pt idx="1">
                  <c:v>14</c:v>
                </c:pt>
                <c:pt idx="2">
                  <c:v>8</c:v>
                </c:pt>
                <c:pt idx="3">
                  <c:v>3</c:v>
                </c:pt>
                <c:pt idx="4">
                  <c:v>1</c:v>
                </c:pt>
                <c:pt idx="5">
                  <c:v>1</c:v>
                </c:pt>
                <c:pt idx="6">
                  <c:v>2</c:v>
                </c:pt>
                <c:pt idx="7">
                  <c:v>30</c:v>
                </c:pt>
                <c:pt idx="8">
                  <c:v>17</c:v>
                </c:pt>
                <c:pt idx="9">
                  <c:v>13</c:v>
                </c:pt>
                <c:pt idx="10">
                  <c:v>1</c:v>
                </c:pt>
                <c:pt idx="11">
                  <c:v>2</c:v>
                </c:pt>
              </c:numCache>
            </c:numRef>
          </c:val>
          <c:extLst>
            <c:ext xmlns:c16="http://schemas.microsoft.com/office/drawing/2014/chart" uri="{C3380CC4-5D6E-409C-BE32-E72D297353CC}">
              <c16:uniqueId val="{00000000-717B-4EDE-A99C-6D4C3ED72D8E}"/>
            </c:ext>
          </c:extLst>
        </c:ser>
        <c:ser>
          <c:idx val="1"/>
          <c:order val="1"/>
          <c:tx>
            <c:strRef>
              <c:f>Hoja1!$C$1</c:f>
              <c:strCache>
                <c:ptCount val="1"/>
                <c:pt idx="0">
                  <c:v>2026</c:v>
                </c:pt>
              </c:strCache>
            </c:strRef>
          </c:tx>
          <c:spPr>
            <a:solidFill>
              <a:schemeClr val="tx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Enero</c:v>
                </c:pt>
                <c:pt idx="1">
                  <c:v>Febrero</c:v>
                </c:pt>
                <c:pt idx="2">
                  <c:v>Marzo</c:v>
                </c:pt>
                <c:pt idx="3">
                  <c:v>Abril</c:v>
                </c:pt>
                <c:pt idx="4">
                  <c:v>Mayo</c:v>
                </c:pt>
                <c:pt idx="5">
                  <c:v>Junio</c:v>
                </c:pt>
                <c:pt idx="6">
                  <c:v>Julio</c:v>
                </c:pt>
                <c:pt idx="7">
                  <c:v>Agosto</c:v>
                </c:pt>
                <c:pt idx="8">
                  <c:v>Septiembre</c:v>
                </c:pt>
                <c:pt idx="9">
                  <c:v>Octubre</c:v>
                </c:pt>
                <c:pt idx="10">
                  <c:v>Noviembre</c:v>
                </c:pt>
                <c:pt idx="11">
                  <c:v>Diciembre</c:v>
                </c:pt>
              </c:strCache>
            </c:strRef>
          </c:cat>
          <c:val>
            <c:numRef>
              <c:f>Hoja1!$C$2:$C$13</c:f>
              <c:numCache>
                <c:formatCode>General</c:formatCode>
                <c:ptCount val="12"/>
                <c:pt idx="0">
                  <c:v>0</c:v>
                </c:pt>
                <c:pt idx="1">
                  <c:v>1</c:v>
                </c:pt>
                <c:pt idx="2">
                  <c:v>2</c:v>
                </c:pt>
                <c:pt idx="3">
                  <c:v>7</c:v>
                </c:pt>
                <c:pt idx="4">
                  <c:v>2</c:v>
                </c:pt>
                <c:pt idx="5">
                  <c:v>2</c:v>
                </c:pt>
                <c:pt idx="6">
                  <c:v>1</c:v>
                </c:pt>
              </c:numCache>
            </c:numRef>
          </c:val>
          <c:extLst>
            <c:ext xmlns:c16="http://schemas.microsoft.com/office/drawing/2014/chart" uri="{C3380CC4-5D6E-409C-BE32-E72D297353CC}">
              <c16:uniqueId val="{00000001-717B-4EDE-A99C-6D4C3ED72D8E}"/>
            </c:ext>
          </c:extLst>
        </c:ser>
        <c:dLbls>
          <c:showLegendKey val="0"/>
          <c:showVal val="0"/>
          <c:showCatName val="0"/>
          <c:showSerName val="0"/>
          <c:showPercent val="0"/>
          <c:showBubbleSize val="0"/>
        </c:dLbls>
        <c:gapWidth val="219"/>
        <c:axId val="767574176"/>
        <c:axId val="767575616"/>
      </c:barChart>
      <c:lineChart>
        <c:grouping val="standard"/>
        <c:varyColors val="0"/>
        <c:ser>
          <c:idx val="2"/>
          <c:order val="2"/>
          <c:tx>
            <c:strRef>
              <c:f>Hoja1!$D$1</c:f>
              <c:strCache>
                <c:ptCount val="1"/>
                <c:pt idx="0">
                  <c:v>Tasa 2025</c:v>
                </c:pt>
              </c:strCache>
            </c:strRef>
          </c:tx>
          <c:spPr>
            <a:ln w="28575" cap="rnd">
              <a:solidFill>
                <a:srgbClr val="4FA9A7"/>
              </a:solidFill>
              <a:round/>
            </a:ln>
            <a:effectLst/>
          </c:spPr>
          <c:marker>
            <c:symbol val="none"/>
          </c:marker>
          <c:dLbls>
            <c:dLbl>
              <c:idx val="0"/>
              <c:layout>
                <c:manualLayout>
                  <c:x val="1.3943273255096535E-2"/>
                  <c:y val="-0.1074543398927363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0E4-4F47-B46A-D4A471012AE5}"/>
                </c:ext>
              </c:extLst>
            </c:dLbl>
            <c:spPr>
              <a:solidFill>
                <a:srgbClr val="FFFFFF"/>
              </a:solidFill>
              <a:ln>
                <a:solidFill>
                  <a:srgbClr val="FFFFFF">
                    <a:lumMod val="85000"/>
                  </a:srgbClr>
                </a:solidFill>
              </a:ln>
              <a:effectLst/>
            </c:spPr>
            <c:txPr>
              <a:bodyPr rot="0" spcFirstLastPara="1" vertOverflow="clip" horzOverflow="clip" vert="horz" wrap="square" lIns="36576" tIns="18288" rIns="36576" bIns="18288" anchor="ctr" anchorCtr="1">
                <a:spAutoFit/>
              </a:bodyPr>
              <a:lstStyle/>
              <a:p>
                <a:pPr>
                  <a:defRPr sz="1197" b="1" i="0" u="none" strike="noStrike" kern="1200" baseline="0">
                    <a:solidFill>
                      <a:srgbClr val="4FA9A7"/>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Enero</c:v>
                </c:pt>
                <c:pt idx="1">
                  <c:v>Febrero</c:v>
                </c:pt>
                <c:pt idx="2">
                  <c:v>Marzo</c:v>
                </c:pt>
                <c:pt idx="3">
                  <c:v>Abril</c:v>
                </c:pt>
                <c:pt idx="4">
                  <c:v>Mayo</c:v>
                </c:pt>
                <c:pt idx="5">
                  <c:v>Junio</c:v>
                </c:pt>
                <c:pt idx="6">
                  <c:v>Julio</c:v>
                </c:pt>
                <c:pt idx="7">
                  <c:v>Agosto</c:v>
                </c:pt>
                <c:pt idx="8">
                  <c:v>Septiembre</c:v>
                </c:pt>
                <c:pt idx="9">
                  <c:v>Octubre</c:v>
                </c:pt>
                <c:pt idx="10">
                  <c:v>Noviembre</c:v>
                </c:pt>
                <c:pt idx="11">
                  <c:v>Diciembre</c:v>
                </c:pt>
              </c:strCache>
            </c:strRef>
          </c:cat>
          <c:val>
            <c:numRef>
              <c:f>Hoja1!$D$2:$D$13</c:f>
              <c:numCache>
                <c:formatCode>0</c:formatCode>
                <c:ptCount val="12"/>
                <c:pt idx="0">
                  <c:v>11.778100584978995</c:v>
                </c:pt>
                <c:pt idx="1">
                  <c:v>54.964469396568639</c:v>
                </c:pt>
                <c:pt idx="2">
                  <c:v>31.408268226610655</c:v>
                </c:pt>
                <c:pt idx="3">
                  <c:v>11.778100584978995</c:v>
                </c:pt>
                <c:pt idx="4">
                  <c:v>3.9260335283263319</c:v>
                </c:pt>
                <c:pt idx="5">
                  <c:v>3.9260335283263319</c:v>
                </c:pt>
                <c:pt idx="6">
                  <c:v>7.8520670566526638</c:v>
                </c:pt>
                <c:pt idx="7">
                  <c:v>117.78100584978995</c:v>
                </c:pt>
                <c:pt idx="8">
                  <c:v>66.742569981547646</c:v>
                </c:pt>
                <c:pt idx="9">
                  <c:v>51.038435868242317</c:v>
                </c:pt>
                <c:pt idx="10">
                  <c:v>3.9260335283263319</c:v>
                </c:pt>
                <c:pt idx="11">
                  <c:v>7.8520670566526638</c:v>
                </c:pt>
              </c:numCache>
            </c:numRef>
          </c:val>
          <c:smooth val="0"/>
          <c:extLst>
            <c:ext xmlns:c16="http://schemas.microsoft.com/office/drawing/2014/chart" uri="{C3380CC4-5D6E-409C-BE32-E72D297353CC}">
              <c16:uniqueId val="{00000002-F737-4B04-96F6-C651000DCB22}"/>
            </c:ext>
          </c:extLst>
        </c:ser>
        <c:ser>
          <c:idx val="3"/>
          <c:order val="3"/>
          <c:tx>
            <c:strRef>
              <c:f>Hoja1!$E$1</c:f>
              <c:strCache>
                <c:ptCount val="1"/>
                <c:pt idx="0">
                  <c:v>Tasa 2026</c:v>
                </c:pt>
              </c:strCache>
            </c:strRef>
          </c:tx>
          <c:spPr>
            <a:ln w="28575" cap="rnd">
              <a:solidFill>
                <a:schemeClr val="tx1"/>
              </a:solidFill>
              <a:round/>
            </a:ln>
            <a:effectLst/>
          </c:spPr>
          <c:marker>
            <c:symbol val="none"/>
          </c:marker>
          <c:dLbls>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downArrow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Enero</c:v>
                </c:pt>
                <c:pt idx="1">
                  <c:v>Febrero</c:v>
                </c:pt>
                <c:pt idx="2">
                  <c:v>Marzo</c:v>
                </c:pt>
                <c:pt idx="3">
                  <c:v>Abril</c:v>
                </c:pt>
                <c:pt idx="4">
                  <c:v>Mayo</c:v>
                </c:pt>
                <c:pt idx="5">
                  <c:v>Junio</c:v>
                </c:pt>
                <c:pt idx="6">
                  <c:v>Julio</c:v>
                </c:pt>
                <c:pt idx="7">
                  <c:v>Agosto</c:v>
                </c:pt>
                <c:pt idx="8">
                  <c:v>Septiembre</c:v>
                </c:pt>
                <c:pt idx="9">
                  <c:v>Octubre</c:v>
                </c:pt>
                <c:pt idx="10">
                  <c:v>Noviembre</c:v>
                </c:pt>
                <c:pt idx="11">
                  <c:v>Diciembre</c:v>
                </c:pt>
              </c:strCache>
            </c:strRef>
          </c:cat>
          <c:val>
            <c:numRef>
              <c:f>Hoja1!$E$2:$E$13</c:f>
              <c:numCache>
                <c:formatCode>0</c:formatCode>
                <c:ptCount val="12"/>
                <c:pt idx="0">
                  <c:v>0</c:v>
                </c:pt>
                <c:pt idx="1">
                  <c:v>3.9260335283263319</c:v>
                </c:pt>
                <c:pt idx="2">
                  <c:v>7.8520670566526638</c:v>
                </c:pt>
                <c:pt idx="3">
                  <c:v>27.482234698284319</c:v>
                </c:pt>
                <c:pt idx="4">
                  <c:v>7.8520670566526638</c:v>
                </c:pt>
                <c:pt idx="5">
                  <c:v>7.8520670566526638</c:v>
                </c:pt>
                <c:pt idx="6">
                  <c:v>3.9260335283263319</c:v>
                </c:pt>
              </c:numCache>
            </c:numRef>
          </c:val>
          <c:smooth val="0"/>
          <c:extLst>
            <c:ext xmlns:c16="http://schemas.microsoft.com/office/drawing/2014/chart" uri="{C3380CC4-5D6E-409C-BE32-E72D297353CC}">
              <c16:uniqueId val="{00000000-642B-468B-B0F6-F2CC9F36015B}"/>
            </c:ext>
          </c:extLst>
        </c:ser>
        <c:dLbls>
          <c:showLegendKey val="0"/>
          <c:showVal val="0"/>
          <c:showCatName val="0"/>
          <c:showSerName val="0"/>
          <c:showPercent val="0"/>
          <c:showBubbleSize val="0"/>
        </c:dLbls>
        <c:marker val="1"/>
        <c:smooth val="0"/>
        <c:axId val="767574176"/>
        <c:axId val="767575616"/>
      </c:lineChart>
      <c:catAx>
        <c:axId val="7675741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767575616"/>
        <c:crosses val="autoZero"/>
        <c:auto val="1"/>
        <c:lblAlgn val="ctr"/>
        <c:lblOffset val="100"/>
        <c:noMultiLvlLbl val="0"/>
      </c:catAx>
      <c:valAx>
        <c:axId val="767575616"/>
        <c:scaling>
          <c:orientation val="minMax"/>
          <c:max val="15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s-CO" b="1" noProof="0" err="1">
                    <a:solidFill>
                      <a:srgbClr val="6B6B6B"/>
                    </a:solidFill>
                  </a:rPr>
                  <a:t>N°</a:t>
                </a:r>
                <a:r>
                  <a:rPr lang="es-CO" b="1" noProof="0">
                    <a:solidFill>
                      <a:srgbClr val="6B6B6B"/>
                    </a:solidFill>
                  </a:rPr>
                  <a:t> pacientes</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s-CO"/>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7675741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s-CO"/>
    </a:p>
  </c:txPr>
  <c:externalData r:id="rId3">
    <c:autoUpdate val="0"/>
  </c:externalData>
</c:chartSpace>
</file>

<file path=ppt/charts/chart1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4FA9A7"/>
                </a:solidFill>
                <a:latin typeface="+mn-lt"/>
                <a:ea typeface="+mn-ea"/>
                <a:cs typeface="+mn-cs"/>
              </a:defRPr>
            </a:pPr>
            <a:r>
              <a:rPr lang="es-CO" b="1" noProof="0">
                <a:solidFill>
                  <a:srgbClr val="4FA9A7"/>
                </a:solidFill>
              </a:rPr>
              <a:t>Prevalencia Fomag2025-2026</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4FA9A7"/>
              </a:solidFill>
              <a:latin typeface="+mn-lt"/>
              <a:ea typeface="+mn-ea"/>
              <a:cs typeface="+mn-cs"/>
            </a:defRPr>
          </a:pPr>
          <a:endParaRPr lang="es-CO"/>
        </a:p>
      </c:txPr>
    </c:title>
    <c:autoTitleDeleted val="0"/>
    <c:plotArea>
      <c:layout/>
      <c:barChart>
        <c:barDir val="col"/>
        <c:grouping val="clustered"/>
        <c:varyColors val="0"/>
        <c:ser>
          <c:idx val="0"/>
          <c:order val="0"/>
          <c:tx>
            <c:strRef>
              <c:f>Prevalencia!$T$61</c:f>
              <c:strCache>
                <c:ptCount val="1"/>
                <c:pt idx="0">
                  <c:v>2025</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Prevalencia!$R$62:$R$73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Prevalencia!$T$62:$T$73</c:f>
              <c:numCache>
                <c:formatCode>General</c:formatCode>
                <c:ptCount val="12"/>
                <c:pt idx="0" formatCode="0">
                  <c:v>11.778100584978995</c:v>
                </c:pt>
                <c:pt idx="1">
                  <c:v>17</c:v>
                </c:pt>
                <c:pt idx="2">
                  <c:v>25</c:v>
                </c:pt>
                <c:pt idx="3">
                  <c:v>28</c:v>
                </c:pt>
                <c:pt idx="4">
                  <c:v>29</c:v>
                </c:pt>
                <c:pt idx="5">
                  <c:v>30</c:v>
                </c:pt>
                <c:pt idx="6">
                  <c:v>32</c:v>
                </c:pt>
                <c:pt idx="7">
                  <c:v>62</c:v>
                </c:pt>
                <c:pt idx="8">
                  <c:v>79</c:v>
                </c:pt>
                <c:pt idx="9">
                  <c:v>92</c:v>
                </c:pt>
                <c:pt idx="10">
                  <c:v>93</c:v>
                </c:pt>
                <c:pt idx="11">
                  <c:v>95</c:v>
                </c:pt>
              </c:numCache>
            </c:numRef>
          </c:val>
          <c:extLst>
            <c:ext xmlns:c16="http://schemas.microsoft.com/office/drawing/2014/chart" uri="{C3380CC4-5D6E-409C-BE32-E72D297353CC}">
              <c16:uniqueId val="{00000000-FF16-44D0-816D-E568A7842A9D}"/>
            </c:ext>
          </c:extLst>
        </c:ser>
        <c:ser>
          <c:idx val="2"/>
          <c:order val="2"/>
          <c:tx>
            <c:strRef>
              <c:f>Prevalencia!$V$61</c:f>
              <c:strCache>
                <c:ptCount val="1"/>
                <c:pt idx="0">
                  <c:v>2026</c:v>
                </c:pt>
              </c:strCache>
            </c:strRef>
          </c:tx>
          <c:spPr>
            <a:solidFill>
              <a:srgbClr val="4FA9A7"/>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Prevalencia!$R$62:$R$73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Prevalencia!$V$62:$V$73</c:f>
              <c:numCache>
                <c:formatCode>General</c:formatCode>
                <c:ptCount val="12"/>
                <c:pt idx="0" formatCode="0">
                  <c:v>96</c:v>
                </c:pt>
                <c:pt idx="1">
                  <c:v>98</c:v>
                </c:pt>
                <c:pt idx="2">
                  <c:v>100</c:v>
                </c:pt>
                <c:pt idx="3">
                  <c:v>106</c:v>
                </c:pt>
                <c:pt idx="4">
                  <c:v>108</c:v>
                </c:pt>
                <c:pt idx="5">
                  <c:v>110</c:v>
                </c:pt>
                <c:pt idx="6">
                  <c:v>111</c:v>
                </c:pt>
              </c:numCache>
            </c:numRef>
          </c:val>
          <c:extLst>
            <c:ext xmlns:c16="http://schemas.microsoft.com/office/drawing/2014/chart" uri="{C3380CC4-5D6E-409C-BE32-E72D297353CC}">
              <c16:uniqueId val="{00000001-FF16-44D0-816D-E568A7842A9D}"/>
            </c:ext>
          </c:extLst>
        </c:ser>
        <c:dLbls>
          <c:showLegendKey val="0"/>
          <c:showVal val="0"/>
          <c:showCatName val="0"/>
          <c:showSerName val="0"/>
          <c:showPercent val="0"/>
          <c:showBubbleSize val="0"/>
        </c:dLbls>
        <c:gapWidth val="150"/>
        <c:axId val="1617851056"/>
        <c:axId val="1617830896"/>
      </c:barChart>
      <c:lineChart>
        <c:grouping val="standard"/>
        <c:varyColors val="0"/>
        <c:ser>
          <c:idx val="1"/>
          <c:order val="1"/>
          <c:tx>
            <c:strRef>
              <c:f>Prevalencia!$U$61</c:f>
              <c:strCache>
                <c:ptCount val="1"/>
                <c:pt idx="0">
                  <c:v>Tasa prevalencia X 100 mil 2025</c:v>
                </c:pt>
              </c:strCache>
            </c:strRef>
          </c:tx>
          <c:spPr>
            <a:ln w="28575" cap="rnd">
              <a:solidFill>
                <a:schemeClr val="tx1"/>
              </a:solidFill>
              <a:round/>
            </a:ln>
            <a:effectLst/>
          </c:spPr>
          <c:marker>
            <c:symbol val="none"/>
          </c:marker>
          <c:dLbls>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leftArrow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Prevalencia!$R$62:$R$73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Prevalencia!$U$62:$U$73</c:f>
              <c:numCache>
                <c:formatCode>0</c:formatCode>
                <c:ptCount val="12"/>
                <c:pt idx="0">
                  <c:v>46.241217796627517</c:v>
                </c:pt>
                <c:pt idx="1">
                  <c:v>66.742569981547646</c:v>
                </c:pt>
                <c:pt idx="2">
                  <c:v>98.150838208158305</c:v>
                </c:pt>
                <c:pt idx="3">
                  <c:v>109.92893879313728</c:v>
                </c:pt>
                <c:pt idx="4">
                  <c:v>113.85497232146362</c:v>
                </c:pt>
                <c:pt idx="5">
                  <c:v>117.78100584978995</c:v>
                </c:pt>
                <c:pt idx="6">
                  <c:v>125.63307290644262</c:v>
                </c:pt>
                <c:pt idx="7">
                  <c:v>243.41407875623256</c:v>
                </c:pt>
                <c:pt idx="8">
                  <c:v>310.15664873778024</c:v>
                </c:pt>
                <c:pt idx="9">
                  <c:v>361.19508460602253</c:v>
                </c:pt>
                <c:pt idx="10">
                  <c:v>365.12111813434888</c:v>
                </c:pt>
                <c:pt idx="11">
                  <c:v>372.97318519100151</c:v>
                </c:pt>
              </c:numCache>
            </c:numRef>
          </c:val>
          <c:smooth val="0"/>
          <c:extLst>
            <c:ext xmlns:c16="http://schemas.microsoft.com/office/drawing/2014/chart" uri="{C3380CC4-5D6E-409C-BE32-E72D297353CC}">
              <c16:uniqueId val="{00000002-FF16-44D0-816D-E568A7842A9D}"/>
            </c:ext>
          </c:extLst>
        </c:ser>
        <c:ser>
          <c:idx val="3"/>
          <c:order val="3"/>
          <c:tx>
            <c:strRef>
              <c:f>Prevalencia!$W$61</c:f>
              <c:strCache>
                <c:ptCount val="1"/>
                <c:pt idx="0">
                  <c:v>Tasa prevalencia X 100 mil 2026</c:v>
                </c:pt>
              </c:strCache>
            </c:strRef>
          </c:tx>
          <c:spPr>
            <a:ln w="28575" cap="rnd">
              <a:solidFill>
                <a:srgbClr val="4FA9A7"/>
              </a:solidFill>
              <a:round/>
            </a:ln>
            <a:effectLst/>
          </c:spPr>
          <c:marker>
            <c:symbol val="none"/>
          </c:marker>
          <c:dLbls>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rgbClr val="4FA9A7"/>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leftArrow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Prevalencia!$R$62:$R$73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Prevalencia!$W$62:$W$73</c:f>
              <c:numCache>
                <c:formatCode>0</c:formatCode>
                <c:ptCount val="12"/>
                <c:pt idx="0">
                  <c:v>376.89921871932785</c:v>
                </c:pt>
                <c:pt idx="1">
                  <c:v>384.75128577598053</c:v>
                </c:pt>
                <c:pt idx="2">
                  <c:v>392.60335283263322</c:v>
                </c:pt>
                <c:pt idx="3">
                  <c:v>416.15955400259116</c:v>
                </c:pt>
                <c:pt idx="4">
                  <c:v>424.01162105924391</c:v>
                </c:pt>
                <c:pt idx="5">
                  <c:v>431.86368811589648</c:v>
                </c:pt>
                <c:pt idx="6">
                  <c:v>435.78972164422282</c:v>
                </c:pt>
              </c:numCache>
            </c:numRef>
          </c:val>
          <c:smooth val="0"/>
          <c:extLst>
            <c:ext xmlns:c16="http://schemas.microsoft.com/office/drawing/2014/chart" uri="{C3380CC4-5D6E-409C-BE32-E72D297353CC}">
              <c16:uniqueId val="{00000003-FF16-44D0-816D-E568A7842A9D}"/>
            </c:ext>
          </c:extLst>
        </c:ser>
        <c:dLbls>
          <c:showLegendKey val="0"/>
          <c:showVal val="0"/>
          <c:showCatName val="0"/>
          <c:showSerName val="0"/>
          <c:showPercent val="0"/>
          <c:showBubbleSize val="0"/>
        </c:dLbls>
        <c:marker val="1"/>
        <c:smooth val="0"/>
        <c:axId val="1617851056"/>
        <c:axId val="1617830896"/>
      </c:lineChart>
      <c:catAx>
        <c:axId val="16178510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617830896"/>
        <c:crosses val="autoZero"/>
        <c:auto val="1"/>
        <c:lblAlgn val="ctr"/>
        <c:lblOffset val="100"/>
        <c:noMultiLvlLbl val="0"/>
      </c:catAx>
      <c:valAx>
        <c:axId val="1617830896"/>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61785105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1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rgbClr val="4FA9A7"/>
                </a:solidFill>
                <a:latin typeface="+mn-lt"/>
                <a:ea typeface="+mn-ea"/>
                <a:cs typeface="+mn-cs"/>
              </a:defRPr>
            </a:pPr>
            <a:r>
              <a:rPr lang="es-CO" sz="1600" b="1" i="0" u="none" strike="noStrike" kern="1200" spc="0" baseline="0" noProof="0">
                <a:solidFill>
                  <a:srgbClr val="4FA9A7"/>
                </a:solidFill>
              </a:rPr>
              <a:t>Distribución de la Cohorte </a:t>
            </a:r>
            <a:r>
              <a:rPr lang="es-CO" sz="1600" b="1" i="0" u="none" strike="noStrike" kern="1200" spc="0" baseline="0" noProof="0" err="1">
                <a:solidFill>
                  <a:srgbClr val="4FA9A7"/>
                </a:solidFill>
              </a:rPr>
              <a:t>Fomag</a:t>
            </a:r>
            <a:endParaRPr lang="es-CO" sz="1600" b="1" i="0" u="none" strike="noStrike" kern="1200" spc="0" baseline="0" noProof="0">
              <a:solidFill>
                <a:srgbClr val="4FA9A7"/>
              </a:solidFill>
            </a:endParaRPr>
          </a:p>
        </c:rich>
      </c:tx>
      <c:overlay val="0"/>
      <c:spPr>
        <a:noFill/>
        <a:ln>
          <a:noFill/>
        </a:ln>
        <a:effectLst/>
      </c:spPr>
      <c:txPr>
        <a:bodyPr rot="0" spcFirstLastPara="1" vertOverflow="ellipsis" vert="horz" wrap="square" anchor="ctr" anchorCtr="1"/>
        <a:lstStyle/>
        <a:p>
          <a:pPr>
            <a:defRPr sz="1600" b="1" i="0" u="none" strike="noStrike" kern="1200" spc="0" baseline="0">
              <a:solidFill>
                <a:srgbClr val="4FA9A7"/>
              </a:solidFill>
              <a:latin typeface="+mn-lt"/>
              <a:ea typeface="+mn-ea"/>
              <a:cs typeface="+mn-cs"/>
            </a:defRPr>
          </a:pPr>
          <a:endParaRPr lang="es-CO"/>
        </a:p>
      </c:txPr>
    </c:title>
    <c:autoTitleDeleted val="0"/>
    <c:plotArea>
      <c:layout/>
      <c:barChart>
        <c:barDir val="col"/>
        <c:grouping val="clustered"/>
        <c:varyColors val="0"/>
        <c:ser>
          <c:idx val="0"/>
          <c:order val="0"/>
          <c:tx>
            <c:strRef>
              <c:f>Prevalencia!$AE$2</c:f>
              <c:strCache>
                <c:ptCount val="1"/>
                <c:pt idx="0">
                  <c:v>Casos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Prevalencia!$AD$3:$AD$17</c:f>
              <c:strCache>
                <c:ptCount val="15"/>
                <c:pt idx="0">
                  <c:v>16= Otros tumores de la piel</c:v>
                </c:pt>
                <c:pt idx="1">
                  <c:v>2= CAC Próstata</c:v>
                </c:pt>
                <c:pt idx="2">
                  <c:v>1= CAC Mama</c:v>
                </c:pt>
                <c:pt idx="3">
                  <c:v>4= CAC Colorectal</c:v>
                </c:pt>
                <c:pt idx="4">
                  <c:v>5= CAC Estómago</c:v>
                </c:pt>
                <c:pt idx="5">
                  <c:v>3= CAC Cérvix</c:v>
                </c:pt>
                <c:pt idx="6">
                  <c:v>18= Otros órganos genitales femeninos</c:v>
                </c:pt>
                <c:pt idx="7">
                  <c:v>12= Labio, cavidad bucal y faringe</c:v>
                </c:pt>
                <c:pt idx="8">
                  <c:v>22= Glándulas tiroides y endocrinas</c:v>
                </c:pt>
                <c:pt idx="9">
                  <c:v>9= CAC Linfoma No Hodgkin</c:v>
                </c:pt>
                <c:pt idx="10">
                  <c:v>24= Otros tumores malignos del tejido linfático, de los órganos hematopoyéticos y de tejidos afines</c:v>
                </c:pt>
                <c:pt idx="11">
                  <c:v>13= Otros órganos digestivos</c:v>
                </c:pt>
                <c:pt idx="12">
                  <c:v>7= CAC Pulmón</c:v>
                </c:pt>
                <c:pt idx="13">
                  <c:v>19= Otros órganos genitales masculinos</c:v>
                </c:pt>
                <c:pt idx="14">
                  <c:v>20= Vías urinarias</c:v>
                </c:pt>
              </c:strCache>
            </c:strRef>
          </c:cat>
          <c:val>
            <c:numRef>
              <c:f>Prevalencia!$AE$3:$AE$17</c:f>
              <c:numCache>
                <c:formatCode>General</c:formatCode>
                <c:ptCount val="15"/>
                <c:pt idx="0">
                  <c:v>31</c:v>
                </c:pt>
                <c:pt idx="1">
                  <c:v>22</c:v>
                </c:pt>
                <c:pt idx="2">
                  <c:v>19</c:v>
                </c:pt>
                <c:pt idx="3">
                  <c:v>10</c:v>
                </c:pt>
                <c:pt idx="4">
                  <c:v>5</c:v>
                </c:pt>
                <c:pt idx="5">
                  <c:v>5</c:v>
                </c:pt>
                <c:pt idx="6">
                  <c:v>4</c:v>
                </c:pt>
                <c:pt idx="7">
                  <c:v>3</c:v>
                </c:pt>
                <c:pt idx="8">
                  <c:v>3</c:v>
                </c:pt>
                <c:pt idx="9">
                  <c:v>2</c:v>
                </c:pt>
                <c:pt idx="10">
                  <c:v>2</c:v>
                </c:pt>
                <c:pt idx="11">
                  <c:v>2</c:v>
                </c:pt>
                <c:pt idx="12">
                  <c:v>1</c:v>
                </c:pt>
                <c:pt idx="13">
                  <c:v>1</c:v>
                </c:pt>
                <c:pt idx="14">
                  <c:v>1</c:v>
                </c:pt>
              </c:numCache>
            </c:numRef>
          </c:val>
          <c:extLst>
            <c:ext xmlns:c16="http://schemas.microsoft.com/office/drawing/2014/chart" uri="{C3380CC4-5D6E-409C-BE32-E72D297353CC}">
              <c16:uniqueId val="{00000000-91A7-491F-97EB-8ABABB5DF5F4}"/>
            </c:ext>
          </c:extLst>
        </c:ser>
        <c:dLbls>
          <c:showLegendKey val="0"/>
          <c:showVal val="0"/>
          <c:showCatName val="0"/>
          <c:showSerName val="0"/>
          <c:showPercent val="0"/>
          <c:showBubbleSize val="0"/>
        </c:dLbls>
        <c:gapWidth val="219"/>
        <c:axId val="990169584"/>
        <c:axId val="990162864"/>
      </c:barChart>
      <c:lineChart>
        <c:grouping val="standard"/>
        <c:varyColors val="0"/>
        <c:ser>
          <c:idx val="1"/>
          <c:order val="1"/>
          <c:tx>
            <c:strRef>
              <c:f>Prevalencia!$AF$2</c:f>
              <c:strCache>
                <c:ptCount val="1"/>
                <c:pt idx="0">
                  <c:v>Tasa x 100 mil</c:v>
                </c:pt>
              </c:strCache>
            </c:strRef>
          </c:tx>
          <c:spPr>
            <a:ln w="28575" cap="rnd">
              <a:solidFill>
                <a:srgbClr val="4FA9A7"/>
              </a:solidFill>
              <a:round/>
            </a:ln>
            <a:effectLst/>
          </c:spPr>
          <c:marker>
            <c:symbol val="none"/>
          </c:marker>
          <c:dLbls>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1400" b="0" i="0" u="none" strike="noStrike" kern="1200" baseline="0">
                    <a:solidFill>
                      <a:schemeClr val="dk1">
                        <a:lumMod val="65000"/>
                        <a:lumOff val="3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leftArrow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Prevalencia!$AD$3:$AD$17</c:f>
              <c:strCache>
                <c:ptCount val="15"/>
                <c:pt idx="0">
                  <c:v>16= Otros tumores de la piel</c:v>
                </c:pt>
                <c:pt idx="1">
                  <c:v>2= CAC Próstata</c:v>
                </c:pt>
                <c:pt idx="2">
                  <c:v>1= CAC Mama</c:v>
                </c:pt>
                <c:pt idx="3">
                  <c:v>4= CAC Colorectal</c:v>
                </c:pt>
                <c:pt idx="4">
                  <c:v>5= CAC Estómago</c:v>
                </c:pt>
                <c:pt idx="5">
                  <c:v>3= CAC Cérvix</c:v>
                </c:pt>
                <c:pt idx="6">
                  <c:v>18= Otros órganos genitales femeninos</c:v>
                </c:pt>
                <c:pt idx="7">
                  <c:v>12= Labio, cavidad bucal y faringe</c:v>
                </c:pt>
                <c:pt idx="8">
                  <c:v>22= Glándulas tiroides y endocrinas</c:v>
                </c:pt>
                <c:pt idx="9">
                  <c:v>9= CAC Linfoma No Hodgkin</c:v>
                </c:pt>
                <c:pt idx="10">
                  <c:v>24= Otros tumores malignos del tejido linfático, de los órganos hematopoyéticos y de tejidos afines</c:v>
                </c:pt>
                <c:pt idx="11">
                  <c:v>13= Otros órganos digestivos</c:v>
                </c:pt>
                <c:pt idx="12">
                  <c:v>7= CAC Pulmón</c:v>
                </c:pt>
                <c:pt idx="13">
                  <c:v>19= Otros órganos genitales masculinos</c:v>
                </c:pt>
                <c:pt idx="14">
                  <c:v>20= Vías urinarias</c:v>
                </c:pt>
              </c:strCache>
            </c:strRef>
          </c:cat>
          <c:val>
            <c:numRef>
              <c:f>Prevalencia!$AF$3:$AF$17</c:f>
              <c:numCache>
                <c:formatCode>0</c:formatCode>
                <c:ptCount val="15"/>
                <c:pt idx="0">
                  <c:v>121.70703937811628</c:v>
                </c:pt>
                <c:pt idx="1">
                  <c:v>86.372737623179304</c:v>
                </c:pt>
                <c:pt idx="2">
                  <c:v>74.594637038200304</c:v>
                </c:pt>
                <c:pt idx="3">
                  <c:v>39.260335283263316</c:v>
                </c:pt>
                <c:pt idx="4">
                  <c:v>19.630167641631658</c:v>
                </c:pt>
                <c:pt idx="5">
                  <c:v>19.630167641631658</c:v>
                </c:pt>
                <c:pt idx="6">
                  <c:v>15.704134113305328</c:v>
                </c:pt>
                <c:pt idx="7">
                  <c:v>11.778100584978995</c:v>
                </c:pt>
                <c:pt idx="8">
                  <c:v>11.778100584978995</c:v>
                </c:pt>
                <c:pt idx="9">
                  <c:v>7.8520670566526638</c:v>
                </c:pt>
                <c:pt idx="10">
                  <c:v>7.8520670566526638</c:v>
                </c:pt>
                <c:pt idx="11">
                  <c:v>7.8520670566526638</c:v>
                </c:pt>
                <c:pt idx="12">
                  <c:v>3.9260335283263319</c:v>
                </c:pt>
                <c:pt idx="13">
                  <c:v>3.9260335283263319</c:v>
                </c:pt>
                <c:pt idx="14">
                  <c:v>3.9260335283263319</c:v>
                </c:pt>
              </c:numCache>
            </c:numRef>
          </c:val>
          <c:smooth val="0"/>
          <c:extLst>
            <c:ext xmlns:c16="http://schemas.microsoft.com/office/drawing/2014/chart" uri="{C3380CC4-5D6E-409C-BE32-E72D297353CC}">
              <c16:uniqueId val="{00000001-91A7-491F-97EB-8ABABB5DF5F4}"/>
            </c:ext>
          </c:extLst>
        </c:ser>
        <c:dLbls>
          <c:showLegendKey val="0"/>
          <c:showVal val="0"/>
          <c:showCatName val="0"/>
          <c:showSerName val="0"/>
          <c:showPercent val="0"/>
          <c:showBubbleSize val="0"/>
        </c:dLbls>
        <c:marker val="1"/>
        <c:smooth val="0"/>
        <c:axId val="990169584"/>
        <c:axId val="990162864"/>
      </c:lineChart>
      <c:catAx>
        <c:axId val="9901695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990162864"/>
        <c:crosses val="autoZero"/>
        <c:auto val="1"/>
        <c:lblAlgn val="ctr"/>
        <c:lblOffset val="100"/>
        <c:noMultiLvlLbl val="0"/>
      </c:catAx>
      <c:valAx>
        <c:axId val="9901628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99016958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1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5579972691069871E-2"/>
          <c:y val="0.16629897686185896"/>
          <c:w val="0.91336541229928081"/>
          <c:h val="0.625348026652084"/>
        </c:manualLayout>
      </c:layout>
      <c:barChart>
        <c:barDir val="col"/>
        <c:grouping val="clustered"/>
        <c:varyColors val="0"/>
        <c:ser>
          <c:idx val="0"/>
          <c:order val="0"/>
          <c:tx>
            <c:strRef>
              <c:f>Hoja1!$A$2</c:f>
              <c:strCache>
                <c:ptCount val="1"/>
                <c:pt idx="0">
                  <c:v>Terapia sistemica</c:v>
                </c:pt>
              </c:strCache>
            </c:strRef>
          </c:tx>
          <c:spPr>
            <a:solidFill>
              <a:schemeClr val="accent1"/>
            </a:solidFill>
            <a:ln>
              <a:noFill/>
            </a:ln>
            <a:effectLst/>
          </c:spPr>
          <c:invertIfNegative val="0"/>
          <c:cat>
            <c:strRef>
              <c:f>Hoja1!$B$1:$S$1</c:f>
              <c:strCache>
                <c:ptCount val="18"/>
                <c:pt idx="0">
                  <c:v>feb-25</c:v>
                </c:pt>
                <c:pt idx="1">
                  <c:v>mar-25</c:v>
                </c:pt>
                <c:pt idx="2">
                  <c:v>abr-25</c:v>
                </c:pt>
                <c:pt idx="3">
                  <c:v>may-25</c:v>
                </c:pt>
                <c:pt idx="4">
                  <c:v>jun-25</c:v>
                </c:pt>
                <c:pt idx="5">
                  <c:v>jul-25</c:v>
                </c:pt>
                <c:pt idx="6">
                  <c:v>ago-25</c:v>
                </c:pt>
                <c:pt idx="7">
                  <c:v>sep-25</c:v>
                </c:pt>
                <c:pt idx="8">
                  <c:v>oct-25</c:v>
                </c:pt>
                <c:pt idx="9">
                  <c:v>nov-25</c:v>
                </c:pt>
                <c:pt idx="10">
                  <c:v>dic-25</c:v>
                </c:pt>
                <c:pt idx="11">
                  <c:v>ene-26</c:v>
                </c:pt>
                <c:pt idx="12">
                  <c:v>feb-26</c:v>
                </c:pt>
                <c:pt idx="13">
                  <c:v>mar-26</c:v>
                </c:pt>
                <c:pt idx="14">
                  <c:v>abr-26</c:v>
                </c:pt>
                <c:pt idx="15">
                  <c:v>may-26</c:v>
                </c:pt>
                <c:pt idx="16">
                  <c:v>jun-26</c:v>
                </c:pt>
                <c:pt idx="17">
                  <c:v>jul-26</c:v>
                </c:pt>
              </c:strCache>
            </c:strRef>
          </c:cat>
          <c:val>
            <c:numRef>
              <c:f>Hoja1!$B$2:$S$2</c:f>
              <c:numCache>
                <c:formatCode>0%</c:formatCode>
                <c:ptCount val="18"/>
                <c:pt idx="0">
                  <c:v>0.10526315789473684</c:v>
                </c:pt>
                <c:pt idx="1">
                  <c:v>0</c:v>
                </c:pt>
                <c:pt idx="2">
                  <c:v>0</c:v>
                </c:pt>
                <c:pt idx="3">
                  <c:v>6.4516129032258063E-2</c:v>
                </c:pt>
                <c:pt idx="4">
                  <c:v>3.125E-2</c:v>
                </c:pt>
                <c:pt idx="5">
                  <c:v>8.8235294117647065E-2</c:v>
                </c:pt>
                <c:pt idx="6">
                  <c:v>7.8125E-2</c:v>
                </c:pt>
                <c:pt idx="7">
                  <c:v>0.12345679012345678</c:v>
                </c:pt>
                <c:pt idx="8">
                  <c:v>3.1914893617021274E-2</c:v>
                </c:pt>
                <c:pt idx="9">
                  <c:v>7.3684210526315783E-2</c:v>
                </c:pt>
                <c:pt idx="10">
                  <c:v>5.1546391752577317E-2</c:v>
                </c:pt>
                <c:pt idx="11">
                  <c:v>4.2105263157894736E-2</c:v>
                </c:pt>
                <c:pt idx="12">
                  <c:v>3.125E-2</c:v>
                </c:pt>
                <c:pt idx="13">
                  <c:v>5.1020408163265307E-2</c:v>
                </c:pt>
                <c:pt idx="14">
                  <c:v>1.9047619047619049E-2</c:v>
                </c:pt>
                <c:pt idx="15">
                  <c:v>6.5420560747663545E-2</c:v>
                </c:pt>
                <c:pt idx="16">
                  <c:v>2.7272727272727271E-2</c:v>
                </c:pt>
                <c:pt idx="17">
                  <c:v>9.0090090090090089E-3</c:v>
                </c:pt>
              </c:numCache>
            </c:numRef>
          </c:val>
          <c:extLst>
            <c:ext xmlns:c16="http://schemas.microsoft.com/office/drawing/2014/chart" uri="{C3380CC4-5D6E-409C-BE32-E72D297353CC}">
              <c16:uniqueId val="{00000000-23E9-48BE-B6B1-EAD9636087D7}"/>
            </c:ext>
          </c:extLst>
        </c:ser>
        <c:ser>
          <c:idx val="1"/>
          <c:order val="1"/>
          <c:tx>
            <c:strRef>
              <c:f>Hoja1!$A$3</c:f>
              <c:strCache>
                <c:ptCount val="1"/>
                <c:pt idx="0">
                  <c:v>Radioterapia</c:v>
                </c:pt>
              </c:strCache>
            </c:strRef>
          </c:tx>
          <c:spPr>
            <a:solidFill>
              <a:srgbClr val="1CA6A0"/>
            </a:solidFill>
            <a:ln>
              <a:noFill/>
            </a:ln>
            <a:effectLst/>
          </c:spPr>
          <c:invertIfNegative val="0"/>
          <c:cat>
            <c:strRef>
              <c:f>Hoja1!$B$1:$S$1</c:f>
              <c:strCache>
                <c:ptCount val="18"/>
                <c:pt idx="0">
                  <c:v>feb-25</c:v>
                </c:pt>
                <c:pt idx="1">
                  <c:v>mar-25</c:v>
                </c:pt>
                <c:pt idx="2">
                  <c:v>abr-25</c:v>
                </c:pt>
                <c:pt idx="3">
                  <c:v>may-25</c:v>
                </c:pt>
                <c:pt idx="4">
                  <c:v>jun-25</c:v>
                </c:pt>
                <c:pt idx="5">
                  <c:v>jul-25</c:v>
                </c:pt>
                <c:pt idx="6">
                  <c:v>ago-25</c:v>
                </c:pt>
                <c:pt idx="7">
                  <c:v>sep-25</c:v>
                </c:pt>
                <c:pt idx="8">
                  <c:v>oct-25</c:v>
                </c:pt>
                <c:pt idx="9">
                  <c:v>nov-25</c:v>
                </c:pt>
                <c:pt idx="10">
                  <c:v>dic-25</c:v>
                </c:pt>
                <c:pt idx="11">
                  <c:v>ene-26</c:v>
                </c:pt>
                <c:pt idx="12">
                  <c:v>feb-26</c:v>
                </c:pt>
                <c:pt idx="13">
                  <c:v>mar-26</c:v>
                </c:pt>
                <c:pt idx="14">
                  <c:v>abr-26</c:v>
                </c:pt>
                <c:pt idx="15">
                  <c:v>may-26</c:v>
                </c:pt>
                <c:pt idx="16">
                  <c:v>jun-26</c:v>
                </c:pt>
                <c:pt idx="17">
                  <c:v>jul-26</c:v>
                </c:pt>
              </c:strCache>
            </c:strRef>
          </c:cat>
          <c:val>
            <c:numRef>
              <c:f>Hoja1!$B$3:$S$3</c:f>
              <c:numCache>
                <c:formatCode>0%</c:formatCode>
                <c:ptCount val="18"/>
                <c:pt idx="0">
                  <c:v>0</c:v>
                </c:pt>
                <c:pt idx="1">
                  <c:v>0</c:v>
                </c:pt>
                <c:pt idx="2">
                  <c:v>0</c:v>
                </c:pt>
                <c:pt idx="3">
                  <c:v>0</c:v>
                </c:pt>
                <c:pt idx="4">
                  <c:v>0</c:v>
                </c:pt>
                <c:pt idx="5">
                  <c:v>0</c:v>
                </c:pt>
                <c:pt idx="6">
                  <c:v>6.25E-2</c:v>
                </c:pt>
                <c:pt idx="7">
                  <c:v>1.2345679012345678E-2</c:v>
                </c:pt>
                <c:pt idx="8">
                  <c:v>1.0638297872340425E-2</c:v>
                </c:pt>
                <c:pt idx="9">
                  <c:v>0</c:v>
                </c:pt>
                <c:pt idx="10">
                  <c:v>0</c:v>
                </c:pt>
                <c:pt idx="11">
                  <c:v>1.0526315789473684E-2</c:v>
                </c:pt>
                <c:pt idx="12">
                  <c:v>0</c:v>
                </c:pt>
                <c:pt idx="13">
                  <c:v>0</c:v>
                </c:pt>
                <c:pt idx="14">
                  <c:v>9.5238095238095247E-3</c:v>
                </c:pt>
                <c:pt idx="15">
                  <c:v>0</c:v>
                </c:pt>
                <c:pt idx="16">
                  <c:v>0</c:v>
                </c:pt>
                <c:pt idx="17">
                  <c:v>0</c:v>
                </c:pt>
              </c:numCache>
            </c:numRef>
          </c:val>
          <c:extLst>
            <c:ext xmlns:c16="http://schemas.microsoft.com/office/drawing/2014/chart" uri="{C3380CC4-5D6E-409C-BE32-E72D297353CC}">
              <c16:uniqueId val="{00000001-23E9-48BE-B6B1-EAD9636087D7}"/>
            </c:ext>
          </c:extLst>
        </c:ser>
        <c:ser>
          <c:idx val="2"/>
          <c:order val="2"/>
          <c:tx>
            <c:strRef>
              <c:f>Hoja1!$A$4</c:f>
              <c:strCache>
                <c:ptCount val="1"/>
                <c:pt idx="0">
                  <c:v>Cirugia</c:v>
                </c:pt>
              </c:strCache>
            </c:strRef>
          </c:tx>
          <c:spPr>
            <a:solidFill>
              <a:schemeClr val="bg1">
                <a:lumMod val="50000"/>
              </a:schemeClr>
            </a:solidFill>
            <a:ln>
              <a:noFill/>
            </a:ln>
            <a:effectLst/>
          </c:spPr>
          <c:invertIfNegative val="0"/>
          <c:cat>
            <c:strRef>
              <c:f>Hoja1!$B$1:$S$1</c:f>
              <c:strCache>
                <c:ptCount val="18"/>
                <c:pt idx="0">
                  <c:v>feb-25</c:v>
                </c:pt>
                <c:pt idx="1">
                  <c:v>mar-25</c:v>
                </c:pt>
                <c:pt idx="2">
                  <c:v>abr-25</c:v>
                </c:pt>
                <c:pt idx="3">
                  <c:v>may-25</c:v>
                </c:pt>
                <c:pt idx="4">
                  <c:v>jun-25</c:v>
                </c:pt>
                <c:pt idx="5">
                  <c:v>jul-25</c:v>
                </c:pt>
                <c:pt idx="6">
                  <c:v>ago-25</c:v>
                </c:pt>
                <c:pt idx="7">
                  <c:v>sep-25</c:v>
                </c:pt>
                <c:pt idx="8">
                  <c:v>oct-25</c:v>
                </c:pt>
                <c:pt idx="9">
                  <c:v>nov-25</c:v>
                </c:pt>
                <c:pt idx="10">
                  <c:v>dic-25</c:v>
                </c:pt>
                <c:pt idx="11">
                  <c:v>ene-26</c:v>
                </c:pt>
                <c:pt idx="12">
                  <c:v>feb-26</c:v>
                </c:pt>
                <c:pt idx="13">
                  <c:v>mar-26</c:v>
                </c:pt>
                <c:pt idx="14">
                  <c:v>abr-26</c:v>
                </c:pt>
                <c:pt idx="15">
                  <c:v>may-26</c:v>
                </c:pt>
                <c:pt idx="16">
                  <c:v>jun-26</c:v>
                </c:pt>
                <c:pt idx="17">
                  <c:v>jul-26</c:v>
                </c:pt>
              </c:strCache>
            </c:strRef>
          </c:cat>
          <c:val>
            <c:numRef>
              <c:f>Hoja1!$B$4:$S$4</c:f>
              <c:numCache>
                <c:formatCode>0%</c:formatCode>
                <c:ptCount val="18"/>
                <c:pt idx="0">
                  <c:v>0</c:v>
                </c:pt>
                <c:pt idx="1">
                  <c:v>7.407407407407407E-2</c:v>
                </c:pt>
                <c:pt idx="2">
                  <c:v>0</c:v>
                </c:pt>
                <c:pt idx="3">
                  <c:v>0</c:v>
                </c:pt>
                <c:pt idx="4">
                  <c:v>0</c:v>
                </c:pt>
                <c:pt idx="5">
                  <c:v>0</c:v>
                </c:pt>
                <c:pt idx="6">
                  <c:v>4.6875E-2</c:v>
                </c:pt>
                <c:pt idx="7">
                  <c:v>3.7037037037037035E-2</c:v>
                </c:pt>
                <c:pt idx="8">
                  <c:v>1.0638297872340425E-2</c:v>
                </c:pt>
                <c:pt idx="9">
                  <c:v>0</c:v>
                </c:pt>
                <c:pt idx="10">
                  <c:v>1.0309278350515464E-2</c:v>
                </c:pt>
                <c:pt idx="11">
                  <c:v>0</c:v>
                </c:pt>
                <c:pt idx="12">
                  <c:v>0</c:v>
                </c:pt>
                <c:pt idx="13">
                  <c:v>3.0612244897959183E-2</c:v>
                </c:pt>
                <c:pt idx="14">
                  <c:v>3.8095238095238099E-2</c:v>
                </c:pt>
                <c:pt idx="15">
                  <c:v>1.8691588785046728E-2</c:v>
                </c:pt>
                <c:pt idx="16">
                  <c:v>9.0909090909090905E-3</c:v>
                </c:pt>
                <c:pt idx="17">
                  <c:v>4.5045045045045043E-2</c:v>
                </c:pt>
              </c:numCache>
            </c:numRef>
          </c:val>
          <c:extLst>
            <c:ext xmlns:c16="http://schemas.microsoft.com/office/drawing/2014/chart" uri="{C3380CC4-5D6E-409C-BE32-E72D297353CC}">
              <c16:uniqueId val="{00000002-23E9-48BE-B6B1-EAD9636087D7}"/>
            </c:ext>
          </c:extLst>
        </c:ser>
        <c:dLbls>
          <c:showLegendKey val="0"/>
          <c:showVal val="0"/>
          <c:showCatName val="0"/>
          <c:showSerName val="0"/>
          <c:showPercent val="0"/>
          <c:showBubbleSize val="0"/>
        </c:dLbls>
        <c:gapWidth val="219"/>
        <c:axId val="2061031887"/>
        <c:axId val="2061024207"/>
      </c:barChart>
      <c:lineChart>
        <c:grouping val="standard"/>
        <c:varyColors val="0"/>
        <c:ser>
          <c:idx val="3"/>
          <c:order val="3"/>
          <c:tx>
            <c:strRef>
              <c:f>Hoja1!$A$5</c:f>
              <c:strCache>
                <c:ptCount val="1"/>
                <c:pt idx="0">
                  <c:v>Total</c:v>
                </c:pt>
              </c:strCache>
            </c:strRef>
          </c:tx>
          <c:spPr>
            <a:ln w="28575" cap="rnd">
              <a:solidFill>
                <a:srgbClr val="000000"/>
              </a:solidFill>
              <a:round/>
            </a:ln>
            <a:effectLst/>
          </c:spPr>
          <c:marker>
            <c:symbol val="none"/>
          </c:marker>
          <c:dLbls>
            <c:spPr>
              <a:solidFill>
                <a:srgbClr val="FFFFFF"/>
              </a:solidFill>
              <a:ln>
                <a:solidFill>
                  <a:srgbClr val="80589F">
                    <a:lumMod val="25000"/>
                    <a:lumOff val="75000"/>
                  </a:srgbClr>
                </a:solidFill>
              </a:ln>
              <a:effectLst/>
            </c:spPr>
            <c:txPr>
              <a:bodyPr rot="0" spcFirstLastPara="1" vertOverflow="clip" horzOverflow="clip" vert="horz" wrap="square" lIns="36576" tIns="18288" rIns="36576" bIns="18288" anchor="ctr" anchorCtr="1">
                <a:spAutoFit/>
              </a:bodyPr>
              <a:lstStyle/>
              <a:p>
                <a:pPr>
                  <a:defRPr sz="1197" b="0" i="0" u="none" strike="noStrike" kern="1200" baseline="0">
                    <a:solidFill>
                      <a:srgbClr val="000000"/>
                    </a:solidFill>
                    <a:latin typeface="+mn-lt"/>
                    <a:ea typeface="+mn-ea"/>
                    <a:cs typeface="+mn-cs"/>
                  </a:defRPr>
                </a:pPr>
                <a:endParaRPr lang="es-CO"/>
              </a:p>
            </c:txPr>
            <c:dLblPos val="t"/>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Hoja1!$B$1:$S$1</c:f>
              <c:strCache>
                <c:ptCount val="18"/>
                <c:pt idx="0">
                  <c:v>feb-25</c:v>
                </c:pt>
                <c:pt idx="1">
                  <c:v>mar-25</c:v>
                </c:pt>
                <c:pt idx="2">
                  <c:v>abr-25</c:v>
                </c:pt>
                <c:pt idx="3">
                  <c:v>may-25</c:v>
                </c:pt>
                <c:pt idx="4">
                  <c:v>jun-25</c:v>
                </c:pt>
                <c:pt idx="5">
                  <c:v>jul-25</c:v>
                </c:pt>
                <c:pt idx="6">
                  <c:v>ago-25</c:v>
                </c:pt>
                <c:pt idx="7">
                  <c:v>sep-25</c:v>
                </c:pt>
                <c:pt idx="8">
                  <c:v>oct-25</c:v>
                </c:pt>
                <c:pt idx="9">
                  <c:v>nov-25</c:v>
                </c:pt>
                <c:pt idx="10">
                  <c:v>dic-25</c:v>
                </c:pt>
                <c:pt idx="11">
                  <c:v>ene-26</c:v>
                </c:pt>
                <c:pt idx="12">
                  <c:v>feb-26</c:v>
                </c:pt>
                <c:pt idx="13">
                  <c:v>mar-26</c:v>
                </c:pt>
                <c:pt idx="14">
                  <c:v>abr-26</c:v>
                </c:pt>
                <c:pt idx="15">
                  <c:v>may-26</c:v>
                </c:pt>
                <c:pt idx="16">
                  <c:v>jun-26</c:v>
                </c:pt>
                <c:pt idx="17">
                  <c:v>jul-26</c:v>
                </c:pt>
              </c:strCache>
            </c:strRef>
          </c:cat>
          <c:val>
            <c:numRef>
              <c:f>Hoja1!$B$5:$S$5</c:f>
              <c:numCache>
                <c:formatCode>0%</c:formatCode>
                <c:ptCount val="18"/>
                <c:pt idx="0">
                  <c:v>0.10526315789473684</c:v>
                </c:pt>
                <c:pt idx="1">
                  <c:v>7.407407407407407E-2</c:v>
                </c:pt>
                <c:pt idx="2">
                  <c:v>0</c:v>
                </c:pt>
                <c:pt idx="3">
                  <c:v>6.4516129032258063E-2</c:v>
                </c:pt>
                <c:pt idx="4">
                  <c:v>3.125E-2</c:v>
                </c:pt>
                <c:pt idx="5">
                  <c:v>8.8235294117647065E-2</c:v>
                </c:pt>
                <c:pt idx="6">
                  <c:v>0.1875</c:v>
                </c:pt>
                <c:pt idx="7">
                  <c:v>0.1728395061728395</c:v>
                </c:pt>
                <c:pt idx="8">
                  <c:v>5.3191489361702128E-2</c:v>
                </c:pt>
                <c:pt idx="9">
                  <c:v>7.3684210526315783E-2</c:v>
                </c:pt>
                <c:pt idx="10">
                  <c:v>6.1855670103092779E-2</c:v>
                </c:pt>
                <c:pt idx="11">
                  <c:v>5.2631578947368418E-2</c:v>
                </c:pt>
                <c:pt idx="12">
                  <c:v>3.125E-2</c:v>
                </c:pt>
                <c:pt idx="13">
                  <c:v>8.1632653061224497E-2</c:v>
                </c:pt>
                <c:pt idx="14">
                  <c:v>6.666666666666668E-2</c:v>
                </c:pt>
                <c:pt idx="15">
                  <c:v>8.4112149532710276E-2</c:v>
                </c:pt>
                <c:pt idx="16">
                  <c:v>3.6363636363636362E-2</c:v>
                </c:pt>
                <c:pt idx="17">
                  <c:v>5.405405405405405E-2</c:v>
                </c:pt>
              </c:numCache>
            </c:numRef>
          </c:val>
          <c:smooth val="0"/>
          <c:extLst>
            <c:ext xmlns:c16="http://schemas.microsoft.com/office/drawing/2014/chart" uri="{C3380CC4-5D6E-409C-BE32-E72D297353CC}">
              <c16:uniqueId val="{00000003-23E9-48BE-B6B1-EAD9636087D7}"/>
            </c:ext>
          </c:extLst>
        </c:ser>
        <c:dLbls>
          <c:showLegendKey val="0"/>
          <c:showVal val="0"/>
          <c:showCatName val="0"/>
          <c:showSerName val="0"/>
          <c:showPercent val="0"/>
          <c:showBubbleSize val="0"/>
        </c:dLbls>
        <c:marker val="1"/>
        <c:smooth val="0"/>
        <c:axId val="2061031887"/>
        <c:axId val="2061024207"/>
      </c:lineChart>
      <c:catAx>
        <c:axId val="20610318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2061024207"/>
        <c:crosses val="autoZero"/>
        <c:auto val="1"/>
        <c:lblAlgn val="ctr"/>
        <c:lblOffset val="100"/>
        <c:noMultiLvlLbl val="0"/>
      </c:catAx>
      <c:valAx>
        <c:axId val="2061024207"/>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206103188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1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s-CO" sz="1600" b="1" noProof="0">
                <a:solidFill>
                  <a:schemeClr val="tx1"/>
                </a:solidFill>
              </a:rPr>
              <a:t>Oportunidad</a:t>
            </a:r>
            <a:r>
              <a:rPr lang="es-CO" sz="1600" b="1" baseline="0" noProof="0">
                <a:solidFill>
                  <a:schemeClr val="tx1"/>
                </a:solidFill>
              </a:rPr>
              <a:t> de quimioterapia</a:t>
            </a:r>
            <a:endParaRPr lang="es-CO" sz="1600" b="1" noProof="0">
              <a:solidFill>
                <a:schemeClr val="tx1"/>
              </a:solidFill>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Hoja1!$C$1</c:f>
              <c:strCache>
                <c:ptCount val="1"/>
                <c:pt idx="0">
                  <c:v>2025</c:v>
                </c:pt>
              </c:strCache>
            </c:strRef>
          </c:tx>
          <c:spPr>
            <a:solidFill>
              <a:srgbClr val="00A19C"/>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45A9A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Hoja1!$C$2:$C$13</c:f>
              <c:numCache>
                <c:formatCode>0</c:formatCode>
                <c:ptCount val="12"/>
                <c:pt idx="0">
                  <c:v>10</c:v>
                </c:pt>
                <c:pt idx="1">
                  <c:v>7</c:v>
                </c:pt>
                <c:pt idx="2">
                  <c:v>7</c:v>
                </c:pt>
                <c:pt idx="3">
                  <c:v>7</c:v>
                </c:pt>
                <c:pt idx="4">
                  <c:v>7</c:v>
                </c:pt>
                <c:pt idx="5">
                  <c:v>7</c:v>
                </c:pt>
                <c:pt idx="6">
                  <c:v>9.5</c:v>
                </c:pt>
                <c:pt idx="7">
                  <c:v>10</c:v>
                </c:pt>
                <c:pt idx="8">
                  <c:v>11</c:v>
                </c:pt>
                <c:pt idx="9">
                  <c:v>7.8</c:v>
                </c:pt>
                <c:pt idx="10">
                  <c:v>8.4</c:v>
                </c:pt>
                <c:pt idx="11">
                  <c:v>8.1</c:v>
                </c:pt>
              </c:numCache>
            </c:numRef>
          </c:val>
          <c:extLst>
            <c:ext xmlns:c16="http://schemas.microsoft.com/office/drawing/2014/chart" uri="{C3380CC4-5D6E-409C-BE32-E72D297353CC}">
              <c16:uniqueId val="{00000000-42D9-4FD8-AB28-EAFCE23E12DC}"/>
            </c:ext>
          </c:extLst>
        </c:ser>
        <c:ser>
          <c:idx val="1"/>
          <c:order val="1"/>
          <c:tx>
            <c:strRef>
              <c:f>Hoja1!$D$1</c:f>
              <c:strCache>
                <c:ptCount val="1"/>
                <c:pt idx="0">
                  <c:v>2026</c:v>
                </c:pt>
              </c:strCache>
            </c:strRef>
          </c:tx>
          <c:spPr>
            <a:solidFill>
              <a:schemeClr val="tx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Hoja1!$D$2:$D$13</c:f>
              <c:numCache>
                <c:formatCode>0</c:formatCode>
                <c:ptCount val="12"/>
                <c:pt idx="0">
                  <c:v>20</c:v>
                </c:pt>
                <c:pt idx="1">
                  <c:v>18.2</c:v>
                </c:pt>
                <c:pt idx="2">
                  <c:v>15</c:v>
                </c:pt>
                <c:pt idx="3">
                  <c:v>10</c:v>
                </c:pt>
                <c:pt idx="4">
                  <c:v>11</c:v>
                </c:pt>
                <c:pt idx="5">
                  <c:v>12</c:v>
                </c:pt>
              </c:numCache>
            </c:numRef>
          </c:val>
          <c:extLst>
            <c:ext xmlns:c16="http://schemas.microsoft.com/office/drawing/2014/chart" uri="{C3380CC4-5D6E-409C-BE32-E72D297353CC}">
              <c16:uniqueId val="{00000000-0786-4630-A172-FEC81A43E53A}"/>
            </c:ext>
          </c:extLst>
        </c:ser>
        <c:dLbls>
          <c:showLegendKey val="0"/>
          <c:showVal val="0"/>
          <c:showCatName val="0"/>
          <c:showSerName val="0"/>
          <c:showPercent val="0"/>
          <c:showBubbleSize val="0"/>
        </c:dLbls>
        <c:gapWidth val="75"/>
        <c:overlap val="-25"/>
        <c:axId val="1418613503"/>
        <c:axId val="1418609663"/>
      </c:barChart>
      <c:lineChart>
        <c:grouping val="standard"/>
        <c:varyColors val="0"/>
        <c:ser>
          <c:idx val="2"/>
          <c:order val="2"/>
          <c:tx>
            <c:strRef>
              <c:f>Hoja1!$E$1</c:f>
              <c:strCache>
                <c:ptCount val="1"/>
                <c:pt idx="0">
                  <c:v>meta</c:v>
                </c:pt>
              </c:strCache>
            </c:strRef>
          </c:tx>
          <c:spPr>
            <a:ln w="28575" cap="rnd">
              <a:solidFill>
                <a:schemeClr val="accent1">
                  <a:lumMod val="50000"/>
                </a:schemeClr>
              </a:solidFill>
              <a:round/>
            </a:ln>
            <a:effectLst/>
          </c:spPr>
          <c:marker>
            <c:symbol val="none"/>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Hoja1!$E$2:$E$13</c:f>
              <c:numCache>
                <c:formatCode>0</c:formatCode>
                <c:ptCount val="12"/>
                <c:pt idx="0">
                  <c:v>15</c:v>
                </c:pt>
                <c:pt idx="1">
                  <c:v>15</c:v>
                </c:pt>
                <c:pt idx="2">
                  <c:v>15</c:v>
                </c:pt>
                <c:pt idx="3">
                  <c:v>15</c:v>
                </c:pt>
                <c:pt idx="4">
                  <c:v>15</c:v>
                </c:pt>
                <c:pt idx="5">
                  <c:v>15</c:v>
                </c:pt>
                <c:pt idx="6">
                  <c:v>15</c:v>
                </c:pt>
                <c:pt idx="7">
                  <c:v>15</c:v>
                </c:pt>
                <c:pt idx="8">
                  <c:v>15</c:v>
                </c:pt>
                <c:pt idx="9">
                  <c:v>15</c:v>
                </c:pt>
                <c:pt idx="10">
                  <c:v>15</c:v>
                </c:pt>
                <c:pt idx="11">
                  <c:v>15</c:v>
                </c:pt>
              </c:numCache>
            </c:numRef>
          </c:val>
          <c:smooth val="0"/>
          <c:extLst>
            <c:ext xmlns:c16="http://schemas.microsoft.com/office/drawing/2014/chart" uri="{C3380CC4-5D6E-409C-BE32-E72D297353CC}">
              <c16:uniqueId val="{00000002-6D7F-4BAD-97FA-5A0142977C93}"/>
            </c:ext>
          </c:extLst>
        </c:ser>
        <c:dLbls>
          <c:showLegendKey val="0"/>
          <c:showVal val="0"/>
          <c:showCatName val="0"/>
          <c:showSerName val="0"/>
          <c:showPercent val="0"/>
          <c:showBubbleSize val="0"/>
        </c:dLbls>
        <c:marker val="1"/>
        <c:smooth val="0"/>
        <c:axId val="1418613503"/>
        <c:axId val="1418609663"/>
      </c:lineChart>
      <c:catAx>
        <c:axId val="14186135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418609663"/>
        <c:crosses val="autoZero"/>
        <c:auto val="1"/>
        <c:lblAlgn val="ctr"/>
        <c:lblOffset val="100"/>
        <c:noMultiLvlLbl val="0"/>
      </c:catAx>
      <c:valAx>
        <c:axId val="1418609663"/>
        <c:scaling>
          <c:orientation val="minMax"/>
          <c:max val="25"/>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418613503"/>
        <c:crosses val="autoZero"/>
        <c:crossBetween val="between"/>
        <c:majorUnit val="5"/>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s-CO"/>
    </a:p>
  </c:txPr>
  <c:externalData r:id="rId3">
    <c:autoUpdate val="0"/>
  </c:externalData>
</c:chartSpace>
</file>

<file path=ppt/charts/chart1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s-CO" sz="1600" b="1" noProof="0">
                <a:solidFill>
                  <a:schemeClr val="tx1"/>
                </a:solidFill>
              </a:rPr>
              <a:t>Oportunidad de</a:t>
            </a:r>
            <a:r>
              <a:rPr lang="es-CO" sz="1600" b="1" baseline="0" noProof="0">
                <a:solidFill>
                  <a:schemeClr val="tx1"/>
                </a:solidFill>
              </a:rPr>
              <a:t> procedimientos quirúrgicos </a:t>
            </a:r>
            <a:endParaRPr lang="es-CO" sz="1600" b="1" noProof="0">
              <a:solidFill>
                <a:schemeClr val="tx1"/>
              </a:solidFill>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Hoja1!$C$1</c:f>
              <c:strCache>
                <c:ptCount val="1"/>
                <c:pt idx="0">
                  <c:v>2025</c:v>
                </c:pt>
              </c:strCache>
            </c:strRef>
          </c:tx>
          <c:spPr>
            <a:solidFill>
              <a:srgbClr val="00A19C"/>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45A9A1"/>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Hoja1!$C$2:$C$13</c:f>
              <c:numCache>
                <c:formatCode>0</c:formatCode>
                <c:ptCount val="12"/>
                <c:pt idx="0">
                  <c:v>61</c:v>
                </c:pt>
                <c:pt idx="1">
                  <c:v>58</c:v>
                </c:pt>
                <c:pt idx="2">
                  <c:v>54.9</c:v>
                </c:pt>
                <c:pt idx="3">
                  <c:v>79</c:v>
                </c:pt>
                <c:pt idx="4">
                  <c:v>60.5</c:v>
                </c:pt>
                <c:pt idx="5">
                  <c:v>31.7</c:v>
                </c:pt>
                <c:pt idx="6">
                  <c:v>48.1</c:v>
                </c:pt>
                <c:pt idx="7">
                  <c:v>47.8</c:v>
                </c:pt>
                <c:pt idx="8">
                  <c:v>44</c:v>
                </c:pt>
                <c:pt idx="9">
                  <c:v>47.3</c:v>
                </c:pt>
                <c:pt idx="10">
                  <c:v>53</c:v>
                </c:pt>
                <c:pt idx="11">
                  <c:v>40.700000000000003</c:v>
                </c:pt>
              </c:numCache>
            </c:numRef>
          </c:val>
          <c:extLst>
            <c:ext xmlns:c16="http://schemas.microsoft.com/office/drawing/2014/chart" uri="{C3380CC4-5D6E-409C-BE32-E72D297353CC}">
              <c16:uniqueId val="{00000000-9D83-4C8F-842A-320324160D41}"/>
            </c:ext>
          </c:extLst>
        </c:ser>
        <c:ser>
          <c:idx val="1"/>
          <c:order val="1"/>
          <c:tx>
            <c:strRef>
              <c:f>Hoja1!$D$1</c:f>
              <c:strCache>
                <c:ptCount val="1"/>
                <c:pt idx="0">
                  <c:v>2026</c:v>
                </c:pt>
              </c:strCache>
            </c:strRef>
          </c:tx>
          <c:spPr>
            <a:solidFill>
              <a:schemeClr val="tx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Hoja1!$D$2:$D$13</c:f>
              <c:numCache>
                <c:formatCode>General</c:formatCode>
                <c:ptCount val="12"/>
                <c:pt idx="0">
                  <c:v>38</c:v>
                </c:pt>
                <c:pt idx="1">
                  <c:v>40</c:v>
                </c:pt>
                <c:pt idx="2">
                  <c:v>29</c:v>
                </c:pt>
                <c:pt idx="3">
                  <c:v>32</c:v>
                </c:pt>
                <c:pt idx="4">
                  <c:v>35</c:v>
                </c:pt>
                <c:pt idx="5">
                  <c:v>65</c:v>
                </c:pt>
              </c:numCache>
            </c:numRef>
          </c:val>
          <c:extLst>
            <c:ext xmlns:c16="http://schemas.microsoft.com/office/drawing/2014/chart" uri="{C3380CC4-5D6E-409C-BE32-E72D297353CC}">
              <c16:uniqueId val="{00000000-34C9-42DA-B53E-E477EA48F6F7}"/>
            </c:ext>
          </c:extLst>
        </c:ser>
        <c:dLbls>
          <c:showLegendKey val="0"/>
          <c:showVal val="0"/>
          <c:showCatName val="0"/>
          <c:showSerName val="0"/>
          <c:showPercent val="0"/>
          <c:showBubbleSize val="0"/>
        </c:dLbls>
        <c:gapWidth val="75"/>
        <c:overlap val="-25"/>
        <c:axId val="1418613503"/>
        <c:axId val="1418609663"/>
      </c:barChart>
      <c:lineChart>
        <c:grouping val="standard"/>
        <c:varyColors val="0"/>
        <c:ser>
          <c:idx val="2"/>
          <c:order val="2"/>
          <c:tx>
            <c:strRef>
              <c:f>Hoja1!$E$1</c:f>
              <c:strCache>
                <c:ptCount val="1"/>
                <c:pt idx="0">
                  <c:v>Meta</c:v>
                </c:pt>
              </c:strCache>
            </c:strRef>
          </c:tx>
          <c:spPr>
            <a:ln w="28575" cap="rnd">
              <a:solidFill>
                <a:schemeClr val="accent1">
                  <a:lumMod val="50000"/>
                </a:schemeClr>
              </a:solidFill>
              <a:round/>
            </a:ln>
            <a:effectLst/>
          </c:spPr>
          <c:marker>
            <c:symbol val="circle"/>
            <c:size val="5"/>
            <c:spPr>
              <a:solidFill>
                <a:schemeClr val="accent3"/>
              </a:solidFill>
              <a:ln w="9525">
                <a:solidFill>
                  <a:schemeClr val="accent1">
                    <a:lumMod val="50000"/>
                  </a:schemeClr>
                </a:solidFill>
              </a:ln>
              <a:effectLst/>
            </c:spPr>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Hoja1!$E$2:$E$13</c:f>
              <c:numCache>
                <c:formatCode>General</c:formatCode>
                <c:ptCount val="12"/>
                <c:pt idx="0">
                  <c:v>25</c:v>
                </c:pt>
                <c:pt idx="1">
                  <c:v>25</c:v>
                </c:pt>
                <c:pt idx="2">
                  <c:v>25</c:v>
                </c:pt>
                <c:pt idx="3">
                  <c:v>25</c:v>
                </c:pt>
                <c:pt idx="4">
                  <c:v>25</c:v>
                </c:pt>
                <c:pt idx="5">
                  <c:v>25</c:v>
                </c:pt>
                <c:pt idx="6">
                  <c:v>25</c:v>
                </c:pt>
                <c:pt idx="7">
                  <c:v>25</c:v>
                </c:pt>
                <c:pt idx="8">
                  <c:v>25</c:v>
                </c:pt>
                <c:pt idx="9">
                  <c:v>25</c:v>
                </c:pt>
                <c:pt idx="10">
                  <c:v>25</c:v>
                </c:pt>
                <c:pt idx="11">
                  <c:v>25</c:v>
                </c:pt>
              </c:numCache>
            </c:numRef>
          </c:val>
          <c:smooth val="0"/>
          <c:extLst>
            <c:ext xmlns:c16="http://schemas.microsoft.com/office/drawing/2014/chart" uri="{C3380CC4-5D6E-409C-BE32-E72D297353CC}">
              <c16:uniqueId val="{00000001-34C9-42DA-B53E-E477EA48F6F7}"/>
            </c:ext>
          </c:extLst>
        </c:ser>
        <c:dLbls>
          <c:showLegendKey val="0"/>
          <c:showVal val="0"/>
          <c:showCatName val="0"/>
          <c:showSerName val="0"/>
          <c:showPercent val="0"/>
          <c:showBubbleSize val="0"/>
        </c:dLbls>
        <c:marker val="1"/>
        <c:smooth val="0"/>
        <c:axId val="1418613503"/>
        <c:axId val="1418609663"/>
      </c:lineChart>
      <c:catAx>
        <c:axId val="14186135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418609663"/>
        <c:crosses val="autoZero"/>
        <c:auto val="1"/>
        <c:lblAlgn val="ctr"/>
        <c:lblOffset val="100"/>
        <c:noMultiLvlLbl val="0"/>
      </c:catAx>
      <c:valAx>
        <c:axId val="1418609663"/>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41861350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s-CO"/>
    </a:p>
  </c:txPr>
  <c:externalData r:id="rId3">
    <c:autoUpdate val="0"/>
  </c:externalData>
</c:chartSpace>
</file>

<file path=ppt/charts/chart1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s-CO" sz="1600" b="1" noProof="0">
                <a:solidFill>
                  <a:schemeClr val="tx1"/>
                </a:solidFill>
              </a:rPr>
              <a:t>Oportunidad de radioterapia</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Hoja1!$C$1</c:f>
              <c:strCache>
                <c:ptCount val="1"/>
                <c:pt idx="0">
                  <c:v>2025</c:v>
                </c:pt>
              </c:strCache>
            </c:strRef>
          </c:tx>
          <c:spPr>
            <a:solidFill>
              <a:srgbClr val="00A19C"/>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45A9A1"/>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Hoja1!$C$2:$C$13</c:f>
              <c:numCache>
                <c:formatCode>General</c:formatCode>
                <c:ptCount val="12"/>
                <c:pt idx="0">
                  <c:v>14</c:v>
                </c:pt>
                <c:pt idx="1">
                  <c:v>12</c:v>
                </c:pt>
                <c:pt idx="2">
                  <c:v>10</c:v>
                </c:pt>
                <c:pt idx="3">
                  <c:v>14</c:v>
                </c:pt>
                <c:pt idx="4">
                  <c:v>13</c:v>
                </c:pt>
                <c:pt idx="5">
                  <c:v>13</c:v>
                </c:pt>
                <c:pt idx="6">
                  <c:v>16</c:v>
                </c:pt>
                <c:pt idx="7">
                  <c:v>14</c:v>
                </c:pt>
                <c:pt idx="8">
                  <c:v>15</c:v>
                </c:pt>
                <c:pt idx="9">
                  <c:v>14</c:v>
                </c:pt>
                <c:pt idx="10">
                  <c:v>15</c:v>
                </c:pt>
                <c:pt idx="11">
                  <c:v>14</c:v>
                </c:pt>
              </c:numCache>
            </c:numRef>
          </c:val>
          <c:extLst>
            <c:ext xmlns:c16="http://schemas.microsoft.com/office/drawing/2014/chart" uri="{C3380CC4-5D6E-409C-BE32-E72D297353CC}">
              <c16:uniqueId val="{00000000-6418-4EE4-A229-E94A84EF1777}"/>
            </c:ext>
          </c:extLst>
        </c:ser>
        <c:ser>
          <c:idx val="1"/>
          <c:order val="1"/>
          <c:tx>
            <c:strRef>
              <c:f>Hoja1!$D$1</c:f>
              <c:strCache>
                <c:ptCount val="1"/>
                <c:pt idx="0">
                  <c:v>2026</c:v>
                </c:pt>
              </c:strCache>
            </c:strRef>
          </c:tx>
          <c:spPr>
            <a:solidFill>
              <a:schemeClr val="tx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Hoja1!$D$2:$D$13</c:f>
              <c:numCache>
                <c:formatCode>General</c:formatCode>
                <c:ptCount val="12"/>
                <c:pt idx="0">
                  <c:v>20</c:v>
                </c:pt>
                <c:pt idx="1">
                  <c:v>14</c:v>
                </c:pt>
                <c:pt idx="2">
                  <c:v>16</c:v>
                </c:pt>
                <c:pt idx="3">
                  <c:v>15</c:v>
                </c:pt>
                <c:pt idx="4">
                  <c:v>15</c:v>
                </c:pt>
                <c:pt idx="5">
                  <c:v>15</c:v>
                </c:pt>
                <c:pt idx="6">
                  <c:v>16</c:v>
                </c:pt>
              </c:numCache>
            </c:numRef>
          </c:val>
          <c:extLst>
            <c:ext xmlns:c16="http://schemas.microsoft.com/office/drawing/2014/chart" uri="{C3380CC4-5D6E-409C-BE32-E72D297353CC}">
              <c16:uniqueId val="{00000002-5161-4943-AF65-3595DDD867F1}"/>
            </c:ext>
          </c:extLst>
        </c:ser>
        <c:dLbls>
          <c:showLegendKey val="0"/>
          <c:showVal val="0"/>
          <c:showCatName val="0"/>
          <c:showSerName val="0"/>
          <c:showPercent val="0"/>
          <c:showBubbleSize val="0"/>
        </c:dLbls>
        <c:gapWidth val="75"/>
        <c:overlap val="-25"/>
        <c:axId val="1418613503"/>
        <c:axId val="1418609663"/>
      </c:barChart>
      <c:lineChart>
        <c:grouping val="standard"/>
        <c:varyColors val="0"/>
        <c:ser>
          <c:idx val="2"/>
          <c:order val="2"/>
          <c:tx>
            <c:strRef>
              <c:f>Hoja1!$E$1</c:f>
              <c:strCache>
                <c:ptCount val="1"/>
                <c:pt idx="0">
                  <c:v>Meta</c:v>
                </c:pt>
              </c:strCache>
            </c:strRef>
          </c:tx>
          <c:spPr>
            <a:ln w="28575" cap="rnd">
              <a:solidFill>
                <a:schemeClr val="accent1">
                  <a:lumMod val="50000"/>
                </a:schemeClr>
              </a:solidFill>
              <a:round/>
            </a:ln>
            <a:effectLst/>
          </c:spPr>
          <c:marker>
            <c:symbol val="circle"/>
            <c:size val="5"/>
            <c:spPr>
              <a:solidFill>
                <a:schemeClr val="accent3"/>
              </a:solidFill>
              <a:ln w="9525">
                <a:solidFill>
                  <a:schemeClr val="accent1">
                    <a:lumMod val="50000"/>
                  </a:schemeClr>
                </a:solidFill>
              </a:ln>
              <a:effectLst/>
            </c:spPr>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Hoja1!$E$2:$E$13</c:f>
              <c:numCache>
                <c:formatCode>General</c:formatCode>
                <c:ptCount val="12"/>
                <c:pt idx="0">
                  <c:v>16</c:v>
                </c:pt>
                <c:pt idx="1">
                  <c:v>16</c:v>
                </c:pt>
                <c:pt idx="2">
                  <c:v>16</c:v>
                </c:pt>
                <c:pt idx="3">
                  <c:v>16</c:v>
                </c:pt>
                <c:pt idx="4">
                  <c:v>16</c:v>
                </c:pt>
                <c:pt idx="5">
                  <c:v>16</c:v>
                </c:pt>
                <c:pt idx="6">
                  <c:v>16</c:v>
                </c:pt>
                <c:pt idx="7">
                  <c:v>16</c:v>
                </c:pt>
                <c:pt idx="8">
                  <c:v>16</c:v>
                </c:pt>
                <c:pt idx="9">
                  <c:v>16</c:v>
                </c:pt>
                <c:pt idx="10">
                  <c:v>16</c:v>
                </c:pt>
                <c:pt idx="11">
                  <c:v>16</c:v>
                </c:pt>
              </c:numCache>
            </c:numRef>
          </c:val>
          <c:smooth val="0"/>
          <c:extLst>
            <c:ext xmlns:c16="http://schemas.microsoft.com/office/drawing/2014/chart" uri="{C3380CC4-5D6E-409C-BE32-E72D297353CC}">
              <c16:uniqueId val="{00000003-5161-4943-AF65-3595DDD867F1}"/>
            </c:ext>
          </c:extLst>
        </c:ser>
        <c:dLbls>
          <c:showLegendKey val="0"/>
          <c:showVal val="0"/>
          <c:showCatName val="0"/>
          <c:showSerName val="0"/>
          <c:showPercent val="0"/>
          <c:showBubbleSize val="0"/>
        </c:dLbls>
        <c:marker val="1"/>
        <c:smooth val="0"/>
        <c:axId val="1418613503"/>
        <c:axId val="1418609663"/>
      </c:lineChart>
      <c:catAx>
        <c:axId val="14186135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418609663"/>
        <c:crosses val="autoZero"/>
        <c:auto val="1"/>
        <c:lblAlgn val="ctr"/>
        <c:lblOffset val="100"/>
        <c:noMultiLvlLbl val="0"/>
      </c:catAx>
      <c:valAx>
        <c:axId val="141860966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418613503"/>
        <c:crosses val="autoZero"/>
        <c:crossBetween val="between"/>
        <c:majorUnit val="4"/>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s-CO"/>
    </a:p>
  </c:txPr>
  <c:externalData r:id="rId3">
    <c:autoUpdate val="0"/>
  </c:externalData>
</c:chartSpace>
</file>

<file path=ppt/charts/chart1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s-CO" sz="1600" b="1" noProof="0">
                <a:solidFill>
                  <a:schemeClr val="tx1"/>
                </a:solidFill>
              </a:rPr>
              <a:t>Oportunidad de medicamentos</a:t>
            </a:r>
            <a:r>
              <a:rPr lang="es-CO" sz="1600" b="1" baseline="0" noProof="0">
                <a:solidFill>
                  <a:schemeClr val="tx1"/>
                </a:solidFill>
              </a:rPr>
              <a:t> orales</a:t>
            </a:r>
            <a:endParaRPr lang="es-CO" sz="1600" b="1" noProof="0">
              <a:solidFill>
                <a:schemeClr val="tx1"/>
              </a:solidFill>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Hoja1!$C$1</c:f>
              <c:strCache>
                <c:ptCount val="1"/>
                <c:pt idx="0">
                  <c:v>2025</c:v>
                </c:pt>
              </c:strCache>
            </c:strRef>
          </c:tx>
          <c:spPr>
            <a:solidFill>
              <a:srgbClr val="00A19C"/>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45A9A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Hoja1!$C$2:$C$13</c:f>
              <c:numCache>
                <c:formatCode>0</c:formatCode>
                <c:ptCount val="12"/>
                <c:pt idx="0">
                  <c:v>7</c:v>
                </c:pt>
                <c:pt idx="1">
                  <c:v>7</c:v>
                </c:pt>
                <c:pt idx="2">
                  <c:v>7</c:v>
                </c:pt>
                <c:pt idx="3">
                  <c:v>7</c:v>
                </c:pt>
                <c:pt idx="4">
                  <c:v>7</c:v>
                </c:pt>
                <c:pt idx="5">
                  <c:v>7</c:v>
                </c:pt>
                <c:pt idx="6">
                  <c:v>13</c:v>
                </c:pt>
                <c:pt idx="7">
                  <c:v>8</c:v>
                </c:pt>
                <c:pt idx="8">
                  <c:v>11</c:v>
                </c:pt>
                <c:pt idx="9">
                  <c:v>14.5</c:v>
                </c:pt>
                <c:pt idx="10">
                  <c:v>9</c:v>
                </c:pt>
                <c:pt idx="11">
                  <c:v>5</c:v>
                </c:pt>
              </c:numCache>
            </c:numRef>
          </c:val>
          <c:extLst>
            <c:ext xmlns:c16="http://schemas.microsoft.com/office/drawing/2014/chart" uri="{C3380CC4-5D6E-409C-BE32-E72D297353CC}">
              <c16:uniqueId val="{00000000-9E38-4C13-ADEB-0305696DC97A}"/>
            </c:ext>
          </c:extLst>
        </c:ser>
        <c:ser>
          <c:idx val="1"/>
          <c:order val="1"/>
          <c:tx>
            <c:strRef>
              <c:f>Hoja1!$D$1</c:f>
              <c:strCache>
                <c:ptCount val="1"/>
                <c:pt idx="0">
                  <c:v>2026</c:v>
                </c:pt>
              </c:strCache>
            </c:strRef>
          </c:tx>
          <c:spPr>
            <a:solidFill>
              <a:schemeClr val="tx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Hoja1!$D$2:$D$13</c:f>
              <c:numCache>
                <c:formatCode>0</c:formatCode>
                <c:ptCount val="12"/>
                <c:pt idx="0">
                  <c:v>20</c:v>
                </c:pt>
                <c:pt idx="1">
                  <c:v>15.3</c:v>
                </c:pt>
                <c:pt idx="2">
                  <c:v>15</c:v>
                </c:pt>
                <c:pt idx="3">
                  <c:v>12</c:v>
                </c:pt>
                <c:pt idx="4">
                  <c:v>11</c:v>
                </c:pt>
                <c:pt idx="5">
                  <c:v>12</c:v>
                </c:pt>
              </c:numCache>
            </c:numRef>
          </c:val>
          <c:extLst>
            <c:ext xmlns:c16="http://schemas.microsoft.com/office/drawing/2014/chart" uri="{C3380CC4-5D6E-409C-BE32-E72D297353CC}">
              <c16:uniqueId val="{00000000-E416-40FA-BEBF-FFA027E60D10}"/>
            </c:ext>
          </c:extLst>
        </c:ser>
        <c:dLbls>
          <c:showLegendKey val="0"/>
          <c:showVal val="0"/>
          <c:showCatName val="0"/>
          <c:showSerName val="0"/>
          <c:showPercent val="0"/>
          <c:showBubbleSize val="0"/>
        </c:dLbls>
        <c:gapWidth val="75"/>
        <c:overlap val="-25"/>
        <c:axId val="1418613503"/>
        <c:axId val="1418609663"/>
      </c:barChart>
      <c:lineChart>
        <c:grouping val="standard"/>
        <c:varyColors val="0"/>
        <c:ser>
          <c:idx val="2"/>
          <c:order val="2"/>
          <c:tx>
            <c:strRef>
              <c:f>Hoja1!$E$1</c:f>
              <c:strCache>
                <c:ptCount val="1"/>
                <c:pt idx="0">
                  <c:v>Meta</c:v>
                </c:pt>
              </c:strCache>
            </c:strRef>
          </c:tx>
          <c:spPr>
            <a:ln w="28575" cap="rnd">
              <a:solidFill>
                <a:schemeClr val="accent1">
                  <a:lumMod val="50000"/>
                </a:schemeClr>
              </a:solidFill>
              <a:round/>
            </a:ln>
            <a:effectLst/>
          </c:spPr>
          <c:marker>
            <c:symbol val="none"/>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Hoja1!$E$2:$E$13</c:f>
              <c:numCache>
                <c:formatCode>General</c:formatCode>
                <c:ptCount val="12"/>
                <c:pt idx="0">
                  <c:v>10</c:v>
                </c:pt>
                <c:pt idx="1">
                  <c:v>10</c:v>
                </c:pt>
                <c:pt idx="2">
                  <c:v>10</c:v>
                </c:pt>
                <c:pt idx="3">
                  <c:v>10</c:v>
                </c:pt>
                <c:pt idx="4">
                  <c:v>10</c:v>
                </c:pt>
                <c:pt idx="5">
                  <c:v>10</c:v>
                </c:pt>
                <c:pt idx="6">
                  <c:v>10</c:v>
                </c:pt>
                <c:pt idx="7">
                  <c:v>10</c:v>
                </c:pt>
                <c:pt idx="8">
                  <c:v>10</c:v>
                </c:pt>
                <c:pt idx="9">
                  <c:v>10</c:v>
                </c:pt>
                <c:pt idx="10">
                  <c:v>10</c:v>
                </c:pt>
                <c:pt idx="11">
                  <c:v>10</c:v>
                </c:pt>
              </c:numCache>
            </c:numRef>
          </c:val>
          <c:smooth val="0"/>
          <c:extLst>
            <c:ext xmlns:c16="http://schemas.microsoft.com/office/drawing/2014/chart" uri="{C3380CC4-5D6E-409C-BE32-E72D297353CC}">
              <c16:uniqueId val="{00000001-A12E-4D7F-9CB6-B2760F16B6CA}"/>
            </c:ext>
          </c:extLst>
        </c:ser>
        <c:dLbls>
          <c:showLegendKey val="0"/>
          <c:showVal val="0"/>
          <c:showCatName val="0"/>
          <c:showSerName val="0"/>
          <c:showPercent val="0"/>
          <c:showBubbleSize val="0"/>
        </c:dLbls>
        <c:marker val="1"/>
        <c:smooth val="0"/>
        <c:axId val="1418613503"/>
        <c:axId val="1418609663"/>
      </c:lineChart>
      <c:catAx>
        <c:axId val="14186135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418609663"/>
        <c:crosses val="autoZero"/>
        <c:auto val="1"/>
        <c:lblAlgn val="ctr"/>
        <c:lblOffset val="100"/>
        <c:noMultiLvlLbl val="0"/>
      </c:catAx>
      <c:valAx>
        <c:axId val="1418609663"/>
        <c:scaling>
          <c:orientation val="minMax"/>
          <c:max val="25"/>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418613503"/>
        <c:crosses val="autoZero"/>
        <c:crossBetween val="between"/>
      </c:valAx>
      <c:spPr>
        <a:noFill/>
        <a:ln>
          <a:solidFill>
            <a:schemeClr val="tx1">
              <a:alpha val="95000"/>
            </a:schemeClr>
          </a:solid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s-CO"/>
    </a:p>
  </c:txPr>
  <c:externalData r:id="rId3">
    <c:autoUpdate val="0"/>
  </c:externalData>
</c:chartSpace>
</file>

<file path=ppt/charts/chart1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8158A1"/>
                </a:solidFill>
                <a:latin typeface="+mn-lt"/>
                <a:ea typeface="+mn-ea"/>
                <a:cs typeface="+mn-cs"/>
              </a:defRPr>
            </a:pPr>
            <a:r>
              <a:rPr lang="es-CO" b="1">
                <a:solidFill>
                  <a:srgbClr val="8158A1"/>
                </a:solidFill>
              </a:rPr>
              <a:t>COMPARATIVO</a:t>
            </a:r>
            <a:r>
              <a:rPr lang="es-CO" b="1" baseline="0">
                <a:solidFill>
                  <a:srgbClr val="8158A1"/>
                </a:solidFill>
              </a:rPr>
              <a:t> NPS</a:t>
            </a:r>
            <a:endParaRPr lang="es-CO" b="1">
              <a:solidFill>
                <a:srgbClr val="8158A1"/>
              </a:solidFill>
            </a:endParaRP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8158A1"/>
              </a:solidFill>
              <a:latin typeface="+mn-lt"/>
              <a:ea typeface="+mn-ea"/>
              <a:cs typeface="+mn-cs"/>
            </a:defRPr>
          </a:pPr>
          <a:endParaRPr lang="es-CO"/>
        </a:p>
      </c:txPr>
    </c:title>
    <c:autoTitleDeleted val="0"/>
    <c:plotArea>
      <c:layout/>
      <c:barChart>
        <c:barDir val="col"/>
        <c:grouping val="stacked"/>
        <c:varyColors val="0"/>
        <c:ser>
          <c:idx val="0"/>
          <c:order val="0"/>
          <c:tx>
            <c:strRef>
              <c:f>'2026'!$AD$109</c:f>
              <c:strCache>
                <c:ptCount val="1"/>
                <c:pt idx="0">
                  <c:v>APOSTOLES</c:v>
                </c:pt>
              </c:strCache>
            </c:strRef>
          </c:tx>
          <c:spPr>
            <a:solidFill>
              <a:srgbClr val="8158A1"/>
            </a:solidFill>
            <a:ln>
              <a:noFill/>
            </a:ln>
            <a:effectLst/>
          </c:spPr>
          <c:invertIfNegative val="0"/>
          <c:cat>
            <c:strRef>
              <c:f>'2026'!$AE$1:$AK$1</c:f>
              <c:strCache>
                <c:ptCount val="7"/>
                <c:pt idx="0">
                  <c:v>ENE</c:v>
                </c:pt>
                <c:pt idx="1">
                  <c:v>FEB</c:v>
                </c:pt>
                <c:pt idx="2">
                  <c:v>MAR</c:v>
                </c:pt>
                <c:pt idx="3">
                  <c:v>ABR</c:v>
                </c:pt>
                <c:pt idx="4">
                  <c:v>MAY</c:v>
                </c:pt>
                <c:pt idx="5">
                  <c:v>JUN</c:v>
                </c:pt>
                <c:pt idx="6">
                  <c:v>JUL</c:v>
                </c:pt>
              </c:strCache>
            </c:strRef>
          </c:cat>
          <c:val>
            <c:numRef>
              <c:f>'2026'!$AE$109:$AK$109</c:f>
              <c:numCache>
                <c:formatCode>General</c:formatCode>
                <c:ptCount val="7"/>
                <c:pt idx="0">
                  <c:v>14</c:v>
                </c:pt>
                <c:pt idx="1">
                  <c:v>13</c:v>
                </c:pt>
                <c:pt idx="2">
                  <c:v>14</c:v>
                </c:pt>
                <c:pt idx="3">
                  <c:v>15</c:v>
                </c:pt>
                <c:pt idx="4">
                  <c:v>16</c:v>
                </c:pt>
                <c:pt idx="5">
                  <c:v>30</c:v>
                </c:pt>
                <c:pt idx="6">
                  <c:v>36</c:v>
                </c:pt>
              </c:numCache>
            </c:numRef>
          </c:val>
          <c:extLst>
            <c:ext xmlns:c16="http://schemas.microsoft.com/office/drawing/2014/chart" uri="{C3380CC4-5D6E-409C-BE32-E72D297353CC}">
              <c16:uniqueId val="{00000000-4141-4AE0-B238-2267048CFD71}"/>
            </c:ext>
          </c:extLst>
        </c:ser>
        <c:ser>
          <c:idx val="1"/>
          <c:order val="1"/>
          <c:tx>
            <c:strRef>
              <c:f>'2026'!$AD$110</c:f>
              <c:strCache>
                <c:ptCount val="1"/>
                <c:pt idx="0">
                  <c:v>NEUTROS</c:v>
                </c:pt>
              </c:strCache>
            </c:strRef>
          </c:tx>
          <c:spPr>
            <a:solidFill>
              <a:srgbClr val="47A9BF"/>
            </a:solidFill>
            <a:ln>
              <a:noFill/>
            </a:ln>
            <a:effectLst/>
          </c:spPr>
          <c:invertIfNegative val="0"/>
          <c:cat>
            <c:strRef>
              <c:f>'2026'!$AE$1:$AK$1</c:f>
              <c:strCache>
                <c:ptCount val="7"/>
                <c:pt idx="0">
                  <c:v>ENE</c:v>
                </c:pt>
                <c:pt idx="1">
                  <c:v>FEB</c:v>
                </c:pt>
                <c:pt idx="2">
                  <c:v>MAR</c:v>
                </c:pt>
                <c:pt idx="3">
                  <c:v>ABR</c:v>
                </c:pt>
                <c:pt idx="4">
                  <c:v>MAY</c:v>
                </c:pt>
                <c:pt idx="5">
                  <c:v>JUN</c:v>
                </c:pt>
                <c:pt idx="6">
                  <c:v>JUL</c:v>
                </c:pt>
              </c:strCache>
            </c:strRef>
          </c:cat>
          <c:val>
            <c:numRef>
              <c:f>'2026'!$AE$110:$AK$110</c:f>
              <c:numCache>
                <c:formatCode>General</c:formatCode>
                <c:ptCount val="7"/>
                <c:pt idx="0">
                  <c:v>1</c:v>
                </c:pt>
                <c:pt idx="1">
                  <c:v>0</c:v>
                </c:pt>
                <c:pt idx="2">
                  <c:v>0</c:v>
                </c:pt>
                <c:pt idx="3">
                  <c:v>1</c:v>
                </c:pt>
                <c:pt idx="4">
                  <c:v>1</c:v>
                </c:pt>
                <c:pt idx="5">
                  <c:v>0</c:v>
                </c:pt>
                <c:pt idx="6">
                  <c:v>0</c:v>
                </c:pt>
              </c:numCache>
            </c:numRef>
          </c:val>
          <c:extLst>
            <c:ext xmlns:c16="http://schemas.microsoft.com/office/drawing/2014/chart" uri="{C3380CC4-5D6E-409C-BE32-E72D297353CC}">
              <c16:uniqueId val="{00000001-4141-4AE0-B238-2267048CFD71}"/>
            </c:ext>
          </c:extLst>
        </c:ser>
        <c:ser>
          <c:idx val="2"/>
          <c:order val="2"/>
          <c:tx>
            <c:strRef>
              <c:f>'2026'!$AD$111</c:f>
              <c:strCache>
                <c:ptCount val="1"/>
                <c:pt idx="0">
                  <c:v>DETRACTORES</c:v>
                </c:pt>
              </c:strCache>
            </c:strRef>
          </c:tx>
          <c:spPr>
            <a:solidFill>
              <a:srgbClr val="FF0000"/>
            </a:solidFill>
            <a:ln>
              <a:noFill/>
            </a:ln>
            <a:effectLst/>
          </c:spPr>
          <c:invertIfNegative val="0"/>
          <c:cat>
            <c:strRef>
              <c:f>'2026'!$AE$1:$AK$1</c:f>
              <c:strCache>
                <c:ptCount val="7"/>
                <c:pt idx="0">
                  <c:v>ENE</c:v>
                </c:pt>
                <c:pt idx="1">
                  <c:v>FEB</c:v>
                </c:pt>
                <c:pt idx="2">
                  <c:v>MAR</c:v>
                </c:pt>
                <c:pt idx="3">
                  <c:v>ABR</c:v>
                </c:pt>
                <c:pt idx="4">
                  <c:v>MAY</c:v>
                </c:pt>
                <c:pt idx="5">
                  <c:v>JUN</c:v>
                </c:pt>
                <c:pt idx="6">
                  <c:v>JUL</c:v>
                </c:pt>
              </c:strCache>
            </c:strRef>
          </c:cat>
          <c:val>
            <c:numRef>
              <c:f>'2026'!$AE$111:$AK$111</c:f>
              <c:numCache>
                <c:formatCode>General</c:formatCode>
                <c:ptCount val="7"/>
                <c:pt idx="0">
                  <c:v>0</c:v>
                </c:pt>
                <c:pt idx="1">
                  <c:v>2</c:v>
                </c:pt>
                <c:pt idx="2">
                  <c:v>3</c:v>
                </c:pt>
                <c:pt idx="3">
                  <c:v>3</c:v>
                </c:pt>
                <c:pt idx="4">
                  <c:v>1</c:v>
                </c:pt>
                <c:pt idx="5">
                  <c:v>0</c:v>
                </c:pt>
                <c:pt idx="6">
                  <c:v>0</c:v>
                </c:pt>
              </c:numCache>
            </c:numRef>
          </c:val>
          <c:extLst>
            <c:ext xmlns:c16="http://schemas.microsoft.com/office/drawing/2014/chart" uri="{C3380CC4-5D6E-409C-BE32-E72D297353CC}">
              <c16:uniqueId val="{00000002-4141-4AE0-B238-2267048CFD71}"/>
            </c:ext>
          </c:extLst>
        </c:ser>
        <c:dLbls>
          <c:showLegendKey val="0"/>
          <c:showVal val="0"/>
          <c:showCatName val="0"/>
          <c:showSerName val="0"/>
          <c:showPercent val="0"/>
          <c:showBubbleSize val="0"/>
        </c:dLbls>
        <c:gapWidth val="150"/>
        <c:overlap val="100"/>
        <c:axId val="1860293279"/>
        <c:axId val="1860295679"/>
      </c:barChart>
      <c:catAx>
        <c:axId val="18602932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860295679"/>
        <c:crosses val="autoZero"/>
        <c:auto val="1"/>
        <c:lblAlgn val="ctr"/>
        <c:lblOffset val="100"/>
        <c:noMultiLvlLbl val="0"/>
      </c:catAx>
      <c:valAx>
        <c:axId val="186029567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860293279"/>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100" b="0" i="0" u="none" strike="noStrike" kern="1200" baseline="0">
                <a:solidFill>
                  <a:schemeClr val="tx1">
                    <a:lumMod val="75000"/>
                  </a:schemeClr>
                </a:solidFill>
                <a:latin typeface="+mn-lt"/>
                <a:ea typeface="+mn-ea"/>
                <a:cs typeface="+mn-cs"/>
              </a:defRPr>
            </a:pPr>
            <a:endParaRPr lang="es-CO"/>
          </a:p>
        </c:txPr>
      </c:dTable>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7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1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8158A1"/>
                </a:solidFill>
                <a:latin typeface="+mn-lt"/>
                <a:ea typeface="+mn-ea"/>
                <a:cs typeface="+mn-cs"/>
              </a:defRPr>
            </a:pPr>
            <a:r>
              <a:rPr lang="es-CO" b="1">
                <a:solidFill>
                  <a:srgbClr val="8158A1"/>
                </a:solidFill>
              </a:rPr>
              <a:t>NPS Otros</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8158A1"/>
              </a:solidFill>
              <a:latin typeface="+mn-lt"/>
              <a:ea typeface="+mn-ea"/>
              <a:cs typeface="+mn-cs"/>
            </a:defRPr>
          </a:pPr>
          <a:endParaRPr lang="es-CO"/>
        </a:p>
      </c:txPr>
    </c:title>
    <c:autoTitleDeleted val="0"/>
    <c:plotArea>
      <c:layout/>
      <c:barChart>
        <c:barDir val="col"/>
        <c:grouping val="clustered"/>
        <c:varyColors val="0"/>
        <c:ser>
          <c:idx val="0"/>
          <c:order val="0"/>
          <c:tx>
            <c:strRef>
              <c:f>'2026'!$A$15</c:f>
              <c:strCache>
                <c:ptCount val="1"/>
                <c:pt idx="0">
                  <c:v>2026</c:v>
                </c:pt>
              </c:strCache>
            </c:strRef>
          </c:tx>
          <c:spPr>
            <a:solidFill>
              <a:srgbClr val="8158A1"/>
            </a:solidFill>
            <a:ln>
              <a:solidFill>
                <a:srgbClr val="8158A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'2026'!$C$3:$I$3</c:f>
              <c:strCache>
                <c:ptCount val="7"/>
                <c:pt idx="0">
                  <c:v>ENE</c:v>
                </c:pt>
                <c:pt idx="1">
                  <c:v>FEB</c:v>
                </c:pt>
                <c:pt idx="2">
                  <c:v>MAR</c:v>
                </c:pt>
                <c:pt idx="3">
                  <c:v>ABR</c:v>
                </c:pt>
                <c:pt idx="4">
                  <c:v>MAY</c:v>
                </c:pt>
                <c:pt idx="5">
                  <c:v>JUN</c:v>
                </c:pt>
                <c:pt idx="6">
                  <c:v>JUL</c:v>
                </c:pt>
              </c:strCache>
              <c:extLst/>
            </c:strRef>
          </c:cat>
          <c:val>
            <c:numRef>
              <c:f>'2026'!$C$121:$I$121</c:f>
              <c:numCache>
                <c:formatCode>0.0</c:formatCode>
                <c:ptCount val="7"/>
                <c:pt idx="0">
                  <c:v>93.333333333333329</c:v>
                </c:pt>
                <c:pt idx="1">
                  <c:v>73.333333333333343</c:v>
                </c:pt>
                <c:pt idx="2">
                  <c:v>64.705882352941174</c:v>
                </c:pt>
                <c:pt idx="3">
                  <c:v>63.157894736842103</c:v>
                </c:pt>
                <c:pt idx="4">
                  <c:v>83.333333333333329</c:v>
                </c:pt>
                <c:pt idx="5">
                  <c:v>100</c:v>
                </c:pt>
                <c:pt idx="6">
                  <c:v>100</c:v>
                </c:pt>
              </c:numCache>
              <c:extLst/>
            </c:numRef>
          </c:val>
          <c:extLst>
            <c:ext xmlns:c16="http://schemas.microsoft.com/office/drawing/2014/chart" uri="{C3380CC4-5D6E-409C-BE32-E72D297353CC}">
              <c16:uniqueId val="{00000000-FA21-4853-B562-CABE2F506CF8}"/>
            </c:ext>
          </c:extLst>
        </c:ser>
        <c:dLbls>
          <c:showLegendKey val="0"/>
          <c:showVal val="0"/>
          <c:showCatName val="0"/>
          <c:showSerName val="0"/>
          <c:showPercent val="0"/>
          <c:showBubbleSize val="0"/>
        </c:dLbls>
        <c:gapWidth val="150"/>
        <c:axId val="869602463"/>
        <c:axId val="869604863"/>
      </c:barChart>
      <c:lineChart>
        <c:grouping val="standard"/>
        <c:varyColors val="0"/>
        <c:ser>
          <c:idx val="1"/>
          <c:order val="1"/>
          <c:tx>
            <c:strRef>
              <c:f>'2026'!$A$17</c:f>
              <c:strCache>
                <c:ptCount val="1"/>
                <c:pt idx="0">
                  <c:v>META</c:v>
                </c:pt>
              </c:strCache>
            </c:strRef>
          </c:tx>
          <c:spPr>
            <a:ln w="28575" cap="rnd">
              <a:solidFill>
                <a:srgbClr val="FF0000"/>
              </a:solidFill>
              <a:prstDash val="sysDot"/>
              <a:round/>
            </a:ln>
            <a:effectLst/>
          </c:spPr>
          <c:marker>
            <c:symbol val="none"/>
          </c:marker>
          <c:dLbls>
            <c:delete val="1"/>
          </c:dLbls>
          <c:cat>
            <c:strRef>
              <c:f>'2026'!$C$3:$I$3</c:f>
              <c:strCache>
                <c:ptCount val="7"/>
                <c:pt idx="0">
                  <c:v>ENE</c:v>
                </c:pt>
                <c:pt idx="1">
                  <c:v>FEB</c:v>
                </c:pt>
                <c:pt idx="2">
                  <c:v>MAR</c:v>
                </c:pt>
                <c:pt idx="3">
                  <c:v>ABR</c:v>
                </c:pt>
                <c:pt idx="4">
                  <c:v>MAY</c:v>
                </c:pt>
                <c:pt idx="5">
                  <c:v>JUN</c:v>
                </c:pt>
                <c:pt idx="6">
                  <c:v>JUL</c:v>
                </c:pt>
              </c:strCache>
              <c:extLst/>
            </c:strRef>
          </c:cat>
          <c:val>
            <c:numRef>
              <c:f>'2026'!$C$17:$I$17</c:f>
              <c:numCache>
                <c:formatCode>General</c:formatCode>
                <c:ptCount val="7"/>
                <c:pt idx="0">
                  <c:v>75</c:v>
                </c:pt>
                <c:pt idx="1">
                  <c:v>75</c:v>
                </c:pt>
                <c:pt idx="2">
                  <c:v>75</c:v>
                </c:pt>
                <c:pt idx="3">
                  <c:v>75</c:v>
                </c:pt>
                <c:pt idx="4">
                  <c:v>75</c:v>
                </c:pt>
                <c:pt idx="5">
                  <c:v>75</c:v>
                </c:pt>
                <c:pt idx="6">
                  <c:v>75</c:v>
                </c:pt>
              </c:numCache>
              <c:extLst/>
            </c:numRef>
          </c:val>
          <c:smooth val="0"/>
          <c:extLst>
            <c:ext xmlns:c16="http://schemas.microsoft.com/office/drawing/2014/chart" uri="{C3380CC4-5D6E-409C-BE32-E72D297353CC}">
              <c16:uniqueId val="{00000001-FA21-4853-B562-CABE2F506CF8}"/>
            </c:ext>
          </c:extLst>
        </c:ser>
        <c:dLbls>
          <c:dLblPos val="t"/>
          <c:showLegendKey val="0"/>
          <c:showVal val="1"/>
          <c:showCatName val="0"/>
          <c:showSerName val="0"/>
          <c:showPercent val="0"/>
          <c:showBubbleSize val="0"/>
        </c:dLbls>
        <c:marker val="1"/>
        <c:smooth val="0"/>
        <c:axId val="869602463"/>
        <c:axId val="869604863"/>
      </c:lineChart>
      <c:catAx>
        <c:axId val="8696024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s-CO"/>
          </a:p>
        </c:txPr>
        <c:crossAx val="869604863"/>
        <c:crosses val="autoZero"/>
        <c:auto val="1"/>
        <c:lblAlgn val="ctr"/>
        <c:lblOffset val="100"/>
        <c:noMultiLvlLbl val="0"/>
      </c:catAx>
      <c:valAx>
        <c:axId val="869604863"/>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s-CO"/>
          </a:p>
        </c:txPr>
        <c:crossAx val="869602463"/>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1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7030A0"/>
                </a:solidFill>
                <a:latin typeface="+mn-lt"/>
                <a:ea typeface="+mn-ea"/>
                <a:cs typeface="+mn-cs"/>
              </a:defRPr>
            </a:pPr>
            <a:r>
              <a:rPr lang="en-US" err="1"/>
              <a:t>Satisfacción</a:t>
            </a:r>
            <a:endParaRPr lang="en-US"/>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7030A0"/>
              </a:solidFill>
              <a:latin typeface="+mn-lt"/>
              <a:ea typeface="+mn-ea"/>
              <a:cs typeface="+mn-cs"/>
            </a:defRPr>
          </a:pPr>
          <a:endParaRPr lang="en-US"/>
        </a:p>
      </c:txPr>
    </c:title>
    <c:autoTitleDeleted val="0"/>
    <c:plotArea>
      <c:layout/>
      <c:barChart>
        <c:barDir val="col"/>
        <c:grouping val="clustered"/>
        <c:varyColors val="0"/>
        <c:ser>
          <c:idx val="0"/>
          <c:order val="0"/>
          <c:tx>
            <c:strRef>
              <c:f>'2026'!$A$80</c:f>
              <c:strCache>
                <c:ptCount val="1"/>
                <c:pt idx="0">
                  <c:v>2026</c:v>
                </c:pt>
              </c:strCache>
            </c:strRef>
          </c:tx>
          <c:spPr>
            <a:solidFill>
              <a:srgbClr val="8158A1"/>
            </a:solidFill>
            <a:ln>
              <a:solidFill>
                <a:srgbClr val="8158A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'2026'!$C$74:$I$74</c:f>
              <c:strCache>
                <c:ptCount val="7"/>
                <c:pt idx="0">
                  <c:v>ENE</c:v>
                </c:pt>
                <c:pt idx="1">
                  <c:v>FEB</c:v>
                </c:pt>
                <c:pt idx="2">
                  <c:v>MAR</c:v>
                </c:pt>
                <c:pt idx="3">
                  <c:v>ABR</c:v>
                </c:pt>
                <c:pt idx="4">
                  <c:v>MAY</c:v>
                </c:pt>
                <c:pt idx="5">
                  <c:v>JUN</c:v>
                </c:pt>
                <c:pt idx="6">
                  <c:v>JUL</c:v>
                </c:pt>
              </c:strCache>
              <c:extLst/>
            </c:strRef>
          </c:cat>
          <c:val>
            <c:numRef>
              <c:f>'2026'!$C$133:$I$133</c:f>
              <c:numCache>
                <c:formatCode>0.00</c:formatCode>
                <c:ptCount val="7"/>
                <c:pt idx="0">
                  <c:v>4.75</c:v>
                </c:pt>
                <c:pt idx="1">
                  <c:v>4.4666666666666668</c:v>
                </c:pt>
                <c:pt idx="2" formatCode="0.0">
                  <c:v>4.7058823529411766</c:v>
                </c:pt>
                <c:pt idx="3" formatCode="0.0">
                  <c:v>4.8947368421052628</c:v>
                </c:pt>
                <c:pt idx="4" formatCode="0.0">
                  <c:v>4.6111111111111107</c:v>
                </c:pt>
                <c:pt idx="5" formatCode="0.0">
                  <c:v>5</c:v>
                </c:pt>
                <c:pt idx="6" formatCode="0.0">
                  <c:v>5</c:v>
                </c:pt>
              </c:numCache>
              <c:extLst/>
            </c:numRef>
          </c:val>
          <c:extLst>
            <c:ext xmlns:c16="http://schemas.microsoft.com/office/drawing/2014/chart" uri="{C3380CC4-5D6E-409C-BE32-E72D297353CC}">
              <c16:uniqueId val="{00000000-0D9C-4691-BC72-A80F6D3D1EC2}"/>
            </c:ext>
          </c:extLst>
        </c:ser>
        <c:dLbls>
          <c:showLegendKey val="0"/>
          <c:showVal val="0"/>
          <c:showCatName val="0"/>
          <c:showSerName val="0"/>
          <c:showPercent val="0"/>
          <c:showBubbleSize val="0"/>
        </c:dLbls>
        <c:gapWidth val="150"/>
        <c:axId val="269787551"/>
        <c:axId val="269786591"/>
      </c:barChart>
      <c:lineChart>
        <c:grouping val="standard"/>
        <c:varyColors val="0"/>
        <c:ser>
          <c:idx val="1"/>
          <c:order val="1"/>
          <c:tx>
            <c:strRef>
              <c:f>'2026'!$A$82</c:f>
              <c:strCache>
                <c:ptCount val="1"/>
                <c:pt idx="0">
                  <c:v>META</c:v>
                </c:pt>
              </c:strCache>
            </c:strRef>
          </c:tx>
          <c:spPr>
            <a:ln w="28575" cap="rnd">
              <a:solidFill>
                <a:srgbClr val="FF0000"/>
              </a:solidFill>
              <a:prstDash val="sysDot"/>
              <a:round/>
            </a:ln>
            <a:effectLst/>
          </c:spPr>
          <c:marker>
            <c:symbol val="none"/>
          </c:marker>
          <c:cat>
            <c:strRef>
              <c:f>'2026'!$C$74:$I$74</c:f>
              <c:strCache>
                <c:ptCount val="7"/>
                <c:pt idx="0">
                  <c:v>ENE</c:v>
                </c:pt>
                <c:pt idx="1">
                  <c:v>FEB</c:v>
                </c:pt>
                <c:pt idx="2">
                  <c:v>MAR</c:v>
                </c:pt>
                <c:pt idx="3">
                  <c:v>ABR</c:v>
                </c:pt>
                <c:pt idx="4">
                  <c:v>MAY</c:v>
                </c:pt>
                <c:pt idx="5">
                  <c:v>JUN</c:v>
                </c:pt>
                <c:pt idx="6">
                  <c:v>JUL</c:v>
                </c:pt>
              </c:strCache>
              <c:extLst/>
            </c:strRef>
          </c:cat>
          <c:val>
            <c:numRef>
              <c:f>'2026'!$C$82:$I$82</c:f>
              <c:numCache>
                <c:formatCode>0.0</c:formatCode>
                <c:ptCount val="7"/>
                <c:pt idx="0">
                  <c:v>4.8</c:v>
                </c:pt>
                <c:pt idx="1">
                  <c:v>4.8</c:v>
                </c:pt>
                <c:pt idx="2">
                  <c:v>4.8</c:v>
                </c:pt>
                <c:pt idx="3">
                  <c:v>4.8</c:v>
                </c:pt>
                <c:pt idx="4">
                  <c:v>4.8</c:v>
                </c:pt>
                <c:pt idx="5">
                  <c:v>4.8</c:v>
                </c:pt>
                <c:pt idx="6" formatCode="General">
                  <c:v>4.8</c:v>
                </c:pt>
              </c:numCache>
              <c:extLst/>
            </c:numRef>
          </c:val>
          <c:smooth val="0"/>
          <c:extLst>
            <c:ext xmlns:c16="http://schemas.microsoft.com/office/drawing/2014/chart" uri="{C3380CC4-5D6E-409C-BE32-E72D297353CC}">
              <c16:uniqueId val="{00000001-0D9C-4691-BC72-A80F6D3D1EC2}"/>
            </c:ext>
          </c:extLst>
        </c:ser>
        <c:dLbls>
          <c:showLegendKey val="0"/>
          <c:showVal val="0"/>
          <c:showCatName val="0"/>
          <c:showSerName val="0"/>
          <c:showPercent val="0"/>
          <c:showBubbleSize val="0"/>
        </c:dLbls>
        <c:marker val="1"/>
        <c:smooth val="0"/>
        <c:axId val="269787551"/>
        <c:axId val="269786591"/>
      </c:lineChart>
      <c:catAx>
        <c:axId val="2697875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75000"/>
                  </a:schemeClr>
                </a:solidFill>
                <a:latin typeface="+mn-lt"/>
                <a:ea typeface="+mn-ea"/>
                <a:cs typeface="+mn-cs"/>
              </a:defRPr>
            </a:pPr>
            <a:endParaRPr lang="es-CO"/>
          </a:p>
        </c:txPr>
        <c:crossAx val="269786591"/>
        <c:crosses val="autoZero"/>
        <c:auto val="1"/>
        <c:lblAlgn val="ctr"/>
        <c:lblOffset val="100"/>
        <c:noMultiLvlLbl val="0"/>
      </c:catAx>
      <c:valAx>
        <c:axId val="269786591"/>
        <c:scaling>
          <c:orientation val="minMax"/>
          <c:min val="4"/>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269787551"/>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1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7030A0"/>
                </a:solidFill>
                <a:latin typeface="+mn-lt"/>
                <a:ea typeface="+mn-ea"/>
                <a:cs typeface="+mn-cs"/>
              </a:defRPr>
            </a:pPr>
            <a:r>
              <a:rPr lang="es-ES"/>
              <a:t>CES</a:t>
            </a:r>
            <a:endParaRPr lang="es-CO"/>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7030A0"/>
              </a:solidFill>
              <a:latin typeface="+mn-lt"/>
              <a:ea typeface="+mn-ea"/>
              <a:cs typeface="+mn-cs"/>
            </a:defRPr>
          </a:pPr>
          <a:endParaRPr lang="es-CO"/>
        </a:p>
      </c:txPr>
    </c:title>
    <c:autoTitleDeleted val="0"/>
    <c:plotArea>
      <c:layout/>
      <c:barChart>
        <c:barDir val="col"/>
        <c:grouping val="clustered"/>
        <c:varyColors val="0"/>
        <c:ser>
          <c:idx val="0"/>
          <c:order val="0"/>
          <c:tx>
            <c:strRef>
              <c:f>'2026'!$A$93</c:f>
              <c:strCache>
                <c:ptCount val="1"/>
                <c:pt idx="0">
                  <c:v>2026</c:v>
                </c:pt>
              </c:strCache>
            </c:strRef>
          </c:tx>
          <c:spPr>
            <a:solidFill>
              <a:srgbClr val="8158A1"/>
            </a:solidFill>
            <a:ln>
              <a:solidFill>
                <a:srgbClr val="8158A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'2026'!$C$86:$I$86</c:f>
              <c:strCache>
                <c:ptCount val="7"/>
                <c:pt idx="0">
                  <c:v>ENE</c:v>
                </c:pt>
                <c:pt idx="1">
                  <c:v>FEB</c:v>
                </c:pt>
                <c:pt idx="2">
                  <c:v>MAR</c:v>
                </c:pt>
                <c:pt idx="3">
                  <c:v>ABR</c:v>
                </c:pt>
                <c:pt idx="4">
                  <c:v>MAY</c:v>
                </c:pt>
                <c:pt idx="5">
                  <c:v>JUN</c:v>
                </c:pt>
                <c:pt idx="6">
                  <c:v>JUL</c:v>
                </c:pt>
              </c:strCache>
              <c:extLst/>
            </c:strRef>
          </c:cat>
          <c:val>
            <c:numRef>
              <c:f>'2026'!$C$146:$I$146</c:f>
              <c:numCache>
                <c:formatCode>0%</c:formatCode>
                <c:ptCount val="7"/>
                <c:pt idx="0">
                  <c:v>0.9375</c:v>
                </c:pt>
                <c:pt idx="1">
                  <c:v>0.8666666666666667</c:v>
                </c:pt>
                <c:pt idx="2">
                  <c:v>0.70588235294117652</c:v>
                </c:pt>
                <c:pt idx="3">
                  <c:v>0.84210526315789469</c:v>
                </c:pt>
                <c:pt idx="4">
                  <c:v>0.88888888888888884</c:v>
                </c:pt>
                <c:pt idx="5">
                  <c:v>1</c:v>
                </c:pt>
                <c:pt idx="6">
                  <c:v>1</c:v>
                </c:pt>
              </c:numCache>
              <c:extLst/>
            </c:numRef>
          </c:val>
          <c:extLst>
            <c:ext xmlns:c16="http://schemas.microsoft.com/office/drawing/2014/chart" uri="{C3380CC4-5D6E-409C-BE32-E72D297353CC}">
              <c16:uniqueId val="{00000000-4F08-4D98-83DE-1CA682CCCBA0}"/>
            </c:ext>
          </c:extLst>
        </c:ser>
        <c:dLbls>
          <c:showLegendKey val="0"/>
          <c:showVal val="0"/>
          <c:showCatName val="0"/>
          <c:showSerName val="0"/>
          <c:showPercent val="0"/>
          <c:showBubbleSize val="0"/>
        </c:dLbls>
        <c:gapWidth val="150"/>
        <c:axId val="304009135"/>
        <c:axId val="304009615"/>
      </c:barChart>
      <c:lineChart>
        <c:grouping val="standard"/>
        <c:varyColors val="0"/>
        <c:ser>
          <c:idx val="1"/>
          <c:order val="1"/>
          <c:tx>
            <c:strRef>
              <c:f>'2026'!$A$95</c:f>
              <c:strCache>
                <c:ptCount val="1"/>
                <c:pt idx="0">
                  <c:v>META</c:v>
                </c:pt>
              </c:strCache>
            </c:strRef>
          </c:tx>
          <c:spPr>
            <a:ln w="28575" cap="rnd">
              <a:solidFill>
                <a:srgbClr val="FF0000"/>
              </a:solidFill>
              <a:prstDash val="sysDot"/>
              <a:round/>
            </a:ln>
            <a:effectLst/>
          </c:spPr>
          <c:marker>
            <c:symbol val="none"/>
          </c:marker>
          <c:dLbls>
            <c:delete val="1"/>
          </c:dLbls>
          <c:cat>
            <c:strRef>
              <c:f>'2026'!$C$86:$I$86</c:f>
              <c:strCache>
                <c:ptCount val="7"/>
                <c:pt idx="0">
                  <c:v>ENE</c:v>
                </c:pt>
                <c:pt idx="1">
                  <c:v>FEB</c:v>
                </c:pt>
                <c:pt idx="2">
                  <c:v>MAR</c:v>
                </c:pt>
                <c:pt idx="3">
                  <c:v>ABR</c:v>
                </c:pt>
                <c:pt idx="4">
                  <c:v>MAY</c:v>
                </c:pt>
                <c:pt idx="5">
                  <c:v>JUN</c:v>
                </c:pt>
                <c:pt idx="6">
                  <c:v>JUL</c:v>
                </c:pt>
              </c:strCache>
              <c:extLst/>
            </c:strRef>
          </c:cat>
          <c:val>
            <c:numRef>
              <c:f>'2026'!$C$95:$I$95</c:f>
              <c:numCache>
                <c:formatCode>0%</c:formatCode>
                <c:ptCount val="7"/>
                <c:pt idx="0">
                  <c:v>0.9</c:v>
                </c:pt>
                <c:pt idx="1">
                  <c:v>0.9</c:v>
                </c:pt>
                <c:pt idx="2">
                  <c:v>0.9</c:v>
                </c:pt>
                <c:pt idx="3">
                  <c:v>0.9</c:v>
                </c:pt>
                <c:pt idx="4">
                  <c:v>0.9</c:v>
                </c:pt>
                <c:pt idx="5">
                  <c:v>0.9</c:v>
                </c:pt>
                <c:pt idx="6">
                  <c:v>0.9</c:v>
                </c:pt>
              </c:numCache>
              <c:extLst/>
            </c:numRef>
          </c:val>
          <c:smooth val="0"/>
          <c:extLst>
            <c:ext xmlns:c16="http://schemas.microsoft.com/office/drawing/2014/chart" uri="{C3380CC4-5D6E-409C-BE32-E72D297353CC}">
              <c16:uniqueId val="{00000001-4F08-4D98-83DE-1CA682CCCBA0}"/>
            </c:ext>
          </c:extLst>
        </c:ser>
        <c:dLbls>
          <c:dLblPos val="t"/>
          <c:showLegendKey val="0"/>
          <c:showVal val="1"/>
          <c:showCatName val="0"/>
          <c:showSerName val="0"/>
          <c:showPercent val="0"/>
          <c:showBubbleSize val="0"/>
        </c:dLbls>
        <c:marker val="1"/>
        <c:smooth val="0"/>
        <c:axId val="304009135"/>
        <c:axId val="304009615"/>
      </c:lineChart>
      <c:catAx>
        <c:axId val="3040091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75000"/>
                  </a:schemeClr>
                </a:solidFill>
                <a:latin typeface="+mn-lt"/>
                <a:ea typeface="+mn-ea"/>
                <a:cs typeface="+mn-cs"/>
              </a:defRPr>
            </a:pPr>
            <a:endParaRPr lang="es-CO"/>
          </a:p>
        </c:txPr>
        <c:crossAx val="304009615"/>
        <c:crosses val="autoZero"/>
        <c:auto val="1"/>
        <c:lblAlgn val="ctr"/>
        <c:lblOffset val="100"/>
        <c:noMultiLvlLbl val="0"/>
      </c:catAx>
      <c:valAx>
        <c:axId val="304009615"/>
        <c:scaling>
          <c:orientation val="minMax"/>
          <c:min val="0.60000000000000009"/>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304009135"/>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1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7030A0"/>
                </a:solidFill>
                <a:latin typeface="+mn-lt"/>
                <a:ea typeface="+mn-ea"/>
                <a:cs typeface="+mn-cs"/>
              </a:defRPr>
            </a:pPr>
            <a:r>
              <a:rPr lang="es-CO"/>
              <a:t>FCR</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7030A0"/>
              </a:solidFill>
              <a:latin typeface="+mn-lt"/>
              <a:ea typeface="+mn-ea"/>
              <a:cs typeface="+mn-cs"/>
            </a:defRPr>
          </a:pPr>
          <a:endParaRPr lang="es-CO"/>
        </a:p>
      </c:txPr>
    </c:title>
    <c:autoTitleDeleted val="0"/>
    <c:plotArea>
      <c:layout/>
      <c:barChart>
        <c:barDir val="col"/>
        <c:grouping val="clustered"/>
        <c:varyColors val="0"/>
        <c:ser>
          <c:idx val="0"/>
          <c:order val="0"/>
          <c:tx>
            <c:strRef>
              <c:f>'2026'!$A$102</c:f>
              <c:strCache>
                <c:ptCount val="1"/>
                <c:pt idx="0">
                  <c:v>2026</c:v>
                </c:pt>
              </c:strCache>
            </c:strRef>
          </c:tx>
          <c:spPr>
            <a:solidFill>
              <a:srgbClr val="8158A1"/>
            </a:solidFill>
            <a:ln>
              <a:solidFill>
                <a:srgbClr val="8158A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'2026'!$C$98:$I$98</c:f>
              <c:strCache>
                <c:ptCount val="7"/>
                <c:pt idx="0">
                  <c:v>ENE</c:v>
                </c:pt>
                <c:pt idx="1">
                  <c:v>FEB</c:v>
                </c:pt>
                <c:pt idx="2">
                  <c:v>MAR</c:v>
                </c:pt>
                <c:pt idx="3">
                  <c:v>ABR</c:v>
                </c:pt>
                <c:pt idx="4">
                  <c:v>MAY</c:v>
                </c:pt>
                <c:pt idx="5">
                  <c:v>JUN</c:v>
                </c:pt>
                <c:pt idx="6">
                  <c:v>JUL</c:v>
                </c:pt>
              </c:strCache>
              <c:extLst/>
            </c:strRef>
          </c:cat>
          <c:val>
            <c:numRef>
              <c:f>'2026'!$C$155:$I$155</c:f>
              <c:numCache>
                <c:formatCode>0%</c:formatCode>
                <c:ptCount val="7"/>
                <c:pt idx="0">
                  <c:v>0.9375</c:v>
                </c:pt>
                <c:pt idx="1">
                  <c:v>0.8666666666666667</c:v>
                </c:pt>
                <c:pt idx="2">
                  <c:v>0.82352941176470584</c:v>
                </c:pt>
                <c:pt idx="3">
                  <c:v>0.89473684210526316</c:v>
                </c:pt>
                <c:pt idx="4">
                  <c:v>1</c:v>
                </c:pt>
                <c:pt idx="5">
                  <c:v>1</c:v>
                </c:pt>
                <c:pt idx="6">
                  <c:v>1</c:v>
                </c:pt>
              </c:numCache>
              <c:extLst/>
            </c:numRef>
          </c:val>
          <c:extLst>
            <c:ext xmlns:c16="http://schemas.microsoft.com/office/drawing/2014/chart" uri="{C3380CC4-5D6E-409C-BE32-E72D297353CC}">
              <c16:uniqueId val="{00000000-0AE2-43A4-B5DC-F2AC9DA756A6}"/>
            </c:ext>
          </c:extLst>
        </c:ser>
        <c:dLbls>
          <c:showLegendKey val="0"/>
          <c:showVal val="0"/>
          <c:showCatName val="0"/>
          <c:showSerName val="0"/>
          <c:showPercent val="0"/>
          <c:showBubbleSize val="0"/>
        </c:dLbls>
        <c:gapWidth val="150"/>
        <c:axId val="1248717855"/>
        <c:axId val="1248715455"/>
      </c:barChart>
      <c:lineChart>
        <c:grouping val="standard"/>
        <c:varyColors val="0"/>
        <c:ser>
          <c:idx val="1"/>
          <c:order val="1"/>
          <c:tx>
            <c:strRef>
              <c:f>'2026'!$A$104</c:f>
              <c:strCache>
                <c:ptCount val="1"/>
                <c:pt idx="0">
                  <c:v>META</c:v>
                </c:pt>
              </c:strCache>
            </c:strRef>
          </c:tx>
          <c:spPr>
            <a:ln w="28575" cap="rnd">
              <a:solidFill>
                <a:srgbClr val="FF0000"/>
              </a:solidFill>
              <a:prstDash val="sysDot"/>
              <a:round/>
            </a:ln>
            <a:effectLst/>
          </c:spPr>
          <c:marker>
            <c:symbol val="none"/>
          </c:marker>
          <c:cat>
            <c:strRef>
              <c:f>'2026'!$C$98:$I$98</c:f>
              <c:strCache>
                <c:ptCount val="7"/>
                <c:pt idx="0">
                  <c:v>ENE</c:v>
                </c:pt>
                <c:pt idx="1">
                  <c:v>FEB</c:v>
                </c:pt>
                <c:pt idx="2">
                  <c:v>MAR</c:v>
                </c:pt>
                <c:pt idx="3">
                  <c:v>ABR</c:v>
                </c:pt>
                <c:pt idx="4">
                  <c:v>MAY</c:v>
                </c:pt>
                <c:pt idx="5">
                  <c:v>JUN</c:v>
                </c:pt>
                <c:pt idx="6">
                  <c:v>JUL</c:v>
                </c:pt>
              </c:strCache>
              <c:extLst/>
            </c:strRef>
          </c:cat>
          <c:val>
            <c:numRef>
              <c:f>'2026'!$C$104:$I$104</c:f>
              <c:numCache>
                <c:formatCode>0%</c:formatCode>
                <c:ptCount val="7"/>
                <c:pt idx="0">
                  <c:v>0.9</c:v>
                </c:pt>
                <c:pt idx="1">
                  <c:v>0.9</c:v>
                </c:pt>
                <c:pt idx="2">
                  <c:v>0.9</c:v>
                </c:pt>
                <c:pt idx="3">
                  <c:v>0.9</c:v>
                </c:pt>
                <c:pt idx="4">
                  <c:v>0.9</c:v>
                </c:pt>
                <c:pt idx="5">
                  <c:v>0.9</c:v>
                </c:pt>
                <c:pt idx="6">
                  <c:v>0.9</c:v>
                </c:pt>
              </c:numCache>
              <c:extLst/>
            </c:numRef>
          </c:val>
          <c:smooth val="0"/>
          <c:extLst>
            <c:ext xmlns:c16="http://schemas.microsoft.com/office/drawing/2014/chart" uri="{C3380CC4-5D6E-409C-BE32-E72D297353CC}">
              <c16:uniqueId val="{00000001-0AE2-43A4-B5DC-F2AC9DA756A6}"/>
            </c:ext>
          </c:extLst>
        </c:ser>
        <c:dLbls>
          <c:showLegendKey val="0"/>
          <c:showVal val="0"/>
          <c:showCatName val="0"/>
          <c:showSerName val="0"/>
          <c:showPercent val="0"/>
          <c:showBubbleSize val="0"/>
        </c:dLbls>
        <c:marker val="1"/>
        <c:smooth val="0"/>
        <c:axId val="1248717855"/>
        <c:axId val="1248715455"/>
      </c:lineChart>
      <c:catAx>
        <c:axId val="12487178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75000"/>
                  </a:schemeClr>
                </a:solidFill>
                <a:latin typeface="+mn-lt"/>
                <a:ea typeface="+mn-ea"/>
                <a:cs typeface="+mn-cs"/>
              </a:defRPr>
            </a:pPr>
            <a:endParaRPr lang="es-CO"/>
          </a:p>
        </c:txPr>
        <c:crossAx val="1248715455"/>
        <c:crosses val="autoZero"/>
        <c:auto val="1"/>
        <c:lblAlgn val="ctr"/>
        <c:lblOffset val="100"/>
        <c:noMultiLvlLbl val="0"/>
      </c:catAx>
      <c:valAx>
        <c:axId val="1248715455"/>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248717855"/>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1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'Por Cliente'!$A$39</c:f>
              <c:strCache>
                <c:ptCount val="1"/>
                <c:pt idx="0">
                  <c:v>Petición</c:v>
                </c:pt>
              </c:strCache>
            </c:strRef>
          </c:tx>
          <c:spPr>
            <a:solidFill>
              <a:srgbClr val="FF6699"/>
            </a:solidFill>
            <a:ln>
              <a:noFill/>
            </a:ln>
            <a:effectLst/>
          </c:spPr>
          <c:invertIfNegative val="0"/>
          <c:cat>
            <c:strRef>
              <c:f>'Por Cliente'!$B$3:$H$3</c:f>
              <c:strCache>
                <c:ptCount val="7"/>
                <c:pt idx="0">
                  <c:v>ENE</c:v>
                </c:pt>
                <c:pt idx="1">
                  <c:v>FEB</c:v>
                </c:pt>
                <c:pt idx="2">
                  <c:v>MAR</c:v>
                </c:pt>
                <c:pt idx="3">
                  <c:v>ABR</c:v>
                </c:pt>
                <c:pt idx="4">
                  <c:v>MAY</c:v>
                </c:pt>
                <c:pt idx="5">
                  <c:v>JUN</c:v>
                </c:pt>
                <c:pt idx="6">
                  <c:v>JUL</c:v>
                </c:pt>
              </c:strCache>
            </c:strRef>
          </c:cat>
          <c:val>
            <c:numRef>
              <c:f>'Por Cliente'!$B$39:$H$39</c:f>
              <c:numCache>
                <c:formatCode>General</c:formatCode>
                <c:ptCount val="7"/>
                <c:pt idx="0">
                  <c:v>0</c:v>
                </c:pt>
                <c:pt idx="1">
                  <c:v>0</c:v>
                </c:pt>
                <c:pt idx="2">
                  <c:v>3</c:v>
                </c:pt>
                <c:pt idx="3">
                  <c:v>1</c:v>
                </c:pt>
                <c:pt idx="4">
                  <c:v>0</c:v>
                </c:pt>
                <c:pt idx="5">
                  <c:v>1</c:v>
                </c:pt>
                <c:pt idx="6">
                  <c:v>1</c:v>
                </c:pt>
              </c:numCache>
            </c:numRef>
          </c:val>
          <c:extLst>
            <c:ext xmlns:c16="http://schemas.microsoft.com/office/drawing/2014/chart" uri="{C3380CC4-5D6E-409C-BE32-E72D297353CC}">
              <c16:uniqueId val="{00000000-C1C0-474C-BE0B-799743418F81}"/>
            </c:ext>
          </c:extLst>
        </c:ser>
        <c:ser>
          <c:idx val="1"/>
          <c:order val="1"/>
          <c:tx>
            <c:strRef>
              <c:f>'Por Cliente'!$A$40</c:f>
              <c:strCache>
                <c:ptCount val="1"/>
                <c:pt idx="0">
                  <c:v>Queja</c:v>
                </c:pt>
              </c:strCache>
            </c:strRef>
          </c:tx>
          <c:spPr>
            <a:solidFill>
              <a:srgbClr val="47A9BF"/>
            </a:solidFill>
            <a:ln>
              <a:noFill/>
            </a:ln>
            <a:effectLst/>
          </c:spPr>
          <c:invertIfNegative val="0"/>
          <c:cat>
            <c:strRef>
              <c:f>'Por Cliente'!$B$3:$H$3</c:f>
              <c:strCache>
                <c:ptCount val="7"/>
                <c:pt idx="0">
                  <c:v>ENE</c:v>
                </c:pt>
                <c:pt idx="1">
                  <c:v>FEB</c:v>
                </c:pt>
                <c:pt idx="2">
                  <c:v>MAR</c:v>
                </c:pt>
                <c:pt idx="3">
                  <c:v>ABR</c:v>
                </c:pt>
                <c:pt idx="4">
                  <c:v>MAY</c:v>
                </c:pt>
                <c:pt idx="5">
                  <c:v>JUN</c:v>
                </c:pt>
                <c:pt idx="6">
                  <c:v>JUL</c:v>
                </c:pt>
              </c:strCache>
            </c:strRef>
          </c:cat>
          <c:val>
            <c:numRef>
              <c:f>'Por Cliente'!$B$40:$H$40</c:f>
              <c:numCache>
                <c:formatCode>General</c:formatCode>
                <c:ptCount val="7"/>
                <c:pt idx="0">
                  <c:v>0</c:v>
                </c:pt>
                <c:pt idx="1">
                  <c:v>1</c:v>
                </c:pt>
                <c:pt idx="2">
                  <c:v>0</c:v>
                </c:pt>
                <c:pt idx="3">
                  <c:v>0</c:v>
                </c:pt>
                <c:pt idx="4">
                  <c:v>0</c:v>
                </c:pt>
                <c:pt idx="5">
                  <c:v>0</c:v>
                </c:pt>
                <c:pt idx="6">
                  <c:v>0</c:v>
                </c:pt>
              </c:numCache>
            </c:numRef>
          </c:val>
          <c:extLst>
            <c:ext xmlns:c16="http://schemas.microsoft.com/office/drawing/2014/chart" uri="{C3380CC4-5D6E-409C-BE32-E72D297353CC}">
              <c16:uniqueId val="{00000001-C1C0-474C-BE0B-799743418F81}"/>
            </c:ext>
          </c:extLst>
        </c:ser>
        <c:ser>
          <c:idx val="2"/>
          <c:order val="2"/>
          <c:tx>
            <c:strRef>
              <c:f>'Por Cliente'!$A$41</c:f>
              <c:strCache>
                <c:ptCount val="1"/>
                <c:pt idx="0">
                  <c:v>Reclamo</c:v>
                </c:pt>
              </c:strCache>
            </c:strRef>
          </c:tx>
          <c:spPr>
            <a:solidFill>
              <a:srgbClr val="002060"/>
            </a:solidFill>
            <a:ln>
              <a:noFill/>
            </a:ln>
            <a:effectLst/>
          </c:spPr>
          <c:invertIfNegative val="0"/>
          <c:cat>
            <c:strRef>
              <c:f>'Por Cliente'!$B$3:$H$3</c:f>
              <c:strCache>
                <c:ptCount val="7"/>
                <c:pt idx="0">
                  <c:v>ENE</c:v>
                </c:pt>
                <c:pt idx="1">
                  <c:v>FEB</c:v>
                </c:pt>
                <c:pt idx="2">
                  <c:v>MAR</c:v>
                </c:pt>
                <c:pt idx="3">
                  <c:v>ABR</c:v>
                </c:pt>
                <c:pt idx="4">
                  <c:v>MAY</c:v>
                </c:pt>
                <c:pt idx="5">
                  <c:v>JUN</c:v>
                </c:pt>
                <c:pt idx="6">
                  <c:v>JUL</c:v>
                </c:pt>
              </c:strCache>
            </c:strRef>
          </c:cat>
          <c:val>
            <c:numRef>
              <c:f>'Por Cliente'!$B$41:$H$41</c:f>
              <c:numCache>
                <c:formatCode>General</c:formatCode>
                <c:ptCount val="7"/>
                <c:pt idx="0">
                  <c:v>1</c:v>
                </c:pt>
                <c:pt idx="1">
                  <c:v>0</c:v>
                </c:pt>
                <c:pt idx="2">
                  <c:v>2</c:v>
                </c:pt>
                <c:pt idx="3">
                  <c:v>1</c:v>
                </c:pt>
                <c:pt idx="4">
                  <c:v>0</c:v>
                </c:pt>
                <c:pt idx="5">
                  <c:v>0</c:v>
                </c:pt>
                <c:pt idx="6">
                  <c:v>0</c:v>
                </c:pt>
              </c:numCache>
            </c:numRef>
          </c:val>
          <c:extLst>
            <c:ext xmlns:c16="http://schemas.microsoft.com/office/drawing/2014/chart" uri="{C3380CC4-5D6E-409C-BE32-E72D297353CC}">
              <c16:uniqueId val="{00000002-C1C0-474C-BE0B-799743418F81}"/>
            </c:ext>
          </c:extLst>
        </c:ser>
        <c:ser>
          <c:idx val="3"/>
          <c:order val="3"/>
          <c:tx>
            <c:strRef>
              <c:f>'Por Cliente'!$A$42</c:f>
              <c:strCache>
                <c:ptCount val="1"/>
                <c:pt idx="0">
                  <c:v>Sugerencia</c:v>
                </c:pt>
              </c:strCache>
            </c:strRef>
          </c:tx>
          <c:spPr>
            <a:solidFill>
              <a:srgbClr val="FFC000"/>
            </a:solidFill>
            <a:ln>
              <a:noFill/>
            </a:ln>
            <a:effectLst/>
          </c:spPr>
          <c:invertIfNegative val="0"/>
          <c:cat>
            <c:strRef>
              <c:f>'Por Cliente'!$B$3:$H$3</c:f>
              <c:strCache>
                <c:ptCount val="7"/>
                <c:pt idx="0">
                  <c:v>ENE</c:v>
                </c:pt>
                <c:pt idx="1">
                  <c:v>FEB</c:v>
                </c:pt>
                <c:pt idx="2">
                  <c:v>MAR</c:v>
                </c:pt>
                <c:pt idx="3">
                  <c:v>ABR</c:v>
                </c:pt>
                <c:pt idx="4">
                  <c:v>MAY</c:v>
                </c:pt>
                <c:pt idx="5">
                  <c:v>JUN</c:v>
                </c:pt>
                <c:pt idx="6">
                  <c:v>JUL</c:v>
                </c:pt>
              </c:strCache>
            </c:strRef>
          </c:cat>
          <c:val>
            <c:numRef>
              <c:f>'Por Cliente'!$B$42:$H$42</c:f>
              <c:numCache>
                <c:formatCode>General</c:formatCode>
                <c:ptCount val="7"/>
                <c:pt idx="0">
                  <c:v>0</c:v>
                </c:pt>
                <c:pt idx="1">
                  <c:v>0</c:v>
                </c:pt>
                <c:pt idx="2">
                  <c:v>0</c:v>
                </c:pt>
                <c:pt idx="3">
                  <c:v>1</c:v>
                </c:pt>
                <c:pt idx="4">
                  <c:v>0</c:v>
                </c:pt>
                <c:pt idx="5">
                  <c:v>0</c:v>
                </c:pt>
                <c:pt idx="6">
                  <c:v>0</c:v>
                </c:pt>
              </c:numCache>
            </c:numRef>
          </c:val>
          <c:extLst>
            <c:ext xmlns:c16="http://schemas.microsoft.com/office/drawing/2014/chart" uri="{C3380CC4-5D6E-409C-BE32-E72D297353CC}">
              <c16:uniqueId val="{00000003-C1C0-474C-BE0B-799743418F81}"/>
            </c:ext>
          </c:extLst>
        </c:ser>
        <c:ser>
          <c:idx val="4"/>
          <c:order val="4"/>
          <c:tx>
            <c:strRef>
              <c:f>'Por Cliente'!$A$43</c:f>
              <c:strCache>
                <c:ptCount val="1"/>
                <c:pt idx="0">
                  <c:v>Felicitación</c:v>
                </c:pt>
              </c:strCache>
            </c:strRef>
          </c:tx>
          <c:spPr>
            <a:solidFill>
              <a:srgbClr val="8158A1"/>
            </a:solidFill>
            <a:ln>
              <a:noFill/>
            </a:ln>
            <a:effectLst/>
          </c:spPr>
          <c:invertIfNegative val="0"/>
          <c:cat>
            <c:strRef>
              <c:f>'Por Cliente'!$B$3:$H$3</c:f>
              <c:strCache>
                <c:ptCount val="7"/>
                <c:pt idx="0">
                  <c:v>ENE</c:v>
                </c:pt>
                <c:pt idx="1">
                  <c:v>FEB</c:v>
                </c:pt>
                <c:pt idx="2">
                  <c:v>MAR</c:v>
                </c:pt>
                <c:pt idx="3">
                  <c:v>ABR</c:v>
                </c:pt>
                <c:pt idx="4">
                  <c:v>MAY</c:v>
                </c:pt>
                <c:pt idx="5">
                  <c:v>JUN</c:v>
                </c:pt>
                <c:pt idx="6">
                  <c:v>JUL</c:v>
                </c:pt>
              </c:strCache>
            </c:strRef>
          </c:cat>
          <c:val>
            <c:numRef>
              <c:f>'Por Cliente'!$B$43:$H$43</c:f>
              <c:numCache>
                <c:formatCode>General</c:formatCode>
                <c:ptCount val="7"/>
                <c:pt idx="0">
                  <c:v>0</c:v>
                </c:pt>
                <c:pt idx="1">
                  <c:v>2</c:v>
                </c:pt>
                <c:pt idx="2">
                  <c:v>0</c:v>
                </c:pt>
                <c:pt idx="3">
                  <c:v>0</c:v>
                </c:pt>
                <c:pt idx="4">
                  <c:v>0</c:v>
                </c:pt>
                <c:pt idx="5">
                  <c:v>1</c:v>
                </c:pt>
                <c:pt idx="6">
                  <c:v>2</c:v>
                </c:pt>
              </c:numCache>
            </c:numRef>
          </c:val>
          <c:extLst>
            <c:ext xmlns:c16="http://schemas.microsoft.com/office/drawing/2014/chart" uri="{C3380CC4-5D6E-409C-BE32-E72D297353CC}">
              <c16:uniqueId val="{00000004-C1C0-474C-BE0B-799743418F81}"/>
            </c:ext>
          </c:extLst>
        </c:ser>
        <c:dLbls>
          <c:showLegendKey val="0"/>
          <c:showVal val="0"/>
          <c:showCatName val="0"/>
          <c:showSerName val="0"/>
          <c:showPercent val="0"/>
          <c:showBubbleSize val="0"/>
        </c:dLbls>
        <c:gapWidth val="150"/>
        <c:overlap val="100"/>
        <c:axId val="1421382431"/>
        <c:axId val="1421384351"/>
      </c:barChart>
      <c:catAx>
        <c:axId val="142138243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421384351"/>
        <c:crosses val="autoZero"/>
        <c:auto val="1"/>
        <c:lblAlgn val="ctr"/>
        <c:lblOffset val="100"/>
        <c:noMultiLvlLbl val="0"/>
      </c:catAx>
      <c:valAx>
        <c:axId val="142138435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421382431"/>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050" b="0" i="0" u="none" strike="noStrike" kern="1200" baseline="0">
                <a:solidFill>
                  <a:schemeClr val="tx1">
                    <a:lumMod val="50000"/>
                  </a:schemeClr>
                </a:solidFill>
                <a:latin typeface="+mn-lt"/>
                <a:ea typeface="+mn-ea"/>
                <a:cs typeface="+mn-cs"/>
              </a:defRPr>
            </a:pPr>
            <a:endParaRPr lang="es-CO"/>
          </a:p>
        </c:txPr>
      </c:dTable>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50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1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s-CO" sz="1400" b="1" i="0" u="sng" strike="noStrike" kern="1200" spc="0" baseline="0">
                <a:solidFill>
                  <a:prstClr val="black">
                    <a:lumMod val="65000"/>
                    <a:lumOff val="35000"/>
                  </a:prstClr>
                </a:solidFill>
              </a:rPr>
              <a:t>ESTADOS DE CITA FOMAG</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spPr>
            <a:solidFill>
              <a:srgbClr val="FFFFFF">
                <a:lumMod val="50000"/>
              </a:srgb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1" i="0" u="none" strike="noStrike" kern="1200" baseline="0">
                    <a:solidFill>
                      <a:schemeClr val="bg1">
                        <a:lumMod val="50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FOMAG!$D$6:$D$8</c:f>
              <c:strCache>
                <c:ptCount val="3"/>
                <c:pt idx="0">
                  <c:v>ATENDIDA</c:v>
                </c:pt>
                <c:pt idx="1">
                  <c:v>CANCELADA</c:v>
                </c:pt>
                <c:pt idx="2">
                  <c:v>INCUMPLIDA</c:v>
                </c:pt>
              </c:strCache>
            </c:strRef>
          </c:cat>
          <c:val>
            <c:numRef>
              <c:f>FOMAG!$E$6:$E$8</c:f>
              <c:numCache>
                <c:formatCode>#,##0</c:formatCode>
                <c:ptCount val="3"/>
                <c:pt idx="0">
                  <c:v>190</c:v>
                </c:pt>
                <c:pt idx="1">
                  <c:v>53</c:v>
                </c:pt>
                <c:pt idx="2">
                  <c:v>16</c:v>
                </c:pt>
              </c:numCache>
            </c:numRef>
          </c:val>
          <c:extLst>
            <c:ext xmlns:c16="http://schemas.microsoft.com/office/drawing/2014/chart" uri="{C3380CC4-5D6E-409C-BE32-E72D297353CC}">
              <c16:uniqueId val="{00000000-9C7E-4787-973E-32973744F2ED}"/>
            </c:ext>
          </c:extLst>
        </c:ser>
        <c:dLbls>
          <c:showLegendKey val="0"/>
          <c:showVal val="1"/>
          <c:showCatName val="0"/>
          <c:showSerName val="0"/>
          <c:showPercent val="0"/>
          <c:showBubbleSize val="0"/>
        </c:dLbls>
        <c:gapWidth val="219"/>
        <c:overlap val="-27"/>
        <c:axId val="925820447"/>
        <c:axId val="925819007"/>
      </c:barChart>
      <c:lineChart>
        <c:grouping val="standard"/>
        <c:varyColors val="0"/>
        <c:ser>
          <c:idx val="1"/>
          <c:order val="1"/>
          <c:spPr>
            <a:ln w="28575" cap="rnd">
              <a:solidFill>
                <a:srgbClr val="00A19C"/>
              </a:solidFill>
              <a:round/>
            </a:ln>
            <a:effectLst/>
          </c:spPr>
          <c:marker>
            <c:symbol val="none"/>
          </c:marker>
          <c:dLbls>
            <c:dLbl>
              <c:idx val="0"/>
              <c:layout>
                <c:manualLayout>
                  <c:x val="2.2222222222222223E-2"/>
                  <c:y val="-8.4704557838873647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C7E-4787-973E-32973744F2ED}"/>
                </c:ext>
              </c:extLst>
            </c:dLbl>
            <c:dLbl>
              <c:idx val="1"/>
              <c:layout>
                <c:manualLayout>
                  <c:x val="2.7777777777777676E-2"/>
                  <c:y val="-9.31750136227605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9C7E-4787-973E-32973744F2ED}"/>
                </c:ext>
              </c:extLst>
            </c:dLbl>
            <c:dLbl>
              <c:idx val="2"/>
              <c:layout>
                <c:manualLayout>
                  <c:x val="3.0555555555555454E-2"/>
                  <c:y val="-0.1016454694066479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C7E-4787-973E-32973744F2ED}"/>
                </c:ext>
              </c:extLst>
            </c:dLbl>
            <c:spPr>
              <a:noFill/>
              <a:ln>
                <a:noFill/>
              </a:ln>
              <a:effectLst/>
            </c:spPr>
            <c:txPr>
              <a:bodyPr rot="0" spcFirstLastPara="1" vertOverflow="ellipsis" vert="horz" wrap="square" lIns="38100" tIns="19050" rIns="38100" bIns="19050" anchor="ctr" anchorCtr="0">
                <a:spAutoFit/>
              </a:bodyPr>
              <a:lstStyle/>
              <a:p>
                <a:pPr algn="ctr">
                  <a:defRPr lang="en-US" sz="1100" b="1" i="0" u="none" strike="noStrike" kern="1200" baseline="0">
                    <a:solidFill>
                      <a:srgbClr val="00A19C"/>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FOMAG!$D$6:$D$8</c:f>
              <c:strCache>
                <c:ptCount val="3"/>
                <c:pt idx="0">
                  <c:v>ATENDIDA</c:v>
                </c:pt>
                <c:pt idx="1">
                  <c:v>CANCELADA</c:v>
                </c:pt>
                <c:pt idx="2">
                  <c:v>INCUMPLIDA</c:v>
                </c:pt>
              </c:strCache>
            </c:strRef>
          </c:cat>
          <c:val>
            <c:numRef>
              <c:f>FOMAG!$F$6:$F$8</c:f>
              <c:numCache>
                <c:formatCode>0%</c:formatCode>
                <c:ptCount val="3"/>
                <c:pt idx="0">
                  <c:v>0.73359073359073357</c:v>
                </c:pt>
                <c:pt idx="1">
                  <c:v>0.20463320463320464</c:v>
                </c:pt>
                <c:pt idx="2">
                  <c:v>6.1776061776061778E-2</c:v>
                </c:pt>
              </c:numCache>
            </c:numRef>
          </c:val>
          <c:smooth val="0"/>
          <c:extLst>
            <c:ext xmlns:c16="http://schemas.microsoft.com/office/drawing/2014/chart" uri="{C3380CC4-5D6E-409C-BE32-E72D297353CC}">
              <c16:uniqueId val="{00000004-9C7E-4787-973E-32973744F2ED}"/>
            </c:ext>
          </c:extLst>
        </c:ser>
        <c:dLbls>
          <c:showLegendKey val="0"/>
          <c:showVal val="1"/>
          <c:showCatName val="0"/>
          <c:showSerName val="0"/>
          <c:showPercent val="0"/>
          <c:showBubbleSize val="0"/>
        </c:dLbls>
        <c:marker val="1"/>
        <c:smooth val="0"/>
        <c:axId val="925824767"/>
        <c:axId val="925824287"/>
      </c:lineChart>
      <c:catAx>
        <c:axId val="925820447"/>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100" b="1" i="0" u="none" strike="noStrike" kern="1200" baseline="0">
                <a:solidFill>
                  <a:schemeClr val="tx1">
                    <a:lumMod val="65000"/>
                    <a:lumOff val="35000"/>
                  </a:schemeClr>
                </a:solidFill>
                <a:latin typeface="+mn-lt"/>
                <a:ea typeface="+mn-ea"/>
                <a:cs typeface="+mn-cs"/>
              </a:defRPr>
            </a:pPr>
            <a:endParaRPr lang="es-CO"/>
          </a:p>
        </c:txPr>
        <c:crossAx val="925819007"/>
        <c:crosses val="autoZero"/>
        <c:auto val="1"/>
        <c:lblAlgn val="ctr"/>
        <c:lblOffset val="100"/>
        <c:noMultiLvlLbl val="0"/>
      </c:catAx>
      <c:valAx>
        <c:axId val="925819007"/>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925820447"/>
        <c:crosses val="autoZero"/>
        <c:crossBetween val="between"/>
      </c:valAx>
      <c:valAx>
        <c:axId val="925824287"/>
        <c:scaling>
          <c:orientation val="minMax"/>
        </c:scaling>
        <c:delete val="0"/>
        <c:axPos val="r"/>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925824767"/>
        <c:crosses val="max"/>
        <c:crossBetween val="between"/>
      </c:valAx>
      <c:catAx>
        <c:axId val="925824767"/>
        <c:scaling>
          <c:orientation val="minMax"/>
        </c:scaling>
        <c:delete val="1"/>
        <c:axPos val="b"/>
        <c:numFmt formatCode="General" sourceLinked="1"/>
        <c:majorTickMark val="none"/>
        <c:minorTickMark val="none"/>
        <c:tickLblPos val="nextTo"/>
        <c:crossAx val="925824287"/>
        <c:crosses val="autoZero"/>
        <c:auto val="1"/>
        <c:lblAlgn val="ctr"/>
        <c:lblOffset val="100"/>
        <c:noMultiLvlLbl val="0"/>
      </c:catAx>
      <c:spPr>
        <a:noFill/>
        <a:ln>
          <a:noFill/>
        </a:ln>
        <a:effectLst/>
      </c:spPr>
    </c:plotArea>
    <c:plotVisOnly val="1"/>
    <c:dispBlanksAs val="gap"/>
    <c:showDLblsOverMax val="0"/>
  </c:chart>
  <c:spPr>
    <a:noFill/>
    <a:ln>
      <a:noFill/>
    </a:ln>
    <a:effectLst/>
  </c:spPr>
  <c:txPr>
    <a:bodyPr/>
    <a:lstStyle/>
    <a:p>
      <a:pPr>
        <a:defRPr/>
      </a:pPr>
      <a:endParaRPr lang="es-CO"/>
    </a:p>
  </c:txPr>
  <c:externalData r:id="rId4">
    <c:autoUpdate val="0"/>
  </c:externalData>
</c:chartSpace>
</file>

<file path=ppt/charts/chart1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rgbClr val="4FA9A7"/>
                </a:solidFill>
                <a:latin typeface="+mn-lt"/>
                <a:ea typeface="+mn-ea"/>
                <a:cs typeface="+mn-cs"/>
              </a:defRPr>
            </a:pPr>
            <a:r>
              <a:rPr lang="es-CO" sz="1400" b="1" i="0" u="none" strike="noStrike" kern="1200" spc="0" baseline="0" noProof="0">
                <a:solidFill>
                  <a:srgbClr val="4FA9A7"/>
                </a:solidFill>
              </a:rPr>
              <a:t>Incidencia año 2026 Familiar de Colombia</a:t>
            </a:r>
          </a:p>
        </c:rich>
      </c:tx>
      <c:layout>
        <c:manualLayout>
          <c:xMode val="edge"/>
          <c:yMode val="edge"/>
          <c:x val="0.35568828661514806"/>
          <c:y val="4.0537006267773922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rgbClr val="4FA9A7"/>
              </a:solidFill>
              <a:latin typeface="+mn-lt"/>
              <a:ea typeface="+mn-ea"/>
              <a:cs typeface="+mn-cs"/>
            </a:defRPr>
          </a:pPr>
          <a:endParaRPr lang="es-CO"/>
        </a:p>
      </c:txPr>
    </c:title>
    <c:autoTitleDeleted val="0"/>
    <c:plotArea>
      <c:layout/>
      <c:barChart>
        <c:barDir val="col"/>
        <c:grouping val="clustered"/>
        <c:varyColors val="0"/>
        <c:ser>
          <c:idx val="0"/>
          <c:order val="0"/>
          <c:tx>
            <c:strRef>
              <c:f>incidencia!$J$278</c:f>
              <c:strCache>
                <c:ptCount val="1"/>
                <c:pt idx="0">
                  <c:v>casos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incidencia!$I$279:$I$292</c:f>
              <c:numCache>
                <c:formatCode>mmm\-yy</c:formatCode>
                <c:ptCount val="14"/>
                <c:pt idx="0">
                  <c:v>45809</c:v>
                </c:pt>
                <c:pt idx="1">
                  <c:v>45839</c:v>
                </c:pt>
                <c:pt idx="2">
                  <c:v>45870</c:v>
                </c:pt>
                <c:pt idx="3">
                  <c:v>45901</c:v>
                </c:pt>
                <c:pt idx="4">
                  <c:v>45931</c:v>
                </c:pt>
                <c:pt idx="5">
                  <c:v>45962</c:v>
                </c:pt>
                <c:pt idx="6">
                  <c:v>45992</c:v>
                </c:pt>
                <c:pt idx="7">
                  <c:v>46023</c:v>
                </c:pt>
                <c:pt idx="8">
                  <c:v>46054</c:v>
                </c:pt>
                <c:pt idx="9">
                  <c:v>46082</c:v>
                </c:pt>
                <c:pt idx="10">
                  <c:v>46113</c:v>
                </c:pt>
                <c:pt idx="11">
                  <c:v>46143</c:v>
                </c:pt>
                <c:pt idx="12">
                  <c:v>46174</c:v>
                </c:pt>
                <c:pt idx="13">
                  <c:v>46204</c:v>
                </c:pt>
              </c:numCache>
            </c:numRef>
          </c:cat>
          <c:val>
            <c:numRef>
              <c:f>incidencia!$J$279:$J$292</c:f>
              <c:numCache>
                <c:formatCode>General</c:formatCode>
                <c:ptCount val="14"/>
                <c:pt idx="0">
                  <c:v>3</c:v>
                </c:pt>
                <c:pt idx="1">
                  <c:v>2</c:v>
                </c:pt>
                <c:pt idx="2">
                  <c:v>23</c:v>
                </c:pt>
                <c:pt idx="3">
                  <c:v>12</c:v>
                </c:pt>
                <c:pt idx="4">
                  <c:v>7</c:v>
                </c:pt>
                <c:pt idx="5">
                  <c:v>5</c:v>
                </c:pt>
                <c:pt idx="6">
                  <c:v>4</c:v>
                </c:pt>
                <c:pt idx="7">
                  <c:v>0</c:v>
                </c:pt>
                <c:pt idx="8">
                  <c:v>9</c:v>
                </c:pt>
                <c:pt idx="9">
                  <c:v>2</c:v>
                </c:pt>
                <c:pt idx="10">
                  <c:v>5</c:v>
                </c:pt>
                <c:pt idx="11">
                  <c:v>1</c:v>
                </c:pt>
                <c:pt idx="12">
                  <c:v>1</c:v>
                </c:pt>
                <c:pt idx="13">
                  <c:v>0</c:v>
                </c:pt>
              </c:numCache>
            </c:numRef>
          </c:val>
          <c:extLst>
            <c:ext xmlns:c16="http://schemas.microsoft.com/office/drawing/2014/chart" uri="{C3380CC4-5D6E-409C-BE32-E72D297353CC}">
              <c16:uniqueId val="{00000000-D4AD-4D4A-85FC-BE4521105A4D}"/>
            </c:ext>
          </c:extLst>
        </c:ser>
        <c:dLbls>
          <c:showLegendKey val="0"/>
          <c:showVal val="0"/>
          <c:showCatName val="0"/>
          <c:showSerName val="0"/>
          <c:showPercent val="0"/>
          <c:showBubbleSize val="0"/>
        </c:dLbls>
        <c:gapWidth val="219"/>
        <c:axId val="1611326031"/>
        <c:axId val="1611327471"/>
      </c:barChart>
      <c:lineChart>
        <c:grouping val="standard"/>
        <c:varyColors val="0"/>
        <c:ser>
          <c:idx val="1"/>
          <c:order val="1"/>
          <c:tx>
            <c:strRef>
              <c:f>incidencia!$K$278</c:f>
              <c:strCache>
                <c:ptCount val="1"/>
                <c:pt idx="0">
                  <c:v>Tasa de incidencia </c:v>
                </c:pt>
              </c:strCache>
            </c:strRef>
          </c:tx>
          <c:spPr>
            <a:ln w="28575" cap="rnd">
              <a:solidFill>
                <a:srgbClr val="4FB3A9"/>
              </a:solidFill>
              <a:round/>
            </a:ln>
            <a:effectLst/>
          </c:spPr>
          <c:marker>
            <c:symbol val="none"/>
          </c:marker>
          <c:dLbls>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rgbClr val="4FA9A7"/>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leftArrow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numRef>
              <c:f>incidencia!$I$279:$I$292</c:f>
              <c:numCache>
                <c:formatCode>mmm\-yy</c:formatCode>
                <c:ptCount val="14"/>
                <c:pt idx="0">
                  <c:v>45809</c:v>
                </c:pt>
                <c:pt idx="1">
                  <c:v>45839</c:v>
                </c:pt>
                <c:pt idx="2">
                  <c:v>45870</c:v>
                </c:pt>
                <c:pt idx="3">
                  <c:v>45901</c:v>
                </c:pt>
                <c:pt idx="4">
                  <c:v>45931</c:v>
                </c:pt>
                <c:pt idx="5">
                  <c:v>45962</c:v>
                </c:pt>
                <c:pt idx="6">
                  <c:v>45992</c:v>
                </c:pt>
                <c:pt idx="7">
                  <c:v>46023</c:v>
                </c:pt>
                <c:pt idx="8">
                  <c:v>46054</c:v>
                </c:pt>
                <c:pt idx="9">
                  <c:v>46082</c:v>
                </c:pt>
                <c:pt idx="10">
                  <c:v>46113</c:v>
                </c:pt>
                <c:pt idx="11">
                  <c:v>46143</c:v>
                </c:pt>
                <c:pt idx="12">
                  <c:v>46174</c:v>
                </c:pt>
                <c:pt idx="13">
                  <c:v>46204</c:v>
                </c:pt>
              </c:numCache>
            </c:numRef>
          </c:cat>
          <c:val>
            <c:numRef>
              <c:f>incidencia!$K$279:$K$292</c:f>
              <c:numCache>
                <c:formatCode>0</c:formatCode>
                <c:ptCount val="14"/>
                <c:pt idx="0">
                  <c:v>31.27606338615513</c:v>
                </c:pt>
                <c:pt idx="1">
                  <c:v>20.850708924103419</c:v>
                </c:pt>
                <c:pt idx="2">
                  <c:v>239.78315262718934</c:v>
                </c:pt>
                <c:pt idx="3">
                  <c:v>125.10425354462052</c:v>
                </c:pt>
                <c:pt idx="4">
                  <c:v>72.97748123436196</c:v>
                </c:pt>
                <c:pt idx="5">
                  <c:v>52.126772310258545</c:v>
                </c:pt>
                <c:pt idx="6">
                  <c:v>41.701417848206837</c:v>
                </c:pt>
                <c:pt idx="7">
                  <c:v>0</c:v>
                </c:pt>
                <c:pt idx="8">
                  <c:v>93.828190158465389</c:v>
                </c:pt>
                <c:pt idx="9">
                  <c:v>20.850708924103419</c:v>
                </c:pt>
                <c:pt idx="10">
                  <c:v>52.126772310258545</c:v>
                </c:pt>
                <c:pt idx="11">
                  <c:v>10.425354462051709</c:v>
                </c:pt>
                <c:pt idx="12">
                  <c:v>10.425354462051709</c:v>
                </c:pt>
                <c:pt idx="13">
                  <c:v>0</c:v>
                </c:pt>
              </c:numCache>
            </c:numRef>
          </c:val>
          <c:smooth val="0"/>
          <c:extLst>
            <c:ext xmlns:c16="http://schemas.microsoft.com/office/drawing/2014/chart" uri="{C3380CC4-5D6E-409C-BE32-E72D297353CC}">
              <c16:uniqueId val="{00000001-D4AD-4D4A-85FC-BE4521105A4D}"/>
            </c:ext>
          </c:extLst>
        </c:ser>
        <c:dLbls>
          <c:showLegendKey val="0"/>
          <c:showVal val="0"/>
          <c:showCatName val="0"/>
          <c:showSerName val="0"/>
          <c:showPercent val="0"/>
          <c:showBubbleSize val="0"/>
        </c:dLbls>
        <c:marker val="1"/>
        <c:smooth val="0"/>
        <c:axId val="1611326031"/>
        <c:axId val="1611327471"/>
      </c:lineChart>
      <c:dateAx>
        <c:axId val="1611326031"/>
        <c:scaling>
          <c:orientation val="minMax"/>
        </c:scaling>
        <c:delete val="0"/>
        <c:axPos val="b"/>
        <c:numFmt formatCode="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611327471"/>
        <c:crosses val="autoZero"/>
        <c:auto val="1"/>
        <c:lblOffset val="100"/>
        <c:baseTimeUnit val="months"/>
      </c:dateAx>
      <c:valAx>
        <c:axId val="161132747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61132603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1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459FA1"/>
                </a:solidFill>
                <a:latin typeface="+mn-lt"/>
                <a:ea typeface="+mn-ea"/>
                <a:cs typeface="+mn-cs"/>
              </a:defRPr>
            </a:pPr>
            <a:r>
              <a:rPr lang="es-CO" sz="1400" b="1" i="0" u="none" strike="noStrike" kern="1200" spc="0" baseline="0" noProof="0">
                <a:solidFill>
                  <a:srgbClr val="459FA1"/>
                </a:solidFill>
              </a:rPr>
              <a:t>Prevalencia Familiar de Colombia 2026</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459FA1"/>
              </a:solidFill>
              <a:latin typeface="+mn-lt"/>
              <a:ea typeface="+mn-ea"/>
              <a:cs typeface="+mn-cs"/>
            </a:defRPr>
          </a:pPr>
          <a:endParaRPr lang="es-CO"/>
        </a:p>
      </c:txPr>
    </c:title>
    <c:autoTitleDeleted val="0"/>
    <c:plotArea>
      <c:layout/>
      <c:barChart>
        <c:barDir val="col"/>
        <c:grouping val="clustered"/>
        <c:varyColors val="0"/>
        <c:ser>
          <c:idx val="0"/>
          <c:order val="0"/>
          <c:tx>
            <c:strRef>
              <c:f>Prevalencia!$S$41</c:f>
              <c:strCache>
                <c:ptCount val="1"/>
                <c:pt idx="0">
                  <c:v>Casos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Prevalencia!$Q$42:$Q$55</c:f>
              <c:numCache>
                <c:formatCode>mmm\-yy</c:formatCode>
                <c:ptCount val="14"/>
                <c:pt idx="0">
                  <c:v>45809</c:v>
                </c:pt>
                <c:pt idx="1">
                  <c:v>45839</c:v>
                </c:pt>
                <c:pt idx="2">
                  <c:v>45870</c:v>
                </c:pt>
                <c:pt idx="3">
                  <c:v>45901</c:v>
                </c:pt>
                <c:pt idx="4">
                  <c:v>45931</c:v>
                </c:pt>
                <c:pt idx="5">
                  <c:v>45962</c:v>
                </c:pt>
                <c:pt idx="6">
                  <c:v>45992</c:v>
                </c:pt>
                <c:pt idx="7">
                  <c:v>46023</c:v>
                </c:pt>
                <c:pt idx="8">
                  <c:v>46054</c:v>
                </c:pt>
                <c:pt idx="9">
                  <c:v>46082</c:v>
                </c:pt>
                <c:pt idx="10">
                  <c:v>46113</c:v>
                </c:pt>
                <c:pt idx="11">
                  <c:v>46143</c:v>
                </c:pt>
                <c:pt idx="12">
                  <c:v>46174</c:v>
                </c:pt>
                <c:pt idx="13">
                  <c:v>46204</c:v>
                </c:pt>
              </c:numCache>
            </c:numRef>
          </c:cat>
          <c:val>
            <c:numRef>
              <c:f>Prevalencia!$S$42:$S$55</c:f>
              <c:numCache>
                <c:formatCode>General</c:formatCode>
                <c:ptCount val="14"/>
                <c:pt idx="0">
                  <c:v>3</c:v>
                </c:pt>
                <c:pt idx="1">
                  <c:v>5</c:v>
                </c:pt>
                <c:pt idx="2">
                  <c:v>28</c:v>
                </c:pt>
                <c:pt idx="3">
                  <c:v>40</c:v>
                </c:pt>
                <c:pt idx="4">
                  <c:v>47</c:v>
                </c:pt>
                <c:pt idx="5">
                  <c:v>52</c:v>
                </c:pt>
                <c:pt idx="6">
                  <c:v>56</c:v>
                </c:pt>
                <c:pt idx="7">
                  <c:v>56</c:v>
                </c:pt>
                <c:pt idx="8">
                  <c:v>65</c:v>
                </c:pt>
                <c:pt idx="9">
                  <c:v>67</c:v>
                </c:pt>
                <c:pt idx="10">
                  <c:v>73</c:v>
                </c:pt>
                <c:pt idx="11">
                  <c:v>74</c:v>
                </c:pt>
                <c:pt idx="12">
                  <c:v>77</c:v>
                </c:pt>
                <c:pt idx="13">
                  <c:v>77</c:v>
                </c:pt>
              </c:numCache>
            </c:numRef>
          </c:val>
          <c:extLst>
            <c:ext xmlns:c16="http://schemas.microsoft.com/office/drawing/2014/chart" uri="{C3380CC4-5D6E-409C-BE32-E72D297353CC}">
              <c16:uniqueId val="{00000000-7FDA-44D8-9A6F-F74E21D8F3FC}"/>
            </c:ext>
          </c:extLst>
        </c:ser>
        <c:dLbls>
          <c:showLegendKey val="0"/>
          <c:showVal val="0"/>
          <c:showCatName val="0"/>
          <c:showSerName val="0"/>
          <c:showPercent val="0"/>
          <c:showBubbleSize val="0"/>
        </c:dLbls>
        <c:gapWidth val="219"/>
        <c:axId val="1395593455"/>
        <c:axId val="1395589135"/>
      </c:barChart>
      <c:lineChart>
        <c:grouping val="standard"/>
        <c:varyColors val="0"/>
        <c:ser>
          <c:idx val="1"/>
          <c:order val="1"/>
          <c:tx>
            <c:strRef>
              <c:f>Prevalencia!$T$41</c:f>
              <c:strCache>
                <c:ptCount val="1"/>
                <c:pt idx="0">
                  <c:v>Tasa de prevalencia</c:v>
                </c:pt>
              </c:strCache>
            </c:strRef>
          </c:tx>
          <c:spPr>
            <a:ln w="28575" cap="rnd">
              <a:solidFill>
                <a:srgbClr val="459FA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459FA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Prevalencia!$Q$42:$Q$55</c:f>
              <c:numCache>
                <c:formatCode>mmm\-yy</c:formatCode>
                <c:ptCount val="14"/>
                <c:pt idx="0">
                  <c:v>45809</c:v>
                </c:pt>
                <c:pt idx="1">
                  <c:v>45839</c:v>
                </c:pt>
                <c:pt idx="2">
                  <c:v>45870</c:v>
                </c:pt>
                <c:pt idx="3">
                  <c:v>45901</c:v>
                </c:pt>
                <c:pt idx="4">
                  <c:v>45931</c:v>
                </c:pt>
                <c:pt idx="5">
                  <c:v>45962</c:v>
                </c:pt>
                <c:pt idx="6">
                  <c:v>45992</c:v>
                </c:pt>
                <c:pt idx="7">
                  <c:v>46023</c:v>
                </c:pt>
                <c:pt idx="8">
                  <c:v>46054</c:v>
                </c:pt>
                <c:pt idx="9">
                  <c:v>46082</c:v>
                </c:pt>
                <c:pt idx="10">
                  <c:v>46113</c:v>
                </c:pt>
                <c:pt idx="11">
                  <c:v>46143</c:v>
                </c:pt>
                <c:pt idx="12">
                  <c:v>46174</c:v>
                </c:pt>
                <c:pt idx="13">
                  <c:v>46204</c:v>
                </c:pt>
              </c:numCache>
            </c:numRef>
          </c:cat>
          <c:val>
            <c:numRef>
              <c:f>Prevalencia!$T$42:$T$55</c:f>
              <c:numCache>
                <c:formatCode>0</c:formatCode>
                <c:ptCount val="14"/>
                <c:pt idx="0">
                  <c:v>31.27606338615513</c:v>
                </c:pt>
                <c:pt idx="1">
                  <c:v>52.126772310258545</c:v>
                </c:pt>
                <c:pt idx="2">
                  <c:v>291.90992493744784</c:v>
                </c:pt>
                <c:pt idx="3">
                  <c:v>417.01417848206836</c:v>
                </c:pt>
                <c:pt idx="4">
                  <c:v>489.99165971643038</c:v>
                </c:pt>
                <c:pt idx="5">
                  <c:v>542.11843202668888</c:v>
                </c:pt>
                <c:pt idx="6">
                  <c:v>583.81984987489568</c:v>
                </c:pt>
                <c:pt idx="7">
                  <c:v>583.81984987489568</c:v>
                </c:pt>
                <c:pt idx="8">
                  <c:v>677.6480400333611</c:v>
                </c:pt>
                <c:pt idx="9">
                  <c:v>698.4987489574645</c:v>
                </c:pt>
                <c:pt idx="10">
                  <c:v>761.05087572977482</c:v>
                </c:pt>
                <c:pt idx="11">
                  <c:v>771.47623019182652</c:v>
                </c:pt>
                <c:pt idx="12">
                  <c:v>802.75229357798173</c:v>
                </c:pt>
                <c:pt idx="13">
                  <c:v>802.75229357798173</c:v>
                </c:pt>
              </c:numCache>
            </c:numRef>
          </c:val>
          <c:smooth val="0"/>
          <c:extLst>
            <c:ext xmlns:c16="http://schemas.microsoft.com/office/drawing/2014/chart" uri="{C3380CC4-5D6E-409C-BE32-E72D297353CC}">
              <c16:uniqueId val="{00000001-7FDA-44D8-9A6F-F74E21D8F3FC}"/>
            </c:ext>
          </c:extLst>
        </c:ser>
        <c:dLbls>
          <c:showLegendKey val="0"/>
          <c:showVal val="0"/>
          <c:showCatName val="0"/>
          <c:showSerName val="0"/>
          <c:showPercent val="0"/>
          <c:showBubbleSize val="0"/>
        </c:dLbls>
        <c:marker val="1"/>
        <c:smooth val="0"/>
        <c:axId val="1395593455"/>
        <c:axId val="1395589135"/>
      </c:lineChart>
      <c:dateAx>
        <c:axId val="1395593455"/>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395589135"/>
        <c:crosses val="autoZero"/>
        <c:auto val="1"/>
        <c:lblOffset val="100"/>
        <c:baseTimeUnit val="months"/>
      </c:dateAx>
      <c:valAx>
        <c:axId val="139558913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39559345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1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4FA9A7"/>
                </a:solidFill>
                <a:latin typeface="+mn-lt"/>
                <a:ea typeface="+mn-ea"/>
                <a:cs typeface="+mn-cs"/>
              </a:defRPr>
            </a:pPr>
            <a:r>
              <a:rPr lang="es-CO" sz="1400" b="1" i="0" u="none" strike="noStrike" kern="1200" spc="0" baseline="0" noProof="0">
                <a:solidFill>
                  <a:srgbClr val="4FA9A7"/>
                </a:solidFill>
              </a:rPr>
              <a:t>Distribución de la Cohorte Familiar de Colombia</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4FA9A7"/>
              </a:solidFill>
              <a:latin typeface="+mn-lt"/>
              <a:ea typeface="+mn-ea"/>
              <a:cs typeface="+mn-cs"/>
            </a:defRPr>
          </a:pPr>
          <a:endParaRPr lang="es-CO"/>
        </a:p>
      </c:txPr>
    </c:title>
    <c:autoTitleDeleted val="0"/>
    <c:plotArea>
      <c:layout/>
      <c:barChart>
        <c:barDir val="col"/>
        <c:grouping val="clustered"/>
        <c:varyColors val="0"/>
        <c:ser>
          <c:idx val="0"/>
          <c:order val="0"/>
          <c:tx>
            <c:strRef>
              <c:f>Prevalencia!$BQ$3</c:f>
              <c:strCache>
                <c:ptCount val="1"/>
                <c:pt idx="0">
                  <c:v>Casos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Prevalencia!$BP$4:$BP$20</c:f>
              <c:strCache>
                <c:ptCount val="17"/>
                <c:pt idx="0">
                  <c:v>16= Otros tumores de la piel</c:v>
                </c:pt>
                <c:pt idx="1">
                  <c:v>3= CAC Cérvix</c:v>
                </c:pt>
                <c:pt idx="2">
                  <c:v>1= CAC Mama</c:v>
                </c:pt>
                <c:pt idx="3">
                  <c:v>2= CAC Próstata</c:v>
                </c:pt>
                <c:pt idx="4">
                  <c:v>18= Otros órganos genitales femeninos</c:v>
                </c:pt>
                <c:pt idx="5">
                  <c:v>9= CAC Linfoma No Hodgkin</c:v>
                </c:pt>
                <c:pt idx="6">
                  <c:v>22= Glándulas tiroides y endocrinas</c:v>
                </c:pt>
                <c:pt idx="7">
                  <c:v>4= CAC Colorectal</c:v>
                </c:pt>
                <c:pt idx="8">
                  <c:v>5= CAC Estómago</c:v>
                </c:pt>
                <c:pt idx="9">
                  <c:v>6= CAC Melanoma</c:v>
                </c:pt>
                <c:pt idx="10">
                  <c:v>24= Otros tumores malignos del tejido linfático, de los órganos hematopoyéticos y de tejidos afines</c:v>
                </c:pt>
                <c:pt idx="11">
                  <c:v>17= Tejidos mesoteliales (excepto pulmón) y tejidos blandos</c:v>
                </c:pt>
                <c:pt idx="12">
                  <c:v>13= Otros órganos digestivos</c:v>
                </c:pt>
                <c:pt idx="13">
                  <c:v>8= CAC Linfoma Hodgkin</c:v>
                </c:pt>
                <c:pt idx="14">
                  <c:v>10= CAC Leucemia Linfocitica Aguda</c:v>
                </c:pt>
                <c:pt idx="15">
                  <c:v>12= Labio, cavidad bucal y faringe</c:v>
                </c:pt>
                <c:pt idx="16">
                  <c:v>11= CAC Leucemia Mielocitica Aguda</c:v>
                </c:pt>
              </c:strCache>
            </c:strRef>
          </c:cat>
          <c:val>
            <c:numRef>
              <c:f>Prevalencia!$BQ$4:$BQ$20</c:f>
              <c:numCache>
                <c:formatCode>General</c:formatCode>
                <c:ptCount val="17"/>
                <c:pt idx="0">
                  <c:v>16</c:v>
                </c:pt>
                <c:pt idx="1">
                  <c:v>14</c:v>
                </c:pt>
                <c:pt idx="2">
                  <c:v>9</c:v>
                </c:pt>
                <c:pt idx="3">
                  <c:v>8</c:v>
                </c:pt>
                <c:pt idx="4">
                  <c:v>6</c:v>
                </c:pt>
                <c:pt idx="5">
                  <c:v>4</c:v>
                </c:pt>
                <c:pt idx="6">
                  <c:v>4</c:v>
                </c:pt>
                <c:pt idx="7">
                  <c:v>3</c:v>
                </c:pt>
                <c:pt idx="8">
                  <c:v>3</c:v>
                </c:pt>
                <c:pt idx="9">
                  <c:v>2</c:v>
                </c:pt>
                <c:pt idx="10">
                  <c:v>2</c:v>
                </c:pt>
                <c:pt idx="11">
                  <c:v>1</c:v>
                </c:pt>
                <c:pt idx="12">
                  <c:v>1</c:v>
                </c:pt>
                <c:pt idx="13">
                  <c:v>1</c:v>
                </c:pt>
                <c:pt idx="14">
                  <c:v>1</c:v>
                </c:pt>
                <c:pt idx="15">
                  <c:v>1</c:v>
                </c:pt>
                <c:pt idx="16">
                  <c:v>1</c:v>
                </c:pt>
              </c:numCache>
            </c:numRef>
          </c:val>
          <c:extLst>
            <c:ext xmlns:c16="http://schemas.microsoft.com/office/drawing/2014/chart" uri="{C3380CC4-5D6E-409C-BE32-E72D297353CC}">
              <c16:uniqueId val="{00000000-1D0A-4002-9DB1-60694137380A}"/>
            </c:ext>
          </c:extLst>
        </c:ser>
        <c:dLbls>
          <c:showLegendKey val="0"/>
          <c:showVal val="0"/>
          <c:showCatName val="0"/>
          <c:showSerName val="0"/>
          <c:showPercent val="0"/>
          <c:showBubbleSize val="0"/>
        </c:dLbls>
        <c:gapWidth val="219"/>
        <c:axId val="1774492495"/>
        <c:axId val="1774492975"/>
      </c:barChart>
      <c:lineChart>
        <c:grouping val="standard"/>
        <c:varyColors val="0"/>
        <c:ser>
          <c:idx val="1"/>
          <c:order val="1"/>
          <c:tx>
            <c:strRef>
              <c:f>Prevalencia!$BR$3</c:f>
              <c:strCache>
                <c:ptCount val="1"/>
                <c:pt idx="0">
                  <c:v>Tasa x 100 mil</c:v>
                </c:pt>
              </c:strCache>
            </c:strRef>
          </c:tx>
          <c:spPr>
            <a:ln w="28575" cap="rnd">
              <a:solidFill>
                <a:srgbClr val="4FA9A7"/>
              </a:solidFill>
              <a:round/>
            </a:ln>
            <a:effectLst/>
          </c:spPr>
          <c:marker>
            <c:symbol val="none"/>
          </c:marker>
          <c:dLbls>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rgbClr val="4FA9A7"/>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leftArrow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Prevalencia!$BP$4:$BP$20</c:f>
              <c:strCache>
                <c:ptCount val="17"/>
                <c:pt idx="0">
                  <c:v>16= Otros tumores de la piel</c:v>
                </c:pt>
                <c:pt idx="1">
                  <c:v>3= CAC Cérvix</c:v>
                </c:pt>
                <c:pt idx="2">
                  <c:v>1= CAC Mama</c:v>
                </c:pt>
                <c:pt idx="3">
                  <c:v>2= CAC Próstata</c:v>
                </c:pt>
                <c:pt idx="4">
                  <c:v>18= Otros órganos genitales femeninos</c:v>
                </c:pt>
                <c:pt idx="5">
                  <c:v>9= CAC Linfoma No Hodgkin</c:v>
                </c:pt>
                <c:pt idx="6">
                  <c:v>22= Glándulas tiroides y endocrinas</c:v>
                </c:pt>
                <c:pt idx="7">
                  <c:v>4= CAC Colorectal</c:v>
                </c:pt>
                <c:pt idx="8">
                  <c:v>5= CAC Estómago</c:v>
                </c:pt>
                <c:pt idx="9">
                  <c:v>6= CAC Melanoma</c:v>
                </c:pt>
                <c:pt idx="10">
                  <c:v>24= Otros tumores malignos del tejido linfático, de los órganos hematopoyéticos y de tejidos afines</c:v>
                </c:pt>
                <c:pt idx="11">
                  <c:v>17= Tejidos mesoteliales (excepto pulmón) y tejidos blandos</c:v>
                </c:pt>
                <c:pt idx="12">
                  <c:v>13= Otros órganos digestivos</c:v>
                </c:pt>
                <c:pt idx="13">
                  <c:v>8= CAC Linfoma Hodgkin</c:v>
                </c:pt>
                <c:pt idx="14">
                  <c:v>10= CAC Leucemia Linfocitica Aguda</c:v>
                </c:pt>
                <c:pt idx="15">
                  <c:v>12= Labio, cavidad bucal y faringe</c:v>
                </c:pt>
                <c:pt idx="16">
                  <c:v>11= CAC Leucemia Mielocitica Aguda</c:v>
                </c:pt>
              </c:strCache>
            </c:strRef>
          </c:cat>
          <c:val>
            <c:numRef>
              <c:f>Prevalencia!$BR$4:$BR$20</c:f>
              <c:numCache>
                <c:formatCode>0</c:formatCode>
                <c:ptCount val="17"/>
                <c:pt idx="0">
                  <c:v>166.80567139282735</c:v>
                </c:pt>
                <c:pt idx="1">
                  <c:v>145.95496246872392</c:v>
                </c:pt>
                <c:pt idx="2">
                  <c:v>93.828190158465389</c:v>
                </c:pt>
                <c:pt idx="3">
                  <c:v>83.402835696413675</c:v>
                </c:pt>
                <c:pt idx="4">
                  <c:v>62.55212677231026</c:v>
                </c:pt>
                <c:pt idx="5">
                  <c:v>41.701417848206837</c:v>
                </c:pt>
                <c:pt idx="6">
                  <c:v>41.701417848206837</c:v>
                </c:pt>
                <c:pt idx="7">
                  <c:v>31.27606338615513</c:v>
                </c:pt>
                <c:pt idx="8">
                  <c:v>31.27606338615513</c:v>
                </c:pt>
                <c:pt idx="9">
                  <c:v>20.850708924103419</c:v>
                </c:pt>
                <c:pt idx="10">
                  <c:v>20.850708924103419</c:v>
                </c:pt>
                <c:pt idx="11">
                  <c:v>10.425354462051709</c:v>
                </c:pt>
                <c:pt idx="12">
                  <c:v>10.425354462051709</c:v>
                </c:pt>
                <c:pt idx="13">
                  <c:v>10.425354462051709</c:v>
                </c:pt>
                <c:pt idx="14">
                  <c:v>10.425354462051709</c:v>
                </c:pt>
                <c:pt idx="15">
                  <c:v>10.425354462051709</c:v>
                </c:pt>
                <c:pt idx="16">
                  <c:v>10.425354462051709</c:v>
                </c:pt>
              </c:numCache>
            </c:numRef>
          </c:val>
          <c:smooth val="0"/>
          <c:extLst>
            <c:ext xmlns:c16="http://schemas.microsoft.com/office/drawing/2014/chart" uri="{C3380CC4-5D6E-409C-BE32-E72D297353CC}">
              <c16:uniqueId val="{00000001-1D0A-4002-9DB1-60694137380A}"/>
            </c:ext>
          </c:extLst>
        </c:ser>
        <c:dLbls>
          <c:showLegendKey val="0"/>
          <c:showVal val="0"/>
          <c:showCatName val="0"/>
          <c:showSerName val="0"/>
          <c:showPercent val="0"/>
          <c:showBubbleSize val="0"/>
        </c:dLbls>
        <c:marker val="1"/>
        <c:smooth val="0"/>
        <c:axId val="1774492495"/>
        <c:axId val="1774492975"/>
      </c:lineChart>
      <c:catAx>
        <c:axId val="177449249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s-CO"/>
          </a:p>
        </c:txPr>
        <c:crossAx val="1774492975"/>
        <c:crosses val="autoZero"/>
        <c:auto val="1"/>
        <c:lblAlgn val="ctr"/>
        <c:lblOffset val="100"/>
        <c:noMultiLvlLbl val="0"/>
      </c:catAx>
      <c:valAx>
        <c:axId val="177449297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77449249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1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5579972691069871E-2"/>
          <c:y val="0.16629897686185896"/>
          <c:w val="0.91336541229928081"/>
          <c:h val="0.625348026652084"/>
        </c:manualLayout>
      </c:layout>
      <c:barChart>
        <c:barDir val="col"/>
        <c:grouping val="clustered"/>
        <c:varyColors val="0"/>
        <c:ser>
          <c:idx val="0"/>
          <c:order val="0"/>
          <c:tx>
            <c:strRef>
              <c:f>Hoja1!$A$2</c:f>
              <c:strCache>
                <c:ptCount val="1"/>
                <c:pt idx="0">
                  <c:v>Terapia sistemica</c:v>
                </c:pt>
              </c:strCache>
            </c:strRef>
          </c:tx>
          <c:spPr>
            <a:solidFill>
              <a:schemeClr val="accent1"/>
            </a:solidFill>
            <a:ln>
              <a:noFill/>
            </a:ln>
            <a:effectLst/>
          </c:spPr>
          <c:invertIfNegative val="0"/>
          <c:cat>
            <c:strRef>
              <c:f>Hoja1!$B$1:$N$1</c:f>
              <c:strCache>
                <c:ptCount val="13"/>
                <c:pt idx="0">
                  <c:v>jul-25</c:v>
                </c:pt>
                <c:pt idx="1">
                  <c:v>ago-25</c:v>
                </c:pt>
                <c:pt idx="2">
                  <c:v>sep-25</c:v>
                </c:pt>
                <c:pt idx="3">
                  <c:v>oct-25</c:v>
                </c:pt>
                <c:pt idx="4">
                  <c:v>nov-25</c:v>
                </c:pt>
                <c:pt idx="5">
                  <c:v>dic-25</c:v>
                </c:pt>
                <c:pt idx="6">
                  <c:v>ene-26</c:v>
                </c:pt>
                <c:pt idx="7">
                  <c:v>feb-26</c:v>
                </c:pt>
                <c:pt idx="8">
                  <c:v>mar-26</c:v>
                </c:pt>
                <c:pt idx="9">
                  <c:v>abr-26</c:v>
                </c:pt>
                <c:pt idx="10">
                  <c:v>may-26</c:v>
                </c:pt>
                <c:pt idx="11">
                  <c:v>jun-26</c:v>
                </c:pt>
                <c:pt idx="12">
                  <c:v>jul-26</c:v>
                </c:pt>
              </c:strCache>
            </c:strRef>
          </c:cat>
          <c:val>
            <c:numRef>
              <c:f>Hoja1!$B$2:$N$2</c:f>
              <c:numCache>
                <c:formatCode>0%</c:formatCode>
                <c:ptCount val="13"/>
                <c:pt idx="0">
                  <c:v>0</c:v>
                </c:pt>
                <c:pt idx="1">
                  <c:v>0.125</c:v>
                </c:pt>
                <c:pt idx="2">
                  <c:v>8.5106382978723402E-2</c:v>
                </c:pt>
                <c:pt idx="3">
                  <c:v>0.12962962962962962</c:v>
                </c:pt>
                <c:pt idx="4">
                  <c:v>8.4745762711864403E-2</c:v>
                </c:pt>
                <c:pt idx="5">
                  <c:v>0.12903225806451613</c:v>
                </c:pt>
                <c:pt idx="6">
                  <c:v>6.4516129032258063E-2</c:v>
                </c:pt>
                <c:pt idx="7">
                  <c:v>9.2307692307692313E-2</c:v>
                </c:pt>
                <c:pt idx="8">
                  <c:v>7.4626865671641784E-2</c:v>
                </c:pt>
                <c:pt idx="9">
                  <c:v>0.13698630136986301</c:v>
                </c:pt>
                <c:pt idx="10">
                  <c:v>0.17567567567567569</c:v>
                </c:pt>
                <c:pt idx="11">
                  <c:v>7.792207792207792E-2</c:v>
                </c:pt>
                <c:pt idx="12">
                  <c:v>9.0909090909090912E-2</c:v>
                </c:pt>
              </c:numCache>
            </c:numRef>
          </c:val>
          <c:extLst>
            <c:ext xmlns:c16="http://schemas.microsoft.com/office/drawing/2014/chart" uri="{C3380CC4-5D6E-409C-BE32-E72D297353CC}">
              <c16:uniqueId val="{00000000-23E9-48BE-B6B1-EAD9636087D7}"/>
            </c:ext>
          </c:extLst>
        </c:ser>
        <c:ser>
          <c:idx val="1"/>
          <c:order val="1"/>
          <c:tx>
            <c:strRef>
              <c:f>Hoja1!$A$3</c:f>
              <c:strCache>
                <c:ptCount val="1"/>
                <c:pt idx="0">
                  <c:v>Radioterapia</c:v>
                </c:pt>
              </c:strCache>
            </c:strRef>
          </c:tx>
          <c:spPr>
            <a:solidFill>
              <a:srgbClr val="1CA6A0"/>
            </a:solidFill>
            <a:ln>
              <a:noFill/>
            </a:ln>
            <a:effectLst/>
          </c:spPr>
          <c:invertIfNegative val="0"/>
          <c:dLbls>
            <c:dLbl>
              <c:idx val="3"/>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DF8-4149-B168-743177F39EC1}"/>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s-CO"/>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Hoja1!$B$1:$N$1</c:f>
              <c:strCache>
                <c:ptCount val="13"/>
                <c:pt idx="0">
                  <c:v>jul-25</c:v>
                </c:pt>
                <c:pt idx="1">
                  <c:v>ago-25</c:v>
                </c:pt>
                <c:pt idx="2">
                  <c:v>sep-25</c:v>
                </c:pt>
                <c:pt idx="3">
                  <c:v>oct-25</c:v>
                </c:pt>
                <c:pt idx="4">
                  <c:v>nov-25</c:v>
                </c:pt>
                <c:pt idx="5">
                  <c:v>dic-25</c:v>
                </c:pt>
                <c:pt idx="6">
                  <c:v>ene-26</c:v>
                </c:pt>
                <c:pt idx="7">
                  <c:v>feb-26</c:v>
                </c:pt>
                <c:pt idx="8">
                  <c:v>mar-26</c:v>
                </c:pt>
                <c:pt idx="9">
                  <c:v>abr-26</c:v>
                </c:pt>
                <c:pt idx="10">
                  <c:v>may-26</c:v>
                </c:pt>
                <c:pt idx="11">
                  <c:v>jun-26</c:v>
                </c:pt>
                <c:pt idx="12">
                  <c:v>jul-26</c:v>
                </c:pt>
              </c:strCache>
            </c:strRef>
          </c:cat>
          <c:val>
            <c:numRef>
              <c:f>Hoja1!$B$3:$N$3</c:f>
              <c:numCache>
                <c:formatCode>0%</c:formatCode>
                <c:ptCount val="13"/>
                <c:pt idx="0">
                  <c:v>0</c:v>
                </c:pt>
                <c:pt idx="1">
                  <c:v>0</c:v>
                </c:pt>
                <c:pt idx="2">
                  <c:v>0</c:v>
                </c:pt>
                <c:pt idx="3">
                  <c:v>0</c:v>
                </c:pt>
                <c:pt idx="4">
                  <c:v>0</c:v>
                </c:pt>
                <c:pt idx="5">
                  <c:v>0</c:v>
                </c:pt>
                <c:pt idx="6">
                  <c:v>0</c:v>
                </c:pt>
                <c:pt idx="7">
                  <c:v>1.5384615384615385E-2</c:v>
                </c:pt>
                <c:pt idx="8">
                  <c:v>2.9850746268656716E-2</c:v>
                </c:pt>
                <c:pt idx="9">
                  <c:v>1.3698630136986301E-2</c:v>
                </c:pt>
                <c:pt idx="10">
                  <c:v>0</c:v>
                </c:pt>
                <c:pt idx="11">
                  <c:v>1.2987012987012988E-2</c:v>
                </c:pt>
                <c:pt idx="12">
                  <c:v>0</c:v>
                </c:pt>
              </c:numCache>
            </c:numRef>
          </c:val>
          <c:extLst>
            <c:ext xmlns:c16="http://schemas.microsoft.com/office/drawing/2014/chart" uri="{C3380CC4-5D6E-409C-BE32-E72D297353CC}">
              <c16:uniqueId val="{00000001-23E9-48BE-B6B1-EAD9636087D7}"/>
            </c:ext>
          </c:extLst>
        </c:ser>
        <c:ser>
          <c:idx val="2"/>
          <c:order val="2"/>
          <c:tx>
            <c:strRef>
              <c:f>Hoja1!$A$4</c:f>
              <c:strCache>
                <c:ptCount val="1"/>
                <c:pt idx="0">
                  <c:v>Cirugia</c:v>
                </c:pt>
              </c:strCache>
            </c:strRef>
          </c:tx>
          <c:spPr>
            <a:solidFill>
              <a:schemeClr val="bg1">
                <a:lumMod val="50000"/>
              </a:schemeClr>
            </a:solidFill>
            <a:ln>
              <a:noFill/>
            </a:ln>
            <a:effectLst/>
          </c:spPr>
          <c:invertIfNegative val="0"/>
          <c:cat>
            <c:strRef>
              <c:f>Hoja1!$B$1:$N$1</c:f>
              <c:strCache>
                <c:ptCount val="13"/>
                <c:pt idx="0">
                  <c:v>jul-25</c:v>
                </c:pt>
                <c:pt idx="1">
                  <c:v>ago-25</c:v>
                </c:pt>
                <c:pt idx="2">
                  <c:v>sep-25</c:v>
                </c:pt>
                <c:pt idx="3">
                  <c:v>oct-25</c:v>
                </c:pt>
                <c:pt idx="4">
                  <c:v>nov-25</c:v>
                </c:pt>
                <c:pt idx="5">
                  <c:v>dic-25</c:v>
                </c:pt>
                <c:pt idx="6">
                  <c:v>ene-26</c:v>
                </c:pt>
                <c:pt idx="7">
                  <c:v>feb-26</c:v>
                </c:pt>
                <c:pt idx="8">
                  <c:v>mar-26</c:v>
                </c:pt>
                <c:pt idx="9">
                  <c:v>abr-26</c:v>
                </c:pt>
                <c:pt idx="10">
                  <c:v>may-26</c:v>
                </c:pt>
                <c:pt idx="11">
                  <c:v>jun-26</c:v>
                </c:pt>
                <c:pt idx="12">
                  <c:v>jul-26</c:v>
                </c:pt>
              </c:strCache>
            </c:strRef>
          </c:cat>
          <c:val>
            <c:numRef>
              <c:f>Hoja1!$B$4:$N$4</c:f>
              <c:numCache>
                <c:formatCode>0%</c:formatCode>
                <c:ptCount val="13"/>
                <c:pt idx="0">
                  <c:v>0</c:v>
                </c:pt>
                <c:pt idx="1">
                  <c:v>0</c:v>
                </c:pt>
                <c:pt idx="2">
                  <c:v>0</c:v>
                </c:pt>
                <c:pt idx="3">
                  <c:v>1.8518518518518517E-2</c:v>
                </c:pt>
                <c:pt idx="4">
                  <c:v>1.6949152542372881E-2</c:v>
                </c:pt>
                <c:pt idx="5">
                  <c:v>1.6129032258064516E-2</c:v>
                </c:pt>
                <c:pt idx="6">
                  <c:v>6.4516129032258063E-2</c:v>
                </c:pt>
                <c:pt idx="7">
                  <c:v>4.6153846153846156E-2</c:v>
                </c:pt>
                <c:pt idx="8">
                  <c:v>7.4626865671641784E-2</c:v>
                </c:pt>
                <c:pt idx="9">
                  <c:v>6.8493150684931503E-2</c:v>
                </c:pt>
                <c:pt idx="10">
                  <c:v>2.7027027027027029E-2</c:v>
                </c:pt>
                <c:pt idx="11">
                  <c:v>6.4935064935064929E-2</c:v>
                </c:pt>
                <c:pt idx="12">
                  <c:v>0.11688311688311688</c:v>
                </c:pt>
              </c:numCache>
            </c:numRef>
          </c:val>
          <c:extLst>
            <c:ext xmlns:c16="http://schemas.microsoft.com/office/drawing/2014/chart" uri="{C3380CC4-5D6E-409C-BE32-E72D297353CC}">
              <c16:uniqueId val="{00000002-23E9-48BE-B6B1-EAD9636087D7}"/>
            </c:ext>
          </c:extLst>
        </c:ser>
        <c:dLbls>
          <c:showLegendKey val="0"/>
          <c:showVal val="0"/>
          <c:showCatName val="0"/>
          <c:showSerName val="0"/>
          <c:showPercent val="0"/>
          <c:showBubbleSize val="0"/>
        </c:dLbls>
        <c:gapWidth val="219"/>
        <c:axId val="2061031887"/>
        <c:axId val="2061024207"/>
      </c:barChart>
      <c:lineChart>
        <c:grouping val="standard"/>
        <c:varyColors val="0"/>
        <c:ser>
          <c:idx val="3"/>
          <c:order val="3"/>
          <c:tx>
            <c:strRef>
              <c:f>Hoja1!$A$5</c:f>
              <c:strCache>
                <c:ptCount val="1"/>
                <c:pt idx="0">
                  <c:v>Total</c:v>
                </c:pt>
              </c:strCache>
            </c:strRef>
          </c:tx>
          <c:spPr>
            <a:ln w="28575" cap="rnd">
              <a:solidFill>
                <a:srgbClr val="000000"/>
              </a:solidFill>
              <a:round/>
            </a:ln>
            <a:effectLst/>
          </c:spPr>
          <c:marker>
            <c:symbol val="none"/>
          </c:marker>
          <c:dLbls>
            <c:spPr>
              <a:solidFill>
                <a:srgbClr val="FFFFFF"/>
              </a:solidFill>
              <a:ln>
                <a:solidFill>
                  <a:srgbClr val="80589F">
                    <a:lumMod val="25000"/>
                    <a:lumOff val="75000"/>
                  </a:srgbClr>
                </a:solidFill>
              </a:ln>
              <a:effectLst/>
            </c:spPr>
            <c:txPr>
              <a:bodyPr rot="0" spcFirstLastPara="1" vertOverflow="clip" horzOverflow="clip" vert="horz" wrap="square" lIns="36576" tIns="18288" rIns="36576" bIns="18288" anchor="ctr" anchorCtr="1">
                <a:spAutoFit/>
              </a:bodyPr>
              <a:lstStyle/>
              <a:p>
                <a:pPr>
                  <a:defRPr sz="1197" b="0" i="0" u="none" strike="noStrike" kern="1200" baseline="0">
                    <a:solidFill>
                      <a:srgbClr val="000000"/>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Hoja1!$B$1:$N$1</c:f>
              <c:strCache>
                <c:ptCount val="13"/>
                <c:pt idx="0">
                  <c:v>jul-25</c:v>
                </c:pt>
                <c:pt idx="1">
                  <c:v>ago-25</c:v>
                </c:pt>
                <c:pt idx="2">
                  <c:v>sep-25</c:v>
                </c:pt>
                <c:pt idx="3">
                  <c:v>oct-25</c:v>
                </c:pt>
                <c:pt idx="4">
                  <c:v>nov-25</c:v>
                </c:pt>
                <c:pt idx="5">
                  <c:v>dic-25</c:v>
                </c:pt>
                <c:pt idx="6">
                  <c:v>ene-26</c:v>
                </c:pt>
                <c:pt idx="7">
                  <c:v>feb-26</c:v>
                </c:pt>
                <c:pt idx="8">
                  <c:v>mar-26</c:v>
                </c:pt>
                <c:pt idx="9">
                  <c:v>abr-26</c:v>
                </c:pt>
                <c:pt idx="10">
                  <c:v>may-26</c:v>
                </c:pt>
                <c:pt idx="11">
                  <c:v>jun-26</c:v>
                </c:pt>
                <c:pt idx="12">
                  <c:v>jul-26</c:v>
                </c:pt>
              </c:strCache>
            </c:strRef>
          </c:cat>
          <c:val>
            <c:numRef>
              <c:f>Hoja1!$B$5:$N$5</c:f>
              <c:numCache>
                <c:formatCode>0%</c:formatCode>
                <c:ptCount val="13"/>
                <c:pt idx="0">
                  <c:v>0</c:v>
                </c:pt>
                <c:pt idx="1">
                  <c:v>0.125</c:v>
                </c:pt>
                <c:pt idx="2">
                  <c:v>8.5106382978723402E-2</c:v>
                </c:pt>
                <c:pt idx="3">
                  <c:v>0.14814814814814814</c:v>
                </c:pt>
                <c:pt idx="4">
                  <c:v>0.10169491525423728</c:v>
                </c:pt>
                <c:pt idx="5">
                  <c:v>0.14516129032258063</c:v>
                </c:pt>
                <c:pt idx="6">
                  <c:v>0.12903225806451613</c:v>
                </c:pt>
                <c:pt idx="7">
                  <c:v>0.15384615384615385</c:v>
                </c:pt>
                <c:pt idx="8">
                  <c:v>0.17910447761194029</c:v>
                </c:pt>
                <c:pt idx="9">
                  <c:v>0.21917808219178081</c:v>
                </c:pt>
                <c:pt idx="10">
                  <c:v>0.20270270270270271</c:v>
                </c:pt>
                <c:pt idx="11">
                  <c:v>0.15584415584415584</c:v>
                </c:pt>
                <c:pt idx="12">
                  <c:v>0.20779220779220781</c:v>
                </c:pt>
              </c:numCache>
            </c:numRef>
          </c:val>
          <c:smooth val="0"/>
          <c:extLst>
            <c:ext xmlns:c16="http://schemas.microsoft.com/office/drawing/2014/chart" uri="{C3380CC4-5D6E-409C-BE32-E72D297353CC}">
              <c16:uniqueId val="{00000001-C44A-4FD8-9A1E-3B7B07CE5A88}"/>
            </c:ext>
          </c:extLst>
        </c:ser>
        <c:dLbls>
          <c:showLegendKey val="0"/>
          <c:showVal val="0"/>
          <c:showCatName val="0"/>
          <c:showSerName val="0"/>
          <c:showPercent val="0"/>
          <c:showBubbleSize val="0"/>
        </c:dLbls>
        <c:marker val="1"/>
        <c:smooth val="0"/>
        <c:axId val="2061031887"/>
        <c:axId val="2061024207"/>
      </c:lineChart>
      <c:catAx>
        <c:axId val="20610318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2061024207"/>
        <c:crosses val="autoZero"/>
        <c:auto val="1"/>
        <c:lblAlgn val="ctr"/>
        <c:lblOffset val="100"/>
        <c:noMultiLvlLbl val="0"/>
      </c:catAx>
      <c:valAx>
        <c:axId val="2061024207"/>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206103188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1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s-CO" sz="1600" b="0" i="0" u="none" strike="noStrike" kern="1200" spc="0" baseline="0" dirty="0" smtClean="0">
                <a:solidFill>
                  <a:schemeClr val="tx1">
                    <a:lumMod val="65000"/>
                    <a:lumOff val="35000"/>
                  </a:schemeClr>
                </a:solidFill>
                <a:latin typeface="+mn-lt"/>
                <a:ea typeface="+mn-ea"/>
                <a:cs typeface="+mn-cs"/>
              </a:defRPr>
            </a:pPr>
            <a:r>
              <a:rPr lang="es-CO" sz="1400" b="1" noProof="0">
                <a:solidFill>
                  <a:schemeClr val="tx1"/>
                </a:solidFill>
              </a:rPr>
              <a:t>Oportunidad de consulta Especializada</a:t>
            </a:r>
          </a:p>
        </c:rich>
      </c:tx>
      <c:overlay val="0"/>
      <c:spPr>
        <a:noFill/>
        <a:ln>
          <a:noFill/>
        </a:ln>
        <a:effectLst/>
      </c:spPr>
      <c:txPr>
        <a:bodyPr rot="0" spcFirstLastPara="1" vertOverflow="ellipsis" vert="horz" wrap="square" anchor="ctr" anchorCtr="1"/>
        <a:lstStyle/>
        <a:p>
          <a:pPr>
            <a:defRPr lang="es-CO" sz="1600" b="0" i="0" u="none" strike="noStrike" kern="1200" spc="0" baseline="0" dirty="0" smtClean="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Hoja1!$B$1</c:f>
              <c:strCache>
                <c:ptCount val="1"/>
                <c:pt idx="0">
                  <c:v>2025</c:v>
                </c:pt>
              </c:strCache>
            </c:strRef>
          </c:tx>
          <c:spPr>
            <a:solidFill>
              <a:schemeClr val="tx1">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Hoja1!$B$2:$B$13</c:f>
              <c:numCache>
                <c:formatCode>General</c:formatCode>
                <c:ptCount val="12"/>
                <c:pt idx="6" formatCode="0.0">
                  <c:v>7.8</c:v>
                </c:pt>
                <c:pt idx="7" formatCode="0.0">
                  <c:v>5.5</c:v>
                </c:pt>
                <c:pt idx="8" formatCode="0.0">
                  <c:v>5.4</c:v>
                </c:pt>
                <c:pt idx="9" formatCode="0.0">
                  <c:v>7</c:v>
                </c:pt>
                <c:pt idx="10" formatCode="0.0">
                  <c:v>13.8</c:v>
                </c:pt>
                <c:pt idx="11" formatCode="0.0">
                  <c:v>11.3</c:v>
                </c:pt>
              </c:numCache>
            </c:numRef>
          </c:val>
          <c:extLst>
            <c:ext xmlns:c16="http://schemas.microsoft.com/office/drawing/2014/chart" uri="{C3380CC4-5D6E-409C-BE32-E72D297353CC}">
              <c16:uniqueId val="{00000000-722B-4854-82FF-F073DB459EB1}"/>
            </c:ext>
          </c:extLst>
        </c:ser>
        <c:ser>
          <c:idx val="1"/>
          <c:order val="1"/>
          <c:tx>
            <c:strRef>
              <c:f>Hoja1!$C$1</c:f>
              <c:strCache>
                <c:ptCount val="1"/>
                <c:pt idx="0">
                  <c:v>2026</c:v>
                </c:pt>
              </c:strCache>
            </c:strRef>
          </c:tx>
          <c:spPr>
            <a:solidFill>
              <a:srgbClr val="45A9A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4FA9A7"/>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Hoja1!$C$2:$C$13</c:f>
              <c:numCache>
                <c:formatCode>0.0</c:formatCode>
                <c:ptCount val="12"/>
                <c:pt idx="0">
                  <c:v>10</c:v>
                </c:pt>
                <c:pt idx="1">
                  <c:v>8</c:v>
                </c:pt>
                <c:pt idx="2">
                  <c:v>9</c:v>
                </c:pt>
                <c:pt idx="3">
                  <c:v>11</c:v>
                </c:pt>
                <c:pt idx="4">
                  <c:v>8</c:v>
                </c:pt>
                <c:pt idx="5">
                  <c:v>5.5</c:v>
                </c:pt>
                <c:pt idx="6">
                  <c:v>5.9</c:v>
                </c:pt>
              </c:numCache>
            </c:numRef>
          </c:val>
          <c:extLst>
            <c:ext xmlns:c16="http://schemas.microsoft.com/office/drawing/2014/chart" uri="{C3380CC4-5D6E-409C-BE32-E72D297353CC}">
              <c16:uniqueId val="{00000000-36B0-400D-828E-C8125DC6D275}"/>
            </c:ext>
          </c:extLst>
        </c:ser>
        <c:dLbls>
          <c:showLegendKey val="0"/>
          <c:showVal val="0"/>
          <c:showCatName val="0"/>
          <c:showSerName val="0"/>
          <c:showPercent val="0"/>
          <c:showBubbleSize val="0"/>
        </c:dLbls>
        <c:gapWidth val="75"/>
        <c:overlap val="-25"/>
        <c:axId val="241713408"/>
        <c:axId val="241711008"/>
      </c:barChart>
      <c:lineChart>
        <c:grouping val="standard"/>
        <c:varyColors val="0"/>
        <c:ser>
          <c:idx val="2"/>
          <c:order val="2"/>
          <c:tx>
            <c:strRef>
              <c:f>Hoja1!$D$1</c:f>
              <c:strCache>
                <c:ptCount val="1"/>
                <c:pt idx="0">
                  <c:v>Meta</c:v>
                </c:pt>
              </c:strCache>
            </c:strRef>
          </c:tx>
          <c:spPr>
            <a:ln w="28575" cap="rnd">
              <a:solidFill>
                <a:schemeClr val="accent1">
                  <a:lumMod val="50000"/>
                </a:schemeClr>
              </a:solidFill>
              <a:round/>
            </a:ln>
            <a:effectLst/>
          </c:spPr>
          <c:marker>
            <c:symbol val="circle"/>
            <c:size val="5"/>
            <c:spPr>
              <a:solidFill>
                <a:schemeClr val="bg1"/>
              </a:solidFill>
              <a:ln w="9525">
                <a:solidFill>
                  <a:schemeClr val="accent1">
                    <a:lumMod val="50000"/>
                  </a:schemeClr>
                </a:solidFill>
              </a:ln>
              <a:effectLst/>
            </c:spPr>
          </c:marker>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Hoja1!$D$2:$D$13</c:f>
              <c:numCache>
                <c:formatCode>0</c:formatCode>
                <c:ptCount val="12"/>
                <c:pt idx="0">
                  <c:v>10</c:v>
                </c:pt>
                <c:pt idx="1">
                  <c:v>10</c:v>
                </c:pt>
                <c:pt idx="2">
                  <c:v>10</c:v>
                </c:pt>
                <c:pt idx="3">
                  <c:v>10</c:v>
                </c:pt>
                <c:pt idx="4">
                  <c:v>10</c:v>
                </c:pt>
                <c:pt idx="5">
                  <c:v>10</c:v>
                </c:pt>
                <c:pt idx="6">
                  <c:v>10</c:v>
                </c:pt>
                <c:pt idx="7">
                  <c:v>10</c:v>
                </c:pt>
                <c:pt idx="8">
                  <c:v>10</c:v>
                </c:pt>
                <c:pt idx="9">
                  <c:v>10</c:v>
                </c:pt>
                <c:pt idx="10">
                  <c:v>10</c:v>
                </c:pt>
                <c:pt idx="11">
                  <c:v>10</c:v>
                </c:pt>
              </c:numCache>
            </c:numRef>
          </c:val>
          <c:smooth val="0"/>
          <c:extLst>
            <c:ext xmlns:c16="http://schemas.microsoft.com/office/drawing/2014/chart" uri="{C3380CC4-5D6E-409C-BE32-E72D297353CC}">
              <c16:uniqueId val="{00000000-4BDC-4A83-A57C-BADBDCE374CF}"/>
            </c:ext>
          </c:extLst>
        </c:ser>
        <c:dLbls>
          <c:showLegendKey val="0"/>
          <c:showVal val="0"/>
          <c:showCatName val="0"/>
          <c:showSerName val="0"/>
          <c:showPercent val="0"/>
          <c:showBubbleSize val="0"/>
        </c:dLbls>
        <c:marker val="1"/>
        <c:smooth val="0"/>
        <c:axId val="241713408"/>
        <c:axId val="241711008"/>
      </c:lineChart>
      <c:catAx>
        <c:axId val="241713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s-CO"/>
          </a:p>
        </c:txPr>
        <c:crossAx val="241711008"/>
        <c:crosses val="autoZero"/>
        <c:auto val="1"/>
        <c:lblAlgn val="ctr"/>
        <c:lblOffset val="100"/>
        <c:noMultiLvlLbl val="0"/>
      </c:catAx>
      <c:valAx>
        <c:axId val="241711008"/>
        <c:scaling>
          <c:orientation val="minMax"/>
          <c:max val="15"/>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241713408"/>
        <c:crosses val="autoZero"/>
        <c:crossBetween val="between"/>
        <c:majorUnit val="2"/>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accent1"/>
      </a:solidFill>
    </a:ln>
    <a:effectLst/>
  </c:spPr>
  <c:txPr>
    <a:bodyPr/>
    <a:lstStyle/>
    <a:p>
      <a:pPr>
        <a:defRPr/>
      </a:pPr>
      <a:endParaRPr lang="es-CO"/>
    </a:p>
  </c:txPr>
  <c:externalData r:id="rId3">
    <c:autoUpdate val="0"/>
  </c:externalData>
</c:chartSpace>
</file>

<file path=ppt/charts/chart1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r>
              <a:rPr lang="es-CO" sz="1400" b="1" noProof="0">
                <a:solidFill>
                  <a:schemeClr val="tx1"/>
                </a:solidFill>
              </a:rPr>
              <a:t>Oportunidad de consulta</a:t>
            </a:r>
            <a:r>
              <a:rPr lang="es-CO" sz="1400" b="1" baseline="0" noProof="0">
                <a:solidFill>
                  <a:schemeClr val="tx1"/>
                </a:solidFill>
              </a:rPr>
              <a:t> Sub especializada</a:t>
            </a:r>
            <a:endParaRPr lang="es-CO" sz="1400" b="1" noProof="0">
              <a:solidFill>
                <a:schemeClr val="tx1"/>
              </a:solidFill>
            </a:endParaRPr>
          </a:p>
        </c:rich>
      </c:tx>
      <c:overlay val="0"/>
      <c:spPr>
        <a:noFill/>
        <a:ln>
          <a:noFill/>
        </a:ln>
        <a:effectLst/>
      </c:spPr>
      <c:txPr>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Hoja1!$B$1</c:f>
              <c:strCache>
                <c:ptCount val="1"/>
                <c:pt idx="0">
                  <c:v>2025</c:v>
                </c:pt>
              </c:strCache>
            </c:strRef>
          </c:tx>
          <c:spPr>
            <a:solidFill>
              <a:schemeClr val="tx1">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Hoja1!$B$2:$B$13</c:f>
              <c:numCache>
                <c:formatCode>General</c:formatCode>
                <c:ptCount val="12"/>
                <c:pt idx="6" formatCode="0">
                  <c:v>13.8</c:v>
                </c:pt>
                <c:pt idx="7" formatCode="0">
                  <c:v>11.6</c:v>
                </c:pt>
                <c:pt idx="8" formatCode="0">
                  <c:v>13.1</c:v>
                </c:pt>
                <c:pt idx="9" formatCode="0">
                  <c:v>9.6</c:v>
                </c:pt>
                <c:pt idx="10" formatCode="0">
                  <c:v>15</c:v>
                </c:pt>
                <c:pt idx="11" formatCode="0">
                  <c:v>10.8</c:v>
                </c:pt>
              </c:numCache>
            </c:numRef>
          </c:val>
          <c:extLst>
            <c:ext xmlns:c16="http://schemas.microsoft.com/office/drawing/2014/chart" uri="{C3380CC4-5D6E-409C-BE32-E72D297353CC}">
              <c16:uniqueId val="{00000000-9004-40C9-8912-2B4D41862851}"/>
            </c:ext>
          </c:extLst>
        </c:ser>
        <c:ser>
          <c:idx val="1"/>
          <c:order val="1"/>
          <c:tx>
            <c:strRef>
              <c:f>Hoja1!$C$1</c:f>
              <c:strCache>
                <c:ptCount val="1"/>
                <c:pt idx="0">
                  <c:v>2026</c:v>
                </c:pt>
              </c:strCache>
            </c:strRef>
          </c:tx>
          <c:spPr>
            <a:solidFill>
              <a:srgbClr val="45A9A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4FA9A7"/>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Hoja1!$C$2:$C$13</c:f>
              <c:numCache>
                <c:formatCode>0</c:formatCode>
                <c:ptCount val="12"/>
                <c:pt idx="0">
                  <c:v>12.4</c:v>
                </c:pt>
                <c:pt idx="1">
                  <c:v>10</c:v>
                </c:pt>
                <c:pt idx="2">
                  <c:v>9</c:v>
                </c:pt>
                <c:pt idx="3">
                  <c:v>10</c:v>
                </c:pt>
                <c:pt idx="4">
                  <c:v>9.5</c:v>
                </c:pt>
                <c:pt idx="5">
                  <c:v>10</c:v>
                </c:pt>
                <c:pt idx="6">
                  <c:v>9</c:v>
                </c:pt>
              </c:numCache>
            </c:numRef>
          </c:val>
          <c:extLst>
            <c:ext xmlns:c16="http://schemas.microsoft.com/office/drawing/2014/chart" uri="{C3380CC4-5D6E-409C-BE32-E72D297353CC}">
              <c16:uniqueId val="{00000000-6DB9-412F-94BF-11044C5CBBE5}"/>
            </c:ext>
          </c:extLst>
        </c:ser>
        <c:dLbls>
          <c:showLegendKey val="0"/>
          <c:showVal val="0"/>
          <c:showCatName val="0"/>
          <c:showSerName val="0"/>
          <c:showPercent val="0"/>
          <c:showBubbleSize val="0"/>
        </c:dLbls>
        <c:gapWidth val="75"/>
        <c:overlap val="-25"/>
        <c:axId val="241713408"/>
        <c:axId val="241711008"/>
      </c:barChart>
      <c:lineChart>
        <c:grouping val="standard"/>
        <c:varyColors val="0"/>
        <c:ser>
          <c:idx val="2"/>
          <c:order val="2"/>
          <c:tx>
            <c:strRef>
              <c:f>Hoja1!$D$1</c:f>
              <c:strCache>
                <c:ptCount val="1"/>
                <c:pt idx="0">
                  <c:v>Meta</c:v>
                </c:pt>
              </c:strCache>
            </c:strRef>
          </c:tx>
          <c:spPr>
            <a:ln w="28575" cap="rnd">
              <a:solidFill>
                <a:schemeClr val="accent1">
                  <a:lumMod val="50000"/>
                </a:schemeClr>
              </a:solidFill>
              <a:round/>
            </a:ln>
            <a:effectLst/>
          </c:spPr>
          <c:marker>
            <c:symbol val="circle"/>
            <c:size val="5"/>
            <c:spPr>
              <a:solidFill>
                <a:schemeClr val="accent3"/>
              </a:solidFill>
              <a:ln w="9525">
                <a:solidFill>
                  <a:schemeClr val="accent1">
                    <a:lumMod val="50000"/>
                  </a:schemeClr>
                </a:solidFill>
              </a:ln>
              <a:effectLst/>
            </c:spPr>
          </c:marker>
          <c:cat>
            <c:strRef>
              <c:f>Hoja1!$A$2:$A$13</c:f>
              <c:strCache>
                <c:ptCount val="12"/>
                <c:pt idx="0">
                  <c:v>Ene</c:v>
                </c:pt>
                <c:pt idx="1">
                  <c:v>Feb</c:v>
                </c:pt>
                <c:pt idx="2">
                  <c:v>Mar</c:v>
                </c:pt>
                <c:pt idx="3">
                  <c:v>Abr</c:v>
                </c:pt>
                <c:pt idx="4">
                  <c:v>May</c:v>
                </c:pt>
                <c:pt idx="5">
                  <c:v>Jun</c:v>
                </c:pt>
                <c:pt idx="6">
                  <c:v>Jul</c:v>
                </c:pt>
                <c:pt idx="7">
                  <c:v>Agt</c:v>
                </c:pt>
                <c:pt idx="8">
                  <c:v>Sep</c:v>
                </c:pt>
                <c:pt idx="9">
                  <c:v>Oct</c:v>
                </c:pt>
                <c:pt idx="10">
                  <c:v>Nov</c:v>
                </c:pt>
                <c:pt idx="11">
                  <c:v>Dic</c:v>
                </c:pt>
              </c:strCache>
            </c:strRef>
          </c:cat>
          <c:val>
            <c:numRef>
              <c:f>Hoja1!$D$2:$D$13</c:f>
              <c:numCache>
                <c:formatCode>General</c:formatCode>
                <c:ptCount val="12"/>
                <c:pt idx="0">
                  <c:v>15</c:v>
                </c:pt>
                <c:pt idx="1">
                  <c:v>15</c:v>
                </c:pt>
                <c:pt idx="2">
                  <c:v>15</c:v>
                </c:pt>
                <c:pt idx="3">
                  <c:v>15</c:v>
                </c:pt>
                <c:pt idx="4">
                  <c:v>15</c:v>
                </c:pt>
                <c:pt idx="5">
                  <c:v>15</c:v>
                </c:pt>
                <c:pt idx="6">
                  <c:v>15</c:v>
                </c:pt>
                <c:pt idx="7">
                  <c:v>15</c:v>
                </c:pt>
                <c:pt idx="8">
                  <c:v>15</c:v>
                </c:pt>
                <c:pt idx="9">
                  <c:v>15</c:v>
                </c:pt>
                <c:pt idx="10">
                  <c:v>15</c:v>
                </c:pt>
                <c:pt idx="11">
                  <c:v>15</c:v>
                </c:pt>
              </c:numCache>
            </c:numRef>
          </c:val>
          <c:smooth val="0"/>
          <c:extLst>
            <c:ext xmlns:c16="http://schemas.microsoft.com/office/drawing/2014/chart" uri="{C3380CC4-5D6E-409C-BE32-E72D297353CC}">
              <c16:uniqueId val="{00000000-8060-4FF0-96BA-F874B4D3546E}"/>
            </c:ext>
          </c:extLst>
        </c:ser>
        <c:dLbls>
          <c:showLegendKey val="0"/>
          <c:showVal val="0"/>
          <c:showCatName val="0"/>
          <c:showSerName val="0"/>
          <c:showPercent val="0"/>
          <c:showBubbleSize val="0"/>
        </c:dLbls>
        <c:marker val="1"/>
        <c:smooth val="0"/>
        <c:axId val="241713408"/>
        <c:axId val="241711008"/>
      </c:lineChart>
      <c:catAx>
        <c:axId val="241713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s-CO"/>
          </a:p>
        </c:txPr>
        <c:crossAx val="241711008"/>
        <c:crosses val="autoZero"/>
        <c:auto val="1"/>
        <c:lblAlgn val="ctr"/>
        <c:lblOffset val="100"/>
        <c:noMultiLvlLbl val="0"/>
      </c:catAx>
      <c:valAx>
        <c:axId val="2417110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24171340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accent1"/>
      </a:solidFill>
    </a:ln>
    <a:effectLst/>
  </c:spPr>
  <c:txPr>
    <a:bodyPr/>
    <a:lstStyle/>
    <a:p>
      <a:pPr>
        <a:defRPr/>
      </a:pPr>
      <a:endParaRPr lang="es-CO"/>
    </a:p>
  </c:txPr>
  <c:externalData r:id="rId3">
    <c:autoUpdate val="0"/>
  </c:externalData>
</c:chartSpace>
</file>

<file path=ppt/charts/chart14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s-CO" sz="1600" b="1" noProof="0">
                <a:solidFill>
                  <a:schemeClr val="tx1"/>
                </a:solidFill>
              </a:rPr>
              <a:t>Oportunidad</a:t>
            </a:r>
            <a:r>
              <a:rPr lang="es-CO" sz="1600" b="1" baseline="0" noProof="0">
                <a:solidFill>
                  <a:schemeClr val="tx1"/>
                </a:solidFill>
              </a:rPr>
              <a:t> de quimioterapia</a:t>
            </a:r>
            <a:endParaRPr lang="es-CO" sz="1600" b="1" noProof="0">
              <a:solidFill>
                <a:schemeClr val="tx1"/>
              </a:solidFill>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Hoja1!$C$1</c:f>
              <c:strCache>
                <c:ptCount val="1"/>
                <c:pt idx="0">
                  <c:v>2025</c:v>
                </c:pt>
              </c:strCache>
            </c:strRef>
          </c:tx>
          <c:spPr>
            <a:solidFill>
              <a:srgbClr val="00A19C"/>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45A9A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Hoja1!$C$2:$C$13</c:f>
              <c:numCache>
                <c:formatCode>General</c:formatCode>
                <c:ptCount val="12"/>
                <c:pt idx="6" formatCode="0">
                  <c:v>9.5</c:v>
                </c:pt>
                <c:pt idx="7" formatCode="0">
                  <c:v>10</c:v>
                </c:pt>
                <c:pt idx="8" formatCode="0">
                  <c:v>11</c:v>
                </c:pt>
                <c:pt idx="9" formatCode="0">
                  <c:v>7.8</c:v>
                </c:pt>
                <c:pt idx="10" formatCode="0">
                  <c:v>8.4</c:v>
                </c:pt>
                <c:pt idx="11" formatCode="0">
                  <c:v>8.1</c:v>
                </c:pt>
              </c:numCache>
            </c:numRef>
          </c:val>
          <c:extLst>
            <c:ext xmlns:c16="http://schemas.microsoft.com/office/drawing/2014/chart" uri="{C3380CC4-5D6E-409C-BE32-E72D297353CC}">
              <c16:uniqueId val="{00000000-D5CB-4F29-9461-7AF3E9A62294}"/>
            </c:ext>
          </c:extLst>
        </c:ser>
        <c:ser>
          <c:idx val="1"/>
          <c:order val="1"/>
          <c:tx>
            <c:strRef>
              <c:f>Hoja1!$D$1</c:f>
              <c:strCache>
                <c:ptCount val="1"/>
                <c:pt idx="0">
                  <c:v>2026</c:v>
                </c:pt>
              </c:strCache>
            </c:strRef>
          </c:tx>
          <c:spPr>
            <a:solidFill>
              <a:schemeClr val="tx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Hoja1!$D$2:$D$13</c:f>
              <c:numCache>
                <c:formatCode>0</c:formatCode>
                <c:ptCount val="12"/>
                <c:pt idx="0">
                  <c:v>20</c:v>
                </c:pt>
                <c:pt idx="1">
                  <c:v>15</c:v>
                </c:pt>
                <c:pt idx="2">
                  <c:v>5</c:v>
                </c:pt>
                <c:pt idx="3">
                  <c:v>10</c:v>
                </c:pt>
                <c:pt idx="4">
                  <c:v>11</c:v>
                </c:pt>
                <c:pt idx="5">
                  <c:v>12</c:v>
                </c:pt>
                <c:pt idx="6">
                  <c:v>12</c:v>
                </c:pt>
              </c:numCache>
            </c:numRef>
          </c:val>
          <c:extLst>
            <c:ext xmlns:c16="http://schemas.microsoft.com/office/drawing/2014/chart" uri="{C3380CC4-5D6E-409C-BE32-E72D297353CC}">
              <c16:uniqueId val="{00000001-D5CB-4F29-9461-7AF3E9A62294}"/>
            </c:ext>
          </c:extLst>
        </c:ser>
        <c:dLbls>
          <c:showLegendKey val="0"/>
          <c:showVal val="0"/>
          <c:showCatName val="0"/>
          <c:showSerName val="0"/>
          <c:showPercent val="0"/>
          <c:showBubbleSize val="0"/>
        </c:dLbls>
        <c:gapWidth val="75"/>
        <c:overlap val="-25"/>
        <c:axId val="1418613503"/>
        <c:axId val="1418609663"/>
      </c:barChart>
      <c:lineChart>
        <c:grouping val="standard"/>
        <c:varyColors val="0"/>
        <c:ser>
          <c:idx val="2"/>
          <c:order val="2"/>
          <c:tx>
            <c:strRef>
              <c:f>Hoja1!$E$1</c:f>
              <c:strCache>
                <c:ptCount val="1"/>
                <c:pt idx="0">
                  <c:v>meta</c:v>
                </c:pt>
              </c:strCache>
            </c:strRef>
          </c:tx>
          <c:spPr>
            <a:ln w="28575" cap="rnd">
              <a:solidFill>
                <a:schemeClr val="accent1">
                  <a:lumMod val="50000"/>
                </a:schemeClr>
              </a:solidFill>
              <a:round/>
            </a:ln>
            <a:effectLst/>
          </c:spPr>
          <c:marker>
            <c:symbol val="none"/>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Hoja1!$E$2:$E$13</c:f>
              <c:numCache>
                <c:formatCode>0</c:formatCode>
                <c:ptCount val="12"/>
                <c:pt idx="0">
                  <c:v>15</c:v>
                </c:pt>
                <c:pt idx="1">
                  <c:v>15</c:v>
                </c:pt>
                <c:pt idx="2">
                  <c:v>15</c:v>
                </c:pt>
                <c:pt idx="3">
                  <c:v>15</c:v>
                </c:pt>
                <c:pt idx="4">
                  <c:v>15</c:v>
                </c:pt>
                <c:pt idx="5">
                  <c:v>15</c:v>
                </c:pt>
                <c:pt idx="6">
                  <c:v>15</c:v>
                </c:pt>
                <c:pt idx="7">
                  <c:v>15</c:v>
                </c:pt>
                <c:pt idx="8">
                  <c:v>15</c:v>
                </c:pt>
                <c:pt idx="9">
                  <c:v>15</c:v>
                </c:pt>
                <c:pt idx="10">
                  <c:v>15</c:v>
                </c:pt>
                <c:pt idx="11">
                  <c:v>15</c:v>
                </c:pt>
              </c:numCache>
            </c:numRef>
          </c:val>
          <c:smooth val="0"/>
          <c:extLst>
            <c:ext xmlns:c16="http://schemas.microsoft.com/office/drawing/2014/chart" uri="{C3380CC4-5D6E-409C-BE32-E72D297353CC}">
              <c16:uniqueId val="{00000002-D5CB-4F29-9461-7AF3E9A62294}"/>
            </c:ext>
          </c:extLst>
        </c:ser>
        <c:dLbls>
          <c:showLegendKey val="0"/>
          <c:showVal val="0"/>
          <c:showCatName val="0"/>
          <c:showSerName val="0"/>
          <c:showPercent val="0"/>
          <c:showBubbleSize val="0"/>
        </c:dLbls>
        <c:marker val="1"/>
        <c:smooth val="0"/>
        <c:axId val="1418613503"/>
        <c:axId val="1418609663"/>
      </c:lineChart>
      <c:catAx>
        <c:axId val="14186135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418609663"/>
        <c:crosses val="autoZero"/>
        <c:auto val="1"/>
        <c:lblAlgn val="ctr"/>
        <c:lblOffset val="100"/>
        <c:noMultiLvlLbl val="0"/>
      </c:catAx>
      <c:valAx>
        <c:axId val="1418609663"/>
        <c:scaling>
          <c:orientation val="minMax"/>
          <c:max val="25"/>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418613503"/>
        <c:crosses val="autoZero"/>
        <c:crossBetween val="between"/>
        <c:majorUnit val="5"/>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s-CO"/>
    </a:p>
  </c:txPr>
  <c:externalData r:id="rId3">
    <c:autoUpdate val="0"/>
  </c:externalData>
</c:chartSpace>
</file>

<file path=ppt/charts/chart14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s-CO" sz="1600" b="1" noProof="0">
                <a:solidFill>
                  <a:schemeClr val="tx1"/>
                </a:solidFill>
              </a:rPr>
              <a:t>Oportunidad de medicamentos</a:t>
            </a:r>
            <a:r>
              <a:rPr lang="es-CO" sz="1600" b="1" baseline="0" noProof="0">
                <a:solidFill>
                  <a:schemeClr val="tx1"/>
                </a:solidFill>
              </a:rPr>
              <a:t> orales</a:t>
            </a:r>
            <a:endParaRPr lang="es-CO" sz="1600" b="1" noProof="0">
              <a:solidFill>
                <a:schemeClr val="tx1"/>
              </a:solidFill>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Hoja1!$C$1</c:f>
              <c:strCache>
                <c:ptCount val="1"/>
                <c:pt idx="0">
                  <c:v>2025</c:v>
                </c:pt>
              </c:strCache>
            </c:strRef>
          </c:tx>
          <c:spPr>
            <a:solidFill>
              <a:srgbClr val="00A19C"/>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45A9A1"/>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Hoja1!$C$2:$C$13</c:f>
              <c:numCache>
                <c:formatCode>General</c:formatCode>
                <c:ptCount val="12"/>
                <c:pt idx="6" formatCode="0">
                  <c:v>13</c:v>
                </c:pt>
                <c:pt idx="7" formatCode="0">
                  <c:v>8</c:v>
                </c:pt>
                <c:pt idx="8" formatCode="0">
                  <c:v>11</c:v>
                </c:pt>
                <c:pt idx="9" formatCode="0">
                  <c:v>14.5</c:v>
                </c:pt>
                <c:pt idx="10" formatCode="0">
                  <c:v>9</c:v>
                </c:pt>
                <c:pt idx="11" formatCode="0">
                  <c:v>5</c:v>
                </c:pt>
              </c:numCache>
            </c:numRef>
          </c:val>
          <c:extLst>
            <c:ext xmlns:c16="http://schemas.microsoft.com/office/drawing/2014/chart" uri="{C3380CC4-5D6E-409C-BE32-E72D297353CC}">
              <c16:uniqueId val="{00000000-1DAE-46DC-B26E-BFC01324B104}"/>
            </c:ext>
          </c:extLst>
        </c:ser>
        <c:ser>
          <c:idx val="1"/>
          <c:order val="1"/>
          <c:tx>
            <c:strRef>
              <c:f>Hoja1!$D$1</c:f>
              <c:strCache>
                <c:ptCount val="1"/>
                <c:pt idx="0">
                  <c:v>2026</c:v>
                </c:pt>
              </c:strCache>
            </c:strRef>
          </c:tx>
          <c:spPr>
            <a:solidFill>
              <a:schemeClr val="tx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Hoja1!$D$2:$D$13</c:f>
              <c:numCache>
                <c:formatCode>0</c:formatCode>
                <c:ptCount val="12"/>
                <c:pt idx="0">
                  <c:v>20</c:v>
                </c:pt>
                <c:pt idx="1">
                  <c:v>12</c:v>
                </c:pt>
                <c:pt idx="2">
                  <c:v>5</c:v>
                </c:pt>
                <c:pt idx="3">
                  <c:v>10</c:v>
                </c:pt>
                <c:pt idx="4">
                  <c:v>11</c:v>
                </c:pt>
                <c:pt idx="5">
                  <c:v>12</c:v>
                </c:pt>
                <c:pt idx="6">
                  <c:v>12</c:v>
                </c:pt>
              </c:numCache>
            </c:numRef>
          </c:val>
          <c:extLst>
            <c:ext xmlns:c16="http://schemas.microsoft.com/office/drawing/2014/chart" uri="{C3380CC4-5D6E-409C-BE32-E72D297353CC}">
              <c16:uniqueId val="{00000001-1DAE-46DC-B26E-BFC01324B104}"/>
            </c:ext>
          </c:extLst>
        </c:ser>
        <c:dLbls>
          <c:showLegendKey val="0"/>
          <c:showVal val="0"/>
          <c:showCatName val="0"/>
          <c:showSerName val="0"/>
          <c:showPercent val="0"/>
          <c:showBubbleSize val="0"/>
        </c:dLbls>
        <c:gapWidth val="75"/>
        <c:overlap val="-25"/>
        <c:axId val="1418613503"/>
        <c:axId val="1418609663"/>
      </c:barChart>
      <c:lineChart>
        <c:grouping val="standard"/>
        <c:varyColors val="0"/>
        <c:ser>
          <c:idx val="2"/>
          <c:order val="2"/>
          <c:tx>
            <c:strRef>
              <c:f>Hoja1!$E$1</c:f>
              <c:strCache>
                <c:ptCount val="1"/>
                <c:pt idx="0">
                  <c:v>Meta</c:v>
                </c:pt>
              </c:strCache>
            </c:strRef>
          </c:tx>
          <c:spPr>
            <a:ln w="28575" cap="rnd">
              <a:solidFill>
                <a:schemeClr val="accent1">
                  <a:lumMod val="50000"/>
                </a:schemeClr>
              </a:solidFill>
              <a:round/>
            </a:ln>
            <a:effectLst/>
          </c:spPr>
          <c:marker>
            <c:symbol val="none"/>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Hoja1!$E$2:$E$13</c:f>
              <c:numCache>
                <c:formatCode>General</c:formatCode>
                <c:ptCount val="12"/>
                <c:pt idx="0">
                  <c:v>10</c:v>
                </c:pt>
                <c:pt idx="1">
                  <c:v>10</c:v>
                </c:pt>
                <c:pt idx="2">
                  <c:v>10</c:v>
                </c:pt>
                <c:pt idx="3">
                  <c:v>10</c:v>
                </c:pt>
                <c:pt idx="4">
                  <c:v>10</c:v>
                </c:pt>
                <c:pt idx="5">
                  <c:v>10</c:v>
                </c:pt>
                <c:pt idx="6">
                  <c:v>10</c:v>
                </c:pt>
                <c:pt idx="7">
                  <c:v>10</c:v>
                </c:pt>
                <c:pt idx="8">
                  <c:v>10</c:v>
                </c:pt>
                <c:pt idx="9">
                  <c:v>10</c:v>
                </c:pt>
                <c:pt idx="10">
                  <c:v>10</c:v>
                </c:pt>
                <c:pt idx="11">
                  <c:v>10</c:v>
                </c:pt>
              </c:numCache>
            </c:numRef>
          </c:val>
          <c:smooth val="0"/>
          <c:extLst>
            <c:ext xmlns:c16="http://schemas.microsoft.com/office/drawing/2014/chart" uri="{C3380CC4-5D6E-409C-BE32-E72D297353CC}">
              <c16:uniqueId val="{00000002-1DAE-46DC-B26E-BFC01324B104}"/>
            </c:ext>
          </c:extLst>
        </c:ser>
        <c:dLbls>
          <c:showLegendKey val="0"/>
          <c:showVal val="0"/>
          <c:showCatName val="0"/>
          <c:showSerName val="0"/>
          <c:showPercent val="0"/>
          <c:showBubbleSize val="0"/>
        </c:dLbls>
        <c:marker val="1"/>
        <c:smooth val="0"/>
        <c:axId val="1418613503"/>
        <c:axId val="1418609663"/>
      </c:lineChart>
      <c:catAx>
        <c:axId val="14186135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418609663"/>
        <c:crosses val="autoZero"/>
        <c:auto val="1"/>
        <c:lblAlgn val="ctr"/>
        <c:lblOffset val="100"/>
        <c:noMultiLvlLbl val="0"/>
      </c:catAx>
      <c:valAx>
        <c:axId val="1418609663"/>
        <c:scaling>
          <c:orientation val="minMax"/>
          <c:max val="25"/>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418613503"/>
        <c:crosses val="autoZero"/>
        <c:crossBetween val="between"/>
      </c:valAx>
      <c:spPr>
        <a:noFill/>
        <a:ln>
          <a:solidFill>
            <a:schemeClr val="tx1">
              <a:alpha val="95000"/>
            </a:schemeClr>
          </a:solid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s-CO"/>
    </a:p>
  </c:txPr>
  <c:externalData r:id="rId3">
    <c:autoUpdate val="0"/>
  </c:externalData>
</c:chartSpace>
</file>

<file path=ppt/charts/chart14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s-CO" sz="1600" b="1" noProof="0">
                <a:solidFill>
                  <a:schemeClr val="tx1"/>
                </a:solidFill>
              </a:rPr>
              <a:t>Oportunidad de</a:t>
            </a:r>
            <a:r>
              <a:rPr lang="es-CO" sz="1600" b="1" baseline="0" noProof="0">
                <a:solidFill>
                  <a:schemeClr val="tx1"/>
                </a:solidFill>
              </a:rPr>
              <a:t> procedimientos quirúrgicos </a:t>
            </a:r>
            <a:endParaRPr lang="es-CO" sz="1600" b="1" noProof="0">
              <a:solidFill>
                <a:schemeClr val="tx1"/>
              </a:solidFill>
            </a:endParaRPr>
          </a:p>
        </c:rich>
      </c:tx>
      <c:layout>
        <c:manualLayout>
          <c:xMode val="edge"/>
          <c:yMode val="edge"/>
          <c:x val="0.17219461279461279"/>
          <c:y val="0"/>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Hoja1!$C$1</c:f>
              <c:strCache>
                <c:ptCount val="1"/>
                <c:pt idx="0">
                  <c:v>2025</c:v>
                </c:pt>
              </c:strCache>
            </c:strRef>
          </c:tx>
          <c:spPr>
            <a:solidFill>
              <a:srgbClr val="00A19C"/>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45A9A1"/>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Hoja1!$C$2:$C$13</c:f>
              <c:numCache>
                <c:formatCode>General</c:formatCode>
                <c:ptCount val="12"/>
                <c:pt idx="6" formatCode="0">
                  <c:v>48.1</c:v>
                </c:pt>
                <c:pt idx="7" formatCode="0">
                  <c:v>47.8</c:v>
                </c:pt>
                <c:pt idx="8" formatCode="0">
                  <c:v>44</c:v>
                </c:pt>
                <c:pt idx="9" formatCode="0">
                  <c:v>47.3</c:v>
                </c:pt>
                <c:pt idx="10" formatCode="0">
                  <c:v>53</c:v>
                </c:pt>
                <c:pt idx="11" formatCode="0">
                  <c:v>40.700000000000003</c:v>
                </c:pt>
              </c:numCache>
            </c:numRef>
          </c:val>
          <c:extLst>
            <c:ext xmlns:c16="http://schemas.microsoft.com/office/drawing/2014/chart" uri="{C3380CC4-5D6E-409C-BE32-E72D297353CC}">
              <c16:uniqueId val="{00000000-9D83-4C8F-842A-320324160D41}"/>
            </c:ext>
          </c:extLst>
        </c:ser>
        <c:ser>
          <c:idx val="1"/>
          <c:order val="1"/>
          <c:tx>
            <c:strRef>
              <c:f>Hoja1!$D$1</c:f>
              <c:strCache>
                <c:ptCount val="1"/>
                <c:pt idx="0">
                  <c:v>2026</c:v>
                </c:pt>
              </c:strCache>
            </c:strRef>
          </c:tx>
          <c:spPr>
            <a:solidFill>
              <a:schemeClr val="tx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Hoja1!$D$2:$D$13</c:f>
              <c:numCache>
                <c:formatCode>General</c:formatCode>
                <c:ptCount val="12"/>
                <c:pt idx="0">
                  <c:v>52</c:v>
                </c:pt>
                <c:pt idx="1">
                  <c:v>35</c:v>
                </c:pt>
                <c:pt idx="2">
                  <c:v>29</c:v>
                </c:pt>
                <c:pt idx="3">
                  <c:v>32</c:v>
                </c:pt>
                <c:pt idx="4">
                  <c:v>45</c:v>
                </c:pt>
                <c:pt idx="5">
                  <c:v>56</c:v>
                </c:pt>
                <c:pt idx="6">
                  <c:v>28</c:v>
                </c:pt>
              </c:numCache>
            </c:numRef>
          </c:val>
          <c:extLst>
            <c:ext xmlns:c16="http://schemas.microsoft.com/office/drawing/2014/chart" uri="{C3380CC4-5D6E-409C-BE32-E72D297353CC}">
              <c16:uniqueId val="{00000000-34C9-42DA-B53E-E477EA48F6F7}"/>
            </c:ext>
          </c:extLst>
        </c:ser>
        <c:dLbls>
          <c:showLegendKey val="0"/>
          <c:showVal val="0"/>
          <c:showCatName val="0"/>
          <c:showSerName val="0"/>
          <c:showPercent val="0"/>
          <c:showBubbleSize val="0"/>
        </c:dLbls>
        <c:gapWidth val="75"/>
        <c:overlap val="-25"/>
        <c:axId val="1418613503"/>
        <c:axId val="1418609663"/>
      </c:barChart>
      <c:lineChart>
        <c:grouping val="standard"/>
        <c:varyColors val="0"/>
        <c:ser>
          <c:idx val="2"/>
          <c:order val="2"/>
          <c:tx>
            <c:strRef>
              <c:f>Hoja1!$E$1</c:f>
              <c:strCache>
                <c:ptCount val="1"/>
                <c:pt idx="0">
                  <c:v>Meta</c:v>
                </c:pt>
              </c:strCache>
            </c:strRef>
          </c:tx>
          <c:spPr>
            <a:ln w="28575" cap="rnd">
              <a:solidFill>
                <a:schemeClr val="accent1">
                  <a:lumMod val="50000"/>
                </a:schemeClr>
              </a:solidFill>
              <a:round/>
            </a:ln>
            <a:effectLst/>
          </c:spPr>
          <c:marker>
            <c:symbol val="circle"/>
            <c:size val="5"/>
            <c:spPr>
              <a:solidFill>
                <a:schemeClr val="accent3"/>
              </a:solidFill>
              <a:ln w="9525">
                <a:solidFill>
                  <a:schemeClr val="accent1">
                    <a:lumMod val="50000"/>
                  </a:schemeClr>
                </a:solidFill>
              </a:ln>
              <a:effectLst/>
            </c:spPr>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Hoja1!$E$2:$E$13</c:f>
              <c:numCache>
                <c:formatCode>General</c:formatCode>
                <c:ptCount val="12"/>
                <c:pt idx="0">
                  <c:v>25</c:v>
                </c:pt>
                <c:pt idx="1">
                  <c:v>25</c:v>
                </c:pt>
                <c:pt idx="2">
                  <c:v>25</c:v>
                </c:pt>
                <c:pt idx="3">
                  <c:v>25</c:v>
                </c:pt>
                <c:pt idx="4">
                  <c:v>25</c:v>
                </c:pt>
                <c:pt idx="5">
                  <c:v>25</c:v>
                </c:pt>
                <c:pt idx="6">
                  <c:v>25</c:v>
                </c:pt>
                <c:pt idx="7">
                  <c:v>25</c:v>
                </c:pt>
                <c:pt idx="8">
                  <c:v>25</c:v>
                </c:pt>
                <c:pt idx="9">
                  <c:v>25</c:v>
                </c:pt>
                <c:pt idx="10">
                  <c:v>25</c:v>
                </c:pt>
                <c:pt idx="11">
                  <c:v>25</c:v>
                </c:pt>
              </c:numCache>
            </c:numRef>
          </c:val>
          <c:smooth val="0"/>
          <c:extLst>
            <c:ext xmlns:c16="http://schemas.microsoft.com/office/drawing/2014/chart" uri="{C3380CC4-5D6E-409C-BE32-E72D297353CC}">
              <c16:uniqueId val="{00000001-34C9-42DA-B53E-E477EA48F6F7}"/>
            </c:ext>
          </c:extLst>
        </c:ser>
        <c:dLbls>
          <c:showLegendKey val="0"/>
          <c:showVal val="0"/>
          <c:showCatName val="0"/>
          <c:showSerName val="0"/>
          <c:showPercent val="0"/>
          <c:showBubbleSize val="0"/>
        </c:dLbls>
        <c:marker val="1"/>
        <c:smooth val="0"/>
        <c:axId val="1418613503"/>
        <c:axId val="1418609663"/>
      </c:lineChart>
      <c:catAx>
        <c:axId val="14186135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418609663"/>
        <c:crosses val="autoZero"/>
        <c:auto val="1"/>
        <c:lblAlgn val="ctr"/>
        <c:lblOffset val="100"/>
        <c:noMultiLvlLbl val="0"/>
      </c:catAx>
      <c:valAx>
        <c:axId val="141860966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41861350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s-CO"/>
    </a:p>
  </c:txPr>
  <c:externalData r:id="rId3">
    <c:autoUpdate val="0"/>
  </c:externalData>
</c:chartSpace>
</file>

<file path=ppt/charts/chart14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s-CO" sz="1600" b="1" noProof="0">
                <a:solidFill>
                  <a:schemeClr val="tx1"/>
                </a:solidFill>
              </a:rPr>
              <a:t>Oportunidad de radioterapia</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tx>
            <c:strRef>
              <c:f>Hoja1!$C$1</c:f>
              <c:strCache>
                <c:ptCount val="1"/>
                <c:pt idx="0">
                  <c:v>2025</c:v>
                </c:pt>
              </c:strCache>
            </c:strRef>
          </c:tx>
          <c:spPr>
            <a:solidFill>
              <a:srgbClr val="00A19C"/>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45A9A1"/>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Hoja1!$C$2:$C$13</c:f>
              <c:numCache>
                <c:formatCode>General</c:formatCode>
                <c:ptCount val="12"/>
                <c:pt idx="6">
                  <c:v>16</c:v>
                </c:pt>
                <c:pt idx="7">
                  <c:v>14</c:v>
                </c:pt>
                <c:pt idx="8">
                  <c:v>15</c:v>
                </c:pt>
                <c:pt idx="9">
                  <c:v>14</c:v>
                </c:pt>
                <c:pt idx="10">
                  <c:v>15</c:v>
                </c:pt>
                <c:pt idx="11">
                  <c:v>14</c:v>
                </c:pt>
              </c:numCache>
            </c:numRef>
          </c:val>
          <c:extLst>
            <c:ext xmlns:c16="http://schemas.microsoft.com/office/drawing/2014/chart" uri="{C3380CC4-5D6E-409C-BE32-E72D297353CC}">
              <c16:uniqueId val="{00000000-6418-4EE4-A229-E94A84EF1777}"/>
            </c:ext>
          </c:extLst>
        </c:ser>
        <c:ser>
          <c:idx val="1"/>
          <c:order val="1"/>
          <c:tx>
            <c:strRef>
              <c:f>Hoja1!$D$1</c:f>
              <c:strCache>
                <c:ptCount val="1"/>
                <c:pt idx="0">
                  <c:v>2026</c:v>
                </c:pt>
              </c:strCache>
            </c:strRef>
          </c:tx>
          <c:spPr>
            <a:solidFill>
              <a:schemeClr val="tx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Hoja1!$D$2:$D$13</c:f>
              <c:numCache>
                <c:formatCode>General</c:formatCode>
                <c:ptCount val="12"/>
                <c:pt idx="0">
                  <c:v>18</c:v>
                </c:pt>
                <c:pt idx="1">
                  <c:v>13</c:v>
                </c:pt>
                <c:pt idx="2">
                  <c:v>12</c:v>
                </c:pt>
                <c:pt idx="3">
                  <c:v>15</c:v>
                </c:pt>
              </c:numCache>
            </c:numRef>
          </c:val>
          <c:extLst>
            <c:ext xmlns:c16="http://schemas.microsoft.com/office/drawing/2014/chart" uri="{C3380CC4-5D6E-409C-BE32-E72D297353CC}">
              <c16:uniqueId val="{00000002-5161-4943-AF65-3595DDD867F1}"/>
            </c:ext>
          </c:extLst>
        </c:ser>
        <c:dLbls>
          <c:showLegendKey val="0"/>
          <c:showVal val="0"/>
          <c:showCatName val="0"/>
          <c:showSerName val="0"/>
          <c:showPercent val="0"/>
          <c:showBubbleSize val="0"/>
        </c:dLbls>
        <c:gapWidth val="75"/>
        <c:overlap val="-25"/>
        <c:axId val="1418613503"/>
        <c:axId val="1418609663"/>
      </c:barChart>
      <c:lineChart>
        <c:grouping val="standard"/>
        <c:varyColors val="0"/>
        <c:ser>
          <c:idx val="2"/>
          <c:order val="2"/>
          <c:tx>
            <c:strRef>
              <c:f>Hoja1!$E$1</c:f>
              <c:strCache>
                <c:ptCount val="1"/>
                <c:pt idx="0">
                  <c:v>Meta</c:v>
                </c:pt>
              </c:strCache>
            </c:strRef>
          </c:tx>
          <c:spPr>
            <a:ln w="28575" cap="rnd">
              <a:solidFill>
                <a:schemeClr val="accent1">
                  <a:lumMod val="50000"/>
                </a:schemeClr>
              </a:solidFill>
              <a:round/>
            </a:ln>
            <a:effectLst/>
          </c:spPr>
          <c:marker>
            <c:symbol val="circle"/>
            <c:size val="5"/>
            <c:spPr>
              <a:solidFill>
                <a:schemeClr val="accent3"/>
              </a:solidFill>
              <a:ln w="9525">
                <a:solidFill>
                  <a:schemeClr val="accent1">
                    <a:lumMod val="50000"/>
                  </a:schemeClr>
                </a:solidFill>
              </a:ln>
              <a:effectLst/>
            </c:spPr>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Hoja1!$E$2:$E$13</c:f>
              <c:numCache>
                <c:formatCode>General</c:formatCode>
                <c:ptCount val="12"/>
                <c:pt idx="0">
                  <c:v>16</c:v>
                </c:pt>
                <c:pt idx="1">
                  <c:v>16</c:v>
                </c:pt>
                <c:pt idx="2">
                  <c:v>16</c:v>
                </c:pt>
                <c:pt idx="3">
                  <c:v>16</c:v>
                </c:pt>
                <c:pt idx="4">
                  <c:v>16</c:v>
                </c:pt>
                <c:pt idx="5">
                  <c:v>16</c:v>
                </c:pt>
                <c:pt idx="6">
                  <c:v>16</c:v>
                </c:pt>
                <c:pt idx="7">
                  <c:v>16</c:v>
                </c:pt>
                <c:pt idx="8">
                  <c:v>16</c:v>
                </c:pt>
                <c:pt idx="9">
                  <c:v>16</c:v>
                </c:pt>
                <c:pt idx="10">
                  <c:v>16</c:v>
                </c:pt>
                <c:pt idx="11">
                  <c:v>16</c:v>
                </c:pt>
              </c:numCache>
            </c:numRef>
          </c:val>
          <c:smooth val="0"/>
          <c:extLst>
            <c:ext xmlns:c16="http://schemas.microsoft.com/office/drawing/2014/chart" uri="{C3380CC4-5D6E-409C-BE32-E72D297353CC}">
              <c16:uniqueId val="{00000003-5161-4943-AF65-3595DDD867F1}"/>
            </c:ext>
          </c:extLst>
        </c:ser>
        <c:dLbls>
          <c:showLegendKey val="0"/>
          <c:showVal val="0"/>
          <c:showCatName val="0"/>
          <c:showSerName val="0"/>
          <c:showPercent val="0"/>
          <c:showBubbleSize val="0"/>
        </c:dLbls>
        <c:marker val="1"/>
        <c:smooth val="0"/>
        <c:axId val="1418613503"/>
        <c:axId val="1418609663"/>
      </c:lineChart>
      <c:catAx>
        <c:axId val="14186135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418609663"/>
        <c:crosses val="autoZero"/>
        <c:auto val="1"/>
        <c:lblAlgn val="ctr"/>
        <c:lblOffset val="100"/>
        <c:noMultiLvlLbl val="0"/>
      </c:catAx>
      <c:valAx>
        <c:axId val="141860966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1418613503"/>
        <c:crosses val="autoZero"/>
        <c:crossBetween val="between"/>
        <c:majorUnit val="4"/>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s-CO"/>
    </a:p>
  </c:txPr>
  <c:externalData r:id="rId3">
    <c:autoUpdate val="0"/>
  </c:externalData>
</c:chartSpace>
</file>

<file path=ppt/charts/chart15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8158A1"/>
                </a:solidFill>
                <a:latin typeface="+mn-lt"/>
                <a:ea typeface="+mn-ea"/>
                <a:cs typeface="+mn-cs"/>
              </a:defRPr>
            </a:pPr>
            <a:r>
              <a:rPr lang="es-CO" b="1">
                <a:solidFill>
                  <a:srgbClr val="8158A1"/>
                </a:solidFill>
              </a:rPr>
              <a:t>COMPARATIVO</a:t>
            </a:r>
            <a:r>
              <a:rPr lang="es-CO" b="1" baseline="0">
                <a:solidFill>
                  <a:srgbClr val="8158A1"/>
                </a:solidFill>
              </a:rPr>
              <a:t> NPS</a:t>
            </a:r>
            <a:endParaRPr lang="es-CO" b="1">
              <a:solidFill>
                <a:srgbClr val="8158A1"/>
              </a:solidFill>
            </a:endParaRP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8158A1"/>
              </a:solidFill>
              <a:latin typeface="+mn-lt"/>
              <a:ea typeface="+mn-ea"/>
              <a:cs typeface="+mn-cs"/>
            </a:defRPr>
          </a:pPr>
          <a:endParaRPr lang="es-CO"/>
        </a:p>
      </c:txPr>
    </c:title>
    <c:autoTitleDeleted val="0"/>
    <c:plotArea>
      <c:layout/>
      <c:barChart>
        <c:barDir val="col"/>
        <c:grouping val="stacked"/>
        <c:varyColors val="0"/>
        <c:ser>
          <c:idx val="0"/>
          <c:order val="0"/>
          <c:tx>
            <c:strRef>
              <c:f>'2026'!$AD$109</c:f>
              <c:strCache>
                <c:ptCount val="1"/>
                <c:pt idx="0">
                  <c:v>APOSTOLES</c:v>
                </c:pt>
              </c:strCache>
            </c:strRef>
          </c:tx>
          <c:spPr>
            <a:solidFill>
              <a:srgbClr val="8158A1"/>
            </a:solidFill>
            <a:ln>
              <a:noFill/>
            </a:ln>
            <a:effectLst/>
          </c:spPr>
          <c:invertIfNegative val="0"/>
          <c:cat>
            <c:strRef>
              <c:f>'2026'!$AE$1:$AK$1</c:f>
              <c:strCache>
                <c:ptCount val="7"/>
                <c:pt idx="0">
                  <c:v>ENE</c:v>
                </c:pt>
                <c:pt idx="1">
                  <c:v>FEB</c:v>
                </c:pt>
                <c:pt idx="2">
                  <c:v>MAR</c:v>
                </c:pt>
                <c:pt idx="3">
                  <c:v>ABR</c:v>
                </c:pt>
                <c:pt idx="4">
                  <c:v>MAY</c:v>
                </c:pt>
                <c:pt idx="5">
                  <c:v>JUN</c:v>
                </c:pt>
                <c:pt idx="6">
                  <c:v>JUL</c:v>
                </c:pt>
              </c:strCache>
            </c:strRef>
          </c:cat>
          <c:val>
            <c:numRef>
              <c:f>'2026'!$AE$109:$AK$109</c:f>
              <c:numCache>
                <c:formatCode>General</c:formatCode>
                <c:ptCount val="7"/>
                <c:pt idx="0">
                  <c:v>14</c:v>
                </c:pt>
                <c:pt idx="1">
                  <c:v>13</c:v>
                </c:pt>
                <c:pt idx="2">
                  <c:v>14</c:v>
                </c:pt>
                <c:pt idx="3">
                  <c:v>15</c:v>
                </c:pt>
                <c:pt idx="4">
                  <c:v>16</c:v>
                </c:pt>
                <c:pt idx="5">
                  <c:v>30</c:v>
                </c:pt>
                <c:pt idx="6">
                  <c:v>36</c:v>
                </c:pt>
              </c:numCache>
            </c:numRef>
          </c:val>
          <c:extLst>
            <c:ext xmlns:c16="http://schemas.microsoft.com/office/drawing/2014/chart" uri="{C3380CC4-5D6E-409C-BE32-E72D297353CC}">
              <c16:uniqueId val="{00000000-4141-4AE0-B238-2267048CFD71}"/>
            </c:ext>
          </c:extLst>
        </c:ser>
        <c:ser>
          <c:idx val="1"/>
          <c:order val="1"/>
          <c:tx>
            <c:strRef>
              <c:f>'2026'!$AD$110</c:f>
              <c:strCache>
                <c:ptCount val="1"/>
                <c:pt idx="0">
                  <c:v>NEUTROS</c:v>
                </c:pt>
              </c:strCache>
            </c:strRef>
          </c:tx>
          <c:spPr>
            <a:solidFill>
              <a:srgbClr val="47A9BF"/>
            </a:solidFill>
            <a:ln>
              <a:noFill/>
            </a:ln>
            <a:effectLst/>
          </c:spPr>
          <c:invertIfNegative val="0"/>
          <c:cat>
            <c:strRef>
              <c:f>'2026'!$AE$1:$AK$1</c:f>
              <c:strCache>
                <c:ptCount val="7"/>
                <c:pt idx="0">
                  <c:v>ENE</c:v>
                </c:pt>
                <c:pt idx="1">
                  <c:v>FEB</c:v>
                </c:pt>
                <c:pt idx="2">
                  <c:v>MAR</c:v>
                </c:pt>
                <c:pt idx="3">
                  <c:v>ABR</c:v>
                </c:pt>
                <c:pt idx="4">
                  <c:v>MAY</c:v>
                </c:pt>
                <c:pt idx="5">
                  <c:v>JUN</c:v>
                </c:pt>
                <c:pt idx="6">
                  <c:v>JUL</c:v>
                </c:pt>
              </c:strCache>
            </c:strRef>
          </c:cat>
          <c:val>
            <c:numRef>
              <c:f>'2026'!$AE$110:$AK$110</c:f>
              <c:numCache>
                <c:formatCode>General</c:formatCode>
                <c:ptCount val="7"/>
                <c:pt idx="0">
                  <c:v>1</c:v>
                </c:pt>
                <c:pt idx="1">
                  <c:v>0</c:v>
                </c:pt>
                <c:pt idx="2">
                  <c:v>0</c:v>
                </c:pt>
                <c:pt idx="3">
                  <c:v>1</c:v>
                </c:pt>
                <c:pt idx="4">
                  <c:v>1</c:v>
                </c:pt>
                <c:pt idx="5">
                  <c:v>0</c:v>
                </c:pt>
                <c:pt idx="6">
                  <c:v>0</c:v>
                </c:pt>
              </c:numCache>
            </c:numRef>
          </c:val>
          <c:extLst>
            <c:ext xmlns:c16="http://schemas.microsoft.com/office/drawing/2014/chart" uri="{C3380CC4-5D6E-409C-BE32-E72D297353CC}">
              <c16:uniqueId val="{00000001-4141-4AE0-B238-2267048CFD71}"/>
            </c:ext>
          </c:extLst>
        </c:ser>
        <c:ser>
          <c:idx val="2"/>
          <c:order val="2"/>
          <c:tx>
            <c:strRef>
              <c:f>'2026'!$AD$111</c:f>
              <c:strCache>
                <c:ptCount val="1"/>
                <c:pt idx="0">
                  <c:v>DETRACTORES</c:v>
                </c:pt>
              </c:strCache>
            </c:strRef>
          </c:tx>
          <c:spPr>
            <a:solidFill>
              <a:srgbClr val="FF0000"/>
            </a:solidFill>
            <a:ln>
              <a:noFill/>
            </a:ln>
            <a:effectLst/>
          </c:spPr>
          <c:invertIfNegative val="0"/>
          <c:cat>
            <c:strRef>
              <c:f>'2026'!$AE$1:$AK$1</c:f>
              <c:strCache>
                <c:ptCount val="7"/>
                <c:pt idx="0">
                  <c:v>ENE</c:v>
                </c:pt>
                <c:pt idx="1">
                  <c:v>FEB</c:v>
                </c:pt>
                <c:pt idx="2">
                  <c:v>MAR</c:v>
                </c:pt>
                <c:pt idx="3">
                  <c:v>ABR</c:v>
                </c:pt>
                <c:pt idx="4">
                  <c:v>MAY</c:v>
                </c:pt>
                <c:pt idx="5">
                  <c:v>JUN</c:v>
                </c:pt>
                <c:pt idx="6">
                  <c:v>JUL</c:v>
                </c:pt>
              </c:strCache>
            </c:strRef>
          </c:cat>
          <c:val>
            <c:numRef>
              <c:f>'2026'!$AE$111:$AK$111</c:f>
              <c:numCache>
                <c:formatCode>General</c:formatCode>
                <c:ptCount val="7"/>
                <c:pt idx="0">
                  <c:v>0</c:v>
                </c:pt>
                <c:pt idx="1">
                  <c:v>2</c:v>
                </c:pt>
                <c:pt idx="2">
                  <c:v>3</c:v>
                </c:pt>
                <c:pt idx="3">
                  <c:v>3</c:v>
                </c:pt>
                <c:pt idx="4">
                  <c:v>1</c:v>
                </c:pt>
                <c:pt idx="5">
                  <c:v>0</c:v>
                </c:pt>
                <c:pt idx="6">
                  <c:v>0</c:v>
                </c:pt>
              </c:numCache>
            </c:numRef>
          </c:val>
          <c:extLst>
            <c:ext xmlns:c16="http://schemas.microsoft.com/office/drawing/2014/chart" uri="{C3380CC4-5D6E-409C-BE32-E72D297353CC}">
              <c16:uniqueId val="{00000002-4141-4AE0-B238-2267048CFD71}"/>
            </c:ext>
          </c:extLst>
        </c:ser>
        <c:dLbls>
          <c:showLegendKey val="0"/>
          <c:showVal val="0"/>
          <c:showCatName val="0"/>
          <c:showSerName val="0"/>
          <c:showPercent val="0"/>
          <c:showBubbleSize val="0"/>
        </c:dLbls>
        <c:gapWidth val="150"/>
        <c:overlap val="100"/>
        <c:axId val="1860293279"/>
        <c:axId val="1860295679"/>
      </c:barChart>
      <c:catAx>
        <c:axId val="18602932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860295679"/>
        <c:crosses val="autoZero"/>
        <c:auto val="1"/>
        <c:lblAlgn val="ctr"/>
        <c:lblOffset val="100"/>
        <c:noMultiLvlLbl val="0"/>
      </c:catAx>
      <c:valAx>
        <c:axId val="186029567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860293279"/>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100" b="0" i="0" u="none" strike="noStrike" kern="1200" baseline="0">
                <a:solidFill>
                  <a:schemeClr val="tx1">
                    <a:lumMod val="75000"/>
                  </a:schemeClr>
                </a:solidFill>
                <a:latin typeface="+mn-lt"/>
                <a:ea typeface="+mn-ea"/>
                <a:cs typeface="+mn-cs"/>
              </a:defRPr>
            </a:pPr>
            <a:endParaRPr lang="es-CO"/>
          </a:p>
        </c:txPr>
      </c:dTable>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7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15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8158A1"/>
                </a:solidFill>
                <a:latin typeface="+mn-lt"/>
                <a:ea typeface="+mn-ea"/>
                <a:cs typeface="+mn-cs"/>
              </a:defRPr>
            </a:pPr>
            <a:r>
              <a:rPr lang="es-CO" b="1">
                <a:solidFill>
                  <a:srgbClr val="8158A1"/>
                </a:solidFill>
              </a:rPr>
              <a:t>NPS Otros</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8158A1"/>
              </a:solidFill>
              <a:latin typeface="+mn-lt"/>
              <a:ea typeface="+mn-ea"/>
              <a:cs typeface="+mn-cs"/>
            </a:defRPr>
          </a:pPr>
          <a:endParaRPr lang="es-CO"/>
        </a:p>
      </c:txPr>
    </c:title>
    <c:autoTitleDeleted val="0"/>
    <c:plotArea>
      <c:layout/>
      <c:barChart>
        <c:barDir val="col"/>
        <c:grouping val="clustered"/>
        <c:varyColors val="0"/>
        <c:ser>
          <c:idx val="0"/>
          <c:order val="0"/>
          <c:tx>
            <c:strRef>
              <c:f>'2026'!$A$15</c:f>
              <c:strCache>
                <c:ptCount val="1"/>
                <c:pt idx="0">
                  <c:v>2026</c:v>
                </c:pt>
              </c:strCache>
            </c:strRef>
          </c:tx>
          <c:spPr>
            <a:solidFill>
              <a:srgbClr val="8158A1"/>
            </a:solidFill>
            <a:ln>
              <a:solidFill>
                <a:srgbClr val="8158A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'2026'!$C$3:$I$3</c:f>
              <c:strCache>
                <c:ptCount val="7"/>
                <c:pt idx="0">
                  <c:v>ENE</c:v>
                </c:pt>
                <c:pt idx="1">
                  <c:v>FEB</c:v>
                </c:pt>
                <c:pt idx="2">
                  <c:v>MAR</c:v>
                </c:pt>
                <c:pt idx="3">
                  <c:v>ABR</c:v>
                </c:pt>
                <c:pt idx="4">
                  <c:v>MAY</c:v>
                </c:pt>
                <c:pt idx="5">
                  <c:v>JUN</c:v>
                </c:pt>
                <c:pt idx="6">
                  <c:v>JUL</c:v>
                </c:pt>
              </c:strCache>
              <c:extLst/>
            </c:strRef>
          </c:cat>
          <c:val>
            <c:numRef>
              <c:f>'2026'!$C$121:$I$121</c:f>
              <c:numCache>
                <c:formatCode>0.0</c:formatCode>
                <c:ptCount val="7"/>
                <c:pt idx="0">
                  <c:v>93.333333333333329</c:v>
                </c:pt>
                <c:pt idx="1">
                  <c:v>73.333333333333343</c:v>
                </c:pt>
                <c:pt idx="2">
                  <c:v>64.705882352941174</c:v>
                </c:pt>
                <c:pt idx="3">
                  <c:v>63.157894736842103</c:v>
                </c:pt>
                <c:pt idx="4">
                  <c:v>83.333333333333329</c:v>
                </c:pt>
                <c:pt idx="5">
                  <c:v>100</c:v>
                </c:pt>
                <c:pt idx="6">
                  <c:v>100</c:v>
                </c:pt>
              </c:numCache>
              <c:extLst/>
            </c:numRef>
          </c:val>
          <c:extLst>
            <c:ext xmlns:c16="http://schemas.microsoft.com/office/drawing/2014/chart" uri="{C3380CC4-5D6E-409C-BE32-E72D297353CC}">
              <c16:uniqueId val="{00000000-FA21-4853-B562-CABE2F506CF8}"/>
            </c:ext>
          </c:extLst>
        </c:ser>
        <c:dLbls>
          <c:showLegendKey val="0"/>
          <c:showVal val="0"/>
          <c:showCatName val="0"/>
          <c:showSerName val="0"/>
          <c:showPercent val="0"/>
          <c:showBubbleSize val="0"/>
        </c:dLbls>
        <c:gapWidth val="150"/>
        <c:axId val="869602463"/>
        <c:axId val="869604863"/>
      </c:barChart>
      <c:lineChart>
        <c:grouping val="standard"/>
        <c:varyColors val="0"/>
        <c:ser>
          <c:idx val="1"/>
          <c:order val="1"/>
          <c:tx>
            <c:strRef>
              <c:f>'2026'!$A$17</c:f>
              <c:strCache>
                <c:ptCount val="1"/>
                <c:pt idx="0">
                  <c:v>META</c:v>
                </c:pt>
              </c:strCache>
            </c:strRef>
          </c:tx>
          <c:spPr>
            <a:ln w="28575" cap="rnd">
              <a:solidFill>
                <a:srgbClr val="FF0000"/>
              </a:solidFill>
              <a:prstDash val="sysDot"/>
              <a:round/>
            </a:ln>
            <a:effectLst/>
          </c:spPr>
          <c:marker>
            <c:symbol val="none"/>
          </c:marker>
          <c:dLbls>
            <c:delete val="1"/>
          </c:dLbls>
          <c:cat>
            <c:strRef>
              <c:f>'2026'!$C$3:$I$3</c:f>
              <c:strCache>
                <c:ptCount val="7"/>
                <c:pt idx="0">
                  <c:v>ENE</c:v>
                </c:pt>
                <c:pt idx="1">
                  <c:v>FEB</c:v>
                </c:pt>
                <c:pt idx="2">
                  <c:v>MAR</c:v>
                </c:pt>
                <c:pt idx="3">
                  <c:v>ABR</c:v>
                </c:pt>
                <c:pt idx="4">
                  <c:v>MAY</c:v>
                </c:pt>
                <c:pt idx="5">
                  <c:v>JUN</c:v>
                </c:pt>
                <c:pt idx="6">
                  <c:v>JUL</c:v>
                </c:pt>
              </c:strCache>
              <c:extLst/>
            </c:strRef>
          </c:cat>
          <c:val>
            <c:numRef>
              <c:f>'2026'!$C$17:$I$17</c:f>
              <c:numCache>
                <c:formatCode>General</c:formatCode>
                <c:ptCount val="7"/>
                <c:pt idx="0">
                  <c:v>75</c:v>
                </c:pt>
                <c:pt idx="1">
                  <c:v>75</c:v>
                </c:pt>
                <c:pt idx="2">
                  <c:v>75</c:v>
                </c:pt>
                <c:pt idx="3">
                  <c:v>75</c:v>
                </c:pt>
                <c:pt idx="4">
                  <c:v>75</c:v>
                </c:pt>
                <c:pt idx="5">
                  <c:v>75</c:v>
                </c:pt>
                <c:pt idx="6">
                  <c:v>75</c:v>
                </c:pt>
              </c:numCache>
              <c:extLst/>
            </c:numRef>
          </c:val>
          <c:smooth val="0"/>
          <c:extLst>
            <c:ext xmlns:c16="http://schemas.microsoft.com/office/drawing/2014/chart" uri="{C3380CC4-5D6E-409C-BE32-E72D297353CC}">
              <c16:uniqueId val="{00000001-FA21-4853-B562-CABE2F506CF8}"/>
            </c:ext>
          </c:extLst>
        </c:ser>
        <c:dLbls>
          <c:dLblPos val="t"/>
          <c:showLegendKey val="0"/>
          <c:showVal val="1"/>
          <c:showCatName val="0"/>
          <c:showSerName val="0"/>
          <c:showPercent val="0"/>
          <c:showBubbleSize val="0"/>
        </c:dLbls>
        <c:marker val="1"/>
        <c:smooth val="0"/>
        <c:axId val="869602463"/>
        <c:axId val="869604863"/>
      </c:lineChart>
      <c:catAx>
        <c:axId val="8696024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s-CO"/>
          </a:p>
        </c:txPr>
        <c:crossAx val="869604863"/>
        <c:crosses val="autoZero"/>
        <c:auto val="1"/>
        <c:lblAlgn val="ctr"/>
        <c:lblOffset val="100"/>
        <c:noMultiLvlLbl val="0"/>
      </c:catAx>
      <c:valAx>
        <c:axId val="869604863"/>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s-CO"/>
          </a:p>
        </c:txPr>
        <c:crossAx val="869602463"/>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15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7030A0"/>
                </a:solidFill>
                <a:latin typeface="+mn-lt"/>
                <a:ea typeface="+mn-ea"/>
                <a:cs typeface="+mn-cs"/>
              </a:defRPr>
            </a:pPr>
            <a:r>
              <a:rPr lang="en-US" err="1"/>
              <a:t>Satisfacción</a:t>
            </a:r>
            <a:endParaRPr lang="en-US"/>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7030A0"/>
              </a:solidFill>
              <a:latin typeface="+mn-lt"/>
              <a:ea typeface="+mn-ea"/>
              <a:cs typeface="+mn-cs"/>
            </a:defRPr>
          </a:pPr>
          <a:endParaRPr lang="en-US"/>
        </a:p>
      </c:txPr>
    </c:title>
    <c:autoTitleDeleted val="0"/>
    <c:plotArea>
      <c:layout/>
      <c:barChart>
        <c:barDir val="col"/>
        <c:grouping val="clustered"/>
        <c:varyColors val="0"/>
        <c:ser>
          <c:idx val="0"/>
          <c:order val="0"/>
          <c:tx>
            <c:strRef>
              <c:f>'2026'!$A$80</c:f>
              <c:strCache>
                <c:ptCount val="1"/>
                <c:pt idx="0">
                  <c:v>2026</c:v>
                </c:pt>
              </c:strCache>
            </c:strRef>
          </c:tx>
          <c:spPr>
            <a:solidFill>
              <a:srgbClr val="8158A1"/>
            </a:solidFill>
            <a:ln>
              <a:solidFill>
                <a:srgbClr val="8158A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'2026'!$C$74:$I$74</c:f>
              <c:strCache>
                <c:ptCount val="7"/>
                <c:pt idx="0">
                  <c:v>ENE</c:v>
                </c:pt>
                <c:pt idx="1">
                  <c:v>FEB</c:v>
                </c:pt>
                <c:pt idx="2">
                  <c:v>MAR</c:v>
                </c:pt>
                <c:pt idx="3">
                  <c:v>ABR</c:v>
                </c:pt>
                <c:pt idx="4">
                  <c:v>MAY</c:v>
                </c:pt>
                <c:pt idx="5">
                  <c:v>JUN</c:v>
                </c:pt>
                <c:pt idx="6">
                  <c:v>JUL</c:v>
                </c:pt>
              </c:strCache>
              <c:extLst/>
            </c:strRef>
          </c:cat>
          <c:val>
            <c:numRef>
              <c:f>'2026'!$C$133:$I$133</c:f>
              <c:numCache>
                <c:formatCode>0.00</c:formatCode>
                <c:ptCount val="7"/>
                <c:pt idx="0">
                  <c:v>4.75</c:v>
                </c:pt>
                <c:pt idx="1">
                  <c:v>4.4666666666666668</c:v>
                </c:pt>
                <c:pt idx="2" formatCode="0.0">
                  <c:v>4.7058823529411766</c:v>
                </c:pt>
                <c:pt idx="3" formatCode="0.0">
                  <c:v>4.8947368421052628</c:v>
                </c:pt>
                <c:pt idx="4" formatCode="0.0">
                  <c:v>4.6111111111111107</c:v>
                </c:pt>
                <c:pt idx="5" formatCode="0.0">
                  <c:v>5</c:v>
                </c:pt>
                <c:pt idx="6" formatCode="0.0">
                  <c:v>5</c:v>
                </c:pt>
              </c:numCache>
              <c:extLst/>
            </c:numRef>
          </c:val>
          <c:extLst>
            <c:ext xmlns:c16="http://schemas.microsoft.com/office/drawing/2014/chart" uri="{C3380CC4-5D6E-409C-BE32-E72D297353CC}">
              <c16:uniqueId val="{00000000-0D9C-4691-BC72-A80F6D3D1EC2}"/>
            </c:ext>
          </c:extLst>
        </c:ser>
        <c:dLbls>
          <c:showLegendKey val="0"/>
          <c:showVal val="0"/>
          <c:showCatName val="0"/>
          <c:showSerName val="0"/>
          <c:showPercent val="0"/>
          <c:showBubbleSize val="0"/>
        </c:dLbls>
        <c:gapWidth val="150"/>
        <c:axId val="269787551"/>
        <c:axId val="269786591"/>
      </c:barChart>
      <c:lineChart>
        <c:grouping val="standard"/>
        <c:varyColors val="0"/>
        <c:ser>
          <c:idx val="1"/>
          <c:order val="1"/>
          <c:tx>
            <c:strRef>
              <c:f>'2026'!$A$82</c:f>
              <c:strCache>
                <c:ptCount val="1"/>
                <c:pt idx="0">
                  <c:v>META</c:v>
                </c:pt>
              </c:strCache>
            </c:strRef>
          </c:tx>
          <c:spPr>
            <a:ln w="28575" cap="rnd">
              <a:solidFill>
                <a:srgbClr val="FF0000"/>
              </a:solidFill>
              <a:prstDash val="sysDot"/>
              <a:round/>
            </a:ln>
            <a:effectLst/>
          </c:spPr>
          <c:marker>
            <c:symbol val="none"/>
          </c:marker>
          <c:cat>
            <c:strRef>
              <c:f>'2026'!$C$74:$I$74</c:f>
              <c:strCache>
                <c:ptCount val="7"/>
                <c:pt idx="0">
                  <c:v>ENE</c:v>
                </c:pt>
                <c:pt idx="1">
                  <c:v>FEB</c:v>
                </c:pt>
                <c:pt idx="2">
                  <c:v>MAR</c:v>
                </c:pt>
                <c:pt idx="3">
                  <c:v>ABR</c:v>
                </c:pt>
                <c:pt idx="4">
                  <c:v>MAY</c:v>
                </c:pt>
                <c:pt idx="5">
                  <c:v>JUN</c:v>
                </c:pt>
                <c:pt idx="6">
                  <c:v>JUL</c:v>
                </c:pt>
              </c:strCache>
              <c:extLst/>
            </c:strRef>
          </c:cat>
          <c:val>
            <c:numRef>
              <c:f>'2026'!$C$82:$I$82</c:f>
              <c:numCache>
                <c:formatCode>0.0</c:formatCode>
                <c:ptCount val="7"/>
                <c:pt idx="0">
                  <c:v>4.8</c:v>
                </c:pt>
                <c:pt idx="1">
                  <c:v>4.8</c:v>
                </c:pt>
                <c:pt idx="2">
                  <c:v>4.8</c:v>
                </c:pt>
                <c:pt idx="3">
                  <c:v>4.8</c:v>
                </c:pt>
                <c:pt idx="4">
                  <c:v>4.8</c:v>
                </c:pt>
                <c:pt idx="5">
                  <c:v>4.8</c:v>
                </c:pt>
                <c:pt idx="6" formatCode="General">
                  <c:v>4.8</c:v>
                </c:pt>
              </c:numCache>
              <c:extLst/>
            </c:numRef>
          </c:val>
          <c:smooth val="0"/>
          <c:extLst>
            <c:ext xmlns:c16="http://schemas.microsoft.com/office/drawing/2014/chart" uri="{C3380CC4-5D6E-409C-BE32-E72D297353CC}">
              <c16:uniqueId val="{00000001-0D9C-4691-BC72-A80F6D3D1EC2}"/>
            </c:ext>
          </c:extLst>
        </c:ser>
        <c:dLbls>
          <c:showLegendKey val="0"/>
          <c:showVal val="0"/>
          <c:showCatName val="0"/>
          <c:showSerName val="0"/>
          <c:showPercent val="0"/>
          <c:showBubbleSize val="0"/>
        </c:dLbls>
        <c:marker val="1"/>
        <c:smooth val="0"/>
        <c:axId val="269787551"/>
        <c:axId val="269786591"/>
      </c:lineChart>
      <c:catAx>
        <c:axId val="2697875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75000"/>
                  </a:schemeClr>
                </a:solidFill>
                <a:latin typeface="+mn-lt"/>
                <a:ea typeface="+mn-ea"/>
                <a:cs typeface="+mn-cs"/>
              </a:defRPr>
            </a:pPr>
            <a:endParaRPr lang="es-CO"/>
          </a:p>
        </c:txPr>
        <c:crossAx val="269786591"/>
        <c:crosses val="autoZero"/>
        <c:auto val="1"/>
        <c:lblAlgn val="ctr"/>
        <c:lblOffset val="100"/>
        <c:noMultiLvlLbl val="0"/>
      </c:catAx>
      <c:valAx>
        <c:axId val="269786591"/>
        <c:scaling>
          <c:orientation val="minMax"/>
          <c:min val="4"/>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269787551"/>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15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7030A0"/>
                </a:solidFill>
                <a:latin typeface="+mn-lt"/>
                <a:ea typeface="+mn-ea"/>
                <a:cs typeface="+mn-cs"/>
              </a:defRPr>
            </a:pPr>
            <a:r>
              <a:rPr lang="es-ES"/>
              <a:t>CES</a:t>
            </a:r>
            <a:endParaRPr lang="es-CO"/>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7030A0"/>
              </a:solidFill>
              <a:latin typeface="+mn-lt"/>
              <a:ea typeface="+mn-ea"/>
              <a:cs typeface="+mn-cs"/>
            </a:defRPr>
          </a:pPr>
          <a:endParaRPr lang="es-CO"/>
        </a:p>
      </c:txPr>
    </c:title>
    <c:autoTitleDeleted val="0"/>
    <c:plotArea>
      <c:layout/>
      <c:barChart>
        <c:barDir val="col"/>
        <c:grouping val="clustered"/>
        <c:varyColors val="0"/>
        <c:ser>
          <c:idx val="0"/>
          <c:order val="0"/>
          <c:tx>
            <c:strRef>
              <c:f>'2026'!$A$93</c:f>
              <c:strCache>
                <c:ptCount val="1"/>
                <c:pt idx="0">
                  <c:v>2026</c:v>
                </c:pt>
              </c:strCache>
            </c:strRef>
          </c:tx>
          <c:spPr>
            <a:solidFill>
              <a:srgbClr val="8158A1"/>
            </a:solidFill>
            <a:ln>
              <a:solidFill>
                <a:srgbClr val="8158A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'2026'!$C$86:$I$86</c:f>
              <c:strCache>
                <c:ptCount val="7"/>
                <c:pt idx="0">
                  <c:v>ENE</c:v>
                </c:pt>
                <c:pt idx="1">
                  <c:v>FEB</c:v>
                </c:pt>
                <c:pt idx="2">
                  <c:v>MAR</c:v>
                </c:pt>
                <c:pt idx="3">
                  <c:v>ABR</c:v>
                </c:pt>
                <c:pt idx="4">
                  <c:v>MAY</c:v>
                </c:pt>
                <c:pt idx="5">
                  <c:v>JUN</c:v>
                </c:pt>
                <c:pt idx="6">
                  <c:v>JUL</c:v>
                </c:pt>
              </c:strCache>
              <c:extLst/>
            </c:strRef>
          </c:cat>
          <c:val>
            <c:numRef>
              <c:f>'2026'!$C$146:$I$146</c:f>
              <c:numCache>
                <c:formatCode>0%</c:formatCode>
                <c:ptCount val="7"/>
                <c:pt idx="0">
                  <c:v>0.9375</c:v>
                </c:pt>
                <c:pt idx="1">
                  <c:v>0.8666666666666667</c:v>
                </c:pt>
                <c:pt idx="2">
                  <c:v>0.70588235294117652</c:v>
                </c:pt>
                <c:pt idx="3">
                  <c:v>0.84210526315789469</c:v>
                </c:pt>
                <c:pt idx="4">
                  <c:v>0.88888888888888884</c:v>
                </c:pt>
                <c:pt idx="5">
                  <c:v>1</c:v>
                </c:pt>
                <c:pt idx="6">
                  <c:v>1</c:v>
                </c:pt>
              </c:numCache>
              <c:extLst/>
            </c:numRef>
          </c:val>
          <c:extLst>
            <c:ext xmlns:c16="http://schemas.microsoft.com/office/drawing/2014/chart" uri="{C3380CC4-5D6E-409C-BE32-E72D297353CC}">
              <c16:uniqueId val="{00000000-4F08-4D98-83DE-1CA682CCCBA0}"/>
            </c:ext>
          </c:extLst>
        </c:ser>
        <c:dLbls>
          <c:showLegendKey val="0"/>
          <c:showVal val="0"/>
          <c:showCatName val="0"/>
          <c:showSerName val="0"/>
          <c:showPercent val="0"/>
          <c:showBubbleSize val="0"/>
        </c:dLbls>
        <c:gapWidth val="150"/>
        <c:axId val="304009135"/>
        <c:axId val="304009615"/>
      </c:barChart>
      <c:lineChart>
        <c:grouping val="standard"/>
        <c:varyColors val="0"/>
        <c:ser>
          <c:idx val="1"/>
          <c:order val="1"/>
          <c:tx>
            <c:strRef>
              <c:f>'2026'!$A$95</c:f>
              <c:strCache>
                <c:ptCount val="1"/>
                <c:pt idx="0">
                  <c:v>META</c:v>
                </c:pt>
              </c:strCache>
            </c:strRef>
          </c:tx>
          <c:spPr>
            <a:ln w="28575" cap="rnd">
              <a:solidFill>
                <a:srgbClr val="FF0000"/>
              </a:solidFill>
              <a:prstDash val="sysDot"/>
              <a:round/>
            </a:ln>
            <a:effectLst/>
          </c:spPr>
          <c:marker>
            <c:symbol val="none"/>
          </c:marker>
          <c:dLbls>
            <c:delete val="1"/>
          </c:dLbls>
          <c:cat>
            <c:strRef>
              <c:f>'2026'!$C$86:$I$86</c:f>
              <c:strCache>
                <c:ptCount val="7"/>
                <c:pt idx="0">
                  <c:v>ENE</c:v>
                </c:pt>
                <c:pt idx="1">
                  <c:v>FEB</c:v>
                </c:pt>
                <c:pt idx="2">
                  <c:v>MAR</c:v>
                </c:pt>
                <c:pt idx="3">
                  <c:v>ABR</c:v>
                </c:pt>
                <c:pt idx="4">
                  <c:v>MAY</c:v>
                </c:pt>
                <c:pt idx="5">
                  <c:v>JUN</c:v>
                </c:pt>
                <c:pt idx="6">
                  <c:v>JUL</c:v>
                </c:pt>
              </c:strCache>
              <c:extLst/>
            </c:strRef>
          </c:cat>
          <c:val>
            <c:numRef>
              <c:f>'2026'!$C$95:$I$95</c:f>
              <c:numCache>
                <c:formatCode>0%</c:formatCode>
                <c:ptCount val="7"/>
                <c:pt idx="0">
                  <c:v>0.9</c:v>
                </c:pt>
                <c:pt idx="1">
                  <c:v>0.9</c:v>
                </c:pt>
                <c:pt idx="2">
                  <c:v>0.9</c:v>
                </c:pt>
                <c:pt idx="3">
                  <c:v>0.9</c:v>
                </c:pt>
                <c:pt idx="4">
                  <c:v>0.9</c:v>
                </c:pt>
                <c:pt idx="5">
                  <c:v>0.9</c:v>
                </c:pt>
                <c:pt idx="6">
                  <c:v>0.9</c:v>
                </c:pt>
              </c:numCache>
              <c:extLst/>
            </c:numRef>
          </c:val>
          <c:smooth val="0"/>
          <c:extLst>
            <c:ext xmlns:c16="http://schemas.microsoft.com/office/drawing/2014/chart" uri="{C3380CC4-5D6E-409C-BE32-E72D297353CC}">
              <c16:uniqueId val="{00000001-4F08-4D98-83DE-1CA682CCCBA0}"/>
            </c:ext>
          </c:extLst>
        </c:ser>
        <c:dLbls>
          <c:dLblPos val="t"/>
          <c:showLegendKey val="0"/>
          <c:showVal val="1"/>
          <c:showCatName val="0"/>
          <c:showSerName val="0"/>
          <c:showPercent val="0"/>
          <c:showBubbleSize val="0"/>
        </c:dLbls>
        <c:marker val="1"/>
        <c:smooth val="0"/>
        <c:axId val="304009135"/>
        <c:axId val="304009615"/>
      </c:lineChart>
      <c:catAx>
        <c:axId val="3040091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75000"/>
                  </a:schemeClr>
                </a:solidFill>
                <a:latin typeface="+mn-lt"/>
                <a:ea typeface="+mn-ea"/>
                <a:cs typeface="+mn-cs"/>
              </a:defRPr>
            </a:pPr>
            <a:endParaRPr lang="es-CO"/>
          </a:p>
        </c:txPr>
        <c:crossAx val="304009615"/>
        <c:crosses val="autoZero"/>
        <c:auto val="1"/>
        <c:lblAlgn val="ctr"/>
        <c:lblOffset val="100"/>
        <c:noMultiLvlLbl val="0"/>
      </c:catAx>
      <c:valAx>
        <c:axId val="304009615"/>
        <c:scaling>
          <c:orientation val="minMax"/>
          <c:min val="0.60000000000000009"/>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304009135"/>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15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7030A0"/>
                </a:solidFill>
                <a:latin typeface="+mn-lt"/>
                <a:ea typeface="+mn-ea"/>
                <a:cs typeface="+mn-cs"/>
              </a:defRPr>
            </a:pPr>
            <a:r>
              <a:rPr lang="es-CO"/>
              <a:t>FCR</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7030A0"/>
              </a:solidFill>
              <a:latin typeface="+mn-lt"/>
              <a:ea typeface="+mn-ea"/>
              <a:cs typeface="+mn-cs"/>
            </a:defRPr>
          </a:pPr>
          <a:endParaRPr lang="es-CO"/>
        </a:p>
      </c:txPr>
    </c:title>
    <c:autoTitleDeleted val="0"/>
    <c:plotArea>
      <c:layout/>
      <c:barChart>
        <c:barDir val="col"/>
        <c:grouping val="clustered"/>
        <c:varyColors val="0"/>
        <c:ser>
          <c:idx val="0"/>
          <c:order val="0"/>
          <c:tx>
            <c:strRef>
              <c:f>'2026'!$A$102</c:f>
              <c:strCache>
                <c:ptCount val="1"/>
                <c:pt idx="0">
                  <c:v>2026</c:v>
                </c:pt>
              </c:strCache>
            </c:strRef>
          </c:tx>
          <c:spPr>
            <a:solidFill>
              <a:srgbClr val="8158A1"/>
            </a:solidFill>
            <a:ln>
              <a:solidFill>
                <a:srgbClr val="8158A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'2026'!$C$98:$I$98</c:f>
              <c:strCache>
                <c:ptCount val="7"/>
                <c:pt idx="0">
                  <c:v>ENE</c:v>
                </c:pt>
                <c:pt idx="1">
                  <c:v>FEB</c:v>
                </c:pt>
                <c:pt idx="2">
                  <c:v>MAR</c:v>
                </c:pt>
                <c:pt idx="3">
                  <c:v>ABR</c:v>
                </c:pt>
                <c:pt idx="4">
                  <c:v>MAY</c:v>
                </c:pt>
                <c:pt idx="5">
                  <c:v>JUN</c:v>
                </c:pt>
                <c:pt idx="6">
                  <c:v>JUL</c:v>
                </c:pt>
              </c:strCache>
              <c:extLst/>
            </c:strRef>
          </c:cat>
          <c:val>
            <c:numRef>
              <c:f>'2026'!$C$155:$I$155</c:f>
              <c:numCache>
                <c:formatCode>0%</c:formatCode>
                <c:ptCount val="7"/>
                <c:pt idx="0">
                  <c:v>0.9375</c:v>
                </c:pt>
                <c:pt idx="1">
                  <c:v>0.8666666666666667</c:v>
                </c:pt>
                <c:pt idx="2">
                  <c:v>0.82352941176470584</c:v>
                </c:pt>
                <c:pt idx="3">
                  <c:v>0.89473684210526316</c:v>
                </c:pt>
                <c:pt idx="4">
                  <c:v>1</c:v>
                </c:pt>
                <c:pt idx="5">
                  <c:v>1</c:v>
                </c:pt>
                <c:pt idx="6">
                  <c:v>1</c:v>
                </c:pt>
              </c:numCache>
              <c:extLst/>
            </c:numRef>
          </c:val>
          <c:extLst>
            <c:ext xmlns:c16="http://schemas.microsoft.com/office/drawing/2014/chart" uri="{C3380CC4-5D6E-409C-BE32-E72D297353CC}">
              <c16:uniqueId val="{00000000-0AE2-43A4-B5DC-F2AC9DA756A6}"/>
            </c:ext>
          </c:extLst>
        </c:ser>
        <c:dLbls>
          <c:showLegendKey val="0"/>
          <c:showVal val="0"/>
          <c:showCatName val="0"/>
          <c:showSerName val="0"/>
          <c:showPercent val="0"/>
          <c:showBubbleSize val="0"/>
        </c:dLbls>
        <c:gapWidth val="150"/>
        <c:axId val="1248717855"/>
        <c:axId val="1248715455"/>
      </c:barChart>
      <c:lineChart>
        <c:grouping val="standard"/>
        <c:varyColors val="0"/>
        <c:ser>
          <c:idx val="1"/>
          <c:order val="1"/>
          <c:tx>
            <c:strRef>
              <c:f>'2026'!$A$104</c:f>
              <c:strCache>
                <c:ptCount val="1"/>
                <c:pt idx="0">
                  <c:v>META</c:v>
                </c:pt>
              </c:strCache>
            </c:strRef>
          </c:tx>
          <c:spPr>
            <a:ln w="28575" cap="rnd">
              <a:solidFill>
                <a:srgbClr val="FF0000"/>
              </a:solidFill>
              <a:prstDash val="sysDot"/>
              <a:round/>
            </a:ln>
            <a:effectLst/>
          </c:spPr>
          <c:marker>
            <c:symbol val="none"/>
          </c:marker>
          <c:cat>
            <c:strRef>
              <c:f>'2026'!$C$98:$I$98</c:f>
              <c:strCache>
                <c:ptCount val="7"/>
                <c:pt idx="0">
                  <c:v>ENE</c:v>
                </c:pt>
                <c:pt idx="1">
                  <c:v>FEB</c:v>
                </c:pt>
                <c:pt idx="2">
                  <c:v>MAR</c:v>
                </c:pt>
                <c:pt idx="3">
                  <c:v>ABR</c:v>
                </c:pt>
                <c:pt idx="4">
                  <c:v>MAY</c:v>
                </c:pt>
                <c:pt idx="5">
                  <c:v>JUN</c:v>
                </c:pt>
                <c:pt idx="6">
                  <c:v>JUL</c:v>
                </c:pt>
              </c:strCache>
              <c:extLst/>
            </c:strRef>
          </c:cat>
          <c:val>
            <c:numRef>
              <c:f>'2026'!$C$104:$I$104</c:f>
              <c:numCache>
                <c:formatCode>0%</c:formatCode>
                <c:ptCount val="7"/>
                <c:pt idx="0">
                  <c:v>0.9</c:v>
                </c:pt>
                <c:pt idx="1">
                  <c:v>0.9</c:v>
                </c:pt>
                <c:pt idx="2">
                  <c:v>0.9</c:v>
                </c:pt>
                <c:pt idx="3">
                  <c:v>0.9</c:v>
                </c:pt>
                <c:pt idx="4">
                  <c:v>0.9</c:v>
                </c:pt>
                <c:pt idx="5">
                  <c:v>0.9</c:v>
                </c:pt>
                <c:pt idx="6">
                  <c:v>0.9</c:v>
                </c:pt>
              </c:numCache>
              <c:extLst/>
            </c:numRef>
          </c:val>
          <c:smooth val="0"/>
          <c:extLst>
            <c:ext xmlns:c16="http://schemas.microsoft.com/office/drawing/2014/chart" uri="{C3380CC4-5D6E-409C-BE32-E72D297353CC}">
              <c16:uniqueId val="{00000001-0AE2-43A4-B5DC-F2AC9DA756A6}"/>
            </c:ext>
          </c:extLst>
        </c:ser>
        <c:dLbls>
          <c:showLegendKey val="0"/>
          <c:showVal val="0"/>
          <c:showCatName val="0"/>
          <c:showSerName val="0"/>
          <c:showPercent val="0"/>
          <c:showBubbleSize val="0"/>
        </c:dLbls>
        <c:marker val="1"/>
        <c:smooth val="0"/>
        <c:axId val="1248717855"/>
        <c:axId val="1248715455"/>
      </c:lineChart>
      <c:catAx>
        <c:axId val="12487178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75000"/>
                  </a:schemeClr>
                </a:solidFill>
                <a:latin typeface="+mn-lt"/>
                <a:ea typeface="+mn-ea"/>
                <a:cs typeface="+mn-cs"/>
              </a:defRPr>
            </a:pPr>
            <a:endParaRPr lang="es-CO"/>
          </a:p>
        </c:txPr>
        <c:crossAx val="1248715455"/>
        <c:crosses val="autoZero"/>
        <c:auto val="1"/>
        <c:lblAlgn val="ctr"/>
        <c:lblOffset val="100"/>
        <c:noMultiLvlLbl val="0"/>
      </c:catAx>
      <c:valAx>
        <c:axId val="1248715455"/>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248717855"/>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15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'Por Cliente'!$A$39</c:f>
              <c:strCache>
                <c:ptCount val="1"/>
                <c:pt idx="0">
                  <c:v>Petición</c:v>
                </c:pt>
              </c:strCache>
            </c:strRef>
          </c:tx>
          <c:spPr>
            <a:solidFill>
              <a:srgbClr val="FF6699"/>
            </a:solidFill>
            <a:ln>
              <a:noFill/>
            </a:ln>
            <a:effectLst/>
          </c:spPr>
          <c:invertIfNegative val="0"/>
          <c:cat>
            <c:strRef>
              <c:f>'Por Cliente'!$B$3:$H$3</c:f>
              <c:strCache>
                <c:ptCount val="7"/>
                <c:pt idx="0">
                  <c:v>ENE</c:v>
                </c:pt>
                <c:pt idx="1">
                  <c:v>FEB</c:v>
                </c:pt>
                <c:pt idx="2">
                  <c:v>MAR</c:v>
                </c:pt>
                <c:pt idx="3">
                  <c:v>ABR</c:v>
                </c:pt>
                <c:pt idx="4">
                  <c:v>MAY</c:v>
                </c:pt>
                <c:pt idx="5">
                  <c:v>JUN</c:v>
                </c:pt>
                <c:pt idx="6">
                  <c:v>JUL</c:v>
                </c:pt>
              </c:strCache>
            </c:strRef>
          </c:cat>
          <c:val>
            <c:numRef>
              <c:f>'Por Cliente'!$B$39:$H$39</c:f>
              <c:numCache>
                <c:formatCode>General</c:formatCode>
                <c:ptCount val="7"/>
                <c:pt idx="0">
                  <c:v>0</c:v>
                </c:pt>
                <c:pt idx="1">
                  <c:v>0</c:v>
                </c:pt>
                <c:pt idx="2">
                  <c:v>3</c:v>
                </c:pt>
                <c:pt idx="3">
                  <c:v>1</c:v>
                </c:pt>
                <c:pt idx="4">
                  <c:v>0</c:v>
                </c:pt>
                <c:pt idx="5">
                  <c:v>1</c:v>
                </c:pt>
                <c:pt idx="6">
                  <c:v>1</c:v>
                </c:pt>
              </c:numCache>
            </c:numRef>
          </c:val>
          <c:extLst>
            <c:ext xmlns:c16="http://schemas.microsoft.com/office/drawing/2014/chart" uri="{C3380CC4-5D6E-409C-BE32-E72D297353CC}">
              <c16:uniqueId val="{00000000-C1C0-474C-BE0B-799743418F81}"/>
            </c:ext>
          </c:extLst>
        </c:ser>
        <c:ser>
          <c:idx val="1"/>
          <c:order val="1"/>
          <c:tx>
            <c:strRef>
              <c:f>'Por Cliente'!$A$40</c:f>
              <c:strCache>
                <c:ptCount val="1"/>
                <c:pt idx="0">
                  <c:v>Queja</c:v>
                </c:pt>
              </c:strCache>
            </c:strRef>
          </c:tx>
          <c:spPr>
            <a:solidFill>
              <a:srgbClr val="47A9BF"/>
            </a:solidFill>
            <a:ln>
              <a:noFill/>
            </a:ln>
            <a:effectLst/>
          </c:spPr>
          <c:invertIfNegative val="0"/>
          <c:cat>
            <c:strRef>
              <c:f>'Por Cliente'!$B$3:$H$3</c:f>
              <c:strCache>
                <c:ptCount val="7"/>
                <c:pt idx="0">
                  <c:v>ENE</c:v>
                </c:pt>
                <c:pt idx="1">
                  <c:v>FEB</c:v>
                </c:pt>
                <c:pt idx="2">
                  <c:v>MAR</c:v>
                </c:pt>
                <c:pt idx="3">
                  <c:v>ABR</c:v>
                </c:pt>
                <c:pt idx="4">
                  <c:v>MAY</c:v>
                </c:pt>
                <c:pt idx="5">
                  <c:v>JUN</c:v>
                </c:pt>
                <c:pt idx="6">
                  <c:v>JUL</c:v>
                </c:pt>
              </c:strCache>
            </c:strRef>
          </c:cat>
          <c:val>
            <c:numRef>
              <c:f>'Por Cliente'!$B$40:$H$40</c:f>
              <c:numCache>
                <c:formatCode>General</c:formatCode>
                <c:ptCount val="7"/>
                <c:pt idx="0">
                  <c:v>0</c:v>
                </c:pt>
                <c:pt idx="1">
                  <c:v>1</c:v>
                </c:pt>
                <c:pt idx="2">
                  <c:v>0</c:v>
                </c:pt>
                <c:pt idx="3">
                  <c:v>0</c:v>
                </c:pt>
                <c:pt idx="4">
                  <c:v>0</c:v>
                </c:pt>
                <c:pt idx="5">
                  <c:v>0</c:v>
                </c:pt>
                <c:pt idx="6">
                  <c:v>0</c:v>
                </c:pt>
              </c:numCache>
            </c:numRef>
          </c:val>
          <c:extLst>
            <c:ext xmlns:c16="http://schemas.microsoft.com/office/drawing/2014/chart" uri="{C3380CC4-5D6E-409C-BE32-E72D297353CC}">
              <c16:uniqueId val="{00000001-C1C0-474C-BE0B-799743418F81}"/>
            </c:ext>
          </c:extLst>
        </c:ser>
        <c:ser>
          <c:idx val="2"/>
          <c:order val="2"/>
          <c:tx>
            <c:strRef>
              <c:f>'Por Cliente'!$A$41</c:f>
              <c:strCache>
                <c:ptCount val="1"/>
                <c:pt idx="0">
                  <c:v>Reclamo</c:v>
                </c:pt>
              </c:strCache>
            </c:strRef>
          </c:tx>
          <c:spPr>
            <a:solidFill>
              <a:srgbClr val="002060"/>
            </a:solidFill>
            <a:ln>
              <a:noFill/>
            </a:ln>
            <a:effectLst/>
          </c:spPr>
          <c:invertIfNegative val="0"/>
          <c:cat>
            <c:strRef>
              <c:f>'Por Cliente'!$B$3:$H$3</c:f>
              <c:strCache>
                <c:ptCount val="7"/>
                <c:pt idx="0">
                  <c:v>ENE</c:v>
                </c:pt>
                <c:pt idx="1">
                  <c:v>FEB</c:v>
                </c:pt>
                <c:pt idx="2">
                  <c:v>MAR</c:v>
                </c:pt>
                <c:pt idx="3">
                  <c:v>ABR</c:v>
                </c:pt>
                <c:pt idx="4">
                  <c:v>MAY</c:v>
                </c:pt>
                <c:pt idx="5">
                  <c:v>JUN</c:v>
                </c:pt>
                <c:pt idx="6">
                  <c:v>JUL</c:v>
                </c:pt>
              </c:strCache>
            </c:strRef>
          </c:cat>
          <c:val>
            <c:numRef>
              <c:f>'Por Cliente'!$B$41:$H$41</c:f>
              <c:numCache>
                <c:formatCode>General</c:formatCode>
                <c:ptCount val="7"/>
                <c:pt idx="0">
                  <c:v>1</c:v>
                </c:pt>
                <c:pt idx="1">
                  <c:v>0</c:v>
                </c:pt>
                <c:pt idx="2">
                  <c:v>2</c:v>
                </c:pt>
                <c:pt idx="3">
                  <c:v>1</c:v>
                </c:pt>
                <c:pt idx="4">
                  <c:v>0</c:v>
                </c:pt>
                <c:pt idx="5">
                  <c:v>0</c:v>
                </c:pt>
                <c:pt idx="6">
                  <c:v>0</c:v>
                </c:pt>
              </c:numCache>
            </c:numRef>
          </c:val>
          <c:extLst>
            <c:ext xmlns:c16="http://schemas.microsoft.com/office/drawing/2014/chart" uri="{C3380CC4-5D6E-409C-BE32-E72D297353CC}">
              <c16:uniqueId val="{00000002-C1C0-474C-BE0B-799743418F81}"/>
            </c:ext>
          </c:extLst>
        </c:ser>
        <c:ser>
          <c:idx val="3"/>
          <c:order val="3"/>
          <c:tx>
            <c:strRef>
              <c:f>'Por Cliente'!$A$42</c:f>
              <c:strCache>
                <c:ptCount val="1"/>
                <c:pt idx="0">
                  <c:v>Sugerencia</c:v>
                </c:pt>
              </c:strCache>
            </c:strRef>
          </c:tx>
          <c:spPr>
            <a:solidFill>
              <a:srgbClr val="FFC000"/>
            </a:solidFill>
            <a:ln>
              <a:noFill/>
            </a:ln>
            <a:effectLst/>
          </c:spPr>
          <c:invertIfNegative val="0"/>
          <c:cat>
            <c:strRef>
              <c:f>'Por Cliente'!$B$3:$H$3</c:f>
              <c:strCache>
                <c:ptCount val="7"/>
                <c:pt idx="0">
                  <c:v>ENE</c:v>
                </c:pt>
                <c:pt idx="1">
                  <c:v>FEB</c:v>
                </c:pt>
                <c:pt idx="2">
                  <c:v>MAR</c:v>
                </c:pt>
                <c:pt idx="3">
                  <c:v>ABR</c:v>
                </c:pt>
                <c:pt idx="4">
                  <c:v>MAY</c:v>
                </c:pt>
                <c:pt idx="5">
                  <c:v>JUN</c:v>
                </c:pt>
                <c:pt idx="6">
                  <c:v>JUL</c:v>
                </c:pt>
              </c:strCache>
            </c:strRef>
          </c:cat>
          <c:val>
            <c:numRef>
              <c:f>'Por Cliente'!$B$42:$H$42</c:f>
              <c:numCache>
                <c:formatCode>General</c:formatCode>
                <c:ptCount val="7"/>
                <c:pt idx="0">
                  <c:v>0</c:v>
                </c:pt>
                <c:pt idx="1">
                  <c:v>0</c:v>
                </c:pt>
                <c:pt idx="2">
                  <c:v>0</c:v>
                </c:pt>
                <c:pt idx="3">
                  <c:v>1</c:v>
                </c:pt>
                <c:pt idx="4">
                  <c:v>0</c:v>
                </c:pt>
                <c:pt idx="5">
                  <c:v>0</c:v>
                </c:pt>
                <c:pt idx="6">
                  <c:v>0</c:v>
                </c:pt>
              </c:numCache>
            </c:numRef>
          </c:val>
          <c:extLst>
            <c:ext xmlns:c16="http://schemas.microsoft.com/office/drawing/2014/chart" uri="{C3380CC4-5D6E-409C-BE32-E72D297353CC}">
              <c16:uniqueId val="{00000003-C1C0-474C-BE0B-799743418F81}"/>
            </c:ext>
          </c:extLst>
        </c:ser>
        <c:ser>
          <c:idx val="4"/>
          <c:order val="4"/>
          <c:tx>
            <c:strRef>
              <c:f>'Por Cliente'!$A$43</c:f>
              <c:strCache>
                <c:ptCount val="1"/>
                <c:pt idx="0">
                  <c:v>Felicitación</c:v>
                </c:pt>
              </c:strCache>
            </c:strRef>
          </c:tx>
          <c:spPr>
            <a:solidFill>
              <a:srgbClr val="8158A1"/>
            </a:solidFill>
            <a:ln>
              <a:noFill/>
            </a:ln>
            <a:effectLst/>
          </c:spPr>
          <c:invertIfNegative val="0"/>
          <c:cat>
            <c:strRef>
              <c:f>'Por Cliente'!$B$3:$H$3</c:f>
              <c:strCache>
                <c:ptCount val="7"/>
                <c:pt idx="0">
                  <c:v>ENE</c:v>
                </c:pt>
                <c:pt idx="1">
                  <c:v>FEB</c:v>
                </c:pt>
                <c:pt idx="2">
                  <c:v>MAR</c:v>
                </c:pt>
                <c:pt idx="3">
                  <c:v>ABR</c:v>
                </c:pt>
                <c:pt idx="4">
                  <c:v>MAY</c:v>
                </c:pt>
                <c:pt idx="5">
                  <c:v>JUN</c:v>
                </c:pt>
                <c:pt idx="6">
                  <c:v>JUL</c:v>
                </c:pt>
              </c:strCache>
            </c:strRef>
          </c:cat>
          <c:val>
            <c:numRef>
              <c:f>'Por Cliente'!$B$43:$H$43</c:f>
              <c:numCache>
                <c:formatCode>General</c:formatCode>
                <c:ptCount val="7"/>
                <c:pt idx="0">
                  <c:v>0</c:v>
                </c:pt>
                <c:pt idx="1">
                  <c:v>2</c:v>
                </c:pt>
                <c:pt idx="2">
                  <c:v>0</c:v>
                </c:pt>
                <c:pt idx="3">
                  <c:v>0</c:v>
                </c:pt>
                <c:pt idx="4">
                  <c:v>0</c:v>
                </c:pt>
                <c:pt idx="5">
                  <c:v>1</c:v>
                </c:pt>
                <c:pt idx="6">
                  <c:v>2</c:v>
                </c:pt>
              </c:numCache>
            </c:numRef>
          </c:val>
          <c:extLst>
            <c:ext xmlns:c16="http://schemas.microsoft.com/office/drawing/2014/chart" uri="{C3380CC4-5D6E-409C-BE32-E72D297353CC}">
              <c16:uniqueId val="{00000004-C1C0-474C-BE0B-799743418F81}"/>
            </c:ext>
          </c:extLst>
        </c:ser>
        <c:dLbls>
          <c:showLegendKey val="0"/>
          <c:showVal val="0"/>
          <c:showCatName val="0"/>
          <c:showSerName val="0"/>
          <c:showPercent val="0"/>
          <c:showBubbleSize val="0"/>
        </c:dLbls>
        <c:gapWidth val="150"/>
        <c:overlap val="100"/>
        <c:axId val="1421382431"/>
        <c:axId val="1421384351"/>
      </c:barChart>
      <c:catAx>
        <c:axId val="142138243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421384351"/>
        <c:crosses val="autoZero"/>
        <c:auto val="1"/>
        <c:lblAlgn val="ctr"/>
        <c:lblOffset val="100"/>
        <c:noMultiLvlLbl val="0"/>
      </c:catAx>
      <c:valAx>
        <c:axId val="142138435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421382431"/>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050" b="0" i="0" u="none" strike="noStrike" kern="1200" baseline="0">
                <a:solidFill>
                  <a:schemeClr val="tx1">
                    <a:lumMod val="50000"/>
                  </a:schemeClr>
                </a:solidFill>
                <a:latin typeface="+mn-lt"/>
                <a:ea typeface="+mn-ea"/>
                <a:cs typeface="+mn-cs"/>
              </a:defRPr>
            </a:pPr>
            <a:endParaRPr lang="es-CO"/>
          </a:p>
        </c:txPr>
      </c:dTable>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50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15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s-CO" sz="1400" b="1" i="0" u="sng" strike="noStrike" kern="1200" spc="0" baseline="0">
                <a:solidFill>
                  <a:prstClr val="black">
                    <a:lumMod val="65000"/>
                    <a:lumOff val="35000"/>
                  </a:prstClr>
                </a:solidFill>
              </a:rPr>
              <a:t>ESTADOS DE CITA EPS FAMILIAR</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barChart>
        <c:barDir val="col"/>
        <c:grouping val="clustered"/>
        <c:varyColors val="0"/>
        <c:ser>
          <c:idx val="0"/>
          <c:order val="0"/>
          <c:spPr>
            <a:solidFill>
              <a:srgbClr val="FFFFFF">
                <a:lumMod val="50000"/>
              </a:srgbClr>
            </a:solidFill>
            <a:ln>
              <a:noFill/>
            </a:ln>
            <a:effectLst/>
          </c:spPr>
          <c:invertIfNegative val="0"/>
          <c:dLbls>
            <c:dLbl>
              <c:idx val="0"/>
              <c:layout>
                <c:manualLayout>
                  <c:x val="-3.6601314144578963E-2"/>
                  <c:y val="-3.388184573355530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CB0-4178-B943-DA6C206E7D94}"/>
                </c:ext>
              </c:extLst>
            </c:dLbl>
            <c:spPr>
              <a:noFill/>
              <a:ln>
                <a:noFill/>
              </a:ln>
              <a:effectLst/>
            </c:spPr>
            <c:txPr>
              <a:bodyPr rot="0" spcFirstLastPara="1" vertOverflow="ellipsis" vert="horz" wrap="square" lIns="38100" tIns="19050" rIns="38100" bIns="19050" anchor="ctr" anchorCtr="0">
                <a:spAutoFit/>
              </a:bodyPr>
              <a:lstStyle/>
              <a:p>
                <a:pPr algn="ctr">
                  <a:defRPr lang="en-US" sz="1100" b="1" i="0" u="none" strike="noStrike" kern="1200" baseline="0">
                    <a:solidFill>
                      <a:schemeClr val="bg1">
                        <a:lumMod val="50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'EPS FAMILIAR'!$D$6:$D$8</c:f>
              <c:strCache>
                <c:ptCount val="3"/>
                <c:pt idx="0">
                  <c:v>ATENDIDA</c:v>
                </c:pt>
                <c:pt idx="1">
                  <c:v>CANCELADA</c:v>
                </c:pt>
                <c:pt idx="2">
                  <c:v>INCUMPLIDA</c:v>
                </c:pt>
              </c:strCache>
            </c:strRef>
          </c:cat>
          <c:val>
            <c:numRef>
              <c:f>'EPS FAMILIAR'!$E$6:$E$8</c:f>
              <c:numCache>
                <c:formatCode>#,##0</c:formatCode>
                <c:ptCount val="3"/>
                <c:pt idx="0">
                  <c:v>147</c:v>
                </c:pt>
                <c:pt idx="1">
                  <c:v>38</c:v>
                </c:pt>
                <c:pt idx="2">
                  <c:v>15</c:v>
                </c:pt>
              </c:numCache>
            </c:numRef>
          </c:val>
          <c:extLst>
            <c:ext xmlns:c16="http://schemas.microsoft.com/office/drawing/2014/chart" uri="{C3380CC4-5D6E-409C-BE32-E72D297353CC}">
              <c16:uniqueId val="{00000001-BCB0-4178-B943-DA6C206E7D94}"/>
            </c:ext>
          </c:extLst>
        </c:ser>
        <c:dLbls>
          <c:showLegendKey val="0"/>
          <c:showVal val="1"/>
          <c:showCatName val="0"/>
          <c:showSerName val="0"/>
          <c:showPercent val="0"/>
          <c:showBubbleSize val="0"/>
        </c:dLbls>
        <c:gapWidth val="219"/>
        <c:overlap val="-27"/>
        <c:axId val="1695400560"/>
        <c:axId val="1695401040"/>
      </c:barChart>
      <c:lineChart>
        <c:grouping val="standard"/>
        <c:varyColors val="0"/>
        <c:ser>
          <c:idx val="1"/>
          <c:order val="1"/>
          <c:spPr>
            <a:ln w="28575" cap="rnd">
              <a:solidFill>
                <a:srgbClr val="00A19C"/>
              </a:solidFill>
              <a:round/>
            </a:ln>
            <a:effectLst/>
          </c:spPr>
          <c:marker>
            <c:symbol val="none"/>
          </c:marker>
          <c:dLbls>
            <c:spPr>
              <a:noFill/>
              <a:ln>
                <a:noFill/>
              </a:ln>
              <a:effectLst/>
            </c:spPr>
            <c:txPr>
              <a:bodyPr rot="0" spcFirstLastPara="1" vertOverflow="ellipsis" vert="horz" wrap="square" lIns="38100" tIns="19050" rIns="38100" bIns="19050" anchor="ctr" anchorCtr="0">
                <a:spAutoFit/>
              </a:bodyPr>
              <a:lstStyle/>
              <a:p>
                <a:pPr algn="ctr">
                  <a:defRPr lang="en-US" sz="1100" b="1" i="0" u="none" strike="noStrike" kern="1200" baseline="0">
                    <a:solidFill>
                      <a:srgbClr val="00A19C"/>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'EPS FAMILIAR'!$D$6:$D$8</c:f>
              <c:strCache>
                <c:ptCount val="3"/>
                <c:pt idx="0">
                  <c:v>ATENDIDA</c:v>
                </c:pt>
                <c:pt idx="1">
                  <c:v>CANCELADA</c:v>
                </c:pt>
                <c:pt idx="2">
                  <c:v>INCUMPLIDA</c:v>
                </c:pt>
              </c:strCache>
            </c:strRef>
          </c:cat>
          <c:val>
            <c:numRef>
              <c:f>'EPS FAMILIAR'!$F$6:$F$8</c:f>
              <c:numCache>
                <c:formatCode>0%</c:formatCode>
                <c:ptCount val="3"/>
                <c:pt idx="0">
                  <c:v>0.73499999999999999</c:v>
                </c:pt>
                <c:pt idx="1">
                  <c:v>0.19</c:v>
                </c:pt>
                <c:pt idx="2">
                  <c:v>7.4999999999999997E-2</c:v>
                </c:pt>
              </c:numCache>
            </c:numRef>
          </c:val>
          <c:smooth val="0"/>
          <c:extLst>
            <c:ext xmlns:c16="http://schemas.microsoft.com/office/drawing/2014/chart" uri="{C3380CC4-5D6E-409C-BE32-E72D297353CC}">
              <c16:uniqueId val="{00000002-BCB0-4178-B943-DA6C206E7D94}"/>
            </c:ext>
          </c:extLst>
        </c:ser>
        <c:dLbls>
          <c:showLegendKey val="0"/>
          <c:showVal val="1"/>
          <c:showCatName val="0"/>
          <c:showSerName val="0"/>
          <c:showPercent val="0"/>
          <c:showBubbleSize val="0"/>
        </c:dLbls>
        <c:marker val="1"/>
        <c:smooth val="0"/>
        <c:axId val="1695406800"/>
        <c:axId val="1695406320"/>
      </c:lineChart>
      <c:catAx>
        <c:axId val="169540056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100" b="1" i="0" u="none" strike="noStrike" kern="1200" baseline="0">
                <a:solidFill>
                  <a:schemeClr val="tx1">
                    <a:lumMod val="65000"/>
                    <a:lumOff val="35000"/>
                  </a:schemeClr>
                </a:solidFill>
                <a:latin typeface="+mn-lt"/>
                <a:ea typeface="+mn-ea"/>
                <a:cs typeface="+mn-cs"/>
              </a:defRPr>
            </a:pPr>
            <a:endParaRPr lang="es-CO"/>
          </a:p>
        </c:txPr>
        <c:crossAx val="1695401040"/>
        <c:crosses val="autoZero"/>
        <c:auto val="1"/>
        <c:lblAlgn val="ctr"/>
        <c:lblOffset val="100"/>
        <c:noMultiLvlLbl val="0"/>
      </c:catAx>
      <c:valAx>
        <c:axId val="1695401040"/>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900" b="0" i="0" u="none" strike="noStrike" kern="1200" baseline="0">
                <a:solidFill>
                  <a:schemeClr val="tx1">
                    <a:lumMod val="65000"/>
                    <a:lumOff val="35000"/>
                  </a:schemeClr>
                </a:solidFill>
                <a:latin typeface="+mn-lt"/>
                <a:ea typeface="+mn-ea"/>
                <a:cs typeface="+mn-cs"/>
              </a:defRPr>
            </a:pPr>
            <a:endParaRPr lang="es-CO"/>
          </a:p>
        </c:txPr>
        <c:crossAx val="1695400560"/>
        <c:crosses val="autoZero"/>
        <c:crossBetween val="between"/>
      </c:valAx>
      <c:valAx>
        <c:axId val="1695406320"/>
        <c:scaling>
          <c:orientation val="minMax"/>
        </c:scaling>
        <c:delete val="0"/>
        <c:axPos val="r"/>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695406800"/>
        <c:crosses val="max"/>
        <c:crossBetween val="between"/>
      </c:valAx>
      <c:catAx>
        <c:axId val="1695406800"/>
        <c:scaling>
          <c:orientation val="minMax"/>
        </c:scaling>
        <c:delete val="1"/>
        <c:axPos val="b"/>
        <c:numFmt formatCode="General" sourceLinked="1"/>
        <c:majorTickMark val="none"/>
        <c:minorTickMark val="none"/>
        <c:tickLblPos val="nextTo"/>
        <c:crossAx val="1695406320"/>
        <c:crosses val="autoZero"/>
        <c:auto val="1"/>
        <c:lblAlgn val="ctr"/>
        <c:lblOffset val="100"/>
        <c:noMultiLvlLbl val="0"/>
      </c:catAx>
      <c:spPr>
        <a:noFill/>
        <a:ln>
          <a:noFill/>
        </a:ln>
        <a:effectLst/>
      </c:spPr>
    </c:plotArea>
    <c:plotVisOnly val="1"/>
    <c:dispBlanksAs val="gap"/>
    <c:showDLblsOverMax val="0"/>
  </c:chart>
  <c:spPr>
    <a:noFill/>
    <a:ln>
      <a:noFill/>
    </a:ln>
    <a:effectLst/>
  </c:spPr>
  <c:txPr>
    <a:bodyPr/>
    <a:lstStyle/>
    <a:p>
      <a:pPr>
        <a:defRPr/>
      </a:pPr>
      <a:endParaRPr lang="es-CO"/>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3.xml><?xml version="1.0" encoding="utf-8"?>
<cs:colorStyle xmlns:cs="http://schemas.microsoft.com/office/drawing/2012/chartStyle" xmlns:a="http://schemas.openxmlformats.org/drawingml/2006/main" meth="withinLinear" id="14">
  <a:schemeClr val="accent1"/>
</cs:colorStyle>
</file>

<file path=ppt/charts/colors4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8.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9.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7E84BED-FE7E-4CB7-8904-F300BE11132D}" type="doc">
      <dgm:prSet loTypeId="urn:microsoft.com/office/officeart/2008/layout/IncreasingCircleProcess" loCatId="list" qsTypeId="urn:microsoft.com/office/officeart/2005/8/quickstyle/simple1#1" qsCatId="simple" csTypeId="urn:microsoft.com/office/officeart/2005/8/colors/accent1_2#1" csCatId="accent1" phldr="1"/>
      <dgm:spPr/>
      <dgm:t>
        <a:bodyPr/>
        <a:lstStyle/>
        <a:p>
          <a:endParaRPr lang="es-CO"/>
        </a:p>
      </dgm:t>
    </dgm:pt>
    <dgm:pt modelId="{59069E86-541F-40B4-B1CD-2577D46BB420}">
      <dgm:prSet phldrT="[Texto]" custT="1"/>
      <dgm:spPr/>
      <dgm:t>
        <a:bodyPr/>
        <a:lstStyle/>
        <a:p>
          <a:pPr algn="l"/>
          <a:r>
            <a:rPr lang="es-CO" sz="1800" b="1" noProof="0"/>
            <a:t>1,676 x 1,000 mil</a:t>
          </a:r>
        </a:p>
        <a:p>
          <a:pPr algn="l"/>
          <a:r>
            <a:rPr lang="es-CO" sz="1200" b="0" noProof="0"/>
            <a:t>(4,614 usuarios)</a:t>
          </a:r>
          <a:endParaRPr lang="es-CO" sz="1200" b="1" noProof="0"/>
        </a:p>
      </dgm:t>
    </dgm:pt>
    <dgm:pt modelId="{7BFE860A-D676-4EB3-81AA-EB7799D17AB0}" type="parTrans" cxnId="{76A9B2E1-D489-4A06-8A29-549D0A1F2FF5}">
      <dgm:prSet/>
      <dgm:spPr/>
      <dgm:t>
        <a:bodyPr/>
        <a:lstStyle/>
        <a:p>
          <a:endParaRPr lang="es-CO"/>
        </a:p>
      </dgm:t>
    </dgm:pt>
    <dgm:pt modelId="{FAD35D0A-09DC-4574-A0BE-BD3F0906908A}" type="sibTrans" cxnId="{76A9B2E1-D489-4A06-8A29-549D0A1F2FF5}">
      <dgm:prSet/>
      <dgm:spPr/>
      <dgm:t>
        <a:bodyPr/>
        <a:lstStyle/>
        <a:p>
          <a:endParaRPr lang="es-CO"/>
        </a:p>
      </dgm:t>
    </dgm:pt>
    <dgm:pt modelId="{D29FE41F-0541-4B95-99D7-F888F824BF4D}">
      <dgm:prSet phldrT="[Texto]"/>
      <dgm:spPr/>
      <dgm:t>
        <a:bodyPr/>
        <a:lstStyle/>
        <a:p>
          <a:r>
            <a:rPr lang="es-CO" noProof="0"/>
            <a:t>Tasa prevalencia Septiembre 2026</a:t>
          </a:r>
        </a:p>
      </dgm:t>
    </dgm:pt>
    <dgm:pt modelId="{8DA6B451-88B2-4F86-8753-9F5BF93A8CFA}" type="parTrans" cxnId="{D7E1FF0C-80CD-4F6E-9CED-FABB2A2B72F2}">
      <dgm:prSet/>
      <dgm:spPr/>
      <dgm:t>
        <a:bodyPr/>
        <a:lstStyle/>
        <a:p>
          <a:endParaRPr lang="es-CO"/>
        </a:p>
      </dgm:t>
    </dgm:pt>
    <dgm:pt modelId="{AF7C0489-E9BD-41F6-8113-09992DA42EED}" type="sibTrans" cxnId="{D7E1FF0C-80CD-4F6E-9CED-FABB2A2B72F2}">
      <dgm:prSet/>
      <dgm:spPr/>
      <dgm:t>
        <a:bodyPr/>
        <a:lstStyle/>
        <a:p>
          <a:endParaRPr lang="es-CO"/>
        </a:p>
      </dgm:t>
    </dgm:pt>
    <dgm:pt modelId="{76EC51B8-1B01-4B45-976F-2796AA150D0F}">
      <dgm:prSet phldrT="[Texto]" custT="1"/>
      <dgm:spPr/>
      <dgm:t>
        <a:bodyPr/>
        <a:lstStyle/>
        <a:p>
          <a:pPr algn="l"/>
          <a:r>
            <a:rPr lang="es-CO" sz="2000" b="1" noProof="0"/>
            <a:t>1,563 x 100 mil</a:t>
          </a:r>
        </a:p>
        <a:p>
          <a:pPr algn="l"/>
          <a:r>
            <a:rPr lang="es-CO" sz="1200" b="0" noProof="0"/>
            <a:t>(9,735 usuarios)</a:t>
          </a:r>
        </a:p>
      </dgm:t>
    </dgm:pt>
    <dgm:pt modelId="{F301DD4D-7D51-45BA-9E16-CC6BB5D31756}" type="parTrans" cxnId="{C6FA59ED-D14F-4FDA-AC9D-0940E746C487}">
      <dgm:prSet/>
      <dgm:spPr/>
      <dgm:t>
        <a:bodyPr/>
        <a:lstStyle/>
        <a:p>
          <a:endParaRPr lang="es-CO"/>
        </a:p>
      </dgm:t>
    </dgm:pt>
    <dgm:pt modelId="{E075F52A-48B4-4F39-8C94-151934CBD361}" type="sibTrans" cxnId="{C6FA59ED-D14F-4FDA-AC9D-0940E746C487}">
      <dgm:prSet/>
      <dgm:spPr/>
      <dgm:t>
        <a:bodyPr/>
        <a:lstStyle/>
        <a:p>
          <a:endParaRPr lang="es-CO"/>
        </a:p>
      </dgm:t>
    </dgm:pt>
    <dgm:pt modelId="{E2589F2C-3220-4826-8544-2515CC20C3D4}">
      <dgm:prSet phldrT="[Texto]" custT="1"/>
      <dgm:spPr/>
      <dgm:t>
        <a:bodyPr/>
        <a:lstStyle/>
        <a:p>
          <a:r>
            <a:rPr lang="es-CO" sz="1400" noProof="0"/>
            <a:t>Tasa prevalencia Septiembre 2025</a:t>
          </a:r>
          <a:endParaRPr lang="es-CO" sz="1100" kern="1200" noProof="0"/>
        </a:p>
      </dgm:t>
    </dgm:pt>
    <dgm:pt modelId="{B6C4591B-EDC2-4991-958F-C8BE25B0F6C7}" type="parTrans" cxnId="{3C39C090-77F7-46C0-8EF2-F6FF23D08377}">
      <dgm:prSet/>
      <dgm:spPr/>
      <dgm:t>
        <a:bodyPr/>
        <a:lstStyle/>
        <a:p>
          <a:endParaRPr lang="es-CO"/>
        </a:p>
      </dgm:t>
    </dgm:pt>
    <dgm:pt modelId="{7F7BFD75-FD05-455C-A80A-7854BFDD75C6}" type="sibTrans" cxnId="{3C39C090-77F7-46C0-8EF2-F6FF23D08377}">
      <dgm:prSet/>
      <dgm:spPr/>
      <dgm:t>
        <a:bodyPr/>
        <a:lstStyle/>
        <a:p>
          <a:endParaRPr lang="es-CO"/>
        </a:p>
      </dgm:t>
    </dgm:pt>
    <dgm:pt modelId="{AA032465-375D-433A-B3DD-E7B1976397E7}" type="pres">
      <dgm:prSet presAssocID="{F7E84BED-FE7E-4CB7-8904-F300BE11132D}" presName="Name0" presStyleCnt="0">
        <dgm:presLayoutVars>
          <dgm:chMax val="7"/>
          <dgm:chPref val="7"/>
          <dgm:dir/>
          <dgm:animOne val="branch"/>
          <dgm:animLvl val="lvl"/>
        </dgm:presLayoutVars>
      </dgm:prSet>
      <dgm:spPr/>
    </dgm:pt>
    <dgm:pt modelId="{A7150AC4-4887-4B85-8C8E-5C42082A6536}" type="pres">
      <dgm:prSet presAssocID="{E2589F2C-3220-4826-8544-2515CC20C3D4}" presName="composite" presStyleCnt="0"/>
      <dgm:spPr/>
    </dgm:pt>
    <dgm:pt modelId="{0C6E00A5-DAA4-4660-8095-1A04EDDA4CA6}" type="pres">
      <dgm:prSet presAssocID="{E2589F2C-3220-4826-8544-2515CC20C3D4}" presName="BackAccent" presStyleLbl="bgShp" presStyleIdx="0" presStyleCnt="2"/>
      <dgm:spPr/>
    </dgm:pt>
    <dgm:pt modelId="{6F49F989-5925-41B4-AEDF-E390532C120A}" type="pres">
      <dgm:prSet presAssocID="{E2589F2C-3220-4826-8544-2515CC20C3D4}" presName="Accent" presStyleLbl="alignNode1" presStyleIdx="0" presStyleCnt="2"/>
      <dgm:spPr/>
    </dgm:pt>
    <dgm:pt modelId="{FB964127-DDAA-4CAC-B863-CD74953DFD68}" type="pres">
      <dgm:prSet presAssocID="{E2589F2C-3220-4826-8544-2515CC20C3D4}" presName="Child" presStyleLbl="revTx" presStyleIdx="0" presStyleCnt="4" custScaleX="153709">
        <dgm:presLayoutVars>
          <dgm:chMax val="0"/>
          <dgm:chPref val="0"/>
          <dgm:bulletEnabled val="1"/>
        </dgm:presLayoutVars>
      </dgm:prSet>
      <dgm:spPr/>
    </dgm:pt>
    <dgm:pt modelId="{CD528EED-380F-41AC-9DC0-C30F692747DD}" type="pres">
      <dgm:prSet presAssocID="{E2589F2C-3220-4826-8544-2515CC20C3D4}" presName="Parent" presStyleLbl="revTx" presStyleIdx="1" presStyleCnt="4">
        <dgm:presLayoutVars>
          <dgm:chMax val="1"/>
          <dgm:chPref val="1"/>
          <dgm:bulletEnabled val="1"/>
        </dgm:presLayoutVars>
      </dgm:prSet>
      <dgm:spPr/>
    </dgm:pt>
    <dgm:pt modelId="{917850D5-78A0-4F30-8890-4A13A3EC023E}" type="pres">
      <dgm:prSet presAssocID="{7F7BFD75-FD05-455C-A80A-7854BFDD75C6}" presName="sibTrans" presStyleCnt="0"/>
      <dgm:spPr/>
    </dgm:pt>
    <dgm:pt modelId="{94EF0BFC-3C34-4732-A6D3-15641D86F941}" type="pres">
      <dgm:prSet presAssocID="{D29FE41F-0541-4B95-99D7-F888F824BF4D}" presName="composite" presStyleCnt="0"/>
      <dgm:spPr/>
    </dgm:pt>
    <dgm:pt modelId="{2911D279-0720-4E70-B01A-FB11967A8748}" type="pres">
      <dgm:prSet presAssocID="{D29FE41F-0541-4B95-99D7-F888F824BF4D}" presName="BackAccent" presStyleLbl="bgShp" presStyleIdx="1" presStyleCnt="2"/>
      <dgm:spPr/>
    </dgm:pt>
    <dgm:pt modelId="{FF5E3E29-F257-4FA5-A52F-2C54E5CF378C}" type="pres">
      <dgm:prSet presAssocID="{D29FE41F-0541-4B95-99D7-F888F824BF4D}" presName="Accent" presStyleLbl="alignNode1" presStyleIdx="1" presStyleCnt="2"/>
      <dgm:spPr/>
    </dgm:pt>
    <dgm:pt modelId="{C2864890-A6F6-4BFC-8C8B-371A2DEBFE13}" type="pres">
      <dgm:prSet presAssocID="{D29FE41F-0541-4B95-99D7-F888F824BF4D}" presName="Child" presStyleLbl="revTx" presStyleIdx="2" presStyleCnt="4" custScaleX="125860">
        <dgm:presLayoutVars>
          <dgm:chMax val="0"/>
          <dgm:chPref val="0"/>
          <dgm:bulletEnabled val="1"/>
        </dgm:presLayoutVars>
      </dgm:prSet>
      <dgm:spPr/>
    </dgm:pt>
    <dgm:pt modelId="{ACB5AC1A-0601-49F9-ADF5-639ACF608D94}" type="pres">
      <dgm:prSet presAssocID="{D29FE41F-0541-4B95-99D7-F888F824BF4D}" presName="Parent" presStyleLbl="revTx" presStyleIdx="3" presStyleCnt="4" custLinFactNeighborY="-2144">
        <dgm:presLayoutVars>
          <dgm:chMax val="1"/>
          <dgm:chPref val="1"/>
          <dgm:bulletEnabled val="1"/>
        </dgm:presLayoutVars>
      </dgm:prSet>
      <dgm:spPr/>
    </dgm:pt>
  </dgm:ptLst>
  <dgm:cxnLst>
    <dgm:cxn modelId="{D7E1FF0C-80CD-4F6E-9CED-FABB2A2B72F2}" srcId="{F7E84BED-FE7E-4CB7-8904-F300BE11132D}" destId="{D29FE41F-0541-4B95-99D7-F888F824BF4D}" srcOrd="1" destOrd="0" parTransId="{8DA6B451-88B2-4F86-8753-9F5BF93A8CFA}" sibTransId="{AF7C0489-E9BD-41F6-8113-09992DA42EED}"/>
    <dgm:cxn modelId="{87A7DB39-B1BA-4270-B897-71861334A72A}" type="presOf" srcId="{F7E84BED-FE7E-4CB7-8904-F300BE11132D}" destId="{AA032465-375D-433A-B3DD-E7B1976397E7}" srcOrd="0" destOrd="0" presId="urn:microsoft.com/office/officeart/2008/layout/IncreasingCircleProcess"/>
    <dgm:cxn modelId="{41B94379-D258-4EB7-8450-83D8F892F4CA}" type="presOf" srcId="{E2589F2C-3220-4826-8544-2515CC20C3D4}" destId="{CD528EED-380F-41AC-9DC0-C30F692747DD}" srcOrd="0" destOrd="0" presId="urn:microsoft.com/office/officeart/2008/layout/IncreasingCircleProcess"/>
    <dgm:cxn modelId="{D0A86F5A-7B79-481D-8508-3528ACBFB6B6}" type="presOf" srcId="{D29FE41F-0541-4B95-99D7-F888F824BF4D}" destId="{ACB5AC1A-0601-49F9-ADF5-639ACF608D94}" srcOrd="0" destOrd="0" presId="urn:microsoft.com/office/officeart/2008/layout/IncreasingCircleProcess"/>
    <dgm:cxn modelId="{7B1D497D-8615-4CCF-B6BB-AA4FEC1CC86B}" type="presOf" srcId="{76EC51B8-1B01-4B45-976F-2796AA150D0F}" destId="{C2864890-A6F6-4BFC-8C8B-371A2DEBFE13}" srcOrd="0" destOrd="0" presId="urn:microsoft.com/office/officeart/2008/layout/IncreasingCircleProcess"/>
    <dgm:cxn modelId="{3C39C090-77F7-46C0-8EF2-F6FF23D08377}" srcId="{F7E84BED-FE7E-4CB7-8904-F300BE11132D}" destId="{E2589F2C-3220-4826-8544-2515CC20C3D4}" srcOrd="0" destOrd="0" parTransId="{B6C4591B-EDC2-4991-958F-C8BE25B0F6C7}" sibTransId="{7F7BFD75-FD05-455C-A80A-7854BFDD75C6}"/>
    <dgm:cxn modelId="{F30842B3-1FFA-4E96-85B1-712814BC5A21}" type="presOf" srcId="{59069E86-541F-40B4-B1CD-2577D46BB420}" destId="{FB964127-DDAA-4CAC-B863-CD74953DFD68}" srcOrd="0" destOrd="0" presId="urn:microsoft.com/office/officeart/2008/layout/IncreasingCircleProcess"/>
    <dgm:cxn modelId="{76A9B2E1-D489-4A06-8A29-549D0A1F2FF5}" srcId="{E2589F2C-3220-4826-8544-2515CC20C3D4}" destId="{59069E86-541F-40B4-B1CD-2577D46BB420}" srcOrd="0" destOrd="0" parTransId="{7BFE860A-D676-4EB3-81AA-EB7799D17AB0}" sibTransId="{FAD35D0A-09DC-4574-A0BE-BD3F0906908A}"/>
    <dgm:cxn modelId="{C6FA59ED-D14F-4FDA-AC9D-0940E746C487}" srcId="{D29FE41F-0541-4B95-99D7-F888F824BF4D}" destId="{76EC51B8-1B01-4B45-976F-2796AA150D0F}" srcOrd="0" destOrd="0" parTransId="{F301DD4D-7D51-45BA-9E16-CC6BB5D31756}" sibTransId="{E075F52A-48B4-4F39-8C94-151934CBD361}"/>
    <dgm:cxn modelId="{8DDB8212-83EE-46D1-A617-61CF7E179A90}" type="presParOf" srcId="{AA032465-375D-433A-B3DD-E7B1976397E7}" destId="{A7150AC4-4887-4B85-8C8E-5C42082A6536}" srcOrd="0" destOrd="0" presId="urn:microsoft.com/office/officeart/2008/layout/IncreasingCircleProcess"/>
    <dgm:cxn modelId="{10395E6D-5C58-4ECE-A435-9D9FDCD7D44A}" type="presParOf" srcId="{A7150AC4-4887-4B85-8C8E-5C42082A6536}" destId="{0C6E00A5-DAA4-4660-8095-1A04EDDA4CA6}" srcOrd="0" destOrd="0" presId="urn:microsoft.com/office/officeart/2008/layout/IncreasingCircleProcess"/>
    <dgm:cxn modelId="{C343775B-266A-4DA5-8FF7-C92836AFF8AE}" type="presParOf" srcId="{A7150AC4-4887-4B85-8C8E-5C42082A6536}" destId="{6F49F989-5925-41B4-AEDF-E390532C120A}" srcOrd="1" destOrd="0" presId="urn:microsoft.com/office/officeart/2008/layout/IncreasingCircleProcess"/>
    <dgm:cxn modelId="{2906C635-DAE8-4C1A-B0D7-D9CA58E712C5}" type="presParOf" srcId="{A7150AC4-4887-4B85-8C8E-5C42082A6536}" destId="{FB964127-DDAA-4CAC-B863-CD74953DFD68}" srcOrd="2" destOrd="0" presId="urn:microsoft.com/office/officeart/2008/layout/IncreasingCircleProcess"/>
    <dgm:cxn modelId="{D9AF22CE-AB31-4AF1-98FD-F07A276DFAF5}" type="presParOf" srcId="{A7150AC4-4887-4B85-8C8E-5C42082A6536}" destId="{CD528EED-380F-41AC-9DC0-C30F692747DD}" srcOrd="3" destOrd="0" presId="urn:microsoft.com/office/officeart/2008/layout/IncreasingCircleProcess"/>
    <dgm:cxn modelId="{FAB0F146-DE03-4949-BB57-B7F31B73DF20}" type="presParOf" srcId="{AA032465-375D-433A-B3DD-E7B1976397E7}" destId="{917850D5-78A0-4F30-8890-4A13A3EC023E}" srcOrd="1" destOrd="0" presId="urn:microsoft.com/office/officeart/2008/layout/IncreasingCircleProcess"/>
    <dgm:cxn modelId="{34D0EE57-2EA2-4CF0-AE1A-D04D56BA9EA7}" type="presParOf" srcId="{AA032465-375D-433A-B3DD-E7B1976397E7}" destId="{94EF0BFC-3C34-4732-A6D3-15641D86F941}" srcOrd="2" destOrd="0" presId="urn:microsoft.com/office/officeart/2008/layout/IncreasingCircleProcess"/>
    <dgm:cxn modelId="{96D1045E-1DB5-441F-A1DE-C59306B83F28}" type="presParOf" srcId="{94EF0BFC-3C34-4732-A6D3-15641D86F941}" destId="{2911D279-0720-4E70-B01A-FB11967A8748}" srcOrd="0" destOrd="0" presId="urn:microsoft.com/office/officeart/2008/layout/IncreasingCircleProcess"/>
    <dgm:cxn modelId="{DB5FA94E-4644-4680-A68F-EAA34941D1A0}" type="presParOf" srcId="{94EF0BFC-3C34-4732-A6D3-15641D86F941}" destId="{FF5E3E29-F257-4FA5-A52F-2C54E5CF378C}" srcOrd="1" destOrd="0" presId="urn:microsoft.com/office/officeart/2008/layout/IncreasingCircleProcess"/>
    <dgm:cxn modelId="{60AEDBA2-99CD-49F0-879E-DA48A89093F3}" type="presParOf" srcId="{94EF0BFC-3C34-4732-A6D3-15641D86F941}" destId="{C2864890-A6F6-4BFC-8C8B-371A2DEBFE13}" srcOrd="2" destOrd="0" presId="urn:microsoft.com/office/officeart/2008/layout/IncreasingCircleProcess"/>
    <dgm:cxn modelId="{C9F1C5DF-F986-4D20-A734-E87B1D6EBE5A}" type="presParOf" srcId="{94EF0BFC-3C34-4732-A6D3-15641D86F941}" destId="{ACB5AC1A-0601-49F9-ADF5-639ACF608D94}" srcOrd="3" destOrd="0" presId="urn:microsoft.com/office/officeart/2008/layout/Increasing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7E84BED-FE7E-4CB7-8904-F300BE11132D}" type="doc">
      <dgm:prSet loTypeId="urn:microsoft.com/office/officeart/2008/layout/IncreasingCircleProcess" loCatId="list" qsTypeId="urn:microsoft.com/office/officeart/2005/8/quickstyle/simple1#2" qsCatId="simple" csTypeId="urn:microsoft.com/office/officeart/2005/8/colors/accent1_2#2" csCatId="accent1" phldr="1"/>
      <dgm:spPr/>
      <dgm:t>
        <a:bodyPr/>
        <a:lstStyle/>
        <a:p>
          <a:endParaRPr lang="es-CO"/>
        </a:p>
      </dgm:t>
    </dgm:pt>
    <dgm:pt modelId="{5B50C786-77B6-4AD2-A8D6-6649ACF69D11}">
      <dgm:prSet phldrT="[Texto]"/>
      <dgm:spPr/>
      <dgm:t>
        <a:bodyPr/>
        <a:lstStyle/>
        <a:p>
          <a:r>
            <a:rPr lang="es-CO" noProof="0"/>
            <a:t>Tasa prevalencia Feb 2024</a:t>
          </a:r>
        </a:p>
      </dgm:t>
    </dgm:pt>
    <dgm:pt modelId="{5181F6ED-71D6-4E2A-B4DE-CD2BAAC69F95}" type="parTrans" cxnId="{35F9F8B4-065F-4567-984D-56182AEB6EAD}">
      <dgm:prSet/>
      <dgm:spPr/>
      <dgm:t>
        <a:bodyPr/>
        <a:lstStyle/>
        <a:p>
          <a:endParaRPr lang="es-CO"/>
        </a:p>
      </dgm:t>
    </dgm:pt>
    <dgm:pt modelId="{6BA02012-69ED-4459-A748-6748952A5C81}" type="sibTrans" cxnId="{35F9F8B4-065F-4567-984D-56182AEB6EAD}">
      <dgm:prSet/>
      <dgm:spPr/>
      <dgm:t>
        <a:bodyPr/>
        <a:lstStyle/>
        <a:p>
          <a:endParaRPr lang="es-CO"/>
        </a:p>
      </dgm:t>
    </dgm:pt>
    <dgm:pt modelId="{59069E86-541F-40B4-B1CD-2577D46BB420}">
      <dgm:prSet phldrT="[Texto]" custT="1"/>
      <dgm:spPr/>
      <dgm:t>
        <a:bodyPr/>
        <a:lstStyle/>
        <a:p>
          <a:pPr algn="l"/>
          <a:r>
            <a:rPr lang="es-CO" sz="1800" b="1" noProof="0"/>
            <a:t>1.413 x 100 mil</a:t>
          </a:r>
        </a:p>
        <a:p>
          <a:pPr algn="l"/>
          <a:r>
            <a:rPr lang="es-CO" sz="1200" b="0" noProof="0"/>
            <a:t>(2.510 usuarios)</a:t>
          </a:r>
          <a:endParaRPr lang="es-CO" sz="1200" b="1" noProof="0"/>
        </a:p>
      </dgm:t>
    </dgm:pt>
    <dgm:pt modelId="{7BFE860A-D676-4EB3-81AA-EB7799D17AB0}" type="parTrans" cxnId="{76A9B2E1-D489-4A06-8A29-549D0A1F2FF5}">
      <dgm:prSet/>
      <dgm:spPr/>
      <dgm:t>
        <a:bodyPr/>
        <a:lstStyle/>
        <a:p>
          <a:endParaRPr lang="es-CO"/>
        </a:p>
      </dgm:t>
    </dgm:pt>
    <dgm:pt modelId="{FAD35D0A-09DC-4574-A0BE-BD3F0906908A}" type="sibTrans" cxnId="{76A9B2E1-D489-4A06-8A29-549D0A1F2FF5}">
      <dgm:prSet/>
      <dgm:spPr/>
      <dgm:t>
        <a:bodyPr/>
        <a:lstStyle/>
        <a:p>
          <a:endParaRPr lang="es-CO"/>
        </a:p>
      </dgm:t>
    </dgm:pt>
    <dgm:pt modelId="{D29FE41F-0541-4B95-99D7-F888F824BF4D}">
      <dgm:prSet phldrT="[Texto]"/>
      <dgm:spPr/>
      <dgm:t>
        <a:bodyPr/>
        <a:lstStyle/>
        <a:p>
          <a:pPr algn="ctr" rtl="0"/>
          <a:r>
            <a:rPr lang="es-CO" noProof="0"/>
            <a:t>Tasa prevalencia</a:t>
          </a:r>
          <a:r>
            <a:rPr lang="es-CO" noProof="0">
              <a:latin typeface="Muli Ultra-Bold"/>
            </a:rPr>
            <a:t> Septiembre</a:t>
          </a:r>
          <a:r>
            <a:rPr lang="es-CO" noProof="0"/>
            <a:t> 2026</a:t>
          </a:r>
        </a:p>
      </dgm:t>
    </dgm:pt>
    <dgm:pt modelId="{8DA6B451-88B2-4F86-8753-9F5BF93A8CFA}" type="parTrans" cxnId="{D7E1FF0C-80CD-4F6E-9CED-FABB2A2B72F2}">
      <dgm:prSet/>
      <dgm:spPr/>
      <dgm:t>
        <a:bodyPr/>
        <a:lstStyle/>
        <a:p>
          <a:endParaRPr lang="es-CO"/>
        </a:p>
      </dgm:t>
    </dgm:pt>
    <dgm:pt modelId="{AF7C0489-E9BD-41F6-8113-09992DA42EED}" type="sibTrans" cxnId="{D7E1FF0C-80CD-4F6E-9CED-FABB2A2B72F2}">
      <dgm:prSet/>
      <dgm:spPr/>
      <dgm:t>
        <a:bodyPr/>
        <a:lstStyle/>
        <a:p>
          <a:endParaRPr lang="es-CO"/>
        </a:p>
      </dgm:t>
    </dgm:pt>
    <dgm:pt modelId="{76EC51B8-1B01-4B45-976F-2796AA150D0F}">
      <dgm:prSet phldrT="[Texto]" custT="1"/>
      <dgm:spPr/>
      <dgm:t>
        <a:bodyPr/>
        <a:lstStyle/>
        <a:p>
          <a:pPr algn="l"/>
          <a:r>
            <a:rPr lang="es-CO" sz="2000" b="1" noProof="0"/>
            <a:t>1.543 x 100 mil</a:t>
          </a:r>
        </a:p>
        <a:p>
          <a:pPr algn="l"/>
          <a:r>
            <a:rPr lang="es-CO" sz="1200" b="0" noProof="0"/>
            <a:t>(3.173 usuarios)</a:t>
          </a:r>
        </a:p>
      </dgm:t>
    </dgm:pt>
    <dgm:pt modelId="{F301DD4D-7D51-45BA-9E16-CC6BB5D31756}" type="parTrans" cxnId="{C6FA59ED-D14F-4FDA-AC9D-0940E746C487}">
      <dgm:prSet/>
      <dgm:spPr/>
      <dgm:t>
        <a:bodyPr/>
        <a:lstStyle/>
        <a:p>
          <a:endParaRPr lang="es-CO"/>
        </a:p>
      </dgm:t>
    </dgm:pt>
    <dgm:pt modelId="{E075F52A-48B4-4F39-8C94-151934CBD361}" type="sibTrans" cxnId="{C6FA59ED-D14F-4FDA-AC9D-0940E746C487}">
      <dgm:prSet/>
      <dgm:spPr/>
      <dgm:t>
        <a:bodyPr/>
        <a:lstStyle/>
        <a:p>
          <a:endParaRPr lang="es-CO"/>
        </a:p>
      </dgm:t>
    </dgm:pt>
    <dgm:pt modelId="{F616C52B-AE1B-4D44-B238-44BAD7B3E37E}">
      <dgm:prSet phldrT="[Texto]"/>
      <dgm:spPr/>
      <dgm:t>
        <a:bodyPr/>
        <a:lstStyle/>
        <a:p>
          <a:pPr rtl="0"/>
          <a:r>
            <a:rPr lang="es-CO" noProof="0"/>
            <a:t>Tasa prevalencia</a:t>
          </a:r>
          <a:r>
            <a:rPr lang="es-CO" noProof="0">
              <a:latin typeface="Muli Ultra-Bold"/>
            </a:rPr>
            <a:t> Agosto</a:t>
          </a:r>
          <a:r>
            <a:rPr lang="es-CO" noProof="0"/>
            <a:t> 2025</a:t>
          </a:r>
        </a:p>
      </dgm:t>
    </dgm:pt>
    <dgm:pt modelId="{83303F83-12EA-4E21-A96B-D8D4A68552E0}" type="parTrans" cxnId="{699B55AC-1AE8-4E88-A5C4-2A4B7BB43B05}">
      <dgm:prSet/>
      <dgm:spPr/>
      <dgm:t>
        <a:bodyPr/>
        <a:lstStyle/>
        <a:p>
          <a:endParaRPr lang="es-CO"/>
        </a:p>
      </dgm:t>
    </dgm:pt>
    <dgm:pt modelId="{101A5362-CA71-41A8-80DB-3F8D49658557}" type="sibTrans" cxnId="{699B55AC-1AE8-4E88-A5C4-2A4B7BB43B05}">
      <dgm:prSet/>
      <dgm:spPr/>
      <dgm:t>
        <a:bodyPr/>
        <a:lstStyle/>
        <a:p>
          <a:endParaRPr lang="es-CO"/>
        </a:p>
      </dgm:t>
    </dgm:pt>
    <dgm:pt modelId="{E2589F2C-3220-4826-8544-2515CC20C3D4}">
      <dgm:prSet phldrT="[Texto]" custT="1"/>
      <dgm:spPr/>
      <dgm:t>
        <a:bodyPr/>
        <a:lstStyle/>
        <a:p>
          <a:r>
            <a:rPr lang="es-CO" sz="1800" b="1" kern="1200" noProof="0">
              <a:solidFill>
                <a:srgbClr val="80589F">
                  <a:hueOff val="0"/>
                  <a:satOff val="0"/>
                  <a:lumOff val="0"/>
                  <a:alphaOff val="0"/>
                </a:srgbClr>
              </a:solidFill>
              <a:latin typeface="Muli"/>
              <a:ea typeface="+mn-ea"/>
              <a:cs typeface="+mn-cs"/>
            </a:rPr>
            <a:t>1.066 x 100 mil            </a:t>
          </a:r>
        </a:p>
        <a:p>
          <a:r>
            <a:rPr lang="es-CO" sz="1200" b="0" kern="1200" noProof="0">
              <a:solidFill>
                <a:srgbClr val="80589F">
                  <a:hueOff val="0"/>
                  <a:satOff val="0"/>
                  <a:lumOff val="0"/>
                  <a:alphaOff val="0"/>
                </a:srgbClr>
              </a:solidFill>
              <a:latin typeface="Muli"/>
              <a:ea typeface="+mn-ea"/>
              <a:cs typeface="+mn-cs"/>
            </a:rPr>
            <a:t>(1,805 </a:t>
          </a:r>
          <a:r>
            <a:rPr lang="es-CO" sz="1200" kern="1200" noProof="0"/>
            <a:t>usuarios</a:t>
          </a:r>
          <a:r>
            <a:rPr lang="es-CO" sz="1400" kern="1200" noProof="0"/>
            <a:t>)</a:t>
          </a:r>
        </a:p>
      </dgm:t>
    </dgm:pt>
    <dgm:pt modelId="{B6C4591B-EDC2-4991-958F-C8BE25B0F6C7}" type="parTrans" cxnId="{3C39C090-77F7-46C0-8EF2-F6FF23D08377}">
      <dgm:prSet/>
      <dgm:spPr/>
      <dgm:t>
        <a:bodyPr/>
        <a:lstStyle/>
        <a:p>
          <a:endParaRPr lang="es-CO"/>
        </a:p>
      </dgm:t>
    </dgm:pt>
    <dgm:pt modelId="{7F7BFD75-FD05-455C-A80A-7854BFDD75C6}" type="sibTrans" cxnId="{3C39C090-77F7-46C0-8EF2-F6FF23D08377}">
      <dgm:prSet/>
      <dgm:spPr/>
      <dgm:t>
        <a:bodyPr/>
        <a:lstStyle/>
        <a:p>
          <a:endParaRPr lang="es-CO"/>
        </a:p>
      </dgm:t>
    </dgm:pt>
    <dgm:pt modelId="{AA032465-375D-433A-B3DD-E7B1976397E7}" type="pres">
      <dgm:prSet presAssocID="{F7E84BED-FE7E-4CB7-8904-F300BE11132D}" presName="Name0" presStyleCnt="0">
        <dgm:presLayoutVars>
          <dgm:chMax val="7"/>
          <dgm:chPref val="7"/>
          <dgm:dir/>
          <dgm:animOne val="branch"/>
          <dgm:animLvl val="lvl"/>
        </dgm:presLayoutVars>
      </dgm:prSet>
      <dgm:spPr/>
    </dgm:pt>
    <dgm:pt modelId="{82A49C9B-32ED-4305-A9D1-CA0E662040E6}" type="pres">
      <dgm:prSet presAssocID="{5B50C786-77B6-4AD2-A8D6-6649ACF69D11}" presName="composite" presStyleCnt="0"/>
      <dgm:spPr/>
    </dgm:pt>
    <dgm:pt modelId="{1C0270DB-9ED4-4AC6-91E2-23A44977DE5D}" type="pres">
      <dgm:prSet presAssocID="{5B50C786-77B6-4AD2-A8D6-6649ACF69D11}" presName="BackAccent" presStyleLbl="bgShp" presStyleIdx="0" presStyleCnt="3"/>
      <dgm:spPr/>
    </dgm:pt>
    <dgm:pt modelId="{B31CAA77-C4DF-491A-BEE1-F06072D0FCF3}" type="pres">
      <dgm:prSet presAssocID="{5B50C786-77B6-4AD2-A8D6-6649ACF69D11}" presName="Accent" presStyleLbl="alignNode1" presStyleIdx="0" presStyleCnt="3"/>
      <dgm:spPr/>
    </dgm:pt>
    <dgm:pt modelId="{8F7DEA1A-92A0-4BC8-8B4B-1C1FAA584DB5}" type="pres">
      <dgm:prSet presAssocID="{5B50C786-77B6-4AD2-A8D6-6649ACF69D11}" presName="Child" presStyleLbl="revTx" presStyleIdx="0" presStyleCnt="6" custScaleX="123683">
        <dgm:presLayoutVars>
          <dgm:chMax val="0"/>
          <dgm:chPref val="0"/>
          <dgm:bulletEnabled val="1"/>
        </dgm:presLayoutVars>
      </dgm:prSet>
      <dgm:spPr/>
    </dgm:pt>
    <dgm:pt modelId="{BA74B8B1-C702-48BE-987A-80A0281D6F7D}" type="pres">
      <dgm:prSet presAssocID="{5B50C786-77B6-4AD2-A8D6-6649ACF69D11}" presName="Parent" presStyleLbl="revTx" presStyleIdx="1" presStyleCnt="6">
        <dgm:presLayoutVars>
          <dgm:chMax val="1"/>
          <dgm:chPref val="1"/>
          <dgm:bulletEnabled val="1"/>
        </dgm:presLayoutVars>
      </dgm:prSet>
      <dgm:spPr/>
    </dgm:pt>
    <dgm:pt modelId="{64F969D4-D948-40FF-AEB9-DADEB210232A}" type="pres">
      <dgm:prSet presAssocID="{6BA02012-69ED-4459-A748-6748952A5C81}" presName="sibTrans" presStyleCnt="0"/>
      <dgm:spPr/>
    </dgm:pt>
    <dgm:pt modelId="{0B685EBE-5F7B-40BB-816B-993F1967889E}" type="pres">
      <dgm:prSet presAssocID="{F616C52B-AE1B-4D44-B238-44BAD7B3E37E}" presName="composite" presStyleCnt="0"/>
      <dgm:spPr/>
    </dgm:pt>
    <dgm:pt modelId="{445861A9-0DB4-4D78-8C71-E4EF24046D8B}" type="pres">
      <dgm:prSet presAssocID="{F616C52B-AE1B-4D44-B238-44BAD7B3E37E}" presName="BackAccent" presStyleLbl="bgShp" presStyleIdx="1" presStyleCnt="3"/>
      <dgm:spPr/>
    </dgm:pt>
    <dgm:pt modelId="{DA06007D-6C71-4922-BA68-9546302E6060}" type="pres">
      <dgm:prSet presAssocID="{F616C52B-AE1B-4D44-B238-44BAD7B3E37E}" presName="Accent" presStyleLbl="alignNode1" presStyleIdx="1" presStyleCnt="3"/>
      <dgm:spPr/>
    </dgm:pt>
    <dgm:pt modelId="{C8CFE6DD-75A2-46AA-87DE-45FCD3B53069}" type="pres">
      <dgm:prSet presAssocID="{F616C52B-AE1B-4D44-B238-44BAD7B3E37E}" presName="Child" presStyleLbl="revTx" presStyleIdx="2" presStyleCnt="6" custScaleX="120145">
        <dgm:presLayoutVars>
          <dgm:chMax val="0"/>
          <dgm:chPref val="0"/>
          <dgm:bulletEnabled val="1"/>
        </dgm:presLayoutVars>
      </dgm:prSet>
      <dgm:spPr/>
    </dgm:pt>
    <dgm:pt modelId="{4745B769-DD00-40BA-A584-26F673F3790B}" type="pres">
      <dgm:prSet presAssocID="{F616C52B-AE1B-4D44-B238-44BAD7B3E37E}" presName="Parent" presStyleLbl="revTx" presStyleIdx="3" presStyleCnt="6">
        <dgm:presLayoutVars>
          <dgm:chMax val="1"/>
          <dgm:chPref val="1"/>
          <dgm:bulletEnabled val="1"/>
        </dgm:presLayoutVars>
      </dgm:prSet>
      <dgm:spPr/>
    </dgm:pt>
    <dgm:pt modelId="{8523B01F-B403-4B5E-8184-8E2A8D1751E1}" type="pres">
      <dgm:prSet presAssocID="{101A5362-CA71-41A8-80DB-3F8D49658557}" presName="sibTrans" presStyleCnt="0"/>
      <dgm:spPr/>
    </dgm:pt>
    <dgm:pt modelId="{94EF0BFC-3C34-4732-A6D3-15641D86F941}" type="pres">
      <dgm:prSet presAssocID="{D29FE41F-0541-4B95-99D7-F888F824BF4D}" presName="composite" presStyleCnt="0"/>
      <dgm:spPr/>
    </dgm:pt>
    <dgm:pt modelId="{2911D279-0720-4E70-B01A-FB11967A8748}" type="pres">
      <dgm:prSet presAssocID="{D29FE41F-0541-4B95-99D7-F888F824BF4D}" presName="BackAccent" presStyleLbl="bgShp" presStyleIdx="2" presStyleCnt="3"/>
      <dgm:spPr/>
    </dgm:pt>
    <dgm:pt modelId="{FF5E3E29-F257-4FA5-A52F-2C54E5CF378C}" type="pres">
      <dgm:prSet presAssocID="{D29FE41F-0541-4B95-99D7-F888F824BF4D}" presName="Accent" presStyleLbl="alignNode1" presStyleIdx="2" presStyleCnt="3"/>
      <dgm:spPr/>
    </dgm:pt>
    <dgm:pt modelId="{C2864890-A6F6-4BFC-8C8B-371A2DEBFE13}" type="pres">
      <dgm:prSet presAssocID="{D29FE41F-0541-4B95-99D7-F888F824BF4D}" presName="Child" presStyleLbl="revTx" presStyleIdx="4" presStyleCnt="6" custScaleX="125860">
        <dgm:presLayoutVars>
          <dgm:chMax val="0"/>
          <dgm:chPref val="0"/>
          <dgm:bulletEnabled val="1"/>
        </dgm:presLayoutVars>
      </dgm:prSet>
      <dgm:spPr/>
    </dgm:pt>
    <dgm:pt modelId="{ACB5AC1A-0601-49F9-ADF5-639ACF608D94}" type="pres">
      <dgm:prSet presAssocID="{D29FE41F-0541-4B95-99D7-F888F824BF4D}" presName="Parent" presStyleLbl="revTx" presStyleIdx="5" presStyleCnt="6" custLinFactNeighborY="-2144">
        <dgm:presLayoutVars>
          <dgm:chMax val="1"/>
          <dgm:chPref val="1"/>
          <dgm:bulletEnabled val="1"/>
        </dgm:presLayoutVars>
      </dgm:prSet>
      <dgm:spPr/>
    </dgm:pt>
  </dgm:ptLst>
  <dgm:cxnLst>
    <dgm:cxn modelId="{D7E1FF0C-80CD-4F6E-9CED-FABB2A2B72F2}" srcId="{F7E84BED-FE7E-4CB7-8904-F300BE11132D}" destId="{D29FE41F-0541-4B95-99D7-F888F824BF4D}" srcOrd="2" destOrd="0" parTransId="{8DA6B451-88B2-4F86-8753-9F5BF93A8CFA}" sibTransId="{AF7C0489-E9BD-41F6-8113-09992DA42EED}"/>
    <dgm:cxn modelId="{E168E81F-B666-41FF-9F82-44925E16FC1F}" type="presOf" srcId="{59069E86-541F-40B4-B1CD-2577D46BB420}" destId="{C8CFE6DD-75A2-46AA-87DE-45FCD3B53069}" srcOrd="0" destOrd="0" presId="urn:microsoft.com/office/officeart/2008/layout/IncreasingCircleProcess"/>
    <dgm:cxn modelId="{87A7DB39-B1BA-4270-B897-71861334A72A}" type="presOf" srcId="{F7E84BED-FE7E-4CB7-8904-F300BE11132D}" destId="{AA032465-375D-433A-B3DD-E7B1976397E7}" srcOrd="0" destOrd="0" presId="urn:microsoft.com/office/officeart/2008/layout/IncreasingCircleProcess"/>
    <dgm:cxn modelId="{615E8C63-EB22-4AA1-BCD9-AB8E08EEE826}" type="presOf" srcId="{E2589F2C-3220-4826-8544-2515CC20C3D4}" destId="{8F7DEA1A-92A0-4BC8-8B4B-1C1FAA584DB5}" srcOrd="0" destOrd="0" presId="urn:microsoft.com/office/officeart/2008/layout/IncreasingCircleProcess"/>
    <dgm:cxn modelId="{66B1F752-EB16-4304-B657-AC3B8A3A9A8F}" type="presOf" srcId="{5B50C786-77B6-4AD2-A8D6-6649ACF69D11}" destId="{BA74B8B1-C702-48BE-987A-80A0281D6F7D}" srcOrd="0" destOrd="0" presId="urn:microsoft.com/office/officeart/2008/layout/IncreasingCircleProcess"/>
    <dgm:cxn modelId="{19CF0985-3AB8-41D0-A890-87E1090DE37C}" type="presOf" srcId="{F616C52B-AE1B-4D44-B238-44BAD7B3E37E}" destId="{4745B769-DD00-40BA-A584-26F673F3790B}" srcOrd="0" destOrd="0" presId="urn:microsoft.com/office/officeart/2008/layout/IncreasingCircleProcess"/>
    <dgm:cxn modelId="{AC983A89-B451-43E0-91C7-E8C3869850EB}" type="presOf" srcId="{76EC51B8-1B01-4B45-976F-2796AA150D0F}" destId="{C2864890-A6F6-4BFC-8C8B-371A2DEBFE13}" srcOrd="0" destOrd="0" presId="urn:microsoft.com/office/officeart/2008/layout/IncreasingCircleProcess"/>
    <dgm:cxn modelId="{3C39C090-77F7-46C0-8EF2-F6FF23D08377}" srcId="{5B50C786-77B6-4AD2-A8D6-6649ACF69D11}" destId="{E2589F2C-3220-4826-8544-2515CC20C3D4}" srcOrd="0" destOrd="0" parTransId="{B6C4591B-EDC2-4991-958F-C8BE25B0F6C7}" sibTransId="{7F7BFD75-FD05-455C-A80A-7854BFDD75C6}"/>
    <dgm:cxn modelId="{08AD87A4-467D-4326-8238-467E45AF2C1E}" type="presOf" srcId="{D29FE41F-0541-4B95-99D7-F888F824BF4D}" destId="{ACB5AC1A-0601-49F9-ADF5-639ACF608D94}" srcOrd="0" destOrd="0" presId="urn:microsoft.com/office/officeart/2008/layout/IncreasingCircleProcess"/>
    <dgm:cxn modelId="{699B55AC-1AE8-4E88-A5C4-2A4B7BB43B05}" srcId="{F7E84BED-FE7E-4CB7-8904-F300BE11132D}" destId="{F616C52B-AE1B-4D44-B238-44BAD7B3E37E}" srcOrd="1" destOrd="0" parTransId="{83303F83-12EA-4E21-A96B-D8D4A68552E0}" sibTransId="{101A5362-CA71-41A8-80DB-3F8D49658557}"/>
    <dgm:cxn modelId="{35F9F8B4-065F-4567-984D-56182AEB6EAD}" srcId="{F7E84BED-FE7E-4CB7-8904-F300BE11132D}" destId="{5B50C786-77B6-4AD2-A8D6-6649ACF69D11}" srcOrd="0" destOrd="0" parTransId="{5181F6ED-71D6-4E2A-B4DE-CD2BAAC69F95}" sibTransId="{6BA02012-69ED-4459-A748-6748952A5C81}"/>
    <dgm:cxn modelId="{76A9B2E1-D489-4A06-8A29-549D0A1F2FF5}" srcId="{F616C52B-AE1B-4D44-B238-44BAD7B3E37E}" destId="{59069E86-541F-40B4-B1CD-2577D46BB420}" srcOrd="0" destOrd="0" parTransId="{7BFE860A-D676-4EB3-81AA-EB7799D17AB0}" sibTransId="{FAD35D0A-09DC-4574-A0BE-BD3F0906908A}"/>
    <dgm:cxn modelId="{C6FA59ED-D14F-4FDA-AC9D-0940E746C487}" srcId="{D29FE41F-0541-4B95-99D7-F888F824BF4D}" destId="{76EC51B8-1B01-4B45-976F-2796AA150D0F}" srcOrd="0" destOrd="0" parTransId="{F301DD4D-7D51-45BA-9E16-CC6BB5D31756}" sibTransId="{E075F52A-48B4-4F39-8C94-151934CBD361}"/>
    <dgm:cxn modelId="{53F1AD41-357F-4B7B-A5B6-0F5E8F66749C}" type="presParOf" srcId="{AA032465-375D-433A-B3DD-E7B1976397E7}" destId="{82A49C9B-32ED-4305-A9D1-CA0E662040E6}" srcOrd="0" destOrd="0" presId="urn:microsoft.com/office/officeart/2008/layout/IncreasingCircleProcess"/>
    <dgm:cxn modelId="{B516E2B7-A8B2-4879-83F7-395A33C34FB6}" type="presParOf" srcId="{82A49C9B-32ED-4305-A9D1-CA0E662040E6}" destId="{1C0270DB-9ED4-4AC6-91E2-23A44977DE5D}" srcOrd="0" destOrd="0" presId="urn:microsoft.com/office/officeart/2008/layout/IncreasingCircleProcess"/>
    <dgm:cxn modelId="{BF3C8C0D-E7A7-46FD-A0D7-2040D2C4D61C}" type="presParOf" srcId="{82A49C9B-32ED-4305-A9D1-CA0E662040E6}" destId="{B31CAA77-C4DF-491A-BEE1-F06072D0FCF3}" srcOrd="1" destOrd="0" presId="urn:microsoft.com/office/officeart/2008/layout/IncreasingCircleProcess"/>
    <dgm:cxn modelId="{DD87787A-7CB8-48A0-B486-B026451EE436}" type="presParOf" srcId="{82A49C9B-32ED-4305-A9D1-CA0E662040E6}" destId="{8F7DEA1A-92A0-4BC8-8B4B-1C1FAA584DB5}" srcOrd="2" destOrd="0" presId="urn:microsoft.com/office/officeart/2008/layout/IncreasingCircleProcess"/>
    <dgm:cxn modelId="{AE729705-7DD5-478C-AC18-EC2CA517FE16}" type="presParOf" srcId="{82A49C9B-32ED-4305-A9D1-CA0E662040E6}" destId="{BA74B8B1-C702-48BE-987A-80A0281D6F7D}" srcOrd="3" destOrd="0" presId="urn:microsoft.com/office/officeart/2008/layout/IncreasingCircleProcess"/>
    <dgm:cxn modelId="{7C1BC840-10EC-4302-86BA-21B0CD17C28E}" type="presParOf" srcId="{AA032465-375D-433A-B3DD-E7B1976397E7}" destId="{64F969D4-D948-40FF-AEB9-DADEB210232A}" srcOrd="1" destOrd="0" presId="urn:microsoft.com/office/officeart/2008/layout/IncreasingCircleProcess"/>
    <dgm:cxn modelId="{DCFFA312-6B47-4272-9EDD-49E865ACEA5C}" type="presParOf" srcId="{AA032465-375D-433A-B3DD-E7B1976397E7}" destId="{0B685EBE-5F7B-40BB-816B-993F1967889E}" srcOrd="2" destOrd="0" presId="urn:microsoft.com/office/officeart/2008/layout/IncreasingCircleProcess"/>
    <dgm:cxn modelId="{7DFE639A-E409-4B44-8039-C49C35288437}" type="presParOf" srcId="{0B685EBE-5F7B-40BB-816B-993F1967889E}" destId="{445861A9-0DB4-4D78-8C71-E4EF24046D8B}" srcOrd="0" destOrd="0" presId="urn:microsoft.com/office/officeart/2008/layout/IncreasingCircleProcess"/>
    <dgm:cxn modelId="{B8F42067-B406-494B-992A-251DA6FA1094}" type="presParOf" srcId="{0B685EBE-5F7B-40BB-816B-993F1967889E}" destId="{DA06007D-6C71-4922-BA68-9546302E6060}" srcOrd="1" destOrd="0" presId="urn:microsoft.com/office/officeart/2008/layout/IncreasingCircleProcess"/>
    <dgm:cxn modelId="{656693C8-CFB9-49D0-8691-034848926951}" type="presParOf" srcId="{0B685EBE-5F7B-40BB-816B-993F1967889E}" destId="{C8CFE6DD-75A2-46AA-87DE-45FCD3B53069}" srcOrd="2" destOrd="0" presId="urn:microsoft.com/office/officeart/2008/layout/IncreasingCircleProcess"/>
    <dgm:cxn modelId="{15CC37E7-5D2A-4821-8D97-2839BEB0A7EE}" type="presParOf" srcId="{0B685EBE-5F7B-40BB-816B-993F1967889E}" destId="{4745B769-DD00-40BA-A584-26F673F3790B}" srcOrd="3" destOrd="0" presId="urn:microsoft.com/office/officeart/2008/layout/IncreasingCircleProcess"/>
    <dgm:cxn modelId="{361373B4-122D-40A4-A2A3-674F7CEF6B75}" type="presParOf" srcId="{AA032465-375D-433A-B3DD-E7B1976397E7}" destId="{8523B01F-B403-4B5E-8184-8E2A8D1751E1}" srcOrd="3" destOrd="0" presId="urn:microsoft.com/office/officeart/2008/layout/IncreasingCircleProcess"/>
    <dgm:cxn modelId="{0C7C01A0-91EF-4076-84C7-3029856081E2}" type="presParOf" srcId="{AA032465-375D-433A-B3DD-E7B1976397E7}" destId="{94EF0BFC-3C34-4732-A6D3-15641D86F941}" srcOrd="4" destOrd="0" presId="urn:microsoft.com/office/officeart/2008/layout/IncreasingCircleProcess"/>
    <dgm:cxn modelId="{4F4D8D0D-74B1-43A9-A192-A7166BD40A8E}" type="presParOf" srcId="{94EF0BFC-3C34-4732-A6D3-15641D86F941}" destId="{2911D279-0720-4E70-B01A-FB11967A8748}" srcOrd="0" destOrd="0" presId="urn:microsoft.com/office/officeart/2008/layout/IncreasingCircleProcess"/>
    <dgm:cxn modelId="{1A5CF1A5-8A12-46C1-A358-6652261526DF}" type="presParOf" srcId="{94EF0BFC-3C34-4732-A6D3-15641D86F941}" destId="{FF5E3E29-F257-4FA5-A52F-2C54E5CF378C}" srcOrd="1" destOrd="0" presId="urn:microsoft.com/office/officeart/2008/layout/IncreasingCircleProcess"/>
    <dgm:cxn modelId="{01A18CB0-11E9-4367-B968-CA5C2615A56F}" type="presParOf" srcId="{94EF0BFC-3C34-4732-A6D3-15641D86F941}" destId="{C2864890-A6F6-4BFC-8C8B-371A2DEBFE13}" srcOrd="2" destOrd="0" presId="urn:microsoft.com/office/officeart/2008/layout/IncreasingCircleProcess"/>
    <dgm:cxn modelId="{D9C02E29-2D48-4B6D-8137-0331736A34E4}" type="presParOf" srcId="{94EF0BFC-3C34-4732-A6D3-15641D86F941}" destId="{ACB5AC1A-0601-49F9-ADF5-639ACF608D94}" srcOrd="3" destOrd="0" presId="urn:microsoft.com/office/officeart/2008/layout/Increasing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7E84BED-FE7E-4CB7-8904-F300BE11132D}" type="doc">
      <dgm:prSet loTypeId="urn:microsoft.com/office/officeart/2008/layout/IncreasingCircleProcess" loCatId="list" qsTypeId="urn:microsoft.com/office/officeart/2005/8/quickstyle/simple1#3" qsCatId="simple" csTypeId="urn:microsoft.com/office/officeart/2005/8/colors/accent1_2#3" csCatId="accent1" phldr="1"/>
      <dgm:spPr/>
      <dgm:t>
        <a:bodyPr/>
        <a:lstStyle/>
        <a:p>
          <a:endParaRPr lang="es-CO"/>
        </a:p>
      </dgm:t>
    </dgm:pt>
    <dgm:pt modelId="{037433D6-96D0-436B-AC7A-BEEA26A02849}">
      <dgm:prSet phldrT="[Texto]"/>
      <dgm:spPr/>
      <dgm:t>
        <a:bodyPr/>
        <a:lstStyle/>
        <a:p>
          <a:r>
            <a:rPr lang="es-CO" noProof="0"/>
            <a:t>Tasa prevalencia Noviembre  2023</a:t>
          </a:r>
        </a:p>
      </dgm:t>
    </dgm:pt>
    <dgm:pt modelId="{B9A692A3-0253-4289-9F87-FA8CF5BDA7E5}" type="parTrans" cxnId="{4B3DEBD7-38F4-45B0-8026-7DA7F01EF532}">
      <dgm:prSet/>
      <dgm:spPr/>
      <dgm:t>
        <a:bodyPr/>
        <a:lstStyle/>
        <a:p>
          <a:endParaRPr lang="es-CO"/>
        </a:p>
      </dgm:t>
    </dgm:pt>
    <dgm:pt modelId="{3DB86353-3047-4E87-8279-CCD705A7FF4E}" type="sibTrans" cxnId="{4B3DEBD7-38F4-45B0-8026-7DA7F01EF532}">
      <dgm:prSet/>
      <dgm:spPr/>
      <dgm:t>
        <a:bodyPr/>
        <a:lstStyle/>
        <a:p>
          <a:endParaRPr lang="es-CO"/>
        </a:p>
      </dgm:t>
    </dgm:pt>
    <dgm:pt modelId="{ABDA5E0A-77FF-422D-81DD-09A407B2BE10}">
      <dgm:prSet phldrT="[Texto]" custT="1"/>
      <dgm:spPr/>
      <dgm:t>
        <a:bodyPr/>
        <a:lstStyle/>
        <a:p>
          <a:r>
            <a:rPr lang="es-CO" sz="1800" b="1" noProof="0"/>
            <a:t>1160 x 100 mil</a:t>
          </a:r>
        </a:p>
        <a:p>
          <a:r>
            <a:rPr lang="es-CO" sz="1200" b="0" noProof="0"/>
            <a:t>(1,050 usuarios)</a:t>
          </a:r>
        </a:p>
      </dgm:t>
    </dgm:pt>
    <dgm:pt modelId="{D75947FB-D3E0-49A6-BFE9-CDBD85602024}" type="parTrans" cxnId="{FF61CD2C-A684-4F33-B947-B10F2E81950C}">
      <dgm:prSet/>
      <dgm:spPr/>
      <dgm:t>
        <a:bodyPr/>
        <a:lstStyle/>
        <a:p>
          <a:endParaRPr lang="es-CO"/>
        </a:p>
      </dgm:t>
    </dgm:pt>
    <dgm:pt modelId="{D24414C7-2B35-46B3-9966-242CA25350FC}" type="sibTrans" cxnId="{FF61CD2C-A684-4F33-B947-B10F2E81950C}">
      <dgm:prSet/>
      <dgm:spPr/>
      <dgm:t>
        <a:bodyPr/>
        <a:lstStyle/>
        <a:p>
          <a:endParaRPr lang="es-CO"/>
        </a:p>
      </dgm:t>
    </dgm:pt>
    <dgm:pt modelId="{5B50C786-77B6-4AD2-A8D6-6649ACF69D11}">
      <dgm:prSet phldrT="[Texto]"/>
      <dgm:spPr/>
      <dgm:t>
        <a:bodyPr/>
        <a:lstStyle/>
        <a:p>
          <a:r>
            <a:rPr lang="es-CO" noProof="0"/>
            <a:t>Tasa prevalencia Septiembre 2025</a:t>
          </a:r>
        </a:p>
      </dgm:t>
    </dgm:pt>
    <dgm:pt modelId="{5181F6ED-71D6-4E2A-B4DE-CD2BAAC69F95}" type="parTrans" cxnId="{35F9F8B4-065F-4567-984D-56182AEB6EAD}">
      <dgm:prSet/>
      <dgm:spPr/>
      <dgm:t>
        <a:bodyPr/>
        <a:lstStyle/>
        <a:p>
          <a:endParaRPr lang="es-CO"/>
        </a:p>
      </dgm:t>
    </dgm:pt>
    <dgm:pt modelId="{6BA02012-69ED-4459-A748-6748952A5C81}" type="sibTrans" cxnId="{35F9F8B4-065F-4567-984D-56182AEB6EAD}">
      <dgm:prSet/>
      <dgm:spPr/>
      <dgm:t>
        <a:bodyPr/>
        <a:lstStyle/>
        <a:p>
          <a:endParaRPr lang="es-CO"/>
        </a:p>
      </dgm:t>
    </dgm:pt>
    <dgm:pt modelId="{59069E86-541F-40B4-B1CD-2577D46BB420}">
      <dgm:prSet phldrT="[Texto]" custT="1"/>
      <dgm:spPr/>
      <dgm:t>
        <a:bodyPr/>
        <a:lstStyle/>
        <a:p>
          <a:r>
            <a:rPr lang="es-CO" sz="1800" b="1" noProof="0"/>
            <a:t>1.773 x 100 mil</a:t>
          </a:r>
        </a:p>
        <a:p>
          <a:r>
            <a:rPr lang="es-CO" sz="1200" b="0" noProof="0"/>
            <a:t>(1,641 usuarios)</a:t>
          </a:r>
          <a:endParaRPr lang="es-CO" sz="1200" b="1" noProof="0"/>
        </a:p>
      </dgm:t>
    </dgm:pt>
    <dgm:pt modelId="{7BFE860A-D676-4EB3-81AA-EB7799D17AB0}" type="parTrans" cxnId="{76A9B2E1-D489-4A06-8A29-549D0A1F2FF5}">
      <dgm:prSet/>
      <dgm:spPr/>
      <dgm:t>
        <a:bodyPr/>
        <a:lstStyle/>
        <a:p>
          <a:endParaRPr lang="es-CO"/>
        </a:p>
      </dgm:t>
    </dgm:pt>
    <dgm:pt modelId="{FAD35D0A-09DC-4574-A0BE-BD3F0906908A}" type="sibTrans" cxnId="{76A9B2E1-D489-4A06-8A29-549D0A1F2FF5}">
      <dgm:prSet/>
      <dgm:spPr/>
      <dgm:t>
        <a:bodyPr/>
        <a:lstStyle/>
        <a:p>
          <a:endParaRPr lang="es-CO"/>
        </a:p>
      </dgm:t>
    </dgm:pt>
    <dgm:pt modelId="{D29FE41F-0541-4B95-99D7-F888F824BF4D}">
      <dgm:prSet phldrT="[Texto]"/>
      <dgm:spPr/>
      <dgm:t>
        <a:bodyPr/>
        <a:lstStyle/>
        <a:p>
          <a:r>
            <a:rPr lang="es-CO" noProof="0"/>
            <a:t>Tasa prevalencia Septiembre 2026</a:t>
          </a:r>
        </a:p>
      </dgm:t>
    </dgm:pt>
    <dgm:pt modelId="{8DA6B451-88B2-4F86-8753-9F5BF93A8CFA}" type="parTrans" cxnId="{D7E1FF0C-80CD-4F6E-9CED-FABB2A2B72F2}">
      <dgm:prSet/>
      <dgm:spPr/>
      <dgm:t>
        <a:bodyPr/>
        <a:lstStyle/>
        <a:p>
          <a:endParaRPr lang="es-CO"/>
        </a:p>
      </dgm:t>
    </dgm:pt>
    <dgm:pt modelId="{AF7C0489-E9BD-41F6-8113-09992DA42EED}" type="sibTrans" cxnId="{D7E1FF0C-80CD-4F6E-9CED-FABB2A2B72F2}">
      <dgm:prSet/>
      <dgm:spPr/>
      <dgm:t>
        <a:bodyPr/>
        <a:lstStyle/>
        <a:p>
          <a:endParaRPr lang="es-CO"/>
        </a:p>
      </dgm:t>
    </dgm:pt>
    <dgm:pt modelId="{76EC51B8-1B01-4B45-976F-2796AA150D0F}">
      <dgm:prSet phldrT="[Texto]" custT="1"/>
      <dgm:spPr/>
      <dgm:t>
        <a:bodyPr/>
        <a:lstStyle/>
        <a:p>
          <a:r>
            <a:rPr lang="es-CO" sz="2000" b="1" noProof="0"/>
            <a:t>2.196 x 100 mil</a:t>
          </a:r>
        </a:p>
        <a:p>
          <a:r>
            <a:rPr lang="es-CO" sz="1200" b="0" noProof="0"/>
            <a:t>(2,060 usuarios)</a:t>
          </a:r>
          <a:endParaRPr lang="es-CO" sz="1200" b="1" noProof="0"/>
        </a:p>
      </dgm:t>
    </dgm:pt>
    <dgm:pt modelId="{E075F52A-48B4-4F39-8C94-151934CBD361}" type="sibTrans" cxnId="{C6FA59ED-D14F-4FDA-AC9D-0940E746C487}">
      <dgm:prSet/>
      <dgm:spPr/>
      <dgm:t>
        <a:bodyPr/>
        <a:lstStyle/>
        <a:p>
          <a:endParaRPr lang="es-CO"/>
        </a:p>
      </dgm:t>
    </dgm:pt>
    <dgm:pt modelId="{F301DD4D-7D51-45BA-9E16-CC6BB5D31756}" type="parTrans" cxnId="{C6FA59ED-D14F-4FDA-AC9D-0940E746C487}">
      <dgm:prSet/>
      <dgm:spPr/>
      <dgm:t>
        <a:bodyPr/>
        <a:lstStyle/>
        <a:p>
          <a:endParaRPr lang="es-CO"/>
        </a:p>
      </dgm:t>
    </dgm:pt>
    <dgm:pt modelId="{AA032465-375D-433A-B3DD-E7B1976397E7}" type="pres">
      <dgm:prSet presAssocID="{F7E84BED-FE7E-4CB7-8904-F300BE11132D}" presName="Name0" presStyleCnt="0">
        <dgm:presLayoutVars>
          <dgm:chMax val="7"/>
          <dgm:chPref val="7"/>
          <dgm:dir/>
          <dgm:animOne val="branch"/>
          <dgm:animLvl val="lvl"/>
        </dgm:presLayoutVars>
      </dgm:prSet>
      <dgm:spPr/>
    </dgm:pt>
    <dgm:pt modelId="{6CEF1CF6-AFDE-4BFA-9B78-AD09BD923390}" type="pres">
      <dgm:prSet presAssocID="{037433D6-96D0-436B-AC7A-BEEA26A02849}" presName="composite" presStyleCnt="0"/>
      <dgm:spPr/>
    </dgm:pt>
    <dgm:pt modelId="{1766EF7C-E890-4C61-9C85-82ED9FD270B5}" type="pres">
      <dgm:prSet presAssocID="{037433D6-96D0-436B-AC7A-BEEA26A02849}" presName="BackAccent" presStyleLbl="bgShp" presStyleIdx="0" presStyleCnt="3"/>
      <dgm:spPr/>
    </dgm:pt>
    <dgm:pt modelId="{06F80408-6243-4958-B304-39DE9BFBCF73}" type="pres">
      <dgm:prSet presAssocID="{037433D6-96D0-436B-AC7A-BEEA26A02849}" presName="Accent" presStyleLbl="alignNode1" presStyleIdx="0" presStyleCnt="3"/>
      <dgm:spPr/>
    </dgm:pt>
    <dgm:pt modelId="{D6B402B0-64EB-488D-88C5-3115871F5B94}" type="pres">
      <dgm:prSet presAssocID="{037433D6-96D0-436B-AC7A-BEEA26A02849}" presName="Child" presStyleLbl="revTx" presStyleIdx="0" presStyleCnt="6">
        <dgm:presLayoutVars>
          <dgm:chMax val="0"/>
          <dgm:chPref val="0"/>
          <dgm:bulletEnabled val="1"/>
        </dgm:presLayoutVars>
      </dgm:prSet>
      <dgm:spPr/>
    </dgm:pt>
    <dgm:pt modelId="{4F082C76-A1EE-494C-9B02-E38EAD4675CD}" type="pres">
      <dgm:prSet presAssocID="{037433D6-96D0-436B-AC7A-BEEA26A02849}" presName="Parent" presStyleLbl="revTx" presStyleIdx="1" presStyleCnt="6">
        <dgm:presLayoutVars>
          <dgm:chMax val="1"/>
          <dgm:chPref val="1"/>
          <dgm:bulletEnabled val="1"/>
        </dgm:presLayoutVars>
      </dgm:prSet>
      <dgm:spPr/>
    </dgm:pt>
    <dgm:pt modelId="{B0EF8B8F-AC04-4788-A7CC-031F2154DD29}" type="pres">
      <dgm:prSet presAssocID="{3DB86353-3047-4E87-8279-CCD705A7FF4E}" presName="sibTrans" presStyleCnt="0"/>
      <dgm:spPr/>
    </dgm:pt>
    <dgm:pt modelId="{82A49C9B-32ED-4305-A9D1-CA0E662040E6}" type="pres">
      <dgm:prSet presAssocID="{5B50C786-77B6-4AD2-A8D6-6649ACF69D11}" presName="composite" presStyleCnt="0"/>
      <dgm:spPr/>
    </dgm:pt>
    <dgm:pt modelId="{1C0270DB-9ED4-4AC6-91E2-23A44977DE5D}" type="pres">
      <dgm:prSet presAssocID="{5B50C786-77B6-4AD2-A8D6-6649ACF69D11}" presName="BackAccent" presStyleLbl="bgShp" presStyleIdx="1" presStyleCnt="3"/>
      <dgm:spPr/>
    </dgm:pt>
    <dgm:pt modelId="{B31CAA77-C4DF-491A-BEE1-F06072D0FCF3}" type="pres">
      <dgm:prSet presAssocID="{5B50C786-77B6-4AD2-A8D6-6649ACF69D11}" presName="Accent" presStyleLbl="alignNode1" presStyleIdx="1" presStyleCnt="3"/>
      <dgm:spPr/>
    </dgm:pt>
    <dgm:pt modelId="{8F7DEA1A-92A0-4BC8-8B4B-1C1FAA584DB5}" type="pres">
      <dgm:prSet presAssocID="{5B50C786-77B6-4AD2-A8D6-6649ACF69D11}" presName="Child" presStyleLbl="revTx" presStyleIdx="2" presStyleCnt="6">
        <dgm:presLayoutVars>
          <dgm:chMax val="0"/>
          <dgm:chPref val="0"/>
          <dgm:bulletEnabled val="1"/>
        </dgm:presLayoutVars>
      </dgm:prSet>
      <dgm:spPr/>
    </dgm:pt>
    <dgm:pt modelId="{BA74B8B1-C702-48BE-987A-80A0281D6F7D}" type="pres">
      <dgm:prSet presAssocID="{5B50C786-77B6-4AD2-A8D6-6649ACF69D11}" presName="Parent" presStyleLbl="revTx" presStyleIdx="3" presStyleCnt="6">
        <dgm:presLayoutVars>
          <dgm:chMax val="1"/>
          <dgm:chPref val="1"/>
          <dgm:bulletEnabled val="1"/>
        </dgm:presLayoutVars>
      </dgm:prSet>
      <dgm:spPr/>
    </dgm:pt>
    <dgm:pt modelId="{64F969D4-D948-40FF-AEB9-DADEB210232A}" type="pres">
      <dgm:prSet presAssocID="{6BA02012-69ED-4459-A748-6748952A5C81}" presName="sibTrans" presStyleCnt="0"/>
      <dgm:spPr/>
    </dgm:pt>
    <dgm:pt modelId="{94EF0BFC-3C34-4732-A6D3-15641D86F941}" type="pres">
      <dgm:prSet presAssocID="{D29FE41F-0541-4B95-99D7-F888F824BF4D}" presName="composite" presStyleCnt="0"/>
      <dgm:spPr/>
    </dgm:pt>
    <dgm:pt modelId="{2911D279-0720-4E70-B01A-FB11967A8748}" type="pres">
      <dgm:prSet presAssocID="{D29FE41F-0541-4B95-99D7-F888F824BF4D}" presName="BackAccent" presStyleLbl="bgShp" presStyleIdx="2" presStyleCnt="3"/>
      <dgm:spPr/>
    </dgm:pt>
    <dgm:pt modelId="{FF5E3E29-F257-4FA5-A52F-2C54E5CF378C}" type="pres">
      <dgm:prSet presAssocID="{D29FE41F-0541-4B95-99D7-F888F824BF4D}" presName="Accent" presStyleLbl="alignNode1" presStyleIdx="2" presStyleCnt="3"/>
      <dgm:spPr/>
    </dgm:pt>
    <dgm:pt modelId="{C2864890-A6F6-4BFC-8C8B-371A2DEBFE13}" type="pres">
      <dgm:prSet presAssocID="{D29FE41F-0541-4B95-99D7-F888F824BF4D}" presName="Child" presStyleLbl="revTx" presStyleIdx="4" presStyleCnt="6" custScaleX="133846">
        <dgm:presLayoutVars>
          <dgm:chMax val="0"/>
          <dgm:chPref val="0"/>
          <dgm:bulletEnabled val="1"/>
        </dgm:presLayoutVars>
      </dgm:prSet>
      <dgm:spPr/>
    </dgm:pt>
    <dgm:pt modelId="{ACB5AC1A-0601-49F9-ADF5-639ACF608D94}" type="pres">
      <dgm:prSet presAssocID="{D29FE41F-0541-4B95-99D7-F888F824BF4D}" presName="Parent" presStyleLbl="revTx" presStyleIdx="5" presStyleCnt="6" custLinFactNeighborY="-2144">
        <dgm:presLayoutVars>
          <dgm:chMax val="1"/>
          <dgm:chPref val="1"/>
          <dgm:bulletEnabled val="1"/>
        </dgm:presLayoutVars>
      </dgm:prSet>
      <dgm:spPr/>
    </dgm:pt>
  </dgm:ptLst>
  <dgm:cxnLst>
    <dgm:cxn modelId="{D7E1FF0C-80CD-4F6E-9CED-FABB2A2B72F2}" srcId="{F7E84BED-FE7E-4CB7-8904-F300BE11132D}" destId="{D29FE41F-0541-4B95-99D7-F888F824BF4D}" srcOrd="2" destOrd="0" parTransId="{8DA6B451-88B2-4F86-8753-9F5BF93A8CFA}" sibTransId="{AF7C0489-E9BD-41F6-8113-09992DA42EED}"/>
    <dgm:cxn modelId="{28335814-184B-4CD6-819D-BCD82A04D30B}" type="presOf" srcId="{59069E86-541F-40B4-B1CD-2577D46BB420}" destId="{8F7DEA1A-92A0-4BC8-8B4B-1C1FAA584DB5}" srcOrd="0" destOrd="0" presId="urn:microsoft.com/office/officeart/2008/layout/IncreasingCircleProcess"/>
    <dgm:cxn modelId="{FF61CD2C-A684-4F33-B947-B10F2E81950C}" srcId="{037433D6-96D0-436B-AC7A-BEEA26A02849}" destId="{ABDA5E0A-77FF-422D-81DD-09A407B2BE10}" srcOrd="0" destOrd="0" parTransId="{D75947FB-D3E0-49A6-BFE9-CDBD85602024}" sibTransId="{D24414C7-2B35-46B3-9966-242CA25350FC}"/>
    <dgm:cxn modelId="{87A7DB39-B1BA-4270-B897-71861334A72A}" type="presOf" srcId="{F7E84BED-FE7E-4CB7-8904-F300BE11132D}" destId="{AA032465-375D-433A-B3DD-E7B1976397E7}" srcOrd="0" destOrd="0" presId="urn:microsoft.com/office/officeart/2008/layout/IncreasingCircleProcess"/>
    <dgm:cxn modelId="{4BA0B650-6E36-4683-A1BD-1186618525A6}" type="presOf" srcId="{037433D6-96D0-436B-AC7A-BEEA26A02849}" destId="{4F082C76-A1EE-494C-9B02-E38EAD4675CD}" srcOrd="0" destOrd="0" presId="urn:microsoft.com/office/officeart/2008/layout/IncreasingCircleProcess"/>
    <dgm:cxn modelId="{66B1F752-EB16-4304-B657-AC3B8A3A9A8F}" type="presOf" srcId="{5B50C786-77B6-4AD2-A8D6-6649ACF69D11}" destId="{BA74B8B1-C702-48BE-987A-80A0281D6F7D}" srcOrd="0" destOrd="0" presId="urn:microsoft.com/office/officeart/2008/layout/IncreasingCircleProcess"/>
    <dgm:cxn modelId="{AC983A89-B451-43E0-91C7-E8C3869850EB}" type="presOf" srcId="{76EC51B8-1B01-4B45-976F-2796AA150D0F}" destId="{C2864890-A6F6-4BFC-8C8B-371A2DEBFE13}" srcOrd="0" destOrd="0" presId="urn:microsoft.com/office/officeart/2008/layout/IncreasingCircleProcess"/>
    <dgm:cxn modelId="{08AD87A4-467D-4326-8238-467E45AF2C1E}" type="presOf" srcId="{D29FE41F-0541-4B95-99D7-F888F824BF4D}" destId="{ACB5AC1A-0601-49F9-ADF5-639ACF608D94}" srcOrd="0" destOrd="0" presId="urn:microsoft.com/office/officeart/2008/layout/IncreasingCircleProcess"/>
    <dgm:cxn modelId="{35F9F8B4-065F-4567-984D-56182AEB6EAD}" srcId="{F7E84BED-FE7E-4CB7-8904-F300BE11132D}" destId="{5B50C786-77B6-4AD2-A8D6-6649ACF69D11}" srcOrd="1" destOrd="0" parTransId="{5181F6ED-71D6-4E2A-B4DE-CD2BAAC69F95}" sibTransId="{6BA02012-69ED-4459-A748-6748952A5C81}"/>
    <dgm:cxn modelId="{4B3DEBD7-38F4-45B0-8026-7DA7F01EF532}" srcId="{F7E84BED-FE7E-4CB7-8904-F300BE11132D}" destId="{037433D6-96D0-436B-AC7A-BEEA26A02849}" srcOrd="0" destOrd="0" parTransId="{B9A692A3-0253-4289-9F87-FA8CF5BDA7E5}" sibTransId="{3DB86353-3047-4E87-8279-CCD705A7FF4E}"/>
    <dgm:cxn modelId="{76A9B2E1-D489-4A06-8A29-549D0A1F2FF5}" srcId="{5B50C786-77B6-4AD2-A8D6-6649ACF69D11}" destId="{59069E86-541F-40B4-B1CD-2577D46BB420}" srcOrd="0" destOrd="0" parTransId="{7BFE860A-D676-4EB3-81AA-EB7799D17AB0}" sibTransId="{FAD35D0A-09DC-4574-A0BE-BD3F0906908A}"/>
    <dgm:cxn modelId="{C6FA59ED-D14F-4FDA-AC9D-0940E746C487}" srcId="{D29FE41F-0541-4B95-99D7-F888F824BF4D}" destId="{76EC51B8-1B01-4B45-976F-2796AA150D0F}" srcOrd="0" destOrd="0" parTransId="{F301DD4D-7D51-45BA-9E16-CC6BB5D31756}" sibTransId="{E075F52A-48B4-4F39-8C94-151934CBD361}"/>
    <dgm:cxn modelId="{7F5D2EFC-5AC0-4F29-953E-DC6DA445CA0D}" type="presOf" srcId="{ABDA5E0A-77FF-422D-81DD-09A407B2BE10}" destId="{D6B402B0-64EB-488D-88C5-3115871F5B94}" srcOrd="0" destOrd="0" presId="urn:microsoft.com/office/officeart/2008/layout/IncreasingCircleProcess"/>
    <dgm:cxn modelId="{1FA88313-F364-4487-959D-B65CF46AC60F}" type="presParOf" srcId="{AA032465-375D-433A-B3DD-E7B1976397E7}" destId="{6CEF1CF6-AFDE-4BFA-9B78-AD09BD923390}" srcOrd="0" destOrd="0" presId="urn:microsoft.com/office/officeart/2008/layout/IncreasingCircleProcess"/>
    <dgm:cxn modelId="{8425C823-2A49-4139-BF17-7C119AE8E6BA}" type="presParOf" srcId="{6CEF1CF6-AFDE-4BFA-9B78-AD09BD923390}" destId="{1766EF7C-E890-4C61-9C85-82ED9FD270B5}" srcOrd="0" destOrd="0" presId="urn:microsoft.com/office/officeart/2008/layout/IncreasingCircleProcess"/>
    <dgm:cxn modelId="{6B0B01AA-B6F0-45F6-9D13-937116BC8BBE}" type="presParOf" srcId="{6CEF1CF6-AFDE-4BFA-9B78-AD09BD923390}" destId="{06F80408-6243-4958-B304-39DE9BFBCF73}" srcOrd="1" destOrd="0" presId="urn:microsoft.com/office/officeart/2008/layout/IncreasingCircleProcess"/>
    <dgm:cxn modelId="{E4731556-3A80-4047-906A-7C844480C548}" type="presParOf" srcId="{6CEF1CF6-AFDE-4BFA-9B78-AD09BD923390}" destId="{D6B402B0-64EB-488D-88C5-3115871F5B94}" srcOrd="2" destOrd="0" presId="urn:microsoft.com/office/officeart/2008/layout/IncreasingCircleProcess"/>
    <dgm:cxn modelId="{AC255D35-A6D0-4342-9C1D-6D3B86E03CDC}" type="presParOf" srcId="{6CEF1CF6-AFDE-4BFA-9B78-AD09BD923390}" destId="{4F082C76-A1EE-494C-9B02-E38EAD4675CD}" srcOrd="3" destOrd="0" presId="urn:microsoft.com/office/officeart/2008/layout/IncreasingCircleProcess"/>
    <dgm:cxn modelId="{50E2C200-2B49-46F9-A668-57CCCEEDA9DA}" type="presParOf" srcId="{AA032465-375D-433A-B3DD-E7B1976397E7}" destId="{B0EF8B8F-AC04-4788-A7CC-031F2154DD29}" srcOrd="1" destOrd="0" presId="urn:microsoft.com/office/officeart/2008/layout/IncreasingCircleProcess"/>
    <dgm:cxn modelId="{53F1AD41-357F-4B7B-A5B6-0F5E8F66749C}" type="presParOf" srcId="{AA032465-375D-433A-B3DD-E7B1976397E7}" destId="{82A49C9B-32ED-4305-A9D1-CA0E662040E6}" srcOrd="2" destOrd="0" presId="urn:microsoft.com/office/officeart/2008/layout/IncreasingCircleProcess"/>
    <dgm:cxn modelId="{B516E2B7-A8B2-4879-83F7-395A33C34FB6}" type="presParOf" srcId="{82A49C9B-32ED-4305-A9D1-CA0E662040E6}" destId="{1C0270DB-9ED4-4AC6-91E2-23A44977DE5D}" srcOrd="0" destOrd="0" presId="urn:microsoft.com/office/officeart/2008/layout/IncreasingCircleProcess"/>
    <dgm:cxn modelId="{BF3C8C0D-E7A7-46FD-A0D7-2040D2C4D61C}" type="presParOf" srcId="{82A49C9B-32ED-4305-A9D1-CA0E662040E6}" destId="{B31CAA77-C4DF-491A-BEE1-F06072D0FCF3}" srcOrd="1" destOrd="0" presId="urn:microsoft.com/office/officeart/2008/layout/IncreasingCircleProcess"/>
    <dgm:cxn modelId="{DD87787A-7CB8-48A0-B486-B026451EE436}" type="presParOf" srcId="{82A49C9B-32ED-4305-A9D1-CA0E662040E6}" destId="{8F7DEA1A-92A0-4BC8-8B4B-1C1FAA584DB5}" srcOrd="2" destOrd="0" presId="urn:microsoft.com/office/officeart/2008/layout/IncreasingCircleProcess"/>
    <dgm:cxn modelId="{AE729705-7DD5-478C-AC18-EC2CA517FE16}" type="presParOf" srcId="{82A49C9B-32ED-4305-A9D1-CA0E662040E6}" destId="{BA74B8B1-C702-48BE-987A-80A0281D6F7D}" srcOrd="3" destOrd="0" presId="urn:microsoft.com/office/officeart/2008/layout/IncreasingCircleProcess"/>
    <dgm:cxn modelId="{7C1BC840-10EC-4302-86BA-21B0CD17C28E}" type="presParOf" srcId="{AA032465-375D-433A-B3DD-E7B1976397E7}" destId="{64F969D4-D948-40FF-AEB9-DADEB210232A}" srcOrd="3" destOrd="0" presId="urn:microsoft.com/office/officeart/2008/layout/IncreasingCircleProcess"/>
    <dgm:cxn modelId="{0C7C01A0-91EF-4076-84C7-3029856081E2}" type="presParOf" srcId="{AA032465-375D-433A-B3DD-E7B1976397E7}" destId="{94EF0BFC-3C34-4732-A6D3-15641D86F941}" srcOrd="4" destOrd="0" presId="urn:microsoft.com/office/officeart/2008/layout/IncreasingCircleProcess"/>
    <dgm:cxn modelId="{4F4D8D0D-74B1-43A9-A192-A7166BD40A8E}" type="presParOf" srcId="{94EF0BFC-3C34-4732-A6D3-15641D86F941}" destId="{2911D279-0720-4E70-B01A-FB11967A8748}" srcOrd="0" destOrd="0" presId="urn:microsoft.com/office/officeart/2008/layout/IncreasingCircleProcess"/>
    <dgm:cxn modelId="{1A5CF1A5-8A12-46C1-A358-6652261526DF}" type="presParOf" srcId="{94EF0BFC-3C34-4732-A6D3-15641D86F941}" destId="{FF5E3E29-F257-4FA5-A52F-2C54E5CF378C}" srcOrd="1" destOrd="0" presId="urn:microsoft.com/office/officeart/2008/layout/IncreasingCircleProcess"/>
    <dgm:cxn modelId="{01A18CB0-11E9-4367-B968-CA5C2615A56F}" type="presParOf" srcId="{94EF0BFC-3C34-4732-A6D3-15641D86F941}" destId="{C2864890-A6F6-4BFC-8C8B-371A2DEBFE13}" srcOrd="2" destOrd="0" presId="urn:microsoft.com/office/officeart/2008/layout/IncreasingCircleProcess"/>
    <dgm:cxn modelId="{D9C02E29-2D48-4B6D-8137-0331736A34E4}" type="presParOf" srcId="{94EF0BFC-3C34-4732-A6D3-15641D86F941}" destId="{ACB5AC1A-0601-49F9-ADF5-639ACF608D94}" srcOrd="3" destOrd="0" presId="urn:microsoft.com/office/officeart/2008/layout/Increasing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E84BED-FE7E-4CB7-8904-F300BE11132D}" type="doc">
      <dgm:prSet loTypeId="urn:microsoft.com/office/officeart/2008/layout/IncreasingCircleProcess" loCatId="list" qsTypeId="urn:microsoft.com/office/officeart/2005/8/quickstyle/simple1#4" qsCatId="simple" csTypeId="urn:microsoft.com/office/officeart/2005/8/colors/accent1_2#4" csCatId="accent1" phldr="1"/>
      <dgm:spPr/>
      <dgm:t>
        <a:bodyPr/>
        <a:lstStyle/>
        <a:p>
          <a:endParaRPr lang="es-CO"/>
        </a:p>
      </dgm:t>
    </dgm:pt>
    <dgm:pt modelId="{D29FE41F-0541-4B95-99D7-F888F824BF4D}">
      <dgm:prSet phldrT="[Texto]"/>
      <dgm:spPr/>
      <dgm:t>
        <a:bodyPr/>
        <a:lstStyle/>
        <a:p>
          <a:r>
            <a:rPr lang="es-CO" noProof="0"/>
            <a:t>Tasa prevalencia Octubre 2025</a:t>
          </a:r>
        </a:p>
      </dgm:t>
    </dgm:pt>
    <dgm:pt modelId="{8DA6B451-88B2-4F86-8753-9F5BF93A8CFA}" type="parTrans" cxnId="{D7E1FF0C-80CD-4F6E-9CED-FABB2A2B72F2}">
      <dgm:prSet/>
      <dgm:spPr/>
      <dgm:t>
        <a:bodyPr/>
        <a:lstStyle/>
        <a:p>
          <a:endParaRPr lang="es-CO"/>
        </a:p>
      </dgm:t>
    </dgm:pt>
    <dgm:pt modelId="{AF7C0489-E9BD-41F6-8113-09992DA42EED}" type="sibTrans" cxnId="{D7E1FF0C-80CD-4F6E-9CED-FABB2A2B72F2}">
      <dgm:prSet/>
      <dgm:spPr/>
      <dgm:t>
        <a:bodyPr/>
        <a:lstStyle/>
        <a:p>
          <a:endParaRPr lang="es-CO"/>
        </a:p>
      </dgm:t>
    </dgm:pt>
    <dgm:pt modelId="{76EC51B8-1B01-4B45-976F-2796AA150D0F}">
      <dgm:prSet phldrT="[Texto]" custT="1"/>
      <dgm:spPr/>
      <dgm:t>
        <a:bodyPr/>
        <a:lstStyle/>
        <a:p>
          <a:r>
            <a:rPr lang="es-CO" sz="2000" b="1" noProof="0"/>
            <a:t>1.206 x 100 mil</a:t>
          </a:r>
        </a:p>
        <a:p>
          <a:r>
            <a:rPr lang="es-CO" sz="1200" b="0" noProof="0"/>
            <a:t>(3,532 usuarios)</a:t>
          </a:r>
          <a:endParaRPr lang="es-CO" sz="1200" b="1" noProof="0"/>
        </a:p>
      </dgm:t>
    </dgm:pt>
    <dgm:pt modelId="{F301DD4D-7D51-45BA-9E16-CC6BB5D31756}" type="parTrans" cxnId="{C6FA59ED-D14F-4FDA-AC9D-0940E746C487}">
      <dgm:prSet/>
      <dgm:spPr/>
      <dgm:t>
        <a:bodyPr/>
        <a:lstStyle/>
        <a:p>
          <a:endParaRPr lang="es-CO"/>
        </a:p>
      </dgm:t>
    </dgm:pt>
    <dgm:pt modelId="{E075F52A-48B4-4F39-8C94-151934CBD361}" type="sibTrans" cxnId="{C6FA59ED-D14F-4FDA-AC9D-0940E746C487}">
      <dgm:prSet/>
      <dgm:spPr/>
      <dgm:t>
        <a:bodyPr/>
        <a:lstStyle/>
        <a:p>
          <a:endParaRPr lang="es-CO"/>
        </a:p>
      </dgm:t>
    </dgm:pt>
    <dgm:pt modelId="{EB2BCF5C-5A7A-4A16-A8AE-E509BAE833E7}">
      <dgm:prSet/>
      <dgm:spPr/>
      <dgm:t>
        <a:bodyPr/>
        <a:lstStyle/>
        <a:p>
          <a:r>
            <a:rPr lang="es-CO" noProof="0"/>
            <a:t>Tasa Prevalencia Septiembre 2026</a:t>
          </a:r>
        </a:p>
      </dgm:t>
    </dgm:pt>
    <dgm:pt modelId="{6E4E1C31-9636-4D3D-88CD-226AC8D63786}" type="parTrans" cxnId="{A7E4D238-51CB-4505-A694-74D63680B329}">
      <dgm:prSet/>
      <dgm:spPr/>
      <dgm:t>
        <a:bodyPr/>
        <a:lstStyle/>
        <a:p>
          <a:endParaRPr lang="es-CO"/>
        </a:p>
      </dgm:t>
    </dgm:pt>
    <dgm:pt modelId="{A52567DA-6327-4F1A-8202-19B2077831B9}" type="sibTrans" cxnId="{A7E4D238-51CB-4505-A694-74D63680B329}">
      <dgm:prSet/>
      <dgm:spPr/>
      <dgm:t>
        <a:bodyPr/>
        <a:lstStyle/>
        <a:p>
          <a:endParaRPr lang="es-CO"/>
        </a:p>
      </dgm:t>
    </dgm:pt>
    <dgm:pt modelId="{AA032465-375D-433A-B3DD-E7B1976397E7}" type="pres">
      <dgm:prSet presAssocID="{F7E84BED-FE7E-4CB7-8904-F300BE11132D}" presName="Name0" presStyleCnt="0">
        <dgm:presLayoutVars>
          <dgm:chMax val="7"/>
          <dgm:chPref val="7"/>
          <dgm:dir/>
          <dgm:animOne val="branch"/>
          <dgm:animLvl val="lvl"/>
        </dgm:presLayoutVars>
      </dgm:prSet>
      <dgm:spPr/>
    </dgm:pt>
    <dgm:pt modelId="{94EF0BFC-3C34-4732-A6D3-15641D86F941}" type="pres">
      <dgm:prSet presAssocID="{D29FE41F-0541-4B95-99D7-F888F824BF4D}" presName="composite" presStyleCnt="0"/>
      <dgm:spPr/>
    </dgm:pt>
    <dgm:pt modelId="{2911D279-0720-4E70-B01A-FB11967A8748}" type="pres">
      <dgm:prSet presAssocID="{D29FE41F-0541-4B95-99D7-F888F824BF4D}" presName="BackAccent" presStyleLbl="bgShp" presStyleIdx="0" presStyleCnt="2"/>
      <dgm:spPr/>
    </dgm:pt>
    <dgm:pt modelId="{FF5E3E29-F257-4FA5-A52F-2C54E5CF378C}" type="pres">
      <dgm:prSet presAssocID="{D29FE41F-0541-4B95-99D7-F888F824BF4D}" presName="Accent" presStyleLbl="alignNode1" presStyleIdx="0" presStyleCnt="2" custLinFactNeighborX="-2" custLinFactNeighborY="1012"/>
      <dgm:spPr/>
    </dgm:pt>
    <dgm:pt modelId="{C2864890-A6F6-4BFC-8C8B-371A2DEBFE13}" type="pres">
      <dgm:prSet presAssocID="{D29FE41F-0541-4B95-99D7-F888F824BF4D}" presName="Child" presStyleLbl="revTx" presStyleIdx="0" presStyleCnt="3" custScaleX="133846" custLinFactNeighborX="22402">
        <dgm:presLayoutVars>
          <dgm:chMax val="0"/>
          <dgm:chPref val="0"/>
          <dgm:bulletEnabled val="1"/>
        </dgm:presLayoutVars>
      </dgm:prSet>
      <dgm:spPr/>
    </dgm:pt>
    <dgm:pt modelId="{ACB5AC1A-0601-49F9-ADF5-639ACF608D94}" type="pres">
      <dgm:prSet presAssocID="{D29FE41F-0541-4B95-99D7-F888F824BF4D}" presName="Parent" presStyleLbl="revTx" presStyleIdx="1" presStyleCnt="3" custLinFactNeighborX="22402">
        <dgm:presLayoutVars>
          <dgm:chMax val="1"/>
          <dgm:chPref val="1"/>
          <dgm:bulletEnabled val="1"/>
        </dgm:presLayoutVars>
      </dgm:prSet>
      <dgm:spPr/>
    </dgm:pt>
    <dgm:pt modelId="{AB723835-446E-4EAA-89B7-4A2E82EF9116}" type="pres">
      <dgm:prSet presAssocID="{AF7C0489-E9BD-41F6-8113-09992DA42EED}" presName="sibTrans" presStyleCnt="0"/>
      <dgm:spPr/>
    </dgm:pt>
    <dgm:pt modelId="{E71F2C9F-F370-46FE-A804-2E0A4190CC76}" type="pres">
      <dgm:prSet presAssocID="{EB2BCF5C-5A7A-4A16-A8AE-E509BAE833E7}" presName="composite" presStyleCnt="0"/>
      <dgm:spPr/>
    </dgm:pt>
    <dgm:pt modelId="{4AACA85F-7806-4E93-8F56-BD2EE09F3CD0}" type="pres">
      <dgm:prSet presAssocID="{EB2BCF5C-5A7A-4A16-A8AE-E509BAE833E7}" presName="BackAccent" presStyleLbl="bgShp" presStyleIdx="1" presStyleCnt="2"/>
      <dgm:spPr/>
    </dgm:pt>
    <dgm:pt modelId="{BB67465B-0F36-4730-B2AB-1BA8B73D1945}" type="pres">
      <dgm:prSet presAssocID="{EB2BCF5C-5A7A-4A16-A8AE-E509BAE833E7}" presName="Accent" presStyleLbl="alignNode1" presStyleIdx="1" presStyleCnt="2"/>
      <dgm:spPr/>
    </dgm:pt>
    <dgm:pt modelId="{2410921D-77C0-42A3-9C3F-0CB8801089F0}" type="pres">
      <dgm:prSet presAssocID="{EB2BCF5C-5A7A-4A16-A8AE-E509BAE833E7}" presName="Child" presStyleLbl="revTx" presStyleIdx="1" presStyleCnt="3">
        <dgm:presLayoutVars>
          <dgm:chMax val="0"/>
          <dgm:chPref val="0"/>
          <dgm:bulletEnabled val="1"/>
        </dgm:presLayoutVars>
      </dgm:prSet>
      <dgm:spPr/>
    </dgm:pt>
    <dgm:pt modelId="{96FF5DF9-1BB8-4411-8D07-1E65DFE57677}" type="pres">
      <dgm:prSet presAssocID="{EB2BCF5C-5A7A-4A16-A8AE-E509BAE833E7}" presName="Parent" presStyleLbl="revTx" presStyleIdx="2" presStyleCnt="3">
        <dgm:presLayoutVars>
          <dgm:chMax val="1"/>
          <dgm:chPref val="1"/>
          <dgm:bulletEnabled val="1"/>
        </dgm:presLayoutVars>
      </dgm:prSet>
      <dgm:spPr/>
    </dgm:pt>
  </dgm:ptLst>
  <dgm:cxnLst>
    <dgm:cxn modelId="{D7E1FF0C-80CD-4F6E-9CED-FABB2A2B72F2}" srcId="{F7E84BED-FE7E-4CB7-8904-F300BE11132D}" destId="{D29FE41F-0541-4B95-99D7-F888F824BF4D}" srcOrd="0" destOrd="0" parTransId="{8DA6B451-88B2-4F86-8753-9F5BF93A8CFA}" sibTransId="{AF7C0489-E9BD-41F6-8113-09992DA42EED}"/>
    <dgm:cxn modelId="{A7E4D238-51CB-4505-A694-74D63680B329}" srcId="{F7E84BED-FE7E-4CB7-8904-F300BE11132D}" destId="{EB2BCF5C-5A7A-4A16-A8AE-E509BAE833E7}" srcOrd="1" destOrd="0" parTransId="{6E4E1C31-9636-4D3D-88CD-226AC8D63786}" sibTransId="{A52567DA-6327-4F1A-8202-19B2077831B9}"/>
    <dgm:cxn modelId="{87A7DB39-B1BA-4270-B897-71861334A72A}" type="presOf" srcId="{F7E84BED-FE7E-4CB7-8904-F300BE11132D}" destId="{AA032465-375D-433A-B3DD-E7B1976397E7}" srcOrd="0" destOrd="0" presId="urn:microsoft.com/office/officeart/2008/layout/IncreasingCircleProcess"/>
    <dgm:cxn modelId="{AC983A89-B451-43E0-91C7-E8C3869850EB}" type="presOf" srcId="{76EC51B8-1B01-4B45-976F-2796AA150D0F}" destId="{C2864890-A6F6-4BFC-8C8B-371A2DEBFE13}" srcOrd="0" destOrd="0" presId="urn:microsoft.com/office/officeart/2008/layout/IncreasingCircleProcess"/>
    <dgm:cxn modelId="{08AD87A4-467D-4326-8238-467E45AF2C1E}" type="presOf" srcId="{D29FE41F-0541-4B95-99D7-F888F824BF4D}" destId="{ACB5AC1A-0601-49F9-ADF5-639ACF608D94}" srcOrd="0" destOrd="0" presId="urn:microsoft.com/office/officeart/2008/layout/IncreasingCircleProcess"/>
    <dgm:cxn modelId="{1AC177D5-FC5F-485A-B0E2-FB4E0DD2BE54}" type="presOf" srcId="{EB2BCF5C-5A7A-4A16-A8AE-E509BAE833E7}" destId="{96FF5DF9-1BB8-4411-8D07-1E65DFE57677}" srcOrd="0" destOrd="0" presId="urn:microsoft.com/office/officeart/2008/layout/IncreasingCircleProcess"/>
    <dgm:cxn modelId="{C6FA59ED-D14F-4FDA-AC9D-0940E746C487}" srcId="{D29FE41F-0541-4B95-99D7-F888F824BF4D}" destId="{76EC51B8-1B01-4B45-976F-2796AA150D0F}" srcOrd="0" destOrd="0" parTransId="{F301DD4D-7D51-45BA-9E16-CC6BB5D31756}" sibTransId="{E075F52A-48B4-4F39-8C94-151934CBD361}"/>
    <dgm:cxn modelId="{0C7C01A0-91EF-4076-84C7-3029856081E2}" type="presParOf" srcId="{AA032465-375D-433A-B3DD-E7B1976397E7}" destId="{94EF0BFC-3C34-4732-A6D3-15641D86F941}" srcOrd="0" destOrd="0" presId="urn:microsoft.com/office/officeart/2008/layout/IncreasingCircleProcess"/>
    <dgm:cxn modelId="{4F4D8D0D-74B1-43A9-A192-A7166BD40A8E}" type="presParOf" srcId="{94EF0BFC-3C34-4732-A6D3-15641D86F941}" destId="{2911D279-0720-4E70-B01A-FB11967A8748}" srcOrd="0" destOrd="0" presId="urn:microsoft.com/office/officeart/2008/layout/IncreasingCircleProcess"/>
    <dgm:cxn modelId="{1A5CF1A5-8A12-46C1-A358-6652261526DF}" type="presParOf" srcId="{94EF0BFC-3C34-4732-A6D3-15641D86F941}" destId="{FF5E3E29-F257-4FA5-A52F-2C54E5CF378C}" srcOrd="1" destOrd="0" presId="urn:microsoft.com/office/officeart/2008/layout/IncreasingCircleProcess"/>
    <dgm:cxn modelId="{01A18CB0-11E9-4367-B968-CA5C2615A56F}" type="presParOf" srcId="{94EF0BFC-3C34-4732-A6D3-15641D86F941}" destId="{C2864890-A6F6-4BFC-8C8B-371A2DEBFE13}" srcOrd="2" destOrd="0" presId="urn:microsoft.com/office/officeart/2008/layout/IncreasingCircleProcess"/>
    <dgm:cxn modelId="{D9C02E29-2D48-4B6D-8137-0331736A34E4}" type="presParOf" srcId="{94EF0BFC-3C34-4732-A6D3-15641D86F941}" destId="{ACB5AC1A-0601-49F9-ADF5-639ACF608D94}" srcOrd="3" destOrd="0" presId="urn:microsoft.com/office/officeart/2008/layout/IncreasingCircleProcess"/>
    <dgm:cxn modelId="{C748E656-89D9-4CC7-AE24-86798E9A3036}" type="presParOf" srcId="{AA032465-375D-433A-B3DD-E7B1976397E7}" destId="{AB723835-446E-4EAA-89B7-4A2E82EF9116}" srcOrd="1" destOrd="0" presId="urn:microsoft.com/office/officeart/2008/layout/IncreasingCircleProcess"/>
    <dgm:cxn modelId="{AEC1A313-6F13-43A6-8665-8321C118C2FF}" type="presParOf" srcId="{AA032465-375D-433A-B3DD-E7B1976397E7}" destId="{E71F2C9F-F370-46FE-A804-2E0A4190CC76}" srcOrd="2" destOrd="0" presId="urn:microsoft.com/office/officeart/2008/layout/IncreasingCircleProcess"/>
    <dgm:cxn modelId="{E3159999-D5D5-4EF7-B859-F33861C16FD7}" type="presParOf" srcId="{E71F2C9F-F370-46FE-A804-2E0A4190CC76}" destId="{4AACA85F-7806-4E93-8F56-BD2EE09F3CD0}" srcOrd="0" destOrd="0" presId="urn:microsoft.com/office/officeart/2008/layout/IncreasingCircleProcess"/>
    <dgm:cxn modelId="{6A874269-9604-4CB9-ACDC-9E92D251A286}" type="presParOf" srcId="{E71F2C9F-F370-46FE-A804-2E0A4190CC76}" destId="{BB67465B-0F36-4730-B2AB-1BA8B73D1945}" srcOrd="1" destOrd="0" presId="urn:microsoft.com/office/officeart/2008/layout/IncreasingCircleProcess"/>
    <dgm:cxn modelId="{7DC5D4EA-4139-4C27-B14D-3D692BB9F4BA}" type="presParOf" srcId="{E71F2C9F-F370-46FE-A804-2E0A4190CC76}" destId="{2410921D-77C0-42A3-9C3F-0CB8801089F0}" srcOrd="2" destOrd="0" presId="urn:microsoft.com/office/officeart/2008/layout/IncreasingCircleProcess"/>
    <dgm:cxn modelId="{A9AC5B79-9783-4EDA-8018-489AF9C497DD}" type="presParOf" srcId="{E71F2C9F-F370-46FE-A804-2E0A4190CC76}" destId="{96FF5DF9-1BB8-4411-8D07-1E65DFE57677}" srcOrd="3" destOrd="0" presId="urn:microsoft.com/office/officeart/2008/layout/Increasing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7E84BED-FE7E-4CB7-8904-F300BE11132D}" type="doc">
      <dgm:prSet loTypeId="urn:microsoft.com/office/officeart/2008/layout/IncreasingCircleProcess" loCatId="list" qsTypeId="urn:microsoft.com/office/officeart/2005/8/quickstyle/simple1#5" qsCatId="simple" csTypeId="urn:microsoft.com/office/officeart/2005/8/colors/accent1_2#5" csCatId="accent1" phldr="1"/>
      <dgm:spPr/>
      <dgm:t>
        <a:bodyPr/>
        <a:lstStyle/>
        <a:p>
          <a:endParaRPr lang="es-CO"/>
        </a:p>
      </dgm:t>
    </dgm:pt>
    <dgm:pt modelId="{D29FE41F-0541-4B95-99D7-F888F824BF4D}">
      <dgm:prSet phldrT="[Texto]"/>
      <dgm:spPr/>
      <dgm:t>
        <a:bodyPr/>
        <a:lstStyle/>
        <a:p>
          <a:r>
            <a:rPr lang="es-CO" noProof="0"/>
            <a:t>Tasa prevalencia Septiembre 2025</a:t>
          </a:r>
        </a:p>
      </dgm:t>
    </dgm:pt>
    <dgm:pt modelId="{8DA6B451-88B2-4F86-8753-9F5BF93A8CFA}" type="parTrans" cxnId="{D7E1FF0C-80CD-4F6E-9CED-FABB2A2B72F2}">
      <dgm:prSet/>
      <dgm:spPr/>
      <dgm:t>
        <a:bodyPr/>
        <a:lstStyle/>
        <a:p>
          <a:endParaRPr lang="es-CO"/>
        </a:p>
      </dgm:t>
    </dgm:pt>
    <dgm:pt modelId="{AF7C0489-E9BD-41F6-8113-09992DA42EED}" type="sibTrans" cxnId="{D7E1FF0C-80CD-4F6E-9CED-FABB2A2B72F2}">
      <dgm:prSet/>
      <dgm:spPr/>
      <dgm:t>
        <a:bodyPr/>
        <a:lstStyle/>
        <a:p>
          <a:endParaRPr lang="es-CO"/>
        </a:p>
      </dgm:t>
    </dgm:pt>
    <dgm:pt modelId="{76EC51B8-1B01-4B45-976F-2796AA150D0F}">
      <dgm:prSet phldrT="[Texto]" custT="1"/>
      <dgm:spPr/>
      <dgm:t>
        <a:bodyPr/>
        <a:lstStyle/>
        <a:p>
          <a:r>
            <a:rPr lang="es-CO" sz="2000" b="1" noProof="0"/>
            <a:t>333 x 100 mil</a:t>
          </a:r>
        </a:p>
        <a:p>
          <a:r>
            <a:rPr lang="es-CO" sz="1200" b="0" noProof="0"/>
            <a:t>(32 usuarios)</a:t>
          </a:r>
          <a:endParaRPr lang="es-CO" sz="1200" b="1" noProof="0"/>
        </a:p>
      </dgm:t>
    </dgm:pt>
    <dgm:pt modelId="{F301DD4D-7D51-45BA-9E16-CC6BB5D31756}" type="parTrans" cxnId="{C6FA59ED-D14F-4FDA-AC9D-0940E746C487}">
      <dgm:prSet/>
      <dgm:spPr/>
      <dgm:t>
        <a:bodyPr/>
        <a:lstStyle/>
        <a:p>
          <a:endParaRPr lang="es-CO"/>
        </a:p>
      </dgm:t>
    </dgm:pt>
    <dgm:pt modelId="{E075F52A-48B4-4F39-8C94-151934CBD361}" type="sibTrans" cxnId="{C6FA59ED-D14F-4FDA-AC9D-0940E746C487}">
      <dgm:prSet/>
      <dgm:spPr/>
      <dgm:t>
        <a:bodyPr/>
        <a:lstStyle/>
        <a:p>
          <a:endParaRPr lang="es-CO"/>
        </a:p>
      </dgm:t>
    </dgm:pt>
    <dgm:pt modelId="{277DE717-5688-432F-9EEB-B0A521E18764}">
      <dgm:prSet/>
      <dgm:spPr/>
      <dgm:t>
        <a:bodyPr/>
        <a:lstStyle/>
        <a:p>
          <a:r>
            <a:rPr lang="es-CO" noProof="0"/>
            <a:t>Tasa prevalencia</a:t>
          </a:r>
        </a:p>
        <a:p>
          <a:r>
            <a:rPr lang="es-CO" noProof="0"/>
            <a:t>Abril 2026</a:t>
          </a:r>
        </a:p>
      </dgm:t>
    </dgm:pt>
    <dgm:pt modelId="{9988C3F9-9E7F-4A8E-AEA5-0A048BDEF078}" type="parTrans" cxnId="{8D6F63E7-D3EA-43E5-8C25-35FCCAA111B4}">
      <dgm:prSet/>
      <dgm:spPr/>
      <dgm:t>
        <a:bodyPr/>
        <a:lstStyle/>
        <a:p>
          <a:endParaRPr lang="es-CO"/>
        </a:p>
      </dgm:t>
    </dgm:pt>
    <dgm:pt modelId="{29D2FEFA-F0F4-4F2F-8FB7-F52A6880C96F}" type="sibTrans" cxnId="{8D6F63E7-D3EA-43E5-8C25-35FCCAA111B4}">
      <dgm:prSet/>
      <dgm:spPr/>
      <dgm:t>
        <a:bodyPr/>
        <a:lstStyle/>
        <a:p>
          <a:endParaRPr lang="es-CO"/>
        </a:p>
      </dgm:t>
    </dgm:pt>
    <dgm:pt modelId="{AA032465-375D-433A-B3DD-E7B1976397E7}" type="pres">
      <dgm:prSet presAssocID="{F7E84BED-FE7E-4CB7-8904-F300BE11132D}" presName="Name0" presStyleCnt="0">
        <dgm:presLayoutVars>
          <dgm:chMax val="7"/>
          <dgm:chPref val="7"/>
          <dgm:dir/>
          <dgm:animOne val="branch"/>
          <dgm:animLvl val="lvl"/>
        </dgm:presLayoutVars>
      </dgm:prSet>
      <dgm:spPr/>
    </dgm:pt>
    <dgm:pt modelId="{94EF0BFC-3C34-4732-A6D3-15641D86F941}" type="pres">
      <dgm:prSet presAssocID="{D29FE41F-0541-4B95-99D7-F888F824BF4D}" presName="composite" presStyleCnt="0"/>
      <dgm:spPr/>
    </dgm:pt>
    <dgm:pt modelId="{2911D279-0720-4E70-B01A-FB11967A8748}" type="pres">
      <dgm:prSet presAssocID="{D29FE41F-0541-4B95-99D7-F888F824BF4D}" presName="BackAccent" presStyleLbl="bgShp" presStyleIdx="0" presStyleCnt="2"/>
      <dgm:spPr/>
    </dgm:pt>
    <dgm:pt modelId="{FF5E3E29-F257-4FA5-A52F-2C54E5CF378C}" type="pres">
      <dgm:prSet presAssocID="{D29FE41F-0541-4B95-99D7-F888F824BF4D}" presName="Accent" presStyleLbl="alignNode1" presStyleIdx="0" presStyleCnt="2"/>
      <dgm:spPr/>
    </dgm:pt>
    <dgm:pt modelId="{C2864890-A6F6-4BFC-8C8B-371A2DEBFE13}" type="pres">
      <dgm:prSet presAssocID="{D29FE41F-0541-4B95-99D7-F888F824BF4D}" presName="Child" presStyleLbl="revTx" presStyleIdx="0" presStyleCnt="3">
        <dgm:presLayoutVars>
          <dgm:chMax val="0"/>
          <dgm:chPref val="0"/>
          <dgm:bulletEnabled val="1"/>
        </dgm:presLayoutVars>
      </dgm:prSet>
      <dgm:spPr/>
    </dgm:pt>
    <dgm:pt modelId="{ACB5AC1A-0601-49F9-ADF5-639ACF608D94}" type="pres">
      <dgm:prSet presAssocID="{D29FE41F-0541-4B95-99D7-F888F824BF4D}" presName="Parent" presStyleLbl="revTx" presStyleIdx="1" presStyleCnt="3" custLinFactNeighborY="-2144">
        <dgm:presLayoutVars>
          <dgm:chMax val="1"/>
          <dgm:chPref val="1"/>
          <dgm:bulletEnabled val="1"/>
        </dgm:presLayoutVars>
      </dgm:prSet>
      <dgm:spPr/>
    </dgm:pt>
    <dgm:pt modelId="{A35D688F-4854-4DF7-BB36-D15514C12713}" type="pres">
      <dgm:prSet presAssocID="{AF7C0489-E9BD-41F6-8113-09992DA42EED}" presName="sibTrans" presStyleCnt="0"/>
      <dgm:spPr/>
    </dgm:pt>
    <dgm:pt modelId="{A063AC18-374B-478C-9484-65995F270C64}" type="pres">
      <dgm:prSet presAssocID="{277DE717-5688-432F-9EEB-B0A521E18764}" presName="composite" presStyleCnt="0"/>
      <dgm:spPr/>
    </dgm:pt>
    <dgm:pt modelId="{89AFCCDF-7A6B-439A-B3A4-683C95E24355}" type="pres">
      <dgm:prSet presAssocID="{277DE717-5688-432F-9EEB-B0A521E18764}" presName="BackAccent" presStyleLbl="bgShp" presStyleIdx="1" presStyleCnt="2"/>
      <dgm:spPr/>
    </dgm:pt>
    <dgm:pt modelId="{C6064586-2A79-42BC-B681-809BE28FBBC3}" type="pres">
      <dgm:prSet presAssocID="{277DE717-5688-432F-9EEB-B0A521E18764}" presName="Accent" presStyleLbl="alignNode1" presStyleIdx="1" presStyleCnt="2"/>
      <dgm:spPr/>
    </dgm:pt>
    <dgm:pt modelId="{70A5E94B-719D-4B71-BB3B-3612330B8103}" type="pres">
      <dgm:prSet presAssocID="{277DE717-5688-432F-9EEB-B0A521E18764}" presName="Child" presStyleLbl="revTx" presStyleIdx="1" presStyleCnt="3">
        <dgm:presLayoutVars>
          <dgm:chMax val="0"/>
          <dgm:chPref val="0"/>
          <dgm:bulletEnabled val="1"/>
        </dgm:presLayoutVars>
      </dgm:prSet>
      <dgm:spPr/>
    </dgm:pt>
    <dgm:pt modelId="{B3D90354-38B3-41A0-B577-D95546B289B4}" type="pres">
      <dgm:prSet presAssocID="{277DE717-5688-432F-9EEB-B0A521E18764}" presName="Parent" presStyleLbl="revTx" presStyleIdx="2" presStyleCnt="3">
        <dgm:presLayoutVars>
          <dgm:chMax val="1"/>
          <dgm:chPref val="1"/>
          <dgm:bulletEnabled val="1"/>
        </dgm:presLayoutVars>
      </dgm:prSet>
      <dgm:spPr/>
    </dgm:pt>
  </dgm:ptLst>
  <dgm:cxnLst>
    <dgm:cxn modelId="{D7E1FF0C-80CD-4F6E-9CED-FABB2A2B72F2}" srcId="{F7E84BED-FE7E-4CB7-8904-F300BE11132D}" destId="{D29FE41F-0541-4B95-99D7-F888F824BF4D}" srcOrd="0" destOrd="0" parTransId="{8DA6B451-88B2-4F86-8753-9F5BF93A8CFA}" sibTransId="{AF7C0489-E9BD-41F6-8113-09992DA42EED}"/>
    <dgm:cxn modelId="{87A7DB39-B1BA-4270-B897-71861334A72A}" type="presOf" srcId="{F7E84BED-FE7E-4CB7-8904-F300BE11132D}" destId="{AA032465-375D-433A-B3DD-E7B1976397E7}" srcOrd="0" destOrd="0" presId="urn:microsoft.com/office/officeart/2008/layout/IncreasingCircleProcess"/>
    <dgm:cxn modelId="{AC983A89-B451-43E0-91C7-E8C3869850EB}" type="presOf" srcId="{76EC51B8-1B01-4B45-976F-2796AA150D0F}" destId="{C2864890-A6F6-4BFC-8C8B-371A2DEBFE13}" srcOrd="0" destOrd="0" presId="urn:microsoft.com/office/officeart/2008/layout/IncreasingCircleProcess"/>
    <dgm:cxn modelId="{08AD87A4-467D-4326-8238-467E45AF2C1E}" type="presOf" srcId="{D29FE41F-0541-4B95-99D7-F888F824BF4D}" destId="{ACB5AC1A-0601-49F9-ADF5-639ACF608D94}" srcOrd="0" destOrd="0" presId="urn:microsoft.com/office/officeart/2008/layout/IncreasingCircleProcess"/>
    <dgm:cxn modelId="{84646BC9-4077-4C30-894E-43579744E0A4}" type="presOf" srcId="{277DE717-5688-432F-9EEB-B0A521E18764}" destId="{B3D90354-38B3-41A0-B577-D95546B289B4}" srcOrd="0" destOrd="0" presId="urn:microsoft.com/office/officeart/2008/layout/IncreasingCircleProcess"/>
    <dgm:cxn modelId="{8D6F63E7-D3EA-43E5-8C25-35FCCAA111B4}" srcId="{F7E84BED-FE7E-4CB7-8904-F300BE11132D}" destId="{277DE717-5688-432F-9EEB-B0A521E18764}" srcOrd="1" destOrd="0" parTransId="{9988C3F9-9E7F-4A8E-AEA5-0A048BDEF078}" sibTransId="{29D2FEFA-F0F4-4F2F-8FB7-F52A6880C96F}"/>
    <dgm:cxn modelId="{C6FA59ED-D14F-4FDA-AC9D-0940E746C487}" srcId="{D29FE41F-0541-4B95-99D7-F888F824BF4D}" destId="{76EC51B8-1B01-4B45-976F-2796AA150D0F}" srcOrd="0" destOrd="0" parTransId="{F301DD4D-7D51-45BA-9E16-CC6BB5D31756}" sibTransId="{E075F52A-48B4-4F39-8C94-151934CBD361}"/>
    <dgm:cxn modelId="{0C7C01A0-91EF-4076-84C7-3029856081E2}" type="presParOf" srcId="{AA032465-375D-433A-B3DD-E7B1976397E7}" destId="{94EF0BFC-3C34-4732-A6D3-15641D86F941}" srcOrd="0" destOrd="0" presId="urn:microsoft.com/office/officeart/2008/layout/IncreasingCircleProcess"/>
    <dgm:cxn modelId="{4F4D8D0D-74B1-43A9-A192-A7166BD40A8E}" type="presParOf" srcId="{94EF0BFC-3C34-4732-A6D3-15641D86F941}" destId="{2911D279-0720-4E70-B01A-FB11967A8748}" srcOrd="0" destOrd="0" presId="urn:microsoft.com/office/officeart/2008/layout/IncreasingCircleProcess"/>
    <dgm:cxn modelId="{1A5CF1A5-8A12-46C1-A358-6652261526DF}" type="presParOf" srcId="{94EF0BFC-3C34-4732-A6D3-15641D86F941}" destId="{FF5E3E29-F257-4FA5-A52F-2C54E5CF378C}" srcOrd="1" destOrd="0" presId="urn:microsoft.com/office/officeart/2008/layout/IncreasingCircleProcess"/>
    <dgm:cxn modelId="{01A18CB0-11E9-4367-B968-CA5C2615A56F}" type="presParOf" srcId="{94EF0BFC-3C34-4732-A6D3-15641D86F941}" destId="{C2864890-A6F6-4BFC-8C8B-371A2DEBFE13}" srcOrd="2" destOrd="0" presId="urn:microsoft.com/office/officeart/2008/layout/IncreasingCircleProcess"/>
    <dgm:cxn modelId="{D9C02E29-2D48-4B6D-8137-0331736A34E4}" type="presParOf" srcId="{94EF0BFC-3C34-4732-A6D3-15641D86F941}" destId="{ACB5AC1A-0601-49F9-ADF5-639ACF608D94}" srcOrd="3" destOrd="0" presId="urn:microsoft.com/office/officeart/2008/layout/IncreasingCircleProcess"/>
    <dgm:cxn modelId="{7B931060-BE19-4DB3-BF97-C116D949170F}" type="presParOf" srcId="{AA032465-375D-433A-B3DD-E7B1976397E7}" destId="{A35D688F-4854-4DF7-BB36-D15514C12713}" srcOrd="1" destOrd="0" presId="urn:microsoft.com/office/officeart/2008/layout/IncreasingCircleProcess"/>
    <dgm:cxn modelId="{B32AA8D7-9595-403E-BC1E-EF17E0339A21}" type="presParOf" srcId="{AA032465-375D-433A-B3DD-E7B1976397E7}" destId="{A063AC18-374B-478C-9484-65995F270C64}" srcOrd="2" destOrd="0" presId="urn:microsoft.com/office/officeart/2008/layout/IncreasingCircleProcess"/>
    <dgm:cxn modelId="{D3A50091-2741-44B3-A1FA-9E399F5EFC5E}" type="presParOf" srcId="{A063AC18-374B-478C-9484-65995F270C64}" destId="{89AFCCDF-7A6B-439A-B3A4-683C95E24355}" srcOrd="0" destOrd="0" presId="urn:microsoft.com/office/officeart/2008/layout/IncreasingCircleProcess"/>
    <dgm:cxn modelId="{83CCB5A0-0A14-4022-9846-BF6B947D74E5}" type="presParOf" srcId="{A063AC18-374B-478C-9484-65995F270C64}" destId="{C6064586-2A79-42BC-B681-809BE28FBBC3}" srcOrd="1" destOrd="0" presId="urn:microsoft.com/office/officeart/2008/layout/IncreasingCircleProcess"/>
    <dgm:cxn modelId="{B66AE3DA-BC07-4CDF-9103-AEDC25972CD3}" type="presParOf" srcId="{A063AC18-374B-478C-9484-65995F270C64}" destId="{70A5E94B-719D-4B71-BB3B-3612330B8103}" srcOrd="2" destOrd="0" presId="urn:microsoft.com/office/officeart/2008/layout/IncreasingCircleProcess"/>
    <dgm:cxn modelId="{04CB9081-C9E2-4DAF-B1C3-E7ECCB8636C1}" type="presParOf" srcId="{A063AC18-374B-478C-9484-65995F270C64}" destId="{B3D90354-38B3-41A0-B577-D95546B289B4}" srcOrd="3" destOrd="0" presId="urn:microsoft.com/office/officeart/2008/layout/Increasing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6E00A5-DAA4-4660-8095-1A04EDDA4CA6}">
      <dsp:nvSpPr>
        <dsp:cNvPr id="0" name=""/>
        <dsp:cNvSpPr/>
      </dsp:nvSpPr>
      <dsp:spPr>
        <a:xfrm>
          <a:off x="2536124" y="0"/>
          <a:ext cx="462951" cy="46295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F49F989-5925-41B4-AEDF-E390532C120A}">
      <dsp:nvSpPr>
        <dsp:cNvPr id="0" name=""/>
        <dsp:cNvSpPr/>
      </dsp:nvSpPr>
      <dsp:spPr>
        <a:xfrm>
          <a:off x="2582420" y="46295"/>
          <a:ext cx="370361" cy="370361"/>
        </a:xfrm>
        <a:prstGeom prst="chord">
          <a:avLst>
            <a:gd name="adj1" fmla="val 0"/>
            <a:gd name="adj2" fmla="val 1080000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B964127-DDAA-4CAC-B863-CD74953DFD68}">
      <dsp:nvSpPr>
        <dsp:cNvPr id="0" name=""/>
        <dsp:cNvSpPr/>
      </dsp:nvSpPr>
      <dsp:spPr>
        <a:xfrm>
          <a:off x="2727734" y="462951"/>
          <a:ext cx="2105145" cy="19482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800100">
            <a:lnSpc>
              <a:spcPct val="90000"/>
            </a:lnSpc>
            <a:spcBef>
              <a:spcPct val="0"/>
            </a:spcBef>
            <a:spcAft>
              <a:spcPct val="35000"/>
            </a:spcAft>
            <a:buNone/>
          </a:pPr>
          <a:r>
            <a:rPr lang="es-CO" sz="1800" b="1" kern="1200" noProof="0"/>
            <a:t>1,676 x 1,000 mil</a:t>
          </a:r>
        </a:p>
        <a:p>
          <a:pPr marL="0" lvl="0" indent="0" algn="l" defTabSz="800100">
            <a:lnSpc>
              <a:spcPct val="90000"/>
            </a:lnSpc>
            <a:spcBef>
              <a:spcPct val="0"/>
            </a:spcBef>
            <a:spcAft>
              <a:spcPct val="35000"/>
            </a:spcAft>
            <a:buNone/>
          </a:pPr>
          <a:r>
            <a:rPr lang="es-CO" sz="1200" b="0" kern="1200" noProof="0"/>
            <a:t>(4,614 usuarios)</a:t>
          </a:r>
          <a:endParaRPr lang="es-CO" sz="1200" b="1" kern="1200" noProof="0"/>
        </a:p>
      </dsp:txBody>
      <dsp:txXfrm>
        <a:off x="2727734" y="462951"/>
        <a:ext cx="2105145" cy="1948255"/>
      </dsp:txXfrm>
    </dsp:sp>
    <dsp:sp modelId="{CD528EED-380F-41AC-9DC0-C30F692747DD}">
      <dsp:nvSpPr>
        <dsp:cNvPr id="0" name=""/>
        <dsp:cNvSpPr/>
      </dsp:nvSpPr>
      <dsp:spPr>
        <a:xfrm>
          <a:off x="3095524" y="0"/>
          <a:ext cx="1369565" cy="4629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560" tIns="35560" rIns="35560" bIns="35560" numCol="1" spcCol="1270" anchor="b" anchorCtr="0">
          <a:noAutofit/>
        </a:bodyPr>
        <a:lstStyle/>
        <a:p>
          <a:pPr marL="0" lvl="0" indent="0" algn="l" defTabSz="622300">
            <a:lnSpc>
              <a:spcPct val="90000"/>
            </a:lnSpc>
            <a:spcBef>
              <a:spcPct val="0"/>
            </a:spcBef>
            <a:spcAft>
              <a:spcPct val="35000"/>
            </a:spcAft>
            <a:buNone/>
          </a:pPr>
          <a:r>
            <a:rPr lang="es-CO" sz="1400" noProof="0"/>
            <a:t>Tasa prevalencia Septiembre 2025</a:t>
          </a:r>
          <a:endParaRPr lang="es-CO" sz="1100" kern="1200" noProof="0"/>
        </a:p>
      </dsp:txBody>
      <dsp:txXfrm>
        <a:off x="3095524" y="0"/>
        <a:ext cx="1369565" cy="462951"/>
      </dsp:txXfrm>
    </dsp:sp>
    <dsp:sp modelId="{2911D279-0720-4E70-B01A-FB11967A8748}">
      <dsp:nvSpPr>
        <dsp:cNvPr id="0" name=""/>
        <dsp:cNvSpPr/>
      </dsp:nvSpPr>
      <dsp:spPr>
        <a:xfrm>
          <a:off x="4929328" y="0"/>
          <a:ext cx="462951" cy="46295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5E3E29-F257-4FA5-A52F-2C54E5CF378C}">
      <dsp:nvSpPr>
        <dsp:cNvPr id="0" name=""/>
        <dsp:cNvSpPr/>
      </dsp:nvSpPr>
      <dsp:spPr>
        <a:xfrm>
          <a:off x="4975623" y="46295"/>
          <a:ext cx="370361" cy="370361"/>
        </a:xfrm>
        <a:prstGeom prst="chord">
          <a:avLst>
            <a:gd name="adj1" fmla="val 16200000"/>
            <a:gd name="adj2" fmla="val 1620000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2864890-A6F6-4BFC-8C8B-371A2DEBFE13}">
      <dsp:nvSpPr>
        <dsp:cNvPr id="0" name=""/>
        <dsp:cNvSpPr/>
      </dsp:nvSpPr>
      <dsp:spPr>
        <a:xfrm>
          <a:off x="5311643" y="462951"/>
          <a:ext cx="1723735" cy="19482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0" tIns="50800" rIns="50800" bIns="50800" numCol="1" spcCol="1270" anchor="t" anchorCtr="0">
          <a:noAutofit/>
        </a:bodyPr>
        <a:lstStyle/>
        <a:p>
          <a:pPr marL="0" lvl="0" indent="0" algn="l" defTabSz="889000">
            <a:lnSpc>
              <a:spcPct val="90000"/>
            </a:lnSpc>
            <a:spcBef>
              <a:spcPct val="0"/>
            </a:spcBef>
            <a:spcAft>
              <a:spcPct val="35000"/>
            </a:spcAft>
            <a:buNone/>
          </a:pPr>
          <a:r>
            <a:rPr lang="es-CO" sz="2000" b="1" kern="1200" noProof="0"/>
            <a:t>1,563 x 100 mil</a:t>
          </a:r>
        </a:p>
        <a:p>
          <a:pPr marL="0" lvl="0" indent="0" algn="l" defTabSz="889000">
            <a:lnSpc>
              <a:spcPct val="90000"/>
            </a:lnSpc>
            <a:spcBef>
              <a:spcPct val="0"/>
            </a:spcBef>
            <a:spcAft>
              <a:spcPct val="35000"/>
            </a:spcAft>
            <a:buNone/>
          </a:pPr>
          <a:r>
            <a:rPr lang="es-CO" sz="1200" b="0" kern="1200" noProof="0"/>
            <a:t>(9,735 usuarios)</a:t>
          </a:r>
        </a:p>
      </dsp:txBody>
      <dsp:txXfrm>
        <a:off x="5311643" y="462951"/>
        <a:ext cx="1723735" cy="1948255"/>
      </dsp:txXfrm>
    </dsp:sp>
    <dsp:sp modelId="{ACB5AC1A-0601-49F9-ADF5-639ACF608D94}">
      <dsp:nvSpPr>
        <dsp:cNvPr id="0" name=""/>
        <dsp:cNvSpPr/>
      </dsp:nvSpPr>
      <dsp:spPr>
        <a:xfrm>
          <a:off x="5488728" y="0"/>
          <a:ext cx="1369565" cy="4629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560" tIns="35560" rIns="35560" bIns="35560" numCol="1" spcCol="1270" anchor="b" anchorCtr="0">
          <a:noAutofit/>
        </a:bodyPr>
        <a:lstStyle/>
        <a:p>
          <a:pPr marL="0" lvl="0" indent="0" algn="l" defTabSz="622300">
            <a:lnSpc>
              <a:spcPct val="90000"/>
            </a:lnSpc>
            <a:spcBef>
              <a:spcPct val="0"/>
            </a:spcBef>
            <a:spcAft>
              <a:spcPct val="35000"/>
            </a:spcAft>
            <a:buNone/>
          </a:pPr>
          <a:r>
            <a:rPr lang="es-CO" sz="1400" kern="1200" noProof="0"/>
            <a:t>Tasa prevalencia Septiembre 2026</a:t>
          </a:r>
        </a:p>
      </dsp:txBody>
      <dsp:txXfrm>
        <a:off x="5488728" y="0"/>
        <a:ext cx="1369565" cy="46295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0270DB-9ED4-4AC6-91E2-23A44977DE5D}">
      <dsp:nvSpPr>
        <dsp:cNvPr id="0" name=""/>
        <dsp:cNvSpPr/>
      </dsp:nvSpPr>
      <dsp:spPr>
        <a:xfrm>
          <a:off x="588458" y="0"/>
          <a:ext cx="509008" cy="50900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31CAA77-C4DF-491A-BEE1-F06072D0FCF3}">
      <dsp:nvSpPr>
        <dsp:cNvPr id="0" name=""/>
        <dsp:cNvSpPr/>
      </dsp:nvSpPr>
      <dsp:spPr>
        <a:xfrm>
          <a:off x="639359" y="50900"/>
          <a:ext cx="407206" cy="407206"/>
        </a:xfrm>
        <a:prstGeom prst="chord">
          <a:avLst>
            <a:gd name="adj1" fmla="val 1168272"/>
            <a:gd name="adj2" fmla="val 9631728"/>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F7DEA1A-92A0-4BC8-8B4B-1C1FAA584DB5}">
      <dsp:nvSpPr>
        <dsp:cNvPr id="0" name=""/>
        <dsp:cNvSpPr/>
      </dsp:nvSpPr>
      <dsp:spPr>
        <a:xfrm>
          <a:off x="1025199" y="509008"/>
          <a:ext cx="1862438" cy="21420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800100">
            <a:lnSpc>
              <a:spcPct val="90000"/>
            </a:lnSpc>
            <a:spcBef>
              <a:spcPct val="0"/>
            </a:spcBef>
            <a:spcAft>
              <a:spcPct val="35000"/>
            </a:spcAft>
            <a:buNone/>
          </a:pPr>
          <a:r>
            <a:rPr lang="es-CO" sz="1800" b="1" kern="1200" noProof="0">
              <a:solidFill>
                <a:srgbClr val="80589F">
                  <a:hueOff val="0"/>
                  <a:satOff val="0"/>
                  <a:lumOff val="0"/>
                  <a:alphaOff val="0"/>
                </a:srgbClr>
              </a:solidFill>
              <a:latin typeface="Muli"/>
              <a:ea typeface="+mn-ea"/>
              <a:cs typeface="+mn-cs"/>
            </a:rPr>
            <a:t>1.066 x 100 mil            </a:t>
          </a:r>
        </a:p>
        <a:p>
          <a:pPr marL="0" lvl="0" indent="0" algn="l" defTabSz="800100">
            <a:lnSpc>
              <a:spcPct val="90000"/>
            </a:lnSpc>
            <a:spcBef>
              <a:spcPct val="0"/>
            </a:spcBef>
            <a:spcAft>
              <a:spcPct val="35000"/>
            </a:spcAft>
            <a:buNone/>
          </a:pPr>
          <a:r>
            <a:rPr lang="es-CO" sz="1200" b="0" kern="1200" noProof="0">
              <a:solidFill>
                <a:srgbClr val="80589F">
                  <a:hueOff val="0"/>
                  <a:satOff val="0"/>
                  <a:lumOff val="0"/>
                  <a:alphaOff val="0"/>
                </a:srgbClr>
              </a:solidFill>
              <a:latin typeface="Muli"/>
              <a:ea typeface="+mn-ea"/>
              <a:cs typeface="+mn-cs"/>
            </a:rPr>
            <a:t>(1,805 </a:t>
          </a:r>
          <a:r>
            <a:rPr lang="es-CO" sz="1200" kern="1200" noProof="0"/>
            <a:t>usuarios</a:t>
          </a:r>
          <a:r>
            <a:rPr lang="es-CO" sz="1400" kern="1200" noProof="0"/>
            <a:t>)</a:t>
          </a:r>
        </a:p>
      </dsp:txBody>
      <dsp:txXfrm>
        <a:off x="1025199" y="509008"/>
        <a:ext cx="1862438" cy="2142076"/>
      </dsp:txXfrm>
    </dsp:sp>
    <dsp:sp modelId="{BA74B8B1-C702-48BE-987A-80A0281D6F7D}">
      <dsp:nvSpPr>
        <dsp:cNvPr id="0" name=""/>
        <dsp:cNvSpPr/>
      </dsp:nvSpPr>
      <dsp:spPr>
        <a:xfrm>
          <a:off x="1203510" y="0"/>
          <a:ext cx="1505816" cy="509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b" anchorCtr="0">
          <a:noAutofit/>
        </a:bodyPr>
        <a:lstStyle/>
        <a:p>
          <a:pPr marL="0" lvl="0" indent="0" algn="l" defTabSz="444500">
            <a:lnSpc>
              <a:spcPct val="90000"/>
            </a:lnSpc>
            <a:spcBef>
              <a:spcPct val="0"/>
            </a:spcBef>
            <a:spcAft>
              <a:spcPct val="35000"/>
            </a:spcAft>
            <a:buNone/>
          </a:pPr>
          <a:r>
            <a:rPr lang="es-CO" sz="1000" kern="1200" noProof="0"/>
            <a:t>Tasa prevalencia Feb 2024</a:t>
          </a:r>
        </a:p>
      </dsp:txBody>
      <dsp:txXfrm>
        <a:off x="1203510" y="0"/>
        <a:ext cx="1505816" cy="509008"/>
      </dsp:txXfrm>
    </dsp:sp>
    <dsp:sp modelId="{445861A9-0DB4-4D78-8C71-E4EF24046D8B}">
      <dsp:nvSpPr>
        <dsp:cNvPr id="0" name=""/>
        <dsp:cNvSpPr/>
      </dsp:nvSpPr>
      <dsp:spPr>
        <a:xfrm>
          <a:off x="2993681" y="0"/>
          <a:ext cx="509008" cy="50900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06007D-6C71-4922-BA68-9546302E6060}">
      <dsp:nvSpPr>
        <dsp:cNvPr id="0" name=""/>
        <dsp:cNvSpPr/>
      </dsp:nvSpPr>
      <dsp:spPr>
        <a:xfrm>
          <a:off x="3044582" y="50900"/>
          <a:ext cx="407206" cy="407206"/>
        </a:xfrm>
        <a:prstGeom prst="chord">
          <a:avLst>
            <a:gd name="adj1" fmla="val 20431728"/>
            <a:gd name="adj2" fmla="val 11968272"/>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8CFE6DD-75A2-46AA-87DE-45FCD3B53069}">
      <dsp:nvSpPr>
        <dsp:cNvPr id="0" name=""/>
        <dsp:cNvSpPr/>
      </dsp:nvSpPr>
      <dsp:spPr>
        <a:xfrm>
          <a:off x="3457059" y="509008"/>
          <a:ext cx="1809162" cy="21420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800100">
            <a:lnSpc>
              <a:spcPct val="90000"/>
            </a:lnSpc>
            <a:spcBef>
              <a:spcPct val="0"/>
            </a:spcBef>
            <a:spcAft>
              <a:spcPct val="35000"/>
            </a:spcAft>
            <a:buNone/>
          </a:pPr>
          <a:r>
            <a:rPr lang="es-CO" sz="1800" b="1" kern="1200" noProof="0"/>
            <a:t>1.413 x 100 mil</a:t>
          </a:r>
        </a:p>
        <a:p>
          <a:pPr marL="0" lvl="0" indent="0" algn="l" defTabSz="800100">
            <a:lnSpc>
              <a:spcPct val="90000"/>
            </a:lnSpc>
            <a:spcBef>
              <a:spcPct val="0"/>
            </a:spcBef>
            <a:spcAft>
              <a:spcPct val="35000"/>
            </a:spcAft>
            <a:buNone/>
          </a:pPr>
          <a:r>
            <a:rPr lang="es-CO" sz="1200" b="0" kern="1200" noProof="0"/>
            <a:t>(2.510 usuarios)</a:t>
          </a:r>
          <a:endParaRPr lang="es-CO" sz="1200" b="1" kern="1200" noProof="0"/>
        </a:p>
      </dsp:txBody>
      <dsp:txXfrm>
        <a:off x="3457059" y="509008"/>
        <a:ext cx="1809162" cy="2142076"/>
      </dsp:txXfrm>
    </dsp:sp>
    <dsp:sp modelId="{4745B769-DD00-40BA-A584-26F673F3790B}">
      <dsp:nvSpPr>
        <dsp:cNvPr id="0" name=""/>
        <dsp:cNvSpPr/>
      </dsp:nvSpPr>
      <dsp:spPr>
        <a:xfrm>
          <a:off x="3608733" y="0"/>
          <a:ext cx="1505816" cy="509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b" anchorCtr="0">
          <a:noAutofit/>
        </a:bodyPr>
        <a:lstStyle/>
        <a:p>
          <a:pPr marL="0" lvl="0" indent="0" algn="l" defTabSz="444500" rtl="0">
            <a:lnSpc>
              <a:spcPct val="90000"/>
            </a:lnSpc>
            <a:spcBef>
              <a:spcPct val="0"/>
            </a:spcBef>
            <a:spcAft>
              <a:spcPct val="35000"/>
            </a:spcAft>
            <a:buNone/>
          </a:pPr>
          <a:r>
            <a:rPr lang="es-CO" sz="1000" kern="1200" noProof="0"/>
            <a:t>Tasa prevalencia</a:t>
          </a:r>
          <a:r>
            <a:rPr lang="es-CO" sz="1000" kern="1200" noProof="0">
              <a:latin typeface="Muli Ultra-Bold"/>
            </a:rPr>
            <a:t> Agosto</a:t>
          </a:r>
          <a:r>
            <a:rPr lang="es-CO" sz="1000" kern="1200" noProof="0"/>
            <a:t> 2025</a:t>
          </a:r>
        </a:p>
      </dsp:txBody>
      <dsp:txXfrm>
        <a:off x="3608733" y="0"/>
        <a:ext cx="1505816" cy="509008"/>
      </dsp:txXfrm>
    </dsp:sp>
    <dsp:sp modelId="{2911D279-0720-4E70-B01A-FB11967A8748}">
      <dsp:nvSpPr>
        <dsp:cNvPr id="0" name=""/>
        <dsp:cNvSpPr/>
      </dsp:nvSpPr>
      <dsp:spPr>
        <a:xfrm>
          <a:off x="5372266" y="0"/>
          <a:ext cx="509008" cy="50900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5E3E29-F257-4FA5-A52F-2C54E5CF378C}">
      <dsp:nvSpPr>
        <dsp:cNvPr id="0" name=""/>
        <dsp:cNvSpPr/>
      </dsp:nvSpPr>
      <dsp:spPr>
        <a:xfrm>
          <a:off x="5423166" y="50900"/>
          <a:ext cx="407206" cy="407206"/>
        </a:xfrm>
        <a:prstGeom prst="chord">
          <a:avLst>
            <a:gd name="adj1" fmla="val 16200000"/>
            <a:gd name="adj2" fmla="val 1620000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2864890-A6F6-4BFC-8C8B-371A2DEBFE13}">
      <dsp:nvSpPr>
        <dsp:cNvPr id="0" name=""/>
        <dsp:cNvSpPr/>
      </dsp:nvSpPr>
      <dsp:spPr>
        <a:xfrm>
          <a:off x="5792615" y="509008"/>
          <a:ext cx="1895220" cy="21420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0" tIns="50800" rIns="50800" bIns="50800" numCol="1" spcCol="1270" anchor="t" anchorCtr="0">
          <a:noAutofit/>
        </a:bodyPr>
        <a:lstStyle/>
        <a:p>
          <a:pPr marL="0" lvl="0" indent="0" algn="l" defTabSz="889000">
            <a:lnSpc>
              <a:spcPct val="90000"/>
            </a:lnSpc>
            <a:spcBef>
              <a:spcPct val="0"/>
            </a:spcBef>
            <a:spcAft>
              <a:spcPct val="35000"/>
            </a:spcAft>
            <a:buNone/>
          </a:pPr>
          <a:r>
            <a:rPr lang="es-CO" sz="2000" b="1" kern="1200" noProof="0"/>
            <a:t>1.543 x 100 mil</a:t>
          </a:r>
        </a:p>
        <a:p>
          <a:pPr marL="0" lvl="0" indent="0" algn="l" defTabSz="889000">
            <a:lnSpc>
              <a:spcPct val="90000"/>
            </a:lnSpc>
            <a:spcBef>
              <a:spcPct val="0"/>
            </a:spcBef>
            <a:spcAft>
              <a:spcPct val="35000"/>
            </a:spcAft>
            <a:buNone/>
          </a:pPr>
          <a:r>
            <a:rPr lang="es-CO" sz="1200" b="0" kern="1200" noProof="0"/>
            <a:t>(3.173 usuarios)</a:t>
          </a:r>
        </a:p>
      </dsp:txBody>
      <dsp:txXfrm>
        <a:off x="5792615" y="509008"/>
        <a:ext cx="1895220" cy="2142076"/>
      </dsp:txXfrm>
    </dsp:sp>
    <dsp:sp modelId="{ACB5AC1A-0601-49F9-ADF5-639ACF608D94}">
      <dsp:nvSpPr>
        <dsp:cNvPr id="0" name=""/>
        <dsp:cNvSpPr/>
      </dsp:nvSpPr>
      <dsp:spPr>
        <a:xfrm>
          <a:off x="5987317" y="0"/>
          <a:ext cx="1505816" cy="509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b" anchorCtr="0">
          <a:noAutofit/>
        </a:bodyPr>
        <a:lstStyle/>
        <a:p>
          <a:pPr marL="0" lvl="0" indent="0" algn="ctr" defTabSz="444500" rtl="0">
            <a:lnSpc>
              <a:spcPct val="90000"/>
            </a:lnSpc>
            <a:spcBef>
              <a:spcPct val="0"/>
            </a:spcBef>
            <a:spcAft>
              <a:spcPct val="35000"/>
            </a:spcAft>
            <a:buNone/>
          </a:pPr>
          <a:r>
            <a:rPr lang="es-CO" sz="1000" kern="1200" noProof="0"/>
            <a:t>Tasa prevalencia</a:t>
          </a:r>
          <a:r>
            <a:rPr lang="es-CO" sz="1000" kern="1200" noProof="0">
              <a:latin typeface="Muli Ultra-Bold"/>
            </a:rPr>
            <a:t> Septiembre</a:t>
          </a:r>
          <a:r>
            <a:rPr lang="es-CO" sz="1000" kern="1200" noProof="0"/>
            <a:t> 2026</a:t>
          </a:r>
        </a:p>
      </dsp:txBody>
      <dsp:txXfrm>
        <a:off x="5987317" y="0"/>
        <a:ext cx="1505816" cy="50900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66EF7C-E890-4C61-9C85-82ED9FD270B5}">
      <dsp:nvSpPr>
        <dsp:cNvPr id="0" name=""/>
        <dsp:cNvSpPr/>
      </dsp:nvSpPr>
      <dsp:spPr>
        <a:xfrm>
          <a:off x="574211" y="0"/>
          <a:ext cx="520192" cy="520192"/>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F80408-6243-4958-B304-39DE9BFBCF73}">
      <dsp:nvSpPr>
        <dsp:cNvPr id="0" name=""/>
        <dsp:cNvSpPr/>
      </dsp:nvSpPr>
      <dsp:spPr>
        <a:xfrm>
          <a:off x="626230" y="52019"/>
          <a:ext cx="416153" cy="416153"/>
        </a:xfrm>
        <a:prstGeom prst="chord">
          <a:avLst>
            <a:gd name="adj1" fmla="val 1168272"/>
            <a:gd name="adj2" fmla="val 9631728"/>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6B402B0-64EB-488D-88C5-3115871F5B94}">
      <dsp:nvSpPr>
        <dsp:cNvPr id="0" name=""/>
        <dsp:cNvSpPr/>
      </dsp:nvSpPr>
      <dsp:spPr>
        <a:xfrm>
          <a:off x="1202777" y="520192"/>
          <a:ext cx="1538901" cy="21891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800100">
            <a:lnSpc>
              <a:spcPct val="90000"/>
            </a:lnSpc>
            <a:spcBef>
              <a:spcPct val="0"/>
            </a:spcBef>
            <a:spcAft>
              <a:spcPct val="35000"/>
            </a:spcAft>
            <a:buNone/>
          </a:pPr>
          <a:r>
            <a:rPr lang="es-CO" sz="1800" b="1" kern="1200" noProof="0"/>
            <a:t>1160 x 100 mil</a:t>
          </a:r>
        </a:p>
        <a:p>
          <a:pPr marL="0" lvl="0" indent="0" algn="l" defTabSz="800100">
            <a:lnSpc>
              <a:spcPct val="90000"/>
            </a:lnSpc>
            <a:spcBef>
              <a:spcPct val="0"/>
            </a:spcBef>
            <a:spcAft>
              <a:spcPct val="35000"/>
            </a:spcAft>
            <a:buNone/>
          </a:pPr>
          <a:r>
            <a:rPr lang="es-CO" sz="1200" b="0" kern="1200" noProof="0"/>
            <a:t>(1,050 usuarios)</a:t>
          </a:r>
        </a:p>
      </dsp:txBody>
      <dsp:txXfrm>
        <a:off x="1202777" y="520192"/>
        <a:ext cx="1538901" cy="2189141"/>
      </dsp:txXfrm>
    </dsp:sp>
    <dsp:sp modelId="{4F082C76-A1EE-494C-9B02-E38EAD4675CD}">
      <dsp:nvSpPr>
        <dsp:cNvPr id="0" name=""/>
        <dsp:cNvSpPr/>
      </dsp:nvSpPr>
      <dsp:spPr>
        <a:xfrm>
          <a:off x="1202777" y="0"/>
          <a:ext cx="1538901" cy="5201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b" anchorCtr="0">
          <a:noAutofit/>
        </a:bodyPr>
        <a:lstStyle/>
        <a:p>
          <a:pPr marL="0" lvl="0" indent="0" algn="l" defTabSz="666750">
            <a:lnSpc>
              <a:spcPct val="90000"/>
            </a:lnSpc>
            <a:spcBef>
              <a:spcPct val="0"/>
            </a:spcBef>
            <a:spcAft>
              <a:spcPct val="35000"/>
            </a:spcAft>
            <a:buNone/>
          </a:pPr>
          <a:r>
            <a:rPr lang="es-CO" sz="1500" kern="1200" noProof="0"/>
            <a:t>Tasa prevalencia Noviembre  2023</a:t>
          </a:r>
        </a:p>
      </dsp:txBody>
      <dsp:txXfrm>
        <a:off x="1202777" y="0"/>
        <a:ext cx="1538901" cy="520192"/>
      </dsp:txXfrm>
    </dsp:sp>
    <dsp:sp modelId="{1C0270DB-9ED4-4AC6-91E2-23A44977DE5D}">
      <dsp:nvSpPr>
        <dsp:cNvPr id="0" name=""/>
        <dsp:cNvSpPr/>
      </dsp:nvSpPr>
      <dsp:spPr>
        <a:xfrm>
          <a:off x="2850052" y="0"/>
          <a:ext cx="520192" cy="520192"/>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31CAA77-C4DF-491A-BEE1-F06072D0FCF3}">
      <dsp:nvSpPr>
        <dsp:cNvPr id="0" name=""/>
        <dsp:cNvSpPr/>
      </dsp:nvSpPr>
      <dsp:spPr>
        <a:xfrm>
          <a:off x="2902071" y="52019"/>
          <a:ext cx="416153" cy="416153"/>
        </a:xfrm>
        <a:prstGeom prst="chord">
          <a:avLst>
            <a:gd name="adj1" fmla="val 20431728"/>
            <a:gd name="adj2" fmla="val 11968272"/>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F7DEA1A-92A0-4BC8-8B4B-1C1FAA584DB5}">
      <dsp:nvSpPr>
        <dsp:cNvPr id="0" name=""/>
        <dsp:cNvSpPr/>
      </dsp:nvSpPr>
      <dsp:spPr>
        <a:xfrm>
          <a:off x="3478617" y="520192"/>
          <a:ext cx="1538901" cy="21891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800100">
            <a:lnSpc>
              <a:spcPct val="90000"/>
            </a:lnSpc>
            <a:spcBef>
              <a:spcPct val="0"/>
            </a:spcBef>
            <a:spcAft>
              <a:spcPct val="35000"/>
            </a:spcAft>
            <a:buNone/>
          </a:pPr>
          <a:r>
            <a:rPr lang="es-CO" sz="1800" b="1" kern="1200" noProof="0"/>
            <a:t>1.773 x 100 mil</a:t>
          </a:r>
        </a:p>
        <a:p>
          <a:pPr marL="0" lvl="0" indent="0" algn="l" defTabSz="800100">
            <a:lnSpc>
              <a:spcPct val="90000"/>
            </a:lnSpc>
            <a:spcBef>
              <a:spcPct val="0"/>
            </a:spcBef>
            <a:spcAft>
              <a:spcPct val="35000"/>
            </a:spcAft>
            <a:buNone/>
          </a:pPr>
          <a:r>
            <a:rPr lang="es-CO" sz="1200" b="0" kern="1200" noProof="0"/>
            <a:t>(1,641 usuarios)</a:t>
          </a:r>
          <a:endParaRPr lang="es-CO" sz="1200" b="1" kern="1200" noProof="0"/>
        </a:p>
      </dsp:txBody>
      <dsp:txXfrm>
        <a:off x="3478617" y="520192"/>
        <a:ext cx="1538901" cy="2189141"/>
      </dsp:txXfrm>
    </dsp:sp>
    <dsp:sp modelId="{BA74B8B1-C702-48BE-987A-80A0281D6F7D}">
      <dsp:nvSpPr>
        <dsp:cNvPr id="0" name=""/>
        <dsp:cNvSpPr/>
      </dsp:nvSpPr>
      <dsp:spPr>
        <a:xfrm>
          <a:off x="3478617" y="0"/>
          <a:ext cx="1538901" cy="5201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b" anchorCtr="0">
          <a:noAutofit/>
        </a:bodyPr>
        <a:lstStyle/>
        <a:p>
          <a:pPr marL="0" lvl="0" indent="0" algn="l" defTabSz="666750">
            <a:lnSpc>
              <a:spcPct val="90000"/>
            </a:lnSpc>
            <a:spcBef>
              <a:spcPct val="0"/>
            </a:spcBef>
            <a:spcAft>
              <a:spcPct val="35000"/>
            </a:spcAft>
            <a:buNone/>
          </a:pPr>
          <a:r>
            <a:rPr lang="es-CO" sz="1500" kern="1200" noProof="0"/>
            <a:t>Tasa prevalencia Septiembre 2025</a:t>
          </a:r>
        </a:p>
      </dsp:txBody>
      <dsp:txXfrm>
        <a:off x="3478617" y="0"/>
        <a:ext cx="1538901" cy="520192"/>
      </dsp:txXfrm>
    </dsp:sp>
    <dsp:sp modelId="{2911D279-0720-4E70-B01A-FB11967A8748}">
      <dsp:nvSpPr>
        <dsp:cNvPr id="0" name=""/>
        <dsp:cNvSpPr/>
      </dsp:nvSpPr>
      <dsp:spPr>
        <a:xfrm>
          <a:off x="5125892" y="0"/>
          <a:ext cx="520192" cy="520192"/>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5E3E29-F257-4FA5-A52F-2C54E5CF378C}">
      <dsp:nvSpPr>
        <dsp:cNvPr id="0" name=""/>
        <dsp:cNvSpPr/>
      </dsp:nvSpPr>
      <dsp:spPr>
        <a:xfrm>
          <a:off x="5177912" y="52019"/>
          <a:ext cx="416153" cy="416153"/>
        </a:xfrm>
        <a:prstGeom prst="chord">
          <a:avLst>
            <a:gd name="adj1" fmla="val 16200000"/>
            <a:gd name="adj2" fmla="val 1620000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2864890-A6F6-4BFC-8C8B-371A2DEBFE13}">
      <dsp:nvSpPr>
        <dsp:cNvPr id="0" name=""/>
        <dsp:cNvSpPr/>
      </dsp:nvSpPr>
      <dsp:spPr>
        <a:xfrm>
          <a:off x="5494029" y="520192"/>
          <a:ext cx="2059758" cy="21891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0" tIns="50800" rIns="50800" bIns="50800" numCol="1" spcCol="1270" anchor="t" anchorCtr="0">
          <a:noAutofit/>
        </a:bodyPr>
        <a:lstStyle/>
        <a:p>
          <a:pPr marL="0" lvl="0" indent="0" algn="l" defTabSz="889000">
            <a:lnSpc>
              <a:spcPct val="90000"/>
            </a:lnSpc>
            <a:spcBef>
              <a:spcPct val="0"/>
            </a:spcBef>
            <a:spcAft>
              <a:spcPct val="35000"/>
            </a:spcAft>
            <a:buNone/>
          </a:pPr>
          <a:r>
            <a:rPr lang="es-CO" sz="2000" b="1" kern="1200" noProof="0"/>
            <a:t>2.196 x 100 mil</a:t>
          </a:r>
        </a:p>
        <a:p>
          <a:pPr marL="0" lvl="0" indent="0" algn="l" defTabSz="889000">
            <a:lnSpc>
              <a:spcPct val="90000"/>
            </a:lnSpc>
            <a:spcBef>
              <a:spcPct val="0"/>
            </a:spcBef>
            <a:spcAft>
              <a:spcPct val="35000"/>
            </a:spcAft>
            <a:buNone/>
          </a:pPr>
          <a:r>
            <a:rPr lang="es-CO" sz="1200" b="0" kern="1200" noProof="0"/>
            <a:t>(2,060 usuarios)</a:t>
          </a:r>
          <a:endParaRPr lang="es-CO" sz="1200" b="1" kern="1200" noProof="0"/>
        </a:p>
      </dsp:txBody>
      <dsp:txXfrm>
        <a:off x="5494029" y="520192"/>
        <a:ext cx="2059758" cy="2189141"/>
      </dsp:txXfrm>
    </dsp:sp>
    <dsp:sp modelId="{ACB5AC1A-0601-49F9-ADF5-639ACF608D94}">
      <dsp:nvSpPr>
        <dsp:cNvPr id="0" name=""/>
        <dsp:cNvSpPr/>
      </dsp:nvSpPr>
      <dsp:spPr>
        <a:xfrm>
          <a:off x="5754458" y="0"/>
          <a:ext cx="1538901" cy="5201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b" anchorCtr="0">
          <a:noAutofit/>
        </a:bodyPr>
        <a:lstStyle/>
        <a:p>
          <a:pPr marL="0" lvl="0" indent="0" algn="l" defTabSz="666750">
            <a:lnSpc>
              <a:spcPct val="90000"/>
            </a:lnSpc>
            <a:spcBef>
              <a:spcPct val="0"/>
            </a:spcBef>
            <a:spcAft>
              <a:spcPct val="35000"/>
            </a:spcAft>
            <a:buNone/>
          </a:pPr>
          <a:r>
            <a:rPr lang="es-CO" sz="1500" kern="1200" noProof="0"/>
            <a:t>Tasa prevalencia Septiembre 2026</a:t>
          </a:r>
        </a:p>
      </dsp:txBody>
      <dsp:txXfrm>
        <a:off x="5754458" y="0"/>
        <a:ext cx="1538901" cy="52019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11D279-0720-4E70-B01A-FB11967A8748}">
      <dsp:nvSpPr>
        <dsp:cNvPr id="0" name=""/>
        <dsp:cNvSpPr/>
      </dsp:nvSpPr>
      <dsp:spPr>
        <a:xfrm>
          <a:off x="1712131" y="0"/>
          <a:ext cx="520192" cy="520192"/>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5E3E29-F257-4FA5-A52F-2C54E5CF378C}">
      <dsp:nvSpPr>
        <dsp:cNvPr id="0" name=""/>
        <dsp:cNvSpPr/>
      </dsp:nvSpPr>
      <dsp:spPr>
        <a:xfrm>
          <a:off x="1764142" y="56230"/>
          <a:ext cx="416153" cy="416153"/>
        </a:xfrm>
        <a:prstGeom prst="chord">
          <a:avLst>
            <a:gd name="adj1" fmla="val 0"/>
            <a:gd name="adj2" fmla="val 1080000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2864890-A6F6-4BFC-8C8B-371A2DEBFE13}">
      <dsp:nvSpPr>
        <dsp:cNvPr id="0" name=""/>
        <dsp:cNvSpPr/>
      </dsp:nvSpPr>
      <dsp:spPr>
        <a:xfrm>
          <a:off x="2425013" y="520192"/>
          <a:ext cx="2059758" cy="21891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0" tIns="50800" rIns="50800" bIns="50800" numCol="1" spcCol="1270" anchor="t" anchorCtr="0">
          <a:noAutofit/>
        </a:bodyPr>
        <a:lstStyle/>
        <a:p>
          <a:pPr marL="0" lvl="0" indent="0" algn="l" defTabSz="889000">
            <a:lnSpc>
              <a:spcPct val="90000"/>
            </a:lnSpc>
            <a:spcBef>
              <a:spcPct val="0"/>
            </a:spcBef>
            <a:spcAft>
              <a:spcPct val="35000"/>
            </a:spcAft>
            <a:buNone/>
          </a:pPr>
          <a:r>
            <a:rPr lang="es-CO" sz="2000" b="1" kern="1200" noProof="0"/>
            <a:t>1.206 x 100 mil</a:t>
          </a:r>
        </a:p>
        <a:p>
          <a:pPr marL="0" lvl="0" indent="0" algn="l" defTabSz="889000">
            <a:lnSpc>
              <a:spcPct val="90000"/>
            </a:lnSpc>
            <a:spcBef>
              <a:spcPct val="0"/>
            </a:spcBef>
            <a:spcAft>
              <a:spcPct val="35000"/>
            </a:spcAft>
            <a:buNone/>
          </a:pPr>
          <a:r>
            <a:rPr lang="es-CO" sz="1200" b="0" kern="1200" noProof="0"/>
            <a:t>(3,532 usuarios)</a:t>
          </a:r>
          <a:endParaRPr lang="es-CO" sz="1200" b="1" kern="1200" noProof="0"/>
        </a:p>
      </dsp:txBody>
      <dsp:txXfrm>
        <a:off x="2425013" y="520192"/>
        <a:ext cx="2059758" cy="2189141"/>
      </dsp:txXfrm>
    </dsp:sp>
    <dsp:sp modelId="{ACB5AC1A-0601-49F9-ADF5-639ACF608D94}">
      <dsp:nvSpPr>
        <dsp:cNvPr id="0" name=""/>
        <dsp:cNvSpPr/>
      </dsp:nvSpPr>
      <dsp:spPr>
        <a:xfrm>
          <a:off x="2685442" y="0"/>
          <a:ext cx="1538901" cy="5201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b" anchorCtr="0">
          <a:noAutofit/>
        </a:bodyPr>
        <a:lstStyle/>
        <a:p>
          <a:pPr marL="0" lvl="0" indent="0" algn="l" defTabSz="666750">
            <a:lnSpc>
              <a:spcPct val="90000"/>
            </a:lnSpc>
            <a:spcBef>
              <a:spcPct val="0"/>
            </a:spcBef>
            <a:spcAft>
              <a:spcPct val="35000"/>
            </a:spcAft>
            <a:buNone/>
          </a:pPr>
          <a:r>
            <a:rPr lang="es-CO" sz="1500" kern="1200" noProof="0"/>
            <a:t>Tasa prevalencia Octubre 2025</a:t>
          </a:r>
        </a:p>
      </dsp:txBody>
      <dsp:txXfrm>
        <a:off x="2685442" y="0"/>
        <a:ext cx="1538901" cy="520192"/>
      </dsp:txXfrm>
    </dsp:sp>
    <dsp:sp modelId="{4AACA85F-7806-4E93-8F56-BD2EE09F3CD0}">
      <dsp:nvSpPr>
        <dsp:cNvPr id="0" name=""/>
        <dsp:cNvSpPr/>
      </dsp:nvSpPr>
      <dsp:spPr>
        <a:xfrm>
          <a:off x="4248400" y="0"/>
          <a:ext cx="520192" cy="520192"/>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67465B-0F36-4730-B2AB-1BA8B73D1945}">
      <dsp:nvSpPr>
        <dsp:cNvPr id="0" name=""/>
        <dsp:cNvSpPr/>
      </dsp:nvSpPr>
      <dsp:spPr>
        <a:xfrm>
          <a:off x="4300420" y="52019"/>
          <a:ext cx="416153" cy="416153"/>
        </a:xfrm>
        <a:prstGeom prst="chord">
          <a:avLst>
            <a:gd name="adj1" fmla="val 16200000"/>
            <a:gd name="adj2" fmla="val 1620000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6FF5DF9-1BB8-4411-8D07-1E65DFE57677}">
      <dsp:nvSpPr>
        <dsp:cNvPr id="0" name=""/>
        <dsp:cNvSpPr/>
      </dsp:nvSpPr>
      <dsp:spPr>
        <a:xfrm>
          <a:off x="4876966" y="0"/>
          <a:ext cx="1538901" cy="5201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b" anchorCtr="0">
          <a:noAutofit/>
        </a:bodyPr>
        <a:lstStyle/>
        <a:p>
          <a:pPr marL="0" lvl="0" indent="0" algn="l" defTabSz="666750">
            <a:lnSpc>
              <a:spcPct val="90000"/>
            </a:lnSpc>
            <a:spcBef>
              <a:spcPct val="0"/>
            </a:spcBef>
            <a:spcAft>
              <a:spcPct val="35000"/>
            </a:spcAft>
            <a:buNone/>
          </a:pPr>
          <a:r>
            <a:rPr lang="es-CO" sz="1500" kern="1200" noProof="0"/>
            <a:t>Tasa Prevalencia Septiembre 2026</a:t>
          </a:r>
        </a:p>
      </dsp:txBody>
      <dsp:txXfrm>
        <a:off x="4876966" y="0"/>
        <a:ext cx="1538901" cy="52019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11D279-0720-4E70-B01A-FB11967A8748}">
      <dsp:nvSpPr>
        <dsp:cNvPr id="0" name=""/>
        <dsp:cNvSpPr/>
      </dsp:nvSpPr>
      <dsp:spPr>
        <a:xfrm>
          <a:off x="1842346" y="0"/>
          <a:ext cx="520192" cy="520192"/>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5E3E29-F257-4FA5-A52F-2C54E5CF378C}">
      <dsp:nvSpPr>
        <dsp:cNvPr id="0" name=""/>
        <dsp:cNvSpPr/>
      </dsp:nvSpPr>
      <dsp:spPr>
        <a:xfrm>
          <a:off x="1894365" y="52019"/>
          <a:ext cx="416153" cy="416153"/>
        </a:xfrm>
        <a:prstGeom prst="chord">
          <a:avLst>
            <a:gd name="adj1" fmla="val 0"/>
            <a:gd name="adj2" fmla="val 1080000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2864890-A6F6-4BFC-8C8B-371A2DEBFE13}">
      <dsp:nvSpPr>
        <dsp:cNvPr id="0" name=""/>
        <dsp:cNvSpPr/>
      </dsp:nvSpPr>
      <dsp:spPr>
        <a:xfrm>
          <a:off x="2470911" y="520192"/>
          <a:ext cx="1538901" cy="21891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0" tIns="50800" rIns="50800" bIns="50800" numCol="1" spcCol="1270" anchor="t" anchorCtr="0">
          <a:noAutofit/>
        </a:bodyPr>
        <a:lstStyle/>
        <a:p>
          <a:pPr marL="0" lvl="0" indent="0" algn="l" defTabSz="889000">
            <a:lnSpc>
              <a:spcPct val="90000"/>
            </a:lnSpc>
            <a:spcBef>
              <a:spcPct val="0"/>
            </a:spcBef>
            <a:spcAft>
              <a:spcPct val="35000"/>
            </a:spcAft>
            <a:buNone/>
          </a:pPr>
          <a:r>
            <a:rPr lang="es-CO" sz="2000" b="1" kern="1200" noProof="0"/>
            <a:t>333 x 100 mil</a:t>
          </a:r>
        </a:p>
        <a:p>
          <a:pPr marL="0" lvl="0" indent="0" algn="l" defTabSz="889000">
            <a:lnSpc>
              <a:spcPct val="90000"/>
            </a:lnSpc>
            <a:spcBef>
              <a:spcPct val="0"/>
            </a:spcBef>
            <a:spcAft>
              <a:spcPct val="35000"/>
            </a:spcAft>
            <a:buNone/>
          </a:pPr>
          <a:r>
            <a:rPr lang="es-CO" sz="1200" b="0" kern="1200" noProof="0"/>
            <a:t>(32 usuarios)</a:t>
          </a:r>
          <a:endParaRPr lang="es-CO" sz="1200" b="1" kern="1200" noProof="0"/>
        </a:p>
      </dsp:txBody>
      <dsp:txXfrm>
        <a:off x="2470911" y="520192"/>
        <a:ext cx="1538901" cy="2189141"/>
      </dsp:txXfrm>
    </dsp:sp>
    <dsp:sp modelId="{ACB5AC1A-0601-49F9-ADF5-639ACF608D94}">
      <dsp:nvSpPr>
        <dsp:cNvPr id="0" name=""/>
        <dsp:cNvSpPr/>
      </dsp:nvSpPr>
      <dsp:spPr>
        <a:xfrm>
          <a:off x="2470911" y="0"/>
          <a:ext cx="1538901" cy="5201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020" tIns="33020" rIns="33020" bIns="33020" numCol="1" spcCol="1270" anchor="b" anchorCtr="0">
          <a:noAutofit/>
        </a:bodyPr>
        <a:lstStyle/>
        <a:p>
          <a:pPr marL="0" lvl="0" indent="0" algn="l" defTabSz="577850">
            <a:lnSpc>
              <a:spcPct val="90000"/>
            </a:lnSpc>
            <a:spcBef>
              <a:spcPct val="0"/>
            </a:spcBef>
            <a:spcAft>
              <a:spcPct val="35000"/>
            </a:spcAft>
            <a:buNone/>
          </a:pPr>
          <a:r>
            <a:rPr lang="es-CO" sz="1300" kern="1200" noProof="0"/>
            <a:t>Tasa prevalencia Septiembre 2025</a:t>
          </a:r>
        </a:p>
      </dsp:txBody>
      <dsp:txXfrm>
        <a:off x="2470911" y="0"/>
        <a:ext cx="1538901" cy="520192"/>
      </dsp:txXfrm>
    </dsp:sp>
    <dsp:sp modelId="{89AFCCDF-7A6B-439A-B3A4-683C95E24355}">
      <dsp:nvSpPr>
        <dsp:cNvPr id="0" name=""/>
        <dsp:cNvSpPr/>
      </dsp:nvSpPr>
      <dsp:spPr>
        <a:xfrm>
          <a:off x="4118186" y="0"/>
          <a:ext cx="520192" cy="520192"/>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6064586-2A79-42BC-B681-809BE28FBBC3}">
      <dsp:nvSpPr>
        <dsp:cNvPr id="0" name=""/>
        <dsp:cNvSpPr/>
      </dsp:nvSpPr>
      <dsp:spPr>
        <a:xfrm>
          <a:off x="4170205" y="52019"/>
          <a:ext cx="416153" cy="416153"/>
        </a:xfrm>
        <a:prstGeom prst="chord">
          <a:avLst>
            <a:gd name="adj1" fmla="val 16200000"/>
            <a:gd name="adj2" fmla="val 1620000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D90354-38B3-41A0-B577-D95546B289B4}">
      <dsp:nvSpPr>
        <dsp:cNvPr id="0" name=""/>
        <dsp:cNvSpPr/>
      </dsp:nvSpPr>
      <dsp:spPr>
        <a:xfrm>
          <a:off x="4746752" y="0"/>
          <a:ext cx="1538901" cy="5201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020" tIns="33020" rIns="33020" bIns="33020" numCol="1" spcCol="1270" anchor="b" anchorCtr="0">
          <a:noAutofit/>
        </a:bodyPr>
        <a:lstStyle/>
        <a:p>
          <a:pPr marL="0" lvl="0" indent="0" algn="l" defTabSz="577850">
            <a:lnSpc>
              <a:spcPct val="90000"/>
            </a:lnSpc>
            <a:spcBef>
              <a:spcPct val="0"/>
            </a:spcBef>
            <a:spcAft>
              <a:spcPct val="35000"/>
            </a:spcAft>
            <a:buNone/>
          </a:pPr>
          <a:r>
            <a:rPr lang="es-CO" sz="1300" kern="1200" noProof="0"/>
            <a:t>Tasa prevalencia</a:t>
          </a:r>
        </a:p>
        <a:p>
          <a:pPr marL="0" lvl="0" indent="0" algn="l" defTabSz="577850">
            <a:lnSpc>
              <a:spcPct val="90000"/>
            </a:lnSpc>
            <a:spcBef>
              <a:spcPct val="0"/>
            </a:spcBef>
            <a:spcAft>
              <a:spcPct val="35000"/>
            </a:spcAft>
            <a:buNone/>
          </a:pPr>
          <a:r>
            <a:rPr lang="es-CO" sz="1300" kern="1200" noProof="0"/>
            <a:t>Abril 2026</a:t>
          </a:r>
        </a:p>
      </dsp:txBody>
      <dsp:txXfrm>
        <a:off x="4746752" y="0"/>
        <a:ext cx="1538901" cy="520192"/>
      </dsp:txXfrm>
    </dsp:sp>
  </dsp:spTree>
</dsp:drawing>
</file>

<file path=ppt/diagrams/layout1.xml><?xml version="1.0" encoding="utf-8"?>
<dgm:layoutDef xmlns:dgm="http://schemas.openxmlformats.org/drawingml/2006/diagram" xmlns:a="http://schemas.openxmlformats.org/drawingml/2006/main" uniqueId="urn:microsoft.com/office/officeart/2008/layout/IncreasingCircleProcess">
  <dgm:title val=""/>
  <dgm:desc val=""/>
  <dgm:catLst>
    <dgm:cat type="list" pri="8300"/>
    <dgm:cat type="process" pri="43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clrData>
  <dgm:layoutNode name="Name0">
    <dgm:varLst>
      <dgm:chMax val="7"/>
      <dgm:chPref val="7"/>
      <dgm:dir/>
      <dgm:animOne val="branch"/>
      <dgm:animLvl val="lvl"/>
    </dgm:varLst>
    <dgm:choose name="Name1">
      <dgm:if name="Name2" func="var" arg="dir" op="equ" val="norm">
        <dgm:alg type="lin">
          <dgm:param type="linDir" val="fromL"/>
          <dgm:param type="horzAlign" val="ctr"/>
          <dgm:param type="vertAlign" val="t"/>
        </dgm:alg>
      </dgm:if>
      <dgm:else name="Name3">
        <dgm:alg type="lin">
          <dgm:param type="linDir" val="fromR"/>
          <dgm:param type="horzAlign" val="ctr"/>
          <dgm:param type="vertAlign" val="t"/>
        </dgm:alg>
      </dgm:else>
    </dgm:choose>
    <dgm:shape xmlns:r="http://schemas.openxmlformats.org/officeDocument/2006/relationships" r:blip="">
      <dgm:adjLst/>
    </dgm:shape>
    <dgm:constrLst>
      <dgm:constr type="primFontSz" for="des" forName="Child" val="65"/>
      <dgm:constr type="primFontSz" for="des" forName="Parent" val="65"/>
      <dgm:constr type="primFontSz" for="des" forName="Child" refType="primFontSz" refFor="des" refForName="Parent" op="lte"/>
      <dgm:constr type="w" for="ch" forName="composite" refType="w"/>
      <dgm:constr type="h" for="ch" forName="composite" refType="h"/>
      <dgm:constr type="sp" refType="w" refFor="ch" refForName="composite" op="equ" fact="0.05"/>
      <dgm:constr type="w" for="ch" forName="sibTrans" refType="h" refFor="ch" refForName="composite" op="equ" fact="0.04"/>
    </dgm:constrLst>
    <dgm:forEach name="nodesForEach" axis="ch" ptType="node" cnt="7">
      <dgm:layoutNode name="composite">
        <dgm:alg type="composite">
          <dgm:param type="ar" val="0.8"/>
        </dgm:alg>
        <dgm:choose name="Name4">
          <dgm:if name="Name5" func="var" arg="dir" op="equ" val="norm">
            <dgm:constrLst>
              <dgm:constr type="l" for="ch" forName="Child" refType="w" fact="0.29"/>
              <dgm:constr type="t" for="ch" forName="Child" refType="h" fact="0.192"/>
              <dgm:constr type="w" for="ch" forName="Child" refType="w" fact="0.71"/>
              <dgm:constr type="h" for="ch" forName="Child" refType="h" fact="0.808"/>
              <dgm:constr type="l" for="ch" forName="Parent" refType="w" fact="0.29"/>
              <dgm:constr type="t" for="ch" forName="Parent" refType="h" fact="0"/>
              <dgm:constr type="w" for="ch" forName="Parent" refType="w" fact="0.71"/>
              <dgm:constr type="h" for="ch" forName="Parent" refType="h" fact="0.192"/>
              <dgm:constr type="l" for="ch" forName="BackAccent" refType="w" fact="0"/>
              <dgm:constr type="t" for="ch" forName="BackAccent" refType="h" fact="0"/>
              <dgm:constr type="w" for="ch" forName="BackAccent" refType="w" fact="0.24"/>
              <dgm:constr type="h" for="ch" forName="BackAccent" refType="h" fact="0.192"/>
              <dgm:constr type="l" for="ch" forName="Accent" refType="w" fact="0.024"/>
              <dgm:constr type="t" for="ch" forName="Accent" refType="h" fact="0.0192"/>
              <dgm:constr type="w" for="ch" forName="Accent" refType="w" fact="0.192"/>
              <dgm:constr type="h" for="ch" forName="Accent" refType="h" fact="0.1536"/>
            </dgm:constrLst>
          </dgm:if>
          <dgm:else name="Name6">
            <dgm:constrLst>
              <dgm:constr type="r" for="ch" forName="Child" refType="w" fact="0.71"/>
              <dgm:constr type="t" for="ch" forName="Child" refType="h" fact="0.192"/>
              <dgm:constr type="w" for="ch" forName="Child" refType="w" fact="0.71"/>
              <dgm:constr type="h" for="ch" forName="Child" refType="h" fact="0.808"/>
              <dgm:constr type="r" for="ch" forName="Parent" refType="w" fact="0.71"/>
              <dgm:constr type="t" for="ch" forName="Parent" refType="h" fact="0"/>
              <dgm:constr type="w" for="ch" forName="Parent" refType="w" fact="0.71"/>
              <dgm:constr type="h" for="ch" forName="Parent" refType="h" fact="0.192"/>
              <dgm:constr type="r" for="ch" forName="BackAccent" refType="w"/>
              <dgm:constr type="t" for="ch" forName="BackAccent" refType="h" fact="0"/>
              <dgm:constr type="w" for="ch" forName="BackAccent" refType="w" fact="0.24"/>
              <dgm:constr type="h" for="ch" forName="BackAccent" refType="h" fact="0.192"/>
              <dgm:constr type="r" for="ch" forName="Accent" refType="w" fact="0.976"/>
              <dgm:constr type="t" for="ch" forName="Accent" refType="h" fact="0.0192"/>
              <dgm:constr type="w" for="ch" forName="Accent" refType="w" fact="0.192"/>
              <dgm:constr type="h" for="ch" forName="Accent" refType="h" fact="0.1536"/>
            </dgm:constrLst>
          </dgm:else>
        </dgm:choose>
        <dgm:layoutNode name="BackAccent" styleLbl="bgShp">
          <dgm:alg type="sp"/>
          <dgm:shape xmlns:r="http://schemas.openxmlformats.org/officeDocument/2006/relationships" type="ellipse" r:blip="">
            <dgm:adjLst/>
          </dgm:shape>
          <dgm:presOf/>
        </dgm:layoutNode>
        <dgm:layoutNode name="Accent" styleLbl="alignNode1">
          <dgm:alg type="sp"/>
          <dgm:choose name="Name7">
            <dgm:if name="Name8" axis="precedSib" ptType="node" func="cnt" op="equ" val="0">
              <dgm:choose name="Name9">
                <dgm:if name="Name10" axis="followSib" ptType="node" func="cnt" op="equ" val="0">
                  <dgm:shape xmlns:r="http://schemas.openxmlformats.org/officeDocument/2006/relationships" type="chord" r:blip="">
                    <dgm:adjLst>
                      <dgm:adj idx="1" val="-90"/>
                      <dgm:adj idx="2" val="-90"/>
                    </dgm:adjLst>
                  </dgm:shape>
                </dgm:if>
                <dgm:if name="Name11" axis="followSib" ptType="node" func="cnt" op="equ" val="1">
                  <dgm:shape xmlns:r="http://schemas.openxmlformats.org/officeDocument/2006/relationships" type="chord" r:blip="">
                    <dgm:adjLst>
                      <dgm:adj idx="1" val="0"/>
                      <dgm:adj idx="2" val="180"/>
                    </dgm:adjLst>
                  </dgm:shape>
                </dgm:if>
                <dgm:if name="Name12" axis="followSib" ptType="node" func="cnt" op="equ" val="2">
                  <dgm:shape xmlns:r="http://schemas.openxmlformats.org/officeDocument/2006/relationships" type="chord" r:blip="">
                    <dgm:adjLst>
                      <dgm:adj idx="1" val="19.4712"/>
                      <dgm:adj idx="2" val="160.5288"/>
                    </dgm:adjLst>
                  </dgm:shape>
                </dgm:if>
                <dgm:if name="Name13" axis="followSib" ptType="node" func="cnt" op="equ" val="3">
                  <dgm:shape xmlns:r="http://schemas.openxmlformats.org/officeDocument/2006/relationships" type="chord" r:blip="">
                    <dgm:adjLst>
                      <dgm:adj idx="1" val="30"/>
                      <dgm:adj idx="2" val="150"/>
                    </dgm:adjLst>
                  </dgm:shape>
                </dgm:if>
                <dgm:if name="Name14" axis="followSib" ptType="node" func="cnt" op="equ" val="4">
                  <dgm:shape xmlns:r="http://schemas.openxmlformats.org/officeDocument/2006/relationships" type="chord" r:blip="">
                    <dgm:adjLst>
                      <dgm:adj idx="1" val="38.8699"/>
                      <dgm:adj idx="2" val="143.1301"/>
                    </dgm:adjLst>
                  </dgm:shape>
                </dgm:if>
                <dgm:if name="Name15" axis="followSib" ptType="node" func="cnt" op="equ" val="5">
                  <dgm:shape xmlns:r="http://schemas.openxmlformats.org/officeDocument/2006/relationships" type="chord" r:blip="">
                    <dgm:adjLst>
                      <dgm:adj idx="1" val="41.8103"/>
                      <dgm:adj idx="2" val="138.1897"/>
                    </dgm:adjLst>
                  </dgm:shape>
                </dgm:if>
                <dgm:else name="Name16">
                  <dgm:shape xmlns:r="http://schemas.openxmlformats.org/officeDocument/2006/relationships" type="chord" r:blip="">
                    <dgm:adjLst>
                      <dgm:adj idx="1" val="45.5847"/>
                      <dgm:adj idx="2" val="134.4153"/>
                    </dgm:adjLst>
                  </dgm:shape>
                </dgm:else>
              </dgm:choose>
            </dgm:if>
            <dgm:if name="Name17" axis="precedSib" ptType="node" func="cnt" op="equ" val="1">
              <dgm:choose name="Name18">
                <dgm:if name="Name19" axis="followSib" ptType="node" func="cnt" op="equ" val="0">
                  <dgm:shape xmlns:r="http://schemas.openxmlformats.org/officeDocument/2006/relationships" type="chord" r:blip="">
                    <dgm:adjLst>
                      <dgm:adj idx="1" val="-90"/>
                      <dgm:adj idx="2" val="-90"/>
                    </dgm:adjLst>
                  </dgm:shape>
                </dgm:if>
                <dgm:if name="Name20" axis="followSib" ptType="node" func="cnt" op="equ" val="1">
                  <dgm:shape xmlns:r="http://schemas.openxmlformats.org/officeDocument/2006/relationships" type="chord" r:blip="">
                    <dgm:adjLst>
                      <dgm:adj idx="1" val="-19.4712"/>
                      <dgm:adj idx="2" val="-160.5288"/>
                    </dgm:adjLst>
                  </dgm:shape>
                </dgm:if>
                <dgm:if name="Name21" axis="followSib" ptType="node" func="cnt" op="equ" val="2">
                  <dgm:shape xmlns:r="http://schemas.openxmlformats.org/officeDocument/2006/relationships" type="chord" r:blip="">
                    <dgm:adjLst>
                      <dgm:adj idx="1" val="0"/>
                      <dgm:adj idx="2" val="180"/>
                    </dgm:adjLst>
                  </dgm:shape>
                </dgm:if>
                <dgm:if name="Name22" axis="followSib" ptType="node" func="cnt" op="equ" val="3">
                  <dgm:shape xmlns:r="http://schemas.openxmlformats.org/officeDocument/2006/relationships" type="chord" r:blip="">
                    <dgm:adjLst>
                      <dgm:adj idx="1" val="11.537"/>
                      <dgm:adj idx="2" val="168.463"/>
                    </dgm:adjLst>
                  </dgm:shape>
                </dgm:if>
                <dgm:if name="Name23" axis="followSib" ptType="node" func="cnt" op="equ" val="4">
                  <dgm:shape xmlns:r="http://schemas.openxmlformats.org/officeDocument/2006/relationships" type="chord" r:blip="">
                    <dgm:adjLst>
                      <dgm:adj idx="1" val="19.4712"/>
                      <dgm:adj idx="2" val="160.5288"/>
                    </dgm:adjLst>
                  </dgm:shape>
                </dgm:if>
                <dgm:else name="Name24">
                  <dgm:shape xmlns:r="http://schemas.openxmlformats.org/officeDocument/2006/relationships" type="chord" r:blip="">
                    <dgm:adjLst>
                      <dgm:adj idx="1" val="25.3769"/>
                      <dgm:adj idx="2" val="154.6231"/>
                    </dgm:adjLst>
                  </dgm:shape>
                </dgm:else>
              </dgm:choose>
            </dgm:if>
            <dgm:if name="Name25" axis="precedSib" ptType="node" func="cnt" op="equ" val="2">
              <dgm:choose name="Name26">
                <dgm:if name="Name27" axis="followSib" ptType="node" func="cnt" op="equ" val="0">
                  <dgm:shape xmlns:r="http://schemas.openxmlformats.org/officeDocument/2006/relationships" type="chord" r:blip="">
                    <dgm:adjLst>
                      <dgm:adj idx="1" val="-90"/>
                      <dgm:adj idx="2" val="-90"/>
                    </dgm:adjLst>
                  </dgm:shape>
                </dgm:if>
                <dgm:if name="Name28" axis="followSib" ptType="node" func="cnt" op="equ" val="1">
                  <dgm:shape xmlns:r="http://schemas.openxmlformats.org/officeDocument/2006/relationships" type="chord" r:blip="">
                    <dgm:adjLst>
                      <dgm:adj idx="1" val="-30"/>
                      <dgm:adj idx="2" val="-150"/>
                    </dgm:adjLst>
                  </dgm:shape>
                </dgm:if>
                <dgm:if name="Name29" axis="followSib" ptType="node" func="cnt" op="equ" val="2">
                  <dgm:shape xmlns:r="http://schemas.openxmlformats.org/officeDocument/2006/relationships" type="chord" r:blip="">
                    <dgm:adjLst>
                      <dgm:adj idx="1" val="-11.537"/>
                      <dgm:adj idx="2" val="-168.463"/>
                    </dgm:adjLst>
                  </dgm:shape>
                </dgm:if>
                <dgm:if name="Name30" axis="followSib" ptType="node" func="cnt" op="equ" val="3">
                  <dgm:shape xmlns:r="http://schemas.openxmlformats.org/officeDocument/2006/relationships" type="chord" r:blip="">
                    <dgm:adjLst>
                      <dgm:adj idx="1" val="0"/>
                      <dgm:adj idx="2" val="180"/>
                    </dgm:adjLst>
                  </dgm:shape>
                </dgm:if>
                <dgm:else name="Name31">
                  <dgm:shape xmlns:r="http://schemas.openxmlformats.org/officeDocument/2006/relationships" type="chord" r:blip="">
                    <dgm:adjLst>
                      <dgm:adj idx="1" val="8.2133"/>
                      <dgm:adj idx="2" val="171.7867"/>
                    </dgm:adjLst>
                  </dgm:shape>
                </dgm:else>
              </dgm:choose>
            </dgm:if>
            <dgm:if name="Name32" axis="precedSib" ptType="node" func="cnt" op="equ" val="3">
              <dgm:choose name="Name33">
                <dgm:if name="Name34" axis="followSib" ptType="node" func="cnt" op="equ" val="0">
                  <dgm:shape xmlns:r="http://schemas.openxmlformats.org/officeDocument/2006/relationships" type="chord" r:blip="">
                    <dgm:adjLst>
                      <dgm:adj idx="1" val="-90"/>
                      <dgm:adj idx="2" val="-90"/>
                    </dgm:adjLst>
                  </dgm:shape>
                </dgm:if>
                <dgm:if name="Name35" axis="followSib" ptType="node" func="cnt" op="equ" val="1">
                  <dgm:shape xmlns:r="http://schemas.openxmlformats.org/officeDocument/2006/relationships" type="chord" r:blip="">
                    <dgm:adjLst>
                      <dgm:adj idx="1" val="-38.8699"/>
                      <dgm:adj idx="2" val="-143.1301"/>
                    </dgm:adjLst>
                  </dgm:shape>
                </dgm:if>
                <dgm:if name="Name36" axis="followSib" ptType="node" func="cnt" op="equ" val="2">
                  <dgm:shape xmlns:r="http://schemas.openxmlformats.org/officeDocument/2006/relationships" type="chord" r:blip="">
                    <dgm:adjLst>
                      <dgm:adj idx="1" val="-19.4712"/>
                      <dgm:adj idx="2" val="-160.5288"/>
                    </dgm:adjLst>
                  </dgm:shape>
                </dgm:if>
                <dgm:else name="Name37">
                  <dgm:shape xmlns:r="http://schemas.openxmlformats.org/officeDocument/2006/relationships" type="chord" r:blip="">
                    <dgm:adjLst>
                      <dgm:adj idx="1" val="-8.2133"/>
                      <dgm:adj idx="2" val="-171.7867"/>
                    </dgm:adjLst>
                  </dgm:shape>
                </dgm:else>
              </dgm:choose>
            </dgm:if>
            <dgm:if name="Name38" axis="precedSib" ptType="node" func="cnt" op="equ" val="4">
              <dgm:choose name="Name39">
                <dgm:if name="Name40" axis="followSib" ptType="node" func="cnt" op="equ" val="0">
                  <dgm:shape xmlns:r="http://schemas.openxmlformats.org/officeDocument/2006/relationships" type="chord" r:blip="">
                    <dgm:adjLst>
                      <dgm:adj idx="1" val="-90"/>
                      <dgm:adj idx="2" val="-90"/>
                    </dgm:adjLst>
                  </dgm:shape>
                </dgm:if>
                <dgm:if name="Name41" axis="followSib" ptType="node" func="cnt" op="equ" val="1">
                  <dgm:shape xmlns:r="http://schemas.openxmlformats.org/officeDocument/2006/relationships" type="chord" r:blip="">
                    <dgm:adjLst>
                      <dgm:adj idx="1" val="-41.8103"/>
                      <dgm:adj idx="2" val="-138.1897"/>
                    </dgm:adjLst>
                  </dgm:shape>
                </dgm:if>
                <dgm:else name="Name42">
                  <dgm:shape xmlns:r="http://schemas.openxmlformats.org/officeDocument/2006/relationships" type="chord" r:blip="">
                    <dgm:adjLst>
                      <dgm:adj idx="1" val="-25.3769"/>
                      <dgm:adj idx="2" val="-154.6231"/>
                    </dgm:adjLst>
                  </dgm:shape>
                </dgm:else>
              </dgm:choose>
            </dgm:if>
            <dgm:if name="Name43" axis="precedSib" ptType="node" func="cnt" op="equ" val="5">
              <dgm:choose name="Name44">
                <dgm:if name="Name45" axis="followSib" ptType="node" func="cnt" op="equ" val="0">
                  <dgm:shape xmlns:r="http://schemas.openxmlformats.org/officeDocument/2006/relationships" type="chord" r:blip="">
                    <dgm:adjLst>
                      <dgm:adj idx="1" val="-90"/>
                      <dgm:adj idx="2" val="-90"/>
                    </dgm:adjLst>
                  </dgm:shape>
                </dgm:if>
                <dgm:else name="Name46">
                  <dgm:shape xmlns:r="http://schemas.openxmlformats.org/officeDocument/2006/relationships" type="chord" r:blip="">
                    <dgm:adjLst>
                      <dgm:adj idx="1" val="-45.5847"/>
                      <dgm:adj idx="2" val="-134.4153"/>
                    </dgm:adjLst>
                  </dgm:shape>
                </dgm:else>
              </dgm:choose>
            </dgm:if>
            <dgm:else name="Name47">
              <dgm:shape xmlns:r="http://schemas.openxmlformats.org/officeDocument/2006/relationships" type="chord" r:blip="">
                <dgm:adjLst>
                  <dgm:adj idx="1" val="-90"/>
                  <dgm:adj idx="2" val="-90"/>
                </dgm:adjLst>
              </dgm:shape>
            </dgm:else>
          </dgm:choose>
          <dgm:presOf/>
        </dgm:layoutNode>
        <dgm:layoutNode name="Child" styleLbl="revTx">
          <dgm:varLst>
            <dgm:chMax val="0"/>
            <dgm:chPref val="0"/>
            <dgm:bulletEnabled val="1"/>
          </dgm:varLst>
          <dgm:choose name="Name48">
            <dgm:if name="Name49" func="var" arg="dir" op="equ" val="norm">
              <dgm:alg type="tx">
                <dgm:param type="parTxLTRAlign" val="l"/>
                <dgm:param type="parTxRTLAlign" val="l"/>
                <dgm:param type="txAnchorVert" val="t"/>
              </dgm:alg>
            </dgm:if>
            <dgm:else name="Name50">
              <dgm:alg type="tx">
                <dgm:param type="parTxLTRAlign" val="r"/>
                <dgm:param type="parTxRTLAlign" val="r"/>
                <dgm:param type="txAnchorVert" val="t"/>
              </dgm:alg>
            </dgm:else>
          </dgm:choose>
          <dgm:choose name="Name51">
            <dgm:if name="Name52" axis="ch" ptType="node" func="cnt" op="gte" val="1">
              <dgm:shape xmlns:r="http://schemas.openxmlformats.org/officeDocument/2006/relationships" type="rect" r:blip="">
                <dgm:adjLst/>
              </dgm:shape>
            </dgm:if>
            <dgm:else name="Name53">
              <dgm:shape xmlns:r="http://schemas.openxmlformats.org/officeDocument/2006/relationships" type="rect" r:blip="" hideGeom="1">
                <dgm:adjLst/>
              </dgm:shape>
            </dgm:else>
          </dgm:choose>
          <dgm:choose name="Name54">
            <dgm:if name="Name55" axis="ch" ptType="node" func="cnt" op="gte" val="1">
              <dgm:presOf axis="des" ptType="node"/>
            </dgm:if>
            <dgm:else name="Name56">
              <dgm:presOf/>
            </dgm:else>
          </dgm:choos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Parent" styleLbl="revTx">
          <dgm:varLst>
            <dgm:chMax val="1"/>
            <dgm:chPref val="1"/>
            <dgm:bulletEnabled val="1"/>
          </dgm:varLst>
          <dgm:choose name="Name57">
            <dgm:if name="Name58" func="var" arg="dir" op="equ" val="norm">
              <dgm:alg type="tx">
                <dgm:param type="parTxLTRAlign" val="l"/>
                <dgm:param type="parTxRTLAlign" val="l"/>
                <dgm:param type="shpTxLTRAlignCh" val="l"/>
                <dgm:param type="shpTxRTLAlignCh" val="l"/>
                <dgm:param type="txAnchorVert" val="b"/>
                <dgm:param type="txAnchorVertCh" val="b"/>
              </dgm:alg>
            </dgm:if>
            <dgm:else name="Name59">
              <dgm:alg type="tx">
                <dgm:param type="parTxLTRAlign" val="r"/>
                <dgm:param type="parTxRTLAlign" val="r"/>
                <dgm:param type="shpTxLTRAlignCh" val="r"/>
                <dgm:param type="shpTxRTLAlignCh" val="r"/>
                <dgm:param type="txAnchorVert" val="b"/>
                <dgm:param type="txAnchorVertCh" val="b"/>
              </dgm:alg>
            </dgm:else>
          </dgm:choose>
          <dgm:shape xmlns:r="http://schemas.openxmlformats.org/officeDocument/2006/relationships" type="rect" r:blip="">
            <dgm:adjLst/>
          </dgm:shape>
          <dgm:presOf axis="self"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IncreasingCircleProcess">
  <dgm:title val=""/>
  <dgm:desc val=""/>
  <dgm:catLst>
    <dgm:cat type="list" pri="8300"/>
    <dgm:cat type="process" pri="43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clrData>
  <dgm:layoutNode name="Name0">
    <dgm:varLst>
      <dgm:chMax val="7"/>
      <dgm:chPref val="7"/>
      <dgm:dir/>
      <dgm:animOne val="branch"/>
      <dgm:animLvl val="lvl"/>
    </dgm:varLst>
    <dgm:choose name="Name1">
      <dgm:if name="Name2" func="var" arg="dir" op="equ" val="norm">
        <dgm:alg type="lin">
          <dgm:param type="linDir" val="fromL"/>
          <dgm:param type="horzAlign" val="ctr"/>
          <dgm:param type="vertAlign" val="t"/>
        </dgm:alg>
      </dgm:if>
      <dgm:else name="Name3">
        <dgm:alg type="lin">
          <dgm:param type="linDir" val="fromR"/>
          <dgm:param type="horzAlign" val="ctr"/>
          <dgm:param type="vertAlign" val="t"/>
        </dgm:alg>
      </dgm:else>
    </dgm:choose>
    <dgm:shape xmlns:r="http://schemas.openxmlformats.org/officeDocument/2006/relationships" r:blip="">
      <dgm:adjLst/>
    </dgm:shape>
    <dgm:constrLst>
      <dgm:constr type="primFontSz" for="des" forName="Child" val="65"/>
      <dgm:constr type="primFontSz" for="des" forName="Parent" val="65"/>
      <dgm:constr type="primFontSz" for="des" forName="Child" refType="primFontSz" refFor="des" refForName="Parent" op="lte"/>
      <dgm:constr type="w" for="ch" forName="composite" refType="w"/>
      <dgm:constr type="h" for="ch" forName="composite" refType="h"/>
      <dgm:constr type="sp" refType="w" refFor="ch" refForName="composite" op="equ" fact="0.05"/>
      <dgm:constr type="w" for="ch" forName="sibTrans" refType="h" refFor="ch" refForName="composite" op="equ" fact="0.04"/>
    </dgm:constrLst>
    <dgm:forEach name="nodesForEach" axis="ch" ptType="node" cnt="7">
      <dgm:layoutNode name="composite">
        <dgm:alg type="composite">
          <dgm:param type="ar" val="0.8"/>
        </dgm:alg>
        <dgm:choose name="Name4">
          <dgm:if name="Name5" func="var" arg="dir" op="equ" val="norm">
            <dgm:constrLst>
              <dgm:constr type="l" for="ch" forName="Child" refType="w" fact="0.29"/>
              <dgm:constr type="t" for="ch" forName="Child" refType="h" fact="0.192"/>
              <dgm:constr type="w" for="ch" forName="Child" refType="w" fact="0.71"/>
              <dgm:constr type="h" for="ch" forName="Child" refType="h" fact="0.808"/>
              <dgm:constr type="l" for="ch" forName="Parent" refType="w" fact="0.29"/>
              <dgm:constr type="t" for="ch" forName="Parent" refType="h" fact="0"/>
              <dgm:constr type="w" for="ch" forName="Parent" refType="w" fact="0.71"/>
              <dgm:constr type="h" for="ch" forName="Parent" refType="h" fact="0.192"/>
              <dgm:constr type="l" for="ch" forName="BackAccent" refType="w" fact="0"/>
              <dgm:constr type="t" for="ch" forName="BackAccent" refType="h" fact="0"/>
              <dgm:constr type="w" for="ch" forName="BackAccent" refType="w" fact="0.24"/>
              <dgm:constr type="h" for="ch" forName="BackAccent" refType="h" fact="0.192"/>
              <dgm:constr type="l" for="ch" forName="Accent" refType="w" fact="0.024"/>
              <dgm:constr type="t" for="ch" forName="Accent" refType="h" fact="0.0192"/>
              <dgm:constr type="w" for="ch" forName="Accent" refType="w" fact="0.192"/>
              <dgm:constr type="h" for="ch" forName="Accent" refType="h" fact="0.1536"/>
            </dgm:constrLst>
          </dgm:if>
          <dgm:else name="Name6">
            <dgm:constrLst>
              <dgm:constr type="r" for="ch" forName="Child" refType="w" fact="0.71"/>
              <dgm:constr type="t" for="ch" forName="Child" refType="h" fact="0.192"/>
              <dgm:constr type="w" for="ch" forName="Child" refType="w" fact="0.71"/>
              <dgm:constr type="h" for="ch" forName="Child" refType="h" fact="0.808"/>
              <dgm:constr type="r" for="ch" forName="Parent" refType="w" fact="0.71"/>
              <dgm:constr type="t" for="ch" forName="Parent" refType="h" fact="0"/>
              <dgm:constr type="w" for="ch" forName="Parent" refType="w" fact="0.71"/>
              <dgm:constr type="h" for="ch" forName="Parent" refType="h" fact="0.192"/>
              <dgm:constr type="r" for="ch" forName="BackAccent" refType="w"/>
              <dgm:constr type="t" for="ch" forName="BackAccent" refType="h" fact="0"/>
              <dgm:constr type="w" for="ch" forName="BackAccent" refType="w" fact="0.24"/>
              <dgm:constr type="h" for="ch" forName="BackAccent" refType="h" fact="0.192"/>
              <dgm:constr type="r" for="ch" forName="Accent" refType="w" fact="0.976"/>
              <dgm:constr type="t" for="ch" forName="Accent" refType="h" fact="0.0192"/>
              <dgm:constr type="w" for="ch" forName="Accent" refType="w" fact="0.192"/>
              <dgm:constr type="h" for="ch" forName="Accent" refType="h" fact="0.1536"/>
            </dgm:constrLst>
          </dgm:else>
        </dgm:choose>
        <dgm:layoutNode name="BackAccent" styleLbl="bgShp">
          <dgm:alg type="sp"/>
          <dgm:shape xmlns:r="http://schemas.openxmlformats.org/officeDocument/2006/relationships" type="ellipse" r:blip="">
            <dgm:adjLst/>
          </dgm:shape>
          <dgm:presOf/>
        </dgm:layoutNode>
        <dgm:layoutNode name="Accent" styleLbl="alignNode1">
          <dgm:alg type="sp"/>
          <dgm:choose name="Name7">
            <dgm:if name="Name8" axis="precedSib" ptType="node" func="cnt" op="equ" val="0">
              <dgm:choose name="Name9">
                <dgm:if name="Name10" axis="followSib" ptType="node" func="cnt" op="equ" val="0">
                  <dgm:shape xmlns:r="http://schemas.openxmlformats.org/officeDocument/2006/relationships" type="chord" r:blip="">
                    <dgm:adjLst>
                      <dgm:adj idx="1" val="-90"/>
                      <dgm:adj idx="2" val="-90"/>
                    </dgm:adjLst>
                  </dgm:shape>
                </dgm:if>
                <dgm:if name="Name11" axis="followSib" ptType="node" func="cnt" op="equ" val="1">
                  <dgm:shape xmlns:r="http://schemas.openxmlformats.org/officeDocument/2006/relationships" type="chord" r:blip="">
                    <dgm:adjLst>
                      <dgm:adj idx="1" val="0"/>
                      <dgm:adj idx="2" val="180"/>
                    </dgm:adjLst>
                  </dgm:shape>
                </dgm:if>
                <dgm:if name="Name12" axis="followSib" ptType="node" func="cnt" op="equ" val="2">
                  <dgm:shape xmlns:r="http://schemas.openxmlformats.org/officeDocument/2006/relationships" type="chord" r:blip="">
                    <dgm:adjLst>
                      <dgm:adj idx="1" val="19.4712"/>
                      <dgm:adj idx="2" val="160.5288"/>
                    </dgm:adjLst>
                  </dgm:shape>
                </dgm:if>
                <dgm:if name="Name13" axis="followSib" ptType="node" func="cnt" op="equ" val="3">
                  <dgm:shape xmlns:r="http://schemas.openxmlformats.org/officeDocument/2006/relationships" type="chord" r:blip="">
                    <dgm:adjLst>
                      <dgm:adj idx="1" val="30"/>
                      <dgm:adj idx="2" val="150"/>
                    </dgm:adjLst>
                  </dgm:shape>
                </dgm:if>
                <dgm:if name="Name14" axis="followSib" ptType="node" func="cnt" op="equ" val="4">
                  <dgm:shape xmlns:r="http://schemas.openxmlformats.org/officeDocument/2006/relationships" type="chord" r:blip="">
                    <dgm:adjLst>
                      <dgm:adj idx="1" val="38.8699"/>
                      <dgm:adj idx="2" val="143.1301"/>
                    </dgm:adjLst>
                  </dgm:shape>
                </dgm:if>
                <dgm:if name="Name15" axis="followSib" ptType="node" func="cnt" op="equ" val="5">
                  <dgm:shape xmlns:r="http://schemas.openxmlformats.org/officeDocument/2006/relationships" type="chord" r:blip="">
                    <dgm:adjLst>
                      <dgm:adj idx="1" val="41.8103"/>
                      <dgm:adj idx="2" val="138.1897"/>
                    </dgm:adjLst>
                  </dgm:shape>
                </dgm:if>
                <dgm:else name="Name16">
                  <dgm:shape xmlns:r="http://schemas.openxmlformats.org/officeDocument/2006/relationships" type="chord" r:blip="">
                    <dgm:adjLst>
                      <dgm:adj idx="1" val="45.5847"/>
                      <dgm:adj idx="2" val="134.4153"/>
                    </dgm:adjLst>
                  </dgm:shape>
                </dgm:else>
              </dgm:choose>
            </dgm:if>
            <dgm:if name="Name17" axis="precedSib" ptType="node" func="cnt" op="equ" val="1">
              <dgm:choose name="Name18">
                <dgm:if name="Name19" axis="followSib" ptType="node" func="cnt" op="equ" val="0">
                  <dgm:shape xmlns:r="http://schemas.openxmlformats.org/officeDocument/2006/relationships" type="chord" r:blip="">
                    <dgm:adjLst>
                      <dgm:adj idx="1" val="-90"/>
                      <dgm:adj idx="2" val="-90"/>
                    </dgm:adjLst>
                  </dgm:shape>
                </dgm:if>
                <dgm:if name="Name20" axis="followSib" ptType="node" func="cnt" op="equ" val="1">
                  <dgm:shape xmlns:r="http://schemas.openxmlformats.org/officeDocument/2006/relationships" type="chord" r:blip="">
                    <dgm:adjLst>
                      <dgm:adj idx="1" val="-19.4712"/>
                      <dgm:adj idx="2" val="-160.5288"/>
                    </dgm:adjLst>
                  </dgm:shape>
                </dgm:if>
                <dgm:if name="Name21" axis="followSib" ptType="node" func="cnt" op="equ" val="2">
                  <dgm:shape xmlns:r="http://schemas.openxmlformats.org/officeDocument/2006/relationships" type="chord" r:blip="">
                    <dgm:adjLst>
                      <dgm:adj idx="1" val="0"/>
                      <dgm:adj idx="2" val="180"/>
                    </dgm:adjLst>
                  </dgm:shape>
                </dgm:if>
                <dgm:if name="Name22" axis="followSib" ptType="node" func="cnt" op="equ" val="3">
                  <dgm:shape xmlns:r="http://schemas.openxmlformats.org/officeDocument/2006/relationships" type="chord" r:blip="">
                    <dgm:adjLst>
                      <dgm:adj idx="1" val="11.537"/>
                      <dgm:adj idx="2" val="168.463"/>
                    </dgm:adjLst>
                  </dgm:shape>
                </dgm:if>
                <dgm:if name="Name23" axis="followSib" ptType="node" func="cnt" op="equ" val="4">
                  <dgm:shape xmlns:r="http://schemas.openxmlformats.org/officeDocument/2006/relationships" type="chord" r:blip="">
                    <dgm:adjLst>
                      <dgm:adj idx="1" val="19.4712"/>
                      <dgm:adj idx="2" val="160.5288"/>
                    </dgm:adjLst>
                  </dgm:shape>
                </dgm:if>
                <dgm:else name="Name24">
                  <dgm:shape xmlns:r="http://schemas.openxmlformats.org/officeDocument/2006/relationships" type="chord" r:blip="">
                    <dgm:adjLst>
                      <dgm:adj idx="1" val="25.3769"/>
                      <dgm:adj idx="2" val="154.6231"/>
                    </dgm:adjLst>
                  </dgm:shape>
                </dgm:else>
              </dgm:choose>
            </dgm:if>
            <dgm:if name="Name25" axis="precedSib" ptType="node" func="cnt" op="equ" val="2">
              <dgm:choose name="Name26">
                <dgm:if name="Name27" axis="followSib" ptType="node" func="cnt" op="equ" val="0">
                  <dgm:shape xmlns:r="http://schemas.openxmlformats.org/officeDocument/2006/relationships" type="chord" r:blip="">
                    <dgm:adjLst>
                      <dgm:adj idx="1" val="-90"/>
                      <dgm:adj idx="2" val="-90"/>
                    </dgm:adjLst>
                  </dgm:shape>
                </dgm:if>
                <dgm:if name="Name28" axis="followSib" ptType="node" func="cnt" op="equ" val="1">
                  <dgm:shape xmlns:r="http://schemas.openxmlformats.org/officeDocument/2006/relationships" type="chord" r:blip="">
                    <dgm:adjLst>
                      <dgm:adj idx="1" val="-30"/>
                      <dgm:adj idx="2" val="-150"/>
                    </dgm:adjLst>
                  </dgm:shape>
                </dgm:if>
                <dgm:if name="Name29" axis="followSib" ptType="node" func="cnt" op="equ" val="2">
                  <dgm:shape xmlns:r="http://schemas.openxmlformats.org/officeDocument/2006/relationships" type="chord" r:blip="">
                    <dgm:adjLst>
                      <dgm:adj idx="1" val="-11.537"/>
                      <dgm:adj idx="2" val="-168.463"/>
                    </dgm:adjLst>
                  </dgm:shape>
                </dgm:if>
                <dgm:if name="Name30" axis="followSib" ptType="node" func="cnt" op="equ" val="3">
                  <dgm:shape xmlns:r="http://schemas.openxmlformats.org/officeDocument/2006/relationships" type="chord" r:blip="">
                    <dgm:adjLst>
                      <dgm:adj idx="1" val="0"/>
                      <dgm:adj idx="2" val="180"/>
                    </dgm:adjLst>
                  </dgm:shape>
                </dgm:if>
                <dgm:else name="Name31">
                  <dgm:shape xmlns:r="http://schemas.openxmlformats.org/officeDocument/2006/relationships" type="chord" r:blip="">
                    <dgm:adjLst>
                      <dgm:adj idx="1" val="8.2133"/>
                      <dgm:adj idx="2" val="171.7867"/>
                    </dgm:adjLst>
                  </dgm:shape>
                </dgm:else>
              </dgm:choose>
            </dgm:if>
            <dgm:if name="Name32" axis="precedSib" ptType="node" func="cnt" op="equ" val="3">
              <dgm:choose name="Name33">
                <dgm:if name="Name34" axis="followSib" ptType="node" func="cnt" op="equ" val="0">
                  <dgm:shape xmlns:r="http://schemas.openxmlformats.org/officeDocument/2006/relationships" type="chord" r:blip="">
                    <dgm:adjLst>
                      <dgm:adj idx="1" val="-90"/>
                      <dgm:adj idx="2" val="-90"/>
                    </dgm:adjLst>
                  </dgm:shape>
                </dgm:if>
                <dgm:if name="Name35" axis="followSib" ptType="node" func="cnt" op="equ" val="1">
                  <dgm:shape xmlns:r="http://schemas.openxmlformats.org/officeDocument/2006/relationships" type="chord" r:blip="">
                    <dgm:adjLst>
                      <dgm:adj idx="1" val="-38.8699"/>
                      <dgm:adj idx="2" val="-143.1301"/>
                    </dgm:adjLst>
                  </dgm:shape>
                </dgm:if>
                <dgm:if name="Name36" axis="followSib" ptType="node" func="cnt" op="equ" val="2">
                  <dgm:shape xmlns:r="http://schemas.openxmlformats.org/officeDocument/2006/relationships" type="chord" r:blip="">
                    <dgm:adjLst>
                      <dgm:adj idx="1" val="-19.4712"/>
                      <dgm:adj idx="2" val="-160.5288"/>
                    </dgm:adjLst>
                  </dgm:shape>
                </dgm:if>
                <dgm:else name="Name37">
                  <dgm:shape xmlns:r="http://schemas.openxmlformats.org/officeDocument/2006/relationships" type="chord" r:blip="">
                    <dgm:adjLst>
                      <dgm:adj idx="1" val="-8.2133"/>
                      <dgm:adj idx="2" val="-171.7867"/>
                    </dgm:adjLst>
                  </dgm:shape>
                </dgm:else>
              </dgm:choose>
            </dgm:if>
            <dgm:if name="Name38" axis="precedSib" ptType="node" func="cnt" op="equ" val="4">
              <dgm:choose name="Name39">
                <dgm:if name="Name40" axis="followSib" ptType="node" func="cnt" op="equ" val="0">
                  <dgm:shape xmlns:r="http://schemas.openxmlformats.org/officeDocument/2006/relationships" type="chord" r:blip="">
                    <dgm:adjLst>
                      <dgm:adj idx="1" val="-90"/>
                      <dgm:adj idx="2" val="-90"/>
                    </dgm:adjLst>
                  </dgm:shape>
                </dgm:if>
                <dgm:if name="Name41" axis="followSib" ptType="node" func="cnt" op="equ" val="1">
                  <dgm:shape xmlns:r="http://schemas.openxmlformats.org/officeDocument/2006/relationships" type="chord" r:blip="">
                    <dgm:adjLst>
                      <dgm:adj idx="1" val="-41.8103"/>
                      <dgm:adj idx="2" val="-138.1897"/>
                    </dgm:adjLst>
                  </dgm:shape>
                </dgm:if>
                <dgm:else name="Name42">
                  <dgm:shape xmlns:r="http://schemas.openxmlformats.org/officeDocument/2006/relationships" type="chord" r:blip="">
                    <dgm:adjLst>
                      <dgm:adj idx="1" val="-25.3769"/>
                      <dgm:adj idx="2" val="-154.6231"/>
                    </dgm:adjLst>
                  </dgm:shape>
                </dgm:else>
              </dgm:choose>
            </dgm:if>
            <dgm:if name="Name43" axis="precedSib" ptType="node" func="cnt" op="equ" val="5">
              <dgm:choose name="Name44">
                <dgm:if name="Name45" axis="followSib" ptType="node" func="cnt" op="equ" val="0">
                  <dgm:shape xmlns:r="http://schemas.openxmlformats.org/officeDocument/2006/relationships" type="chord" r:blip="">
                    <dgm:adjLst>
                      <dgm:adj idx="1" val="-90"/>
                      <dgm:adj idx="2" val="-90"/>
                    </dgm:adjLst>
                  </dgm:shape>
                </dgm:if>
                <dgm:else name="Name46">
                  <dgm:shape xmlns:r="http://schemas.openxmlformats.org/officeDocument/2006/relationships" type="chord" r:blip="">
                    <dgm:adjLst>
                      <dgm:adj idx="1" val="-45.5847"/>
                      <dgm:adj idx="2" val="-134.4153"/>
                    </dgm:adjLst>
                  </dgm:shape>
                </dgm:else>
              </dgm:choose>
            </dgm:if>
            <dgm:else name="Name47">
              <dgm:shape xmlns:r="http://schemas.openxmlformats.org/officeDocument/2006/relationships" type="chord" r:blip="">
                <dgm:adjLst>
                  <dgm:adj idx="1" val="-90"/>
                  <dgm:adj idx="2" val="-90"/>
                </dgm:adjLst>
              </dgm:shape>
            </dgm:else>
          </dgm:choose>
          <dgm:presOf/>
        </dgm:layoutNode>
        <dgm:layoutNode name="Child" styleLbl="revTx">
          <dgm:varLst>
            <dgm:chMax val="0"/>
            <dgm:chPref val="0"/>
            <dgm:bulletEnabled val="1"/>
          </dgm:varLst>
          <dgm:choose name="Name48">
            <dgm:if name="Name49" func="var" arg="dir" op="equ" val="norm">
              <dgm:alg type="tx">
                <dgm:param type="parTxLTRAlign" val="l"/>
                <dgm:param type="parTxRTLAlign" val="l"/>
                <dgm:param type="txAnchorVert" val="t"/>
              </dgm:alg>
            </dgm:if>
            <dgm:else name="Name50">
              <dgm:alg type="tx">
                <dgm:param type="parTxLTRAlign" val="r"/>
                <dgm:param type="parTxRTLAlign" val="r"/>
                <dgm:param type="txAnchorVert" val="t"/>
              </dgm:alg>
            </dgm:else>
          </dgm:choose>
          <dgm:choose name="Name51">
            <dgm:if name="Name52" axis="ch" ptType="node" func="cnt" op="gte" val="1">
              <dgm:shape xmlns:r="http://schemas.openxmlformats.org/officeDocument/2006/relationships" type="rect" r:blip="">
                <dgm:adjLst/>
              </dgm:shape>
            </dgm:if>
            <dgm:else name="Name53">
              <dgm:shape xmlns:r="http://schemas.openxmlformats.org/officeDocument/2006/relationships" type="rect" r:blip="" hideGeom="1">
                <dgm:adjLst/>
              </dgm:shape>
            </dgm:else>
          </dgm:choose>
          <dgm:choose name="Name54">
            <dgm:if name="Name55" axis="ch" ptType="node" func="cnt" op="gte" val="1">
              <dgm:presOf axis="des" ptType="node"/>
            </dgm:if>
            <dgm:else name="Name56">
              <dgm:presOf/>
            </dgm:else>
          </dgm:choos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Parent" styleLbl="revTx">
          <dgm:varLst>
            <dgm:chMax val="1"/>
            <dgm:chPref val="1"/>
            <dgm:bulletEnabled val="1"/>
          </dgm:varLst>
          <dgm:choose name="Name57">
            <dgm:if name="Name58" func="var" arg="dir" op="equ" val="norm">
              <dgm:alg type="tx">
                <dgm:param type="parTxLTRAlign" val="l"/>
                <dgm:param type="parTxRTLAlign" val="l"/>
                <dgm:param type="shpTxLTRAlignCh" val="l"/>
                <dgm:param type="shpTxRTLAlignCh" val="l"/>
                <dgm:param type="txAnchorVert" val="b"/>
                <dgm:param type="txAnchorVertCh" val="b"/>
              </dgm:alg>
            </dgm:if>
            <dgm:else name="Name59">
              <dgm:alg type="tx">
                <dgm:param type="parTxLTRAlign" val="r"/>
                <dgm:param type="parTxRTLAlign" val="r"/>
                <dgm:param type="shpTxLTRAlignCh" val="r"/>
                <dgm:param type="shpTxRTLAlignCh" val="r"/>
                <dgm:param type="txAnchorVert" val="b"/>
                <dgm:param type="txAnchorVertCh" val="b"/>
              </dgm:alg>
            </dgm:else>
          </dgm:choose>
          <dgm:shape xmlns:r="http://schemas.openxmlformats.org/officeDocument/2006/relationships" type="rect" r:blip="">
            <dgm:adjLst/>
          </dgm:shape>
          <dgm:presOf axis="self"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IncreasingCircleProcess">
  <dgm:title val=""/>
  <dgm:desc val=""/>
  <dgm:catLst>
    <dgm:cat type="list" pri="8300"/>
    <dgm:cat type="process" pri="43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clrData>
  <dgm:layoutNode name="Name0">
    <dgm:varLst>
      <dgm:chMax val="7"/>
      <dgm:chPref val="7"/>
      <dgm:dir/>
      <dgm:animOne val="branch"/>
      <dgm:animLvl val="lvl"/>
    </dgm:varLst>
    <dgm:choose name="Name1">
      <dgm:if name="Name2" func="var" arg="dir" op="equ" val="norm">
        <dgm:alg type="lin">
          <dgm:param type="linDir" val="fromL"/>
          <dgm:param type="horzAlign" val="ctr"/>
          <dgm:param type="vertAlign" val="t"/>
        </dgm:alg>
      </dgm:if>
      <dgm:else name="Name3">
        <dgm:alg type="lin">
          <dgm:param type="linDir" val="fromR"/>
          <dgm:param type="horzAlign" val="ctr"/>
          <dgm:param type="vertAlign" val="t"/>
        </dgm:alg>
      </dgm:else>
    </dgm:choose>
    <dgm:shape xmlns:r="http://schemas.openxmlformats.org/officeDocument/2006/relationships" r:blip="">
      <dgm:adjLst/>
    </dgm:shape>
    <dgm:constrLst>
      <dgm:constr type="primFontSz" for="des" forName="Child" val="65"/>
      <dgm:constr type="primFontSz" for="des" forName="Parent" val="65"/>
      <dgm:constr type="primFontSz" for="des" forName="Child" refType="primFontSz" refFor="des" refForName="Parent" op="lte"/>
      <dgm:constr type="w" for="ch" forName="composite" refType="w"/>
      <dgm:constr type="h" for="ch" forName="composite" refType="h"/>
      <dgm:constr type="sp" refType="w" refFor="ch" refForName="composite" op="equ" fact="0.05"/>
      <dgm:constr type="w" for="ch" forName="sibTrans" refType="h" refFor="ch" refForName="composite" op="equ" fact="0.04"/>
    </dgm:constrLst>
    <dgm:forEach name="nodesForEach" axis="ch" ptType="node" cnt="7">
      <dgm:layoutNode name="composite">
        <dgm:alg type="composite">
          <dgm:param type="ar" val="0.8"/>
        </dgm:alg>
        <dgm:choose name="Name4">
          <dgm:if name="Name5" func="var" arg="dir" op="equ" val="norm">
            <dgm:constrLst>
              <dgm:constr type="l" for="ch" forName="Child" refType="w" fact="0.29"/>
              <dgm:constr type="t" for="ch" forName="Child" refType="h" fact="0.192"/>
              <dgm:constr type="w" for="ch" forName="Child" refType="w" fact="0.71"/>
              <dgm:constr type="h" for="ch" forName="Child" refType="h" fact="0.808"/>
              <dgm:constr type="l" for="ch" forName="Parent" refType="w" fact="0.29"/>
              <dgm:constr type="t" for="ch" forName="Parent" refType="h" fact="0"/>
              <dgm:constr type="w" for="ch" forName="Parent" refType="w" fact="0.71"/>
              <dgm:constr type="h" for="ch" forName="Parent" refType="h" fact="0.192"/>
              <dgm:constr type="l" for="ch" forName="BackAccent" refType="w" fact="0"/>
              <dgm:constr type="t" for="ch" forName="BackAccent" refType="h" fact="0"/>
              <dgm:constr type="w" for="ch" forName="BackAccent" refType="w" fact="0.24"/>
              <dgm:constr type="h" for="ch" forName="BackAccent" refType="h" fact="0.192"/>
              <dgm:constr type="l" for="ch" forName="Accent" refType="w" fact="0.024"/>
              <dgm:constr type="t" for="ch" forName="Accent" refType="h" fact="0.0192"/>
              <dgm:constr type="w" for="ch" forName="Accent" refType="w" fact="0.192"/>
              <dgm:constr type="h" for="ch" forName="Accent" refType="h" fact="0.1536"/>
            </dgm:constrLst>
          </dgm:if>
          <dgm:else name="Name6">
            <dgm:constrLst>
              <dgm:constr type="r" for="ch" forName="Child" refType="w" fact="0.71"/>
              <dgm:constr type="t" for="ch" forName="Child" refType="h" fact="0.192"/>
              <dgm:constr type="w" for="ch" forName="Child" refType="w" fact="0.71"/>
              <dgm:constr type="h" for="ch" forName="Child" refType="h" fact="0.808"/>
              <dgm:constr type="r" for="ch" forName="Parent" refType="w" fact="0.71"/>
              <dgm:constr type="t" for="ch" forName="Parent" refType="h" fact="0"/>
              <dgm:constr type="w" for="ch" forName="Parent" refType="w" fact="0.71"/>
              <dgm:constr type="h" for="ch" forName="Parent" refType="h" fact="0.192"/>
              <dgm:constr type="r" for="ch" forName="BackAccent" refType="w"/>
              <dgm:constr type="t" for="ch" forName="BackAccent" refType="h" fact="0"/>
              <dgm:constr type="w" for="ch" forName="BackAccent" refType="w" fact="0.24"/>
              <dgm:constr type="h" for="ch" forName="BackAccent" refType="h" fact="0.192"/>
              <dgm:constr type="r" for="ch" forName="Accent" refType="w" fact="0.976"/>
              <dgm:constr type="t" for="ch" forName="Accent" refType="h" fact="0.0192"/>
              <dgm:constr type="w" for="ch" forName="Accent" refType="w" fact="0.192"/>
              <dgm:constr type="h" for="ch" forName="Accent" refType="h" fact="0.1536"/>
            </dgm:constrLst>
          </dgm:else>
        </dgm:choose>
        <dgm:layoutNode name="BackAccent" styleLbl="bgShp">
          <dgm:alg type="sp"/>
          <dgm:shape xmlns:r="http://schemas.openxmlformats.org/officeDocument/2006/relationships" type="ellipse" r:blip="">
            <dgm:adjLst/>
          </dgm:shape>
          <dgm:presOf/>
        </dgm:layoutNode>
        <dgm:layoutNode name="Accent" styleLbl="alignNode1">
          <dgm:alg type="sp"/>
          <dgm:choose name="Name7">
            <dgm:if name="Name8" axis="precedSib" ptType="node" func="cnt" op="equ" val="0">
              <dgm:choose name="Name9">
                <dgm:if name="Name10" axis="followSib" ptType="node" func="cnt" op="equ" val="0">
                  <dgm:shape xmlns:r="http://schemas.openxmlformats.org/officeDocument/2006/relationships" type="chord" r:blip="">
                    <dgm:adjLst>
                      <dgm:adj idx="1" val="-90"/>
                      <dgm:adj idx="2" val="-90"/>
                    </dgm:adjLst>
                  </dgm:shape>
                </dgm:if>
                <dgm:if name="Name11" axis="followSib" ptType="node" func="cnt" op="equ" val="1">
                  <dgm:shape xmlns:r="http://schemas.openxmlformats.org/officeDocument/2006/relationships" type="chord" r:blip="">
                    <dgm:adjLst>
                      <dgm:adj idx="1" val="0"/>
                      <dgm:adj idx="2" val="180"/>
                    </dgm:adjLst>
                  </dgm:shape>
                </dgm:if>
                <dgm:if name="Name12" axis="followSib" ptType="node" func="cnt" op="equ" val="2">
                  <dgm:shape xmlns:r="http://schemas.openxmlformats.org/officeDocument/2006/relationships" type="chord" r:blip="">
                    <dgm:adjLst>
                      <dgm:adj idx="1" val="19.4712"/>
                      <dgm:adj idx="2" val="160.5288"/>
                    </dgm:adjLst>
                  </dgm:shape>
                </dgm:if>
                <dgm:if name="Name13" axis="followSib" ptType="node" func="cnt" op="equ" val="3">
                  <dgm:shape xmlns:r="http://schemas.openxmlformats.org/officeDocument/2006/relationships" type="chord" r:blip="">
                    <dgm:adjLst>
                      <dgm:adj idx="1" val="30"/>
                      <dgm:adj idx="2" val="150"/>
                    </dgm:adjLst>
                  </dgm:shape>
                </dgm:if>
                <dgm:if name="Name14" axis="followSib" ptType="node" func="cnt" op="equ" val="4">
                  <dgm:shape xmlns:r="http://schemas.openxmlformats.org/officeDocument/2006/relationships" type="chord" r:blip="">
                    <dgm:adjLst>
                      <dgm:adj idx="1" val="38.8699"/>
                      <dgm:adj idx="2" val="143.1301"/>
                    </dgm:adjLst>
                  </dgm:shape>
                </dgm:if>
                <dgm:if name="Name15" axis="followSib" ptType="node" func="cnt" op="equ" val="5">
                  <dgm:shape xmlns:r="http://schemas.openxmlformats.org/officeDocument/2006/relationships" type="chord" r:blip="">
                    <dgm:adjLst>
                      <dgm:adj idx="1" val="41.8103"/>
                      <dgm:adj idx="2" val="138.1897"/>
                    </dgm:adjLst>
                  </dgm:shape>
                </dgm:if>
                <dgm:else name="Name16">
                  <dgm:shape xmlns:r="http://schemas.openxmlformats.org/officeDocument/2006/relationships" type="chord" r:blip="">
                    <dgm:adjLst>
                      <dgm:adj idx="1" val="45.5847"/>
                      <dgm:adj idx="2" val="134.4153"/>
                    </dgm:adjLst>
                  </dgm:shape>
                </dgm:else>
              </dgm:choose>
            </dgm:if>
            <dgm:if name="Name17" axis="precedSib" ptType="node" func="cnt" op="equ" val="1">
              <dgm:choose name="Name18">
                <dgm:if name="Name19" axis="followSib" ptType="node" func="cnt" op="equ" val="0">
                  <dgm:shape xmlns:r="http://schemas.openxmlformats.org/officeDocument/2006/relationships" type="chord" r:blip="">
                    <dgm:adjLst>
                      <dgm:adj idx="1" val="-90"/>
                      <dgm:adj idx="2" val="-90"/>
                    </dgm:adjLst>
                  </dgm:shape>
                </dgm:if>
                <dgm:if name="Name20" axis="followSib" ptType="node" func="cnt" op="equ" val="1">
                  <dgm:shape xmlns:r="http://schemas.openxmlformats.org/officeDocument/2006/relationships" type="chord" r:blip="">
                    <dgm:adjLst>
                      <dgm:adj idx="1" val="-19.4712"/>
                      <dgm:adj idx="2" val="-160.5288"/>
                    </dgm:adjLst>
                  </dgm:shape>
                </dgm:if>
                <dgm:if name="Name21" axis="followSib" ptType="node" func="cnt" op="equ" val="2">
                  <dgm:shape xmlns:r="http://schemas.openxmlformats.org/officeDocument/2006/relationships" type="chord" r:blip="">
                    <dgm:adjLst>
                      <dgm:adj idx="1" val="0"/>
                      <dgm:adj idx="2" val="180"/>
                    </dgm:adjLst>
                  </dgm:shape>
                </dgm:if>
                <dgm:if name="Name22" axis="followSib" ptType="node" func="cnt" op="equ" val="3">
                  <dgm:shape xmlns:r="http://schemas.openxmlformats.org/officeDocument/2006/relationships" type="chord" r:blip="">
                    <dgm:adjLst>
                      <dgm:adj idx="1" val="11.537"/>
                      <dgm:adj idx="2" val="168.463"/>
                    </dgm:adjLst>
                  </dgm:shape>
                </dgm:if>
                <dgm:if name="Name23" axis="followSib" ptType="node" func="cnt" op="equ" val="4">
                  <dgm:shape xmlns:r="http://schemas.openxmlformats.org/officeDocument/2006/relationships" type="chord" r:blip="">
                    <dgm:adjLst>
                      <dgm:adj idx="1" val="19.4712"/>
                      <dgm:adj idx="2" val="160.5288"/>
                    </dgm:adjLst>
                  </dgm:shape>
                </dgm:if>
                <dgm:else name="Name24">
                  <dgm:shape xmlns:r="http://schemas.openxmlformats.org/officeDocument/2006/relationships" type="chord" r:blip="">
                    <dgm:adjLst>
                      <dgm:adj idx="1" val="25.3769"/>
                      <dgm:adj idx="2" val="154.6231"/>
                    </dgm:adjLst>
                  </dgm:shape>
                </dgm:else>
              </dgm:choose>
            </dgm:if>
            <dgm:if name="Name25" axis="precedSib" ptType="node" func="cnt" op="equ" val="2">
              <dgm:choose name="Name26">
                <dgm:if name="Name27" axis="followSib" ptType="node" func="cnt" op="equ" val="0">
                  <dgm:shape xmlns:r="http://schemas.openxmlformats.org/officeDocument/2006/relationships" type="chord" r:blip="">
                    <dgm:adjLst>
                      <dgm:adj idx="1" val="-90"/>
                      <dgm:adj idx="2" val="-90"/>
                    </dgm:adjLst>
                  </dgm:shape>
                </dgm:if>
                <dgm:if name="Name28" axis="followSib" ptType="node" func="cnt" op="equ" val="1">
                  <dgm:shape xmlns:r="http://schemas.openxmlformats.org/officeDocument/2006/relationships" type="chord" r:blip="">
                    <dgm:adjLst>
                      <dgm:adj idx="1" val="-30"/>
                      <dgm:adj idx="2" val="-150"/>
                    </dgm:adjLst>
                  </dgm:shape>
                </dgm:if>
                <dgm:if name="Name29" axis="followSib" ptType="node" func="cnt" op="equ" val="2">
                  <dgm:shape xmlns:r="http://schemas.openxmlformats.org/officeDocument/2006/relationships" type="chord" r:blip="">
                    <dgm:adjLst>
                      <dgm:adj idx="1" val="-11.537"/>
                      <dgm:adj idx="2" val="-168.463"/>
                    </dgm:adjLst>
                  </dgm:shape>
                </dgm:if>
                <dgm:if name="Name30" axis="followSib" ptType="node" func="cnt" op="equ" val="3">
                  <dgm:shape xmlns:r="http://schemas.openxmlformats.org/officeDocument/2006/relationships" type="chord" r:blip="">
                    <dgm:adjLst>
                      <dgm:adj idx="1" val="0"/>
                      <dgm:adj idx="2" val="180"/>
                    </dgm:adjLst>
                  </dgm:shape>
                </dgm:if>
                <dgm:else name="Name31">
                  <dgm:shape xmlns:r="http://schemas.openxmlformats.org/officeDocument/2006/relationships" type="chord" r:blip="">
                    <dgm:adjLst>
                      <dgm:adj idx="1" val="8.2133"/>
                      <dgm:adj idx="2" val="171.7867"/>
                    </dgm:adjLst>
                  </dgm:shape>
                </dgm:else>
              </dgm:choose>
            </dgm:if>
            <dgm:if name="Name32" axis="precedSib" ptType="node" func="cnt" op="equ" val="3">
              <dgm:choose name="Name33">
                <dgm:if name="Name34" axis="followSib" ptType="node" func="cnt" op="equ" val="0">
                  <dgm:shape xmlns:r="http://schemas.openxmlformats.org/officeDocument/2006/relationships" type="chord" r:blip="">
                    <dgm:adjLst>
                      <dgm:adj idx="1" val="-90"/>
                      <dgm:adj idx="2" val="-90"/>
                    </dgm:adjLst>
                  </dgm:shape>
                </dgm:if>
                <dgm:if name="Name35" axis="followSib" ptType="node" func="cnt" op="equ" val="1">
                  <dgm:shape xmlns:r="http://schemas.openxmlformats.org/officeDocument/2006/relationships" type="chord" r:blip="">
                    <dgm:adjLst>
                      <dgm:adj idx="1" val="-38.8699"/>
                      <dgm:adj idx="2" val="-143.1301"/>
                    </dgm:adjLst>
                  </dgm:shape>
                </dgm:if>
                <dgm:if name="Name36" axis="followSib" ptType="node" func="cnt" op="equ" val="2">
                  <dgm:shape xmlns:r="http://schemas.openxmlformats.org/officeDocument/2006/relationships" type="chord" r:blip="">
                    <dgm:adjLst>
                      <dgm:adj idx="1" val="-19.4712"/>
                      <dgm:adj idx="2" val="-160.5288"/>
                    </dgm:adjLst>
                  </dgm:shape>
                </dgm:if>
                <dgm:else name="Name37">
                  <dgm:shape xmlns:r="http://schemas.openxmlformats.org/officeDocument/2006/relationships" type="chord" r:blip="">
                    <dgm:adjLst>
                      <dgm:adj idx="1" val="-8.2133"/>
                      <dgm:adj idx="2" val="-171.7867"/>
                    </dgm:adjLst>
                  </dgm:shape>
                </dgm:else>
              </dgm:choose>
            </dgm:if>
            <dgm:if name="Name38" axis="precedSib" ptType="node" func="cnt" op="equ" val="4">
              <dgm:choose name="Name39">
                <dgm:if name="Name40" axis="followSib" ptType="node" func="cnt" op="equ" val="0">
                  <dgm:shape xmlns:r="http://schemas.openxmlformats.org/officeDocument/2006/relationships" type="chord" r:blip="">
                    <dgm:adjLst>
                      <dgm:adj idx="1" val="-90"/>
                      <dgm:adj idx="2" val="-90"/>
                    </dgm:adjLst>
                  </dgm:shape>
                </dgm:if>
                <dgm:if name="Name41" axis="followSib" ptType="node" func="cnt" op="equ" val="1">
                  <dgm:shape xmlns:r="http://schemas.openxmlformats.org/officeDocument/2006/relationships" type="chord" r:blip="">
                    <dgm:adjLst>
                      <dgm:adj idx="1" val="-41.8103"/>
                      <dgm:adj idx="2" val="-138.1897"/>
                    </dgm:adjLst>
                  </dgm:shape>
                </dgm:if>
                <dgm:else name="Name42">
                  <dgm:shape xmlns:r="http://schemas.openxmlformats.org/officeDocument/2006/relationships" type="chord" r:blip="">
                    <dgm:adjLst>
                      <dgm:adj idx="1" val="-25.3769"/>
                      <dgm:adj idx="2" val="-154.6231"/>
                    </dgm:adjLst>
                  </dgm:shape>
                </dgm:else>
              </dgm:choose>
            </dgm:if>
            <dgm:if name="Name43" axis="precedSib" ptType="node" func="cnt" op="equ" val="5">
              <dgm:choose name="Name44">
                <dgm:if name="Name45" axis="followSib" ptType="node" func="cnt" op="equ" val="0">
                  <dgm:shape xmlns:r="http://schemas.openxmlformats.org/officeDocument/2006/relationships" type="chord" r:blip="">
                    <dgm:adjLst>
                      <dgm:adj idx="1" val="-90"/>
                      <dgm:adj idx="2" val="-90"/>
                    </dgm:adjLst>
                  </dgm:shape>
                </dgm:if>
                <dgm:else name="Name46">
                  <dgm:shape xmlns:r="http://schemas.openxmlformats.org/officeDocument/2006/relationships" type="chord" r:blip="">
                    <dgm:adjLst>
                      <dgm:adj idx="1" val="-45.5847"/>
                      <dgm:adj idx="2" val="-134.4153"/>
                    </dgm:adjLst>
                  </dgm:shape>
                </dgm:else>
              </dgm:choose>
            </dgm:if>
            <dgm:else name="Name47">
              <dgm:shape xmlns:r="http://schemas.openxmlformats.org/officeDocument/2006/relationships" type="chord" r:blip="">
                <dgm:adjLst>
                  <dgm:adj idx="1" val="-90"/>
                  <dgm:adj idx="2" val="-90"/>
                </dgm:adjLst>
              </dgm:shape>
            </dgm:else>
          </dgm:choose>
          <dgm:presOf/>
        </dgm:layoutNode>
        <dgm:layoutNode name="Child" styleLbl="revTx">
          <dgm:varLst>
            <dgm:chMax val="0"/>
            <dgm:chPref val="0"/>
            <dgm:bulletEnabled val="1"/>
          </dgm:varLst>
          <dgm:choose name="Name48">
            <dgm:if name="Name49" func="var" arg="dir" op="equ" val="norm">
              <dgm:alg type="tx">
                <dgm:param type="parTxLTRAlign" val="l"/>
                <dgm:param type="parTxRTLAlign" val="l"/>
                <dgm:param type="txAnchorVert" val="t"/>
              </dgm:alg>
            </dgm:if>
            <dgm:else name="Name50">
              <dgm:alg type="tx">
                <dgm:param type="parTxLTRAlign" val="r"/>
                <dgm:param type="parTxRTLAlign" val="r"/>
                <dgm:param type="txAnchorVert" val="t"/>
              </dgm:alg>
            </dgm:else>
          </dgm:choose>
          <dgm:choose name="Name51">
            <dgm:if name="Name52" axis="ch" ptType="node" func="cnt" op="gte" val="1">
              <dgm:shape xmlns:r="http://schemas.openxmlformats.org/officeDocument/2006/relationships" type="rect" r:blip="">
                <dgm:adjLst/>
              </dgm:shape>
            </dgm:if>
            <dgm:else name="Name53">
              <dgm:shape xmlns:r="http://schemas.openxmlformats.org/officeDocument/2006/relationships" type="rect" r:blip="" hideGeom="1">
                <dgm:adjLst/>
              </dgm:shape>
            </dgm:else>
          </dgm:choose>
          <dgm:choose name="Name54">
            <dgm:if name="Name55" axis="ch" ptType="node" func="cnt" op="gte" val="1">
              <dgm:presOf axis="des" ptType="node"/>
            </dgm:if>
            <dgm:else name="Name56">
              <dgm:presOf/>
            </dgm:else>
          </dgm:choos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Parent" styleLbl="revTx">
          <dgm:varLst>
            <dgm:chMax val="1"/>
            <dgm:chPref val="1"/>
            <dgm:bulletEnabled val="1"/>
          </dgm:varLst>
          <dgm:choose name="Name57">
            <dgm:if name="Name58" func="var" arg="dir" op="equ" val="norm">
              <dgm:alg type="tx">
                <dgm:param type="parTxLTRAlign" val="l"/>
                <dgm:param type="parTxRTLAlign" val="l"/>
                <dgm:param type="shpTxLTRAlignCh" val="l"/>
                <dgm:param type="shpTxRTLAlignCh" val="l"/>
                <dgm:param type="txAnchorVert" val="b"/>
                <dgm:param type="txAnchorVertCh" val="b"/>
              </dgm:alg>
            </dgm:if>
            <dgm:else name="Name59">
              <dgm:alg type="tx">
                <dgm:param type="parTxLTRAlign" val="r"/>
                <dgm:param type="parTxRTLAlign" val="r"/>
                <dgm:param type="shpTxLTRAlignCh" val="r"/>
                <dgm:param type="shpTxRTLAlignCh" val="r"/>
                <dgm:param type="txAnchorVert" val="b"/>
                <dgm:param type="txAnchorVertCh" val="b"/>
              </dgm:alg>
            </dgm:else>
          </dgm:choose>
          <dgm:shape xmlns:r="http://schemas.openxmlformats.org/officeDocument/2006/relationships" type="rect" r:blip="">
            <dgm:adjLst/>
          </dgm:shape>
          <dgm:presOf axis="self"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IncreasingCircleProcess">
  <dgm:title val=""/>
  <dgm:desc val=""/>
  <dgm:catLst>
    <dgm:cat type="list" pri="8300"/>
    <dgm:cat type="process" pri="43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clrData>
  <dgm:layoutNode name="Name0">
    <dgm:varLst>
      <dgm:chMax val="7"/>
      <dgm:chPref val="7"/>
      <dgm:dir/>
      <dgm:animOne val="branch"/>
      <dgm:animLvl val="lvl"/>
    </dgm:varLst>
    <dgm:choose name="Name1">
      <dgm:if name="Name2" func="var" arg="dir" op="equ" val="norm">
        <dgm:alg type="lin">
          <dgm:param type="linDir" val="fromL"/>
          <dgm:param type="horzAlign" val="ctr"/>
          <dgm:param type="vertAlign" val="t"/>
        </dgm:alg>
      </dgm:if>
      <dgm:else name="Name3">
        <dgm:alg type="lin">
          <dgm:param type="linDir" val="fromR"/>
          <dgm:param type="horzAlign" val="ctr"/>
          <dgm:param type="vertAlign" val="t"/>
        </dgm:alg>
      </dgm:else>
    </dgm:choose>
    <dgm:shape xmlns:r="http://schemas.openxmlformats.org/officeDocument/2006/relationships" r:blip="">
      <dgm:adjLst/>
    </dgm:shape>
    <dgm:constrLst>
      <dgm:constr type="primFontSz" for="des" forName="Child" val="65"/>
      <dgm:constr type="primFontSz" for="des" forName="Parent" val="65"/>
      <dgm:constr type="primFontSz" for="des" forName="Child" refType="primFontSz" refFor="des" refForName="Parent" op="lte"/>
      <dgm:constr type="w" for="ch" forName="composite" refType="w"/>
      <dgm:constr type="h" for="ch" forName="composite" refType="h"/>
      <dgm:constr type="sp" refType="w" refFor="ch" refForName="composite" op="equ" fact="0.05"/>
      <dgm:constr type="w" for="ch" forName="sibTrans" refType="h" refFor="ch" refForName="composite" op="equ" fact="0.04"/>
    </dgm:constrLst>
    <dgm:forEach name="nodesForEach" axis="ch" ptType="node" cnt="7">
      <dgm:layoutNode name="composite">
        <dgm:alg type="composite">
          <dgm:param type="ar" val="0.8"/>
        </dgm:alg>
        <dgm:choose name="Name4">
          <dgm:if name="Name5" func="var" arg="dir" op="equ" val="norm">
            <dgm:constrLst>
              <dgm:constr type="l" for="ch" forName="Child" refType="w" fact="0.29"/>
              <dgm:constr type="t" for="ch" forName="Child" refType="h" fact="0.192"/>
              <dgm:constr type="w" for="ch" forName="Child" refType="w" fact="0.71"/>
              <dgm:constr type="h" for="ch" forName="Child" refType="h" fact="0.808"/>
              <dgm:constr type="l" for="ch" forName="Parent" refType="w" fact="0.29"/>
              <dgm:constr type="t" for="ch" forName="Parent" refType="h" fact="0"/>
              <dgm:constr type="w" for="ch" forName="Parent" refType="w" fact="0.71"/>
              <dgm:constr type="h" for="ch" forName="Parent" refType="h" fact="0.192"/>
              <dgm:constr type="l" for="ch" forName="BackAccent" refType="w" fact="0"/>
              <dgm:constr type="t" for="ch" forName="BackAccent" refType="h" fact="0"/>
              <dgm:constr type="w" for="ch" forName="BackAccent" refType="w" fact="0.24"/>
              <dgm:constr type="h" for="ch" forName="BackAccent" refType="h" fact="0.192"/>
              <dgm:constr type="l" for="ch" forName="Accent" refType="w" fact="0.024"/>
              <dgm:constr type="t" for="ch" forName="Accent" refType="h" fact="0.0192"/>
              <dgm:constr type="w" for="ch" forName="Accent" refType="w" fact="0.192"/>
              <dgm:constr type="h" for="ch" forName="Accent" refType="h" fact="0.1536"/>
            </dgm:constrLst>
          </dgm:if>
          <dgm:else name="Name6">
            <dgm:constrLst>
              <dgm:constr type="r" for="ch" forName="Child" refType="w" fact="0.71"/>
              <dgm:constr type="t" for="ch" forName="Child" refType="h" fact="0.192"/>
              <dgm:constr type="w" for="ch" forName="Child" refType="w" fact="0.71"/>
              <dgm:constr type="h" for="ch" forName="Child" refType="h" fact="0.808"/>
              <dgm:constr type="r" for="ch" forName="Parent" refType="w" fact="0.71"/>
              <dgm:constr type="t" for="ch" forName="Parent" refType="h" fact="0"/>
              <dgm:constr type="w" for="ch" forName="Parent" refType="w" fact="0.71"/>
              <dgm:constr type="h" for="ch" forName="Parent" refType="h" fact="0.192"/>
              <dgm:constr type="r" for="ch" forName="BackAccent" refType="w"/>
              <dgm:constr type="t" for="ch" forName="BackAccent" refType="h" fact="0"/>
              <dgm:constr type="w" for="ch" forName="BackAccent" refType="w" fact="0.24"/>
              <dgm:constr type="h" for="ch" forName="BackAccent" refType="h" fact="0.192"/>
              <dgm:constr type="r" for="ch" forName="Accent" refType="w" fact="0.976"/>
              <dgm:constr type="t" for="ch" forName="Accent" refType="h" fact="0.0192"/>
              <dgm:constr type="w" for="ch" forName="Accent" refType="w" fact="0.192"/>
              <dgm:constr type="h" for="ch" forName="Accent" refType="h" fact="0.1536"/>
            </dgm:constrLst>
          </dgm:else>
        </dgm:choose>
        <dgm:layoutNode name="BackAccent" styleLbl="bgShp">
          <dgm:alg type="sp"/>
          <dgm:shape xmlns:r="http://schemas.openxmlformats.org/officeDocument/2006/relationships" type="ellipse" r:blip="">
            <dgm:adjLst/>
          </dgm:shape>
          <dgm:presOf/>
        </dgm:layoutNode>
        <dgm:layoutNode name="Accent" styleLbl="alignNode1">
          <dgm:alg type="sp"/>
          <dgm:choose name="Name7">
            <dgm:if name="Name8" axis="precedSib" ptType="node" func="cnt" op="equ" val="0">
              <dgm:choose name="Name9">
                <dgm:if name="Name10" axis="followSib" ptType="node" func="cnt" op="equ" val="0">
                  <dgm:shape xmlns:r="http://schemas.openxmlformats.org/officeDocument/2006/relationships" type="chord" r:blip="">
                    <dgm:adjLst>
                      <dgm:adj idx="1" val="-90"/>
                      <dgm:adj idx="2" val="-90"/>
                    </dgm:adjLst>
                  </dgm:shape>
                </dgm:if>
                <dgm:if name="Name11" axis="followSib" ptType="node" func="cnt" op="equ" val="1">
                  <dgm:shape xmlns:r="http://schemas.openxmlformats.org/officeDocument/2006/relationships" type="chord" r:blip="">
                    <dgm:adjLst>
                      <dgm:adj idx="1" val="0"/>
                      <dgm:adj idx="2" val="180"/>
                    </dgm:adjLst>
                  </dgm:shape>
                </dgm:if>
                <dgm:if name="Name12" axis="followSib" ptType="node" func="cnt" op="equ" val="2">
                  <dgm:shape xmlns:r="http://schemas.openxmlformats.org/officeDocument/2006/relationships" type="chord" r:blip="">
                    <dgm:adjLst>
                      <dgm:adj idx="1" val="19.4712"/>
                      <dgm:adj idx="2" val="160.5288"/>
                    </dgm:adjLst>
                  </dgm:shape>
                </dgm:if>
                <dgm:if name="Name13" axis="followSib" ptType="node" func="cnt" op="equ" val="3">
                  <dgm:shape xmlns:r="http://schemas.openxmlformats.org/officeDocument/2006/relationships" type="chord" r:blip="">
                    <dgm:adjLst>
                      <dgm:adj idx="1" val="30"/>
                      <dgm:adj idx="2" val="150"/>
                    </dgm:adjLst>
                  </dgm:shape>
                </dgm:if>
                <dgm:if name="Name14" axis="followSib" ptType="node" func="cnt" op="equ" val="4">
                  <dgm:shape xmlns:r="http://schemas.openxmlformats.org/officeDocument/2006/relationships" type="chord" r:blip="">
                    <dgm:adjLst>
                      <dgm:adj idx="1" val="38.8699"/>
                      <dgm:adj idx="2" val="143.1301"/>
                    </dgm:adjLst>
                  </dgm:shape>
                </dgm:if>
                <dgm:if name="Name15" axis="followSib" ptType="node" func="cnt" op="equ" val="5">
                  <dgm:shape xmlns:r="http://schemas.openxmlformats.org/officeDocument/2006/relationships" type="chord" r:blip="">
                    <dgm:adjLst>
                      <dgm:adj idx="1" val="41.8103"/>
                      <dgm:adj idx="2" val="138.1897"/>
                    </dgm:adjLst>
                  </dgm:shape>
                </dgm:if>
                <dgm:else name="Name16">
                  <dgm:shape xmlns:r="http://schemas.openxmlformats.org/officeDocument/2006/relationships" type="chord" r:blip="">
                    <dgm:adjLst>
                      <dgm:adj idx="1" val="45.5847"/>
                      <dgm:adj idx="2" val="134.4153"/>
                    </dgm:adjLst>
                  </dgm:shape>
                </dgm:else>
              </dgm:choose>
            </dgm:if>
            <dgm:if name="Name17" axis="precedSib" ptType="node" func="cnt" op="equ" val="1">
              <dgm:choose name="Name18">
                <dgm:if name="Name19" axis="followSib" ptType="node" func="cnt" op="equ" val="0">
                  <dgm:shape xmlns:r="http://schemas.openxmlformats.org/officeDocument/2006/relationships" type="chord" r:blip="">
                    <dgm:adjLst>
                      <dgm:adj idx="1" val="-90"/>
                      <dgm:adj idx="2" val="-90"/>
                    </dgm:adjLst>
                  </dgm:shape>
                </dgm:if>
                <dgm:if name="Name20" axis="followSib" ptType="node" func="cnt" op="equ" val="1">
                  <dgm:shape xmlns:r="http://schemas.openxmlformats.org/officeDocument/2006/relationships" type="chord" r:blip="">
                    <dgm:adjLst>
                      <dgm:adj idx="1" val="-19.4712"/>
                      <dgm:adj idx="2" val="-160.5288"/>
                    </dgm:adjLst>
                  </dgm:shape>
                </dgm:if>
                <dgm:if name="Name21" axis="followSib" ptType="node" func="cnt" op="equ" val="2">
                  <dgm:shape xmlns:r="http://schemas.openxmlformats.org/officeDocument/2006/relationships" type="chord" r:blip="">
                    <dgm:adjLst>
                      <dgm:adj idx="1" val="0"/>
                      <dgm:adj idx="2" val="180"/>
                    </dgm:adjLst>
                  </dgm:shape>
                </dgm:if>
                <dgm:if name="Name22" axis="followSib" ptType="node" func="cnt" op="equ" val="3">
                  <dgm:shape xmlns:r="http://schemas.openxmlformats.org/officeDocument/2006/relationships" type="chord" r:blip="">
                    <dgm:adjLst>
                      <dgm:adj idx="1" val="11.537"/>
                      <dgm:adj idx="2" val="168.463"/>
                    </dgm:adjLst>
                  </dgm:shape>
                </dgm:if>
                <dgm:if name="Name23" axis="followSib" ptType="node" func="cnt" op="equ" val="4">
                  <dgm:shape xmlns:r="http://schemas.openxmlformats.org/officeDocument/2006/relationships" type="chord" r:blip="">
                    <dgm:adjLst>
                      <dgm:adj idx="1" val="19.4712"/>
                      <dgm:adj idx="2" val="160.5288"/>
                    </dgm:adjLst>
                  </dgm:shape>
                </dgm:if>
                <dgm:else name="Name24">
                  <dgm:shape xmlns:r="http://schemas.openxmlformats.org/officeDocument/2006/relationships" type="chord" r:blip="">
                    <dgm:adjLst>
                      <dgm:adj idx="1" val="25.3769"/>
                      <dgm:adj idx="2" val="154.6231"/>
                    </dgm:adjLst>
                  </dgm:shape>
                </dgm:else>
              </dgm:choose>
            </dgm:if>
            <dgm:if name="Name25" axis="precedSib" ptType="node" func="cnt" op="equ" val="2">
              <dgm:choose name="Name26">
                <dgm:if name="Name27" axis="followSib" ptType="node" func="cnt" op="equ" val="0">
                  <dgm:shape xmlns:r="http://schemas.openxmlformats.org/officeDocument/2006/relationships" type="chord" r:blip="">
                    <dgm:adjLst>
                      <dgm:adj idx="1" val="-90"/>
                      <dgm:adj idx="2" val="-90"/>
                    </dgm:adjLst>
                  </dgm:shape>
                </dgm:if>
                <dgm:if name="Name28" axis="followSib" ptType="node" func="cnt" op="equ" val="1">
                  <dgm:shape xmlns:r="http://schemas.openxmlformats.org/officeDocument/2006/relationships" type="chord" r:blip="">
                    <dgm:adjLst>
                      <dgm:adj idx="1" val="-30"/>
                      <dgm:adj idx="2" val="-150"/>
                    </dgm:adjLst>
                  </dgm:shape>
                </dgm:if>
                <dgm:if name="Name29" axis="followSib" ptType="node" func="cnt" op="equ" val="2">
                  <dgm:shape xmlns:r="http://schemas.openxmlformats.org/officeDocument/2006/relationships" type="chord" r:blip="">
                    <dgm:adjLst>
                      <dgm:adj idx="1" val="-11.537"/>
                      <dgm:adj idx="2" val="-168.463"/>
                    </dgm:adjLst>
                  </dgm:shape>
                </dgm:if>
                <dgm:if name="Name30" axis="followSib" ptType="node" func="cnt" op="equ" val="3">
                  <dgm:shape xmlns:r="http://schemas.openxmlformats.org/officeDocument/2006/relationships" type="chord" r:blip="">
                    <dgm:adjLst>
                      <dgm:adj idx="1" val="0"/>
                      <dgm:adj idx="2" val="180"/>
                    </dgm:adjLst>
                  </dgm:shape>
                </dgm:if>
                <dgm:else name="Name31">
                  <dgm:shape xmlns:r="http://schemas.openxmlformats.org/officeDocument/2006/relationships" type="chord" r:blip="">
                    <dgm:adjLst>
                      <dgm:adj idx="1" val="8.2133"/>
                      <dgm:adj idx="2" val="171.7867"/>
                    </dgm:adjLst>
                  </dgm:shape>
                </dgm:else>
              </dgm:choose>
            </dgm:if>
            <dgm:if name="Name32" axis="precedSib" ptType="node" func="cnt" op="equ" val="3">
              <dgm:choose name="Name33">
                <dgm:if name="Name34" axis="followSib" ptType="node" func="cnt" op="equ" val="0">
                  <dgm:shape xmlns:r="http://schemas.openxmlformats.org/officeDocument/2006/relationships" type="chord" r:blip="">
                    <dgm:adjLst>
                      <dgm:adj idx="1" val="-90"/>
                      <dgm:adj idx="2" val="-90"/>
                    </dgm:adjLst>
                  </dgm:shape>
                </dgm:if>
                <dgm:if name="Name35" axis="followSib" ptType="node" func="cnt" op="equ" val="1">
                  <dgm:shape xmlns:r="http://schemas.openxmlformats.org/officeDocument/2006/relationships" type="chord" r:blip="">
                    <dgm:adjLst>
                      <dgm:adj idx="1" val="-38.8699"/>
                      <dgm:adj idx="2" val="-143.1301"/>
                    </dgm:adjLst>
                  </dgm:shape>
                </dgm:if>
                <dgm:if name="Name36" axis="followSib" ptType="node" func="cnt" op="equ" val="2">
                  <dgm:shape xmlns:r="http://schemas.openxmlformats.org/officeDocument/2006/relationships" type="chord" r:blip="">
                    <dgm:adjLst>
                      <dgm:adj idx="1" val="-19.4712"/>
                      <dgm:adj idx="2" val="-160.5288"/>
                    </dgm:adjLst>
                  </dgm:shape>
                </dgm:if>
                <dgm:else name="Name37">
                  <dgm:shape xmlns:r="http://schemas.openxmlformats.org/officeDocument/2006/relationships" type="chord" r:blip="">
                    <dgm:adjLst>
                      <dgm:adj idx="1" val="-8.2133"/>
                      <dgm:adj idx="2" val="-171.7867"/>
                    </dgm:adjLst>
                  </dgm:shape>
                </dgm:else>
              </dgm:choose>
            </dgm:if>
            <dgm:if name="Name38" axis="precedSib" ptType="node" func="cnt" op="equ" val="4">
              <dgm:choose name="Name39">
                <dgm:if name="Name40" axis="followSib" ptType="node" func="cnt" op="equ" val="0">
                  <dgm:shape xmlns:r="http://schemas.openxmlformats.org/officeDocument/2006/relationships" type="chord" r:blip="">
                    <dgm:adjLst>
                      <dgm:adj idx="1" val="-90"/>
                      <dgm:adj idx="2" val="-90"/>
                    </dgm:adjLst>
                  </dgm:shape>
                </dgm:if>
                <dgm:if name="Name41" axis="followSib" ptType="node" func="cnt" op="equ" val="1">
                  <dgm:shape xmlns:r="http://schemas.openxmlformats.org/officeDocument/2006/relationships" type="chord" r:blip="">
                    <dgm:adjLst>
                      <dgm:adj idx="1" val="-41.8103"/>
                      <dgm:adj idx="2" val="-138.1897"/>
                    </dgm:adjLst>
                  </dgm:shape>
                </dgm:if>
                <dgm:else name="Name42">
                  <dgm:shape xmlns:r="http://schemas.openxmlformats.org/officeDocument/2006/relationships" type="chord" r:blip="">
                    <dgm:adjLst>
                      <dgm:adj idx="1" val="-25.3769"/>
                      <dgm:adj idx="2" val="-154.6231"/>
                    </dgm:adjLst>
                  </dgm:shape>
                </dgm:else>
              </dgm:choose>
            </dgm:if>
            <dgm:if name="Name43" axis="precedSib" ptType="node" func="cnt" op="equ" val="5">
              <dgm:choose name="Name44">
                <dgm:if name="Name45" axis="followSib" ptType="node" func="cnt" op="equ" val="0">
                  <dgm:shape xmlns:r="http://schemas.openxmlformats.org/officeDocument/2006/relationships" type="chord" r:blip="">
                    <dgm:adjLst>
                      <dgm:adj idx="1" val="-90"/>
                      <dgm:adj idx="2" val="-90"/>
                    </dgm:adjLst>
                  </dgm:shape>
                </dgm:if>
                <dgm:else name="Name46">
                  <dgm:shape xmlns:r="http://schemas.openxmlformats.org/officeDocument/2006/relationships" type="chord" r:blip="">
                    <dgm:adjLst>
                      <dgm:adj idx="1" val="-45.5847"/>
                      <dgm:adj idx="2" val="-134.4153"/>
                    </dgm:adjLst>
                  </dgm:shape>
                </dgm:else>
              </dgm:choose>
            </dgm:if>
            <dgm:else name="Name47">
              <dgm:shape xmlns:r="http://schemas.openxmlformats.org/officeDocument/2006/relationships" type="chord" r:blip="">
                <dgm:adjLst>
                  <dgm:adj idx="1" val="-90"/>
                  <dgm:adj idx="2" val="-90"/>
                </dgm:adjLst>
              </dgm:shape>
            </dgm:else>
          </dgm:choose>
          <dgm:presOf/>
        </dgm:layoutNode>
        <dgm:layoutNode name="Child" styleLbl="revTx">
          <dgm:varLst>
            <dgm:chMax val="0"/>
            <dgm:chPref val="0"/>
            <dgm:bulletEnabled val="1"/>
          </dgm:varLst>
          <dgm:choose name="Name48">
            <dgm:if name="Name49" func="var" arg="dir" op="equ" val="norm">
              <dgm:alg type="tx">
                <dgm:param type="parTxLTRAlign" val="l"/>
                <dgm:param type="parTxRTLAlign" val="l"/>
                <dgm:param type="txAnchorVert" val="t"/>
              </dgm:alg>
            </dgm:if>
            <dgm:else name="Name50">
              <dgm:alg type="tx">
                <dgm:param type="parTxLTRAlign" val="r"/>
                <dgm:param type="parTxRTLAlign" val="r"/>
                <dgm:param type="txAnchorVert" val="t"/>
              </dgm:alg>
            </dgm:else>
          </dgm:choose>
          <dgm:choose name="Name51">
            <dgm:if name="Name52" axis="ch" ptType="node" func="cnt" op="gte" val="1">
              <dgm:shape xmlns:r="http://schemas.openxmlformats.org/officeDocument/2006/relationships" type="rect" r:blip="">
                <dgm:adjLst/>
              </dgm:shape>
            </dgm:if>
            <dgm:else name="Name53">
              <dgm:shape xmlns:r="http://schemas.openxmlformats.org/officeDocument/2006/relationships" type="rect" r:blip="" hideGeom="1">
                <dgm:adjLst/>
              </dgm:shape>
            </dgm:else>
          </dgm:choose>
          <dgm:choose name="Name54">
            <dgm:if name="Name55" axis="ch" ptType="node" func="cnt" op="gte" val="1">
              <dgm:presOf axis="des" ptType="node"/>
            </dgm:if>
            <dgm:else name="Name56">
              <dgm:presOf/>
            </dgm:else>
          </dgm:choos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Parent" styleLbl="revTx">
          <dgm:varLst>
            <dgm:chMax val="1"/>
            <dgm:chPref val="1"/>
            <dgm:bulletEnabled val="1"/>
          </dgm:varLst>
          <dgm:choose name="Name57">
            <dgm:if name="Name58" func="var" arg="dir" op="equ" val="norm">
              <dgm:alg type="tx">
                <dgm:param type="parTxLTRAlign" val="l"/>
                <dgm:param type="parTxRTLAlign" val="l"/>
                <dgm:param type="shpTxLTRAlignCh" val="l"/>
                <dgm:param type="shpTxRTLAlignCh" val="l"/>
                <dgm:param type="txAnchorVert" val="b"/>
                <dgm:param type="txAnchorVertCh" val="b"/>
              </dgm:alg>
            </dgm:if>
            <dgm:else name="Name59">
              <dgm:alg type="tx">
                <dgm:param type="parTxLTRAlign" val="r"/>
                <dgm:param type="parTxRTLAlign" val="r"/>
                <dgm:param type="shpTxLTRAlignCh" val="r"/>
                <dgm:param type="shpTxRTLAlignCh" val="r"/>
                <dgm:param type="txAnchorVert" val="b"/>
                <dgm:param type="txAnchorVertCh" val="b"/>
              </dgm:alg>
            </dgm:else>
          </dgm:choose>
          <dgm:shape xmlns:r="http://schemas.openxmlformats.org/officeDocument/2006/relationships" type="rect" r:blip="">
            <dgm:adjLst/>
          </dgm:shape>
          <dgm:presOf axis="self"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IncreasingCircleProcess">
  <dgm:title val=""/>
  <dgm:desc val=""/>
  <dgm:catLst>
    <dgm:cat type="list" pri="8300"/>
    <dgm:cat type="process" pri="43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clrData>
  <dgm:layoutNode name="Name0">
    <dgm:varLst>
      <dgm:chMax val="7"/>
      <dgm:chPref val="7"/>
      <dgm:dir/>
      <dgm:animOne val="branch"/>
      <dgm:animLvl val="lvl"/>
    </dgm:varLst>
    <dgm:choose name="Name1">
      <dgm:if name="Name2" func="var" arg="dir" op="equ" val="norm">
        <dgm:alg type="lin">
          <dgm:param type="linDir" val="fromL"/>
          <dgm:param type="horzAlign" val="ctr"/>
          <dgm:param type="vertAlign" val="t"/>
        </dgm:alg>
      </dgm:if>
      <dgm:else name="Name3">
        <dgm:alg type="lin">
          <dgm:param type="linDir" val="fromR"/>
          <dgm:param type="horzAlign" val="ctr"/>
          <dgm:param type="vertAlign" val="t"/>
        </dgm:alg>
      </dgm:else>
    </dgm:choose>
    <dgm:shape xmlns:r="http://schemas.openxmlformats.org/officeDocument/2006/relationships" r:blip="">
      <dgm:adjLst/>
    </dgm:shape>
    <dgm:constrLst>
      <dgm:constr type="primFontSz" for="des" forName="Child" val="65"/>
      <dgm:constr type="primFontSz" for="des" forName="Parent" val="65"/>
      <dgm:constr type="primFontSz" for="des" forName="Child" refType="primFontSz" refFor="des" refForName="Parent" op="lte"/>
      <dgm:constr type="w" for="ch" forName="composite" refType="w"/>
      <dgm:constr type="h" for="ch" forName="composite" refType="h"/>
      <dgm:constr type="sp" refType="w" refFor="ch" refForName="composite" op="equ" fact="0.05"/>
      <dgm:constr type="w" for="ch" forName="sibTrans" refType="h" refFor="ch" refForName="composite" op="equ" fact="0.04"/>
    </dgm:constrLst>
    <dgm:forEach name="nodesForEach" axis="ch" ptType="node" cnt="7">
      <dgm:layoutNode name="composite">
        <dgm:alg type="composite">
          <dgm:param type="ar" val="0.8"/>
        </dgm:alg>
        <dgm:choose name="Name4">
          <dgm:if name="Name5" func="var" arg="dir" op="equ" val="norm">
            <dgm:constrLst>
              <dgm:constr type="l" for="ch" forName="Child" refType="w" fact="0.29"/>
              <dgm:constr type="t" for="ch" forName="Child" refType="h" fact="0.192"/>
              <dgm:constr type="w" for="ch" forName="Child" refType="w" fact="0.71"/>
              <dgm:constr type="h" for="ch" forName="Child" refType="h" fact="0.808"/>
              <dgm:constr type="l" for="ch" forName="Parent" refType="w" fact="0.29"/>
              <dgm:constr type="t" for="ch" forName="Parent" refType="h" fact="0"/>
              <dgm:constr type="w" for="ch" forName="Parent" refType="w" fact="0.71"/>
              <dgm:constr type="h" for="ch" forName="Parent" refType="h" fact="0.192"/>
              <dgm:constr type="l" for="ch" forName="BackAccent" refType="w" fact="0"/>
              <dgm:constr type="t" for="ch" forName="BackAccent" refType="h" fact="0"/>
              <dgm:constr type="w" for="ch" forName="BackAccent" refType="w" fact="0.24"/>
              <dgm:constr type="h" for="ch" forName="BackAccent" refType="h" fact="0.192"/>
              <dgm:constr type="l" for="ch" forName="Accent" refType="w" fact="0.024"/>
              <dgm:constr type="t" for="ch" forName="Accent" refType="h" fact="0.0192"/>
              <dgm:constr type="w" for="ch" forName="Accent" refType="w" fact="0.192"/>
              <dgm:constr type="h" for="ch" forName="Accent" refType="h" fact="0.1536"/>
            </dgm:constrLst>
          </dgm:if>
          <dgm:else name="Name6">
            <dgm:constrLst>
              <dgm:constr type="r" for="ch" forName="Child" refType="w" fact="0.71"/>
              <dgm:constr type="t" for="ch" forName="Child" refType="h" fact="0.192"/>
              <dgm:constr type="w" for="ch" forName="Child" refType="w" fact="0.71"/>
              <dgm:constr type="h" for="ch" forName="Child" refType="h" fact="0.808"/>
              <dgm:constr type="r" for="ch" forName="Parent" refType="w" fact="0.71"/>
              <dgm:constr type="t" for="ch" forName="Parent" refType="h" fact="0"/>
              <dgm:constr type="w" for="ch" forName="Parent" refType="w" fact="0.71"/>
              <dgm:constr type="h" for="ch" forName="Parent" refType="h" fact="0.192"/>
              <dgm:constr type="r" for="ch" forName="BackAccent" refType="w"/>
              <dgm:constr type="t" for="ch" forName="BackAccent" refType="h" fact="0"/>
              <dgm:constr type="w" for="ch" forName="BackAccent" refType="w" fact="0.24"/>
              <dgm:constr type="h" for="ch" forName="BackAccent" refType="h" fact="0.192"/>
              <dgm:constr type="r" for="ch" forName="Accent" refType="w" fact="0.976"/>
              <dgm:constr type="t" for="ch" forName="Accent" refType="h" fact="0.0192"/>
              <dgm:constr type="w" for="ch" forName="Accent" refType="w" fact="0.192"/>
              <dgm:constr type="h" for="ch" forName="Accent" refType="h" fact="0.1536"/>
            </dgm:constrLst>
          </dgm:else>
        </dgm:choose>
        <dgm:layoutNode name="BackAccent" styleLbl="bgShp">
          <dgm:alg type="sp"/>
          <dgm:shape xmlns:r="http://schemas.openxmlformats.org/officeDocument/2006/relationships" type="ellipse" r:blip="">
            <dgm:adjLst/>
          </dgm:shape>
          <dgm:presOf/>
        </dgm:layoutNode>
        <dgm:layoutNode name="Accent" styleLbl="alignNode1">
          <dgm:alg type="sp"/>
          <dgm:choose name="Name7">
            <dgm:if name="Name8" axis="precedSib" ptType="node" func="cnt" op="equ" val="0">
              <dgm:choose name="Name9">
                <dgm:if name="Name10" axis="followSib" ptType="node" func="cnt" op="equ" val="0">
                  <dgm:shape xmlns:r="http://schemas.openxmlformats.org/officeDocument/2006/relationships" type="chord" r:blip="">
                    <dgm:adjLst>
                      <dgm:adj idx="1" val="-90"/>
                      <dgm:adj idx="2" val="-90"/>
                    </dgm:adjLst>
                  </dgm:shape>
                </dgm:if>
                <dgm:if name="Name11" axis="followSib" ptType="node" func="cnt" op="equ" val="1">
                  <dgm:shape xmlns:r="http://schemas.openxmlformats.org/officeDocument/2006/relationships" type="chord" r:blip="">
                    <dgm:adjLst>
                      <dgm:adj idx="1" val="0"/>
                      <dgm:adj idx="2" val="180"/>
                    </dgm:adjLst>
                  </dgm:shape>
                </dgm:if>
                <dgm:if name="Name12" axis="followSib" ptType="node" func="cnt" op="equ" val="2">
                  <dgm:shape xmlns:r="http://schemas.openxmlformats.org/officeDocument/2006/relationships" type="chord" r:blip="">
                    <dgm:adjLst>
                      <dgm:adj idx="1" val="19.4712"/>
                      <dgm:adj idx="2" val="160.5288"/>
                    </dgm:adjLst>
                  </dgm:shape>
                </dgm:if>
                <dgm:if name="Name13" axis="followSib" ptType="node" func="cnt" op="equ" val="3">
                  <dgm:shape xmlns:r="http://schemas.openxmlformats.org/officeDocument/2006/relationships" type="chord" r:blip="">
                    <dgm:adjLst>
                      <dgm:adj idx="1" val="30"/>
                      <dgm:adj idx="2" val="150"/>
                    </dgm:adjLst>
                  </dgm:shape>
                </dgm:if>
                <dgm:if name="Name14" axis="followSib" ptType="node" func="cnt" op="equ" val="4">
                  <dgm:shape xmlns:r="http://schemas.openxmlformats.org/officeDocument/2006/relationships" type="chord" r:blip="">
                    <dgm:adjLst>
                      <dgm:adj idx="1" val="38.8699"/>
                      <dgm:adj idx="2" val="143.1301"/>
                    </dgm:adjLst>
                  </dgm:shape>
                </dgm:if>
                <dgm:if name="Name15" axis="followSib" ptType="node" func="cnt" op="equ" val="5">
                  <dgm:shape xmlns:r="http://schemas.openxmlformats.org/officeDocument/2006/relationships" type="chord" r:blip="">
                    <dgm:adjLst>
                      <dgm:adj idx="1" val="41.8103"/>
                      <dgm:adj idx="2" val="138.1897"/>
                    </dgm:adjLst>
                  </dgm:shape>
                </dgm:if>
                <dgm:else name="Name16">
                  <dgm:shape xmlns:r="http://schemas.openxmlformats.org/officeDocument/2006/relationships" type="chord" r:blip="">
                    <dgm:adjLst>
                      <dgm:adj idx="1" val="45.5847"/>
                      <dgm:adj idx="2" val="134.4153"/>
                    </dgm:adjLst>
                  </dgm:shape>
                </dgm:else>
              </dgm:choose>
            </dgm:if>
            <dgm:if name="Name17" axis="precedSib" ptType="node" func="cnt" op="equ" val="1">
              <dgm:choose name="Name18">
                <dgm:if name="Name19" axis="followSib" ptType="node" func="cnt" op="equ" val="0">
                  <dgm:shape xmlns:r="http://schemas.openxmlformats.org/officeDocument/2006/relationships" type="chord" r:blip="">
                    <dgm:adjLst>
                      <dgm:adj idx="1" val="-90"/>
                      <dgm:adj idx="2" val="-90"/>
                    </dgm:adjLst>
                  </dgm:shape>
                </dgm:if>
                <dgm:if name="Name20" axis="followSib" ptType="node" func="cnt" op="equ" val="1">
                  <dgm:shape xmlns:r="http://schemas.openxmlformats.org/officeDocument/2006/relationships" type="chord" r:blip="">
                    <dgm:adjLst>
                      <dgm:adj idx="1" val="-19.4712"/>
                      <dgm:adj idx="2" val="-160.5288"/>
                    </dgm:adjLst>
                  </dgm:shape>
                </dgm:if>
                <dgm:if name="Name21" axis="followSib" ptType="node" func="cnt" op="equ" val="2">
                  <dgm:shape xmlns:r="http://schemas.openxmlformats.org/officeDocument/2006/relationships" type="chord" r:blip="">
                    <dgm:adjLst>
                      <dgm:adj idx="1" val="0"/>
                      <dgm:adj idx="2" val="180"/>
                    </dgm:adjLst>
                  </dgm:shape>
                </dgm:if>
                <dgm:if name="Name22" axis="followSib" ptType="node" func="cnt" op="equ" val="3">
                  <dgm:shape xmlns:r="http://schemas.openxmlformats.org/officeDocument/2006/relationships" type="chord" r:blip="">
                    <dgm:adjLst>
                      <dgm:adj idx="1" val="11.537"/>
                      <dgm:adj idx="2" val="168.463"/>
                    </dgm:adjLst>
                  </dgm:shape>
                </dgm:if>
                <dgm:if name="Name23" axis="followSib" ptType="node" func="cnt" op="equ" val="4">
                  <dgm:shape xmlns:r="http://schemas.openxmlformats.org/officeDocument/2006/relationships" type="chord" r:blip="">
                    <dgm:adjLst>
                      <dgm:adj idx="1" val="19.4712"/>
                      <dgm:adj idx="2" val="160.5288"/>
                    </dgm:adjLst>
                  </dgm:shape>
                </dgm:if>
                <dgm:else name="Name24">
                  <dgm:shape xmlns:r="http://schemas.openxmlformats.org/officeDocument/2006/relationships" type="chord" r:blip="">
                    <dgm:adjLst>
                      <dgm:adj idx="1" val="25.3769"/>
                      <dgm:adj idx="2" val="154.6231"/>
                    </dgm:adjLst>
                  </dgm:shape>
                </dgm:else>
              </dgm:choose>
            </dgm:if>
            <dgm:if name="Name25" axis="precedSib" ptType="node" func="cnt" op="equ" val="2">
              <dgm:choose name="Name26">
                <dgm:if name="Name27" axis="followSib" ptType="node" func="cnt" op="equ" val="0">
                  <dgm:shape xmlns:r="http://schemas.openxmlformats.org/officeDocument/2006/relationships" type="chord" r:blip="">
                    <dgm:adjLst>
                      <dgm:adj idx="1" val="-90"/>
                      <dgm:adj idx="2" val="-90"/>
                    </dgm:adjLst>
                  </dgm:shape>
                </dgm:if>
                <dgm:if name="Name28" axis="followSib" ptType="node" func="cnt" op="equ" val="1">
                  <dgm:shape xmlns:r="http://schemas.openxmlformats.org/officeDocument/2006/relationships" type="chord" r:blip="">
                    <dgm:adjLst>
                      <dgm:adj idx="1" val="-30"/>
                      <dgm:adj idx="2" val="-150"/>
                    </dgm:adjLst>
                  </dgm:shape>
                </dgm:if>
                <dgm:if name="Name29" axis="followSib" ptType="node" func="cnt" op="equ" val="2">
                  <dgm:shape xmlns:r="http://schemas.openxmlformats.org/officeDocument/2006/relationships" type="chord" r:blip="">
                    <dgm:adjLst>
                      <dgm:adj idx="1" val="-11.537"/>
                      <dgm:adj idx="2" val="-168.463"/>
                    </dgm:adjLst>
                  </dgm:shape>
                </dgm:if>
                <dgm:if name="Name30" axis="followSib" ptType="node" func="cnt" op="equ" val="3">
                  <dgm:shape xmlns:r="http://schemas.openxmlformats.org/officeDocument/2006/relationships" type="chord" r:blip="">
                    <dgm:adjLst>
                      <dgm:adj idx="1" val="0"/>
                      <dgm:adj idx="2" val="180"/>
                    </dgm:adjLst>
                  </dgm:shape>
                </dgm:if>
                <dgm:else name="Name31">
                  <dgm:shape xmlns:r="http://schemas.openxmlformats.org/officeDocument/2006/relationships" type="chord" r:blip="">
                    <dgm:adjLst>
                      <dgm:adj idx="1" val="8.2133"/>
                      <dgm:adj idx="2" val="171.7867"/>
                    </dgm:adjLst>
                  </dgm:shape>
                </dgm:else>
              </dgm:choose>
            </dgm:if>
            <dgm:if name="Name32" axis="precedSib" ptType="node" func="cnt" op="equ" val="3">
              <dgm:choose name="Name33">
                <dgm:if name="Name34" axis="followSib" ptType="node" func="cnt" op="equ" val="0">
                  <dgm:shape xmlns:r="http://schemas.openxmlformats.org/officeDocument/2006/relationships" type="chord" r:blip="">
                    <dgm:adjLst>
                      <dgm:adj idx="1" val="-90"/>
                      <dgm:adj idx="2" val="-90"/>
                    </dgm:adjLst>
                  </dgm:shape>
                </dgm:if>
                <dgm:if name="Name35" axis="followSib" ptType="node" func="cnt" op="equ" val="1">
                  <dgm:shape xmlns:r="http://schemas.openxmlformats.org/officeDocument/2006/relationships" type="chord" r:blip="">
                    <dgm:adjLst>
                      <dgm:adj idx="1" val="-38.8699"/>
                      <dgm:adj idx="2" val="-143.1301"/>
                    </dgm:adjLst>
                  </dgm:shape>
                </dgm:if>
                <dgm:if name="Name36" axis="followSib" ptType="node" func="cnt" op="equ" val="2">
                  <dgm:shape xmlns:r="http://schemas.openxmlformats.org/officeDocument/2006/relationships" type="chord" r:blip="">
                    <dgm:adjLst>
                      <dgm:adj idx="1" val="-19.4712"/>
                      <dgm:adj idx="2" val="-160.5288"/>
                    </dgm:adjLst>
                  </dgm:shape>
                </dgm:if>
                <dgm:else name="Name37">
                  <dgm:shape xmlns:r="http://schemas.openxmlformats.org/officeDocument/2006/relationships" type="chord" r:blip="">
                    <dgm:adjLst>
                      <dgm:adj idx="1" val="-8.2133"/>
                      <dgm:adj idx="2" val="-171.7867"/>
                    </dgm:adjLst>
                  </dgm:shape>
                </dgm:else>
              </dgm:choose>
            </dgm:if>
            <dgm:if name="Name38" axis="precedSib" ptType="node" func="cnt" op="equ" val="4">
              <dgm:choose name="Name39">
                <dgm:if name="Name40" axis="followSib" ptType="node" func="cnt" op="equ" val="0">
                  <dgm:shape xmlns:r="http://schemas.openxmlformats.org/officeDocument/2006/relationships" type="chord" r:blip="">
                    <dgm:adjLst>
                      <dgm:adj idx="1" val="-90"/>
                      <dgm:adj idx="2" val="-90"/>
                    </dgm:adjLst>
                  </dgm:shape>
                </dgm:if>
                <dgm:if name="Name41" axis="followSib" ptType="node" func="cnt" op="equ" val="1">
                  <dgm:shape xmlns:r="http://schemas.openxmlformats.org/officeDocument/2006/relationships" type="chord" r:blip="">
                    <dgm:adjLst>
                      <dgm:adj idx="1" val="-41.8103"/>
                      <dgm:adj idx="2" val="-138.1897"/>
                    </dgm:adjLst>
                  </dgm:shape>
                </dgm:if>
                <dgm:else name="Name42">
                  <dgm:shape xmlns:r="http://schemas.openxmlformats.org/officeDocument/2006/relationships" type="chord" r:blip="">
                    <dgm:adjLst>
                      <dgm:adj idx="1" val="-25.3769"/>
                      <dgm:adj idx="2" val="-154.6231"/>
                    </dgm:adjLst>
                  </dgm:shape>
                </dgm:else>
              </dgm:choose>
            </dgm:if>
            <dgm:if name="Name43" axis="precedSib" ptType="node" func="cnt" op="equ" val="5">
              <dgm:choose name="Name44">
                <dgm:if name="Name45" axis="followSib" ptType="node" func="cnt" op="equ" val="0">
                  <dgm:shape xmlns:r="http://schemas.openxmlformats.org/officeDocument/2006/relationships" type="chord" r:blip="">
                    <dgm:adjLst>
                      <dgm:adj idx="1" val="-90"/>
                      <dgm:adj idx="2" val="-90"/>
                    </dgm:adjLst>
                  </dgm:shape>
                </dgm:if>
                <dgm:else name="Name46">
                  <dgm:shape xmlns:r="http://schemas.openxmlformats.org/officeDocument/2006/relationships" type="chord" r:blip="">
                    <dgm:adjLst>
                      <dgm:adj idx="1" val="-45.5847"/>
                      <dgm:adj idx="2" val="-134.4153"/>
                    </dgm:adjLst>
                  </dgm:shape>
                </dgm:else>
              </dgm:choose>
            </dgm:if>
            <dgm:else name="Name47">
              <dgm:shape xmlns:r="http://schemas.openxmlformats.org/officeDocument/2006/relationships" type="chord" r:blip="">
                <dgm:adjLst>
                  <dgm:adj idx="1" val="-90"/>
                  <dgm:adj idx="2" val="-90"/>
                </dgm:adjLst>
              </dgm:shape>
            </dgm:else>
          </dgm:choose>
          <dgm:presOf/>
        </dgm:layoutNode>
        <dgm:layoutNode name="Child" styleLbl="revTx">
          <dgm:varLst>
            <dgm:chMax val="0"/>
            <dgm:chPref val="0"/>
            <dgm:bulletEnabled val="1"/>
          </dgm:varLst>
          <dgm:choose name="Name48">
            <dgm:if name="Name49" func="var" arg="dir" op="equ" val="norm">
              <dgm:alg type="tx">
                <dgm:param type="parTxLTRAlign" val="l"/>
                <dgm:param type="parTxRTLAlign" val="l"/>
                <dgm:param type="txAnchorVert" val="t"/>
              </dgm:alg>
            </dgm:if>
            <dgm:else name="Name50">
              <dgm:alg type="tx">
                <dgm:param type="parTxLTRAlign" val="r"/>
                <dgm:param type="parTxRTLAlign" val="r"/>
                <dgm:param type="txAnchorVert" val="t"/>
              </dgm:alg>
            </dgm:else>
          </dgm:choose>
          <dgm:choose name="Name51">
            <dgm:if name="Name52" axis="ch" ptType="node" func="cnt" op="gte" val="1">
              <dgm:shape xmlns:r="http://schemas.openxmlformats.org/officeDocument/2006/relationships" type="rect" r:blip="">
                <dgm:adjLst/>
              </dgm:shape>
            </dgm:if>
            <dgm:else name="Name53">
              <dgm:shape xmlns:r="http://schemas.openxmlformats.org/officeDocument/2006/relationships" type="rect" r:blip="" hideGeom="1">
                <dgm:adjLst/>
              </dgm:shape>
            </dgm:else>
          </dgm:choose>
          <dgm:choose name="Name54">
            <dgm:if name="Name55" axis="ch" ptType="node" func="cnt" op="gte" val="1">
              <dgm:presOf axis="des" ptType="node"/>
            </dgm:if>
            <dgm:else name="Name56">
              <dgm:presOf/>
            </dgm:else>
          </dgm:choos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Parent" styleLbl="revTx">
          <dgm:varLst>
            <dgm:chMax val="1"/>
            <dgm:chPref val="1"/>
            <dgm:bulletEnabled val="1"/>
          </dgm:varLst>
          <dgm:choose name="Name57">
            <dgm:if name="Name58" func="var" arg="dir" op="equ" val="norm">
              <dgm:alg type="tx">
                <dgm:param type="parTxLTRAlign" val="l"/>
                <dgm:param type="parTxRTLAlign" val="l"/>
                <dgm:param type="shpTxLTRAlignCh" val="l"/>
                <dgm:param type="shpTxRTLAlignCh" val="l"/>
                <dgm:param type="txAnchorVert" val="b"/>
                <dgm:param type="txAnchorVertCh" val="b"/>
              </dgm:alg>
            </dgm:if>
            <dgm:else name="Name59">
              <dgm:alg type="tx">
                <dgm:param type="parTxLTRAlign" val="r"/>
                <dgm:param type="parTxRTLAlign" val="r"/>
                <dgm:param type="shpTxLTRAlignCh" val="r"/>
                <dgm:param type="shpTxRTLAlignCh" val="r"/>
                <dgm:param type="txAnchorVert" val="b"/>
                <dgm:param type="txAnchorVertCh" val="b"/>
              </dgm:alg>
            </dgm:else>
          </dgm:choose>
          <dgm:shape xmlns:r="http://schemas.openxmlformats.org/officeDocument/2006/relationships" type="rect" r:blip="">
            <dgm:adjLst/>
          </dgm:shape>
          <dgm:presOf axis="self"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drawing1.xml.rels><?xml version="1.0" encoding="UTF-8" standalone="yes"?>
<Relationships xmlns="http://schemas.openxmlformats.org/package/2006/relationships"><Relationship Id="rId1" Type="http://schemas.openxmlformats.org/officeDocument/2006/relationships/image" Target="../media/image20.png"/></Relationships>
</file>

<file path=ppt/drawings/drawing1.xml><?xml version="1.0" encoding="utf-8"?>
<c:userShapes xmlns:c="http://schemas.openxmlformats.org/drawingml/2006/chart">
  <cdr:relSizeAnchor xmlns:cdr="http://schemas.openxmlformats.org/drawingml/2006/chartDrawing">
    <cdr:from>
      <cdr:x>0.93506</cdr:x>
      <cdr:y>0.13035</cdr:y>
    </cdr:from>
    <cdr:to>
      <cdr:x>0.96709</cdr:x>
      <cdr:y>0.77087</cdr:y>
    </cdr:to>
    <cdr:pic>
      <cdr:nvPicPr>
        <cdr:cNvPr id="2" name="chart">
          <a:extLst xmlns:a="http://schemas.openxmlformats.org/drawingml/2006/main">
            <a:ext uri="{FF2B5EF4-FFF2-40B4-BE49-F238E27FC236}">
              <a16:creationId xmlns:a16="http://schemas.microsoft.com/office/drawing/2014/main" id="{B802B389-A850-F4EE-5E38-FEE5AB79A2AA}"/>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rot="16200000">
          <a:off x="9611427" y="1321277"/>
          <a:ext cx="2133785" cy="359695"/>
        </a:xfrm>
        <a:prstGeom xmlns:a="http://schemas.openxmlformats.org/drawingml/2006/main" prst="rect">
          <a:avLst/>
        </a:prstGeom>
      </cdr:spPr>
    </cdr:pic>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5EC1BF-64B8-4E83-9EFF-F64413C10D40}" type="datetimeFigureOut">
              <a:rPr lang="es-CO" smtClean="0"/>
              <a:t>14/10/2026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963697-F2ED-43E5-B33A-B6F61D65A486}" type="slidenum">
              <a:rPr lang="es-CO" smtClean="0"/>
              <a:t>‹#›</a:t>
            </a:fld>
            <a:endParaRPr lang="es-CO"/>
          </a:p>
        </p:txBody>
      </p:sp>
    </p:spTree>
    <p:extLst>
      <p:ext uri="{BB962C8B-B14F-4D97-AF65-F5344CB8AC3E}">
        <p14:creationId xmlns:p14="http://schemas.microsoft.com/office/powerpoint/2010/main" val="16654482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9056A-893F-C1C1-1F54-65CC0E47009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C165555-C6AF-2EF8-E00B-4FC507A90846}"/>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F1C3EFD0-1C8A-E4F1-74C7-ED44DED2C1AE}"/>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4385BD3C-7EC9-3CDD-1EA2-E9863EC2BE37}"/>
              </a:ext>
            </a:extLst>
          </p:cNvPr>
          <p:cNvSpPr>
            <a:spLocks noGrp="1"/>
          </p:cNvSpPr>
          <p:nvPr>
            <p:ph type="sldNum" sz="quarter" idx="5"/>
          </p:nvPr>
        </p:nvSpPr>
        <p:spPr/>
        <p:txBody>
          <a:bodyPr/>
          <a:lstStyle/>
          <a:p>
            <a:fld id="{CD963697-F2ED-43E5-B33A-B6F61D65A486}" type="slidenum">
              <a:rPr lang="es-CO" smtClean="0"/>
              <a:t>9</a:t>
            </a:fld>
            <a:endParaRPr lang="es-CO"/>
          </a:p>
        </p:txBody>
      </p:sp>
    </p:spTree>
    <p:extLst>
      <p:ext uri="{BB962C8B-B14F-4D97-AF65-F5344CB8AC3E}">
        <p14:creationId xmlns:p14="http://schemas.microsoft.com/office/powerpoint/2010/main" val="27282916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92DCC-9512-947F-46FE-5E7AA17F25E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DBB9336-F2C9-E24C-9603-3D995A069080}"/>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4472C499-784D-B8A7-BF29-E233DEC4AF42}"/>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9C4B9AA7-43D8-3CA0-A0DB-E9E9408E3DBE}"/>
              </a:ext>
            </a:extLst>
          </p:cNvPr>
          <p:cNvSpPr>
            <a:spLocks noGrp="1"/>
          </p:cNvSpPr>
          <p:nvPr>
            <p:ph type="sldNum" sz="quarter" idx="5"/>
          </p:nvPr>
        </p:nvSpPr>
        <p:spPr/>
        <p:txBody>
          <a:bodyPr/>
          <a:lstStyle/>
          <a:p>
            <a:fld id="{AF0CB64A-5097-46EE-BA06-3A05535BB2FD}" type="slidenum">
              <a:rPr lang="es-CO" smtClean="0"/>
              <a:t>10</a:t>
            </a:fld>
            <a:endParaRPr lang="es-CO"/>
          </a:p>
        </p:txBody>
      </p:sp>
    </p:spTree>
    <p:extLst>
      <p:ext uri="{BB962C8B-B14F-4D97-AF65-F5344CB8AC3E}">
        <p14:creationId xmlns:p14="http://schemas.microsoft.com/office/powerpoint/2010/main" val="38126336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D0843-DA3E-A5DC-D212-07CAE5E9182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85F05E5-4DD8-DBFD-6B80-FBCD2B7480AE}"/>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8991E010-1430-67C9-E7D4-4FE53ACBFC31}"/>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395DF530-C53F-BF25-65E6-6B5714D5E6C0}"/>
              </a:ext>
            </a:extLst>
          </p:cNvPr>
          <p:cNvSpPr>
            <a:spLocks noGrp="1"/>
          </p:cNvSpPr>
          <p:nvPr>
            <p:ph type="sldNum" sz="quarter" idx="5"/>
          </p:nvPr>
        </p:nvSpPr>
        <p:spPr/>
        <p:txBody>
          <a:bodyPr/>
          <a:lstStyle/>
          <a:p>
            <a:fld id="{AF0CB64A-5097-46EE-BA06-3A05535BB2FD}" type="slidenum">
              <a:rPr lang="es-CO" smtClean="0"/>
              <a:t>11</a:t>
            </a:fld>
            <a:endParaRPr lang="es-CO"/>
          </a:p>
        </p:txBody>
      </p:sp>
    </p:spTree>
    <p:extLst>
      <p:ext uri="{BB962C8B-B14F-4D97-AF65-F5344CB8AC3E}">
        <p14:creationId xmlns:p14="http://schemas.microsoft.com/office/powerpoint/2010/main" val="10273928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F0807-6AD2-1979-A673-8853AFBD82E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4A716B5-981B-9349-4BAF-F026788AA129}"/>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897EAC1B-5AA6-C16C-E597-B010FA58808C}"/>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DFF53F7B-CA59-BD83-500F-5A9EFD067F02}"/>
              </a:ext>
            </a:extLst>
          </p:cNvPr>
          <p:cNvSpPr>
            <a:spLocks noGrp="1"/>
          </p:cNvSpPr>
          <p:nvPr>
            <p:ph type="sldNum" sz="quarter" idx="5"/>
          </p:nvPr>
        </p:nvSpPr>
        <p:spPr/>
        <p:txBody>
          <a:bodyPr/>
          <a:lstStyle/>
          <a:p>
            <a:fld id="{CD963697-F2ED-43E5-B33A-B6F61D65A486}" type="slidenum">
              <a:rPr lang="es-CO" smtClean="0"/>
              <a:t>13</a:t>
            </a:fld>
            <a:endParaRPr lang="es-CO"/>
          </a:p>
        </p:txBody>
      </p:sp>
    </p:spTree>
    <p:extLst>
      <p:ext uri="{BB962C8B-B14F-4D97-AF65-F5344CB8AC3E}">
        <p14:creationId xmlns:p14="http://schemas.microsoft.com/office/powerpoint/2010/main" val="29116664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20354-AB9F-5DEA-6A5D-FA4F9594F80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FDD88AE-BA3F-4061-F3FE-DC533362F429}"/>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25461D96-32F8-2CE2-2B24-562F86EB1207}"/>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A573A090-6091-3376-0869-69702E678A9C}"/>
              </a:ext>
            </a:extLst>
          </p:cNvPr>
          <p:cNvSpPr>
            <a:spLocks noGrp="1"/>
          </p:cNvSpPr>
          <p:nvPr>
            <p:ph type="sldNum" sz="quarter" idx="5"/>
          </p:nvPr>
        </p:nvSpPr>
        <p:spPr/>
        <p:txBody>
          <a:bodyPr/>
          <a:lstStyle/>
          <a:p>
            <a:fld id="{CD963697-F2ED-43E5-B33A-B6F61D65A486}" type="slidenum">
              <a:rPr lang="es-CO" smtClean="0"/>
              <a:t>14</a:t>
            </a:fld>
            <a:endParaRPr lang="es-CO"/>
          </a:p>
        </p:txBody>
      </p:sp>
    </p:spTree>
    <p:extLst>
      <p:ext uri="{BB962C8B-B14F-4D97-AF65-F5344CB8AC3E}">
        <p14:creationId xmlns:p14="http://schemas.microsoft.com/office/powerpoint/2010/main" val="42187593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89933-CEC4-24C4-7B4E-13F8FABEF5A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7C7D85A-1BE5-0148-C17F-308BDE17607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83CB8F0-05FD-43FF-294A-3F5DD233EA56}"/>
              </a:ext>
            </a:extLst>
          </p:cNvPr>
          <p:cNvSpPr>
            <a:spLocks noGrp="1"/>
          </p:cNvSpPr>
          <p:nvPr>
            <p:ph type="body" idx="1"/>
          </p:nvPr>
        </p:nvSpPr>
        <p:spPr/>
        <p:txBody>
          <a:bodyPr/>
          <a:lstStyle/>
          <a:p>
            <a:endParaRPr lang="es-CO" sz="800">
              <a:latin typeface="Aptos" panose="020B0004020202020204" pitchFamily="34" charset="0"/>
            </a:endParaRPr>
          </a:p>
        </p:txBody>
      </p:sp>
      <p:sp>
        <p:nvSpPr>
          <p:cNvPr id="4" name="Marcador de número de diapositiva 3">
            <a:extLst>
              <a:ext uri="{FF2B5EF4-FFF2-40B4-BE49-F238E27FC236}">
                <a16:creationId xmlns:a16="http://schemas.microsoft.com/office/drawing/2014/main" id="{F1419777-ACAB-4C66-1854-EC1A314DFBC0}"/>
              </a:ext>
            </a:extLst>
          </p:cNvPr>
          <p:cNvSpPr>
            <a:spLocks noGrp="1"/>
          </p:cNvSpPr>
          <p:nvPr>
            <p:ph type="sldNum" sz="quarter" idx="5"/>
          </p:nvPr>
        </p:nvSpPr>
        <p:spPr/>
        <p:txBody>
          <a:bodyPr/>
          <a:lstStyle/>
          <a:p>
            <a:fld id="{CD963697-F2ED-43E5-B33A-B6F61D65A486}" type="slidenum">
              <a:rPr lang="es-CO" smtClean="0"/>
              <a:t>15</a:t>
            </a:fld>
            <a:endParaRPr lang="es-CO"/>
          </a:p>
        </p:txBody>
      </p:sp>
    </p:spTree>
    <p:extLst>
      <p:ext uri="{BB962C8B-B14F-4D97-AF65-F5344CB8AC3E}">
        <p14:creationId xmlns:p14="http://schemas.microsoft.com/office/powerpoint/2010/main" val="4805554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5"/>
          </p:nvPr>
        </p:nvSpPr>
        <p:spPr/>
        <p:txBody>
          <a:bodyPr/>
          <a:lstStyle/>
          <a:p>
            <a:fld id="{CD963697-F2ED-43E5-B33A-B6F61D65A486}" type="slidenum">
              <a:rPr lang="es-CO" smtClean="0"/>
              <a:t>19</a:t>
            </a:fld>
            <a:endParaRPr lang="es-CO"/>
          </a:p>
        </p:txBody>
      </p:sp>
    </p:spTree>
    <p:extLst>
      <p:ext uri="{BB962C8B-B14F-4D97-AF65-F5344CB8AC3E}">
        <p14:creationId xmlns:p14="http://schemas.microsoft.com/office/powerpoint/2010/main" val="3101737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057A2-C0F2-7AF4-9BD2-1C06426FB46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07DF78A-B10D-F7B7-1DAD-C884973157F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E39F471-9187-9CA3-D0FA-F8F856597A09}"/>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FD1F6DF2-A3F6-D1D3-60AC-48A231C752AA}"/>
              </a:ext>
            </a:extLst>
          </p:cNvPr>
          <p:cNvSpPr>
            <a:spLocks noGrp="1"/>
          </p:cNvSpPr>
          <p:nvPr>
            <p:ph type="sldNum" sz="quarter" idx="5"/>
          </p:nvPr>
        </p:nvSpPr>
        <p:spPr/>
        <p:txBody>
          <a:bodyPr/>
          <a:lstStyle/>
          <a:p>
            <a:fld id="{CD963697-F2ED-43E5-B33A-B6F61D65A486}" type="slidenum">
              <a:rPr lang="es-CO" smtClean="0"/>
              <a:t>21</a:t>
            </a:fld>
            <a:endParaRPr lang="es-CO"/>
          </a:p>
        </p:txBody>
      </p:sp>
    </p:spTree>
    <p:extLst>
      <p:ext uri="{BB962C8B-B14F-4D97-AF65-F5344CB8AC3E}">
        <p14:creationId xmlns:p14="http://schemas.microsoft.com/office/powerpoint/2010/main" val="28841048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A0169-C455-A86E-8C3C-99924C5218D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B053A17-A092-05A1-47C3-D1E0FE93C9F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16440EE-AEEA-F477-DD8B-CEAC7F4E9B5D}"/>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F0D10707-058E-56BB-4B24-0EAE25CBDE9F}"/>
              </a:ext>
            </a:extLst>
          </p:cNvPr>
          <p:cNvSpPr>
            <a:spLocks noGrp="1"/>
          </p:cNvSpPr>
          <p:nvPr>
            <p:ph type="sldNum" sz="quarter" idx="5"/>
          </p:nvPr>
        </p:nvSpPr>
        <p:spPr/>
        <p:txBody>
          <a:bodyPr/>
          <a:lstStyle/>
          <a:p>
            <a:fld id="{CD963697-F2ED-43E5-B33A-B6F61D65A486}" type="slidenum">
              <a:rPr lang="es-CO" smtClean="0"/>
              <a:t>23</a:t>
            </a:fld>
            <a:endParaRPr lang="es-CO"/>
          </a:p>
        </p:txBody>
      </p:sp>
    </p:spTree>
    <p:extLst>
      <p:ext uri="{BB962C8B-B14F-4D97-AF65-F5344CB8AC3E}">
        <p14:creationId xmlns:p14="http://schemas.microsoft.com/office/powerpoint/2010/main" val="35825634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5"/>
          </p:nvPr>
        </p:nvSpPr>
        <p:spPr/>
        <p:txBody>
          <a:bodyPr/>
          <a:lstStyle/>
          <a:p>
            <a:fld id="{CD963697-F2ED-43E5-B33A-B6F61D65A486}" type="slidenum">
              <a:rPr lang="es-CO" smtClean="0"/>
              <a:t>25</a:t>
            </a:fld>
            <a:endParaRPr lang="es-CO"/>
          </a:p>
        </p:txBody>
      </p:sp>
    </p:spTree>
    <p:extLst>
      <p:ext uri="{BB962C8B-B14F-4D97-AF65-F5344CB8AC3E}">
        <p14:creationId xmlns:p14="http://schemas.microsoft.com/office/powerpoint/2010/main" val="21300230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34BB1-1D05-77DE-6B3D-BC65495C2F1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87018FC-1C69-75E1-9DDD-CC2AF035B048}"/>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DE70F69A-A26F-9E62-C8C5-BFD7C9490032}"/>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20B403A6-5937-787D-4322-57B9388AF73F}"/>
              </a:ext>
            </a:extLst>
          </p:cNvPr>
          <p:cNvSpPr>
            <a:spLocks noGrp="1"/>
          </p:cNvSpPr>
          <p:nvPr>
            <p:ph type="sldNum" sz="quarter" idx="5"/>
          </p:nvPr>
        </p:nvSpPr>
        <p:spPr/>
        <p:txBody>
          <a:bodyPr/>
          <a:lstStyle/>
          <a:p>
            <a:fld id="{CD963697-F2ED-43E5-B33A-B6F61D65A486}" type="slidenum">
              <a:rPr lang="es-CO" smtClean="0"/>
              <a:t>39</a:t>
            </a:fld>
            <a:endParaRPr lang="es-CO"/>
          </a:p>
        </p:txBody>
      </p:sp>
    </p:spTree>
    <p:extLst>
      <p:ext uri="{BB962C8B-B14F-4D97-AF65-F5344CB8AC3E}">
        <p14:creationId xmlns:p14="http://schemas.microsoft.com/office/powerpoint/2010/main" val="22594201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BFDAE-904D-FF8F-8C9E-C43EB3E3C90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AD0C7A6-0AE0-50A9-9465-24CF783A91B5}"/>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4745F000-7942-D48D-B09A-F78A5203DA97}"/>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92F74D0C-EBB1-5C16-435F-B0D72D2B9B14}"/>
              </a:ext>
            </a:extLst>
          </p:cNvPr>
          <p:cNvSpPr>
            <a:spLocks noGrp="1"/>
          </p:cNvSpPr>
          <p:nvPr>
            <p:ph type="sldNum" sz="quarter" idx="5"/>
          </p:nvPr>
        </p:nvSpPr>
        <p:spPr/>
        <p:txBody>
          <a:bodyPr/>
          <a:lstStyle/>
          <a:p>
            <a:fld id="{CD963697-F2ED-43E5-B33A-B6F61D65A486}" type="slidenum">
              <a:rPr lang="es-CO" smtClean="0"/>
              <a:t>40</a:t>
            </a:fld>
            <a:endParaRPr lang="es-CO"/>
          </a:p>
        </p:txBody>
      </p:sp>
    </p:spTree>
    <p:extLst>
      <p:ext uri="{BB962C8B-B14F-4D97-AF65-F5344CB8AC3E}">
        <p14:creationId xmlns:p14="http://schemas.microsoft.com/office/powerpoint/2010/main" val="18909848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07E52-E2BC-B6FA-177B-3AA3B26F2E3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9F5E547-9C53-DD37-1155-BEA0EDA8707B}"/>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EE490A48-9D3A-732F-6914-4C8295BE8093}"/>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B45BD9A8-BEB4-5189-C255-6BE3666C5742}"/>
              </a:ext>
            </a:extLst>
          </p:cNvPr>
          <p:cNvSpPr>
            <a:spLocks noGrp="1"/>
          </p:cNvSpPr>
          <p:nvPr>
            <p:ph type="sldNum" sz="quarter" idx="5"/>
          </p:nvPr>
        </p:nvSpPr>
        <p:spPr/>
        <p:txBody>
          <a:bodyPr/>
          <a:lstStyle/>
          <a:p>
            <a:fld id="{CD963697-F2ED-43E5-B33A-B6F61D65A486}" type="slidenum">
              <a:rPr lang="es-CO" smtClean="0"/>
              <a:t>44</a:t>
            </a:fld>
            <a:endParaRPr lang="es-CO"/>
          </a:p>
        </p:txBody>
      </p:sp>
    </p:spTree>
    <p:extLst>
      <p:ext uri="{BB962C8B-B14F-4D97-AF65-F5344CB8AC3E}">
        <p14:creationId xmlns:p14="http://schemas.microsoft.com/office/powerpoint/2010/main" val="8754188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65E03-003C-F295-A809-C856E89781F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C216407-3AC1-82A4-124C-88ED8D11CF89}"/>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F50DDFD6-4AB0-6495-8AE6-FE20F15B17DE}"/>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ECDE7600-7137-2A47-0230-8DEC519A0097}"/>
              </a:ext>
            </a:extLst>
          </p:cNvPr>
          <p:cNvSpPr>
            <a:spLocks noGrp="1"/>
          </p:cNvSpPr>
          <p:nvPr>
            <p:ph type="sldNum" sz="quarter" idx="5"/>
          </p:nvPr>
        </p:nvSpPr>
        <p:spPr/>
        <p:txBody>
          <a:bodyPr/>
          <a:lstStyle/>
          <a:p>
            <a:fld id="{AF0CB64A-5097-46EE-BA06-3A05535BB2FD}" type="slidenum">
              <a:rPr lang="es-CO" smtClean="0"/>
              <a:t>45</a:t>
            </a:fld>
            <a:endParaRPr lang="es-CO"/>
          </a:p>
        </p:txBody>
      </p:sp>
    </p:spTree>
    <p:extLst>
      <p:ext uri="{BB962C8B-B14F-4D97-AF65-F5344CB8AC3E}">
        <p14:creationId xmlns:p14="http://schemas.microsoft.com/office/powerpoint/2010/main" val="22141520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5E085-63B2-F07F-49F1-B144E486F82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40F5512-5027-6266-7823-7B7BAC08F2B6}"/>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D1DECE42-28EA-6A15-8F42-A43198D87E08}"/>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77897102-DB24-2EB1-11B2-90A6CAEE5F17}"/>
              </a:ext>
            </a:extLst>
          </p:cNvPr>
          <p:cNvSpPr>
            <a:spLocks noGrp="1"/>
          </p:cNvSpPr>
          <p:nvPr>
            <p:ph type="sldNum" sz="quarter" idx="5"/>
          </p:nvPr>
        </p:nvSpPr>
        <p:spPr/>
        <p:txBody>
          <a:bodyPr/>
          <a:lstStyle/>
          <a:p>
            <a:fld id="{AF0CB64A-5097-46EE-BA06-3A05535BB2FD}" type="slidenum">
              <a:rPr lang="es-CO" smtClean="0"/>
              <a:t>47</a:t>
            </a:fld>
            <a:endParaRPr lang="es-CO"/>
          </a:p>
        </p:txBody>
      </p:sp>
    </p:spTree>
    <p:extLst>
      <p:ext uri="{BB962C8B-B14F-4D97-AF65-F5344CB8AC3E}">
        <p14:creationId xmlns:p14="http://schemas.microsoft.com/office/powerpoint/2010/main" val="37986560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B7ADB-666B-0392-8E0E-30C697EBF23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07BAD9C-95DD-36D6-8003-FC1E2E9469C1}"/>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3D9875A1-D465-5DEC-DA9E-DD2D58C7E6D7}"/>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39243FB8-24CB-E236-DE82-61F311633A5D}"/>
              </a:ext>
            </a:extLst>
          </p:cNvPr>
          <p:cNvSpPr>
            <a:spLocks noGrp="1"/>
          </p:cNvSpPr>
          <p:nvPr>
            <p:ph type="sldNum" sz="quarter" idx="5"/>
          </p:nvPr>
        </p:nvSpPr>
        <p:spPr/>
        <p:txBody>
          <a:bodyPr/>
          <a:lstStyle/>
          <a:p>
            <a:fld id="{CD963697-F2ED-43E5-B33A-B6F61D65A486}" type="slidenum">
              <a:rPr lang="es-CO" smtClean="0"/>
              <a:t>49</a:t>
            </a:fld>
            <a:endParaRPr lang="es-CO"/>
          </a:p>
        </p:txBody>
      </p:sp>
    </p:spTree>
    <p:extLst>
      <p:ext uri="{BB962C8B-B14F-4D97-AF65-F5344CB8AC3E}">
        <p14:creationId xmlns:p14="http://schemas.microsoft.com/office/powerpoint/2010/main" val="20919256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BB506-0ECC-7A09-D052-E34F26E2D2D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2E1E871-E1F4-2DF6-791F-52E5ED3A37C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0057D01-254E-0699-8F55-9CB084E5FD7C}"/>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2A1C3FDC-DE23-6E58-0262-D5932FA3B768}"/>
              </a:ext>
            </a:extLst>
          </p:cNvPr>
          <p:cNvSpPr>
            <a:spLocks noGrp="1"/>
          </p:cNvSpPr>
          <p:nvPr>
            <p:ph type="sldNum" sz="quarter" idx="5"/>
          </p:nvPr>
        </p:nvSpPr>
        <p:spPr/>
        <p:txBody>
          <a:bodyPr/>
          <a:lstStyle/>
          <a:p>
            <a:fld id="{CD963697-F2ED-43E5-B33A-B6F61D65A486}" type="slidenum">
              <a:rPr lang="es-CO" smtClean="0"/>
              <a:t>50</a:t>
            </a:fld>
            <a:endParaRPr lang="es-CO"/>
          </a:p>
        </p:txBody>
      </p:sp>
    </p:spTree>
    <p:extLst>
      <p:ext uri="{BB962C8B-B14F-4D97-AF65-F5344CB8AC3E}">
        <p14:creationId xmlns:p14="http://schemas.microsoft.com/office/powerpoint/2010/main" val="14770994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O"/>
          </a:p>
        </p:txBody>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5"/>
          </p:nvPr>
        </p:nvSpPr>
        <p:spPr/>
        <p:txBody>
          <a:bodyPr/>
          <a:lstStyle/>
          <a:p>
            <a:fld id="{CD963697-F2ED-43E5-B33A-B6F61D65A486}" type="slidenum">
              <a:rPr lang="es-CO" smtClean="0"/>
              <a:t>56</a:t>
            </a:fld>
            <a:endParaRPr lang="es-CO"/>
          </a:p>
        </p:txBody>
      </p:sp>
    </p:spTree>
    <p:extLst>
      <p:ext uri="{BB962C8B-B14F-4D97-AF65-F5344CB8AC3E}">
        <p14:creationId xmlns:p14="http://schemas.microsoft.com/office/powerpoint/2010/main" val="24391119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5D0BA-CECF-CD38-00AA-0F55CA8F028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B189D0D-249B-5798-E393-B0FA0F2CFCA0}"/>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6AA50032-1BD1-6B33-53A2-DEC4798ECCC4}"/>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B878ECAB-9C1C-D3D6-EDE4-481A08EE909E}"/>
              </a:ext>
            </a:extLst>
          </p:cNvPr>
          <p:cNvSpPr>
            <a:spLocks noGrp="1"/>
          </p:cNvSpPr>
          <p:nvPr>
            <p:ph type="sldNum" sz="quarter" idx="5"/>
          </p:nvPr>
        </p:nvSpPr>
        <p:spPr/>
        <p:txBody>
          <a:bodyPr/>
          <a:lstStyle/>
          <a:p>
            <a:fld id="{CD963697-F2ED-43E5-B33A-B6F61D65A486}" type="slidenum">
              <a:rPr lang="es-CO" smtClean="0"/>
              <a:t>57</a:t>
            </a:fld>
            <a:endParaRPr lang="es-CO"/>
          </a:p>
        </p:txBody>
      </p:sp>
    </p:spTree>
    <p:extLst>
      <p:ext uri="{BB962C8B-B14F-4D97-AF65-F5344CB8AC3E}">
        <p14:creationId xmlns:p14="http://schemas.microsoft.com/office/powerpoint/2010/main" val="9828957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E8C8D-BED4-49F6-B1EB-F9F739DFD9F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FC8EABB-00B0-632C-14DB-370B1B989E55}"/>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3D7BB4AF-37D2-2662-3AA9-F1E1C36E586A}"/>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5DD7CCC8-9151-8097-491E-2D090F2414CE}"/>
              </a:ext>
            </a:extLst>
          </p:cNvPr>
          <p:cNvSpPr>
            <a:spLocks noGrp="1"/>
          </p:cNvSpPr>
          <p:nvPr>
            <p:ph type="sldNum" sz="quarter" idx="5"/>
          </p:nvPr>
        </p:nvSpPr>
        <p:spPr/>
        <p:txBody>
          <a:bodyPr/>
          <a:lstStyle/>
          <a:p>
            <a:fld id="{CD963697-F2ED-43E5-B33A-B6F61D65A486}" type="slidenum">
              <a:rPr lang="es-CO" smtClean="0"/>
              <a:t>58</a:t>
            </a:fld>
            <a:endParaRPr lang="es-CO"/>
          </a:p>
        </p:txBody>
      </p:sp>
    </p:spTree>
    <p:extLst>
      <p:ext uri="{BB962C8B-B14F-4D97-AF65-F5344CB8AC3E}">
        <p14:creationId xmlns:p14="http://schemas.microsoft.com/office/powerpoint/2010/main" val="22156544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F513D-0210-1A9F-D7DB-18436B778D3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5F02DA4-46E4-3F58-FB27-5861EC95BF4B}"/>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83D6AC8F-A651-7723-2714-C8ACCD2C1F7C}"/>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CF445EDC-4D1A-DD1A-7633-AE309E10E2DB}"/>
              </a:ext>
            </a:extLst>
          </p:cNvPr>
          <p:cNvSpPr>
            <a:spLocks noGrp="1"/>
          </p:cNvSpPr>
          <p:nvPr>
            <p:ph type="sldNum" sz="quarter" idx="5"/>
          </p:nvPr>
        </p:nvSpPr>
        <p:spPr/>
        <p:txBody>
          <a:bodyPr/>
          <a:lstStyle/>
          <a:p>
            <a:fld id="{AF0CB64A-5097-46EE-BA06-3A05535BB2FD}" type="slidenum">
              <a:rPr lang="es-CO" smtClean="0"/>
              <a:t>62</a:t>
            </a:fld>
            <a:endParaRPr lang="es-CO"/>
          </a:p>
        </p:txBody>
      </p:sp>
    </p:spTree>
    <p:extLst>
      <p:ext uri="{BB962C8B-B14F-4D97-AF65-F5344CB8AC3E}">
        <p14:creationId xmlns:p14="http://schemas.microsoft.com/office/powerpoint/2010/main" val="35130314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5E085-63B2-F07F-49F1-B144E486F82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40F5512-5027-6266-7823-7B7BAC08F2B6}"/>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D1DECE42-28EA-6A15-8F42-A43198D87E08}"/>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77897102-DB24-2EB1-11B2-90A6CAEE5F17}"/>
              </a:ext>
            </a:extLst>
          </p:cNvPr>
          <p:cNvSpPr>
            <a:spLocks noGrp="1"/>
          </p:cNvSpPr>
          <p:nvPr>
            <p:ph type="sldNum" sz="quarter" idx="5"/>
          </p:nvPr>
        </p:nvSpPr>
        <p:spPr/>
        <p:txBody>
          <a:bodyPr/>
          <a:lstStyle/>
          <a:p>
            <a:fld id="{AF0CB64A-5097-46EE-BA06-3A05535BB2FD}" type="slidenum">
              <a:rPr lang="es-CO" smtClean="0"/>
              <a:t>64</a:t>
            </a:fld>
            <a:endParaRPr lang="es-CO"/>
          </a:p>
        </p:txBody>
      </p:sp>
    </p:spTree>
    <p:extLst>
      <p:ext uri="{BB962C8B-B14F-4D97-AF65-F5344CB8AC3E}">
        <p14:creationId xmlns:p14="http://schemas.microsoft.com/office/powerpoint/2010/main" val="37986560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91FCE-FE34-4F03-574D-C3F0D2503B1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D03DA46-E75A-B20A-5AFC-CA4BCBAB6911}"/>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83725150-5EA8-0067-A512-975AF329BEEC}"/>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9DB8B8A0-67AF-BA5E-A2C7-87DA601C5A96}"/>
              </a:ext>
            </a:extLst>
          </p:cNvPr>
          <p:cNvSpPr>
            <a:spLocks noGrp="1"/>
          </p:cNvSpPr>
          <p:nvPr>
            <p:ph type="sldNum" sz="quarter" idx="5"/>
          </p:nvPr>
        </p:nvSpPr>
        <p:spPr/>
        <p:txBody>
          <a:bodyPr/>
          <a:lstStyle/>
          <a:p>
            <a:fld id="{CD963697-F2ED-43E5-B33A-B6F61D65A486}" type="slidenum">
              <a:rPr lang="es-CO" smtClean="0"/>
              <a:t>65</a:t>
            </a:fld>
            <a:endParaRPr lang="es-CO"/>
          </a:p>
        </p:txBody>
      </p:sp>
    </p:spTree>
    <p:extLst>
      <p:ext uri="{BB962C8B-B14F-4D97-AF65-F5344CB8AC3E}">
        <p14:creationId xmlns:p14="http://schemas.microsoft.com/office/powerpoint/2010/main" val="28532241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D2406-2E61-0560-50AF-C65CFFD2188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AB763BB-C525-848B-FB96-EFB7171B7234}"/>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BADB7739-CC43-1A2F-6E45-FDE1DD484CB5}"/>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27B22C08-FA88-F64A-F278-8C9E95E84217}"/>
              </a:ext>
            </a:extLst>
          </p:cNvPr>
          <p:cNvSpPr>
            <a:spLocks noGrp="1"/>
          </p:cNvSpPr>
          <p:nvPr>
            <p:ph type="sldNum" sz="quarter" idx="5"/>
          </p:nvPr>
        </p:nvSpPr>
        <p:spPr/>
        <p:txBody>
          <a:bodyPr/>
          <a:lstStyle/>
          <a:p>
            <a:fld id="{CD963697-F2ED-43E5-B33A-B6F61D65A486}" type="slidenum">
              <a:rPr lang="es-CO" smtClean="0"/>
              <a:t>66</a:t>
            </a:fld>
            <a:endParaRPr lang="es-CO"/>
          </a:p>
        </p:txBody>
      </p:sp>
    </p:spTree>
    <p:extLst>
      <p:ext uri="{BB962C8B-B14F-4D97-AF65-F5344CB8AC3E}">
        <p14:creationId xmlns:p14="http://schemas.microsoft.com/office/powerpoint/2010/main" val="531719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6716D-2EB7-95DB-5415-C550FF07193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D8A553D-D26F-DB56-46AC-CF1F3ADEA25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D9A9219-593B-39F6-4BE6-EDC434F70568}"/>
              </a:ext>
            </a:extLst>
          </p:cNvPr>
          <p:cNvSpPr>
            <a:spLocks noGrp="1"/>
          </p:cNvSpPr>
          <p:nvPr>
            <p:ph type="body" idx="1"/>
          </p:nvPr>
        </p:nvSpPr>
        <p:spPr/>
        <p:txBody>
          <a:bodyPr/>
          <a:lstStyle/>
          <a:p>
            <a:r>
              <a:rPr lang="es-CO"/>
              <a:t>De 100 pacientes atendidos 26 respondieron la encuesta. </a:t>
            </a:r>
          </a:p>
        </p:txBody>
      </p:sp>
      <p:sp>
        <p:nvSpPr>
          <p:cNvPr id="4" name="Marcador de número de diapositiva 3">
            <a:extLst>
              <a:ext uri="{FF2B5EF4-FFF2-40B4-BE49-F238E27FC236}">
                <a16:creationId xmlns:a16="http://schemas.microsoft.com/office/drawing/2014/main" id="{DEE500C6-BBD6-0C64-9875-FAA6D78BEA76}"/>
              </a:ext>
            </a:extLst>
          </p:cNvPr>
          <p:cNvSpPr>
            <a:spLocks noGrp="1"/>
          </p:cNvSpPr>
          <p:nvPr>
            <p:ph type="sldNum" sz="quarter" idx="5"/>
          </p:nvPr>
        </p:nvSpPr>
        <p:spPr/>
        <p:txBody>
          <a:bodyPr/>
          <a:lstStyle/>
          <a:p>
            <a:fld id="{CD963697-F2ED-43E5-B33A-B6F61D65A486}" type="slidenum">
              <a:rPr lang="es-CO" smtClean="0"/>
              <a:t>67</a:t>
            </a:fld>
            <a:endParaRPr lang="es-CO"/>
          </a:p>
        </p:txBody>
      </p:sp>
    </p:spTree>
    <p:extLst>
      <p:ext uri="{BB962C8B-B14F-4D97-AF65-F5344CB8AC3E}">
        <p14:creationId xmlns:p14="http://schemas.microsoft.com/office/powerpoint/2010/main" val="16051578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F6696-6A93-4001-F010-EC79CF9D003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D297AEC-731B-1C04-882B-8125C02BF6E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148629A-B842-C79B-F902-4AD4CF506F20}"/>
              </a:ext>
            </a:extLst>
          </p:cNvPr>
          <p:cNvSpPr>
            <a:spLocks noGrp="1"/>
          </p:cNvSpPr>
          <p:nvPr>
            <p:ph type="body" idx="1"/>
          </p:nvPr>
        </p:nvSpPr>
        <p:spPr/>
        <p:txBody>
          <a:bodyPr/>
          <a:lstStyle/>
          <a:p>
            <a:r>
              <a:rPr lang="es-CO"/>
              <a:t>De 100 pacientes atendidos 26 respondieron la encuesta. </a:t>
            </a:r>
          </a:p>
        </p:txBody>
      </p:sp>
      <p:sp>
        <p:nvSpPr>
          <p:cNvPr id="4" name="Marcador de número de diapositiva 3">
            <a:extLst>
              <a:ext uri="{FF2B5EF4-FFF2-40B4-BE49-F238E27FC236}">
                <a16:creationId xmlns:a16="http://schemas.microsoft.com/office/drawing/2014/main" id="{1F571687-8F48-0684-E3E7-F7732333A4EC}"/>
              </a:ext>
            </a:extLst>
          </p:cNvPr>
          <p:cNvSpPr>
            <a:spLocks noGrp="1"/>
          </p:cNvSpPr>
          <p:nvPr>
            <p:ph type="sldNum" sz="quarter" idx="5"/>
          </p:nvPr>
        </p:nvSpPr>
        <p:spPr/>
        <p:txBody>
          <a:bodyPr/>
          <a:lstStyle/>
          <a:p>
            <a:fld id="{CD963697-F2ED-43E5-B33A-B6F61D65A486}" type="slidenum">
              <a:rPr lang="es-CO" smtClean="0"/>
              <a:t>68</a:t>
            </a:fld>
            <a:endParaRPr lang="es-CO"/>
          </a:p>
        </p:txBody>
      </p:sp>
    </p:spTree>
    <p:extLst>
      <p:ext uri="{BB962C8B-B14F-4D97-AF65-F5344CB8AC3E}">
        <p14:creationId xmlns:p14="http://schemas.microsoft.com/office/powerpoint/2010/main" val="41717479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3F0A0-E792-102F-CE69-8C91160A162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4691D73-DE05-ECDC-C6FB-15F26011702C}"/>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B207C899-E470-0B3D-31C4-D600B63EE936}"/>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A69F1502-D566-7F23-0488-D185663DC98E}"/>
              </a:ext>
            </a:extLst>
          </p:cNvPr>
          <p:cNvSpPr>
            <a:spLocks noGrp="1"/>
          </p:cNvSpPr>
          <p:nvPr>
            <p:ph type="sldNum" sz="quarter" idx="5"/>
          </p:nvPr>
        </p:nvSpPr>
        <p:spPr/>
        <p:txBody>
          <a:bodyPr/>
          <a:lstStyle/>
          <a:p>
            <a:fld id="{CD963697-F2ED-43E5-B33A-B6F61D65A486}" type="slidenum">
              <a:rPr lang="es-CO" smtClean="0"/>
              <a:t>73</a:t>
            </a:fld>
            <a:endParaRPr lang="es-CO"/>
          </a:p>
        </p:txBody>
      </p:sp>
    </p:spTree>
    <p:extLst>
      <p:ext uri="{BB962C8B-B14F-4D97-AF65-F5344CB8AC3E}">
        <p14:creationId xmlns:p14="http://schemas.microsoft.com/office/powerpoint/2010/main" val="14322412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013D1-8F6F-4FE9-9AE1-60EF7EC6A74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D8D6355-0DE2-1E1F-EF9E-60BCFF28A901}"/>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D21B2F05-B635-D4A4-6A65-A80340B0C554}"/>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002F7D5E-9549-830B-07B8-EDF4A26CDDCD}"/>
              </a:ext>
            </a:extLst>
          </p:cNvPr>
          <p:cNvSpPr>
            <a:spLocks noGrp="1"/>
          </p:cNvSpPr>
          <p:nvPr>
            <p:ph type="sldNum" sz="quarter" idx="5"/>
          </p:nvPr>
        </p:nvSpPr>
        <p:spPr/>
        <p:txBody>
          <a:bodyPr/>
          <a:lstStyle/>
          <a:p>
            <a:fld id="{CD963697-F2ED-43E5-B33A-B6F61D65A486}" type="slidenum">
              <a:rPr lang="es-CO" smtClean="0"/>
              <a:t>74</a:t>
            </a:fld>
            <a:endParaRPr lang="es-CO"/>
          </a:p>
        </p:txBody>
      </p:sp>
    </p:spTree>
    <p:extLst>
      <p:ext uri="{BB962C8B-B14F-4D97-AF65-F5344CB8AC3E}">
        <p14:creationId xmlns:p14="http://schemas.microsoft.com/office/powerpoint/2010/main" val="17652769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27357-98AE-9467-4C4B-571242E70EE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7EF354A-1326-E305-7A08-28A41B210DBD}"/>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4DD71384-7878-F398-5F1D-EE6889641432}"/>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092439E0-78D1-B95D-0C2F-D4966C534199}"/>
              </a:ext>
            </a:extLst>
          </p:cNvPr>
          <p:cNvSpPr>
            <a:spLocks noGrp="1"/>
          </p:cNvSpPr>
          <p:nvPr>
            <p:ph type="sldNum" sz="quarter" idx="5"/>
          </p:nvPr>
        </p:nvSpPr>
        <p:spPr/>
        <p:txBody>
          <a:bodyPr/>
          <a:lstStyle/>
          <a:p>
            <a:fld id="{CD963697-F2ED-43E5-B33A-B6F61D65A486}" type="slidenum">
              <a:rPr lang="es-CO" smtClean="0"/>
              <a:t>76</a:t>
            </a:fld>
            <a:endParaRPr lang="es-CO"/>
          </a:p>
        </p:txBody>
      </p:sp>
    </p:spTree>
    <p:extLst>
      <p:ext uri="{BB962C8B-B14F-4D97-AF65-F5344CB8AC3E}">
        <p14:creationId xmlns:p14="http://schemas.microsoft.com/office/powerpoint/2010/main" val="25262523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CFA95-010C-F724-2572-4B3C4EED6E3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8CF54AF-A9B5-4D21-AC64-A33D4B13CF86}"/>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79DDC34E-2828-93CC-7674-A80EADD7C2EE}"/>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E91ED978-3019-AAF8-4D9B-18F9DC6FA562}"/>
              </a:ext>
            </a:extLst>
          </p:cNvPr>
          <p:cNvSpPr>
            <a:spLocks noGrp="1"/>
          </p:cNvSpPr>
          <p:nvPr>
            <p:ph type="sldNum" sz="quarter" idx="5"/>
          </p:nvPr>
        </p:nvSpPr>
        <p:spPr/>
        <p:txBody>
          <a:bodyPr/>
          <a:lstStyle/>
          <a:p>
            <a:fld id="{AF0CB64A-5097-46EE-BA06-3A05535BB2FD}" type="slidenum">
              <a:rPr lang="es-CO" smtClean="0"/>
              <a:t>78</a:t>
            </a:fld>
            <a:endParaRPr lang="es-CO"/>
          </a:p>
        </p:txBody>
      </p:sp>
    </p:spTree>
    <p:extLst>
      <p:ext uri="{BB962C8B-B14F-4D97-AF65-F5344CB8AC3E}">
        <p14:creationId xmlns:p14="http://schemas.microsoft.com/office/powerpoint/2010/main" val="32060293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28DE4-C725-3E4C-2337-AFBE3F26500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C4BCD1C-EB87-9D5E-AA44-923B2F75F695}"/>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DCDBBEC7-F2D5-8F00-21FA-A566AACE0984}"/>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B912C81F-5CAE-A4D8-657A-92A9957A8E4E}"/>
              </a:ext>
            </a:extLst>
          </p:cNvPr>
          <p:cNvSpPr>
            <a:spLocks noGrp="1"/>
          </p:cNvSpPr>
          <p:nvPr>
            <p:ph type="sldNum" sz="quarter" idx="5"/>
          </p:nvPr>
        </p:nvSpPr>
        <p:spPr/>
        <p:txBody>
          <a:bodyPr/>
          <a:lstStyle/>
          <a:p>
            <a:fld id="{CD963697-F2ED-43E5-B33A-B6F61D65A486}" type="slidenum">
              <a:rPr lang="es-CO" smtClean="0"/>
              <a:t>79</a:t>
            </a:fld>
            <a:endParaRPr lang="es-CO"/>
          </a:p>
        </p:txBody>
      </p:sp>
    </p:spTree>
    <p:extLst>
      <p:ext uri="{BB962C8B-B14F-4D97-AF65-F5344CB8AC3E}">
        <p14:creationId xmlns:p14="http://schemas.microsoft.com/office/powerpoint/2010/main" val="164563280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74CDC-FAFF-7FD0-BFD4-77B412ED1D3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8849139-CFDE-48DA-4A53-B833A5FD7923}"/>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430519BE-1CB0-3F15-184F-464BFDB024B5}"/>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C9A222F7-9E70-8AFC-525A-184CAE9BED6C}"/>
              </a:ext>
            </a:extLst>
          </p:cNvPr>
          <p:cNvSpPr>
            <a:spLocks noGrp="1"/>
          </p:cNvSpPr>
          <p:nvPr>
            <p:ph type="sldNum" sz="quarter" idx="5"/>
          </p:nvPr>
        </p:nvSpPr>
        <p:spPr/>
        <p:txBody>
          <a:bodyPr/>
          <a:lstStyle/>
          <a:p>
            <a:fld id="{AF0CB64A-5097-46EE-BA06-3A05535BB2FD}" type="slidenum">
              <a:rPr lang="es-CO" smtClean="0"/>
              <a:t>80</a:t>
            </a:fld>
            <a:endParaRPr lang="es-CO"/>
          </a:p>
        </p:txBody>
      </p:sp>
    </p:spTree>
    <p:extLst>
      <p:ext uri="{BB962C8B-B14F-4D97-AF65-F5344CB8AC3E}">
        <p14:creationId xmlns:p14="http://schemas.microsoft.com/office/powerpoint/2010/main" val="33819693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F1E29-1963-049F-D5BF-1BA66EC1882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049CEF3-4222-B694-ED44-97495F3D806D}"/>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B3612FE3-2ACA-89C6-F537-7A32A1561820}"/>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C505154E-CD5D-9715-0BCB-F64DFDD7BF07}"/>
              </a:ext>
            </a:extLst>
          </p:cNvPr>
          <p:cNvSpPr>
            <a:spLocks noGrp="1"/>
          </p:cNvSpPr>
          <p:nvPr>
            <p:ph type="sldNum" sz="quarter" idx="5"/>
          </p:nvPr>
        </p:nvSpPr>
        <p:spPr/>
        <p:txBody>
          <a:bodyPr/>
          <a:lstStyle/>
          <a:p>
            <a:fld id="{CD963697-F2ED-43E5-B33A-B6F61D65A486}" type="slidenum">
              <a:rPr lang="es-CO" smtClean="0"/>
              <a:t>82</a:t>
            </a:fld>
            <a:endParaRPr lang="es-CO"/>
          </a:p>
        </p:txBody>
      </p:sp>
    </p:spTree>
    <p:extLst>
      <p:ext uri="{BB962C8B-B14F-4D97-AF65-F5344CB8AC3E}">
        <p14:creationId xmlns:p14="http://schemas.microsoft.com/office/powerpoint/2010/main" val="381957691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121A7-32FC-D7F9-33F2-D1A19415724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6065395-C8F1-41B7-46D2-D6DFAAC0A5BA}"/>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B0926E91-46B2-5C6D-8DE1-CCFDC42B3619}"/>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E24A010D-CAA4-E77D-CA99-1B125D665673}"/>
              </a:ext>
            </a:extLst>
          </p:cNvPr>
          <p:cNvSpPr>
            <a:spLocks noGrp="1"/>
          </p:cNvSpPr>
          <p:nvPr>
            <p:ph type="sldNum" sz="quarter" idx="5"/>
          </p:nvPr>
        </p:nvSpPr>
        <p:spPr/>
        <p:txBody>
          <a:bodyPr/>
          <a:lstStyle/>
          <a:p>
            <a:fld id="{CD963697-F2ED-43E5-B33A-B6F61D65A486}" type="slidenum">
              <a:rPr lang="es-CO" smtClean="0"/>
              <a:t>83</a:t>
            </a:fld>
            <a:endParaRPr lang="es-CO"/>
          </a:p>
        </p:txBody>
      </p:sp>
    </p:spTree>
    <p:extLst>
      <p:ext uri="{BB962C8B-B14F-4D97-AF65-F5344CB8AC3E}">
        <p14:creationId xmlns:p14="http://schemas.microsoft.com/office/powerpoint/2010/main" val="297387025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AC7BF-19FB-0C26-8C71-C8E61FDD330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AD060A3-C3BB-86A1-9A70-F988EAC0C2B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4576ABF-CD0C-D0DB-8267-585914FB843B}"/>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D7E710A6-5858-3FFB-F816-EA37390BF59F}"/>
              </a:ext>
            </a:extLst>
          </p:cNvPr>
          <p:cNvSpPr>
            <a:spLocks noGrp="1"/>
          </p:cNvSpPr>
          <p:nvPr>
            <p:ph type="sldNum" sz="quarter" idx="5"/>
          </p:nvPr>
        </p:nvSpPr>
        <p:spPr/>
        <p:txBody>
          <a:bodyPr/>
          <a:lstStyle/>
          <a:p>
            <a:fld id="{CD963697-F2ED-43E5-B33A-B6F61D65A486}" type="slidenum">
              <a:rPr lang="es-CO" smtClean="0"/>
              <a:t>85</a:t>
            </a:fld>
            <a:endParaRPr lang="es-CO"/>
          </a:p>
        </p:txBody>
      </p:sp>
    </p:spTree>
    <p:extLst>
      <p:ext uri="{BB962C8B-B14F-4D97-AF65-F5344CB8AC3E}">
        <p14:creationId xmlns:p14="http://schemas.microsoft.com/office/powerpoint/2010/main" val="315181851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2C4D7-4FF9-E875-CC03-C9F6B1EDF63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57AF4A-E562-6A18-42BD-6DB6B9B01DD6}"/>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A14459BE-1805-697C-034C-E720F38B4119}"/>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B0A5EAB2-ACDC-EF30-E60B-ECA85E9C08C0}"/>
              </a:ext>
            </a:extLst>
          </p:cNvPr>
          <p:cNvSpPr>
            <a:spLocks noGrp="1"/>
          </p:cNvSpPr>
          <p:nvPr>
            <p:ph type="sldNum" sz="quarter" idx="5"/>
          </p:nvPr>
        </p:nvSpPr>
        <p:spPr/>
        <p:txBody>
          <a:bodyPr/>
          <a:lstStyle/>
          <a:p>
            <a:fld id="{CD963697-F2ED-43E5-B33A-B6F61D65A486}" type="slidenum">
              <a:rPr lang="es-CO" smtClean="0"/>
              <a:t>93</a:t>
            </a:fld>
            <a:endParaRPr lang="es-CO"/>
          </a:p>
        </p:txBody>
      </p:sp>
    </p:spTree>
    <p:extLst>
      <p:ext uri="{BB962C8B-B14F-4D97-AF65-F5344CB8AC3E}">
        <p14:creationId xmlns:p14="http://schemas.microsoft.com/office/powerpoint/2010/main" val="333761029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34B9A-F4F1-6CA6-CB99-C79003BAAA5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6F1CDB0-DB62-EF9A-30E4-D1AFF5ECB5FF}"/>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3C8C67E6-EF29-E26D-BA2B-50FE48EDBE92}"/>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B589532A-1C99-93AB-9464-3D057B73C674}"/>
              </a:ext>
            </a:extLst>
          </p:cNvPr>
          <p:cNvSpPr>
            <a:spLocks noGrp="1"/>
          </p:cNvSpPr>
          <p:nvPr>
            <p:ph type="sldNum" sz="quarter" idx="5"/>
          </p:nvPr>
        </p:nvSpPr>
        <p:spPr/>
        <p:txBody>
          <a:bodyPr/>
          <a:lstStyle/>
          <a:p>
            <a:fld id="{CD963697-F2ED-43E5-B33A-B6F61D65A486}" type="slidenum">
              <a:rPr lang="es-CO" smtClean="0"/>
              <a:t>94</a:t>
            </a:fld>
            <a:endParaRPr lang="es-CO"/>
          </a:p>
        </p:txBody>
      </p:sp>
    </p:spTree>
    <p:extLst>
      <p:ext uri="{BB962C8B-B14F-4D97-AF65-F5344CB8AC3E}">
        <p14:creationId xmlns:p14="http://schemas.microsoft.com/office/powerpoint/2010/main" val="253969553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363AE-A6D8-DD7C-74C8-07A1403209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BBC05DE-5229-82F7-FDF2-DD7C3223FA22}"/>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82E9900B-AFFA-BB0C-E546-9968DF76BF8C}"/>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2B6848FD-9C74-9A1D-ADBF-3193B0AFB3DA}"/>
              </a:ext>
            </a:extLst>
          </p:cNvPr>
          <p:cNvSpPr>
            <a:spLocks noGrp="1"/>
          </p:cNvSpPr>
          <p:nvPr>
            <p:ph type="sldNum" sz="quarter" idx="5"/>
          </p:nvPr>
        </p:nvSpPr>
        <p:spPr/>
        <p:txBody>
          <a:bodyPr/>
          <a:lstStyle/>
          <a:p>
            <a:fld id="{AF0CB64A-5097-46EE-BA06-3A05535BB2FD}" type="slidenum">
              <a:rPr lang="es-CO" smtClean="0"/>
              <a:t>96</a:t>
            </a:fld>
            <a:endParaRPr lang="es-CO"/>
          </a:p>
        </p:txBody>
      </p:sp>
    </p:spTree>
    <p:extLst>
      <p:ext uri="{BB962C8B-B14F-4D97-AF65-F5344CB8AC3E}">
        <p14:creationId xmlns:p14="http://schemas.microsoft.com/office/powerpoint/2010/main" val="31153646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33FD3-99D4-EE0A-6976-FEFF633C239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318F433-EFFF-EE66-07E5-B08C6A174E0E}"/>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C2ED6FC5-F478-5782-2521-E9858CF64C20}"/>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C45F7D75-9974-1075-D283-6963A7CFA25E}"/>
              </a:ext>
            </a:extLst>
          </p:cNvPr>
          <p:cNvSpPr>
            <a:spLocks noGrp="1"/>
          </p:cNvSpPr>
          <p:nvPr>
            <p:ph type="sldNum" sz="quarter" idx="5"/>
          </p:nvPr>
        </p:nvSpPr>
        <p:spPr/>
        <p:txBody>
          <a:bodyPr/>
          <a:lstStyle/>
          <a:p>
            <a:fld id="{CD963697-F2ED-43E5-B33A-B6F61D65A486}" type="slidenum">
              <a:rPr lang="es-CO" smtClean="0"/>
              <a:t>104</a:t>
            </a:fld>
            <a:endParaRPr lang="es-CO"/>
          </a:p>
        </p:txBody>
      </p:sp>
    </p:spTree>
    <p:extLst>
      <p:ext uri="{BB962C8B-B14F-4D97-AF65-F5344CB8AC3E}">
        <p14:creationId xmlns:p14="http://schemas.microsoft.com/office/powerpoint/2010/main" val="413201643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9D84D-8699-D449-2F70-963B7670B7F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8ACA1A-ECC1-1284-C7DE-806B62838AA1}"/>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A06625E0-84C9-4FC2-595B-2B47142AE3BC}"/>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DBFC42B7-8092-B699-22F0-DD58843EF058}"/>
              </a:ext>
            </a:extLst>
          </p:cNvPr>
          <p:cNvSpPr>
            <a:spLocks noGrp="1"/>
          </p:cNvSpPr>
          <p:nvPr>
            <p:ph type="sldNum" sz="quarter" idx="5"/>
          </p:nvPr>
        </p:nvSpPr>
        <p:spPr/>
        <p:txBody>
          <a:bodyPr/>
          <a:lstStyle/>
          <a:p>
            <a:fld id="{CD963697-F2ED-43E5-B33A-B6F61D65A486}" type="slidenum">
              <a:rPr lang="es-CO" smtClean="0"/>
              <a:t>105</a:t>
            </a:fld>
            <a:endParaRPr lang="es-CO"/>
          </a:p>
        </p:txBody>
      </p:sp>
    </p:spTree>
    <p:extLst>
      <p:ext uri="{BB962C8B-B14F-4D97-AF65-F5344CB8AC3E}">
        <p14:creationId xmlns:p14="http://schemas.microsoft.com/office/powerpoint/2010/main" val="396994885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150E0-4BC3-18E3-BB6B-41AF41A902C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9F29944-38DC-079C-50E0-4E6D9384639B}"/>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A179A4E1-47C6-9527-72BD-B5D09D8A61BA}"/>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46C889BF-A1CB-8409-19FB-021CE7EA30B6}"/>
              </a:ext>
            </a:extLst>
          </p:cNvPr>
          <p:cNvSpPr>
            <a:spLocks noGrp="1"/>
          </p:cNvSpPr>
          <p:nvPr>
            <p:ph type="sldNum" sz="quarter" idx="5"/>
          </p:nvPr>
        </p:nvSpPr>
        <p:spPr/>
        <p:txBody>
          <a:bodyPr/>
          <a:lstStyle/>
          <a:p>
            <a:fld id="{AF0CB64A-5097-46EE-BA06-3A05535BB2FD}" type="slidenum">
              <a:rPr lang="es-CO" smtClean="0"/>
              <a:t>107</a:t>
            </a:fld>
            <a:endParaRPr lang="es-CO"/>
          </a:p>
        </p:txBody>
      </p:sp>
    </p:spTree>
    <p:extLst>
      <p:ext uri="{BB962C8B-B14F-4D97-AF65-F5344CB8AC3E}">
        <p14:creationId xmlns:p14="http://schemas.microsoft.com/office/powerpoint/2010/main" val="385071145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F557C-E7E1-DC24-C20C-8647E3ECEE8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D5026CF-F328-D35B-E40A-BC013BC9E722}"/>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43270C7D-626D-B2F0-074C-E9D7D23F21C9}"/>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A1AC748B-AFE6-D6FB-4961-CA32F1D54122}"/>
              </a:ext>
            </a:extLst>
          </p:cNvPr>
          <p:cNvSpPr>
            <a:spLocks noGrp="1"/>
          </p:cNvSpPr>
          <p:nvPr>
            <p:ph type="sldNum" sz="quarter" idx="5"/>
          </p:nvPr>
        </p:nvSpPr>
        <p:spPr/>
        <p:txBody>
          <a:bodyPr/>
          <a:lstStyle/>
          <a:p>
            <a:fld id="{AF0CB64A-5097-46EE-BA06-3A05535BB2FD}" type="slidenum">
              <a:rPr lang="es-CO" smtClean="0"/>
              <a:t>108</a:t>
            </a:fld>
            <a:endParaRPr lang="es-CO"/>
          </a:p>
        </p:txBody>
      </p:sp>
    </p:spTree>
    <p:extLst>
      <p:ext uri="{BB962C8B-B14F-4D97-AF65-F5344CB8AC3E}">
        <p14:creationId xmlns:p14="http://schemas.microsoft.com/office/powerpoint/2010/main" val="243129067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png"/><Relationship Id="rId4"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0.png"/><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Master" Target="../slideMasters/slideMaster1.xml"/><Relationship Id="rId6" Type="http://schemas.microsoft.com/office/2007/relationships/hdphoto" Target="../media/hdphoto2.wdp"/><Relationship Id="rId5" Type="http://schemas.openxmlformats.org/officeDocument/2006/relationships/image" Target="../media/image14.png"/><Relationship Id="rId4" Type="http://schemas.openxmlformats.org/officeDocument/2006/relationships/image" Target="../media/image1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9.png"/><Relationship Id="rId5" Type="http://schemas.openxmlformats.org/officeDocument/2006/relationships/image" Target="../media/image15.png"/><Relationship Id="rId4"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rtada">
    <p:spTree>
      <p:nvGrpSpPr>
        <p:cNvPr id="1" name=""/>
        <p:cNvGrpSpPr/>
        <p:nvPr/>
      </p:nvGrpSpPr>
      <p:grpSpPr>
        <a:xfrm>
          <a:off x="0" y="0"/>
          <a:ext cx="0" cy="0"/>
          <a:chOff x="0" y="0"/>
          <a:chExt cx="0" cy="0"/>
        </a:xfrm>
      </p:grpSpPr>
      <p:pic>
        <p:nvPicPr>
          <p:cNvPr id="60" name="Imagen 59">
            <a:extLst>
              <a:ext uri="{FF2B5EF4-FFF2-40B4-BE49-F238E27FC236}">
                <a16:creationId xmlns:a16="http://schemas.microsoft.com/office/drawing/2014/main" id="{6A6EE818-DB9E-EBD7-67AA-C8C88AD03D64}"/>
              </a:ext>
            </a:extLst>
          </p:cNvPr>
          <p:cNvPicPr>
            <a:picLocks noChangeAspect="1"/>
          </p:cNvPicPr>
          <p:nvPr userDrawn="1"/>
        </p:nvPicPr>
        <p:blipFill>
          <a:blip r:embed="rId2">
            <a:extLst>
              <a:ext uri="{28A0092B-C50C-407E-A947-70E740481C1C}">
                <a14:useLocalDpi xmlns:a14="http://schemas.microsoft.com/office/drawing/2010/main" val="0"/>
              </a:ext>
            </a:extLst>
          </a:blip>
          <a:srcRect l="15306" t="47202" b="-1"/>
          <a:stretch/>
        </p:blipFill>
        <p:spPr>
          <a:xfrm>
            <a:off x="-1116" y="0"/>
            <a:ext cx="11341768" cy="6081385"/>
          </a:xfrm>
          <a:prstGeom prst="rect">
            <a:avLst/>
          </a:prstGeom>
        </p:spPr>
      </p:pic>
      <p:grpSp>
        <p:nvGrpSpPr>
          <p:cNvPr id="61" name="Grupo 60">
            <a:extLst>
              <a:ext uri="{FF2B5EF4-FFF2-40B4-BE49-F238E27FC236}">
                <a16:creationId xmlns:a16="http://schemas.microsoft.com/office/drawing/2014/main" id="{6FC186F5-372A-4678-8367-266E0DF0301D}"/>
              </a:ext>
            </a:extLst>
          </p:cNvPr>
          <p:cNvGrpSpPr/>
          <p:nvPr userDrawn="1"/>
        </p:nvGrpSpPr>
        <p:grpSpPr>
          <a:xfrm>
            <a:off x="7725577" y="-341186"/>
            <a:ext cx="5087182" cy="4287372"/>
            <a:chOff x="7475578" y="-232782"/>
            <a:chExt cx="5699720" cy="4712523"/>
          </a:xfrm>
        </p:grpSpPr>
        <p:grpSp>
          <p:nvGrpSpPr>
            <p:cNvPr id="43" name="Group 4">
              <a:extLst>
                <a:ext uri="{FF2B5EF4-FFF2-40B4-BE49-F238E27FC236}">
                  <a16:creationId xmlns:a16="http://schemas.microsoft.com/office/drawing/2014/main" id="{A2A72225-9B27-784F-1060-ED9E3BE5AE5E}"/>
                </a:ext>
              </a:extLst>
            </p:cNvPr>
            <p:cNvGrpSpPr/>
            <p:nvPr userDrawn="1"/>
          </p:nvGrpSpPr>
          <p:grpSpPr>
            <a:xfrm>
              <a:off x="7476718" y="-232782"/>
              <a:ext cx="5698580" cy="4712523"/>
              <a:chOff x="0" y="0"/>
              <a:chExt cx="6350000" cy="5911850"/>
            </a:xfrm>
          </p:grpSpPr>
          <p:sp>
            <p:nvSpPr>
              <p:cNvPr id="44" name="Freeform 5">
                <a:extLst>
                  <a:ext uri="{FF2B5EF4-FFF2-40B4-BE49-F238E27FC236}">
                    <a16:creationId xmlns:a16="http://schemas.microsoft.com/office/drawing/2014/main" id="{B3510641-94D7-1EFF-3D46-15D4AD5C2F6D}"/>
                  </a:ext>
                </a:extLst>
              </p:cNvPr>
              <p:cNvSpPr/>
              <p:nvPr/>
            </p:nvSpPr>
            <p:spPr>
              <a:xfrm>
                <a:off x="-68580" y="0"/>
                <a:ext cx="6417310" cy="5911850"/>
              </a:xfrm>
              <a:custGeom>
                <a:avLst/>
                <a:gdLst/>
                <a:ahLst/>
                <a:cxnLst/>
                <a:rect l="l" t="t" r="r" b="b"/>
                <a:pathLst>
                  <a:path w="6417310" h="5911850">
                    <a:moveTo>
                      <a:pt x="1215390" y="402590"/>
                    </a:moveTo>
                    <a:lnTo>
                      <a:pt x="177800" y="2192020"/>
                    </a:lnTo>
                    <a:cubicBezTo>
                      <a:pt x="0" y="2498090"/>
                      <a:pt x="43180" y="2884170"/>
                      <a:pt x="283210" y="3144520"/>
                    </a:cubicBezTo>
                    <a:lnTo>
                      <a:pt x="2594610" y="5651500"/>
                    </a:lnTo>
                    <a:cubicBezTo>
                      <a:pt x="2747010" y="5817870"/>
                      <a:pt x="2962910" y="5911850"/>
                      <a:pt x="3187700" y="5911850"/>
                    </a:cubicBezTo>
                    <a:lnTo>
                      <a:pt x="5609590" y="5911850"/>
                    </a:lnTo>
                    <a:cubicBezTo>
                      <a:pt x="6055360" y="5911850"/>
                      <a:pt x="6417310" y="5549900"/>
                      <a:pt x="6417310" y="5104130"/>
                    </a:cubicBezTo>
                    <a:lnTo>
                      <a:pt x="6417310" y="1891030"/>
                    </a:lnTo>
                    <a:cubicBezTo>
                      <a:pt x="6417310" y="1724660"/>
                      <a:pt x="6366510" y="1562100"/>
                      <a:pt x="6269990" y="1426210"/>
                    </a:cubicBezTo>
                    <a:lnTo>
                      <a:pt x="5507990" y="342900"/>
                    </a:lnTo>
                    <a:cubicBezTo>
                      <a:pt x="5356860" y="128270"/>
                      <a:pt x="5110480" y="0"/>
                      <a:pt x="4847590" y="0"/>
                    </a:cubicBezTo>
                    <a:lnTo>
                      <a:pt x="1913890" y="0"/>
                    </a:lnTo>
                    <a:cubicBezTo>
                      <a:pt x="1625600" y="0"/>
                      <a:pt x="1358900" y="153670"/>
                      <a:pt x="1215390" y="402590"/>
                    </a:cubicBezTo>
                    <a:close/>
                  </a:path>
                </a:pathLst>
              </a:custGeom>
              <a:solidFill>
                <a:srgbClr val="80589F"/>
              </a:solidFill>
              <a:ln w="12700">
                <a:solidFill>
                  <a:srgbClr val="000000"/>
                </a:solidFill>
              </a:ln>
            </p:spPr>
            <p:txBody>
              <a:bodyPr/>
              <a:lstStyle/>
              <a:p>
                <a:endParaRPr lang="es-CO" sz="800"/>
              </a:p>
            </p:txBody>
          </p:sp>
        </p:grpSp>
        <p:grpSp>
          <p:nvGrpSpPr>
            <p:cNvPr id="45" name="Group 6">
              <a:extLst>
                <a:ext uri="{FF2B5EF4-FFF2-40B4-BE49-F238E27FC236}">
                  <a16:creationId xmlns:a16="http://schemas.microsoft.com/office/drawing/2014/main" id="{F31D6753-6017-F70A-2837-EE17A7007317}"/>
                </a:ext>
              </a:extLst>
            </p:cNvPr>
            <p:cNvGrpSpPr/>
            <p:nvPr userDrawn="1"/>
          </p:nvGrpSpPr>
          <p:grpSpPr>
            <a:xfrm>
              <a:off x="7475578" y="-232782"/>
              <a:ext cx="5698580" cy="4712523"/>
              <a:chOff x="0" y="0"/>
              <a:chExt cx="6350000" cy="5911850"/>
            </a:xfrm>
          </p:grpSpPr>
          <p:sp>
            <p:nvSpPr>
              <p:cNvPr id="46" name="Freeform 7">
                <a:extLst>
                  <a:ext uri="{FF2B5EF4-FFF2-40B4-BE49-F238E27FC236}">
                    <a16:creationId xmlns:a16="http://schemas.microsoft.com/office/drawing/2014/main" id="{8C6436FA-1DC5-A9A0-845C-87B1D21E3C75}"/>
                  </a:ext>
                </a:extLst>
              </p:cNvPr>
              <p:cNvSpPr/>
              <p:nvPr/>
            </p:nvSpPr>
            <p:spPr>
              <a:xfrm>
                <a:off x="-68580" y="0"/>
                <a:ext cx="6417310" cy="5911850"/>
              </a:xfrm>
              <a:custGeom>
                <a:avLst/>
                <a:gdLst/>
                <a:ahLst/>
                <a:cxnLst/>
                <a:rect l="l" t="t" r="r" b="b"/>
                <a:pathLst>
                  <a:path w="6417310" h="5911850">
                    <a:moveTo>
                      <a:pt x="1215390" y="402590"/>
                    </a:moveTo>
                    <a:lnTo>
                      <a:pt x="177800" y="2192020"/>
                    </a:lnTo>
                    <a:cubicBezTo>
                      <a:pt x="0" y="2498090"/>
                      <a:pt x="43180" y="2884170"/>
                      <a:pt x="283210" y="3144520"/>
                    </a:cubicBezTo>
                    <a:lnTo>
                      <a:pt x="2594610" y="5651500"/>
                    </a:lnTo>
                    <a:cubicBezTo>
                      <a:pt x="2747010" y="5817870"/>
                      <a:pt x="2962910" y="5911850"/>
                      <a:pt x="3187700" y="5911850"/>
                    </a:cubicBezTo>
                    <a:lnTo>
                      <a:pt x="5609590" y="5911850"/>
                    </a:lnTo>
                    <a:cubicBezTo>
                      <a:pt x="6055360" y="5911850"/>
                      <a:pt x="6417310" y="5549900"/>
                      <a:pt x="6417310" y="5104130"/>
                    </a:cubicBezTo>
                    <a:lnTo>
                      <a:pt x="6417310" y="1891030"/>
                    </a:lnTo>
                    <a:cubicBezTo>
                      <a:pt x="6417310" y="1724660"/>
                      <a:pt x="6366510" y="1562100"/>
                      <a:pt x="6269990" y="1426210"/>
                    </a:cubicBezTo>
                    <a:lnTo>
                      <a:pt x="5507990" y="342900"/>
                    </a:lnTo>
                    <a:cubicBezTo>
                      <a:pt x="5356860" y="128270"/>
                      <a:pt x="5110480" y="0"/>
                      <a:pt x="4847590" y="0"/>
                    </a:cubicBezTo>
                    <a:lnTo>
                      <a:pt x="1913890" y="0"/>
                    </a:lnTo>
                    <a:cubicBezTo>
                      <a:pt x="1625600" y="0"/>
                      <a:pt x="1358900" y="153670"/>
                      <a:pt x="1215390" y="402590"/>
                    </a:cubicBezTo>
                    <a:close/>
                  </a:path>
                </a:pathLst>
              </a:custGeom>
              <a:blipFill>
                <a:blip r:embed="rId3">
                  <a:alphaModFix amt="80000"/>
                </a:blip>
                <a:stretch>
                  <a:fillRect l="-39325" r="-446"/>
                </a:stretch>
              </a:blipFill>
            </p:spPr>
            <p:txBody>
              <a:bodyPr/>
              <a:lstStyle/>
              <a:p>
                <a:endParaRPr lang="es-CO" sz="800"/>
              </a:p>
            </p:txBody>
          </p:sp>
        </p:grpSp>
      </p:grpSp>
      <p:sp>
        <p:nvSpPr>
          <p:cNvPr id="52" name="Freeform 13">
            <a:extLst>
              <a:ext uri="{FF2B5EF4-FFF2-40B4-BE49-F238E27FC236}">
                <a16:creationId xmlns:a16="http://schemas.microsoft.com/office/drawing/2014/main" id="{84133598-C03B-B0D3-A5CE-6A63A95A16A0}"/>
              </a:ext>
            </a:extLst>
          </p:cNvPr>
          <p:cNvSpPr/>
          <p:nvPr userDrawn="1"/>
        </p:nvSpPr>
        <p:spPr>
          <a:xfrm>
            <a:off x="298311" y="101600"/>
            <a:ext cx="3010945" cy="1339182"/>
          </a:xfrm>
          <a:custGeom>
            <a:avLst/>
            <a:gdLst/>
            <a:ahLst/>
            <a:cxnLst/>
            <a:rect l="l" t="t" r="r" b="b"/>
            <a:pathLst>
              <a:path w="3260522" h="1572055">
                <a:moveTo>
                  <a:pt x="0" y="0"/>
                </a:moveTo>
                <a:lnTo>
                  <a:pt x="3260523" y="0"/>
                </a:lnTo>
                <a:lnTo>
                  <a:pt x="3260523" y="1572055"/>
                </a:lnTo>
                <a:lnTo>
                  <a:pt x="0" y="1572055"/>
                </a:lnTo>
                <a:lnTo>
                  <a:pt x="0" y="0"/>
                </a:lnTo>
                <a:close/>
              </a:path>
            </a:pathLst>
          </a:custGeom>
          <a:blipFill>
            <a:blip r:embed="rId4"/>
            <a:stretch>
              <a:fillRect/>
            </a:stretch>
          </a:blipFill>
        </p:spPr>
        <p:txBody>
          <a:bodyPr/>
          <a:lstStyle/>
          <a:p>
            <a:endParaRPr lang="es-CO" sz="800"/>
          </a:p>
        </p:txBody>
      </p:sp>
      <p:sp>
        <p:nvSpPr>
          <p:cNvPr id="55" name="Freeform 18">
            <a:extLst>
              <a:ext uri="{FF2B5EF4-FFF2-40B4-BE49-F238E27FC236}">
                <a16:creationId xmlns:a16="http://schemas.microsoft.com/office/drawing/2014/main" id="{22913490-6E77-0BAF-702F-2D6A023187AA}"/>
              </a:ext>
            </a:extLst>
          </p:cNvPr>
          <p:cNvSpPr/>
          <p:nvPr userDrawn="1"/>
        </p:nvSpPr>
        <p:spPr>
          <a:xfrm>
            <a:off x="9100269" y="5781629"/>
            <a:ext cx="2711115" cy="820039"/>
          </a:xfrm>
          <a:custGeom>
            <a:avLst/>
            <a:gdLst/>
            <a:ahLst/>
            <a:cxnLst/>
            <a:rect l="l" t="t" r="r" b="b"/>
            <a:pathLst>
              <a:path w="2989758" h="903047">
                <a:moveTo>
                  <a:pt x="0" y="0"/>
                </a:moveTo>
                <a:lnTo>
                  <a:pt x="2989758" y="0"/>
                </a:lnTo>
                <a:lnTo>
                  <a:pt x="2989758" y="903048"/>
                </a:lnTo>
                <a:lnTo>
                  <a:pt x="0" y="903048"/>
                </a:lnTo>
                <a:lnTo>
                  <a:pt x="0" y="0"/>
                </a:lnTo>
                <a:close/>
              </a:path>
            </a:pathLst>
          </a:custGeom>
          <a:blipFill>
            <a:blip r:embed="rId5"/>
            <a:stretch>
              <a:fillRect/>
            </a:stretch>
          </a:blipFill>
        </p:spPr>
        <p:txBody>
          <a:bodyPr/>
          <a:lstStyle/>
          <a:p>
            <a:endParaRPr lang="es-CO" sz="800"/>
          </a:p>
        </p:txBody>
      </p:sp>
      <p:pic>
        <p:nvPicPr>
          <p:cNvPr id="63" name="Imagen 62">
            <a:extLst>
              <a:ext uri="{FF2B5EF4-FFF2-40B4-BE49-F238E27FC236}">
                <a16:creationId xmlns:a16="http://schemas.microsoft.com/office/drawing/2014/main" id="{B56BAE1B-A93B-4452-63F4-E3A521AC1B86}"/>
              </a:ext>
            </a:extLst>
          </p:cNvPr>
          <p:cNvPicPr>
            <a:picLocks noChangeAspect="1"/>
          </p:cNvPicPr>
          <p:nvPr userDrawn="1"/>
        </p:nvPicPr>
        <p:blipFill>
          <a:blip r:embed="rId6">
            <a:extLst>
              <a:ext uri="{28A0092B-C50C-407E-A947-70E740481C1C}">
                <a14:useLocalDpi xmlns:a14="http://schemas.microsoft.com/office/drawing/2010/main" val="0"/>
              </a:ext>
            </a:extLst>
          </a:blip>
          <a:srcRect l="33797" b="67114"/>
          <a:stretch/>
        </p:blipFill>
        <p:spPr>
          <a:xfrm>
            <a:off x="0" y="5561101"/>
            <a:ext cx="3091732" cy="1323474"/>
          </a:xfrm>
          <a:prstGeom prst="rect">
            <a:avLst/>
          </a:prstGeom>
        </p:spPr>
      </p:pic>
      <p:sp>
        <p:nvSpPr>
          <p:cNvPr id="64" name="Título 1">
            <a:extLst>
              <a:ext uri="{FF2B5EF4-FFF2-40B4-BE49-F238E27FC236}">
                <a16:creationId xmlns:a16="http://schemas.microsoft.com/office/drawing/2014/main" id="{B308C63C-313F-D830-9758-48302EE4231D}"/>
              </a:ext>
            </a:extLst>
          </p:cNvPr>
          <p:cNvSpPr>
            <a:spLocks noGrp="1"/>
          </p:cNvSpPr>
          <p:nvPr>
            <p:ph type="title" hasCustomPrompt="1"/>
          </p:nvPr>
        </p:nvSpPr>
        <p:spPr>
          <a:xfrm>
            <a:off x="298312" y="1440781"/>
            <a:ext cx="6991898" cy="1795462"/>
          </a:xfrm>
        </p:spPr>
        <p:txBody>
          <a:bodyPr anchor="b"/>
          <a:lstStyle>
            <a:lvl1pPr>
              <a:defRPr sz="6000" b="1"/>
            </a:lvl1pPr>
          </a:lstStyle>
          <a:p>
            <a:r>
              <a:rPr lang="es-MX"/>
              <a:t>Haz clic para modificar el título</a:t>
            </a:r>
            <a:endParaRPr lang="es-CO"/>
          </a:p>
        </p:txBody>
      </p:sp>
      <p:sp>
        <p:nvSpPr>
          <p:cNvPr id="65" name="Marcador de texto 2">
            <a:extLst>
              <a:ext uri="{FF2B5EF4-FFF2-40B4-BE49-F238E27FC236}">
                <a16:creationId xmlns:a16="http://schemas.microsoft.com/office/drawing/2014/main" id="{9E7DB662-AB7D-ABCC-4576-63A9C9204985}"/>
              </a:ext>
            </a:extLst>
          </p:cNvPr>
          <p:cNvSpPr>
            <a:spLocks noGrp="1"/>
          </p:cNvSpPr>
          <p:nvPr>
            <p:ph type="body" idx="1" hasCustomPrompt="1"/>
          </p:nvPr>
        </p:nvSpPr>
        <p:spPr>
          <a:xfrm>
            <a:off x="298312" y="3719065"/>
            <a:ext cx="8195796" cy="1452453"/>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err="1"/>
              <a:t>Click</a:t>
            </a:r>
            <a:r>
              <a:rPr lang="es-MX"/>
              <a:t> para modificar el texto</a:t>
            </a:r>
          </a:p>
        </p:txBody>
      </p:sp>
      <p:pic>
        <p:nvPicPr>
          <p:cNvPr id="67" name="Imagen 66">
            <a:extLst>
              <a:ext uri="{FF2B5EF4-FFF2-40B4-BE49-F238E27FC236}">
                <a16:creationId xmlns:a16="http://schemas.microsoft.com/office/drawing/2014/main" id="{E9965E95-F020-60E7-3DFA-E0F232A2D490}"/>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298311" y="5781629"/>
            <a:ext cx="829299" cy="825747"/>
          </a:xfrm>
          <a:prstGeom prst="rect">
            <a:avLst/>
          </a:prstGeom>
        </p:spPr>
      </p:pic>
    </p:spTree>
    <p:extLst>
      <p:ext uri="{BB962C8B-B14F-4D97-AF65-F5344CB8AC3E}">
        <p14:creationId xmlns:p14="http://schemas.microsoft.com/office/powerpoint/2010/main" val="789295698"/>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Base tipo 1">
    <p:spTree>
      <p:nvGrpSpPr>
        <p:cNvPr id="1" name=""/>
        <p:cNvGrpSpPr/>
        <p:nvPr/>
      </p:nvGrpSpPr>
      <p:grpSpPr>
        <a:xfrm>
          <a:off x="0" y="0"/>
          <a:ext cx="0" cy="0"/>
          <a:chOff x="0" y="0"/>
          <a:chExt cx="0" cy="0"/>
        </a:xfrm>
      </p:grpSpPr>
      <p:pic>
        <p:nvPicPr>
          <p:cNvPr id="15" name="Imagen 14">
            <a:extLst>
              <a:ext uri="{FF2B5EF4-FFF2-40B4-BE49-F238E27FC236}">
                <a16:creationId xmlns:a16="http://schemas.microsoft.com/office/drawing/2014/main" id="{8C1D3470-D2D9-0583-4BC9-8A17E167B1BF}"/>
              </a:ext>
            </a:extLst>
          </p:cNvPr>
          <p:cNvPicPr>
            <a:picLocks noChangeAspect="1"/>
          </p:cNvPicPr>
          <p:nvPr userDrawn="1"/>
        </p:nvPicPr>
        <p:blipFill>
          <a:blip r:embed="rId2">
            <a:duotone>
              <a:schemeClr val="bg2">
                <a:shade val="45000"/>
                <a:satMod val="135000"/>
              </a:schemeClr>
              <a:prstClr val="white"/>
            </a:duotone>
            <a:extLst>
              <a:ext uri="{28A0092B-C50C-407E-A947-70E740481C1C}">
                <a14:useLocalDpi xmlns:a14="http://schemas.microsoft.com/office/drawing/2010/main" val="0"/>
              </a:ext>
            </a:extLst>
          </a:blip>
          <a:srcRect t="29976" r="31976" b="18781"/>
          <a:stretch/>
        </p:blipFill>
        <p:spPr>
          <a:xfrm>
            <a:off x="1" y="-1"/>
            <a:ext cx="12192000" cy="6168251"/>
          </a:xfrm>
          <a:prstGeom prst="rect">
            <a:avLst/>
          </a:prstGeom>
        </p:spPr>
      </p:pic>
      <p:pic>
        <p:nvPicPr>
          <p:cNvPr id="17" name="Imagen 16">
            <a:extLst>
              <a:ext uri="{FF2B5EF4-FFF2-40B4-BE49-F238E27FC236}">
                <a16:creationId xmlns:a16="http://schemas.microsoft.com/office/drawing/2014/main" id="{699639C3-57CA-3555-8739-2FEAF34584D4}"/>
              </a:ext>
            </a:extLst>
          </p:cNvPr>
          <p:cNvPicPr>
            <a:picLocks noChangeAspect="1"/>
          </p:cNvPicPr>
          <p:nvPr userDrawn="1"/>
        </p:nvPicPr>
        <p:blipFill>
          <a:blip r:embed="rId3">
            <a:extLst>
              <a:ext uri="{28A0092B-C50C-407E-A947-70E740481C1C}">
                <a14:useLocalDpi xmlns:a14="http://schemas.microsoft.com/office/drawing/2010/main" val="0"/>
              </a:ext>
            </a:extLst>
          </a:blip>
          <a:srcRect l="38224" b="50000"/>
          <a:stretch/>
        </p:blipFill>
        <p:spPr>
          <a:xfrm>
            <a:off x="0" y="2798072"/>
            <a:ext cx="4152900" cy="4059928"/>
          </a:xfrm>
          <a:prstGeom prst="rect">
            <a:avLst/>
          </a:prstGeom>
        </p:spPr>
      </p:pic>
      <p:sp>
        <p:nvSpPr>
          <p:cNvPr id="2" name="Título 1">
            <a:extLst>
              <a:ext uri="{FF2B5EF4-FFF2-40B4-BE49-F238E27FC236}">
                <a16:creationId xmlns:a16="http://schemas.microsoft.com/office/drawing/2014/main" id="{8FA0AB96-B82C-FB9B-D4F1-4DA333917386}"/>
              </a:ext>
            </a:extLst>
          </p:cNvPr>
          <p:cNvSpPr>
            <a:spLocks noGrp="1"/>
          </p:cNvSpPr>
          <p:nvPr>
            <p:ph type="ctrTitle"/>
          </p:nvPr>
        </p:nvSpPr>
        <p:spPr>
          <a:xfrm>
            <a:off x="101740" y="-1"/>
            <a:ext cx="11988520" cy="831358"/>
          </a:xfrm>
        </p:spPr>
        <p:txBody>
          <a:bodyPr anchor="b">
            <a:normAutofit/>
          </a:bodyPr>
          <a:lstStyle>
            <a:lvl1pPr algn="ctr">
              <a:defRPr lang="es-CO" sz="4400" b="1" kern="1200" dirty="0">
                <a:solidFill>
                  <a:schemeClr val="tx1"/>
                </a:solidFill>
                <a:latin typeface="+mj-lt"/>
                <a:ea typeface="+mj-ea"/>
                <a:cs typeface="+mj-cs"/>
              </a:defRPr>
            </a:lvl1pPr>
          </a:lstStyle>
          <a:p>
            <a:r>
              <a:rPr lang="es-MX"/>
              <a:t>Haz clic para modificar el estilo de título del patrón</a:t>
            </a:r>
            <a:endParaRPr lang="es-CO"/>
          </a:p>
        </p:txBody>
      </p:sp>
      <p:sp>
        <p:nvSpPr>
          <p:cNvPr id="3" name="Subtítulo 2">
            <a:extLst>
              <a:ext uri="{FF2B5EF4-FFF2-40B4-BE49-F238E27FC236}">
                <a16:creationId xmlns:a16="http://schemas.microsoft.com/office/drawing/2014/main" id="{ECBFD496-A346-1407-C5F2-9706D432C740}"/>
              </a:ext>
            </a:extLst>
          </p:cNvPr>
          <p:cNvSpPr>
            <a:spLocks noGrp="1"/>
          </p:cNvSpPr>
          <p:nvPr>
            <p:ph type="subTitle" idx="1"/>
          </p:nvPr>
        </p:nvSpPr>
        <p:spPr>
          <a:xfrm>
            <a:off x="273120" y="1248230"/>
            <a:ext cx="11645759" cy="4778414"/>
          </a:xfrm>
        </p:spPr>
        <p:txBody>
          <a:bodyPr/>
          <a:lstStyle>
            <a:lvl1pPr marL="0" indent="0" algn="ctr">
              <a:buNone/>
              <a:defRPr sz="2400">
                <a:solidFill>
                  <a:srgbClr val="00A19C"/>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pic>
        <p:nvPicPr>
          <p:cNvPr id="13" name="Imagen 12">
            <a:extLst>
              <a:ext uri="{FF2B5EF4-FFF2-40B4-BE49-F238E27FC236}">
                <a16:creationId xmlns:a16="http://schemas.microsoft.com/office/drawing/2014/main" id="{9E2A1808-08C5-3F83-A2A3-8335E47830B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rot="5400000">
            <a:off x="770519" y="5554345"/>
            <a:ext cx="580002" cy="1917560"/>
          </a:xfrm>
          <a:prstGeom prst="rect">
            <a:avLst/>
          </a:prstGeom>
        </p:spPr>
      </p:pic>
      <p:sp>
        <p:nvSpPr>
          <p:cNvPr id="4" name="Freeform 6">
            <a:extLst>
              <a:ext uri="{FF2B5EF4-FFF2-40B4-BE49-F238E27FC236}">
                <a16:creationId xmlns:a16="http://schemas.microsoft.com/office/drawing/2014/main" id="{7C8FD255-3AE3-9FAD-A192-7B8D9E01726D}"/>
              </a:ext>
            </a:extLst>
          </p:cNvPr>
          <p:cNvSpPr/>
          <p:nvPr userDrawn="1"/>
        </p:nvSpPr>
        <p:spPr>
          <a:xfrm>
            <a:off x="10617200" y="6213858"/>
            <a:ext cx="1473060" cy="595915"/>
          </a:xfrm>
          <a:custGeom>
            <a:avLst/>
            <a:gdLst/>
            <a:ahLst/>
            <a:cxnLst/>
            <a:rect l="l" t="t" r="r" b="b"/>
            <a:pathLst>
              <a:path w="2168832" h="1045699">
                <a:moveTo>
                  <a:pt x="0" y="0"/>
                </a:moveTo>
                <a:lnTo>
                  <a:pt x="2168831" y="0"/>
                </a:lnTo>
                <a:lnTo>
                  <a:pt x="2168831" y="1045698"/>
                </a:lnTo>
                <a:lnTo>
                  <a:pt x="0" y="1045698"/>
                </a:lnTo>
                <a:lnTo>
                  <a:pt x="0" y="0"/>
                </a:lnTo>
                <a:close/>
              </a:path>
            </a:pathLst>
          </a:custGeom>
          <a:blipFill>
            <a:blip r:embed="rId5"/>
            <a:stretch>
              <a:fillRect b="-17148"/>
            </a:stretch>
          </a:blipFill>
        </p:spPr>
        <p:txBody>
          <a:bodyPr/>
          <a:lstStyle/>
          <a:p>
            <a:endParaRPr lang="es-CO"/>
          </a:p>
        </p:txBody>
      </p:sp>
    </p:spTree>
    <p:extLst>
      <p:ext uri="{BB962C8B-B14F-4D97-AF65-F5344CB8AC3E}">
        <p14:creationId xmlns:p14="http://schemas.microsoft.com/office/powerpoint/2010/main" val="3770489897"/>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ase tipo 2">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EA180BC2-0279-1689-88F4-880102273B4B}"/>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l="77298" t="25682"/>
          <a:stretch/>
        </p:blipFill>
        <p:spPr>
          <a:xfrm>
            <a:off x="0" y="1"/>
            <a:ext cx="939587" cy="7020786"/>
          </a:xfrm>
          <a:prstGeom prst="rect">
            <a:avLst/>
          </a:prstGeom>
        </p:spPr>
      </p:pic>
      <p:pic>
        <p:nvPicPr>
          <p:cNvPr id="6" name="Imagen 5">
            <a:extLst>
              <a:ext uri="{FF2B5EF4-FFF2-40B4-BE49-F238E27FC236}">
                <a16:creationId xmlns:a16="http://schemas.microsoft.com/office/drawing/2014/main" id="{A1A51AC5-9D9F-3690-6E13-8B0595B6D69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31667" y="1498600"/>
            <a:ext cx="508459" cy="1681028"/>
          </a:xfrm>
          <a:prstGeom prst="rect">
            <a:avLst/>
          </a:prstGeom>
        </p:spPr>
      </p:pic>
      <p:sp>
        <p:nvSpPr>
          <p:cNvPr id="12" name="Freeform 6">
            <a:extLst>
              <a:ext uri="{FF2B5EF4-FFF2-40B4-BE49-F238E27FC236}">
                <a16:creationId xmlns:a16="http://schemas.microsoft.com/office/drawing/2014/main" id="{BA8AB828-B347-F5A8-A035-0AA926FA1DDA}"/>
              </a:ext>
            </a:extLst>
          </p:cNvPr>
          <p:cNvSpPr/>
          <p:nvPr userDrawn="1"/>
        </p:nvSpPr>
        <p:spPr>
          <a:xfrm rot="16200000">
            <a:off x="-416412" y="4330197"/>
            <a:ext cx="1681029" cy="808027"/>
          </a:xfrm>
          <a:custGeom>
            <a:avLst/>
            <a:gdLst/>
            <a:ahLst/>
            <a:cxnLst/>
            <a:rect l="l" t="t" r="r" b="b"/>
            <a:pathLst>
              <a:path w="2168832" h="1045699">
                <a:moveTo>
                  <a:pt x="0" y="0"/>
                </a:moveTo>
                <a:lnTo>
                  <a:pt x="2168831" y="0"/>
                </a:lnTo>
                <a:lnTo>
                  <a:pt x="2168831" y="1045698"/>
                </a:lnTo>
                <a:lnTo>
                  <a:pt x="0" y="1045698"/>
                </a:lnTo>
                <a:lnTo>
                  <a:pt x="0" y="0"/>
                </a:lnTo>
                <a:close/>
              </a:path>
            </a:pathLst>
          </a:custGeom>
          <a:blipFill>
            <a:blip r:embed="rId5"/>
            <a:stretch>
              <a:fillRect/>
            </a:stretch>
          </a:blipFill>
        </p:spPr>
        <p:txBody>
          <a:bodyPr/>
          <a:lstStyle/>
          <a:p>
            <a:endParaRPr lang="es-CO"/>
          </a:p>
        </p:txBody>
      </p:sp>
      <p:sp>
        <p:nvSpPr>
          <p:cNvPr id="13" name="Título 1">
            <a:extLst>
              <a:ext uri="{FF2B5EF4-FFF2-40B4-BE49-F238E27FC236}">
                <a16:creationId xmlns:a16="http://schemas.microsoft.com/office/drawing/2014/main" id="{B18E02AA-3576-C93A-2440-F2CE8C41E187}"/>
              </a:ext>
            </a:extLst>
          </p:cNvPr>
          <p:cNvSpPr>
            <a:spLocks noGrp="1"/>
          </p:cNvSpPr>
          <p:nvPr>
            <p:ph type="ctrTitle"/>
          </p:nvPr>
        </p:nvSpPr>
        <p:spPr>
          <a:xfrm>
            <a:off x="1071254" y="125431"/>
            <a:ext cx="10950872" cy="1373169"/>
          </a:xfrm>
        </p:spPr>
        <p:txBody>
          <a:bodyPr anchor="b">
            <a:normAutofit/>
          </a:bodyPr>
          <a:lstStyle>
            <a:lvl1pPr algn="ctr">
              <a:defRPr sz="4800">
                <a:solidFill>
                  <a:srgbClr val="00A19C"/>
                </a:solidFill>
              </a:defRPr>
            </a:lvl1pPr>
          </a:lstStyle>
          <a:p>
            <a:r>
              <a:rPr lang="es-MX"/>
              <a:t>Haz clic para modificar el estilo de título del patrón</a:t>
            </a:r>
            <a:endParaRPr lang="es-CO"/>
          </a:p>
        </p:txBody>
      </p:sp>
      <p:sp>
        <p:nvSpPr>
          <p:cNvPr id="14" name="Subtítulo 2">
            <a:extLst>
              <a:ext uri="{FF2B5EF4-FFF2-40B4-BE49-F238E27FC236}">
                <a16:creationId xmlns:a16="http://schemas.microsoft.com/office/drawing/2014/main" id="{21509FFB-03AF-0605-A285-621C413AAFA7}"/>
              </a:ext>
            </a:extLst>
          </p:cNvPr>
          <p:cNvSpPr>
            <a:spLocks noGrp="1"/>
          </p:cNvSpPr>
          <p:nvPr>
            <p:ph type="subTitle" idx="1"/>
          </p:nvPr>
        </p:nvSpPr>
        <p:spPr>
          <a:xfrm>
            <a:off x="1071254" y="1651000"/>
            <a:ext cx="10950872" cy="5043469"/>
          </a:xfrm>
        </p:spPr>
        <p:txBody>
          <a:bodyPr>
            <a:normAutofit/>
          </a:bodyPr>
          <a:lstStyle>
            <a:lvl1pPr marL="0" indent="0" algn="l">
              <a:buNone/>
              <a:defRPr sz="2000">
                <a:solidFill>
                  <a:schemeClr val="accent2">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pic>
        <p:nvPicPr>
          <p:cNvPr id="16" name="Imagen 15">
            <a:extLst>
              <a:ext uri="{FF2B5EF4-FFF2-40B4-BE49-F238E27FC236}">
                <a16:creationId xmlns:a16="http://schemas.microsoft.com/office/drawing/2014/main" id="{E7692482-D4F2-6441-527D-09E8ADC83CE6}"/>
              </a:ext>
            </a:extLst>
          </p:cNvPr>
          <p:cNvPicPr>
            <a:picLocks noChangeAspect="1"/>
          </p:cNvPicPr>
          <p:nvPr userDrawn="1"/>
        </p:nvPicPr>
        <p:blipFill>
          <a:blip r:embed="rId6">
            <a:extLst>
              <a:ext uri="{28A0092B-C50C-407E-A947-70E740481C1C}">
                <a14:useLocalDpi xmlns:a14="http://schemas.microsoft.com/office/drawing/2010/main" val="0"/>
              </a:ext>
            </a:extLst>
          </a:blip>
          <a:srcRect l="45585" b="54123"/>
          <a:stretch/>
        </p:blipFill>
        <p:spPr>
          <a:xfrm flipH="1" flipV="1">
            <a:off x="10098527" y="0"/>
            <a:ext cx="2093471" cy="1651000"/>
          </a:xfrm>
          <a:prstGeom prst="rect">
            <a:avLst/>
          </a:prstGeom>
        </p:spPr>
      </p:pic>
      <p:pic>
        <p:nvPicPr>
          <p:cNvPr id="18" name="Imagen 17">
            <a:extLst>
              <a:ext uri="{FF2B5EF4-FFF2-40B4-BE49-F238E27FC236}">
                <a16:creationId xmlns:a16="http://schemas.microsoft.com/office/drawing/2014/main" id="{E6E98A51-FE2B-DE98-C52D-EE13D2D21BDA}"/>
              </a:ext>
            </a:extLst>
          </p:cNvPr>
          <p:cNvPicPr>
            <a:picLocks noChangeAspect="1"/>
          </p:cNvPicPr>
          <p:nvPr userDrawn="1"/>
        </p:nvPicPr>
        <p:blipFill>
          <a:blip r:embed="rId7">
            <a:extLst>
              <a:ext uri="{28A0092B-C50C-407E-A947-70E740481C1C}">
                <a14:useLocalDpi xmlns:a14="http://schemas.microsoft.com/office/drawing/2010/main" val="0"/>
              </a:ext>
            </a:extLst>
          </a:blip>
          <a:srcRect l="70923" r="-1" b="3003"/>
          <a:stretch/>
        </p:blipFill>
        <p:spPr>
          <a:xfrm rot="16200000">
            <a:off x="5498728" y="153594"/>
            <a:ext cx="2661805" cy="10724746"/>
          </a:xfrm>
          <a:prstGeom prst="rect">
            <a:avLst/>
          </a:prstGeom>
        </p:spPr>
      </p:pic>
    </p:spTree>
    <p:extLst>
      <p:ext uri="{BB962C8B-B14F-4D97-AF65-F5344CB8AC3E}">
        <p14:creationId xmlns:p14="http://schemas.microsoft.com/office/powerpoint/2010/main" val="636343152"/>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Base tipo 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46B73D-AFB5-63C1-7DD4-26FA799097A3}"/>
              </a:ext>
            </a:extLst>
          </p:cNvPr>
          <p:cNvSpPr>
            <a:spLocks noGrp="1"/>
          </p:cNvSpPr>
          <p:nvPr>
            <p:ph type="title"/>
          </p:nvPr>
        </p:nvSpPr>
        <p:spPr>
          <a:xfrm>
            <a:off x="838200" y="246063"/>
            <a:ext cx="10515600" cy="1795462"/>
          </a:xfrm>
        </p:spPr>
        <p:txBody>
          <a:bodyPr anchor="b"/>
          <a:lstStyle>
            <a:lvl1pPr>
              <a:defRPr sz="6000"/>
            </a:lvl1p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C06E8A3F-8FDA-7C5D-124E-8067B4569411}"/>
              </a:ext>
            </a:extLst>
          </p:cNvPr>
          <p:cNvSpPr>
            <a:spLocks noGrp="1"/>
          </p:cNvSpPr>
          <p:nvPr>
            <p:ph type="body" idx="1"/>
          </p:nvPr>
        </p:nvSpPr>
        <p:spPr>
          <a:xfrm>
            <a:off x="838200" y="2295526"/>
            <a:ext cx="10515600" cy="3965574"/>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p>
        </p:txBody>
      </p:sp>
      <p:pic>
        <p:nvPicPr>
          <p:cNvPr id="8" name="Imagen 7">
            <a:extLst>
              <a:ext uri="{FF2B5EF4-FFF2-40B4-BE49-F238E27FC236}">
                <a16:creationId xmlns:a16="http://schemas.microsoft.com/office/drawing/2014/main" id="{1730098F-D7B3-2EEF-E25A-360A7072FDCF}"/>
              </a:ext>
            </a:extLst>
          </p:cNvPr>
          <p:cNvPicPr>
            <a:picLocks noChangeAspect="1"/>
          </p:cNvPicPr>
          <p:nvPr userDrawn="1"/>
        </p:nvPicPr>
        <p:blipFill>
          <a:blip r:embed="rId2">
            <a:extLst>
              <a:ext uri="{28A0092B-C50C-407E-A947-70E740481C1C}">
                <a14:useLocalDpi xmlns:a14="http://schemas.microsoft.com/office/drawing/2010/main" val="0"/>
              </a:ext>
            </a:extLst>
          </a:blip>
          <a:srcRect r="85296" b="5342"/>
          <a:stretch/>
        </p:blipFill>
        <p:spPr>
          <a:xfrm>
            <a:off x="11573998" y="2354263"/>
            <a:ext cx="618002" cy="2882900"/>
          </a:xfrm>
          <a:prstGeom prst="rect">
            <a:avLst/>
          </a:prstGeom>
        </p:spPr>
      </p:pic>
      <p:pic>
        <p:nvPicPr>
          <p:cNvPr id="9" name="Imagen 8">
            <a:extLst>
              <a:ext uri="{FF2B5EF4-FFF2-40B4-BE49-F238E27FC236}">
                <a16:creationId xmlns:a16="http://schemas.microsoft.com/office/drawing/2014/main" id="{73D5E16C-6617-1EE9-5BD9-B60F73856D09}"/>
              </a:ext>
            </a:extLst>
          </p:cNvPr>
          <p:cNvPicPr>
            <a:picLocks noChangeAspect="1"/>
          </p:cNvPicPr>
          <p:nvPr userDrawn="1"/>
        </p:nvPicPr>
        <p:blipFill>
          <a:blip r:embed="rId3">
            <a:biLevel thresh="25000"/>
            <a:extLst>
              <a:ext uri="{28A0092B-C50C-407E-A947-70E740481C1C}">
                <a14:useLocalDpi xmlns:a14="http://schemas.microsoft.com/office/drawing/2010/main" val="0"/>
              </a:ext>
            </a:extLst>
          </a:blip>
          <a:stretch>
            <a:fillRect/>
          </a:stretch>
        </p:blipFill>
        <p:spPr>
          <a:xfrm>
            <a:off x="11642509" y="2943473"/>
            <a:ext cx="480980" cy="1590180"/>
          </a:xfrm>
          <a:prstGeom prst="rect">
            <a:avLst/>
          </a:prstGeom>
        </p:spPr>
      </p:pic>
      <p:pic>
        <p:nvPicPr>
          <p:cNvPr id="13" name="Imagen 12">
            <a:extLst>
              <a:ext uri="{FF2B5EF4-FFF2-40B4-BE49-F238E27FC236}">
                <a16:creationId xmlns:a16="http://schemas.microsoft.com/office/drawing/2014/main" id="{09510DC3-FC2D-11C1-9B32-6033B4F82FD4}"/>
              </a:ext>
            </a:extLst>
          </p:cNvPr>
          <p:cNvPicPr>
            <a:picLocks noChangeAspect="1"/>
          </p:cNvPicPr>
          <p:nvPr userDrawn="1"/>
        </p:nvPicPr>
        <p:blipFill>
          <a:blip r:embed="rId4">
            <a:extLst>
              <a:ext uri="{28A0092B-C50C-407E-A947-70E740481C1C}">
                <a14:useLocalDpi xmlns:a14="http://schemas.microsoft.com/office/drawing/2010/main" val="0"/>
              </a:ext>
            </a:extLst>
          </a:blip>
          <a:srcRect l="26500" t="91347" r="23500" b="-18274"/>
          <a:stretch/>
        </p:blipFill>
        <p:spPr>
          <a:xfrm>
            <a:off x="7327622" y="0"/>
            <a:ext cx="4864378" cy="765681"/>
          </a:xfrm>
          <a:prstGeom prst="rect">
            <a:avLst/>
          </a:prstGeom>
        </p:spPr>
      </p:pic>
      <p:pic>
        <p:nvPicPr>
          <p:cNvPr id="15" name="Imagen 14">
            <a:extLst>
              <a:ext uri="{FF2B5EF4-FFF2-40B4-BE49-F238E27FC236}">
                <a16:creationId xmlns:a16="http://schemas.microsoft.com/office/drawing/2014/main" id="{BFDE572A-A1CF-22E5-2E40-4876B80870F9}"/>
              </a:ext>
            </a:extLst>
          </p:cNvPr>
          <p:cNvPicPr>
            <a:picLocks noChangeAspect="1"/>
          </p:cNvPicPr>
          <p:nvPr userDrawn="1"/>
        </p:nvPicPr>
        <p:blipFill>
          <a:blip r:embed="rId5">
            <a:extLst>
              <a:ext uri="{BEBA8EAE-BF5A-486C-A8C5-ECC9F3942E4B}">
                <a14:imgProps xmlns:a14="http://schemas.microsoft.com/office/drawing/2010/main">
                  <a14:imgLayer r:embed="rId6">
                    <a14:imgEffect>
                      <a14:brightnessContrast bright="40000"/>
                    </a14:imgEffect>
                  </a14:imgLayer>
                </a14:imgProps>
              </a:ext>
              <a:ext uri="{28A0092B-C50C-407E-A947-70E740481C1C}">
                <a14:useLocalDpi xmlns:a14="http://schemas.microsoft.com/office/drawing/2010/main" val="0"/>
              </a:ext>
            </a:extLst>
          </a:blip>
          <a:srcRect l="61728" t="20440" r="22377" b="15365"/>
          <a:stretch/>
        </p:blipFill>
        <p:spPr>
          <a:xfrm>
            <a:off x="0" y="0"/>
            <a:ext cx="1435100" cy="6857999"/>
          </a:xfrm>
          <a:prstGeom prst="rect">
            <a:avLst/>
          </a:prstGeom>
        </p:spPr>
      </p:pic>
      <p:pic>
        <p:nvPicPr>
          <p:cNvPr id="17" name="Imagen 16">
            <a:extLst>
              <a:ext uri="{FF2B5EF4-FFF2-40B4-BE49-F238E27FC236}">
                <a16:creationId xmlns:a16="http://schemas.microsoft.com/office/drawing/2014/main" id="{D5D38E85-1DA3-0CD6-0E5F-1B99D182500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27001" y="6166076"/>
            <a:ext cx="1435100" cy="691923"/>
          </a:xfrm>
          <a:prstGeom prst="rect">
            <a:avLst/>
          </a:prstGeom>
        </p:spPr>
      </p:pic>
    </p:spTree>
    <p:extLst>
      <p:ext uri="{BB962C8B-B14F-4D97-AF65-F5344CB8AC3E}">
        <p14:creationId xmlns:p14="http://schemas.microsoft.com/office/powerpoint/2010/main" val="742242030"/>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o y grafica">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2B169A10-2A6E-3843-86AC-25BE079FECE6}"/>
              </a:ext>
            </a:extLst>
          </p:cNvPr>
          <p:cNvPicPr>
            <a:picLocks noChangeAspect="1"/>
          </p:cNvPicPr>
          <p:nvPr userDrawn="1"/>
        </p:nvPicPr>
        <p:blipFill>
          <a:blip r:embed="rId2">
            <a:extLst>
              <a:ext uri="{28A0092B-C50C-407E-A947-70E740481C1C}">
                <a14:useLocalDpi xmlns:a14="http://schemas.microsoft.com/office/drawing/2010/main" val="0"/>
              </a:ext>
            </a:extLst>
          </a:blip>
          <a:srcRect t="3463" r="43370" b="9373"/>
          <a:stretch/>
        </p:blipFill>
        <p:spPr>
          <a:xfrm rot="10800000">
            <a:off x="0" y="0"/>
            <a:ext cx="5102988" cy="6858000"/>
          </a:xfrm>
          <a:prstGeom prst="rect">
            <a:avLst/>
          </a:prstGeom>
        </p:spPr>
      </p:pic>
      <p:sp>
        <p:nvSpPr>
          <p:cNvPr id="3" name="Marcador de contenido 2">
            <a:extLst>
              <a:ext uri="{FF2B5EF4-FFF2-40B4-BE49-F238E27FC236}">
                <a16:creationId xmlns:a16="http://schemas.microsoft.com/office/drawing/2014/main" id="{CDBE28D5-0035-1F92-BF37-922F698E4FE4}"/>
              </a:ext>
            </a:extLst>
          </p:cNvPr>
          <p:cNvSpPr>
            <a:spLocks noGrp="1"/>
          </p:cNvSpPr>
          <p:nvPr>
            <p:ph idx="1"/>
          </p:nvPr>
        </p:nvSpPr>
        <p:spPr>
          <a:xfrm>
            <a:off x="5297724" y="232229"/>
            <a:ext cx="6699540" cy="6458857"/>
          </a:xfrm>
        </p:spPr>
        <p:txBody>
          <a:bodyPr/>
          <a:lstStyle>
            <a:lvl1pPr>
              <a:defRPr>
                <a:solidFill>
                  <a:srgbClr val="00A19C"/>
                </a:solidFill>
              </a:defRPr>
            </a:lvl1pPr>
            <a:lvl2pPr>
              <a:defRPr>
                <a:solidFill>
                  <a:schemeClr val="accent2">
                    <a:lumMod val="50000"/>
                  </a:schemeClr>
                </a:solidFill>
              </a:defRPr>
            </a:lvl2pPr>
            <a:lvl3pPr>
              <a:defRPr>
                <a:solidFill>
                  <a:schemeClr val="accent2">
                    <a:lumMod val="50000"/>
                  </a:schemeClr>
                </a:solidFill>
              </a:defRPr>
            </a:lvl3pPr>
            <a:lvl4pPr>
              <a:defRPr>
                <a:solidFill>
                  <a:schemeClr val="accent2">
                    <a:lumMod val="50000"/>
                  </a:schemeClr>
                </a:solidFill>
              </a:defRPr>
            </a:lvl4pPr>
            <a:lvl5pPr>
              <a:defRPr>
                <a:solidFill>
                  <a:schemeClr val="accent2">
                    <a:lumMod val="50000"/>
                  </a:schemeClr>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pic>
        <p:nvPicPr>
          <p:cNvPr id="14" name="Imagen 13">
            <a:extLst>
              <a:ext uri="{FF2B5EF4-FFF2-40B4-BE49-F238E27FC236}">
                <a16:creationId xmlns:a16="http://schemas.microsoft.com/office/drawing/2014/main" id="{30F0CA86-C0CE-E329-CD61-BE258ED5B525}"/>
              </a:ext>
            </a:extLst>
          </p:cNvPr>
          <p:cNvPicPr>
            <a:picLocks noChangeAspect="1"/>
          </p:cNvPicPr>
          <p:nvPr userDrawn="1"/>
        </p:nvPicPr>
        <p:blipFill>
          <a:blip r:embed="rId3">
            <a:extLst>
              <a:ext uri="{28A0092B-C50C-407E-A947-70E740481C1C}">
                <a14:useLocalDpi xmlns:a14="http://schemas.microsoft.com/office/drawing/2010/main" val="0"/>
              </a:ext>
            </a:extLst>
          </a:blip>
          <a:srcRect r="45764" b="46118"/>
          <a:stretch/>
        </p:blipFill>
        <p:spPr>
          <a:xfrm>
            <a:off x="8470900" y="3399975"/>
            <a:ext cx="3721101" cy="3458026"/>
          </a:xfrm>
          <a:prstGeom prst="rect">
            <a:avLst/>
          </a:prstGeom>
        </p:spPr>
      </p:pic>
      <p:sp>
        <p:nvSpPr>
          <p:cNvPr id="15" name="Título 1">
            <a:extLst>
              <a:ext uri="{FF2B5EF4-FFF2-40B4-BE49-F238E27FC236}">
                <a16:creationId xmlns:a16="http://schemas.microsoft.com/office/drawing/2014/main" id="{B93DF5CE-7F66-183D-2C68-212F36B2FF3A}"/>
              </a:ext>
            </a:extLst>
          </p:cNvPr>
          <p:cNvSpPr>
            <a:spLocks noGrp="1"/>
          </p:cNvSpPr>
          <p:nvPr>
            <p:ph type="ctrTitle"/>
          </p:nvPr>
        </p:nvSpPr>
        <p:spPr>
          <a:xfrm>
            <a:off x="194736" y="391796"/>
            <a:ext cx="4694765" cy="1998478"/>
          </a:xfrm>
        </p:spPr>
        <p:txBody>
          <a:bodyPr anchor="b">
            <a:noAutofit/>
          </a:bodyPr>
          <a:lstStyle>
            <a:lvl1pPr algn="ctr">
              <a:defRPr sz="4400" b="1"/>
            </a:lvl1pPr>
          </a:lstStyle>
          <a:p>
            <a:r>
              <a:rPr lang="es-MX"/>
              <a:t>Haz clic para modificar el estilo de título del patrón</a:t>
            </a:r>
            <a:endParaRPr lang="es-CO"/>
          </a:p>
        </p:txBody>
      </p:sp>
      <p:sp>
        <p:nvSpPr>
          <p:cNvPr id="16" name="Marcador de texto 2">
            <a:extLst>
              <a:ext uri="{FF2B5EF4-FFF2-40B4-BE49-F238E27FC236}">
                <a16:creationId xmlns:a16="http://schemas.microsoft.com/office/drawing/2014/main" id="{E3180907-AE8C-40CD-D4A4-48F2F901D92A}"/>
              </a:ext>
            </a:extLst>
          </p:cNvPr>
          <p:cNvSpPr>
            <a:spLocks noGrp="1"/>
          </p:cNvSpPr>
          <p:nvPr>
            <p:ph type="body" idx="10" hasCustomPrompt="1"/>
          </p:nvPr>
        </p:nvSpPr>
        <p:spPr>
          <a:xfrm>
            <a:off x="194735" y="2625660"/>
            <a:ext cx="4694765" cy="3684134"/>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err="1"/>
              <a:t>Click</a:t>
            </a:r>
            <a:r>
              <a:rPr lang="es-MX"/>
              <a:t> para modificar el texto</a:t>
            </a:r>
          </a:p>
        </p:txBody>
      </p:sp>
      <p:sp>
        <p:nvSpPr>
          <p:cNvPr id="2" name="Freeform 10">
            <a:extLst>
              <a:ext uri="{FF2B5EF4-FFF2-40B4-BE49-F238E27FC236}">
                <a16:creationId xmlns:a16="http://schemas.microsoft.com/office/drawing/2014/main" id="{C5B1436F-0D51-9392-A616-438FCD68C46D}"/>
              </a:ext>
            </a:extLst>
          </p:cNvPr>
          <p:cNvSpPr/>
          <p:nvPr userDrawn="1"/>
        </p:nvSpPr>
        <p:spPr>
          <a:xfrm>
            <a:off x="1" y="6376469"/>
            <a:ext cx="1155699" cy="481531"/>
          </a:xfrm>
          <a:custGeom>
            <a:avLst/>
            <a:gdLst/>
            <a:ahLst/>
            <a:cxnLst/>
            <a:rect l="l" t="t" r="r" b="b"/>
            <a:pathLst>
              <a:path w="5456705" h="2630941">
                <a:moveTo>
                  <a:pt x="0" y="0"/>
                </a:moveTo>
                <a:lnTo>
                  <a:pt x="5456705" y="0"/>
                </a:lnTo>
                <a:lnTo>
                  <a:pt x="5456705" y="2630941"/>
                </a:lnTo>
                <a:lnTo>
                  <a:pt x="0" y="2630941"/>
                </a:lnTo>
                <a:lnTo>
                  <a:pt x="0" y="0"/>
                </a:lnTo>
                <a:close/>
              </a:path>
            </a:pathLst>
          </a:custGeom>
          <a:blipFill>
            <a:blip r:embed="rId4">
              <a:biLevel thresh="25000"/>
            </a:blip>
            <a:stretch>
              <a:fillRect t="-1" b="-13846"/>
            </a:stretch>
          </a:blipFill>
        </p:spPr>
        <p:txBody>
          <a:bodyPr/>
          <a:lstStyle/>
          <a:p>
            <a:endParaRPr lang="es-CO"/>
          </a:p>
        </p:txBody>
      </p:sp>
    </p:spTree>
    <p:extLst>
      <p:ext uri="{BB962C8B-B14F-4D97-AF65-F5344CB8AC3E}">
        <p14:creationId xmlns:p14="http://schemas.microsoft.com/office/powerpoint/2010/main" val="3213881527"/>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ierre">
    <p:bg>
      <p:bgRef idx="1002">
        <a:schemeClr val="bg2"/>
      </p:bgRef>
    </p:bg>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3C1D476B-980A-E84C-9884-ECD342AB0B52}"/>
              </a:ext>
            </a:extLst>
          </p:cNvPr>
          <p:cNvPicPr>
            <a:picLocks noChangeAspect="1"/>
          </p:cNvPicPr>
          <p:nvPr userDrawn="1"/>
        </p:nvPicPr>
        <p:blipFill>
          <a:blip r:embed="rId2">
            <a:extLst>
              <a:ext uri="{28A0092B-C50C-407E-A947-70E740481C1C}">
                <a14:useLocalDpi xmlns:a14="http://schemas.microsoft.com/office/drawing/2010/main" val="0"/>
              </a:ext>
            </a:extLst>
          </a:blip>
          <a:srcRect l="44440"/>
          <a:stretch/>
        </p:blipFill>
        <p:spPr>
          <a:xfrm flipH="1">
            <a:off x="6095999" y="0"/>
            <a:ext cx="6095999" cy="6858000"/>
          </a:xfrm>
          <a:prstGeom prst="rect">
            <a:avLst/>
          </a:prstGeom>
        </p:spPr>
      </p:pic>
      <p:pic>
        <p:nvPicPr>
          <p:cNvPr id="7" name="Imagen 6">
            <a:extLst>
              <a:ext uri="{FF2B5EF4-FFF2-40B4-BE49-F238E27FC236}">
                <a16:creationId xmlns:a16="http://schemas.microsoft.com/office/drawing/2014/main" id="{512C2285-7C45-C0AC-9D13-6631A078CCCC}"/>
              </a:ext>
            </a:extLst>
          </p:cNvPr>
          <p:cNvPicPr>
            <a:picLocks noChangeAspect="1"/>
          </p:cNvPicPr>
          <p:nvPr userDrawn="1"/>
        </p:nvPicPr>
        <p:blipFill>
          <a:blip r:embed="rId3">
            <a:extLst>
              <a:ext uri="{28A0092B-C50C-407E-A947-70E740481C1C}">
                <a14:useLocalDpi xmlns:a14="http://schemas.microsoft.com/office/drawing/2010/main" val="0"/>
              </a:ext>
            </a:extLst>
          </a:blip>
          <a:srcRect l="21846" t="37456" r="10206" b="11582"/>
          <a:stretch/>
        </p:blipFill>
        <p:spPr>
          <a:xfrm>
            <a:off x="1" y="1"/>
            <a:ext cx="5297713" cy="3973284"/>
          </a:xfrm>
          <a:prstGeom prst="rect">
            <a:avLst/>
          </a:prstGeom>
        </p:spPr>
      </p:pic>
      <p:pic>
        <p:nvPicPr>
          <p:cNvPr id="11" name="Imagen 10">
            <a:extLst>
              <a:ext uri="{FF2B5EF4-FFF2-40B4-BE49-F238E27FC236}">
                <a16:creationId xmlns:a16="http://schemas.microsoft.com/office/drawing/2014/main" id="{85526B18-8D67-BE4A-14F9-88F245B97C88}"/>
              </a:ext>
            </a:extLst>
          </p:cNvPr>
          <p:cNvPicPr>
            <a:picLocks noChangeAspect="1"/>
          </p:cNvPicPr>
          <p:nvPr userDrawn="1"/>
        </p:nvPicPr>
        <p:blipFill>
          <a:blip r:embed="rId4">
            <a:biLevel thresh="25000"/>
            <a:extLst>
              <a:ext uri="{28A0092B-C50C-407E-A947-70E740481C1C}">
                <a14:useLocalDpi xmlns:a14="http://schemas.microsoft.com/office/drawing/2010/main" val="0"/>
              </a:ext>
            </a:extLst>
          </a:blip>
          <a:stretch>
            <a:fillRect/>
          </a:stretch>
        </p:blipFill>
        <p:spPr>
          <a:xfrm rot="5400000">
            <a:off x="10406846" y="5153900"/>
            <a:ext cx="728929" cy="2409929"/>
          </a:xfrm>
          <a:prstGeom prst="rect">
            <a:avLst/>
          </a:prstGeom>
        </p:spPr>
      </p:pic>
      <p:pic>
        <p:nvPicPr>
          <p:cNvPr id="13" name="Imagen 12">
            <a:extLst>
              <a:ext uri="{FF2B5EF4-FFF2-40B4-BE49-F238E27FC236}">
                <a16:creationId xmlns:a16="http://schemas.microsoft.com/office/drawing/2014/main" id="{0E68E3D3-510F-CC1E-E5A2-528D973638D2}"/>
              </a:ext>
            </a:extLst>
          </p:cNvPr>
          <p:cNvPicPr>
            <a:picLocks noChangeAspect="1"/>
          </p:cNvPicPr>
          <p:nvPr userDrawn="1"/>
        </p:nvPicPr>
        <p:blipFill>
          <a:blip r:embed="rId5">
            <a:biLevel thresh="25000"/>
            <a:extLst>
              <a:ext uri="{28A0092B-C50C-407E-A947-70E740481C1C}">
                <a14:useLocalDpi xmlns:a14="http://schemas.microsoft.com/office/drawing/2010/main" val="0"/>
              </a:ext>
            </a:extLst>
          </a:blip>
          <a:stretch>
            <a:fillRect/>
          </a:stretch>
        </p:blipFill>
        <p:spPr>
          <a:xfrm>
            <a:off x="4053731" y="3469137"/>
            <a:ext cx="4765511" cy="2297656"/>
          </a:xfrm>
          <a:prstGeom prst="rect">
            <a:avLst/>
          </a:prstGeom>
        </p:spPr>
      </p:pic>
      <p:sp>
        <p:nvSpPr>
          <p:cNvPr id="14" name="CuadroTexto 13">
            <a:extLst>
              <a:ext uri="{FF2B5EF4-FFF2-40B4-BE49-F238E27FC236}">
                <a16:creationId xmlns:a16="http://schemas.microsoft.com/office/drawing/2014/main" id="{DEBF85F2-9C39-B2A3-1D4C-DB082C7ED94C}"/>
              </a:ext>
            </a:extLst>
          </p:cNvPr>
          <p:cNvSpPr txBox="1"/>
          <p:nvPr userDrawn="1"/>
        </p:nvSpPr>
        <p:spPr>
          <a:xfrm>
            <a:off x="418241" y="1091207"/>
            <a:ext cx="4438772" cy="1569660"/>
          </a:xfrm>
          <a:prstGeom prst="rect">
            <a:avLst/>
          </a:prstGeom>
          <a:noFill/>
        </p:spPr>
        <p:txBody>
          <a:bodyPr wrap="square" rtlCol="0">
            <a:spAutoFit/>
          </a:bodyPr>
          <a:lstStyle/>
          <a:p>
            <a:r>
              <a:rPr lang="es-MX" sz="9600" b="1">
                <a:latin typeface="+mj-lt"/>
              </a:rPr>
              <a:t>Gracias.</a:t>
            </a:r>
            <a:endParaRPr lang="es-CO" sz="9600" b="1">
              <a:latin typeface="+mj-lt"/>
            </a:endParaRPr>
          </a:p>
        </p:txBody>
      </p:sp>
      <p:pic>
        <p:nvPicPr>
          <p:cNvPr id="16" name="Imagen 15">
            <a:extLst>
              <a:ext uri="{FF2B5EF4-FFF2-40B4-BE49-F238E27FC236}">
                <a16:creationId xmlns:a16="http://schemas.microsoft.com/office/drawing/2014/main" id="{3BC182DC-7B08-E67E-CAC5-E58C5249D671}"/>
              </a:ext>
            </a:extLst>
          </p:cNvPr>
          <p:cNvPicPr>
            <a:picLocks noChangeAspect="1"/>
          </p:cNvPicPr>
          <p:nvPr userDrawn="1"/>
        </p:nvPicPr>
        <p:blipFill>
          <a:blip r:embed="rId6">
            <a:biLevel thresh="25000"/>
            <a:extLst>
              <a:ext uri="{28A0092B-C50C-407E-A947-70E740481C1C}">
                <a14:useLocalDpi xmlns:a14="http://schemas.microsoft.com/office/drawing/2010/main" val="0"/>
              </a:ext>
            </a:extLst>
          </a:blip>
          <a:srcRect l="31024" t="32522" r="37126" b="47477"/>
          <a:stretch/>
        </p:blipFill>
        <p:spPr>
          <a:xfrm flipH="1">
            <a:off x="-2" y="4417312"/>
            <a:ext cx="4438772" cy="2440687"/>
          </a:xfrm>
          <a:prstGeom prst="rect">
            <a:avLst/>
          </a:prstGeom>
        </p:spPr>
      </p:pic>
    </p:spTree>
    <p:extLst>
      <p:ext uri="{BB962C8B-B14F-4D97-AF65-F5344CB8AC3E}">
        <p14:creationId xmlns:p14="http://schemas.microsoft.com/office/powerpoint/2010/main" val="29391004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F6839A-655E-0193-7398-6BB1EB257543}"/>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3B6E049F-9F93-C349-0335-64199BDEF840}"/>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contenido 3">
            <a:extLst>
              <a:ext uri="{FF2B5EF4-FFF2-40B4-BE49-F238E27FC236}">
                <a16:creationId xmlns:a16="http://schemas.microsoft.com/office/drawing/2014/main" id="{8F530734-8D13-AF5F-A009-0590B62E1013}"/>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5" name="Marcador de fecha 4">
            <a:extLst>
              <a:ext uri="{FF2B5EF4-FFF2-40B4-BE49-F238E27FC236}">
                <a16:creationId xmlns:a16="http://schemas.microsoft.com/office/drawing/2014/main" id="{54B2A63A-AEE6-1193-1263-5D73AB875DAB}"/>
              </a:ext>
            </a:extLst>
          </p:cNvPr>
          <p:cNvSpPr>
            <a:spLocks noGrp="1"/>
          </p:cNvSpPr>
          <p:nvPr>
            <p:ph type="dt" sz="half" idx="10"/>
          </p:nvPr>
        </p:nvSpPr>
        <p:spPr>
          <a:xfrm>
            <a:off x="838200" y="6356350"/>
            <a:ext cx="2743200" cy="365125"/>
          </a:xfrm>
          <a:prstGeom prst="rect">
            <a:avLst/>
          </a:prstGeom>
        </p:spPr>
        <p:txBody>
          <a:bodyPr/>
          <a:lstStyle/>
          <a:p>
            <a:fld id="{E9956CE2-68F3-4FDF-91A2-02B2C3F4A038}" type="datetimeFigureOut">
              <a:rPr lang="es-CO" smtClean="0"/>
              <a:t>14/10/2026</a:t>
            </a:fld>
            <a:endParaRPr lang="es-CO"/>
          </a:p>
        </p:txBody>
      </p:sp>
      <p:sp>
        <p:nvSpPr>
          <p:cNvPr id="6" name="Marcador de pie de página 5">
            <a:extLst>
              <a:ext uri="{FF2B5EF4-FFF2-40B4-BE49-F238E27FC236}">
                <a16:creationId xmlns:a16="http://schemas.microsoft.com/office/drawing/2014/main" id="{4BDF8FA0-1C69-ACAD-3745-4DBFE579CC40}"/>
              </a:ext>
            </a:extLst>
          </p:cNvPr>
          <p:cNvSpPr>
            <a:spLocks noGrp="1"/>
          </p:cNvSpPr>
          <p:nvPr>
            <p:ph type="ftr" sz="quarter" idx="11"/>
          </p:nvPr>
        </p:nvSpPr>
        <p:spPr>
          <a:xfrm>
            <a:off x="4038600" y="6356350"/>
            <a:ext cx="4114800" cy="365125"/>
          </a:xfrm>
          <a:prstGeom prst="rect">
            <a:avLst/>
          </a:prstGeom>
        </p:spPr>
        <p:txBody>
          <a:bodyPr/>
          <a:lstStyle/>
          <a:p>
            <a:endParaRPr lang="es-CO"/>
          </a:p>
        </p:txBody>
      </p:sp>
      <p:sp>
        <p:nvSpPr>
          <p:cNvPr id="7" name="Marcador de número de diapositiva 6">
            <a:extLst>
              <a:ext uri="{FF2B5EF4-FFF2-40B4-BE49-F238E27FC236}">
                <a16:creationId xmlns:a16="http://schemas.microsoft.com/office/drawing/2014/main" id="{1C379D33-6E1B-8BD6-5154-1E0A15ECD284}"/>
              </a:ext>
            </a:extLst>
          </p:cNvPr>
          <p:cNvSpPr>
            <a:spLocks noGrp="1"/>
          </p:cNvSpPr>
          <p:nvPr>
            <p:ph type="sldNum" sz="quarter" idx="12"/>
          </p:nvPr>
        </p:nvSpPr>
        <p:spPr>
          <a:xfrm>
            <a:off x="8610600" y="6356350"/>
            <a:ext cx="2743200" cy="365125"/>
          </a:xfrm>
          <a:prstGeom prst="rect">
            <a:avLst/>
          </a:prstGeom>
        </p:spPr>
        <p:txBody>
          <a:bodyPr/>
          <a:lstStyle/>
          <a:p>
            <a:fld id="{123B1916-2EB5-47BD-A195-BF4F3BBA6F21}" type="slidenum">
              <a:rPr lang="es-CO" smtClean="0"/>
              <a:t>‹#›</a:t>
            </a:fld>
            <a:endParaRPr lang="es-CO"/>
          </a:p>
        </p:txBody>
      </p:sp>
    </p:spTree>
    <p:extLst>
      <p:ext uri="{BB962C8B-B14F-4D97-AF65-F5344CB8AC3E}">
        <p14:creationId xmlns:p14="http://schemas.microsoft.com/office/powerpoint/2010/main" val="1661261869"/>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0DADCC-A16B-DABD-BEE8-066DBEC01DAE}"/>
              </a:ext>
            </a:extLst>
          </p:cNvPr>
          <p:cNvSpPr>
            <a:spLocks noGrp="1"/>
          </p:cNvSpPr>
          <p:nvPr>
            <p:ph type="title"/>
          </p:nvPr>
        </p:nvSpPr>
        <p:spPr>
          <a:xfrm>
            <a:off x="839788" y="365125"/>
            <a:ext cx="10515600" cy="1325563"/>
          </a:xfrm>
        </p:spPr>
        <p:txBody>
          <a:body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07E3BECA-C6D7-9B59-B2D8-B5498502839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BFEBC386-EAF2-4EB0-D2AF-9924AEACE568}"/>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5" name="Marcador de texto 4">
            <a:extLst>
              <a:ext uri="{FF2B5EF4-FFF2-40B4-BE49-F238E27FC236}">
                <a16:creationId xmlns:a16="http://schemas.microsoft.com/office/drawing/2014/main" id="{E7E9616D-D5AD-EFDC-685C-B023B022C6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484B1DB8-FE74-ABD2-061B-C13E28209F63}"/>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7" name="Marcador de fecha 6">
            <a:extLst>
              <a:ext uri="{FF2B5EF4-FFF2-40B4-BE49-F238E27FC236}">
                <a16:creationId xmlns:a16="http://schemas.microsoft.com/office/drawing/2014/main" id="{D64D4CF1-C650-F83E-0DF7-CB9C7B802735}"/>
              </a:ext>
            </a:extLst>
          </p:cNvPr>
          <p:cNvSpPr>
            <a:spLocks noGrp="1"/>
          </p:cNvSpPr>
          <p:nvPr>
            <p:ph type="dt" sz="half" idx="10"/>
          </p:nvPr>
        </p:nvSpPr>
        <p:spPr>
          <a:xfrm>
            <a:off x="838200" y="6356350"/>
            <a:ext cx="2743200" cy="365125"/>
          </a:xfrm>
          <a:prstGeom prst="rect">
            <a:avLst/>
          </a:prstGeom>
        </p:spPr>
        <p:txBody>
          <a:bodyPr/>
          <a:lstStyle/>
          <a:p>
            <a:fld id="{E9956CE2-68F3-4FDF-91A2-02B2C3F4A038}" type="datetimeFigureOut">
              <a:rPr lang="es-CO" smtClean="0"/>
              <a:t>14/10/2026</a:t>
            </a:fld>
            <a:endParaRPr lang="es-CO"/>
          </a:p>
        </p:txBody>
      </p:sp>
      <p:sp>
        <p:nvSpPr>
          <p:cNvPr id="8" name="Marcador de pie de página 7">
            <a:extLst>
              <a:ext uri="{FF2B5EF4-FFF2-40B4-BE49-F238E27FC236}">
                <a16:creationId xmlns:a16="http://schemas.microsoft.com/office/drawing/2014/main" id="{A837D15F-9529-AE39-5CF8-252943B9C4B4}"/>
              </a:ext>
            </a:extLst>
          </p:cNvPr>
          <p:cNvSpPr>
            <a:spLocks noGrp="1"/>
          </p:cNvSpPr>
          <p:nvPr>
            <p:ph type="ftr" sz="quarter" idx="11"/>
          </p:nvPr>
        </p:nvSpPr>
        <p:spPr>
          <a:xfrm>
            <a:off x="4038600" y="6356350"/>
            <a:ext cx="4114800" cy="365125"/>
          </a:xfrm>
          <a:prstGeom prst="rect">
            <a:avLst/>
          </a:prstGeom>
        </p:spPr>
        <p:txBody>
          <a:bodyPr/>
          <a:lstStyle/>
          <a:p>
            <a:endParaRPr lang="es-CO"/>
          </a:p>
        </p:txBody>
      </p:sp>
      <p:sp>
        <p:nvSpPr>
          <p:cNvPr id="9" name="Marcador de número de diapositiva 8">
            <a:extLst>
              <a:ext uri="{FF2B5EF4-FFF2-40B4-BE49-F238E27FC236}">
                <a16:creationId xmlns:a16="http://schemas.microsoft.com/office/drawing/2014/main" id="{E9014F88-7564-0106-62BE-472A9D53DB9E}"/>
              </a:ext>
            </a:extLst>
          </p:cNvPr>
          <p:cNvSpPr>
            <a:spLocks noGrp="1"/>
          </p:cNvSpPr>
          <p:nvPr>
            <p:ph type="sldNum" sz="quarter" idx="12"/>
          </p:nvPr>
        </p:nvSpPr>
        <p:spPr>
          <a:xfrm>
            <a:off x="8610600" y="6356350"/>
            <a:ext cx="2743200" cy="365125"/>
          </a:xfrm>
          <a:prstGeom prst="rect">
            <a:avLst/>
          </a:prstGeom>
        </p:spPr>
        <p:txBody>
          <a:bodyPr/>
          <a:lstStyle/>
          <a:p>
            <a:fld id="{123B1916-2EB5-47BD-A195-BF4F3BBA6F21}" type="slidenum">
              <a:rPr lang="es-CO" smtClean="0"/>
              <a:t>‹#›</a:t>
            </a:fld>
            <a:endParaRPr lang="es-CO"/>
          </a:p>
        </p:txBody>
      </p:sp>
    </p:spTree>
    <p:extLst>
      <p:ext uri="{BB962C8B-B14F-4D97-AF65-F5344CB8AC3E}">
        <p14:creationId xmlns:p14="http://schemas.microsoft.com/office/powerpoint/2010/main" val="1588119872"/>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DDE389-47F2-DBF6-94C4-E2C9D3941538}"/>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6B5A308A-0E9E-8BA7-D4A2-0BFF0DBF3E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texto 3">
            <a:extLst>
              <a:ext uri="{FF2B5EF4-FFF2-40B4-BE49-F238E27FC236}">
                <a16:creationId xmlns:a16="http://schemas.microsoft.com/office/drawing/2014/main" id="{01E0EAEA-1863-8644-F703-E61907AF33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B5E6B31E-78D3-C456-E76D-69F49DE63459}"/>
              </a:ext>
            </a:extLst>
          </p:cNvPr>
          <p:cNvSpPr>
            <a:spLocks noGrp="1"/>
          </p:cNvSpPr>
          <p:nvPr>
            <p:ph type="dt" sz="half" idx="10"/>
          </p:nvPr>
        </p:nvSpPr>
        <p:spPr>
          <a:xfrm>
            <a:off x="838200" y="6356350"/>
            <a:ext cx="2743200" cy="365125"/>
          </a:xfrm>
          <a:prstGeom prst="rect">
            <a:avLst/>
          </a:prstGeom>
        </p:spPr>
        <p:txBody>
          <a:bodyPr/>
          <a:lstStyle/>
          <a:p>
            <a:fld id="{E9956CE2-68F3-4FDF-91A2-02B2C3F4A038}" type="datetimeFigureOut">
              <a:rPr lang="es-CO" smtClean="0"/>
              <a:t>14/10/2026</a:t>
            </a:fld>
            <a:endParaRPr lang="es-CO"/>
          </a:p>
        </p:txBody>
      </p:sp>
      <p:sp>
        <p:nvSpPr>
          <p:cNvPr id="6" name="Marcador de pie de página 5">
            <a:extLst>
              <a:ext uri="{FF2B5EF4-FFF2-40B4-BE49-F238E27FC236}">
                <a16:creationId xmlns:a16="http://schemas.microsoft.com/office/drawing/2014/main" id="{DADB3D04-6AA3-9165-EA65-EC1143F97437}"/>
              </a:ext>
            </a:extLst>
          </p:cNvPr>
          <p:cNvSpPr>
            <a:spLocks noGrp="1"/>
          </p:cNvSpPr>
          <p:nvPr>
            <p:ph type="ftr" sz="quarter" idx="11"/>
          </p:nvPr>
        </p:nvSpPr>
        <p:spPr>
          <a:xfrm>
            <a:off x="4038600" y="6356350"/>
            <a:ext cx="4114800" cy="365125"/>
          </a:xfrm>
          <a:prstGeom prst="rect">
            <a:avLst/>
          </a:prstGeom>
        </p:spPr>
        <p:txBody>
          <a:bodyPr/>
          <a:lstStyle/>
          <a:p>
            <a:endParaRPr lang="es-CO"/>
          </a:p>
        </p:txBody>
      </p:sp>
      <p:sp>
        <p:nvSpPr>
          <p:cNvPr id="7" name="Marcador de número de diapositiva 6">
            <a:extLst>
              <a:ext uri="{FF2B5EF4-FFF2-40B4-BE49-F238E27FC236}">
                <a16:creationId xmlns:a16="http://schemas.microsoft.com/office/drawing/2014/main" id="{CE953AAD-9B28-3D2E-4E30-18B49A404BB3}"/>
              </a:ext>
            </a:extLst>
          </p:cNvPr>
          <p:cNvSpPr>
            <a:spLocks noGrp="1"/>
          </p:cNvSpPr>
          <p:nvPr>
            <p:ph type="sldNum" sz="quarter" idx="12"/>
          </p:nvPr>
        </p:nvSpPr>
        <p:spPr>
          <a:xfrm>
            <a:off x="8610600" y="6356350"/>
            <a:ext cx="2743200" cy="365125"/>
          </a:xfrm>
          <a:prstGeom prst="rect">
            <a:avLst/>
          </a:prstGeom>
        </p:spPr>
        <p:txBody>
          <a:bodyPr/>
          <a:lstStyle/>
          <a:p>
            <a:fld id="{123B1916-2EB5-47BD-A195-BF4F3BBA6F21}" type="slidenum">
              <a:rPr lang="es-CO" smtClean="0"/>
              <a:t>‹#›</a:t>
            </a:fld>
            <a:endParaRPr lang="es-CO"/>
          </a:p>
        </p:txBody>
      </p:sp>
    </p:spTree>
    <p:extLst>
      <p:ext uri="{BB962C8B-B14F-4D97-AF65-F5344CB8AC3E}">
        <p14:creationId xmlns:p14="http://schemas.microsoft.com/office/powerpoint/2010/main" val="3923497767"/>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E226E4-F195-678A-5428-7C68FB9FD0CD}"/>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a:extLst>
              <a:ext uri="{FF2B5EF4-FFF2-40B4-BE49-F238E27FC236}">
                <a16:creationId xmlns:a16="http://schemas.microsoft.com/office/drawing/2014/main" id="{65AC02F1-9CFD-F870-3BEC-5C1BF300BD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4F6340AF-8F57-6151-8CEA-02D9A6CB24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E2D7F916-94B9-296E-7BB7-CC58F50DD322}"/>
              </a:ext>
            </a:extLst>
          </p:cNvPr>
          <p:cNvSpPr>
            <a:spLocks noGrp="1"/>
          </p:cNvSpPr>
          <p:nvPr>
            <p:ph type="dt" sz="half" idx="10"/>
          </p:nvPr>
        </p:nvSpPr>
        <p:spPr>
          <a:xfrm>
            <a:off x="838200" y="6356350"/>
            <a:ext cx="2743200" cy="365125"/>
          </a:xfrm>
          <a:prstGeom prst="rect">
            <a:avLst/>
          </a:prstGeom>
        </p:spPr>
        <p:txBody>
          <a:bodyPr/>
          <a:lstStyle/>
          <a:p>
            <a:fld id="{E9956CE2-68F3-4FDF-91A2-02B2C3F4A038}" type="datetimeFigureOut">
              <a:rPr lang="es-CO" smtClean="0"/>
              <a:t>14/10/2026</a:t>
            </a:fld>
            <a:endParaRPr lang="es-CO"/>
          </a:p>
        </p:txBody>
      </p:sp>
      <p:sp>
        <p:nvSpPr>
          <p:cNvPr id="6" name="Marcador de pie de página 5">
            <a:extLst>
              <a:ext uri="{FF2B5EF4-FFF2-40B4-BE49-F238E27FC236}">
                <a16:creationId xmlns:a16="http://schemas.microsoft.com/office/drawing/2014/main" id="{DCF73C2C-42A6-91A2-4EFC-8849462D7475}"/>
              </a:ext>
            </a:extLst>
          </p:cNvPr>
          <p:cNvSpPr>
            <a:spLocks noGrp="1"/>
          </p:cNvSpPr>
          <p:nvPr>
            <p:ph type="ftr" sz="quarter" idx="11"/>
          </p:nvPr>
        </p:nvSpPr>
        <p:spPr>
          <a:xfrm>
            <a:off x="4038600" y="6356350"/>
            <a:ext cx="4114800" cy="365125"/>
          </a:xfrm>
          <a:prstGeom prst="rect">
            <a:avLst/>
          </a:prstGeom>
        </p:spPr>
        <p:txBody>
          <a:bodyPr/>
          <a:lstStyle/>
          <a:p>
            <a:endParaRPr lang="es-CO"/>
          </a:p>
        </p:txBody>
      </p:sp>
      <p:sp>
        <p:nvSpPr>
          <p:cNvPr id="7" name="Marcador de número de diapositiva 6">
            <a:extLst>
              <a:ext uri="{FF2B5EF4-FFF2-40B4-BE49-F238E27FC236}">
                <a16:creationId xmlns:a16="http://schemas.microsoft.com/office/drawing/2014/main" id="{E25AF1D1-A3C0-D3C5-538B-9072F43B08B3}"/>
              </a:ext>
            </a:extLst>
          </p:cNvPr>
          <p:cNvSpPr>
            <a:spLocks noGrp="1"/>
          </p:cNvSpPr>
          <p:nvPr>
            <p:ph type="sldNum" sz="quarter" idx="12"/>
          </p:nvPr>
        </p:nvSpPr>
        <p:spPr>
          <a:xfrm>
            <a:off x="8610600" y="6356350"/>
            <a:ext cx="2743200" cy="365125"/>
          </a:xfrm>
          <a:prstGeom prst="rect">
            <a:avLst/>
          </a:prstGeom>
        </p:spPr>
        <p:txBody>
          <a:bodyPr/>
          <a:lstStyle/>
          <a:p>
            <a:fld id="{123B1916-2EB5-47BD-A195-BF4F3BBA6F21}" type="slidenum">
              <a:rPr lang="es-CO" smtClean="0"/>
              <a:t>‹#›</a:t>
            </a:fld>
            <a:endParaRPr lang="es-CO"/>
          </a:p>
        </p:txBody>
      </p:sp>
    </p:spTree>
    <p:extLst>
      <p:ext uri="{BB962C8B-B14F-4D97-AF65-F5344CB8AC3E}">
        <p14:creationId xmlns:p14="http://schemas.microsoft.com/office/powerpoint/2010/main" val="3902350798"/>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135EC1C-FDD1-EBDA-6B77-01F4E2CEC106}"/>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a:extLst>
              <a:ext uri="{FF2B5EF4-FFF2-40B4-BE49-F238E27FC236}">
                <a16:creationId xmlns:a16="http://schemas.microsoft.com/office/drawing/2014/main" id="{D1561843-B99A-EB87-6D68-BBA5A65A07E0}"/>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26269C68-AF3B-4CC9-1F12-0420134642B7}"/>
              </a:ext>
            </a:extLst>
          </p:cNvPr>
          <p:cNvSpPr>
            <a:spLocks noGrp="1"/>
          </p:cNvSpPr>
          <p:nvPr>
            <p:ph type="dt" sz="half" idx="10"/>
          </p:nvPr>
        </p:nvSpPr>
        <p:spPr>
          <a:xfrm>
            <a:off x="838200" y="6356350"/>
            <a:ext cx="2743200" cy="365125"/>
          </a:xfrm>
          <a:prstGeom prst="rect">
            <a:avLst/>
          </a:prstGeom>
        </p:spPr>
        <p:txBody>
          <a:bodyPr/>
          <a:lstStyle/>
          <a:p>
            <a:fld id="{E9956CE2-68F3-4FDF-91A2-02B2C3F4A038}" type="datetimeFigureOut">
              <a:rPr lang="es-CO" smtClean="0"/>
              <a:t>14/10/2026</a:t>
            </a:fld>
            <a:endParaRPr lang="es-CO"/>
          </a:p>
        </p:txBody>
      </p:sp>
      <p:sp>
        <p:nvSpPr>
          <p:cNvPr id="5" name="Marcador de pie de página 4">
            <a:extLst>
              <a:ext uri="{FF2B5EF4-FFF2-40B4-BE49-F238E27FC236}">
                <a16:creationId xmlns:a16="http://schemas.microsoft.com/office/drawing/2014/main" id="{F7FD3590-AD67-EDA5-3476-208267ED758F}"/>
              </a:ext>
            </a:extLst>
          </p:cNvPr>
          <p:cNvSpPr>
            <a:spLocks noGrp="1"/>
          </p:cNvSpPr>
          <p:nvPr>
            <p:ph type="ftr" sz="quarter" idx="11"/>
          </p:nvPr>
        </p:nvSpPr>
        <p:spPr>
          <a:xfrm>
            <a:off x="4038600" y="6356350"/>
            <a:ext cx="4114800" cy="365125"/>
          </a:xfrm>
          <a:prstGeom prst="rect">
            <a:avLst/>
          </a:prstGeom>
        </p:spPr>
        <p:txBody>
          <a:bodyPr/>
          <a:lstStyle/>
          <a:p>
            <a:endParaRPr lang="es-CO"/>
          </a:p>
        </p:txBody>
      </p:sp>
      <p:sp>
        <p:nvSpPr>
          <p:cNvPr id="6" name="Marcador de número de diapositiva 5">
            <a:extLst>
              <a:ext uri="{FF2B5EF4-FFF2-40B4-BE49-F238E27FC236}">
                <a16:creationId xmlns:a16="http://schemas.microsoft.com/office/drawing/2014/main" id="{7BED2982-6F49-811E-EB90-1F0E8788227C}"/>
              </a:ext>
            </a:extLst>
          </p:cNvPr>
          <p:cNvSpPr>
            <a:spLocks noGrp="1"/>
          </p:cNvSpPr>
          <p:nvPr>
            <p:ph type="sldNum" sz="quarter" idx="12"/>
          </p:nvPr>
        </p:nvSpPr>
        <p:spPr>
          <a:xfrm>
            <a:off x="8610600" y="6356350"/>
            <a:ext cx="2743200" cy="365125"/>
          </a:xfrm>
          <a:prstGeom prst="rect">
            <a:avLst/>
          </a:prstGeom>
        </p:spPr>
        <p:txBody>
          <a:bodyPr/>
          <a:lstStyle/>
          <a:p>
            <a:fld id="{123B1916-2EB5-47BD-A195-BF4F3BBA6F21}" type="slidenum">
              <a:rPr lang="es-CO" smtClean="0"/>
              <a:t>‹#›</a:t>
            </a:fld>
            <a:endParaRPr lang="es-CO"/>
          </a:p>
        </p:txBody>
      </p:sp>
    </p:spTree>
    <p:extLst>
      <p:ext uri="{BB962C8B-B14F-4D97-AF65-F5344CB8AC3E}">
        <p14:creationId xmlns:p14="http://schemas.microsoft.com/office/powerpoint/2010/main" val="2509575563"/>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603E14C5-FE2E-F864-2CDF-37F3F0E299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DBF2BF0C-1BA4-A801-598E-28BA85C7DD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Tree>
    <p:extLst>
      <p:ext uri="{BB962C8B-B14F-4D97-AF65-F5344CB8AC3E}">
        <p14:creationId xmlns:p14="http://schemas.microsoft.com/office/powerpoint/2010/main" val="3793203524"/>
      </p:ext>
    </p:extLst>
  </p:cSld>
  <p:clrMap bg1="lt1" tx1="dk1" bg2="lt2" tx2="dk2" accent1="accent1" accent2="accent2" accent3="accent3" accent4="accent4" accent5="accent5" accent6="accent6" hlink="hlink" folHlink="folHlink"/>
  <p:sldLayoutIdLst>
    <p:sldLayoutId id="2147483658" r:id="rId1"/>
    <p:sldLayoutId id="2147483649" r:id="rId2"/>
    <p:sldLayoutId id="2147483655" r:id="rId3"/>
    <p:sldLayoutId id="2147483651" r:id="rId4"/>
    <p:sldLayoutId id="2147483650" r:id="rId5"/>
    <p:sldLayoutId id="2147483654" r:id="rId6"/>
    <p:sldLayoutId id="2147483652" r:id="rId7"/>
    <p:sldLayoutId id="2147483653" r:id="rId8"/>
    <p:sldLayoutId id="2147483656" r:id="rId9"/>
    <p:sldLayoutId id="2147483657" r:id="rId10"/>
    <p:sldLayoutId id="2147483659" r:id="rId11"/>
  </p:sldLayoutIdLst>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chart" Target="../charts/chart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chart" Target="../charts/chart3.xml"/><Relationship Id="rId1" Type="http://schemas.openxmlformats.org/officeDocument/2006/relationships/slideLayout" Target="../slideLayouts/slideLayout2.xml"/><Relationship Id="rId4" Type="http://schemas.openxmlformats.org/officeDocument/2006/relationships/image" Target="../media/image22.emf"/></Relationships>
</file>

<file path=ppt/slides/_rels/slide6.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chart" Target="../charts/chart13.xml"/><Relationship Id="rId5" Type="http://schemas.openxmlformats.org/officeDocument/2006/relationships/chart" Target="../charts/chart12.xml"/><Relationship Id="rId4" Type="http://schemas.openxmlformats.org/officeDocument/2006/relationships/chart" Target="../charts/chart11.xml"/></Relationships>
</file>

<file path=ppt/slides/_rels/slide12.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chart" Target="../charts/chart14.xml"/><Relationship Id="rId1" Type="http://schemas.openxmlformats.org/officeDocument/2006/relationships/slideLayout" Target="../slideLayouts/slideLayout2.xml"/><Relationship Id="rId5" Type="http://schemas.openxmlformats.org/officeDocument/2006/relationships/chart" Target="../charts/chart17.xml"/><Relationship Id="rId4" Type="http://schemas.openxmlformats.org/officeDocument/2006/relationships/chart" Target="../charts/chart1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chart" Target="../charts/chart1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chart" Target="../charts/chart20.xml"/><Relationship Id="rId1" Type="http://schemas.openxmlformats.org/officeDocument/2006/relationships/slideLayout" Target="../slideLayouts/slideLayout2.xml"/><Relationship Id="rId5" Type="http://schemas.openxmlformats.org/officeDocument/2006/relationships/chart" Target="../charts/chart23.xml"/><Relationship Id="rId4" Type="http://schemas.openxmlformats.org/officeDocument/2006/relationships/chart" Target="../charts/chart22.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hart" Target="../charts/chart24.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chart" Target="../charts/chart26.xml"/><Relationship Id="rId2" Type="http://schemas.openxmlformats.org/officeDocument/2006/relationships/chart" Target="../charts/chart2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chart" Target="../charts/chart27.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chart" Target="../charts/chart2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chart" Target="../charts/chart30.xml"/><Relationship Id="rId2" Type="http://schemas.openxmlformats.org/officeDocument/2006/relationships/chart" Target="../charts/chart29.xml"/><Relationship Id="rId1" Type="http://schemas.openxmlformats.org/officeDocument/2006/relationships/slideLayout" Target="../slideLayouts/slideLayout2.xml"/><Relationship Id="rId6" Type="http://schemas.openxmlformats.org/officeDocument/2006/relationships/chart" Target="../charts/chart33.xml"/><Relationship Id="rId5" Type="http://schemas.openxmlformats.org/officeDocument/2006/relationships/chart" Target="../charts/chart32.xml"/><Relationship Id="rId4" Type="http://schemas.openxmlformats.org/officeDocument/2006/relationships/chart" Target="../charts/chart31.xml"/></Relationships>
</file>

<file path=ppt/slides/_rels/slide30.xml.rels><?xml version="1.0" encoding="UTF-8" standalone="yes"?>
<Relationships xmlns="http://schemas.openxmlformats.org/package/2006/relationships"><Relationship Id="rId3" Type="http://schemas.openxmlformats.org/officeDocument/2006/relationships/chart" Target="../charts/chart35.xml"/><Relationship Id="rId7" Type="http://schemas.openxmlformats.org/officeDocument/2006/relationships/chart" Target="../charts/chart39.xml"/><Relationship Id="rId2" Type="http://schemas.openxmlformats.org/officeDocument/2006/relationships/chart" Target="../charts/chart34.xml"/><Relationship Id="rId1" Type="http://schemas.openxmlformats.org/officeDocument/2006/relationships/slideLayout" Target="../slideLayouts/slideLayout2.xml"/><Relationship Id="rId6" Type="http://schemas.openxmlformats.org/officeDocument/2006/relationships/chart" Target="../charts/chart38.xml"/><Relationship Id="rId5" Type="http://schemas.openxmlformats.org/officeDocument/2006/relationships/chart" Target="../charts/chart37.xml"/><Relationship Id="rId4" Type="http://schemas.openxmlformats.org/officeDocument/2006/relationships/chart" Target="../charts/chart3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chart" Target="../charts/chart41.xml"/><Relationship Id="rId2" Type="http://schemas.openxmlformats.org/officeDocument/2006/relationships/chart" Target="../charts/chart40.xml"/><Relationship Id="rId1" Type="http://schemas.openxmlformats.org/officeDocument/2006/relationships/slideLayout" Target="../slideLayouts/slideLayout2.xml"/><Relationship Id="rId6" Type="http://schemas.openxmlformats.org/officeDocument/2006/relationships/chart" Target="../charts/chart44.xml"/><Relationship Id="rId5" Type="http://schemas.openxmlformats.org/officeDocument/2006/relationships/chart" Target="../charts/chart43.xml"/><Relationship Id="rId4" Type="http://schemas.openxmlformats.org/officeDocument/2006/relationships/chart" Target="../charts/chart4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chart" Target="../charts/chart4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7.xml.rels><?xml version="1.0" encoding="UTF-8" standalone="yes"?>
<Relationships xmlns="http://schemas.openxmlformats.org/package/2006/relationships"><Relationship Id="rId2" Type="http://schemas.openxmlformats.org/officeDocument/2006/relationships/chart" Target="../charts/chart4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chart" Target="../charts/chart4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chart" Target="../charts/chart48.xm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chart" Target="../charts/chart49.xml"/></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chart" Target="../charts/chart5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chart" Target="../charts/chart52.xml"/><Relationship Id="rId2" Type="http://schemas.openxmlformats.org/officeDocument/2006/relationships/chart" Target="../charts/chart5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chart" Target="../charts/chart54.xml"/><Relationship Id="rId2" Type="http://schemas.openxmlformats.org/officeDocument/2006/relationships/chart" Target="../charts/chart5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chart" Target="../charts/chart55.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chart" Target="../charts/chart58.xml"/><Relationship Id="rId5" Type="http://schemas.openxmlformats.org/officeDocument/2006/relationships/chart" Target="../charts/chart57.xml"/><Relationship Id="rId4" Type="http://schemas.openxmlformats.org/officeDocument/2006/relationships/chart" Target="../charts/chart56.xml"/></Relationships>
</file>

<file path=ppt/slides/_rels/slide46.xml.rels><?xml version="1.0" encoding="UTF-8" standalone="yes"?>
<Relationships xmlns="http://schemas.openxmlformats.org/package/2006/relationships"><Relationship Id="rId3" Type="http://schemas.openxmlformats.org/officeDocument/2006/relationships/chart" Target="../charts/chart60.xml"/><Relationship Id="rId2" Type="http://schemas.openxmlformats.org/officeDocument/2006/relationships/chart" Target="../charts/chart59.xml"/><Relationship Id="rId1" Type="http://schemas.openxmlformats.org/officeDocument/2006/relationships/slideLayout" Target="../slideLayouts/slideLayout2.xml"/><Relationship Id="rId5" Type="http://schemas.openxmlformats.org/officeDocument/2006/relationships/chart" Target="../charts/chart62.xml"/><Relationship Id="rId4" Type="http://schemas.openxmlformats.org/officeDocument/2006/relationships/chart" Target="../charts/chart61.xml"/></Relationships>
</file>

<file path=ppt/slides/_rels/slide47.xml.rels><?xml version="1.0" encoding="UTF-8" standalone="yes"?>
<Relationships xmlns="http://schemas.openxmlformats.org/package/2006/relationships"><Relationship Id="rId3" Type="http://schemas.openxmlformats.org/officeDocument/2006/relationships/chart" Target="../charts/chart63.xm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chart" Target="../charts/chart64.xm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chart" Target="../charts/chart66.xml"/><Relationship Id="rId2" Type="http://schemas.openxmlformats.org/officeDocument/2006/relationships/chart" Target="../charts/chart65.xml"/><Relationship Id="rId1" Type="http://schemas.openxmlformats.org/officeDocument/2006/relationships/slideLayout" Target="../slideLayouts/slideLayout3.xml"/><Relationship Id="rId5" Type="http://schemas.openxmlformats.org/officeDocument/2006/relationships/chart" Target="../charts/chart68.xml"/><Relationship Id="rId4" Type="http://schemas.openxmlformats.org/officeDocument/2006/relationships/chart" Target="../charts/chart67.xml"/></Relationships>
</file>

<file path=ppt/slides/_rels/slide52.xml.rels><?xml version="1.0" encoding="UTF-8" standalone="yes"?>
<Relationships xmlns="http://schemas.openxmlformats.org/package/2006/relationships"><Relationship Id="rId2" Type="http://schemas.openxmlformats.org/officeDocument/2006/relationships/chart" Target="../charts/chart69.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chart" Target="../charts/chart71.xml"/><Relationship Id="rId2" Type="http://schemas.openxmlformats.org/officeDocument/2006/relationships/chart" Target="../charts/chart70.xml"/><Relationship Id="rId1" Type="http://schemas.openxmlformats.org/officeDocument/2006/relationships/slideLayout" Target="../slideLayouts/slideLayout2.xml"/><Relationship Id="rId4" Type="http://schemas.openxmlformats.org/officeDocument/2006/relationships/chart" Target="../charts/chart7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chart" Target="../charts/chart73.xm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8" Type="http://schemas.openxmlformats.org/officeDocument/2006/relationships/chart" Target="../charts/chart74.xml"/><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8.xml.rels><?xml version="1.0" encoding="UTF-8" standalone="yes"?>
<Relationships xmlns="http://schemas.openxmlformats.org/package/2006/relationships"><Relationship Id="rId3" Type="http://schemas.openxmlformats.org/officeDocument/2006/relationships/chart" Target="../charts/chart75.xm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chart" Target="../charts/chart7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chart" Target="../charts/chart78.xml"/><Relationship Id="rId2" Type="http://schemas.openxmlformats.org/officeDocument/2006/relationships/chart" Target="../charts/chart7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chart" Target="../charts/chart80.xml"/><Relationship Id="rId2" Type="http://schemas.openxmlformats.org/officeDocument/2006/relationships/chart" Target="../charts/chart7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chart" Target="../charts/chart81.xml"/><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chart" Target="../charts/chart83.xml"/><Relationship Id="rId4" Type="http://schemas.openxmlformats.org/officeDocument/2006/relationships/chart" Target="../charts/chart82.xml"/></Relationships>
</file>

<file path=ppt/slides/_rels/slide63.xml.rels><?xml version="1.0" encoding="UTF-8" standalone="yes"?>
<Relationships xmlns="http://schemas.openxmlformats.org/package/2006/relationships"><Relationship Id="rId3" Type="http://schemas.openxmlformats.org/officeDocument/2006/relationships/chart" Target="../charts/chart85.xml"/><Relationship Id="rId2" Type="http://schemas.openxmlformats.org/officeDocument/2006/relationships/chart" Target="../charts/chart84.xml"/><Relationship Id="rId1" Type="http://schemas.openxmlformats.org/officeDocument/2006/relationships/slideLayout" Target="../slideLayouts/slideLayout2.xml"/><Relationship Id="rId5" Type="http://schemas.openxmlformats.org/officeDocument/2006/relationships/chart" Target="../charts/chart87.xml"/><Relationship Id="rId4" Type="http://schemas.openxmlformats.org/officeDocument/2006/relationships/chart" Target="../charts/chart86.xml"/></Relationships>
</file>

<file path=ppt/slides/_rels/slide64.xml.rels><?xml version="1.0" encoding="UTF-8" standalone="yes"?>
<Relationships xmlns="http://schemas.openxmlformats.org/package/2006/relationships"><Relationship Id="rId3" Type="http://schemas.openxmlformats.org/officeDocument/2006/relationships/chart" Target="../charts/chart88.xm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chart" Target="../charts/chart89.xml"/><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chart" Target="../charts/chart90.xml"/><Relationship Id="rId2" Type="http://schemas.openxmlformats.org/officeDocument/2006/relationships/notesSlide" Target="../notesSlides/notesSlide26.xml"/><Relationship Id="rId1" Type="http://schemas.openxmlformats.org/officeDocument/2006/relationships/slideLayout" Target="../slideLayouts/slideLayout3.xml"/><Relationship Id="rId6" Type="http://schemas.openxmlformats.org/officeDocument/2006/relationships/chart" Target="../charts/chart93.xml"/><Relationship Id="rId5" Type="http://schemas.openxmlformats.org/officeDocument/2006/relationships/chart" Target="../charts/chart92.xml"/><Relationship Id="rId4" Type="http://schemas.openxmlformats.org/officeDocument/2006/relationships/chart" Target="../charts/chart91.xml"/></Relationships>
</file>

<file path=ppt/slides/_rels/slide69.xml.rels><?xml version="1.0" encoding="UTF-8" standalone="yes"?>
<Relationships xmlns="http://schemas.openxmlformats.org/package/2006/relationships"><Relationship Id="rId2" Type="http://schemas.openxmlformats.org/officeDocument/2006/relationships/chart" Target="../charts/chart94.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chart" Target="../charts/chart96.xml"/><Relationship Id="rId2" Type="http://schemas.openxmlformats.org/officeDocument/2006/relationships/chart" Target="../charts/chart95.xml"/><Relationship Id="rId1" Type="http://schemas.openxmlformats.org/officeDocument/2006/relationships/slideLayout" Target="../slideLayouts/slideLayout2.xml"/><Relationship Id="rId4" Type="http://schemas.openxmlformats.org/officeDocument/2006/relationships/chart" Target="../charts/chart9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3" Type="http://schemas.openxmlformats.org/officeDocument/2006/relationships/chart" Target="../charts/chart98.xml"/><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8" Type="http://schemas.openxmlformats.org/officeDocument/2006/relationships/chart" Target="../charts/chart99.xml"/><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5.xml.rels><?xml version="1.0" encoding="UTF-8" standalone="yes"?>
<Relationships xmlns="http://schemas.openxmlformats.org/package/2006/relationships"><Relationship Id="rId3" Type="http://schemas.openxmlformats.org/officeDocument/2006/relationships/chart" Target="../charts/chart101.xml"/><Relationship Id="rId2" Type="http://schemas.openxmlformats.org/officeDocument/2006/relationships/chart" Target="../charts/chart100.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chart" Target="../charts/chart102.xm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chart" Target="../charts/chart104.xml"/><Relationship Id="rId2" Type="http://schemas.openxmlformats.org/officeDocument/2006/relationships/chart" Target="../charts/chart103.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chart" Target="../charts/chart105.xml"/><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chart" Target="../charts/chart106.xm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chart" Target="../charts/chart109.xml"/><Relationship Id="rId5" Type="http://schemas.openxmlformats.org/officeDocument/2006/relationships/chart" Target="../charts/chart108.xml"/><Relationship Id="rId4" Type="http://schemas.openxmlformats.org/officeDocument/2006/relationships/chart" Target="../charts/chart107.xml"/></Relationships>
</file>

<file path=ppt/slides/_rels/slide81.xml.rels><?xml version="1.0" encoding="UTF-8" standalone="yes"?>
<Relationships xmlns="http://schemas.openxmlformats.org/package/2006/relationships"><Relationship Id="rId3" Type="http://schemas.openxmlformats.org/officeDocument/2006/relationships/chart" Target="../charts/chart111.xml"/><Relationship Id="rId2" Type="http://schemas.openxmlformats.org/officeDocument/2006/relationships/chart" Target="../charts/chart110.xml"/><Relationship Id="rId1" Type="http://schemas.openxmlformats.org/officeDocument/2006/relationships/slideLayout" Target="../slideLayouts/slideLayout2.xml"/><Relationship Id="rId5" Type="http://schemas.openxmlformats.org/officeDocument/2006/relationships/chart" Target="../charts/chart113.xml"/><Relationship Id="rId4" Type="http://schemas.openxmlformats.org/officeDocument/2006/relationships/chart" Target="../charts/chart11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84.xml.rels><?xml version="1.0" encoding="UTF-8" standalone="yes"?>
<Relationships xmlns="http://schemas.openxmlformats.org/package/2006/relationships"><Relationship Id="rId2" Type="http://schemas.openxmlformats.org/officeDocument/2006/relationships/chart" Target="../charts/chart11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chart" Target="../charts/chart115.xml"/><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3" Type="http://schemas.openxmlformats.org/officeDocument/2006/relationships/chart" Target="../charts/chart117.xml"/><Relationship Id="rId2" Type="http://schemas.openxmlformats.org/officeDocument/2006/relationships/chart" Target="../charts/chart116.xml"/><Relationship Id="rId1" Type="http://schemas.openxmlformats.org/officeDocument/2006/relationships/slideLayout" Target="../slideLayouts/slideLayout3.xml"/><Relationship Id="rId5" Type="http://schemas.openxmlformats.org/officeDocument/2006/relationships/chart" Target="../charts/chart119.xml"/><Relationship Id="rId4" Type="http://schemas.openxmlformats.org/officeDocument/2006/relationships/chart" Target="../charts/chart118.xml"/></Relationships>
</file>

<file path=ppt/slides/_rels/slide87.xml.rels><?xml version="1.0" encoding="UTF-8" standalone="yes"?>
<Relationships xmlns="http://schemas.openxmlformats.org/package/2006/relationships"><Relationship Id="rId2" Type="http://schemas.openxmlformats.org/officeDocument/2006/relationships/chart" Target="../charts/chart120.xml"/><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chart" Target="../charts/chart122.xml"/><Relationship Id="rId2" Type="http://schemas.openxmlformats.org/officeDocument/2006/relationships/chart" Target="../charts/chart121.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chart" Target="../charts/chart124.xml"/><Relationship Id="rId2" Type="http://schemas.openxmlformats.org/officeDocument/2006/relationships/chart" Target="../charts/chart123.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3" Type="http://schemas.openxmlformats.org/officeDocument/2006/relationships/chart" Target="../charts/chart125.xml"/><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chart" Target="../charts/chart126.xml"/><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chart" Target="../charts/chart127.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chart" Target="../charts/chart128.xml"/><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1.emf"/></Relationships>
</file>

<file path=ppt/slides/_rels/slide97.xml.rels><?xml version="1.0" encoding="UTF-8" standalone="yes"?>
<Relationships xmlns="http://schemas.openxmlformats.org/package/2006/relationships"><Relationship Id="rId3" Type="http://schemas.openxmlformats.org/officeDocument/2006/relationships/chart" Target="../charts/chart130.xml"/><Relationship Id="rId2" Type="http://schemas.openxmlformats.org/officeDocument/2006/relationships/chart" Target="../charts/chart129.xml"/><Relationship Id="rId1" Type="http://schemas.openxmlformats.org/officeDocument/2006/relationships/slideLayout" Target="../slideLayouts/slideLayout2.xml"/><Relationship Id="rId5" Type="http://schemas.openxmlformats.org/officeDocument/2006/relationships/chart" Target="../charts/chart132.xml"/><Relationship Id="rId4" Type="http://schemas.openxmlformats.org/officeDocument/2006/relationships/chart" Target="../charts/chart131.xml"/></Relationships>
</file>

<file path=ppt/slides/_rels/slide98.xml.rels><?xml version="1.0" encoding="UTF-8" standalone="yes"?>
<Relationships xmlns="http://schemas.openxmlformats.org/package/2006/relationships"><Relationship Id="rId2" Type="http://schemas.openxmlformats.org/officeDocument/2006/relationships/chart" Target="../charts/chart133.xml"/><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3" Type="http://schemas.openxmlformats.org/officeDocument/2006/relationships/chart" Target="../charts/chart135.xml"/><Relationship Id="rId2" Type="http://schemas.openxmlformats.org/officeDocument/2006/relationships/chart" Target="../charts/chart134.xml"/><Relationship Id="rId1" Type="http://schemas.openxmlformats.org/officeDocument/2006/relationships/slideLayout" Target="../slideLayouts/slideLayout3.xml"/><Relationship Id="rId5" Type="http://schemas.openxmlformats.org/officeDocument/2006/relationships/chart" Target="../charts/chart137.xml"/><Relationship Id="rId4" Type="http://schemas.openxmlformats.org/officeDocument/2006/relationships/chart" Target="../charts/chart136.xml"/></Relationships>
</file>

<file path=ppt/slides/_rels/slide100.xml.rels><?xml version="1.0" encoding="UTF-8" standalone="yes"?>
<Relationships xmlns="http://schemas.openxmlformats.org/package/2006/relationships"><Relationship Id="rId2" Type="http://schemas.openxmlformats.org/officeDocument/2006/relationships/chart" Target="../charts/chart138.xml"/><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chart" Target="../charts/chart139.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3" Type="http://schemas.openxmlformats.org/officeDocument/2006/relationships/chart" Target="../charts/chart140.xml"/><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8" Type="http://schemas.openxmlformats.org/officeDocument/2006/relationships/chart" Target="../charts/chart141.xml"/><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06.xml.rels><?xml version="1.0" encoding="UTF-8" standalone="yes"?>
<Relationships xmlns="http://schemas.openxmlformats.org/package/2006/relationships"><Relationship Id="rId2" Type="http://schemas.openxmlformats.org/officeDocument/2006/relationships/chart" Target="../charts/chart142.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chart" Target="../charts/chart143.xml"/><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32.emf"/></Relationships>
</file>

<file path=ppt/slides/_rels/slide108.xml.rels><?xml version="1.0" encoding="UTF-8" standalone="yes"?>
<Relationships xmlns="http://schemas.openxmlformats.org/package/2006/relationships"><Relationship Id="rId3" Type="http://schemas.openxmlformats.org/officeDocument/2006/relationships/chart" Target="../charts/chart144.xml"/><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chart" Target="../charts/chart147.xml"/><Relationship Id="rId5" Type="http://schemas.openxmlformats.org/officeDocument/2006/relationships/chart" Target="../charts/chart146.xml"/><Relationship Id="rId4" Type="http://schemas.openxmlformats.org/officeDocument/2006/relationships/chart" Target="../charts/chart145.xml"/></Relationships>
</file>

<file path=ppt/slides/_rels/slide109.xml.rels><?xml version="1.0" encoding="UTF-8" standalone="yes"?>
<Relationships xmlns="http://schemas.openxmlformats.org/package/2006/relationships"><Relationship Id="rId3" Type="http://schemas.openxmlformats.org/officeDocument/2006/relationships/chart" Target="../charts/chart149.xml"/><Relationship Id="rId2" Type="http://schemas.openxmlformats.org/officeDocument/2006/relationships/chart" Target="../charts/chart148.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chart" Target="../charts/chart150.xml"/><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3" Type="http://schemas.openxmlformats.org/officeDocument/2006/relationships/chart" Target="../charts/chart152.xml"/><Relationship Id="rId2" Type="http://schemas.openxmlformats.org/officeDocument/2006/relationships/chart" Target="../charts/chart151.xml"/><Relationship Id="rId1" Type="http://schemas.openxmlformats.org/officeDocument/2006/relationships/slideLayout" Target="../slideLayouts/slideLayout3.xml"/><Relationship Id="rId5" Type="http://schemas.openxmlformats.org/officeDocument/2006/relationships/chart" Target="../charts/chart154.xml"/><Relationship Id="rId4" Type="http://schemas.openxmlformats.org/officeDocument/2006/relationships/chart" Target="../charts/chart153.xml"/></Relationships>
</file>

<file path=ppt/slides/_rels/slide112.xml.rels><?xml version="1.0" encoding="UTF-8" standalone="yes"?>
<Relationships xmlns="http://schemas.openxmlformats.org/package/2006/relationships"><Relationship Id="rId2" Type="http://schemas.openxmlformats.org/officeDocument/2006/relationships/chart" Target="../charts/chart155.xml"/><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chart" Target="../charts/chart156.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D70C5E-66EA-CDD3-8E53-BDC24BBE977A}"/>
              </a:ext>
            </a:extLst>
          </p:cNvPr>
          <p:cNvSpPr>
            <a:spLocks noGrp="1"/>
          </p:cNvSpPr>
          <p:nvPr>
            <p:ph type="title"/>
          </p:nvPr>
        </p:nvSpPr>
        <p:spPr>
          <a:xfrm>
            <a:off x="354067" y="1870103"/>
            <a:ext cx="5767952" cy="1558897"/>
          </a:xfrm>
        </p:spPr>
        <p:txBody>
          <a:bodyPr>
            <a:normAutofit/>
          </a:bodyPr>
          <a:lstStyle/>
          <a:p>
            <a:r>
              <a:rPr lang="es-CO" noProof="0"/>
              <a:t>Junta Directiva</a:t>
            </a:r>
            <a:br>
              <a:rPr lang="es-CO" noProof="0"/>
            </a:br>
            <a:r>
              <a:rPr lang="es-CO" sz="2000" b="0" noProof="0"/>
              <a:t>Septiembre 2026</a:t>
            </a:r>
            <a:endParaRPr lang="es-CO" b="0" noProof="0"/>
          </a:p>
        </p:txBody>
      </p:sp>
      <p:sp>
        <p:nvSpPr>
          <p:cNvPr id="3" name="Marcador de texto 2">
            <a:extLst>
              <a:ext uri="{FF2B5EF4-FFF2-40B4-BE49-F238E27FC236}">
                <a16:creationId xmlns:a16="http://schemas.microsoft.com/office/drawing/2014/main" id="{4BF48AFD-1AA3-94E7-EA57-97F523AA69FA}"/>
              </a:ext>
            </a:extLst>
          </p:cNvPr>
          <p:cNvSpPr>
            <a:spLocks noGrp="1"/>
          </p:cNvSpPr>
          <p:nvPr>
            <p:ph type="body" idx="1"/>
          </p:nvPr>
        </p:nvSpPr>
        <p:spPr>
          <a:xfrm>
            <a:off x="970550" y="3600162"/>
            <a:ext cx="4139873" cy="1988219"/>
          </a:xfrm>
        </p:spPr>
        <p:txBody>
          <a:bodyPr vert="horz" lIns="91440" tIns="45720" rIns="91440" bIns="45720" rtlCol="0" anchor="t">
            <a:normAutofit/>
          </a:bodyPr>
          <a:lstStyle/>
          <a:p>
            <a:pPr>
              <a:lnSpc>
                <a:spcPct val="20000"/>
              </a:lnSpc>
            </a:pPr>
            <a:endParaRPr lang="es-CO" noProof="0"/>
          </a:p>
          <a:p>
            <a:pPr>
              <a:lnSpc>
                <a:spcPct val="20000"/>
              </a:lnSpc>
            </a:pPr>
            <a:endParaRPr lang="es-CO" sz="1700" b="1" noProof="0"/>
          </a:p>
          <a:p>
            <a:pPr>
              <a:lnSpc>
                <a:spcPct val="20000"/>
              </a:lnSpc>
            </a:pPr>
            <a:r>
              <a:rPr lang="es-CO" sz="1700" b="1" noProof="0"/>
              <a:t>Dra. Alejandra Sabogal Ortiz </a:t>
            </a:r>
          </a:p>
          <a:p>
            <a:pPr>
              <a:lnSpc>
                <a:spcPct val="20000"/>
              </a:lnSpc>
            </a:pPr>
            <a:r>
              <a:rPr lang="es-CO" sz="1300" noProof="0"/>
              <a:t>Directora Médica Nacional</a:t>
            </a:r>
          </a:p>
        </p:txBody>
      </p:sp>
    </p:spTree>
    <p:extLst>
      <p:ext uri="{BB962C8B-B14F-4D97-AF65-F5344CB8AC3E}">
        <p14:creationId xmlns:p14="http://schemas.microsoft.com/office/powerpoint/2010/main" val="2798705140"/>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3E0B2-F3E8-FF2C-9322-00A89F56145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456CCC7-3F26-CBC7-9364-02596553C7D7}"/>
              </a:ext>
            </a:extLst>
          </p:cNvPr>
          <p:cNvSpPr>
            <a:spLocks noGrp="1"/>
          </p:cNvSpPr>
          <p:nvPr>
            <p:ph type="title"/>
          </p:nvPr>
        </p:nvSpPr>
        <p:spPr>
          <a:xfrm>
            <a:off x="1261946" y="2553629"/>
            <a:ext cx="7933709" cy="1269561"/>
          </a:xfrm>
        </p:spPr>
        <p:txBody>
          <a:bodyPr>
            <a:normAutofit/>
          </a:bodyPr>
          <a:lstStyle/>
          <a:p>
            <a:r>
              <a:rPr lang="es-CO" sz="8000" b="1" noProof="0"/>
              <a:t>Gestión Clínica</a:t>
            </a:r>
          </a:p>
        </p:txBody>
      </p:sp>
      <p:sp>
        <p:nvSpPr>
          <p:cNvPr id="3" name="Marcador de texto 2">
            <a:extLst>
              <a:ext uri="{FF2B5EF4-FFF2-40B4-BE49-F238E27FC236}">
                <a16:creationId xmlns:a16="http://schemas.microsoft.com/office/drawing/2014/main" id="{84F580A7-537C-B60F-590D-5317CE7809DC}"/>
              </a:ext>
            </a:extLst>
          </p:cNvPr>
          <p:cNvSpPr>
            <a:spLocks noGrp="1"/>
          </p:cNvSpPr>
          <p:nvPr>
            <p:ph type="body" idx="1"/>
          </p:nvPr>
        </p:nvSpPr>
        <p:spPr>
          <a:xfrm>
            <a:off x="1261946" y="3823957"/>
            <a:ext cx="4253578" cy="491566"/>
          </a:xfrm>
        </p:spPr>
        <p:txBody>
          <a:bodyPr vert="horz" lIns="91440" tIns="45720" rIns="91440" bIns="45720" rtlCol="0" anchor="t">
            <a:normAutofit/>
          </a:bodyPr>
          <a:lstStyle/>
          <a:p>
            <a:r>
              <a:rPr lang="es-CO" b="1" noProof="0"/>
              <a:t>Dirección Médica Nacional</a:t>
            </a:r>
          </a:p>
        </p:txBody>
      </p:sp>
      <p:sp>
        <p:nvSpPr>
          <p:cNvPr id="5" name="CuadroTexto 4">
            <a:extLst>
              <a:ext uri="{FF2B5EF4-FFF2-40B4-BE49-F238E27FC236}">
                <a16:creationId xmlns:a16="http://schemas.microsoft.com/office/drawing/2014/main" id="{3C7BE6DC-1236-858F-602D-CFA5DE52D565}"/>
              </a:ext>
            </a:extLst>
          </p:cNvPr>
          <p:cNvSpPr txBox="1"/>
          <p:nvPr/>
        </p:nvSpPr>
        <p:spPr>
          <a:xfrm>
            <a:off x="1369003" y="4315523"/>
            <a:ext cx="5307475" cy="461665"/>
          </a:xfrm>
          <a:prstGeom prst="rect">
            <a:avLst/>
          </a:prstGeom>
          <a:noFill/>
        </p:spPr>
        <p:txBody>
          <a:bodyPr wrap="square" lIns="91440" tIns="45720" rIns="91440" bIns="45720" anchor="t">
            <a:spAutoFit/>
          </a:bodyPr>
          <a:lstStyle/>
          <a:p>
            <a:r>
              <a:rPr lang="es-CO" sz="2400" noProof="0">
                <a:ea typeface="+mj-ea"/>
                <a:cs typeface="+mj-cs"/>
              </a:rPr>
              <a:t>Septiembre 2026</a:t>
            </a:r>
          </a:p>
        </p:txBody>
      </p:sp>
    </p:spTree>
    <p:extLst>
      <p:ext uri="{BB962C8B-B14F-4D97-AF65-F5344CB8AC3E}">
        <p14:creationId xmlns:p14="http://schemas.microsoft.com/office/powerpoint/2010/main" val="2905711765"/>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38C1E5-29D1-FA4A-A8E3-023ABC381466}"/>
              </a:ext>
            </a:extLst>
          </p:cNvPr>
          <p:cNvSpPr>
            <a:spLocks noGrp="1"/>
          </p:cNvSpPr>
          <p:nvPr>
            <p:ph type="ctrTitle"/>
          </p:nvPr>
        </p:nvSpPr>
        <p:spPr>
          <a:xfrm>
            <a:off x="273120" y="26883"/>
            <a:ext cx="11645759" cy="482784"/>
          </a:xfrm>
        </p:spPr>
        <p:txBody>
          <a:bodyPr>
            <a:normAutofit fontScale="90000"/>
          </a:bodyPr>
          <a:lstStyle/>
          <a:p>
            <a:r>
              <a:rPr lang="es-CO" sz="3200" noProof="0"/>
              <a:t>Historia de población</a:t>
            </a:r>
          </a:p>
        </p:txBody>
      </p:sp>
      <p:graphicFrame>
        <p:nvGraphicFramePr>
          <p:cNvPr id="5" name="Gráfico 4">
            <a:extLst>
              <a:ext uri="{FF2B5EF4-FFF2-40B4-BE49-F238E27FC236}">
                <a16:creationId xmlns:a16="http://schemas.microsoft.com/office/drawing/2014/main" id="{367A8FA5-EDED-C4D5-FC03-7BB7F8B39337}"/>
              </a:ext>
            </a:extLst>
          </p:cNvPr>
          <p:cNvGraphicFramePr/>
          <p:nvPr>
            <p:extLst>
              <p:ext uri="{D42A27DB-BD31-4B8C-83A1-F6EECF244321}">
                <p14:modId xmlns:p14="http://schemas.microsoft.com/office/powerpoint/2010/main" val="1594525667"/>
              </p:ext>
            </p:extLst>
          </p:nvPr>
        </p:nvGraphicFramePr>
        <p:xfrm>
          <a:off x="705755" y="1827999"/>
          <a:ext cx="11213124" cy="2893193"/>
        </p:xfrm>
        <a:graphic>
          <a:graphicData uri="http://schemas.openxmlformats.org/drawingml/2006/chart">
            <c:chart xmlns:c="http://schemas.openxmlformats.org/drawingml/2006/chart" xmlns:r="http://schemas.openxmlformats.org/officeDocument/2006/relationships" r:id="rId2"/>
          </a:graphicData>
        </a:graphic>
      </p:graphicFrame>
      <p:sp>
        <p:nvSpPr>
          <p:cNvPr id="10" name="CuadroTexto 9">
            <a:extLst>
              <a:ext uri="{FF2B5EF4-FFF2-40B4-BE49-F238E27FC236}">
                <a16:creationId xmlns:a16="http://schemas.microsoft.com/office/drawing/2014/main" id="{C3B457D4-75B6-CE3F-1CA4-8DA8D15F71D7}"/>
              </a:ext>
            </a:extLst>
          </p:cNvPr>
          <p:cNvSpPr txBox="1"/>
          <p:nvPr/>
        </p:nvSpPr>
        <p:spPr>
          <a:xfrm>
            <a:off x="6935822" y="6575253"/>
            <a:ext cx="3638394" cy="276999"/>
          </a:xfrm>
          <a:prstGeom prst="rect">
            <a:avLst/>
          </a:prstGeom>
          <a:noFill/>
        </p:spPr>
        <p:txBody>
          <a:bodyPr wrap="square" lIns="91440" tIns="45720" rIns="91440" bIns="45720" anchor="t">
            <a:spAutoFit/>
          </a:bodyPr>
          <a:lstStyle/>
          <a:p>
            <a:r>
              <a:rPr lang="es-CO" sz="1200" b="1" i="1" noProof="0">
                <a:solidFill>
                  <a:schemeClr val="tx2"/>
                </a:solidFill>
              </a:rPr>
              <a:t>Fuente: </a:t>
            </a:r>
            <a:r>
              <a:rPr lang="es-CO" sz="1200" i="1" noProof="0">
                <a:solidFill>
                  <a:schemeClr val="tx2"/>
                </a:solidFill>
              </a:rPr>
              <a:t>Cohorte oncológica INOOS </a:t>
            </a:r>
            <a:r>
              <a:rPr lang="es-CO" sz="1200" i="1">
                <a:solidFill>
                  <a:schemeClr val="tx2"/>
                </a:solidFill>
              </a:rPr>
              <a:t>Septiembre </a:t>
            </a:r>
            <a:r>
              <a:rPr lang="es-CO" sz="1200" i="1" noProof="0">
                <a:solidFill>
                  <a:schemeClr val="tx2"/>
                </a:solidFill>
              </a:rPr>
              <a:t>2026</a:t>
            </a:r>
          </a:p>
        </p:txBody>
      </p:sp>
      <p:graphicFrame>
        <p:nvGraphicFramePr>
          <p:cNvPr id="3" name="Diagrama 2">
            <a:extLst>
              <a:ext uri="{FF2B5EF4-FFF2-40B4-BE49-F238E27FC236}">
                <a16:creationId xmlns:a16="http://schemas.microsoft.com/office/drawing/2014/main" id="{EADE6810-495D-EBE0-877A-7674C59F83E2}"/>
              </a:ext>
            </a:extLst>
          </p:cNvPr>
          <p:cNvGraphicFramePr/>
          <p:nvPr>
            <p:extLst>
              <p:ext uri="{D42A27DB-BD31-4B8C-83A1-F6EECF244321}">
                <p14:modId xmlns:p14="http://schemas.microsoft.com/office/powerpoint/2010/main" val="520592869"/>
              </p:ext>
            </p:extLst>
          </p:nvPr>
        </p:nvGraphicFramePr>
        <p:xfrm>
          <a:off x="1560784" y="522033"/>
          <a:ext cx="9571504" cy="241120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CuadroTexto 5">
            <a:extLst>
              <a:ext uri="{FF2B5EF4-FFF2-40B4-BE49-F238E27FC236}">
                <a16:creationId xmlns:a16="http://schemas.microsoft.com/office/drawing/2014/main" id="{CD27FEE2-62C8-20D8-2B40-BAA706BCD1C3}"/>
              </a:ext>
            </a:extLst>
          </p:cNvPr>
          <p:cNvSpPr txBox="1"/>
          <p:nvPr/>
        </p:nvSpPr>
        <p:spPr>
          <a:xfrm>
            <a:off x="3046751" y="3225596"/>
            <a:ext cx="6093500" cy="369332"/>
          </a:xfrm>
          <a:prstGeom prst="rect">
            <a:avLst/>
          </a:prstGeom>
          <a:noFill/>
        </p:spPr>
        <p:txBody>
          <a:bodyPr wrap="square">
            <a:spAutoFit/>
          </a:bodyPr>
          <a:lstStyle/>
          <a:p>
            <a:r>
              <a:rPr lang="es-CO" noProof="0"/>
              <a:t> </a:t>
            </a:r>
          </a:p>
        </p:txBody>
      </p:sp>
      <p:sp>
        <p:nvSpPr>
          <p:cNvPr id="7" name="CuadroTexto 6">
            <a:extLst>
              <a:ext uri="{FF2B5EF4-FFF2-40B4-BE49-F238E27FC236}">
                <a16:creationId xmlns:a16="http://schemas.microsoft.com/office/drawing/2014/main" id="{4EC4E157-8F0B-A24C-FE9D-D1C669A2E8C0}"/>
              </a:ext>
            </a:extLst>
          </p:cNvPr>
          <p:cNvSpPr txBox="1"/>
          <p:nvPr/>
        </p:nvSpPr>
        <p:spPr>
          <a:xfrm>
            <a:off x="8607887" y="1960832"/>
            <a:ext cx="1657251" cy="276999"/>
          </a:xfrm>
          <a:prstGeom prst="rect">
            <a:avLst/>
          </a:prstGeom>
          <a:noFill/>
        </p:spPr>
        <p:txBody>
          <a:bodyPr wrap="square" rtlCol="0">
            <a:spAutoFit/>
          </a:bodyPr>
          <a:lstStyle/>
          <a:p>
            <a:r>
              <a:rPr lang="es-CO" sz="1200" b="1" noProof="0">
                <a:solidFill>
                  <a:srgbClr val="1CA5A5"/>
                </a:solidFill>
              </a:rPr>
              <a:t>Ingreso Emssanar</a:t>
            </a:r>
          </a:p>
        </p:txBody>
      </p:sp>
      <p:sp>
        <p:nvSpPr>
          <p:cNvPr id="8" name="CuadroTexto 7">
            <a:extLst>
              <a:ext uri="{FF2B5EF4-FFF2-40B4-BE49-F238E27FC236}">
                <a16:creationId xmlns:a16="http://schemas.microsoft.com/office/drawing/2014/main" id="{1C8F280C-C17F-9D0F-3D0C-5702C2B48DF5}"/>
              </a:ext>
            </a:extLst>
          </p:cNvPr>
          <p:cNvSpPr txBox="1"/>
          <p:nvPr/>
        </p:nvSpPr>
        <p:spPr>
          <a:xfrm>
            <a:off x="599327" y="4665359"/>
            <a:ext cx="4566551" cy="307777"/>
          </a:xfrm>
          <a:prstGeom prst="rect">
            <a:avLst/>
          </a:prstGeom>
          <a:noFill/>
        </p:spPr>
        <p:txBody>
          <a:bodyPr wrap="square" rtlCol="0">
            <a:spAutoFit/>
          </a:bodyPr>
          <a:lstStyle/>
          <a:p>
            <a:r>
              <a:rPr lang="es-CO" sz="1400" noProof="0">
                <a:solidFill>
                  <a:srgbClr val="FF0000"/>
                </a:solidFill>
              </a:rPr>
              <a:t>*   Casos por fecha de ingreso</a:t>
            </a:r>
          </a:p>
        </p:txBody>
      </p:sp>
      <p:sp>
        <p:nvSpPr>
          <p:cNvPr id="11" name="CuadroTexto 10">
            <a:extLst>
              <a:ext uri="{FF2B5EF4-FFF2-40B4-BE49-F238E27FC236}">
                <a16:creationId xmlns:a16="http://schemas.microsoft.com/office/drawing/2014/main" id="{4C1B47EE-EFE3-7E5B-04E7-0A70632903E6}"/>
              </a:ext>
            </a:extLst>
          </p:cNvPr>
          <p:cNvSpPr txBox="1"/>
          <p:nvPr/>
        </p:nvSpPr>
        <p:spPr>
          <a:xfrm>
            <a:off x="705754" y="5166735"/>
            <a:ext cx="11213123" cy="1200329"/>
          </a:xfrm>
          <a:prstGeom prst="rect">
            <a:avLst/>
          </a:prstGeom>
          <a:noFill/>
        </p:spPr>
        <p:txBody>
          <a:bodyPr wrap="square" lIns="91440" tIns="45720" rIns="91440" bIns="45720" anchor="t">
            <a:spAutoFit/>
          </a:bodyPr>
          <a:lstStyle/>
          <a:p>
            <a:pPr algn="just"/>
            <a:r>
              <a:rPr lang="es-CO" noProof="0"/>
              <a:t>Los incidentes durante el 2026 se distribuyen de la siguiente manera: Otros tumores de la piel 30%, Mama 14,7%, Próstata 10,7%, Cérvix 8%, Colorrectal 8% Estómago 4%.</a:t>
            </a:r>
          </a:p>
          <a:p>
            <a:pPr algn="just"/>
            <a:r>
              <a:rPr lang="es-CO" noProof="0"/>
              <a:t>Los casos incidentes de enero – septiembre 2026 son 150 en promedio mes,  de los cuales Salud total aporta el 35.6% (n=484), Emssanar 36,4%( n=</a:t>
            </a:r>
            <a:r>
              <a:rPr lang="es-CO"/>
              <a:t>495</a:t>
            </a:r>
            <a:r>
              <a:rPr lang="es-CO" noProof="0"/>
              <a:t>), Sanitas 24% (n=330). Otras 4% (n=</a:t>
            </a:r>
            <a:r>
              <a:rPr lang="es-CO"/>
              <a:t>29</a:t>
            </a:r>
            <a:r>
              <a:rPr lang="es-CO" noProof="0"/>
              <a:t>)</a:t>
            </a:r>
          </a:p>
        </p:txBody>
      </p:sp>
    </p:spTree>
    <p:extLst>
      <p:ext uri="{BB962C8B-B14F-4D97-AF65-F5344CB8AC3E}">
        <p14:creationId xmlns:p14="http://schemas.microsoft.com/office/powerpoint/2010/main" val="86781817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E9AE4-43CB-CE70-754B-D716F2DA8DA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D71F2E5-5A1D-D9B9-1C17-10DDA7566169}"/>
              </a:ext>
            </a:extLst>
          </p:cNvPr>
          <p:cNvSpPr>
            <a:spLocks noGrp="1"/>
          </p:cNvSpPr>
          <p:nvPr>
            <p:ph type="ctrTitle"/>
          </p:nvPr>
        </p:nvSpPr>
        <p:spPr>
          <a:xfrm>
            <a:off x="273120" y="116399"/>
            <a:ext cx="11645759" cy="692493"/>
          </a:xfrm>
        </p:spPr>
        <p:txBody>
          <a:bodyPr>
            <a:normAutofit fontScale="90000"/>
          </a:bodyPr>
          <a:lstStyle/>
          <a:p>
            <a:r>
              <a:rPr lang="es-CO" noProof="0"/>
              <a:t>Ingreso a la cohorte  2025 - 2026</a:t>
            </a:r>
          </a:p>
        </p:txBody>
      </p:sp>
      <p:graphicFrame>
        <p:nvGraphicFramePr>
          <p:cNvPr id="6" name="Gráfico 5">
            <a:extLst>
              <a:ext uri="{FF2B5EF4-FFF2-40B4-BE49-F238E27FC236}">
                <a16:creationId xmlns:a16="http://schemas.microsoft.com/office/drawing/2014/main" id="{33EE96A7-7C52-4883-8F38-99E931D9D7DF}"/>
              </a:ext>
            </a:extLst>
          </p:cNvPr>
          <p:cNvGraphicFramePr/>
          <p:nvPr>
            <p:extLst>
              <p:ext uri="{D42A27DB-BD31-4B8C-83A1-F6EECF244321}">
                <p14:modId xmlns:p14="http://schemas.microsoft.com/office/powerpoint/2010/main" val="1124020356"/>
              </p:ext>
            </p:extLst>
          </p:nvPr>
        </p:nvGraphicFramePr>
        <p:xfrm>
          <a:off x="462652" y="863535"/>
          <a:ext cx="11266700" cy="5130930"/>
        </p:xfrm>
        <a:graphic>
          <a:graphicData uri="http://schemas.openxmlformats.org/drawingml/2006/chart">
            <c:chart xmlns:c="http://schemas.openxmlformats.org/drawingml/2006/chart" xmlns:r="http://schemas.openxmlformats.org/officeDocument/2006/relationships" r:id="rId2"/>
          </a:graphicData>
        </a:graphic>
      </p:graphicFrame>
      <p:sp>
        <p:nvSpPr>
          <p:cNvPr id="5" name="CuadroTexto 4">
            <a:extLst>
              <a:ext uri="{FF2B5EF4-FFF2-40B4-BE49-F238E27FC236}">
                <a16:creationId xmlns:a16="http://schemas.microsoft.com/office/drawing/2014/main" id="{0A979FFA-DD72-2373-C7AC-0305D33132A5}"/>
              </a:ext>
            </a:extLst>
          </p:cNvPr>
          <p:cNvSpPr txBox="1"/>
          <p:nvPr/>
        </p:nvSpPr>
        <p:spPr>
          <a:xfrm>
            <a:off x="273120" y="5994465"/>
            <a:ext cx="4566551" cy="307777"/>
          </a:xfrm>
          <a:prstGeom prst="rect">
            <a:avLst/>
          </a:prstGeom>
          <a:noFill/>
        </p:spPr>
        <p:txBody>
          <a:bodyPr wrap="square" rtlCol="0">
            <a:spAutoFit/>
          </a:bodyPr>
          <a:lstStyle/>
          <a:p>
            <a:r>
              <a:rPr lang="es-CO" sz="1400" noProof="0">
                <a:solidFill>
                  <a:srgbClr val="FF0000"/>
                </a:solidFill>
              </a:rPr>
              <a:t>*   Tasa por fecha de diagnóstico</a:t>
            </a:r>
          </a:p>
        </p:txBody>
      </p:sp>
      <p:sp>
        <p:nvSpPr>
          <p:cNvPr id="4" name="CuadroTexto 3">
            <a:extLst>
              <a:ext uri="{FF2B5EF4-FFF2-40B4-BE49-F238E27FC236}">
                <a16:creationId xmlns:a16="http://schemas.microsoft.com/office/drawing/2014/main" id="{167042D5-6EE3-4BEB-AEDD-A5A351597799}"/>
              </a:ext>
            </a:extLst>
          </p:cNvPr>
          <p:cNvSpPr txBox="1"/>
          <p:nvPr/>
        </p:nvSpPr>
        <p:spPr>
          <a:xfrm>
            <a:off x="6935822" y="6575253"/>
            <a:ext cx="3638394" cy="276999"/>
          </a:xfrm>
          <a:prstGeom prst="rect">
            <a:avLst/>
          </a:prstGeom>
          <a:noFill/>
        </p:spPr>
        <p:txBody>
          <a:bodyPr wrap="square" lIns="91440" tIns="45720" rIns="91440" bIns="45720" anchor="t">
            <a:spAutoFit/>
          </a:bodyPr>
          <a:lstStyle/>
          <a:p>
            <a:r>
              <a:rPr lang="es-CO" sz="1200" b="1" i="1" noProof="0">
                <a:solidFill>
                  <a:schemeClr val="tx2"/>
                </a:solidFill>
              </a:rPr>
              <a:t>Fuente: </a:t>
            </a:r>
            <a:r>
              <a:rPr lang="es-CO" sz="1200" i="1" noProof="0">
                <a:solidFill>
                  <a:schemeClr val="tx2"/>
                </a:solidFill>
              </a:rPr>
              <a:t>Cohorte oncológica INOOS Septiembre 2026</a:t>
            </a:r>
          </a:p>
        </p:txBody>
      </p:sp>
    </p:spTree>
    <p:extLst>
      <p:ext uri="{BB962C8B-B14F-4D97-AF65-F5344CB8AC3E}">
        <p14:creationId xmlns:p14="http://schemas.microsoft.com/office/powerpoint/2010/main" val="182356851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3F797-E74E-EEE1-9192-D6692E38B02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5E305FD-3228-D796-DEB8-D8893A3ABC3D}"/>
              </a:ext>
            </a:extLst>
          </p:cNvPr>
          <p:cNvSpPr>
            <a:spLocks noGrp="1"/>
          </p:cNvSpPr>
          <p:nvPr>
            <p:ph type="ctrTitle"/>
          </p:nvPr>
        </p:nvSpPr>
        <p:spPr>
          <a:xfrm>
            <a:off x="273120" y="0"/>
            <a:ext cx="11645759" cy="692493"/>
          </a:xfrm>
        </p:spPr>
        <p:txBody>
          <a:bodyPr>
            <a:normAutofit fontScale="90000"/>
          </a:bodyPr>
          <a:lstStyle/>
          <a:p>
            <a:r>
              <a:rPr lang="es-CO" noProof="0"/>
              <a:t>Prevalencia 2026</a:t>
            </a:r>
            <a:endParaRPr lang="es-CO" noProof="0">
              <a:highlight>
                <a:srgbClr val="FFFF00"/>
              </a:highlight>
            </a:endParaRPr>
          </a:p>
        </p:txBody>
      </p:sp>
      <p:graphicFrame>
        <p:nvGraphicFramePr>
          <p:cNvPr id="6" name="Gráfico 5">
            <a:extLst>
              <a:ext uri="{FF2B5EF4-FFF2-40B4-BE49-F238E27FC236}">
                <a16:creationId xmlns:a16="http://schemas.microsoft.com/office/drawing/2014/main" id="{2119C62E-3EA2-05EB-18E2-9046AABD3CAC}"/>
              </a:ext>
            </a:extLst>
          </p:cNvPr>
          <p:cNvGraphicFramePr/>
          <p:nvPr>
            <p:extLst>
              <p:ext uri="{D42A27DB-BD31-4B8C-83A1-F6EECF244321}">
                <p14:modId xmlns:p14="http://schemas.microsoft.com/office/powerpoint/2010/main" val="3877860928"/>
              </p:ext>
            </p:extLst>
          </p:nvPr>
        </p:nvGraphicFramePr>
        <p:xfrm>
          <a:off x="404733" y="651146"/>
          <a:ext cx="11227633" cy="3331307"/>
        </p:xfrm>
        <a:graphic>
          <a:graphicData uri="http://schemas.openxmlformats.org/drawingml/2006/chart">
            <c:chart xmlns:c="http://schemas.openxmlformats.org/drawingml/2006/chart" xmlns:r="http://schemas.openxmlformats.org/officeDocument/2006/relationships" r:id="rId2"/>
          </a:graphicData>
        </a:graphic>
      </p:graphicFrame>
      <p:sp>
        <p:nvSpPr>
          <p:cNvPr id="10" name="CuadroTexto 9">
            <a:extLst>
              <a:ext uri="{FF2B5EF4-FFF2-40B4-BE49-F238E27FC236}">
                <a16:creationId xmlns:a16="http://schemas.microsoft.com/office/drawing/2014/main" id="{49CE125D-0BD9-32BF-A740-887A54A1EECC}"/>
              </a:ext>
            </a:extLst>
          </p:cNvPr>
          <p:cNvSpPr txBox="1"/>
          <p:nvPr/>
        </p:nvSpPr>
        <p:spPr>
          <a:xfrm>
            <a:off x="5877090" y="4129970"/>
            <a:ext cx="5755857" cy="369332"/>
          </a:xfrm>
          <a:prstGeom prst="rect">
            <a:avLst/>
          </a:prstGeom>
          <a:noFill/>
        </p:spPr>
        <p:txBody>
          <a:bodyPr wrap="square">
            <a:spAutoFit/>
          </a:bodyPr>
          <a:lstStyle/>
          <a:p>
            <a:pPr algn="ctr"/>
            <a:r>
              <a:rPr lang="es-CO" b="1" noProof="0"/>
              <a:t>La variación porcentual desde el ingreso de la cohorte</a:t>
            </a:r>
          </a:p>
        </p:txBody>
      </p:sp>
      <p:sp>
        <p:nvSpPr>
          <p:cNvPr id="13" name="CuadroTexto 12">
            <a:extLst>
              <a:ext uri="{FF2B5EF4-FFF2-40B4-BE49-F238E27FC236}">
                <a16:creationId xmlns:a16="http://schemas.microsoft.com/office/drawing/2014/main" id="{28D4D768-EF75-9338-52DD-4770B063065F}"/>
              </a:ext>
            </a:extLst>
          </p:cNvPr>
          <p:cNvSpPr txBox="1"/>
          <p:nvPr/>
        </p:nvSpPr>
        <p:spPr>
          <a:xfrm>
            <a:off x="737379" y="4101389"/>
            <a:ext cx="4760145" cy="369332"/>
          </a:xfrm>
          <a:prstGeom prst="rect">
            <a:avLst/>
          </a:prstGeom>
          <a:noFill/>
        </p:spPr>
        <p:txBody>
          <a:bodyPr wrap="square">
            <a:spAutoFit/>
          </a:bodyPr>
          <a:lstStyle/>
          <a:p>
            <a:pPr algn="ctr"/>
            <a:r>
              <a:rPr lang="es-CO" b="1" noProof="0"/>
              <a:t>Distribución poblacional Septiembre 2026</a:t>
            </a:r>
          </a:p>
        </p:txBody>
      </p:sp>
      <p:sp>
        <p:nvSpPr>
          <p:cNvPr id="3" name="CuadroTexto 2">
            <a:extLst>
              <a:ext uri="{FF2B5EF4-FFF2-40B4-BE49-F238E27FC236}">
                <a16:creationId xmlns:a16="http://schemas.microsoft.com/office/drawing/2014/main" id="{43515B72-32B5-41D7-655C-3DB8047E89A8}"/>
              </a:ext>
            </a:extLst>
          </p:cNvPr>
          <p:cNvSpPr txBox="1"/>
          <p:nvPr/>
        </p:nvSpPr>
        <p:spPr>
          <a:xfrm>
            <a:off x="6935822" y="6575253"/>
            <a:ext cx="3638394" cy="276999"/>
          </a:xfrm>
          <a:prstGeom prst="rect">
            <a:avLst/>
          </a:prstGeom>
          <a:noFill/>
        </p:spPr>
        <p:txBody>
          <a:bodyPr wrap="square" lIns="91440" tIns="45720" rIns="91440" bIns="45720" anchor="t">
            <a:spAutoFit/>
          </a:bodyPr>
          <a:lstStyle/>
          <a:p>
            <a:r>
              <a:rPr lang="es-CO" sz="1200" b="1" i="1" noProof="0">
                <a:solidFill>
                  <a:schemeClr val="tx2"/>
                </a:solidFill>
              </a:rPr>
              <a:t>Fuente: </a:t>
            </a:r>
            <a:r>
              <a:rPr lang="es-CO" sz="1200" i="1" noProof="0">
                <a:solidFill>
                  <a:schemeClr val="tx2"/>
                </a:solidFill>
              </a:rPr>
              <a:t>Cohorte oncológica INOOS Septiembre</a:t>
            </a:r>
            <a:r>
              <a:rPr lang="es-CO" sz="1200" i="1">
                <a:solidFill>
                  <a:schemeClr val="tx2"/>
                </a:solidFill>
              </a:rPr>
              <a:t> </a:t>
            </a:r>
            <a:r>
              <a:rPr lang="es-CO" sz="1200" i="1" noProof="0">
                <a:solidFill>
                  <a:schemeClr val="tx2"/>
                </a:solidFill>
              </a:rPr>
              <a:t>2026</a:t>
            </a:r>
          </a:p>
        </p:txBody>
      </p:sp>
      <p:pic>
        <p:nvPicPr>
          <p:cNvPr id="21" name="Imagen 20">
            <a:extLst>
              <a:ext uri="{FF2B5EF4-FFF2-40B4-BE49-F238E27FC236}">
                <a16:creationId xmlns:a16="http://schemas.microsoft.com/office/drawing/2014/main" id="{A16E171F-5352-24E2-B2C9-573DDA6E4BFD}"/>
              </a:ext>
            </a:extLst>
          </p:cNvPr>
          <p:cNvPicPr>
            <a:picLocks noChangeAspect="1"/>
          </p:cNvPicPr>
          <p:nvPr/>
        </p:nvPicPr>
        <p:blipFill>
          <a:blip r:embed="rId3"/>
          <a:stretch>
            <a:fillRect/>
          </a:stretch>
        </p:blipFill>
        <p:spPr>
          <a:xfrm>
            <a:off x="737379" y="4499302"/>
            <a:ext cx="4951332" cy="1798688"/>
          </a:xfrm>
          <a:prstGeom prst="rect">
            <a:avLst/>
          </a:prstGeom>
        </p:spPr>
      </p:pic>
      <p:pic>
        <p:nvPicPr>
          <p:cNvPr id="24" name="Imagen 23">
            <a:extLst>
              <a:ext uri="{FF2B5EF4-FFF2-40B4-BE49-F238E27FC236}">
                <a16:creationId xmlns:a16="http://schemas.microsoft.com/office/drawing/2014/main" id="{F2FBC601-FE97-9EB4-DAD0-DD35A4868F1F}"/>
              </a:ext>
            </a:extLst>
          </p:cNvPr>
          <p:cNvPicPr>
            <a:picLocks noChangeAspect="1"/>
          </p:cNvPicPr>
          <p:nvPr/>
        </p:nvPicPr>
        <p:blipFill>
          <a:blip r:embed="rId4"/>
          <a:stretch>
            <a:fillRect/>
          </a:stretch>
        </p:blipFill>
        <p:spPr>
          <a:xfrm>
            <a:off x="6301707" y="4499302"/>
            <a:ext cx="4581152" cy="1798688"/>
          </a:xfrm>
          <a:prstGeom prst="rect">
            <a:avLst/>
          </a:prstGeom>
        </p:spPr>
      </p:pic>
    </p:spTree>
    <p:extLst>
      <p:ext uri="{BB962C8B-B14F-4D97-AF65-F5344CB8AC3E}">
        <p14:creationId xmlns:p14="http://schemas.microsoft.com/office/powerpoint/2010/main" val="422516428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D9843A03-8E4A-DEDF-F064-493CC9FE9F10}"/>
              </a:ext>
            </a:extLst>
          </p:cNvPr>
          <p:cNvSpPr>
            <a:spLocks noGrp="1"/>
          </p:cNvSpPr>
          <p:nvPr/>
        </p:nvSpPr>
        <p:spPr>
          <a:xfrm>
            <a:off x="461735" y="0"/>
            <a:ext cx="11268529" cy="831358"/>
          </a:xfrm>
          <a:prstGeom prst="rect">
            <a:avLst/>
          </a:prstGeom>
        </p:spPr>
        <p:txBody>
          <a:bodyPr vert="horz" lIns="91440" tIns="45720" rIns="91440" bIns="45720" rtlCol="0" anchor="b">
            <a:normAutofit/>
          </a:bodyPr>
          <a:lstStyle>
            <a:lvl1pPr marL="0" indent="0" algn="ctr" defTabSz="914400" rtl="0" eaLnBrk="1" latinLnBrk="0" hangingPunct="1">
              <a:lnSpc>
                <a:spcPct val="90000"/>
              </a:lnSpc>
              <a:spcBef>
                <a:spcPct val="0"/>
              </a:spcBef>
              <a:buNone/>
              <a:defRPr lang="es-CO" sz="4400" b="1" kern="1200" dirty="0">
                <a:solidFill>
                  <a:schemeClr val="tx1"/>
                </a:solidFill>
                <a:latin typeface="+mj-lt"/>
                <a:ea typeface="+mj-ea"/>
                <a:cs typeface="+mj-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s-CO" noProof="0">
                <a:solidFill>
                  <a:srgbClr val="47A9A1"/>
                </a:solidFill>
              </a:rPr>
              <a:t>Distribución de la Cohorte Total</a:t>
            </a:r>
            <a:endParaRPr lang="es-CO" noProof="0">
              <a:solidFill>
                <a:srgbClr val="47A9A1"/>
              </a:solidFill>
              <a:highlight>
                <a:srgbClr val="FFFF00"/>
              </a:highlight>
            </a:endParaRPr>
          </a:p>
        </p:txBody>
      </p:sp>
      <p:sp>
        <p:nvSpPr>
          <p:cNvPr id="4" name="CuadroTexto 3">
            <a:extLst>
              <a:ext uri="{FF2B5EF4-FFF2-40B4-BE49-F238E27FC236}">
                <a16:creationId xmlns:a16="http://schemas.microsoft.com/office/drawing/2014/main" id="{4A1FFE27-AFAE-7482-E58E-BEEF21CD0E9C}"/>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Septiembre</a:t>
            </a:r>
            <a:r>
              <a:rPr lang="es-CO" sz="1200" i="1">
                <a:solidFill>
                  <a:schemeClr val="tx2"/>
                </a:solidFill>
              </a:rPr>
              <a:t> </a:t>
            </a:r>
            <a:r>
              <a:rPr lang="es-CO" sz="1200" i="1" noProof="0">
                <a:solidFill>
                  <a:schemeClr val="tx2"/>
                </a:solidFill>
              </a:rPr>
              <a:t>2026</a:t>
            </a:r>
          </a:p>
        </p:txBody>
      </p:sp>
      <p:graphicFrame>
        <p:nvGraphicFramePr>
          <p:cNvPr id="3" name="Gráfico 2">
            <a:extLst>
              <a:ext uri="{FF2B5EF4-FFF2-40B4-BE49-F238E27FC236}">
                <a16:creationId xmlns:a16="http://schemas.microsoft.com/office/drawing/2014/main" id="{F91701BA-BA0C-A44B-6C29-04A6BC799A9B}"/>
              </a:ext>
              <a:ext uri="{147F2762-F138-4A5C-976F-8EAC2B608ADB}">
                <a16:predDERef xmlns:a16="http://schemas.microsoft.com/office/drawing/2014/main" pred="{DC91A00C-8000-B491-B677-8EB243CB6D1F}"/>
              </a:ext>
            </a:extLst>
          </p:cNvPr>
          <p:cNvGraphicFramePr>
            <a:graphicFrameLocks/>
          </p:cNvGraphicFramePr>
          <p:nvPr>
            <p:extLst>
              <p:ext uri="{D42A27DB-BD31-4B8C-83A1-F6EECF244321}">
                <p14:modId xmlns:p14="http://schemas.microsoft.com/office/powerpoint/2010/main" val="1215675984"/>
              </p:ext>
            </p:extLst>
          </p:nvPr>
        </p:nvGraphicFramePr>
        <p:xfrm>
          <a:off x="518083" y="1052810"/>
          <a:ext cx="11155832" cy="475237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370294279"/>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32C5C-6F2E-2CC3-D88D-E3A36DA1469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773E37F-204C-D088-B257-5FB0455CE256}"/>
              </a:ext>
            </a:extLst>
          </p:cNvPr>
          <p:cNvSpPr>
            <a:spLocks noGrp="1"/>
          </p:cNvSpPr>
          <p:nvPr>
            <p:ph type="ctrTitle"/>
          </p:nvPr>
        </p:nvSpPr>
        <p:spPr>
          <a:xfrm>
            <a:off x="445648" y="-88297"/>
            <a:ext cx="11645759" cy="838200"/>
          </a:xfrm>
        </p:spPr>
        <p:txBody>
          <a:bodyPr>
            <a:normAutofit/>
          </a:bodyPr>
          <a:lstStyle/>
          <a:p>
            <a:r>
              <a:rPr lang="es-CO" sz="4000" noProof="0">
                <a:solidFill>
                  <a:srgbClr val="47A9A1"/>
                </a:solidFill>
              </a:rPr>
              <a:t>Distribución</a:t>
            </a:r>
            <a:r>
              <a:rPr lang="es-CO" noProof="0">
                <a:solidFill>
                  <a:srgbClr val="47A9A1"/>
                </a:solidFill>
              </a:rPr>
              <a:t> por Tipo de Cáncer Priorizados</a:t>
            </a:r>
          </a:p>
        </p:txBody>
      </p:sp>
      <p:sp>
        <p:nvSpPr>
          <p:cNvPr id="14" name="CuadroTexto 13">
            <a:extLst>
              <a:ext uri="{FF2B5EF4-FFF2-40B4-BE49-F238E27FC236}">
                <a16:creationId xmlns:a16="http://schemas.microsoft.com/office/drawing/2014/main" id="{80AE4296-C403-C09F-4395-1B5CD2BDE4A7}"/>
              </a:ext>
            </a:extLst>
          </p:cNvPr>
          <p:cNvSpPr txBox="1"/>
          <p:nvPr/>
        </p:nvSpPr>
        <p:spPr>
          <a:xfrm>
            <a:off x="508772" y="5579949"/>
            <a:ext cx="11516109" cy="1323439"/>
          </a:xfrm>
          <a:prstGeom prst="rect">
            <a:avLst/>
          </a:prstGeom>
          <a:noFill/>
        </p:spPr>
        <p:txBody>
          <a:bodyPr wrap="square" lIns="91440" tIns="45720" rIns="91440" bIns="45720" anchor="t">
            <a:spAutoFit/>
          </a:bodyPr>
          <a:lstStyle/>
          <a:p>
            <a:r>
              <a:rPr lang="es-CO" sz="1600" noProof="0"/>
              <a:t>Los canceres priorizados representan el 54% del total de las cohortes </a:t>
            </a:r>
          </a:p>
          <a:p>
            <a:r>
              <a:rPr lang="es-CO" sz="1600" noProof="0"/>
              <a:t>El mayor impacto está en la cohorte de Emssanar con un promedio de ingreso de 38 pacientes mes, salud Total 27 paciente mes y sanitas 20, en mayor frecuencia de los priorizados en mama, cérvix y próstata; esto se debe a la búsqueda de la población que hace la EPS y los pacientes  de los municipios solicitan portabilidad a la ciudad.  </a:t>
            </a:r>
          </a:p>
          <a:p>
            <a:endParaRPr lang="es-CO" sz="1600" noProof="0"/>
          </a:p>
        </p:txBody>
      </p:sp>
      <p:sp>
        <p:nvSpPr>
          <p:cNvPr id="4" name="CuadroTexto 3">
            <a:extLst>
              <a:ext uri="{FF2B5EF4-FFF2-40B4-BE49-F238E27FC236}">
                <a16:creationId xmlns:a16="http://schemas.microsoft.com/office/drawing/2014/main" id="{76C4B623-455C-7024-68EE-463E386D4556}"/>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Septiembre 2026</a:t>
            </a:r>
          </a:p>
        </p:txBody>
      </p:sp>
      <p:graphicFrame>
        <p:nvGraphicFramePr>
          <p:cNvPr id="5" name="Gráfico 4">
            <a:extLst>
              <a:ext uri="{FF2B5EF4-FFF2-40B4-BE49-F238E27FC236}">
                <a16:creationId xmlns:a16="http://schemas.microsoft.com/office/drawing/2014/main" id="{B05FD8E4-445C-627F-351C-1BD76D792653}"/>
              </a:ext>
              <a:ext uri="{147F2762-F138-4A5C-976F-8EAC2B608ADB}">
                <a16:predDERef xmlns:a16="http://schemas.microsoft.com/office/drawing/2014/main" pred="{73EFBF88-77DA-D4E0-1ACB-556532A96CD6}"/>
              </a:ext>
            </a:extLst>
          </p:cNvPr>
          <p:cNvGraphicFramePr>
            <a:graphicFrameLocks/>
          </p:cNvGraphicFramePr>
          <p:nvPr>
            <p:extLst>
              <p:ext uri="{D42A27DB-BD31-4B8C-83A1-F6EECF244321}">
                <p14:modId xmlns:p14="http://schemas.microsoft.com/office/powerpoint/2010/main" val="3208768078"/>
              </p:ext>
            </p:extLst>
          </p:nvPr>
        </p:nvGraphicFramePr>
        <p:xfrm>
          <a:off x="508772" y="685800"/>
          <a:ext cx="10991040" cy="233536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Gráfico 7">
            <a:extLst>
              <a:ext uri="{FF2B5EF4-FFF2-40B4-BE49-F238E27FC236}">
                <a16:creationId xmlns:a16="http://schemas.microsoft.com/office/drawing/2014/main" id="{B8C08A17-5809-A0BE-BB47-66D07BF9C4E4}"/>
              </a:ext>
              <a:ext uri="{147F2762-F138-4A5C-976F-8EAC2B608ADB}">
                <a16:predDERef xmlns:a16="http://schemas.microsoft.com/office/drawing/2014/main" pred="{B05FD8E4-445C-627F-351C-1BD76D792653}"/>
              </a:ext>
            </a:extLst>
          </p:cNvPr>
          <p:cNvGraphicFramePr>
            <a:graphicFrameLocks/>
          </p:cNvGraphicFramePr>
          <p:nvPr>
            <p:extLst>
              <p:ext uri="{D42A27DB-BD31-4B8C-83A1-F6EECF244321}">
                <p14:modId xmlns:p14="http://schemas.microsoft.com/office/powerpoint/2010/main" val="1521740961"/>
              </p:ext>
            </p:extLst>
          </p:nvPr>
        </p:nvGraphicFramePr>
        <p:xfrm>
          <a:off x="445648" y="3194687"/>
          <a:ext cx="11237580" cy="233412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6033983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EDF55-DE7F-CA3E-9B47-1F97C368885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C583ECE-6671-47A0-F68B-F39DE59BCD7C}"/>
              </a:ext>
            </a:extLst>
          </p:cNvPr>
          <p:cNvSpPr>
            <a:spLocks noGrp="1"/>
          </p:cNvSpPr>
          <p:nvPr>
            <p:ph type="ctrTitle"/>
          </p:nvPr>
        </p:nvSpPr>
        <p:spPr>
          <a:xfrm>
            <a:off x="273120" y="43541"/>
            <a:ext cx="11645759" cy="838200"/>
          </a:xfrm>
        </p:spPr>
        <p:txBody>
          <a:bodyPr>
            <a:normAutofit/>
          </a:bodyPr>
          <a:lstStyle/>
          <a:p>
            <a:r>
              <a:rPr lang="es-CO" noProof="0">
                <a:solidFill>
                  <a:srgbClr val="47A9A1"/>
                </a:solidFill>
              </a:rPr>
              <a:t>Distribución por Tipo de Cáncer no Priorizados</a:t>
            </a:r>
          </a:p>
        </p:txBody>
      </p:sp>
      <p:sp>
        <p:nvSpPr>
          <p:cNvPr id="5" name="CuadroTexto 4">
            <a:extLst>
              <a:ext uri="{FF2B5EF4-FFF2-40B4-BE49-F238E27FC236}">
                <a16:creationId xmlns:a16="http://schemas.microsoft.com/office/drawing/2014/main" id="{B4DF2838-D8C1-DFB1-863E-A105F8E1009A}"/>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Septiembre 2026</a:t>
            </a:r>
          </a:p>
        </p:txBody>
      </p:sp>
      <p:graphicFrame>
        <p:nvGraphicFramePr>
          <p:cNvPr id="6" name="Gráfico 5">
            <a:extLst>
              <a:ext uri="{FF2B5EF4-FFF2-40B4-BE49-F238E27FC236}">
                <a16:creationId xmlns:a16="http://schemas.microsoft.com/office/drawing/2014/main" id="{CE7C5FE7-F581-C48A-2831-FB6CCCED4A10}"/>
              </a:ext>
              <a:ext uri="{147F2762-F138-4A5C-976F-8EAC2B608ADB}">
                <a16:predDERef xmlns:a16="http://schemas.microsoft.com/office/drawing/2014/main" pred="{B8C08A17-5809-A0BE-BB47-66D07BF9C4E4}"/>
              </a:ext>
            </a:extLst>
          </p:cNvPr>
          <p:cNvGraphicFramePr>
            <a:graphicFrameLocks/>
          </p:cNvGraphicFramePr>
          <p:nvPr>
            <p:extLst>
              <p:ext uri="{D42A27DB-BD31-4B8C-83A1-F6EECF244321}">
                <p14:modId xmlns:p14="http://schemas.microsoft.com/office/powerpoint/2010/main" val="2475933317"/>
              </p:ext>
            </p:extLst>
          </p:nvPr>
        </p:nvGraphicFramePr>
        <p:xfrm>
          <a:off x="519658" y="881741"/>
          <a:ext cx="11399221"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Gráfico 6">
            <a:extLst>
              <a:ext uri="{FF2B5EF4-FFF2-40B4-BE49-F238E27FC236}">
                <a16:creationId xmlns:a16="http://schemas.microsoft.com/office/drawing/2014/main" id="{BFF9C637-259C-32F3-0126-3F612951C8E0}"/>
              </a:ext>
              <a:ext uri="{147F2762-F138-4A5C-976F-8EAC2B608ADB}">
                <a16:predDERef xmlns:a16="http://schemas.microsoft.com/office/drawing/2014/main" pred="{CE7C5FE7-F581-C48A-2831-FB6CCCED4A10}"/>
              </a:ext>
            </a:extLst>
          </p:cNvPr>
          <p:cNvGraphicFramePr>
            <a:graphicFrameLocks/>
          </p:cNvGraphicFramePr>
          <p:nvPr>
            <p:extLst>
              <p:ext uri="{D42A27DB-BD31-4B8C-83A1-F6EECF244321}">
                <p14:modId xmlns:p14="http://schemas.microsoft.com/office/powerpoint/2010/main" val="3040859851"/>
              </p:ext>
            </p:extLst>
          </p:nvPr>
        </p:nvGraphicFramePr>
        <p:xfrm>
          <a:off x="519658" y="3624941"/>
          <a:ext cx="11399221" cy="295031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37944372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B633B-FD78-E3BD-2240-53DCEBD18E1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F7A1F9A-01CD-AA33-752D-45064164F120}"/>
              </a:ext>
            </a:extLst>
          </p:cNvPr>
          <p:cNvSpPr>
            <a:spLocks noGrp="1"/>
          </p:cNvSpPr>
          <p:nvPr>
            <p:ph type="ctrTitle"/>
          </p:nvPr>
        </p:nvSpPr>
        <p:spPr>
          <a:xfrm>
            <a:off x="273120" y="335720"/>
            <a:ext cx="11645759" cy="276999"/>
          </a:xfrm>
        </p:spPr>
        <p:txBody>
          <a:bodyPr>
            <a:noAutofit/>
          </a:bodyPr>
          <a:lstStyle/>
          <a:p>
            <a:r>
              <a:rPr lang="es-CO" sz="4000" noProof="0"/>
              <a:t>Oportunidad Ingreso</a:t>
            </a:r>
            <a:endParaRPr lang="es-CO" sz="4000" noProof="0">
              <a:highlight>
                <a:srgbClr val="FFFF00"/>
              </a:highlight>
            </a:endParaRPr>
          </a:p>
        </p:txBody>
      </p:sp>
      <p:sp>
        <p:nvSpPr>
          <p:cNvPr id="8" name="CuadroTexto 7">
            <a:extLst>
              <a:ext uri="{FF2B5EF4-FFF2-40B4-BE49-F238E27FC236}">
                <a16:creationId xmlns:a16="http://schemas.microsoft.com/office/drawing/2014/main" id="{B877F4CA-9473-A55E-5120-BF8AD276F40F}"/>
              </a:ext>
            </a:extLst>
          </p:cNvPr>
          <p:cNvSpPr txBox="1"/>
          <p:nvPr/>
        </p:nvSpPr>
        <p:spPr>
          <a:xfrm>
            <a:off x="9566031" y="1305341"/>
            <a:ext cx="2487552" cy="3416320"/>
          </a:xfrm>
          <a:prstGeom prst="rect">
            <a:avLst/>
          </a:prstGeom>
          <a:noFill/>
        </p:spPr>
        <p:txBody>
          <a:bodyPr wrap="square" lIns="91440" tIns="45720" rIns="91440" bIns="45720" rtlCol="0" anchor="t">
            <a:spAutoFit/>
          </a:bodyPr>
          <a:lstStyle/>
          <a:p>
            <a:pPr algn="just"/>
            <a:r>
              <a:rPr lang="es-CO" noProof="0"/>
              <a:t>Del total de ingresos mensuales de 2026, en promedio, el 35% de los incidentes ingresan a la cohorte en el mismo mes de su diagnóstico; el </a:t>
            </a:r>
            <a:r>
              <a:rPr lang="es-CO"/>
              <a:t>30</a:t>
            </a:r>
            <a:r>
              <a:rPr lang="es-CO" noProof="0"/>
              <a:t>% ingresan en el mes siguiente a su diagnóstico. El 7,8% ingresan a la cohorte dos meses después de su diagnóstico. </a:t>
            </a:r>
          </a:p>
        </p:txBody>
      </p:sp>
      <p:sp>
        <p:nvSpPr>
          <p:cNvPr id="6" name="CuadroTexto 5">
            <a:extLst>
              <a:ext uri="{FF2B5EF4-FFF2-40B4-BE49-F238E27FC236}">
                <a16:creationId xmlns:a16="http://schemas.microsoft.com/office/drawing/2014/main" id="{A4B932CD-3BEE-F986-F8CC-D2FD0827F2D7}"/>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Septiembre 2026</a:t>
            </a:r>
          </a:p>
        </p:txBody>
      </p:sp>
      <p:graphicFrame>
        <p:nvGraphicFramePr>
          <p:cNvPr id="4" name="Tabla 3">
            <a:extLst>
              <a:ext uri="{FF2B5EF4-FFF2-40B4-BE49-F238E27FC236}">
                <a16:creationId xmlns:a16="http://schemas.microsoft.com/office/drawing/2014/main" id="{23C9EDF9-5744-65E0-9B12-943BBB95EDA9}"/>
              </a:ext>
            </a:extLst>
          </p:cNvPr>
          <p:cNvGraphicFramePr>
            <a:graphicFrameLocks noGrp="1"/>
          </p:cNvGraphicFramePr>
          <p:nvPr>
            <p:extLst>
              <p:ext uri="{D42A27DB-BD31-4B8C-83A1-F6EECF244321}">
                <p14:modId xmlns:p14="http://schemas.microsoft.com/office/powerpoint/2010/main" val="1655145765"/>
              </p:ext>
            </p:extLst>
          </p:nvPr>
        </p:nvGraphicFramePr>
        <p:xfrm>
          <a:off x="437025" y="731336"/>
          <a:ext cx="8781929" cy="5099825"/>
        </p:xfrm>
        <a:graphic>
          <a:graphicData uri="http://schemas.openxmlformats.org/drawingml/2006/table">
            <a:tbl>
              <a:tblPr/>
              <a:tblGrid>
                <a:gridCol w="675533">
                  <a:extLst>
                    <a:ext uri="{9D8B030D-6E8A-4147-A177-3AD203B41FA5}">
                      <a16:colId xmlns:a16="http://schemas.microsoft.com/office/drawing/2014/main" val="2596066188"/>
                    </a:ext>
                  </a:extLst>
                </a:gridCol>
                <a:gridCol w="675533">
                  <a:extLst>
                    <a:ext uri="{9D8B030D-6E8A-4147-A177-3AD203B41FA5}">
                      <a16:colId xmlns:a16="http://schemas.microsoft.com/office/drawing/2014/main" val="1077025221"/>
                    </a:ext>
                  </a:extLst>
                </a:gridCol>
                <a:gridCol w="675533">
                  <a:extLst>
                    <a:ext uri="{9D8B030D-6E8A-4147-A177-3AD203B41FA5}">
                      <a16:colId xmlns:a16="http://schemas.microsoft.com/office/drawing/2014/main" val="250788585"/>
                    </a:ext>
                  </a:extLst>
                </a:gridCol>
                <a:gridCol w="675533">
                  <a:extLst>
                    <a:ext uri="{9D8B030D-6E8A-4147-A177-3AD203B41FA5}">
                      <a16:colId xmlns:a16="http://schemas.microsoft.com/office/drawing/2014/main" val="2438156633"/>
                    </a:ext>
                  </a:extLst>
                </a:gridCol>
                <a:gridCol w="675533">
                  <a:extLst>
                    <a:ext uri="{9D8B030D-6E8A-4147-A177-3AD203B41FA5}">
                      <a16:colId xmlns:a16="http://schemas.microsoft.com/office/drawing/2014/main" val="2889900718"/>
                    </a:ext>
                  </a:extLst>
                </a:gridCol>
                <a:gridCol w="675533">
                  <a:extLst>
                    <a:ext uri="{9D8B030D-6E8A-4147-A177-3AD203B41FA5}">
                      <a16:colId xmlns:a16="http://schemas.microsoft.com/office/drawing/2014/main" val="4134262209"/>
                    </a:ext>
                  </a:extLst>
                </a:gridCol>
                <a:gridCol w="675533">
                  <a:extLst>
                    <a:ext uri="{9D8B030D-6E8A-4147-A177-3AD203B41FA5}">
                      <a16:colId xmlns:a16="http://schemas.microsoft.com/office/drawing/2014/main" val="3911460307"/>
                    </a:ext>
                  </a:extLst>
                </a:gridCol>
                <a:gridCol w="675533">
                  <a:extLst>
                    <a:ext uri="{9D8B030D-6E8A-4147-A177-3AD203B41FA5}">
                      <a16:colId xmlns:a16="http://schemas.microsoft.com/office/drawing/2014/main" val="2026150986"/>
                    </a:ext>
                  </a:extLst>
                </a:gridCol>
                <a:gridCol w="675533">
                  <a:extLst>
                    <a:ext uri="{9D8B030D-6E8A-4147-A177-3AD203B41FA5}">
                      <a16:colId xmlns:a16="http://schemas.microsoft.com/office/drawing/2014/main" val="726091261"/>
                    </a:ext>
                  </a:extLst>
                </a:gridCol>
                <a:gridCol w="675533">
                  <a:extLst>
                    <a:ext uri="{9D8B030D-6E8A-4147-A177-3AD203B41FA5}">
                      <a16:colId xmlns:a16="http://schemas.microsoft.com/office/drawing/2014/main" val="1517986287"/>
                    </a:ext>
                  </a:extLst>
                </a:gridCol>
                <a:gridCol w="675533">
                  <a:extLst>
                    <a:ext uri="{9D8B030D-6E8A-4147-A177-3AD203B41FA5}">
                      <a16:colId xmlns:a16="http://schemas.microsoft.com/office/drawing/2014/main" val="2181984536"/>
                    </a:ext>
                  </a:extLst>
                </a:gridCol>
                <a:gridCol w="675533">
                  <a:extLst>
                    <a:ext uri="{9D8B030D-6E8A-4147-A177-3AD203B41FA5}">
                      <a16:colId xmlns:a16="http://schemas.microsoft.com/office/drawing/2014/main" val="3138616621"/>
                    </a:ext>
                  </a:extLst>
                </a:gridCol>
                <a:gridCol w="675533">
                  <a:extLst>
                    <a:ext uri="{9D8B030D-6E8A-4147-A177-3AD203B41FA5}">
                      <a16:colId xmlns:a16="http://schemas.microsoft.com/office/drawing/2014/main" val="544361491"/>
                    </a:ext>
                  </a:extLst>
                </a:gridCol>
              </a:tblGrid>
              <a:tr h="203993">
                <a:tc gridSpan="13">
                  <a:txBody>
                    <a:bodyPr/>
                    <a:lstStyle/>
                    <a:p>
                      <a:pPr algn="ctr" fontAlgn="ctr">
                        <a:buNone/>
                      </a:pPr>
                      <a:r>
                        <a:rPr lang="es-CO" sz="1200" b="1" i="0" u="none" strike="noStrike">
                          <a:solidFill>
                            <a:srgbClr val="FFFFFF"/>
                          </a:solidFill>
                          <a:effectLst/>
                          <a:latin typeface="Calibri" panose="020F0502020204030204" pitchFamily="34" charset="0"/>
                        </a:rPr>
                        <a:t>General</a:t>
                      </a:r>
                    </a:p>
                  </a:txBody>
                  <a:tcPr marL="0" marR="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2919475879"/>
                  </a:ext>
                </a:extLst>
              </a:tr>
              <a:tr h="203993">
                <a:tc rowSpan="24">
                  <a:txBody>
                    <a:bodyPr/>
                    <a:lstStyle/>
                    <a:p>
                      <a:pPr algn="ctr" fontAlgn="ctr">
                        <a:buNone/>
                      </a:pPr>
                      <a:r>
                        <a:rPr lang="es-CO" sz="1400" b="1" i="0" u="none" strike="noStrike">
                          <a:solidFill>
                            <a:srgbClr val="FFFFFF"/>
                          </a:solidFill>
                          <a:effectLst/>
                          <a:latin typeface="Calibri" panose="020F0502020204030204" pitchFamily="34" charset="0"/>
                        </a:rPr>
                        <a:t>Mes / año de diagnóstico</a:t>
                      </a:r>
                    </a:p>
                  </a:txBody>
                  <a:tcPr marL="0" marR="0" marT="0" marB="0" vert="vert27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1CA6A0"/>
                    </a:solidFill>
                  </a:tcPr>
                </a:tc>
                <a:tc>
                  <a:txBody>
                    <a:bodyPr/>
                    <a:lstStyle/>
                    <a:p>
                      <a:pPr algn="ctr" fontAlgn="ctr">
                        <a:buNone/>
                      </a:pPr>
                      <a:r>
                        <a:rPr lang="es-CO" sz="1200" b="1" i="0" u="none" strike="noStrike">
                          <a:solidFill>
                            <a:srgbClr val="FFFFFF"/>
                          </a:solidFill>
                          <a:effectLst/>
                          <a:latin typeface="Calibri" panose="020F0502020204030204" pitchFamily="34" charset="0"/>
                        </a:rPr>
                        <a:t>Mes /año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200" b="1" i="0" u="none" strike="noStrike">
                          <a:solidFill>
                            <a:srgbClr val="FFFFFF"/>
                          </a:solidFill>
                          <a:effectLst/>
                          <a:latin typeface="Calibri" panose="020F0502020204030204" pitchFamily="34" charset="0"/>
                        </a:rPr>
                        <a:t>2025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200" b="1" i="0" u="none" strike="noStrike">
                          <a:solidFill>
                            <a:srgbClr val="FFFFFF"/>
                          </a:solidFill>
                          <a:effectLst/>
                          <a:latin typeface="Calibri" panose="020F0502020204030204" pitchFamily="34" charset="0"/>
                        </a:rPr>
                        <a:t>ene-26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200" b="1" i="0" u="none" strike="noStrike">
                          <a:solidFill>
                            <a:srgbClr val="FFFFFF"/>
                          </a:solidFill>
                          <a:effectLst/>
                          <a:latin typeface="Calibri" panose="020F0502020204030204" pitchFamily="34" charset="0"/>
                        </a:rPr>
                        <a:t>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200" b="1" i="0" u="none" strike="noStrike">
                          <a:solidFill>
                            <a:srgbClr val="FFFFFF"/>
                          </a:solidFill>
                          <a:effectLst/>
                          <a:latin typeface="Calibri" panose="020F0502020204030204" pitchFamily="34" charset="0"/>
                        </a:rPr>
                        <a:t>mar-26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200" b="1" i="0" u="none" strike="noStrike">
                          <a:solidFill>
                            <a:srgbClr val="FFFFFF"/>
                          </a:solidFill>
                          <a:effectLst/>
                          <a:latin typeface="Calibri" panose="020F0502020204030204" pitchFamily="34" charset="0"/>
                        </a:rPr>
                        <a:t>abr-26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200" b="1" i="0" u="none" strike="noStrike">
                          <a:solidFill>
                            <a:srgbClr val="FFFFFF"/>
                          </a:solidFill>
                          <a:effectLst/>
                          <a:latin typeface="Calibri" panose="020F0502020204030204" pitchFamily="34" charset="0"/>
                        </a:rPr>
                        <a:t>may-26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200" b="1" i="0" u="none" strike="noStrike">
                          <a:solidFill>
                            <a:srgbClr val="FFFFFF"/>
                          </a:solidFill>
                          <a:effectLst/>
                          <a:latin typeface="Calibri" panose="020F0502020204030204" pitchFamily="34" charset="0"/>
                        </a:rPr>
                        <a:t>jun-26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200" b="1" i="0" u="none" strike="noStrike">
                          <a:solidFill>
                            <a:srgbClr val="FFFFFF"/>
                          </a:solidFill>
                          <a:effectLst/>
                          <a:latin typeface="Calibri" panose="020F0502020204030204" pitchFamily="34" charset="0"/>
                        </a:rPr>
                        <a:t>jul-26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200" b="1" i="0" u="none" strike="noStrike">
                          <a:solidFill>
                            <a:srgbClr val="FFFFFF"/>
                          </a:solidFill>
                          <a:effectLst/>
                          <a:latin typeface="Calibri" panose="020F0502020204030204" pitchFamily="34" charset="0"/>
                        </a:rPr>
                        <a:t>ago-26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200" b="1" i="0" u="none" strike="noStrike">
                          <a:solidFill>
                            <a:srgbClr val="FFFFFF"/>
                          </a:solidFill>
                          <a:effectLst/>
                          <a:latin typeface="Calibri" panose="020F0502020204030204" pitchFamily="34" charset="0"/>
                        </a:rPr>
                        <a:t>sep-26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200" b="1" i="0" u="none" strike="noStrike">
                          <a:solidFill>
                            <a:srgbClr val="FFFFFF"/>
                          </a:solidFill>
                          <a:effectLst/>
                          <a:latin typeface="Calibri" panose="020F0502020204030204" pitchFamily="34" charset="0"/>
                        </a:rPr>
                        <a:t>TOTAL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extLst>
                  <a:ext uri="{0D108BD9-81ED-4DB2-BD59-A6C34878D82A}">
                    <a16:rowId xmlns:a16="http://schemas.microsoft.com/office/drawing/2014/main" val="1687418167"/>
                  </a:ext>
                </a:extLst>
              </a:tr>
              <a:tr h="203993">
                <a:tc vMerge="1">
                  <a:txBody>
                    <a:bodyPr/>
                    <a:lstStyle/>
                    <a:p>
                      <a:endParaRPr lang="es-CO"/>
                    </a:p>
                  </a:txBody>
                  <a:tcPr/>
                </a:tc>
                <a:tc>
                  <a:txBody>
                    <a:bodyPr/>
                    <a:lstStyle/>
                    <a:p>
                      <a:pPr algn="r" fontAlgn="b">
                        <a:buNone/>
                      </a:pPr>
                      <a:r>
                        <a:rPr lang="es-CO" sz="1100" b="1" i="0" u="none" strike="noStrike">
                          <a:solidFill>
                            <a:srgbClr val="FFFFFF"/>
                          </a:solidFill>
                          <a:effectLst/>
                          <a:latin typeface="Calibri" panose="020F0502020204030204" pitchFamily="34" charset="0"/>
                        </a:rPr>
                        <a:t>2024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100" b="1" i="0" u="none" strike="noStrike">
                          <a:solidFill>
                            <a:srgbClr val="000000"/>
                          </a:solidFill>
                          <a:effectLst/>
                          <a:latin typeface="Calibri" panose="020F0502020204030204" pitchFamily="34" charset="0"/>
                        </a:rPr>
                        <a:t>7166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1" i="0" u="none" strike="noStrike">
                          <a:solidFill>
                            <a:srgbClr val="000000"/>
                          </a:solidFill>
                          <a:effectLst/>
                          <a:latin typeface="Calibri" panose="020F0502020204030204" pitchFamily="34" charset="0"/>
                        </a:rPr>
                        <a:t>16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1" i="0" u="none" strike="noStrike">
                          <a:solidFill>
                            <a:srgbClr val="000000"/>
                          </a:solidFill>
                          <a:effectLst/>
                          <a:latin typeface="Calibri" panose="020F0502020204030204" pitchFamily="34" charset="0"/>
                        </a:rPr>
                        <a:t>40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1" i="0" u="none" strike="noStrike">
                          <a:solidFill>
                            <a:srgbClr val="000000"/>
                          </a:solidFill>
                          <a:effectLst/>
                          <a:latin typeface="Calibri" panose="020F0502020204030204" pitchFamily="34" charset="0"/>
                        </a:rPr>
                        <a:t>18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1" i="0" u="none" strike="noStrike">
                          <a:solidFill>
                            <a:srgbClr val="000000"/>
                          </a:solidFill>
                          <a:effectLst/>
                          <a:latin typeface="Calibri" panose="020F0502020204030204" pitchFamily="34" charset="0"/>
                        </a:rPr>
                        <a:t>17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1" i="0" u="none" strike="noStrike">
                          <a:solidFill>
                            <a:srgbClr val="000000"/>
                          </a:solidFill>
                          <a:effectLst/>
                          <a:latin typeface="Calibri" panose="020F0502020204030204" pitchFamily="34" charset="0"/>
                        </a:rPr>
                        <a:t>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1" i="0" u="none" strike="noStrike">
                          <a:solidFill>
                            <a:srgbClr val="000000"/>
                          </a:solidFill>
                          <a:effectLst/>
                          <a:latin typeface="Calibri" panose="020F0502020204030204" pitchFamily="34" charset="0"/>
                        </a:rPr>
                        <a:t>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1" i="0" u="none" strike="noStrike">
                          <a:solidFill>
                            <a:srgbClr val="000000"/>
                          </a:solidFill>
                          <a:effectLst/>
                          <a:latin typeface="Calibri" panose="020F0502020204030204" pitchFamily="34" charset="0"/>
                        </a:rPr>
                        <a:t>19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1" i="0" u="none" strike="noStrike">
                          <a:solidFill>
                            <a:srgbClr val="000000"/>
                          </a:solidFill>
                          <a:effectLst/>
                          <a:latin typeface="Calibri" panose="020F0502020204030204" pitchFamily="34" charset="0"/>
                        </a:rPr>
                        <a:t>17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1" i="0" u="none" strike="noStrike">
                          <a:solidFill>
                            <a:srgbClr val="000000"/>
                          </a:solidFill>
                          <a:effectLst/>
                          <a:latin typeface="Calibri" panose="020F0502020204030204" pitchFamily="34" charset="0"/>
                        </a:rPr>
                        <a:t>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7349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68120774"/>
                  </a:ext>
                </a:extLst>
              </a:tr>
              <a:tr h="203993">
                <a:tc vMerge="1">
                  <a:txBody>
                    <a:bodyPr/>
                    <a:lstStyle/>
                    <a:p>
                      <a:endParaRPr lang="es-CO"/>
                    </a:p>
                  </a:txBody>
                  <a:tcPr/>
                </a:tc>
                <a:tc>
                  <a:txBody>
                    <a:bodyPr/>
                    <a:lstStyle/>
                    <a:p>
                      <a:pPr algn="r" fontAlgn="b">
                        <a:buNone/>
                      </a:pPr>
                      <a:r>
                        <a:rPr lang="es-CO" sz="1100" b="1" i="0" u="none" strike="noStrike">
                          <a:solidFill>
                            <a:srgbClr val="FFFFFF"/>
                          </a:solidFill>
                          <a:effectLst/>
                          <a:latin typeface="Calibri" panose="020F0502020204030204" pitchFamily="34" charset="0"/>
                        </a:rPr>
                        <a:t>2025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100" b="0" i="0" u="none" strike="noStrike">
                          <a:solidFill>
                            <a:srgbClr val="000000"/>
                          </a:solidFill>
                          <a:effectLst/>
                          <a:latin typeface="Calibri" panose="020F0502020204030204" pitchFamily="34" charset="0"/>
                        </a:rPr>
                        <a:t>1220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55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63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32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13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14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1422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09198731"/>
                  </a:ext>
                </a:extLst>
              </a:tr>
              <a:tr h="203993">
                <a:tc vMerge="1">
                  <a:txBody>
                    <a:bodyPr/>
                    <a:lstStyle/>
                    <a:p>
                      <a:endParaRPr lang="es-CO"/>
                    </a:p>
                  </a:txBody>
                  <a:tcPr/>
                </a:tc>
                <a:tc>
                  <a:txBody>
                    <a:bodyPr/>
                    <a:lstStyle/>
                    <a:p>
                      <a:pPr algn="r" fontAlgn="b">
                        <a:buNone/>
                      </a:pPr>
                      <a:r>
                        <a:rPr lang="es-CO" sz="1100" b="1" i="0" u="none" strike="noStrike">
                          <a:solidFill>
                            <a:srgbClr val="FFFFFF"/>
                          </a:solidFill>
                          <a:effectLst/>
                          <a:latin typeface="Calibri" panose="020F0502020204030204" pitchFamily="34" charset="0"/>
                        </a:rPr>
                        <a:t>ene-26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55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32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17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117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69162703"/>
                  </a:ext>
                </a:extLst>
              </a:tr>
              <a:tr h="203993">
                <a:tc vMerge="1">
                  <a:txBody>
                    <a:bodyPr/>
                    <a:lstStyle/>
                    <a:p>
                      <a:endParaRPr lang="es-CO"/>
                    </a:p>
                  </a:txBody>
                  <a:tcPr/>
                </a:tc>
                <a:tc>
                  <a:txBody>
                    <a:bodyPr/>
                    <a:lstStyle/>
                    <a:p>
                      <a:pPr algn="r" fontAlgn="b">
                        <a:buNone/>
                      </a:pPr>
                      <a:r>
                        <a:rPr lang="es-CO" sz="1100" b="1" i="0" u="none" strike="noStrike">
                          <a:solidFill>
                            <a:srgbClr val="FFFFFF"/>
                          </a:solidFill>
                          <a:effectLst/>
                          <a:latin typeface="Calibri" panose="020F0502020204030204" pitchFamily="34" charset="0"/>
                        </a:rPr>
                        <a:t>feb-26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50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43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10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136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86203727"/>
                  </a:ext>
                </a:extLst>
              </a:tr>
              <a:tr h="203993">
                <a:tc vMerge="1">
                  <a:txBody>
                    <a:bodyPr/>
                    <a:lstStyle/>
                    <a:p>
                      <a:endParaRPr lang="es-CO"/>
                    </a:p>
                  </a:txBody>
                  <a:tcPr/>
                </a:tc>
                <a:tc>
                  <a:txBody>
                    <a:bodyPr/>
                    <a:lstStyle/>
                    <a:p>
                      <a:pPr algn="r" fontAlgn="b">
                        <a:buNone/>
                      </a:pPr>
                      <a:r>
                        <a:rPr lang="es-CO" sz="1100" b="1" i="0" u="none" strike="noStrike">
                          <a:solidFill>
                            <a:srgbClr val="FFFFFF"/>
                          </a:solidFill>
                          <a:effectLst/>
                          <a:latin typeface="Calibri" panose="020F0502020204030204" pitchFamily="34" charset="0"/>
                        </a:rPr>
                        <a:t>mar-26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55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50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15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130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13585582"/>
                  </a:ext>
                </a:extLst>
              </a:tr>
              <a:tr h="203993">
                <a:tc vMerge="1">
                  <a:txBody>
                    <a:bodyPr/>
                    <a:lstStyle/>
                    <a:p>
                      <a:endParaRPr lang="es-CO"/>
                    </a:p>
                  </a:txBody>
                  <a:tcPr/>
                </a:tc>
                <a:tc>
                  <a:txBody>
                    <a:bodyPr/>
                    <a:lstStyle/>
                    <a:p>
                      <a:pPr algn="r" fontAlgn="b">
                        <a:buNone/>
                      </a:pPr>
                      <a:r>
                        <a:rPr lang="es-CO" sz="1100" b="1" i="0" u="none" strike="noStrike">
                          <a:solidFill>
                            <a:srgbClr val="FFFFFF"/>
                          </a:solidFill>
                          <a:effectLst/>
                          <a:latin typeface="Calibri" panose="020F0502020204030204" pitchFamily="34" charset="0"/>
                        </a:rPr>
                        <a:t>abr-26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56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62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20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11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153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31745687"/>
                  </a:ext>
                </a:extLst>
              </a:tr>
              <a:tr h="203993">
                <a:tc vMerge="1">
                  <a:txBody>
                    <a:bodyPr/>
                    <a:lstStyle/>
                    <a:p>
                      <a:endParaRPr lang="es-CO"/>
                    </a:p>
                  </a:txBody>
                  <a:tcPr/>
                </a:tc>
                <a:tc>
                  <a:txBody>
                    <a:bodyPr/>
                    <a:lstStyle/>
                    <a:p>
                      <a:pPr algn="r" fontAlgn="b">
                        <a:buNone/>
                      </a:pPr>
                      <a:r>
                        <a:rPr lang="es-CO" sz="1100" b="1" i="0" u="none" strike="noStrike">
                          <a:solidFill>
                            <a:srgbClr val="FFFFFF"/>
                          </a:solidFill>
                          <a:effectLst/>
                          <a:latin typeface="Calibri" panose="020F0502020204030204" pitchFamily="34" charset="0"/>
                        </a:rPr>
                        <a:t>may-26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60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42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11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122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80695983"/>
                  </a:ext>
                </a:extLst>
              </a:tr>
              <a:tr h="203993">
                <a:tc vMerge="1">
                  <a:txBody>
                    <a:bodyPr/>
                    <a:lstStyle/>
                    <a:p>
                      <a:endParaRPr lang="es-CO"/>
                    </a:p>
                  </a:txBody>
                  <a:tcPr/>
                </a:tc>
                <a:tc>
                  <a:txBody>
                    <a:bodyPr/>
                    <a:lstStyle/>
                    <a:p>
                      <a:pPr algn="r" fontAlgn="b">
                        <a:buNone/>
                      </a:pPr>
                      <a:r>
                        <a:rPr lang="es-CO" sz="1100" b="1" i="0" u="none" strike="noStrike">
                          <a:solidFill>
                            <a:srgbClr val="FFFFFF"/>
                          </a:solidFill>
                          <a:effectLst/>
                          <a:latin typeface="Calibri" panose="020F0502020204030204" pitchFamily="34" charset="0"/>
                        </a:rPr>
                        <a:t>jun-26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50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43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11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107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85544545"/>
                  </a:ext>
                </a:extLst>
              </a:tr>
              <a:tr h="203993">
                <a:tc vMerge="1">
                  <a:txBody>
                    <a:bodyPr/>
                    <a:lstStyle/>
                    <a:p>
                      <a:endParaRPr lang="es-CO"/>
                    </a:p>
                  </a:txBody>
                  <a:tcPr/>
                </a:tc>
                <a:tc>
                  <a:txBody>
                    <a:bodyPr/>
                    <a:lstStyle/>
                    <a:p>
                      <a:pPr algn="r" fontAlgn="b">
                        <a:buNone/>
                      </a:pPr>
                      <a:r>
                        <a:rPr lang="es-CO" sz="1100" b="1" i="0" u="none" strike="noStrike">
                          <a:solidFill>
                            <a:srgbClr val="FFFFFF"/>
                          </a:solidFill>
                          <a:effectLst/>
                          <a:latin typeface="Calibri" panose="020F0502020204030204" pitchFamily="34" charset="0"/>
                        </a:rPr>
                        <a:t>jul-26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56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40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102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90085810"/>
                  </a:ext>
                </a:extLst>
              </a:tr>
              <a:tr h="203993">
                <a:tc vMerge="1">
                  <a:txBody>
                    <a:bodyPr/>
                    <a:lstStyle/>
                    <a:p>
                      <a:endParaRPr lang="es-CO"/>
                    </a:p>
                  </a:txBody>
                  <a:tcPr/>
                </a:tc>
                <a:tc>
                  <a:txBody>
                    <a:bodyPr/>
                    <a:lstStyle/>
                    <a:p>
                      <a:pPr algn="r" fontAlgn="b">
                        <a:buNone/>
                      </a:pPr>
                      <a:r>
                        <a:rPr lang="es-CO" sz="1100" b="1" i="0" u="none" strike="noStrike">
                          <a:solidFill>
                            <a:srgbClr val="FFFFFF"/>
                          </a:solidFill>
                          <a:effectLst/>
                          <a:latin typeface="Calibri" panose="020F0502020204030204" pitchFamily="34" charset="0"/>
                        </a:rPr>
                        <a:t>ago-26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25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51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87250571"/>
                  </a:ext>
                </a:extLst>
              </a:tr>
              <a:tr h="203993">
                <a:tc vMerge="1">
                  <a:txBody>
                    <a:bodyPr/>
                    <a:lstStyle/>
                    <a:p>
                      <a:endParaRPr lang="es-CO"/>
                    </a:p>
                  </a:txBody>
                  <a:tcPr/>
                </a:tc>
                <a:tc>
                  <a:txBody>
                    <a:bodyPr/>
                    <a:lstStyle/>
                    <a:p>
                      <a:pPr algn="r" fontAlgn="b">
                        <a:buNone/>
                      </a:pPr>
                      <a:r>
                        <a:rPr lang="es-CO" sz="1100" b="1" i="0" u="none" strike="noStrike">
                          <a:solidFill>
                            <a:srgbClr val="FFFFFF"/>
                          </a:solidFill>
                          <a:effectLst/>
                          <a:latin typeface="Calibri" panose="020F0502020204030204" pitchFamily="34" charset="0"/>
                        </a:rPr>
                        <a:t>sep-26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46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46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63858036"/>
                  </a:ext>
                </a:extLst>
              </a:tr>
              <a:tr h="203993">
                <a:tc vMerge="1">
                  <a:txBody>
                    <a:bodyPr/>
                    <a:lstStyle/>
                    <a:p>
                      <a:endParaRPr lang="es-CO"/>
                    </a:p>
                  </a:txBody>
                  <a:tcPr/>
                </a:tc>
                <a:tc>
                  <a:txBody>
                    <a:bodyPr/>
                    <a:lstStyle/>
                    <a:p>
                      <a:pPr algn="l" fontAlgn="b">
                        <a:buNone/>
                      </a:pPr>
                      <a:r>
                        <a:rPr lang="es-CO" sz="900" b="1" i="0" u="none" strike="noStrike">
                          <a:solidFill>
                            <a:srgbClr val="000000"/>
                          </a:solidFill>
                          <a:effectLst/>
                          <a:latin typeface="Calibri" panose="020F0502020204030204" pitchFamily="34" charset="0"/>
                        </a:rPr>
                        <a:t>Total general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100" b="1" i="0" u="none" strike="noStrike">
                          <a:solidFill>
                            <a:srgbClr val="000000"/>
                          </a:solidFill>
                          <a:effectLst/>
                          <a:latin typeface="Calibri" panose="020F0502020204030204" pitchFamily="34" charset="0"/>
                        </a:rPr>
                        <a:t>8386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tc>
                  <a:txBody>
                    <a:bodyPr/>
                    <a:lstStyle/>
                    <a:p>
                      <a:pPr algn="ctr" fontAlgn="b">
                        <a:buNone/>
                      </a:pPr>
                      <a:r>
                        <a:rPr lang="es-CO" sz="1100" b="1" i="0" u="none" strike="noStrike">
                          <a:solidFill>
                            <a:srgbClr val="000000"/>
                          </a:solidFill>
                          <a:effectLst/>
                          <a:latin typeface="Calibri" panose="020F0502020204030204" pitchFamily="34" charset="0"/>
                        </a:rPr>
                        <a:t>126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tc>
                  <a:txBody>
                    <a:bodyPr/>
                    <a:lstStyle/>
                    <a:p>
                      <a:pPr algn="ctr" fontAlgn="b">
                        <a:buNone/>
                      </a:pPr>
                      <a:r>
                        <a:rPr lang="es-CO" sz="1100" b="1" i="0" u="none" strike="noStrike">
                          <a:solidFill>
                            <a:srgbClr val="000000"/>
                          </a:solidFill>
                          <a:effectLst/>
                          <a:latin typeface="Calibri" panose="020F0502020204030204" pitchFamily="34" charset="0"/>
                        </a:rPr>
                        <a:t>185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tc>
                  <a:txBody>
                    <a:bodyPr/>
                    <a:lstStyle/>
                    <a:p>
                      <a:pPr algn="ctr" fontAlgn="b">
                        <a:buNone/>
                      </a:pPr>
                      <a:r>
                        <a:rPr lang="es-CO" sz="1100" b="1" i="0" u="none" strike="noStrike">
                          <a:solidFill>
                            <a:srgbClr val="000000"/>
                          </a:solidFill>
                          <a:effectLst/>
                          <a:latin typeface="Calibri" panose="020F0502020204030204" pitchFamily="34" charset="0"/>
                        </a:rPr>
                        <a:t>165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tc>
                  <a:txBody>
                    <a:bodyPr/>
                    <a:lstStyle/>
                    <a:p>
                      <a:pPr algn="ctr" fontAlgn="b">
                        <a:buNone/>
                      </a:pPr>
                      <a:r>
                        <a:rPr lang="es-CO" sz="1100" b="1" i="0" u="none" strike="noStrike">
                          <a:solidFill>
                            <a:srgbClr val="000000"/>
                          </a:solidFill>
                          <a:effectLst/>
                          <a:latin typeface="Calibri" panose="020F0502020204030204" pitchFamily="34" charset="0"/>
                        </a:rPr>
                        <a:t>165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tc>
                  <a:txBody>
                    <a:bodyPr/>
                    <a:lstStyle/>
                    <a:p>
                      <a:pPr algn="ctr" fontAlgn="b">
                        <a:buNone/>
                      </a:pPr>
                      <a:r>
                        <a:rPr lang="es-CO" sz="1100" b="1" i="0" u="none" strike="noStrike">
                          <a:solidFill>
                            <a:srgbClr val="000000"/>
                          </a:solidFill>
                          <a:effectLst/>
                          <a:latin typeface="Calibri" panose="020F0502020204030204" pitchFamily="34" charset="0"/>
                        </a:rPr>
                        <a:t>188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tc>
                  <a:txBody>
                    <a:bodyPr/>
                    <a:lstStyle/>
                    <a:p>
                      <a:pPr algn="ctr" fontAlgn="b">
                        <a:buNone/>
                      </a:pPr>
                      <a:r>
                        <a:rPr lang="es-CO" sz="1100" b="1" i="0" u="none" strike="noStrike">
                          <a:solidFill>
                            <a:srgbClr val="000000"/>
                          </a:solidFill>
                          <a:effectLst/>
                          <a:latin typeface="Calibri" panose="020F0502020204030204" pitchFamily="34" charset="0"/>
                        </a:rPr>
                        <a:t>158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tc>
                  <a:txBody>
                    <a:bodyPr/>
                    <a:lstStyle/>
                    <a:p>
                      <a:pPr algn="ctr" fontAlgn="b">
                        <a:buNone/>
                      </a:pPr>
                      <a:r>
                        <a:rPr lang="es-CO" sz="1100" b="1" i="0" u="none" strike="noStrike">
                          <a:solidFill>
                            <a:srgbClr val="000000"/>
                          </a:solidFill>
                          <a:effectLst/>
                          <a:latin typeface="Calibri" panose="020F0502020204030204" pitchFamily="34" charset="0"/>
                        </a:rPr>
                        <a:t>153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tc>
                  <a:txBody>
                    <a:bodyPr/>
                    <a:lstStyle/>
                    <a:p>
                      <a:pPr algn="ctr" fontAlgn="b">
                        <a:buNone/>
                      </a:pPr>
                      <a:r>
                        <a:rPr lang="es-CO" sz="1100" b="1" i="0" u="none" strike="noStrike">
                          <a:solidFill>
                            <a:srgbClr val="000000"/>
                          </a:solidFill>
                          <a:effectLst/>
                          <a:latin typeface="Calibri" panose="020F0502020204030204" pitchFamily="34" charset="0"/>
                        </a:rPr>
                        <a:t>108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tc>
                  <a:txBody>
                    <a:bodyPr/>
                    <a:lstStyle/>
                    <a:p>
                      <a:pPr algn="ctr" fontAlgn="b">
                        <a:buNone/>
                      </a:pPr>
                      <a:r>
                        <a:rPr lang="es-CO" sz="1100" b="1" i="0" u="none" strike="noStrike">
                          <a:solidFill>
                            <a:srgbClr val="000000"/>
                          </a:solidFill>
                          <a:effectLst/>
                          <a:latin typeface="Calibri" panose="020F0502020204030204" pitchFamily="34" charset="0"/>
                        </a:rPr>
                        <a:t>101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tc>
                  <a:txBody>
                    <a:bodyPr/>
                    <a:lstStyle/>
                    <a:p>
                      <a:pPr algn="ctr" fontAlgn="b">
                        <a:buNone/>
                      </a:pPr>
                      <a:r>
                        <a:rPr lang="es-CO" sz="1100" b="1" i="0" u="none" strike="noStrike">
                          <a:solidFill>
                            <a:srgbClr val="000000"/>
                          </a:solidFill>
                          <a:effectLst/>
                          <a:latin typeface="Calibri" panose="020F0502020204030204" pitchFamily="34" charset="0"/>
                        </a:rPr>
                        <a:t>9735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extLst>
                  <a:ext uri="{0D108BD9-81ED-4DB2-BD59-A6C34878D82A}">
                    <a16:rowId xmlns:a16="http://schemas.microsoft.com/office/drawing/2014/main" val="1563162464"/>
                  </a:ext>
                </a:extLst>
              </a:tr>
              <a:tr h="203993">
                <a:tc vMerge="1">
                  <a:txBody>
                    <a:bodyPr/>
                    <a:lstStyle/>
                    <a:p>
                      <a:endParaRPr lang="es-CO"/>
                    </a:p>
                  </a:txBody>
                  <a:tcPr/>
                </a:tc>
                <a:tc>
                  <a:txBody>
                    <a:bodyPr/>
                    <a:lstStyle/>
                    <a:p>
                      <a:pPr algn="r" fontAlgn="b">
                        <a:buNone/>
                      </a:pPr>
                      <a:r>
                        <a:rPr lang="es-CO" sz="1100" b="1" i="0" u="none" strike="noStrike">
                          <a:solidFill>
                            <a:srgbClr val="FFFFFF"/>
                          </a:solidFill>
                          <a:effectLst/>
                          <a:latin typeface="Calibri" panose="020F0502020204030204" pitchFamily="34" charset="0"/>
                        </a:rPr>
                        <a:t>2024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100" b="0" i="0" u="none" strike="noStrike">
                          <a:solidFill>
                            <a:srgbClr val="000000"/>
                          </a:solidFill>
                          <a:effectLst/>
                          <a:latin typeface="Calibri" panose="020F0502020204030204" pitchFamily="34" charset="0"/>
                        </a:rPr>
                        <a:t>85,5%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12,7%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21,6%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10,9%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10,3%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12,8%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16,5%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12,4%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15,7%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5,9%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75,5%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74850605"/>
                  </a:ext>
                </a:extLst>
              </a:tr>
              <a:tr h="203993">
                <a:tc vMerge="1">
                  <a:txBody>
                    <a:bodyPr/>
                    <a:lstStyle/>
                    <a:p>
                      <a:endParaRPr lang="es-CO"/>
                    </a:p>
                  </a:txBody>
                  <a:tcPr/>
                </a:tc>
                <a:tc>
                  <a:txBody>
                    <a:bodyPr/>
                    <a:lstStyle/>
                    <a:p>
                      <a:pPr algn="r" fontAlgn="b">
                        <a:buNone/>
                      </a:pPr>
                      <a:r>
                        <a:rPr lang="es-CO" sz="1100" b="1" i="0" u="none" strike="noStrike">
                          <a:solidFill>
                            <a:srgbClr val="FFFFFF"/>
                          </a:solidFill>
                          <a:effectLst/>
                          <a:latin typeface="Calibri" panose="020F0502020204030204" pitchFamily="34" charset="0"/>
                        </a:rPr>
                        <a:t>2025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100" b="0" i="0" u="none" strike="noStrike">
                          <a:solidFill>
                            <a:srgbClr val="000000"/>
                          </a:solidFill>
                          <a:effectLst/>
                          <a:latin typeface="Calibri" panose="020F0502020204030204" pitchFamily="34" charset="0"/>
                        </a:rPr>
                        <a:t>14,5%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43,7%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s-CO" sz="1100" b="0" i="0" u="none" strike="noStrike">
                          <a:solidFill>
                            <a:srgbClr val="000000"/>
                          </a:solidFill>
                          <a:effectLst/>
                          <a:latin typeface="Calibri" panose="020F0502020204030204" pitchFamily="34" charset="0"/>
                        </a:rPr>
                        <a:t>34,1%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19,4%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7,9%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7,4%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5,7%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3,9%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1,9%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7,9%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14,6%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94729583"/>
                  </a:ext>
                </a:extLst>
              </a:tr>
              <a:tr h="203993">
                <a:tc vMerge="1">
                  <a:txBody>
                    <a:bodyPr/>
                    <a:lstStyle/>
                    <a:p>
                      <a:endParaRPr lang="es-CO"/>
                    </a:p>
                  </a:txBody>
                  <a:tcPr/>
                </a:tc>
                <a:tc>
                  <a:txBody>
                    <a:bodyPr/>
                    <a:lstStyle/>
                    <a:p>
                      <a:pPr algn="r" fontAlgn="b">
                        <a:buNone/>
                      </a:pPr>
                      <a:r>
                        <a:rPr lang="es-CO" sz="1100" b="1" i="0" u="none" strike="noStrike">
                          <a:solidFill>
                            <a:srgbClr val="FFFFFF"/>
                          </a:solidFill>
                          <a:effectLst/>
                          <a:latin typeface="Calibri" panose="020F0502020204030204" pitchFamily="34" charset="0"/>
                        </a:rPr>
                        <a:t>ene-26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l"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1" i="0" u="none" strike="noStrike">
                          <a:solidFill>
                            <a:srgbClr val="000000"/>
                          </a:solidFill>
                          <a:effectLst/>
                          <a:latin typeface="Calibri" panose="020F0502020204030204" pitchFamily="34" charset="0"/>
                        </a:rPr>
                        <a:t>43,7%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buNone/>
                      </a:pPr>
                      <a:r>
                        <a:rPr lang="es-CO" sz="1100" b="0" i="0" u="none" strike="noStrike">
                          <a:solidFill>
                            <a:srgbClr val="000000"/>
                          </a:solidFill>
                          <a:effectLst/>
                          <a:latin typeface="Calibri" panose="020F0502020204030204" pitchFamily="34" charset="0"/>
                        </a:rPr>
                        <a:t>17,3%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s-CO" sz="1100" b="0" i="0" u="none" strike="noStrike">
                          <a:solidFill>
                            <a:srgbClr val="000000"/>
                          </a:solidFill>
                          <a:effectLst/>
                          <a:latin typeface="Calibri" panose="020F0502020204030204" pitchFamily="34" charset="0"/>
                        </a:rPr>
                        <a:t>10,3%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3,0%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1,6%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1,3%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1,3%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0,9%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1,2%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12066465"/>
                  </a:ext>
                </a:extLst>
              </a:tr>
              <a:tr h="203993">
                <a:tc vMerge="1">
                  <a:txBody>
                    <a:bodyPr/>
                    <a:lstStyle/>
                    <a:p>
                      <a:endParaRPr lang="es-CO"/>
                    </a:p>
                  </a:txBody>
                  <a:tcPr/>
                </a:tc>
                <a:tc>
                  <a:txBody>
                    <a:bodyPr/>
                    <a:lstStyle/>
                    <a:p>
                      <a:pPr algn="r" fontAlgn="b">
                        <a:buNone/>
                      </a:pPr>
                      <a:r>
                        <a:rPr lang="es-CO" sz="1100" b="1" i="0" u="none" strike="noStrike">
                          <a:solidFill>
                            <a:srgbClr val="FFFFFF"/>
                          </a:solidFill>
                          <a:effectLst/>
                          <a:latin typeface="Calibri" panose="020F0502020204030204" pitchFamily="34" charset="0"/>
                        </a:rPr>
                        <a:t>feb-26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l"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1"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1" i="0" u="none" strike="noStrike">
                          <a:solidFill>
                            <a:srgbClr val="000000"/>
                          </a:solidFill>
                          <a:effectLst/>
                          <a:latin typeface="Calibri" panose="020F0502020204030204" pitchFamily="34" charset="0"/>
                        </a:rPr>
                        <a:t>27,0%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buNone/>
                      </a:pPr>
                      <a:r>
                        <a:rPr lang="es-CO" sz="1100" b="0" i="0" u="none" strike="noStrike">
                          <a:solidFill>
                            <a:srgbClr val="000000"/>
                          </a:solidFill>
                          <a:effectLst/>
                          <a:latin typeface="Calibri" panose="020F0502020204030204" pitchFamily="34" charset="0"/>
                        </a:rPr>
                        <a:t>26,1%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s-CO" sz="1100" b="0" i="0" u="none" strike="noStrike">
                          <a:solidFill>
                            <a:srgbClr val="000000"/>
                          </a:solidFill>
                          <a:effectLst/>
                          <a:latin typeface="Calibri" panose="020F0502020204030204" pitchFamily="34" charset="0"/>
                        </a:rPr>
                        <a:t>14,5%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5,3%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2,5%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1,3%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1,9%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1,0%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1,4%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77481807"/>
                  </a:ext>
                </a:extLst>
              </a:tr>
              <a:tr h="203993">
                <a:tc vMerge="1">
                  <a:txBody>
                    <a:bodyPr/>
                    <a:lstStyle/>
                    <a:p>
                      <a:endParaRPr lang="es-CO"/>
                    </a:p>
                  </a:txBody>
                  <a:tcPr/>
                </a:tc>
                <a:tc>
                  <a:txBody>
                    <a:bodyPr/>
                    <a:lstStyle/>
                    <a:p>
                      <a:pPr algn="r" fontAlgn="b">
                        <a:buNone/>
                      </a:pPr>
                      <a:r>
                        <a:rPr lang="es-CO" sz="1100" b="1" i="0" u="none" strike="noStrike">
                          <a:solidFill>
                            <a:srgbClr val="FFFFFF"/>
                          </a:solidFill>
                          <a:effectLst/>
                          <a:latin typeface="Calibri" panose="020F0502020204030204" pitchFamily="34" charset="0"/>
                        </a:rPr>
                        <a:t>mar-26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l"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1"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1" i="0" u="none" strike="noStrike">
                          <a:solidFill>
                            <a:srgbClr val="000000"/>
                          </a:solidFill>
                          <a:effectLst/>
                          <a:latin typeface="Calibri" panose="020F0502020204030204" pitchFamily="34" charset="0"/>
                        </a:rPr>
                        <a:t>33,3%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buNone/>
                      </a:pPr>
                      <a:r>
                        <a:rPr lang="es-CO" sz="1100" b="0" i="0" u="none" strike="noStrike">
                          <a:solidFill>
                            <a:srgbClr val="000000"/>
                          </a:solidFill>
                          <a:effectLst/>
                          <a:latin typeface="Calibri" panose="020F0502020204030204" pitchFamily="34" charset="0"/>
                        </a:rPr>
                        <a:t>30,3%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s-CO" sz="1100" b="0" i="0" u="none" strike="noStrike">
                          <a:solidFill>
                            <a:srgbClr val="000000"/>
                          </a:solidFill>
                          <a:effectLst/>
                          <a:latin typeface="Calibri" panose="020F0502020204030204" pitchFamily="34" charset="0"/>
                        </a:rPr>
                        <a:t>8,0%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3,2%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2,0%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0,9%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1,0%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1,3%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21650159"/>
                  </a:ext>
                </a:extLst>
              </a:tr>
              <a:tr h="203993">
                <a:tc vMerge="1">
                  <a:txBody>
                    <a:bodyPr/>
                    <a:lstStyle/>
                    <a:p>
                      <a:endParaRPr lang="es-CO"/>
                    </a:p>
                  </a:txBody>
                  <a:tcPr/>
                </a:tc>
                <a:tc>
                  <a:txBody>
                    <a:bodyPr/>
                    <a:lstStyle/>
                    <a:p>
                      <a:pPr algn="r" fontAlgn="b">
                        <a:buNone/>
                      </a:pPr>
                      <a:r>
                        <a:rPr lang="es-CO" sz="1100" b="1" i="0" u="none" strike="noStrike">
                          <a:solidFill>
                            <a:srgbClr val="FFFFFF"/>
                          </a:solidFill>
                          <a:effectLst/>
                          <a:latin typeface="Calibri" panose="020F0502020204030204" pitchFamily="34" charset="0"/>
                        </a:rPr>
                        <a:t>abr-26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l"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1" i="0" u="none" strike="noStrike">
                          <a:solidFill>
                            <a:srgbClr val="000000"/>
                          </a:solidFill>
                          <a:effectLst/>
                          <a:latin typeface="Calibri" panose="020F0502020204030204" pitchFamily="34" charset="0"/>
                        </a:rPr>
                        <a:t>33,9%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buNone/>
                      </a:pPr>
                      <a:r>
                        <a:rPr lang="es-CO" sz="1100" b="0" i="0" u="none" strike="noStrike">
                          <a:solidFill>
                            <a:srgbClr val="000000"/>
                          </a:solidFill>
                          <a:effectLst/>
                          <a:latin typeface="Calibri" panose="020F0502020204030204" pitchFamily="34" charset="0"/>
                        </a:rPr>
                        <a:t>33,0%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s-CO" sz="1100" b="0" i="0" u="none" strike="noStrike">
                          <a:solidFill>
                            <a:srgbClr val="000000"/>
                          </a:solidFill>
                          <a:effectLst/>
                          <a:latin typeface="Calibri" panose="020F0502020204030204" pitchFamily="34" charset="0"/>
                        </a:rPr>
                        <a:t>12,7%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7,2%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2,8%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1,0%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1,6%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4004468"/>
                  </a:ext>
                </a:extLst>
              </a:tr>
              <a:tr h="203993">
                <a:tc vMerge="1">
                  <a:txBody>
                    <a:bodyPr/>
                    <a:lstStyle/>
                    <a:p>
                      <a:endParaRPr lang="es-CO"/>
                    </a:p>
                  </a:txBody>
                  <a:tcPr/>
                </a:tc>
                <a:tc>
                  <a:txBody>
                    <a:bodyPr/>
                    <a:lstStyle/>
                    <a:p>
                      <a:pPr algn="r" fontAlgn="b">
                        <a:buNone/>
                      </a:pPr>
                      <a:r>
                        <a:rPr lang="es-CO" sz="1100" b="1" i="0" u="none" strike="noStrike">
                          <a:solidFill>
                            <a:srgbClr val="FFFFFF"/>
                          </a:solidFill>
                          <a:effectLst/>
                          <a:latin typeface="Calibri" panose="020F0502020204030204" pitchFamily="34" charset="0"/>
                        </a:rPr>
                        <a:t>may-26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l"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1" i="0" u="none" strike="noStrike">
                          <a:solidFill>
                            <a:srgbClr val="000000"/>
                          </a:solidFill>
                          <a:effectLst/>
                          <a:latin typeface="Calibri" panose="020F0502020204030204" pitchFamily="34" charset="0"/>
                        </a:rPr>
                        <a:t>31,9%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buNone/>
                      </a:pPr>
                      <a:r>
                        <a:rPr lang="es-CO" sz="1100" b="0" i="0" u="none" strike="noStrike">
                          <a:solidFill>
                            <a:srgbClr val="000000"/>
                          </a:solidFill>
                          <a:effectLst/>
                          <a:latin typeface="Calibri" panose="020F0502020204030204" pitchFamily="34" charset="0"/>
                        </a:rPr>
                        <a:t>26,6%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s-CO" sz="1100" b="0" i="0" u="none" strike="noStrike">
                          <a:solidFill>
                            <a:srgbClr val="000000"/>
                          </a:solidFill>
                          <a:effectLst/>
                          <a:latin typeface="Calibri" panose="020F0502020204030204" pitchFamily="34" charset="0"/>
                        </a:rPr>
                        <a:t>7,2%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5,6%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3,0%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0" i="0" u="none" strike="noStrike">
                          <a:solidFill>
                            <a:srgbClr val="000000"/>
                          </a:solidFill>
                          <a:effectLst/>
                          <a:latin typeface="Calibri" panose="020F0502020204030204" pitchFamily="34" charset="0"/>
                        </a:rPr>
                        <a:t>1,3%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12728253"/>
                  </a:ext>
                </a:extLst>
              </a:tr>
              <a:tr h="203993">
                <a:tc vMerge="1">
                  <a:txBody>
                    <a:bodyPr/>
                    <a:lstStyle/>
                    <a:p>
                      <a:endParaRPr lang="es-CO"/>
                    </a:p>
                  </a:txBody>
                  <a:tcPr/>
                </a:tc>
                <a:tc>
                  <a:txBody>
                    <a:bodyPr/>
                    <a:lstStyle/>
                    <a:p>
                      <a:pPr algn="r" fontAlgn="b">
                        <a:buNone/>
                      </a:pPr>
                      <a:r>
                        <a:rPr lang="es-CO" sz="1100" b="1" i="0" u="none" strike="noStrike">
                          <a:solidFill>
                            <a:srgbClr val="FFFFFF"/>
                          </a:solidFill>
                          <a:effectLst/>
                          <a:latin typeface="Calibri" panose="020F0502020204030204" pitchFamily="34" charset="0"/>
                        </a:rPr>
                        <a:t>jun-26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l"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1" i="0" u="none" strike="noStrike">
                          <a:solidFill>
                            <a:srgbClr val="000000"/>
                          </a:solidFill>
                          <a:effectLst/>
                          <a:latin typeface="Calibri" panose="020F0502020204030204" pitchFamily="34" charset="0"/>
                        </a:rPr>
                        <a:t>31,6%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buNone/>
                      </a:pPr>
                      <a:r>
                        <a:rPr lang="es-CO" sz="1100" b="0" i="0" u="none" strike="noStrike">
                          <a:solidFill>
                            <a:srgbClr val="000000"/>
                          </a:solidFill>
                          <a:effectLst/>
                          <a:latin typeface="Calibri" panose="020F0502020204030204" pitchFamily="34" charset="0"/>
                        </a:rPr>
                        <a:t>28,1%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s-CO" sz="1100" b="0" i="0" u="none" strike="noStrike">
                          <a:solidFill>
                            <a:srgbClr val="000000"/>
                          </a:solidFill>
                          <a:effectLst/>
                          <a:latin typeface="Calibri" panose="020F0502020204030204" pitchFamily="34" charset="0"/>
                        </a:rPr>
                        <a:t>10,2%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3,0%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1,1%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376337663"/>
                  </a:ext>
                </a:extLst>
              </a:tr>
              <a:tr h="203993">
                <a:tc vMerge="1">
                  <a:txBody>
                    <a:bodyPr/>
                    <a:lstStyle/>
                    <a:p>
                      <a:endParaRPr lang="es-CO"/>
                    </a:p>
                  </a:txBody>
                  <a:tcPr/>
                </a:tc>
                <a:tc>
                  <a:txBody>
                    <a:bodyPr/>
                    <a:lstStyle/>
                    <a:p>
                      <a:pPr algn="r" fontAlgn="b">
                        <a:buNone/>
                      </a:pPr>
                      <a:r>
                        <a:rPr lang="es-CO" sz="1100" b="1" i="0" u="none" strike="noStrike">
                          <a:solidFill>
                            <a:srgbClr val="FFFFFF"/>
                          </a:solidFill>
                          <a:effectLst/>
                          <a:latin typeface="Calibri" panose="020F0502020204030204" pitchFamily="34" charset="0"/>
                        </a:rPr>
                        <a:t>jul-26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l"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1" i="0" u="none" strike="noStrike">
                          <a:solidFill>
                            <a:srgbClr val="000000"/>
                          </a:solidFill>
                          <a:effectLst/>
                          <a:latin typeface="Calibri" panose="020F0502020204030204" pitchFamily="34" charset="0"/>
                        </a:rPr>
                        <a:t>36,6%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buNone/>
                      </a:pPr>
                      <a:r>
                        <a:rPr lang="es-CO" sz="1100" b="0" i="0" u="none" strike="noStrike">
                          <a:solidFill>
                            <a:srgbClr val="000000"/>
                          </a:solidFill>
                          <a:effectLst/>
                          <a:latin typeface="Calibri" panose="020F0502020204030204" pitchFamily="34" charset="0"/>
                        </a:rPr>
                        <a:t>37,0%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s-CO" sz="1100" b="0" i="0" u="none" strike="noStrike">
                          <a:solidFill>
                            <a:srgbClr val="000000"/>
                          </a:solidFill>
                          <a:effectLst/>
                          <a:latin typeface="Calibri" panose="020F0502020204030204" pitchFamily="34" charset="0"/>
                        </a:rPr>
                        <a:t>5,9%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100" b="0" i="0" u="none" strike="noStrike">
                          <a:solidFill>
                            <a:srgbClr val="000000"/>
                          </a:solidFill>
                          <a:effectLst/>
                          <a:latin typeface="Calibri" panose="020F0502020204030204" pitchFamily="34" charset="0"/>
                        </a:rPr>
                        <a:t>1,0%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64023081"/>
                  </a:ext>
                </a:extLst>
              </a:tr>
              <a:tr h="203993">
                <a:tc vMerge="1">
                  <a:txBody>
                    <a:bodyPr/>
                    <a:lstStyle/>
                    <a:p>
                      <a:endParaRPr lang="es-CO"/>
                    </a:p>
                  </a:txBody>
                  <a:tcPr/>
                </a:tc>
                <a:tc>
                  <a:txBody>
                    <a:bodyPr/>
                    <a:lstStyle/>
                    <a:p>
                      <a:pPr algn="r" fontAlgn="b">
                        <a:buNone/>
                      </a:pPr>
                      <a:r>
                        <a:rPr lang="es-CO" sz="1100" b="1" i="0" u="none" strike="noStrike">
                          <a:solidFill>
                            <a:srgbClr val="FFFFFF"/>
                          </a:solidFill>
                          <a:effectLst/>
                          <a:latin typeface="Calibri" panose="020F0502020204030204" pitchFamily="34" charset="0"/>
                        </a:rPr>
                        <a:t>ago-26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l"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1" i="0" u="none" strike="noStrike">
                          <a:solidFill>
                            <a:srgbClr val="000000"/>
                          </a:solidFill>
                          <a:effectLst/>
                          <a:latin typeface="Calibri" panose="020F0502020204030204" pitchFamily="34" charset="0"/>
                        </a:rPr>
                        <a:t>23,1%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buNone/>
                      </a:pPr>
                      <a:r>
                        <a:rPr lang="es-CO" sz="1100" b="0" i="0" u="none" strike="noStrike">
                          <a:solidFill>
                            <a:srgbClr val="000000"/>
                          </a:solidFill>
                          <a:effectLst/>
                          <a:latin typeface="Calibri" panose="020F0502020204030204" pitchFamily="34" charset="0"/>
                        </a:rPr>
                        <a:t>25,7%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s-CO" sz="1100" b="0" i="0" u="none" strike="noStrike">
                          <a:solidFill>
                            <a:srgbClr val="000000"/>
                          </a:solidFill>
                          <a:effectLst/>
                          <a:latin typeface="Calibri" panose="020F0502020204030204" pitchFamily="34" charset="0"/>
                        </a:rPr>
                        <a:t>0,5%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913549522"/>
                  </a:ext>
                </a:extLst>
              </a:tr>
              <a:tr h="203993">
                <a:tc vMerge="1">
                  <a:txBody>
                    <a:bodyPr/>
                    <a:lstStyle/>
                    <a:p>
                      <a:endParaRPr lang="es-CO"/>
                    </a:p>
                  </a:txBody>
                  <a:tcPr/>
                </a:tc>
                <a:tc>
                  <a:txBody>
                    <a:bodyPr/>
                    <a:lstStyle/>
                    <a:p>
                      <a:pPr algn="r" fontAlgn="b">
                        <a:buNone/>
                      </a:pPr>
                      <a:r>
                        <a:rPr lang="es-CO" sz="1100" b="1" i="0" u="none" strike="noStrike">
                          <a:solidFill>
                            <a:srgbClr val="FFFFFF"/>
                          </a:solidFill>
                          <a:effectLst/>
                          <a:latin typeface="Calibri" panose="020F0502020204030204" pitchFamily="34" charset="0"/>
                        </a:rPr>
                        <a:t>sep-26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l"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100" b="1" i="0" u="none" strike="noStrike">
                          <a:solidFill>
                            <a:srgbClr val="000000"/>
                          </a:solidFill>
                          <a:effectLst/>
                          <a:latin typeface="Calibri" panose="020F0502020204030204" pitchFamily="34" charset="0"/>
                        </a:rPr>
                        <a:t>45,5%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buNone/>
                      </a:pPr>
                      <a:r>
                        <a:rPr lang="es-CO" sz="1100" b="1" i="0" u="none" strike="noStrike">
                          <a:solidFill>
                            <a:srgbClr val="000000"/>
                          </a:solidFill>
                          <a:effectLst/>
                          <a:latin typeface="Calibri" panose="020F0502020204030204" pitchFamily="34" charset="0"/>
                        </a:rPr>
                        <a:t>0,5%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extLst>
                  <a:ext uri="{0D108BD9-81ED-4DB2-BD59-A6C34878D82A}">
                    <a16:rowId xmlns:a16="http://schemas.microsoft.com/office/drawing/2014/main" val="1265221370"/>
                  </a:ext>
                </a:extLst>
              </a:tr>
            </a:tbl>
          </a:graphicData>
        </a:graphic>
      </p:graphicFrame>
    </p:spTree>
    <p:extLst>
      <p:ext uri="{BB962C8B-B14F-4D97-AF65-F5344CB8AC3E}">
        <p14:creationId xmlns:p14="http://schemas.microsoft.com/office/powerpoint/2010/main" val="195270722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26DEC-7148-A0D9-19C0-EC7EAED9797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82BD4A5-35FD-2C30-E821-BC6B2CE698F2}"/>
              </a:ext>
            </a:extLst>
          </p:cNvPr>
          <p:cNvSpPr>
            <a:spLocks noGrp="1"/>
          </p:cNvSpPr>
          <p:nvPr>
            <p:ph type="ctrTitle"/>
          </p:nvPr>
        </p:nvSpPr>
        <p:spPr>
          <a:xfrm>
            <a:off x="0" y="450472"/>
            <a:ext cx="11645759" cy="526056"/>
          </a:xfrm>
        </p:spPr>
        <p:txBody>
          <a:bodyPr>
            <a:noAutofit/>
          </a:bodyPr>
          <a:lstStyle/>
          <a:p>
            <a:r>
              <a:rPr lang="es-CO" sz="4000" noProof="0"/>
              <a:t>Porcentaje de pacientes en tratamiento 2025/2026</a:t>
            </a:r>
            <a:endParaRPr lang="es-CO" noProof="0"/>
          </a:p>
        </p:txBody>
      </p:sp>
      <p:sp>
        <p:nvSpPr>
          <p:cNvPr id="7" name="CuadroTexto 6">
            <a:extLst>
              <a:ext uri="{FF2B5EF4-FFF2-40B4-BE49-F238E27FC236}">
                <a16:creationId xmlns:a16="http://schemas.microsoft.com/office/drawing/2014/main" id="{B7AD45B8-B9A9-209F-3BDF-436F547FA4AD}"/>
              </a:ext>
            </a:extLst>
          </p:cNvPr>
          <p:cNvSpPr txBox="1"/>
          <p:nvPr/>
        </p:nvSpPr>
        <p:spPr>
          <a:xfrm>
            <a:off x="1475874" y="5989403"/>
            <a:ext cx="9753599" cy="369332"/>
          </a:xfrm>
          <a:prstGeom prst="rect">
            <a:avLst/>
          </a:prstGeom>
          <a:noFill/>
        </p:spPr>
        <p:txBody>
          <a:bodyPr wrap="square">
            <a:spAutoFit/>
          </a:bodyPr>
          <a:lstStyle/>
          <a:p>
            <a:r>
              <a:rPr lang="es-CO" sz="1800" noProof="0"/>
              <a:t>* La terapia sistémica incluye Quimioterapia, Inmunoterapia, terapia hormonal y terapia dirigida</a:t>
            </a:r>
          </a:p>
        </p:txBody>
      </p:sp>
      <p:graphicFrame>
        <p:nvGraphicFramePr>
          <p:cNvPr id="9" name="Gráfico 8">
            <a:extLst>
              <a:ext uri="{FF2B5EF4-FFF2-40B4-BE49-F238E27FC236}">
                <a16:creationId xmlns:a16="http://schemas.microsoft.com/office/drawing/2014/main" id="{A6D25F44-078B-304C-7283-31741F35F2C3}"/>
              </a:ext>
            </a:extLst>
          </p:cNvPr>
          <p:cNvGraphicFramePr/>
          <p:nvPr>
            <p:extLst>
              <p:ext uri="{D42A27DB-BD31-4B8C-83A1-F6EECF244321}">
                <p14:modId xmlns:p14="http://schemas.microsoft.com/office/powerpoint/2010/main" val="3317261903"/>
              </p:ext>
            </p:extLst>
          </p:nvPr>
        </p:nvGraphicFramePr>
        <p:xfrm>
          <a:off x="588316" y="582658"/>
          <a:ext cx="11225632" cy="3362889"/>
        </p:xfrm>
        <a:graphic>
          <a:graphicData uri="http://schemas.openxmlformats.org/drawingml/2006/chart">
            <c:chart xmlns:c="http://schemas.openxmlformats.org/drawingml/2006/chart" xmlns:r="http://schemas.openxmlformats.org/officeDocument/2006/relationships" r:id="rId3"/>
          </a:graphicData>
        </a:graphic>
      </p:graphicFrame>
      <p:sp>
        <p:nvSpPr>
          <p:cNvPr id="5" name="CuadroTexto 4">
            <a:extLst>
              <a:ext uri="{FF2B5EF4-FFF2-40B4-BE49-F238E27FC236}">
                <a16:creationId xmlns:a16="http://schemas.microsoft.com/office/drawing/2014/main" id="{86F57302-26BC-0DF1-7D46-3DDEE41949F4}"/>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a:t>
            </a:r>
            <a:r>
              <a:rPr lang="es-CO" sz="1200" i="1">
                <a:solidFill>
                  <a:schemeClr val="tx2"/>
                </a:solidFill>
              </a:rPr>
              <a:t>Septiembre</a:t>
            </a:r>
            <a:r>
              <a:rPr lang="es-CO" sz="1200" i="1" noProof="0">
                <a:solidFill>
                  <a:schemeClr val="tx2"/>
                </a:solidFill>
              </a:rPr>
              <a:t> 2026</a:t>
            </a:r>
          </a:p>
        </p:txBody>
      </p:sp>
      <p:graphicFrame>
        <p:nvGraphicFramePr>
          <p:cNvPr id="4" name="Tabla 3">
            <a:extLst>
              <a:ext uri="{FF2B5EF4-FFF2-40B4-BE49-F238E27FC236}">
                <a16:creationId xmlns:a16="http://schemas.microsoft.com/office/drawing/2014/main" id="{ECE08792-569B-DEAB-4019-83E6A6BA667D}"/>
              </a:ext>
            </a:extLst>
          </p:cNvPr>
          <p:cNvGraphicFramePr>
            <a:graphicFrameLocks noGrp="1"/>
          </p:cNvGraphicFramePr>
          <p:nvPr>
            <p:extLst>
              <p:ext uri="{D42A27DB-BD31-4B8C-83A1-F6EECF244321}">
                <p14:modId xmlns:p14="http://schemas.microsoft.com/office/powerpoint/2010/main" val="3355255012"/>
              </p:ext>
            </p:extLst>
          </p:nvPr>
        </p:nvGraphicFramePr>
        <p:xfrm>
          <a:off x="838198" y="4188298"/>
          <a:ext cx="10515603" cy="1246010"/>
        </p:xfrm>
        <a:graphic>
          <a:graphicData uri="http://schemas.openxmlformats.org/drawingml/2006/table">
            <a:tbl>
              <a:tblPr/>
              <a:tblGrid>
                <a:gridCol w="1249297">
                  <a:extLst>
                    <a:ext uri="{9D8B030D-6E8A-4147-A177-3AD203B41FA5}">
                      <a16:colId xmlns:a16="http://schemas.microsoft.com/office/drawing/2014/main" val="4122485332"/>
                    </a:ext>
                  </a:extLst>
                </a:gridCol>
                <a:gridCol w="661879">
                  <a:extLst>
                    <a:ext uri="{9D8B030D-6E8A-4147-A177-3AD203B41FA5}">
                      <a16:colId xmlns:a16="http://schemas.microsoft.com/office/drawing/2014/main" val="2925452539"/>
                    </a:ext>
                  </a:extLst>
                </a:gridCol>
                <a:gridCol w="661879">
                  <a:extLst>
                    <a:ext uri="{9D8B030D-6E8A-4147-A177-3AD203B41FA5}">
                      <a16:colId xmlns:a16="http://schemas.microsoft.com/office/drawing/2014/main" val="821466157"/>
                    </a:ext>
                  </a:extLst>
                </a:gridCol>
                <a:gridCol w="661879">
                  <a:extLst>
                    <a:ext uri="{9D8B030D-6E8A-4147-A177-3AD203B41FA5}">
                      <a16:colId xmlns:a16="http://schemas.microsoft.com/office/drawing/2014/main" val="4278329398"/>
                    </a:ext>
                  </a:extLst>
                </a:gridCol>
                <a:gridCol w="661879">
                  <a:extLst>
                    <a:ext uri="{9D8B030D-6E8A-4147-A177-3AD203B41FA5}">
                      <a16:colId xmlns:a16="http://schemas.microsoft.com/office/drawing/2014/main" val="2841151855"/>
                    </a:ext>
                  </a:extLst>
                </a:gridCol>
                <a:gridCol w="661879">
                  <a:extLst>
                    <a:ext uri="{9D8B030D-6E8A-4147-A177-3AD203B41FA5}">
                      <a16:colId xmlns:a16="http://schemas.microsoft.com/office/drawing/2014/main" val="2151372633"/>
                    </a:ext>
                  </a:extLst>
                </a:gridCol>
                <a:gridCol w="661879">
                  <a:extLst>
                    <a:ext uri="{9D8B030D-6E8A-4147-A177-3AD203B41FA5}">
                      <a16:colId xmlns:a16="http://schemas.microsoft.com/office/drawing/2014/main" val="1706722136"/>
                    </a:ext>
                  </a:extLst>
                </a:gridCol>
                <a:gridCol w="661879">
                  <a:extLst>
                    <a:ext uri="{9D8B030D-6E8A-4147-A177-3AD203B41FA5}">
                      <a16:colId xmlns:a16="http://schemas.microsoft.com/office/drawing/2014/main" val="2199826991"/>
                    </a:ext>
                  </a:extLst>
                </a:gridCol>
                <a:gridCol w="661879">
                  <a:extLst>
                    <a:ext uri="{9D8B030D-6E8A-4147-A177-3AD203B41FA5}">
                      <a16:colId xmlns:a16="http://schemas.microsoft.com/office/drawing/2014/main" val="2747924721"/>
                    </a:ext>
                  </a:extLst>
                </a:gridCol>
                <a:gridCol w="661879">
                  <a:extLst>
                    <a:ext uri="{9D8B030D-6E8A-4147-A177-3AD203B41FA5}">
                      <a16:colId xmlns:a16="http://schemas.microsoft.com/office/drawing/2014/main" val="111722483"/>
                    </a:ext>
                  </a:extLst>
                </a:gridCol>
                <a:gridCol w="661879">
                  <a:extLst>
                    <a:ext uri="{9D8B030D-6E8A-4147-A177-3AD203B41FA5}">
                      <a16:colId xmlns:a16="http://schemas.microsoft.com/office/drawing/2014/main" val="925689971"/>
                    </a:ext>
                  </a:extLst>
                </a:gridCol>
                <a:gridCol w="661879">
                  <a:extLst>
                    <a:ext uri="{9D8B030D-6E8A-4147-A177-3AD203B41FA5}">
                      <a16:colId xmlns:a16="http://schemas.microsoft.com/office/drawing/2014/main" val="3827324785"/>
                    </a:ext>
                  </a:extLst>
                </a:gridCol>
                <a:gridCol w="661879">
                  <a:extLst>
                    <a:ext uri="{9D8B030D-6E8A-4147-A177-3AD203B41FA5}">
                      <a16:colId xmlns:a16="http://schemas.microsoft.com/office/drawing/2014/main" val="642392314"/>
                    </a:ext>
                  </a:extLst>
                </a:gridCol>
                <a:gridCol w="661879">
                  <a:extLst>
                    <a:ext uri="{9D8B030D-6E8A-4147-A177-3AD203B41FA5}">
                      <a16:colId xmlns:a16="http://schemas.microsoft.com/office/drawing/2014/main" val="1116778431"/>
                    </a:ext>
                  </a:extLst>
                </a:gridCol>
                <a:gridCol w="661879">
                  <a:extLst>
                    <a:ext uri="{9D8B030D-6E8A-4147-A177-3AD203B41FA5}">
                      <a16:colId xmlns:a16="http://schemas.microsoft.com/office/drawing/2014/main" val="1609937661"/>
                    </a:ext>
                  </a:extLst>
                </a:gridCol>
              </a:tblGrid>
              <a:tr h="423714">
                <a:tc>
                  <a:txBody>
                    <a:bodyPr/>
                    <a:lstStyle/>
                    <a:p>
                      <a:pPr algn="l" rtl="0" fontAlgn="b">
                        <a:buNone/>
                      </a:pPr>
                      <a:r>
                        <a:rPr lang="es-CO" sz="1400" b="1" i="0" u="none" strike="noStrike">
                          <a:solidFill>
                            <a:srgbClr val="FFFFFF"/>
                          </a:solidFill>
                          <a:effectLst/>
                          <a:latin typeface="Muli"/>
                        </a:rPr>
                        <a:t>Tipo de tratamiento</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0589F"/>
                    </a:solidFill>
                  </a:tcPr>
                </a:tc>
                <a:tc>
                  <a:txBody>
                    <a:bodyPr/>
                    <a:lstStyle/>
                    <a:p>
                      <a:pPr algn="ctr" rtl="0" fontAlgn="b">
                        <a:buNone/>
                      </a:pPr>
                      <a:r>
                        <a:rPr lang="es-CO" sz="1400" b="1" i="0" u="none" strike="noStrike">
                          <a:solidFill>
                            <a:srgbClr val="FFFFFF"/>
                          </a:solidFill>
                          <a:effectLst/>
                          <a:latin typeface="Muli"/>
                        </a:rPr>
                        <a:t>ago-25</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b">
                        <a:buNone/>
                      </a:pPr>
                      <a:r>
                        <a:rPr lang="es-CO" sz="1400" b="1" i="0" u="none" strike="noStrike">
                          <a:solidFill>
                            <a:srgbClr val="FFFFFF"/>
                          </a:solidFill>
                          <a:effectLst/>
                          <a:latin typeface="Muli"/>
                        </a:rPr>
                        <a:t>sep-25</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b">
                        <a:buNone/>
                      </a:pPr>
                      <a:r>
                        <a:rPr lang="es-CO" sz="1400" b="1" i="0" u="none" strike="noStrike">
                          <a:solidFill>
                            <a:srgbClr val="FFFFFF"/>
                          </a:solidFill>
                          <a:effectLst/>
                          <a:latin typeface="Muli"/>
                        </a:rPr>
                        <a:t>oct-25</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b">
                        <a:buNone/>
                      </a:pPr>
                      <a:r>
                        <a:rPr lang="es-CO" sz="1400" b="1" i="0" u="none" strike="noStrike">
                          <a:solidFill>
                            <a:srgbClr val="FFFFFF"/>
                          </a:solidFill>
                          <a:effectLst/>
                          <a:latin typeface="Muli"/>
                        </a:rPr>
                        <a:t>nov-25</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b">
                        <a:buNone/>
                      </a:pPr>
                      <a:r>
                        <a:rPr lang="es-CO" sz="1400" b="1" i="0" u="none" strike="noStrike">
                          <a:solidFill>
                            <a:srgbClr val="FFFFFF"/>
                          </a:solidFill>
                          <a:effectLst/>
                          <a:latin typeface="Muli"/>
                        </a:rPr>
                        <a:t>dic-25</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b">
                        <a:buNone/>
                      </a:pPr>
                      <a:r>
                        <a:rPr lang="es-CO" sz="1400" b="1" i="0" u="none" strike="noStrike">
                          <a:solidFill>
                            <a:srgbClr val="FFFFFF"/>
                          </a:solidFill>
                          <a:effectLst/>
                          <a:latin typeface="Muli"/>
                        </a:rPr>
                        <a:t>ene-26</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b">
                        <a:buNone/>
                      </a:pPr>
                      <a:r>
                        <a:rPr lang="es-CO" sz="1400" b="1" i="0" u="none" strike="noStrike">
                          <a:solidFill>
                            <a:srgbClr val="FFFFFF"/>
                          </a:solidFill>
                          <a:effectLst/>
                          <a:latin typeface="Muli"/>
                        </a:rPr>
                        <a:t>feb-26</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b">
                        <a:buNone/>
                      </a:pPr>
                      <a:r>
                        <a:rPr lang="es-CO" sz="1400" b="1" i="0" u="none" strike="noStrike">
                          <a:solidFill>
                            <a:srgbClr val="FFFFFF"/>
                          </a:solidFill>
                          <a:effectLst/>
                          <a:latin typeface="Muli"/>
                        </a:rPr>
                        <a:t>mar-26</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b">
                        <a:buNone/>
                      </a:pPr>
                      <a:r>
                        <a:rPr lang="es-CO" sz="1400" b="1" i="0" u="none" strike="noStrike">
                          <a:solidFill>
                            <a:srgbClr val="FFFFFF"/>
                          </a:solidFill>
                          <a:effectLst/>
                          <a:latin typeface="Muli"/>
                        </a:rPr>
                        <a:t>abr-26</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b">
                        <a:buNone/>
                      </a:pPr>
                      <a:r>
                        <a:rPr lang="es-CO" sz="1400" b="1" i="0" u="none" strike="noStrike">
                          <a:solidFill>
                            <a:srgbClr val="FFFFFF"/>
                          </a:solidFill>
                          <a:effectLst/>
                          <a:latin typeface="Muli"/>
                        </a:rPr>
                        <a:t>may-26</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b">
                        <a:buNone/>
                      </a:pPr>
                      <a:r>
                        <a:rPr lang="es-CO" sz="1400" b="1" i="0" u="none" strike="noStrike">
                          <a:solidFill>
                            <a:srgbClr val="FFFFFF"/>
                          </a:solidFill>
                          <a:effectLst/>
                          <a:latin typeface="Muli"/>
                        </a:rPr>
                        <a:t>jun-26</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b">
                        <a:buNone/>
                      </a:pPr>
                      <a:r>
                        <a:rPr lang="es-CO" sz="1400" b="1" i="0" u="none" strike="noStrike">
                          <a:solidFill>
                            <a:srgbClr val="FFFFFF"/>
                          </a:solidFill>
                          <a:effectLst/>
                          <a:latin typeface="Muli"/>
                        </a:rPr>
                        <a:t>jul-26</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b">
                        <a:buNone/>
                      </a:pPr>
                      <a:r>
                        <a:rPr lang="es-CO" sz="1400" b="1" i="0" u="none" strike="noStrike">
                          <a:solidFill>
                            <a:srgbClr val="FFFFFF"/>
                          </a:solidFill>
                          <a:effectLst/>
                          <a:latin typeface="Muli"/>
                        </a:rPr>
                        <a:t>ago-26</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b">
                        <a:buNone/>
                      </a:pPr>
                      <a:r>
                        <a:rPr lang="es-CO" sz="1400" b="1" i="0" u="none" strike="noStrike">
                          <a:solidFill>
                            <a:srgbClr val="FFFFFF"/>
                          </a:solidFill>
                          <a:effectLst/>
                          <a:latin typeface="Muli"/>
                        </a:rPr>
                        <a:t>sep-26</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extLst>
                  <a:ext uri="{0D108BD9-81ED-4DB2-BD59-A6C34878D82A}">
                    <a16:rowId xmlns:a16="http://schemas.microsoft.com/office/drawing/2014/main" val="291733166"/>
                  </a:ext>
                </a:extLst>
              </a:tr>
              <a:tr h="289648">
                <a:tc>
                  <a:txBody>
                    <a:bodyPr/>
                    <a:lstStyle/>
                    <a:p>
                      <a:pPr algn="l" rtl="0" fontAlgn="b">
                        <a:buNone/>
                      </a:pPr>
                      <a:r>
                        <a:rPr lang="es-CO" sz="1400" b="0" i="0" u="none" strike="noStrike">
                          <a:solidFill>
                            <a:srgbClr val="80589F"/>
                          </a:solidFill>
                          <a:effectLst/>
                          <a:latin typeface="Muli"/>
                        </a:rPr>
                        <a:t>Quimioterapia</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b">
                        <a:buNone/>
                      </a:pPr>
                      <a:r>
                        <a:rPr lang="es-CO" sz="1400" b="0" i="0" u="none" strike="noStrike">
                          <a:solidFill>
                            <a:srgbClr val="80589F"/>
                          </a:solidFill>
                          <a:effectLst/>
                          <a:latin typeface="Muli"/>
                        </a:rPr>
                        <a:t>664</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b">
                        <a:buNone/>
                      </a:pPr>
                      <a:r>
                        <a:rPr lang="es-CO" sz="1400" b="0" i="0" u="none" strike="noStrike">
                          <a:solidFill>
                            <a:srgbClr val="80589F"/>
                          </a:solidFill>
                          <a:effectLst/>
                          <a:latin typeface="Muli"/>
                        </a:rPr>
                        <a:t>656</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b">
                        <a:buNone/>
                      </a:pPr>
                      <a:r>
                        <a:rPr lang="es-CO" sz="1400" b="0" i="0" u="none" strike="noStrike">
                          <a:solidFill>
                            <a:srgbClr val="80589F"/>
                          </a:solidFill>
                          <a:effectLst/>
                          <a:latin typeface="Muli"/>
                        </a:rPr>
                        <a:t>745</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b">
                        <a:buNone/>
                      </a:pPr>
                      <a:r>
                        <a:rPr lang="es-CO" sz="1400" b="0" i="0" u="none" strike="noStrike">
                          <a:solidFill>
                            <a:srgbClr val="80589F"/>
                          </a:solidFill>
                          <a:effectLst/>
                          <a:latin typeface="Muli"/>
                        </a:rPr>
                        <a:t>713</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b">
                        <a:buNone/>
                      </a:pPr>
                      <a:r>
                        <a:rPr lang="es-CO" sz="1400" b="0" i="0" u="none" strike="noStrike">
                          <a:solidFill>
                            <a:srgbClr val="80589F"/>
                          </a:solidFill>
                          <a:effectLst/>
                          <a:latin typeface="Muli"/>
                        </a:rPr>
                        <a:t>669</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b">
                        <a:buNone/>
                      </a:pPr>
                      <a:r>
                        <a:rPr lang="es-CO" sz="1400" b="0" i="0" u="none" strike="noStrike">
                          <a:solidFill>
                            <a:srgbClr val="80589F"/>
                          </a:solidFill>
                          <a:effectLst/>
                          <a:latin typeface="Muli"/>
                        </a:rPr>
                        <a:t>670</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b">
                        <a:buNone/>
                      </a:pPr>
                      <a:r>
                        <a:rPr lang="es-CO" sz="1400" b="0" i="0" u="none" strike="noStrike">
                          <a:solidFill>
                            <a:srgbClr val="80589F"/>
                          </a:solidFill>
                          <a:effectLst/>
                          <a:latin typeface="Muli"/>
                        </a:rPr>
                        <a:t>745</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b">
                        <a:buNone/>
                      </a:pPr>
                      <a:r>
                        <a:rPr lang="es-CO" sz="1400" b="0" i="0" u="none" strike="noStrike">
                          <a:solidFill>
                            <a:srgbClr val="80589F"/>
                          </a:solidFill>
                          <a:effectLst/>
                          <a:latin typeface="Muli"/>
                        </a:rPr>
                        <a:t>750</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b">
                        <a:buNone/>
                      </a:pPr>
                      <a:r>
                        <a:rPr lang="es-CO" sz="1400" b="0" i="0" u="none" strike="noStrike">
                          <a:solidFill>
                            <a:srgbClr val="80589F"/>
                          </a:solidFill>
                          <a:effectLst/>
                          <a:latin typeface="Muli"/>
                        </a:rPr>
                        <a:t>707</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b">
                        <a:buNone/>
                      </a:pPr>
                      <a:r>
                        <a:rPr lang="es-CO" sz="1400" b="0" i="0" u="none" strike="noStrike">
                          <a:solidFill>
                            <a:srgbClr val="80589F"/>
                          </a:solidFill>
                          <a:effectLst/>
                          <a:latin typeface="Muli"/>
                        </a:rPr>
                        <a:t>677</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D1DF"/>
                    </a:solidFill>
                  </a:tcPr>
                </a:tc>
                <a:tc>
                  <a:txBody>
                    <a:bodyPr/>
                    <a:lstStyle/>
                    <a:p>
                      <a:pPr algn="ctr" rtl="0" fontAlgn="b">
                        <a:buNone/>
                      </a:pPr>
                      <a:r>
                        <a:rPr lang="es-CO" sz="1400" b="0" i="0" u="none" strike="noStrike">
                          <a:solidFill>
                            <a:srgbClr val="80589F"/>
                          </a:solidFill>
                          <a:effectLst/>
                          <a:latin typeface="Muli"/>
                        </a:rPr>
                        <a:t>643</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D1DF"/>
                    </a:solidFill>
                  </a:tcPr>
                </a:tc>
                <a:tc>
                  <a:txBody>
                    <a:bodyPr/>
                    <a:lstStyle/>
                    <a:p>
                      <a:pPr algn="ctr" rtl="0" fontAlgn="b">
                        <a:buNone/>
                      </a:pPr>
                      <a:r>
                        <a:rPr lang="es-CO" sz="1400" b="0" i="0" u="none" strike="noStrike">
                          <a:solidFill>
                            <a:srgbClr val="80589F"/>
                          </a:solidFill>
                          <a:effectLst/>
                          <a:latin typeface="Muli"/>
                        </a:rPr>
                        <a:t>640</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D1DF"/>
                    </a:solidFill>
                  </a:tcPr>
                </a:tc>
                <a:tc>
                  <a:txBody>
                    <a:bodyPr/>
                    <a:lstStyle/>
                    <a:p>
                      <a:pPr algn="ctr" rtl="0" fontAlgn="b">
                        <a:buNone/>
                      </a:pPr>
                      <a:r>
                        <a:rPr lang="es-CO" sz="1400" b="0" i="0" u="none" strike="noStrike">
                          <a:solidFill>
                            <a:srgbClr val="80589F"/>
                          </a:solidFill>
                          <a:effectLst/>
                          <a:latin typeface="Muli"/>
                        </a:rPr>
                        <a:t>508</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D1DF"/>
                    </a:solidFill>
                  </a:tcPr>
                </a:tc>
                <a:tc>
                  <a:txBody>
                    <a:bodyPr/>
                    <a:lstStyle/>
                    <a:p>
                      <a:pPr algn="ctr" rtl="0" fontAlgn="b">
                        <a:buNone/>
                      </a:pPr>
                      <a:r>
                        <a:rPr lang="es-CO" sz="1400" b="0" i="0" u="none" strike="noStrike">
                          <a:solidFill>
                            <a:srgbClr val="80589F"/>
                          </a:solidFill>
                          <a:effectLst/>
                          <a:latin typeface="Muli"/>
                        </a:rPr>
                        <a:t>625</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D1DF"/>
                    </a:solidFill>
                  </a:tcPr>
                </a:tc>
                <a:extLst>
                  <a:ext uri="{0D108BD9-81ED-4DB2-BD59-A6C34878D82A}">
                    <a16:rowId xmlns:a16="http://schemas.microsoft.com/office/drawing/2014/main" val="3089730064"/>
                  </a:ext>
                </a:extLst>
              </a:tr>
              <a:tr h="264821">
                <a:tc>
                  <a:txBody>
                    <a:bodyPr/>
                    <a:lstStyle/>
                    <a:p>
                      <a:pPr algn="l" rtl="0" fontAlgn="b">
                        <a:buNone/>
                      </a:pPr>
                      <a:r>
                        <a:rPr lang="es-CO" sz="1400" b="0" i="0" u="none" strike="noStrike">
                          <a:solidFill>
                            <a:srgbClr val="80589F"/>
                          </a:solidFill>
                          <a:effectLst/>
                          <a:latin typeface="Muli"/>
                        </a:rPr>
                        <a:t>Radioterapia</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b">
                        <a:buNone/>
                      </a:pPr>
                      <a:r>
                        <a:rPr lang="es-CO" sz="1400" b="0" i="0" u="none" strike="noStrike">
                          <a:solidFill>
                            <a:srgbClr val="80589F"/>
                          </a:solidFill>
                          <a:effectLst/>
                          <a:latin typeface="Muli"/>
                        </a:rPr>
                        <a:t>45</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b">
                        <a:buNone/>
                      </a:pPr>
                      <a:r>
                        <a:rPr lang="es-CO" sz="1400" b="0" i="0" u="none" strike="noStrike">
                          <a:solidFill>
                            <a:srgbClr val="80589F"/>
                          </a:solidFill>
                          <a:effectLst/>
                          <a:latin typeface="Muli"/>
                        </a:rPr>
                        <a:t>33</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b">
                        <a:buNone/>
                      </a:pPr>
                      <a:r>
                        <a:rPr lang="es-CO" sz="1400" b="0" i="0" u="none" strike="noStrike">
                          <a:solidFill>
                            <a:srgbClr val="80589F"/>
                          </a:solidFill>
                          <a:effectLst/>
                          <a:latin typeface="Muli"/>
                        </a:rPr>
                        <a:t>73</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b">
                        <a:buNone/>
                      </a:pPr>
                      <a:r>
                        <a:rPr lang="es-CO" sz="1400" b="0" i="0" u="none" strike="noStrike">
                          <a:solidFill>
                            <a:srgbClr val="80589F"/>
                          </a:solidFill>
                          <a:effectLst/>
                          <a:latin typeface="Muli"/>
                        </a:rPr>
                        <a:t>159</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b">
                        <a:buNone/>
                      </a:pPr>
                      <a:r>
                        <a:rPr lang="es-CO" sz="1400" b="0" i="0" u="none" strike="noStrike">
                          <a:solidFill>
                            <a:srgbClr val="80589F"/>
                          </a:solidFill>
                          <a:effectLst/>
                          <a:latin typeface="Muli"/>
                        </a:rPr>
                        <a:t>91</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b">
                        <a:buNone/>
                      </a:pPr>
                      <a:r>
                        <a:rPr lang="es-CO" sz="1400" b="0" i="0" u="none" strike="noStrike">
                          <a:solidFill>
                            <a:srgbClr val="80589F"/>
                          </a:solidFill>
                          <a:effectLst/>
                          <a:latin typeface="Muli"/>
                        </a:rPr>
                        <a:t>92</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b">
                        <a:buNone/>
                      </a:pPr>
                      <a:r>
                        <a:rPr lang="es-CO" sz="1400" b="0" i="0" u="none" strike="noStrike">
                          <a:solidFill>
                            <a:srgbClr val="80589F"/>
                          </a:solidFill>
                          <a:effectLst/>
                          <a:latin typeface="Muli"/>
                        </a:rPr>
                        <a:t>82</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b">
                        <a:buNone/>
                      </a:pPr>
                      <a:r>
                        <a:rPr lang="es-CO" sz="1400" b="0" i="0" u="none" strike="noStrike">
                          <a:solidFill>
                            <a:srgbClr val="80589F"/>
                          </a:solidFill>
                          <a:effectLst/>
                          <a:latin typeface="Muli"/>
                        </a:rPr>
                        <a:t>79</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b">
                        <a:buNone/>
                      </a:pPr>
                      <a:r>
                        <a:rPr lang="es-CO" sz="1400" b="0" i="0" u="none" strike="noStrike">
                          <a:solidFill>
                            <a:srgbClr val="80589F"/>
                          </a:solidFill>
                          <a:effectLst/>
                          <a:latin typeface="Muli"/>
                        </a:rPr>
                        <a:t>78</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b">
                        <a:buNone/>
                      </a:pPr>
                      <a:r>
                        <a:rPr lang="es-CO" sz="1400" b="0" i="0" u="none" strike="noStrike">
                          <a:solidFill>
                            <a:srgbClr val="80589F"/>
                          </a:solidFill>
                          <a:effectLst/>
                          <a:latin typeface="Muli"/>
                        </a:rPr>
                        <a:t>80</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D1DF"/>
                    </a:solidFill>
                  </a:tcPr>
                </a:tc>
                <a:tc>
                  <a:txBody>
                    <a:bodyPr/>
                    <a:lstStyle/>
                    <a:p>
                      <a:pPr algn="ctr" rtl="0" fontAlgn="b">
                        <a:buNone/>
                      </a:pPr>
                      <a:r>
                        <a:rPr lang="es-CO" sz="1400" b="0" i="0" u="none" strike="noStrike">
                          <a:solidFill>
                            <a:srgbClr val="80589F"/>
                          </a:solidFill>
                          <a:effectLst/>
                          <a:latin typeface="Muli"/>
                        </a:rPr>
                        <a:t>57</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D1DF"/>
                    </a:solidFill>
                  </a:tcPr>
                </a:tc>
                <a:tc>
                  <a:txBody>
                    <a:bodyPr/>
                    <a:lstStyle/>
                    <a:p>
                      <a:pPr algn="ctr" rtl="0" fontAlgn="b">
                        <a:buNone/>
                      </a:pPr>
                      <a:r>
                        <a:rPr lang="es-CO" sz="1400" b="0" i="0" u="none" strike="noStrike">
                          <a:solidFill>
                            <a:srgbClr val="80589F"/>
                          </a:solidFill>
                          <a:effectLst/>
                          <a:latin typeface="Muli"/>
                        </a:rPr>
                        <a:t>80</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D1DF"/>
                    </a:solidFill>
                  </a:tcPr>
                </a:tc>
                <a:tc>
                  <a:txBody>
                    <a:bodyPr/>
                    <a:lstStyle/>
                    <a:p>
                      <a:pPr algn="ctr" rtl="0" fontAlgn="b">
                        <a:buNone/>
                      </a:pPr>
                      <a:r>
                        <a:rPr lang="es-CO" sz="1400" b="0" i="0" u="none" strike="noStrike">
                          <a:solidFill>
                            <a:srgbClr val="80589F"/>
                          </a:solidFill>
                          <a:effectLst/>
                          <a:latin typeface="Muli"/>
                        </a:rPr>
                        <a:t>46</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D1DF"/>
                    </a:solidFill>
                  </a:tcPr>
                </a:tc>
                <a:tc>
                  <a:txBody>
                    <a:bodyPr/>
                    <a:lstStyle/>
                    <a:p>
                      <a:pPr algn="ctr" rtl="0" fontAlgn="b">
                        <a:buNone/>
                      </a:pPr>
                      <a:r>
                        <a:rPr lang="es-CO" sz="1400" b="0" i="0" u="none" strike="noStrike">
                          <a:solidFill>
                            <a:srgbClr val="80589F"/>
                          </a:solidFill>
                          <a:effectLst/>
                          <a:latin typeface="Muli"/>
                        </a:rPr>
                        <a:t>60</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D1DF"/>
                    </a:solidFill>
                  </a:tcPr>
                </a:tc>
                <a:extLst>
                  <a:ext uri="{0D108BD9-81ED-4DB2-BD59-A6C34878D82A}">
                    <a16:rowId xmlns:a16="http://schemas.microsoft.com/office/drawing/2014/main" val="3451541416"/>
                  </a:ext>
                </a:extLst>
              </a:tr>
              <a:tr h="264821">
                <a:tc>
                  <a:txBody>
                    <a:bodyPr/>
                    <a:lstStyle/>
                    <a:p>
                      <a:pPr algn="l" rtl="0" fontAlgn="b">
                        <a:buNone/>
                      </a:pPr>
                      <a:r>
                        <a:rPr lang="es-CO" sz="1400" b="0" i="0" u="none" strike="noStrike">
                          <a:solidFill>
                            <a:srgbClr val="80589F"/>
                          </a:solidFill>
                          <a:effectLst/>
                          <a:latin typeface="Muli"/>
                        </a:rPr>
                        <a:t>Cirugía</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b">
                        <a:buNone/>
                      </a:pPr>
                      <a:r>
                        <a:rPr lang="es-CO" sz="1400" b="0" i="0" u="none" strike="noStrike">
                          <a:solidFill>
                            <a:srgbClr val="80589F"/>
                          </a:solidFill>
                          <a:effectLst/>
                          <a:latin typeface="Muli"/>
                        </a:rPr>
                        <a:t>97</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b">
                        <a:buNone/>
                      </a:pPr>
                      <a:r>
                        <a:rPr lang="es-CO" sz="1400" b="0" i="0" u="none" strike="noStrike">
                          <a:solidFill>
                            <a:srgbClr val="80589F"/>
                          </a:solidFill>
                          <a:effectLst/>
                          <a:latin typeface="Muli"/>
                        </a:rPr>
                        <a:t>94</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b">
                        <a:buNone/>
                      </a:pPr>
                      <a:r>
                        <a:rPr lang="es-CO" sz="1400" b="0" i="0" u="none" strike="noStrike">
                          <a:solidFill>
                            <a:srgbClr val="80589F"/>
                          </a:solidFill>
                          <a:effectLst/>
                          <a:latin typeface="Muli"/>
                        </a:rPr>
                        <a:t>154</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b">
                        <a:buNone/>
                      </a:pPr>
                      <a:r>
                        <a:rPr lang="es-CO" sz="1400" b="0" i="0" u="none" strike="noStrike">
                          <a:solidFill>
                            <a:srgbClr val="80589F"/>
                          </a:solidFill>
                          <a:effectLst/>
                          <a:latin typeface="Muli"/>
                        </a:rPr>
                        <a:t>153</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b">
                        <a:buNone/>
                      </a:pPr>
                      <a:r>
                        <a:rPr lang="es-CO" sz="1400" b="0" i="0" u="none" strike="noStrike">
                          <a:solidFill>
                            <a:srgbClr val="80589F"/>
                          </a:solidFill>
                          <a:effectLst/>
                          <a:latin typeface="Muli"/>
                        </a:rPr>
                        <a:t>143</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b">
                        <a:buNone/>
                      </a:pPr>
                      <a:r>
                        <a:rPr lang="es-CO" sz="1400" b="0" i="0" u="none" strike="noStrike">
                          <a:solidFill>
                            <a:srgbClr val="80589F"/>
                          </a:solidFill>
                          <a:effectLst/>
                          <a:latin typeface="Muli"/>
                        </a:rPr>
                        <a:t>226</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b">
                        <a:buNone/>
                      </a:pPr>
                      <a:r>
                        <a:rPr lang="es-CO" sz="1400" b="0" i="0" u="none" strike="noStrike">
                          <a:solidFill>
                            <a:srgbClr val="80589F"/>
                          </a:solidFill>
                          <a:effectLst/>
                          <a:latin typeface="Muli"/>
                        </a:rPr>
                        <a:t>332</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b">
                        <a:buNone/>
                      </a:pPr>
                      <a:r>
                        <a:rPr lang="es-CO" sz="1400" b="0" i="0" u="none" strike="noStrike">
                          <a:solidFill>
                            <a:srgbClr val="80589F"/>
                          </a:solidFill>
                          <a:effectLst/>
                          <a:latin typeface="Muli"/>
                        </a:rPr>
                        <a:t>353</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b">
                        <a:buNone/>
                      </a:pPr>
                      <a:r>
                        <a:rPr lang="es-CO" sz="1400" b="0" i="0" u="none" strike="noStrike">
                          <a:solidFill>
                            <a:srgbClr val="80589F"/>
                          </a:solidFill>
                          <a:effectLst/>
                          <a:latin typeface="Muli"/>
                        </a:rPr>
                        <a:t>297</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b">
                        <a:buNone/>
                      </a:pPr>
                      <a:r>
                        <a:rPr lang="es-CO" sz="1400" b="0" i="0" u="none" strike="noStrike">
                          <a:solidFill>
                            <a:srgbClr val="80589F"/>
                          </a:solidFill>
                          <a:effectLst/>
                          <a:latin typeface="Muli"/>
                        </a:rPr>
                        <a:t>338</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b">
                        <a:buNone/>
                      </a:pPr>
                      <a:r>
                        <a:rPr lang="es-CO" sz="1400" b="0" i="0" u="none" strike="noStrike">
                          <a:solidFill>
                            <a:srgbClr val="80589F"/>
                          </a:solidFill>
                          <a:effectLst/>
                          <a:latin typeface="Muli"/>
                        </a:rPr>
                        <a:t>209</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b">
                        <a:buNone/>
                      </a:pPr>
                      <a:r>
                        <a:rPr lang="es-CO" sz="1400" b="0" i="0" u="none" strike="noStrike">
                          <a:solidFill>
                            <a:srgbClr val="80589F"/>
                          </a:solidFill>
                          <a:effectLst/>
                          <a:latin typeface="Muli"/>
                        </a:rPr>
                        <a:t>265</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b">
                        <a:buNone/>
                      </a:pPr>
                      <a:r>
                        <a:rPr lang="es-CO" sz="1400" b="0" i="0" u="none" strike="noStrike">
                          <a:solidFill>
                            <a:srgbClr val="80589F"/>
                          </a:solidFill>
                          <a:effectLst/>
                          <a:latin typeface="Muli"/>
                        </a:rPr>
                        <a:t>186</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b">
                        <a:buNone/>
                      </a:pPr>
                      <a:r>
                        <a:rPr lang="es-CO" sz="1400" b="0" i="0" u="none" strike="noStrike">
                          <a:solidFill>
                            <a:srgbClr val="80589F"/>
                          </a:solidFill>
                          <a:effectLst/>
                          <a:latin typeface="Muli"/>
                        </a:rPr>
                        <a:t>201</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extLst>
                  <a:ext uri="{0D108BD9-81ED-4DB2-BD59-A6C34878D82A}">
                    <a16:rowId xmlns:a16="http://schemas.microsoft.com/office/drawing/2014/main" val="2914033411"/>
                  </a:ext>
                </a:extLst>
              </a:tr>
            </a:tbl>
          </a:graphicData>
        </a:graphic>
      </p:graphicFrame>
    </p:spTree>
    <p:extLst>
      <p:ext uri="{BB962C8B-B14F-4D97-AF65-F5344CB8AC3E}">
        <p14:creationId xmlns:p14="http://schemas.microsoft.com/office/powerpoint/2010/main" val="57508457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3783D-235E-7B12-DE32-E21FE3EDBCFF}"/>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32FD84AC-7642-356B-007D-773C4A90DAB4}"/>
              </a:ext>
            </a:extLst>
          </p:cNvPr>
          <p:cNvSpPr>
            <a:spLocks noGrp="1"/>
          </p:cNvSpPr>
          <p:nvPr>
            <p:ph type="ctrTitle"/>
          </p:nvPr>
        </p:nvSpPr>
        <p:spPr>
          <a:xfrm>
            <a:off x="273120" y="0"/>
            <a:ext cx="11645759" cy="786278"/>
          </a:xfrm>
        </p:spPr>
        <p:txBody>
          <a:bodyPr/>
          <a:lstStyle/>
          <a:p>
            <a:r>
              <a:rPr lang="es-CO" noProof="0"/>
              <a:t>Oportunidades 2025/2026</a:t>
            </a:r>
          </a:p>
        </p:txBody>
      </p:sp>
      <p:graphicFrame>
        <p:nvGraphicFramePr>
          <p:cNvPr id="7" name="Gráfico 6">
            <a:extLst>
              <a:ext uri="{FF2B5EF4-FFF2-40B4-BE49-F238E27FC236}">
                <a16:creationId xmlns:a16="http://schemas.microsoft.com/office/drawing/2014/main" id="{F710ADEC-ED89-DF14-96B2-0A099DFCFEFF}"/>
              </a:ext>
            </a:extLst>
          </p:cNvPr>
          <p:cNvGraphicFramePr/>
          <p:nvPr>
            <p:extLst>
              <p:ext uri="{D42A27DB-BD31-4B8C-83A1-F6EECF244321}">
                <p14:modId xmlns:p14="http://schemas.microsoft.com/office/powerpoint/2010/main" val="3278555072"/>
              </p:ext>
            </p:extLst>
          </p:nvPr>
        </p:nvGraphicFramePr>
        <p:xfrm>
          <a:off x="6221759" y="716928"/>
          <a:ext cx="5760000" cy="28427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Gráfico 8">
            <a:extLst>
              <a:ext uri="{FF2B5EF4-FFF2-40B4-BE49-F238E27FC236}">
                <a16:creationId xmlns:a16="http://schemas.microsoft.com/office/drawing/2014/main" id="{8224F68F-12E1-DDCB-EB01-CB6A5260ADFE}"/>
              </a:ext>
            </a:extLst>
          </p:cNvPr>
          <p:cNvGraphicFramePr/>
          <p:nvPr>
            <p:extLst>
              <p:ext uri="{D42A27DB-BD31-4B8C-83A1-F6EECF244321}">
                <p14:modId xmlns:p14="http://schemas.microsoft.com/office/powerpoint/2010/main" val="3127603376"/>
              </p:ext>
            </p:extLst>
          </p:nvPr>
        </p:nvGraphicFramePr>
        <p:xfrm>
          <a:off x="284231" y="3718747"/>
          <a:ext cx="5760000" cy="264939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Gráfico 9">
            <a:extLst>
              <a:ext uri="{FF2B5EF4-FFF2-40B4-BE49-F238E27FC236}">
                <a16:creationId xmlns:a16="http://schemas.microsoft.com/office/drawing/2014/main" id="{B18517F3-843B-D557-FA72-BFC5056F40D8}"/>
              </a:ext>
            </a:extLst>
          </p:cNvPr>
          <p:cNvGraphicFramePr/>
          <p:nvPr>
            <p:extLst>
              <p:ext uri="{D42A27DB-BD31-4B8C-83A1-F6EECF244321}">
                <p14:modId xmlns:p14="http://schemas.microsoft.com/office/powerpoint/2010/main" val="634732277"/>
              </p:ext>
            </p:extLst>
          </p:nvPr>
        </p:nvGraphicFramePr>
        <p:xfrm>
          <a:off x="6221759" y="3718747"/>
          <a:ext cx="5760000" cy="2649396"/>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 name="Gráfico 1">
            <a:extLst>
              <a:ext uri="{FF2B5EF4-FFF2-40B4-BE49-F238E27FC236}">
                <a16:creationId xmlns:a16="http://schemas.microsoft.com/office/drawing/2014/main" id="{AAB7A068-43B7-9128-CF25-9D2762C7BDD3}"/>
              </a:ext>
            </a:extLst>
          </p:cNvPr>
          <p:cNvGraphicFramePr/>
          <p:nvPr>
            <p:extLst>
              <p:ext uri="{D42A27DB-BD31-4B8C-83A1-F6EECF244321}">
                <p14:modId xmlns:p14="http://schemas.microsoft.com/office/powerpoint/2010/main" val="439014096"/>
              </p:ext>
            </p:extLst>
          </p:nvPr>
        </p:nvGraphicFramePr>
        <p:xfrm>
          <a:off x="273120" y="704217"/>
          <a:ext cx="5760000" cy="2855411"/>
        </p:xfrm>
        <a:graphic>
          <a:graphicData uri="http://schemas.openxmlformats.org/drawingml/2006/chart">
            <c:chart xmlns:c="http://schemas.openxmlformats.org/drawingml/2006/chart" xmlns:r="http://schemas.openxmlformats.org/officeDocument/2006/relationships" r:id="rId6"/>
          </a:graphicData>
        </a:graphic>
      </p:graphicFrame>
      <p:sp>
        <p:nvSpPr>
          <p:cNvPr id="5" name="CuadroTexto 4">
            <a:extLst>
              <a:ext uri="{FF2B5EF4-FFF2-40B4-BE49-F238E27FC236}">
                <a16:creationId xmlns:a16="http://schemas.microsoft.com/office/drawing/2014/main" id="{E096730D-9B8A-942F-149B-FA5D7EFBC28D}"/>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a:t>
            </a:r>
            <a:r>
              <a:rPr lang="es-CO" sz="1200" i="1" noProof="0" err="1">
                <a:solidFill>
                  <a:schemeClr val="tx2"/>
                </a:solidFill>
              </a:rPr>
              <a:t>Sep</a:t>
            </a:r>
            <a:r>
              <a:rPr lang="es-CO" sz="1200" i="1" err="1">
                <a:solidFill>
                  <a:schemeClr val="tx2"/>
                </a:solidFill>
              </a:rPr>
              <a:t>tiembre</a:t>
            </a:r>
            <a:r>
              <a:rPr lang="es-CO" sz="1200" i="1" noProof="0">
                <a:solidFill>
                  <a:schemeClr val="tx2"/>
                </a:solidFill>
              </a:rPr>
              <a:t> 2026</a:t>
            </a:r>
          </a:p>
        </p:txBody>
      </p:sp>
    </p:spTree>
    <p:extLst>
      <p:ext uri="{BB962C8B-B14F-4D97-AF65-F5344CB8AC3E}">
        <p14:creationId xmlns:p14="http://schemas.microsoft.com/office/powerpoint/2010/main" val="403088462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96E96-A191-C3B3-926D-6D9ED81693B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5BBB515-7C50-972D-FB00-7D7E5FA8476A}"/>
              </a:ext>
            </a:extLst>
          </p:cNvPr>
          <p:cNvSpPr>
            <a:spLocks noGrp="1"/>
          </p:cNvSpPr>
          <p:nvPr>
            <p:ph type="ctrTitle"/>
          </p:nvPr>
        </p:nvSpPr>
        <p:spPr>
          <a:xfrm>
            <a:off x="273120" y="0"/>
            <a:ext cx="11645759" cy="786278"/>
          </a:xfrm>
        </p:spPr>
        <p:txBody>
          <a:bodyPr/>
          <a:lstStyle/>
          <a:p>
            <a:r>
              <a:rPr lang="es-CO" noProof="0"/>
              <a:t>Oportunidades inicio de tratamientos 2025/2026</a:t>
            </a:r>
          </a:p>
        </p:txBody>
      </p:sp>
      <p:graphicFrame>
        <p:nvGraphicFramePr>
          <p:cNvPr id="6" name="Gráfico 5">
            <a:extLst>
              <a:ext uri="{FF2B5EF4-FFF2-40B4-BE49-F238E27FC236}">
                <a16:creationId xmlns:a16="http://schemas.microsoft.com/office/drawing/2014/main" id="{95B0E0B8-BC50-420F-6496-6A3D0E434B69}"/>
              </a:ext>
            </a:extLst>
          </p:cNvPr>
          <p:cNvGraphicFramePr/>
          <p:nvPr>
            <p:extLst>
              <p:ext uri="{D42A27DB-BD31-4B8C-83A1-F6EECF244321}">
                <p14:modId xmlns:p14="http://schemas.microsoft.com/office/powerpoint/2010/main" val="1293774311"/>
              </p:ext>
            </p:extLst>
          </p:nvPr>
        </p:nvGraphicFramePr>
        <p:xfrm>
          <a:off x="120720" y="764604"/>
          <a:ext cx="5940000" cy="270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Gráfico 6">
            <a:extLst>
              <a:ext uri="{FF2B5EF4-FFF2-40B4-BE49-F238E27FC236}">
                <a16:creationId xmlns:a16="http://schemas.microsoft.com/office/drawing/2014/main" id="{F3A898DC-40E3-7EF0-C216-44BCA8C536B9}"/>
              </a:ext>
            </a:extLst>
          </p:cNvPr>
          <p:cNvGraphicFramePr/>
          <p:nvPr>
            <p:extLst>
              <p:ext uri="{D42A27DB-BD31-4B8C-83A1-F6EECF244321}">
                <p14:modId xmlns:p14="http://schemas.microsoft.com/office/powerpoint/2010/main" val="2297836008"/>
              </p:ext>
            </p:extLst>
          </p:nvPr>
        </p:nvGraphicFramePr>
        <p:xfrm>
          <a:off x="120720" y="3558066"/>
          <a:ext cx="5940000" cy="270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Gráfico 7">
            <a:extLst>
              <a:ext uri="{FF2B5EF4-FFF2-40B4-BE49-F238E27FC236}">
                <a16:creationId xmlns:a16="http://schemas.microsoft.com/office/drawing/2014/main" id="{AADECE94-A09C-A081-6046-18CC68FB076C}"/>
              </a:ext>
            </a:extLst>
          </p:cNvPr>
          <p:cNvGraphicFramePr/>
          <p:nvPr>
            <p:extLst>
              <p:ext uri="{D42A27DB-BD31-4B8C-83A1-F6EECF244321}">
                <p14:modId xmlns:p14="http://schemas.microsoft.com/office/powerpoint/2010/main" val="2225244906"/>
              </p:ext>
            </p:extLst>
          </p:nvPr>
        </p:nvGraphicFramePr>
        <p:xfrm>
          <a:off x="6137528" y="3558066"/>
          <a:ext cx="5940000" cy="2700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 name="Gráfico 8">
            <a:extLst>
              <a:ext uri="{FF2B5EF4-FFF2-40B4-BE49-F238E27FC236}">
                <a16:creationId xmlns:a16="http://schemas.microsoft.com/office/drawing/2014/main" id="{A08888BA-0311-DE56-53A0-9F39EB43D02A}"/>
              </a:ext>
            </a:extLst>
          </p:cNvPr>
          <p:cNvGraphicFramePr/>
          <p:nvPr>
            <p:extLst>
              <p:ext uri="{D42A27DB-BD31-4B8C-83A1-F6EECF244321}">
                <p14:modId xmlns:p14="http://schemas.microsoft.com/office/powerpoint/2010/main" val="2185889929"/>
              </p:ext>
            </p:extLst>
          </p:nvPr>
        </p:nvGraphicFramePr>
        <p:xfrm>
          <a:off x="6095999" y="699473"/>
          <a:ext cx="5940000" cy="2700000"/>
        </p:xfrm>
        <a:graphic>
          <a:graphicData uri="http://schemas.openxmlformats.org/drawingml/2006/chart">
            <c:chart xmlns:c="http://schemas.openxmlformats.org/drawingml/2006/chart" xmlns:r="http://schemas.openxmlformats.org/officeDocument/2006/relationships" r:id="rId5"/>
          </a:graphicData>
        </a:graphic>
      </p:graphicFrame>
      <p:sp>
        <p:nvSpPr>
          <p:cNvPr id="3" name="CuadroTexto 2">
            <a:extLst>
              <a:ext uri="{FF2B5EF4-FFF2-40B4-BE49-F238E27FC236}">
                <a16:creationId xmlns:a16="http://schemas.microsoft.com/office/drawing/2014/main" id="{84C4EE11-A1E6-D580-7502-D537628E221A}"/>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Septiembre 2026</a:t>
            </a:r>
          </a:p>
        </p:txBody>
      </p:sp>
    </p:spTree>
    <p:extLst>
      <p:ext uri="{BB962C8B-B14F-4D97-AF65-F5344CB8AC3E}">
        <p14:creationId xmlns:p14="http://schemas.microsoft.com/office/powerpoint/2010/main" val="85906910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BA583-E6C1-17D9-CDC1-C10B61B3374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276FE93-49FD-35D5-AE0A-E859807085ED}"/>
              </a:ext>
            </a:extLst>
          </p:cNvPr>
          <p:cNvSpPr>
            <a:spLocks noGrp="1"/>
          </p:cNvSpPr>
          <p:nvPr>
            <p:ph type="title"/>
          </p:nvPr>
        </p:nvSpPr>
        <p:spPr>
          <a:xfrm>
            <a:off x="838200" y="148092"/>
            <a:ext cx="10515600" cy="896937"/>
          </a:xfrm>
        </p:spPr>
        <p:txBody>
          <a:bodyPr>
            <a:normAutofit fontScale="90000"/>
          </a:bodyPr>
          <a:lstStyle/>
          <a:p>
            <a:pPr algn="ctr"/>
            <a:r>
              <a:rPr lang="es-CO" noProof="0"/>
              <a:t>Cuidados Paliativos General 2026</a:t>
            </a:r>
          </a:p>
        </p:txBody>
      </p:sp>
      <p:sp>
        <p:nvSpPr>
          <p:cNvPr id="8" name="CuadroTexto 7">
            <a:extLst>
              <a:ext uri="{FF2B5EF4-FFF2-40B4-BE49-F238E27FC236}">
                <a16:creationId xmlns:a16="http://schemas.microsoft.com/office/drawing/2014/main" id="{3D8C84CA-5203-28A8-A9F6-E5E43DE79608}"/>
              </a:ext>
            </a:extLst>
          </p:cNvPr>
          <p:cNvSpPr txBox="1"/>
          <p:nvPr/>
        </p:nvSpPr>
        <p:spPr>
          <a:xfrm>
            <a:off x="8674229" y="5641503"/>
            <a:ext cx="3194689" cy="830997"/>
          </a:xfrm>
          <a:prstGeom prst="rect">
            <a:avLst/>
          </a:prstGeom>
          <a:noFill/>
        </p:spPr>
        <p:txBody>
          <a:bodyPr wrap="square" lIns="91440" tIns="45720" rIns="91440" bIns="45720" anchor="t">
            <a:spAutoFit/>
          </a:bodyPr>
          <a:lstStyle/>
          <a:p>
            <a:pPr algn="ctr"/>
            <a:r>
              <a:rPr lang="es-CO" sz="2000" b="1" noProof="0"/>
              <a:t>Cobertura global actual: </a:t>
            </a:r>
            <a:endParaRPr lang="es-CO" sz="2000" b="1" noProof="0">
              <a:solidFill>
                <a:srgbClr val="4B4B4B"/>
              </a:solidFill>
            </a:endParaRPr>
          </a:p>
          <a:p>
            <a:pPr algn="ctr"/>
            <a:r>
              <a:rPr lang="es-CO" sz="2800" noProof="0">
                <a:solidFill>
                  <a:srgbClr val="4B4B4B"/>
                </a:solidFill>
              </a:rPr>
              <a:t>47%</a:t>
            </a:r>
            <a:endParaRPr lang="es-CO" sz="2000" noProof="0">
              <a:solidFill>
                <a:srgbClr val="4B4B4B"/>
              </a:solidFill>
            </a:endParaRPr>
          </a:p>
        </p:txBody>
      </p:sp>
      <p:sp>
        <p:nvSpPr>
          <p:cNvPr id="3" name="CuadroTexto 2">
            <a:extLst>
              <a:ext uri="{FF2B5EF4-FFF2-40B4-BE49-F238E27FC236}">
                <a16:creationId xmlns:a16="http://schemas.microsoft.com/office/drawing/2014/main" id="{BC5C3E7F-C8DB-B556-2989-799DFBFE0D37}"/>
              </a:ext>
            </a:extLst>
          </p:cNvPr>
          <p:cNvSpPr txBox="1"/>
          <p:nvPr/>
        </p:nvSpPr>
        <p:spPr>
          <a:xfrm>
            <a:off x="838200" y="4798717"/>
            <a:ext cx="11309278" cy="1077218"/>
          </a:xfrm>
          <a:prstGeom prst="rect">
            <a:avLst/>
          </a:prstGeom>
          <a:noFill/>
        </p:spPr>
        <p:txBody>
          <a:bodyPr wrap="square" rtlCol="0">
            <a:spAutoFit/>
          </a:bodyPr>
          <a:lstStyle/>
          <a:p>
            <a:r>
              <a:rPr lang="es-CO" sz="1600" noProof="0"/>
              <a:t>*Para el 2025 la cobertura fue del 68%, por que se estableció una meta 2026 80%</a:t>
            </a:r>
          </a:p>
          <a:p>
            <a:r>
              <a:rPr lang="es-CO" sz="1600" noProof="0"/>
              <a:t>*La meta se reinicia cada enero en 0% con el objetivo de dar seguimiento mensual y trazabilidad de lo corrido del año</a:t>
            </a:r>
          </a:p>
          <a:p>
            <a:r>
              <a:rPr lang="es-ES" sz="1600"/>
              <a:t>*T</a:t>
            </a:r>
            <a:r>
              <a:rPr lang="es-MX" sz="1600"/>
              <a:t>totalidad de consultas por medicina del dolor 2.294, nutrición 8.940, psicología 9.666, trabajo social: 10.400, enfermería: 1.331</a:t>
            </a:r>
          </a:p>
          <a:p>
            <a:r>
              <a:rPr lang="es-MX" sz="1600"/>
              <a:t>*Se presenta un promedio de 10% de incumplimiento con mejoría a nivel nacional</a:t>
            </a:r>
            <a:endParaRPr lang="es-CO" sz="1600" noProof="0"/>
          </a:p>
        </p:txBody>
      </p:sp>
      <p:sp>
        <p:nvSpPr>
          <p:cNvPr id="10" name="CuadroTexto 9">
            <a:extLst>
              <a:ext uri="{FF2B5EF4-FFF2-40B4-BE49-F238E27FC236}">
                <a16:creationId xmlns:a16="http://schemas.microsoft.com/office/drawing/2014/main" id="{83222120-D730-28A5-4356-1AF75AF324B0}"/>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Septiembre 2026</a:t>
            </a:r>
          </a:p>
        </p:txBody>
      </p:sp>
      <p:graphicFrame>
        <p:nvGraphicFramePr>
          <p:cNvPr id="6" name="Tabla 5">
            <a:extLst>
              <a:ext uri="{FF2B5EF4-FFF2-40B4-BE49-F238E27FC236}">
                <a16:creationId xmlns:a16="http://schemas.microsoft.com/office/drawing/2014/main" id="{AB3260F1-3FA8-A12A-E5EC-86DBBAB46688}"/>
              </a:ext>
            </a:extLst>
          </p:cNvPr>
          <p:cNvGraphicFramePr>
            <a:graphicFrameLocks noGrp="1"/>
          </p:cNvGraphicFramePr>
          <p:nvPr>
            <p:extLst>
              <p:ext uri="{D42A27DB-BD31-4B8C-83A1-F6EECF244321}">
                <p14:modId xmlns:p14="http://schemas.microsoft.com/office/powerpoint/2010/main" val="549084603"/>
              </p:ext>
            </p:extLst>
          </p:nvPr>
        </p:nvGraphicFramePr>
        <p:xfrm>
          <a:off x="1046764" y="925970"/>
          <a:ext cx="9224809" cy="3872747"/>
        </p:xfrm>
        <a:graphic>
          <a:graphicData uri="http://schemas.openxmlformats.org/drawingml/2006/table">
            <a:tbl>
              <a:tblPr/>
              <a:tblGrid>
                <a:gridCol w="3080354">
                  <a:extLst>
                    <a:ext uri="{9D8B030D-6E8A-4147-A177-3AD203B41FA5}">
                      <a16:colId xmlns:a16="http://schemas.microsoft.com/office/drawing/2014/main" val="1724800124"/>
                    </a:ext>
                  </a:extLst>
                </a:gridCol>
                <a:gridCol w="1389818">
                  <a:extLst>
                    <a:ext uri="{9D8B030D-6E8A-4147-A177-3AD203B41FA5}">
                      <a16:colId xmlns:a16="http://schemas.microsoft.com/office/drawing/2014/main" val="1145327715"/>
                    </a:ext>
                  </a:extLst>
                </a:gridCol>
                <a:gridCol w="1584879">
                  <a:extLst>
                    <a:ext uri="{9D8B030D-6E8A-4147-A177-3AD203B41FA5}">
                      <a16:colId xmlns:a16="http://schemas.microsoft.com/office/drawing/2014/main" val="2540644006"/>
                    </a:ext>
                  </a:extLst>
                </a:gridCol>
                <a:gridCol w="1584879">
                  <a:extLst>
                    <a:ext uri="{9D8B030D-6E8A-4147-A177-3AD203B41FA5}">
                      <a16:colId xmlns:a16="http://schemas.microsoft.com/office/drawing/2014/main" val="1482875331"/>
                    </a:ext>
                  </a:extLst>
                </a:gridCol>
                <a:gridCol w="1584879">
                  <a:extLst>
                    <a:ext uri="{9D8B030D-6E8A-4147-A177-3AD203B41FA5}">
                      <a16:colId xmlns:a16="http://schemas.microsoft.com/office/drawing/2014/main" val="3563037970"/>
                    </a:ext>
                  </a:extLst>
                </a:gridCol>
              </a:tblGrid>
              <a:tr h="402134">
                <a:tc>
                  <a:txBody>
                    <a:bodyPr/>
                    <a:lstStyle/>
                    <a:p>
                      <a:pPr algn="ctr" rtl="0" fontAlgn="ctr">
                        <a:buNone/>
                      </a:pPr>
                      <a:r>
                        <a:rPr lang="es-CO" sz="1500" b="1" i="0" u="none" strike="noStrike">
                          <a:solidFill>
                            <a:srgbClr val="FFFFFF"/>
                          </a:solidFill>
                          <a:effectLst/>
                          <a:latin typeface="Muli"/>
                        </a:rPr>
                        <a:t>PREVALENCIA</a:t>
                      </a:r>
                    </a:p>
                  </a:txBody>
                  <a:tcPr marL="9223" marR="9223" marT="9223" marB="44270" anchor="ctr">
                    <a:lnL w="12700" cap="flat" cmpd="sng" algn="ctr">
                      <a:solidFill>
                        <a:srgbClr val="80589F"/>
                      </a:solidFill>
                      <a:prstDash val="solid"/>
                      <a:round/>
                      <a:headEnd type="none" w="med" len="med"/>
                      <a:tailEnd type="none" w="med" len="med"/>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7030A0"/>
                    </a:solidFill>
                  </a:tcPr>
                </a:tc>
                <a:tc>
                  <a:txBody>
                    <a:bodyPr/>
                    <a:lstStyle/>
                    <a:p>
                      <a:pPr algn="ctr" rtl="0" fontAlgn="ctr">
                        <a:buNone/>
                      </a:pPr>
                      <a:r>
                        <a:rPr lang="es-CO" sz="1500" b="1" i="0" u="none" strike="noStrike">
                          <a:solidFill>
                            <a:srgbClr val="FFFFFF"/>
                          </a:solidFill>
                          <a:effectLst/>
                          <a:latin typeface="Muli"/>
                        </a:rPr>
                        <a:t>PSICOLOGÍA</a:t>
                      </a:r>
                    </a:p>
                  </a:txBody>
                  <a:tcPr marL="9223" marR="9223" marT="9223" marB="4427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7030A0"/>
                    </a:solidFill>
                  </a:tcPr>
                </a:tc>
                <a:tc>
                  <a:txBody>
                    <a:bodyPr/>
                    <a:lstStyle/>
                    <a:p>
                      <a:pPr algn="ctr" rtl="0" fontAlgn="ctr">
                        <a:buNone/>
                      </a:pPr>
                      <a:r>
                        <a:rPr lang="es-CO" sz="1500" b="1" i="0" u="none" strike="noStrike">
                          <a:solidFill>
                            <a:srgbClr val="FFFFFF"/>
                          </a:solidFill>
                          <a:effectLst/>
                          <a:latin typeface="Muli"/>
                        </a:rPr>
                        <a:t>TRABAJO SOCIAL</a:t>
                      </a:r>
                    </a:p>
                  </a:txBody>
                  <a:tcPr marL="9223" marR="9223" marT="9223" marB="4427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7030A0"/>
                    </a:solidFill>
                  </a:tcPr>
                </a:tc>
                <a:tc>
                  <a:txBody>
                    <a:bodyPr/>
                    <a:lstStyle/>
                    <a:p>
                      <a:pPr algn="ctr" rtl="0" fontAlgn="ctr">
                        <a:buNone/>
                      </a:pPr>
                      <a:r>
                        <a:rPr lang="es-CO" sz="1500" b="1" i="0" u="none" strike="noStrike">
                          <a:solidFill>
                            <a:srgbClr val="FFFFFF"/>
                          </a:solidFill>
                          <a:effectLst/>
                          <a:latin typeface="Muli"/>
                        </a:rPr>
                        <a:t>DOLOR Y CP</a:t>
                      </a:r>
                    </a:p>
                  </a:txBody>
                  <a:tcPr marL="9223" marR="9223" marT="9223" marB="4427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7030A0"/>
                    </a:solidFill>
                  </a:tcPr>
                </a:tc>
                <a:tc>
                  <a:txBody>
                    <a:bodyPr/>
                    <a:lstStyle/>
                    <a:p>
                      <a:pPr algn="ctr" rtl="0" fontAlgn="ctr">
                        <a:buNone/>
                      </a:pPr>
                      <a:r>
                        <a:rPr lang="es-CO" sz="1500" b="1" i="0" u="none" strike="noStrike">
                          <a:solidFill>
                            <a:srgbClr val="FFFFFF"/>
                          </a:solidFill>
                          <a:effectLst/>
                          <a:latin typeface="Muli"/>
                        </a:rPr>
                        <a:t>NUTRICIÓN</a:t>
                      </a:r>
                    </a:p>
                  </a:txBody>
                  <a:tcPr marL="9223" marR="9223" marT="9223" marB="44270" anchor="ctr">
                    <a:lnL>
                      <a:noFill/>
                    </a:lnL>
                    <a:lnR w="12700" cap="flat" cmpd="sng" algn="ctr">
                      <a:solidFill>
                        <a:srgbClr val="80589F"/>
                      </a:solidFill>
                      <a:prstDash val="solid"/>
                      <a:round/>
                      <a:headEnd type="none" w="med" len="med"/>
                      <a:tailEnd type="none" w="med" len="med"/>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7030A0"/>
                    </a:solidFill>
                  </a:tcPr>
                </a:tc>
                <a:extLst>
                  <a:ext uri="{0D108BD9-81ED-4DB2-BD59-A6C34878D82A}">
                    <a16:rowId xmlns:a16="http://schemas.microsoft.com/office/drawing/2014/main" val="827780731"/>
                  </a:ext>
                </a:extLst>
              </a:tr>
              <a:tr h="259435">
                <a:tc>
                  <a:txBody>
                    <a:bodyPr/>
                    <a:lstStyle/>
                    <a:p>
                      <a:pPr algn="ctr" rtl="0" fontAlgn="ctr">
                        <a:buNone/>
                      </a:pPr>
                      <a:r>
                        <a:rPr lang="es-CO" sz="1500" b="0" i="0" u="none" strike="noStrike">
                          <a:solidFill>
                            <a:srgbClr val="80589F"/>
                          </a:solidFill>
                          <a:effectLst/>
                          <a:latin typeface="Muli"/>
                        </a:rPr>
                        <a:t>Cobertura enero 2026</a:t>
                      </a:r>
                    </a:p>
                  </a:txBody>
                  <a:tcPr marL="9223" marR="9223" marT="9223" marB="44270" anchor="ctr">
                    <a:lnL w="12700" cap="flat" cmpd="sng" algn="ctr">
                      <a:solidFill>
                        <a:srgbClr val="80589F"/>
                      </a:solidFill>
                      <a:prstDash val="solid"/>
                      <a:round/>
                      <a:headEnd type="none" w="med" len="med"/>
                      <a:tailEnd type="none" w="med" len="med"/>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500" b="0" i="0" u="none" strike="noStrike">
                          <a:solidFill>
                            <a:srgbClr val="80589F"/>
                          </a:solidFill>
                          <a:effectLst/>
                          <a:latin typeface="Muli"/>
                        </a:rPr>
                        <a:t>11%</a:t>
                      </a:r>
                    </a:p>
                  </a:txBody>
                  <a:tcPr marL="9223" marR="9223" marT="9223" marB="4427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500" b="0" i="0" u="none" strike="noStrike">
                          <a:solidFill>
                            <a:srgbClr val="80589F"/>
                          </a:solidFill>
                          <a:effectLst/>
                          <a:latin typeface="Muli"/>
                        </a:rPr>
                        <a:t>18%</a:t>
                      </a:r>
                    </a:p>
                  </a:txBody>
                  <a:tcPr marL="9223" marR="9223" marT="9223" marB="4427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500" b="0" i="0" u="none" strike="noStrike">
                          <a:solidFill>
                            <a:srgbClr val="80589F"/>
                          </a:solidFill>
                          <a:effectLst/>
                          <a:latin typeface="Muli"/>
                        </a:rPr>
                        <a:t>2%</a:t>
                      </a:r>
                    </a:p>
                  </a:txBody>
                  <a:tcPr marL="9223" marR="9223" marT="9223" marB="4427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500" b="0" i="0" u="none" strike="noStrike">
                          <a:solidFill>
                            <a:srgbClr val="80589F"/>
                          </a:solidFill>
                          <a:effectLst/>
                          <a:latin typeface="Muli"/>
                        </a:rPr>
                        <a:t>13%</a:t>
                      </a:r>
                    </a:p>
                  </a:txBody>
                  <a:tcPr marL="9223" marR="9223" marT="9223" marB="44270" anchor="ctr">
                    <a:lnL>
                      <a:noFill/>
                    </a:lnL>
                    <a:lnR w="12700" cap="flat" cmpd="sng" algn="ctr">
                      <a:solidFill>
                        <a:srgbClr val="80589F"/>
                      </a:solidFill>
                      <a:prstDash val="solid"/>
                      <a:round/>
                      <a:headEnd type="none" w="med" len="med"/>
                      <a:tailEnd type="none" w="med" len="med"/>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extLst>
                  <a:ext uri="{0D108BD9-81ED-4DB2-BD59-A6C34878D82A}">
                    <a16:rowId xmlns:a16="http://schemas.microsoft.com/office/drawing/2014/main" val="2443122581"/>
                  </a:ext>
                </a:extLst>
              </a:tr>
              <a:tr h="402134">
                <a:tc>
                  <a:txBody>
                    <a:bodyPr/>
                    <a:lstStyle/>
                    <a:p>
                      <a:pPr algn="ctr" rtl="0" fontAlgn="ctr">
                        <a:buNone/>
                      </a:pPr>
                      <a:r>
                        <a:rPr lang="es-CO" sz="1500" b="0" i="0" u="none" strike="noStrike">
                          <a:solidFill>
                            <a:srgbClr val="80589F"/>
                          </a:solidFill>
                          <a:effectLst/>
                          <a:latin typeface="Muli"/>
                        </a:rPr>
                        <a:t>Cobertura Septiembre 2026</a:t>
                      </a:r>
                    </a:p>
                  </a:txBody>
                  <a:tcPr marL="9223" marR="9223" marT="9223" marB="44270" anchor="ctr">
                    <a:lnL w="12700" cap="flat" cmpd="sng" algn="ctr">
                      <a:solidFill>
                        <a:srgbClr val="80589F"/>
                      </a:solidFill>
                      <a:prstDash val="solid"/>
                      <a:round/>
                      <a:headEnd type="none" w="med" len="med"/>
                      <a:tailEnd type="none" w="med" len="med"/>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500" b="0" i="0" u="none" strike="noStrike">
                          <a:solidFill>
                            <a:srgbClr val="80589F"/>
                          </a:solidFill>
                          <a:effectLst/>
                          <a:latin typeface="Muli"/>
                        </a:rPr>
                        <a:t>49%</a:t>
                      </a:r>
                    </a:p>
                  </a:txBody>
                  <a:tcPr marL="9223" marR="9223" marT="9223" marB="4427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500" b="0" i="0" u="none" strike="noStrike">
                          <a:solidFill>
                            <a:srgbClr val="80589F"/>
                          </a:solidFill>
                          <a:effectLst/>
                          <a:latin typeface="Muli"/>
                        </a:rPr>
                        <a:t>55%</a:t>
                      </a:r>
                    </a:p>
                  </a:txBody>
                  <a:tcPr marL="9223" marR="9223" marT="9223" marB="4427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500" b="0" i="0" u="none" strike="noStrike">
                          <a:solidFill>
                            <a:srgbClr val="80589F"/>
                          </a:solidFill>
                          <a:effectLst/>
                          <a:latin typeface="Muli"/>
                        </a:rPr>
                        <a:t>11%</a:t>
                      </a:r>
                    </a:p>
                  </a:txBody>
                  <a:tcPr marL="9223" marR="9223" marT="9223" marB="4427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500" b="0" i="0" u="none" strike="noStrike">
                          <a:solidFill>
                            <a:srgbClr val="80589F"/>
                          </a:solidFill>
                          <a:effectLst/>
                          <a:latin typeface="Muli"/>
                        </a:rPr>
                        <a:t>51%</a:t>
                      </a:r>
                    </a:p>
                  </a:txBody>
                  <a:tcPr marL="9223" marR="9223" marT="9223" marB="44270" anchor="ctr">
                    <a:lnL>
                      <a:noFill/>
                    </a:lnL>
                    <a:lnR w="12700" cap="flat" cmpd="sng" algn="ctr">
                      <a:solidFill>
                        <a:srgbClr val="80589F"/>
                      </a:solidFill>
                      <a:prstDash val="solid"/>
                      <a:round/>
                      <a:headEnd type="none" w="med" len="med"/>
                      <a:tailEnd type="none" w="med" len="med"/>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extLst>
                  <a:ext uri="{0D108BD9-81ED-4DB2-BD59-A6C34878D82A}">
                    <a16:rowId xmlns:a16="http://schemas.microsoft.com/office/drawing/2014/main" val="3262427610"/>
                  </a:ext>
                </a:extLst>
              </a:tr>
              <a:tr h="287467">
                <a:tc>
                  <a:txBody>
                    <a:bodyPr/>
                    <a:lstStyle/>
                    <a:p>
                      <a:pPr algn="ctr" rtl="0" fontAlgn="ctr">
                        <a:buNone/>
                      </a:pPr>
                      <a:endParaRPr lang="es-CO" sz="1700" b="0" i="0" u="none" strike="noStrike">
                        <a:solidFill>
                          <a:srgbClr val="80589F"/>
                        </a:solidFill>
                        <a:effectLst/>
                        <a:latin typeface="Muli"/>
                      </a:endParaRPr>
                    </a:p>
                  </a:txBody>
                  <a:tcPr marL="9223" marR="9223" marT="9223" marB="44270" anchor="ctr">
                    <a:lnL w="12700" cap="flat" cmpd="sng" algn="ctr">
                      <a:solidFill>
                        <a:srgbClr val="80589F"/>
                      </a:solidFill>
                      <a:prstDash val="solid"/>
                      <a:round/>
                      <a:headEnd type="none" w="med" len="med"/>
                      <a:tailEnd type="none" w="med" len="med"/>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endParaRPr lang="es-CO" sz="1700" b="0" i="0" u="none" strike="noStrike">
                        <a:solidFill>
                          <a:srgbClr val="80589F"/>
                        </a:solidFill>
                        <a:effectLst/>
                        <a:latin typeface="Muli"/>
                      </a:endParaRPr>
                    </a:p>
                  </a:txBody>
                  <a:tcPr marL="9223" marR="9223" marT="9223" marB="4427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endParaRPr lang="es-CO" sz="1700" b="0" i="0" u="none" strike="noStrike">
                        <a:solidFill>
                          <a:srgbClr val="80589F"/>
                        </a:solidFill>
                        <a:effectLst/>
                        <a:latin typeface="Muli"/>
                      </a:endParaRPr>
                    </a:p>
                  </a:txBody>
                  <a:tcPr marL="9223" marR="9223" marT="9223" marB="4427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endParaRPr lang="es-CO" sz="1700" b="0" i="0" u="none" strike="noStrike">
                        <a:solidFill>
                          <a:srgbClr val="80589F"/>
                        </a:solidFill>
                        <a:effectLst/>
                        <a:latin typeface="Muli"/>
                      </a:endParaRPr>
                    </a:p>
                  </a:txBody>
                  <a:tcPr marL="9223" marR="9223" marT="9223" marB="4427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endParaRPr lang="es-CO" sz="1700" b="0" i="0" u="none" strike="noStrike">
                        <a:solidFill>
                          <a:srgbClr val="80589F"/>
                        </a:solidFill>
                        <a:effectLst/>
                        <a:latin typeface="Muli"/>
                      </a:endParaRPr>
                    </a:p>
                  </a:txBody>
                  <a:tcPr marL="9223" marR="9223" marT="9223" marB="44270" anchor="ctr">
                    <a:lnL>
                      <a:noFill/>
                    </a:lnL>
                    <a:lnR w="12700" cap="flat" cmpd="sng" algn="ctr">
                      <a:solidFill>
                        <a:srgbClr val="80589F"/>
                      </a:solidFill>
                      <a:prstDash val="solid"/>
                      <a:round/>
                      <a:headEnd type="none" w="med" len="med"/>
                      <a:tailEnd type="none" w="med" len="med"/>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extLst>
                  <a:ext uri="{0D108BD9-81ED-4DB2-BD59-A6C34878D82A}">
                    <a16:rowId xmlns:a16="http://schemas.microsoft.com/office/drawing/2014/main" val="4196768080"/>
                  </a:ext>
                </a:extLst>
              </a:tr>
              <a:tr h="259435">
                <a:tc>
                  <a:txBody>
                    <a:bodyPr/>
                    <a:lstStyle/>
                    <a:p>
                      <a:pPr algn="ctr" rtl="0" fontAlgn="ctr">
                        <a:buNone/>
                      </a:pPr>
                      <a:r>
                        <a:rPr lang="es-CO" sz="1500" b="0" i="0" u="none" strike="noStrike">
                          <a:solidFill>
                            <a:srgbClr val="FFFFFF"/>
                          </a:solidFill>
                          <a:effectLst/>
                          <a:latin typeface="Muli"/>
                        </a:rPr>
                        <a:t>INCIDENCIA</a:t>
                      </a:r>
                    </a:p>
                  </a:txBody>
                  <a:tcPr marL="9223" marR="9223" marT="9223" marB="44270" anchor="ctr">
                    <a:lnL w="12700" cap="flat" cmpd="sng" algn="ctr">
                      <a:solidFill>
                        <a:srgbClr val="80589F"/>
                      </a:solidFill>
                      <a:prstDash val="solid"/>
                      <a:round/>
                      <a:headEnd type="none" w="med" len="med"/>
                      <a:tailEnd type="none" w="med" len="med"/>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7030A0"/>
                    </a:solidFill>
                  </a:tcPr>
                </a:tc>
                <a:tc>
                  <a:txBody>
                    <a:bodyPr/>
                    <a:lstStyle/>
                    <a:p>
                      <a:pPr algn="ctr" rtl="0" fontAlgn="ctr">
                        <a:buNone/>
                      </a:pPr>
                      <a:r>
                        <a:rPr lang="es-CO" sz="1500" b="0" i="0" u="none" strike="noStrike">
                          <a:solidFill>
                            <a:srgbClr val="FFFFFF"/>
                          </a:solidFill>
                          <a:effectLst/>
                          <a:latin typeface="Muli"/>
                        </a:rPr>
                        <a:t>PSICOLOGÍA</a:t>
                      </a:r>
                    </a:p>
                  </a:txBody>
                  <a:tcPr marL="9223" marR="9223" marT="9223" marB="4427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7030A0"/>
                    </a:solidFill>
                  </a:tcPr>
                </a:tc>
                <a:tc>
                  <a:txBody>
                    <a:bodyPr/>
                    <a:lstStyle/>
                    <a:p>
                      <a:pPr algn="ctr" rtl="0" fontAlgn="ctr">
                        <a:buNone/>
                      </a:pPr>
                      <a:r>
                        <a:rPr lang="es-CO" sz="1500" b="0" i="0" u="none" strike="noStrike">
                          <a:solidFill>
                            <a:srgbClr val="FFFFFF"/>
                          </a:solidFill>
                          <a:effectLst/>
                          <a:latin typeface="Muli"/>
                        </a:rPr>
                        <a:t>TRABAJO SOCIAL</a:t>
                      </a:r>
                    </a:p>
                  </a:txBody>
                  <a:tcPr marL="9223" marR="9223" marT="9223" marB="4427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7030A0"/>
                    </a:solidFill>
                  </a:tcPr>
                </a:tc>
                <a:tc>
                  <a:txBody>
                    <a:bodyPr/>
                    <a:lstStyle/>
                    <a:p>
                      <a:pPr algn="ctr" rtl="0" fontAlgn="ctr">
                        <a:buNone/>
                      </a:pPr>
                      <a:r>
                        <a:rPr lang="es-CO" sz="1500" b="0" i="0" u="none" strike="noStrike">
                          <a:solidFill>
                            <a:srgbClr val="FFFFFF"/>
                          </a:solidFill>
                          <a:effectLst/>
                          <a:latin typeface="Muli"/>
                        </a:rPr>
                        <a:t>DOLOR Y CP</a:t>
                      </a:r>
                    </a:p>
                  </a:txBody>
                  <a:tcPr marL="9223" marR="9223" marT="9223" marB="4427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7030A0"/>
                    </a:solidFill>
                  </a:tcPr>
                </a:tc>
                <a:tc>
                  <a:txBody>
                    <a:bodyPr/>
                    <a:lstStyle/>
                    <a:p>
                      <a:pPr algn="ctr" rtl="0" fontAlgn="ctr">
                        <a:buNone/>
                      </a:pPr>
                      <a:r>
                        <a:rPr lang="es-CO" sz="1500" b="0" i="0" u="none" strike="noStrike">
                          <a:solidFill>
                            <a:srgbClr val="FFFFFF"/>
                          </a:solidFill>
                          <a:effectLst/>
                          <a:latin typeface="Muli"/>
                        </a:rPr>
                        <a:t>NUTRICIÓN</a:t>
                      </a:r>
                    </a:p>
                  </a:txBody>
                  <a:tcPr marL="9223" marR="9223" marT="9223" marB="44270" anchor="ctr">
                    <a:lnL>
                      <a:noFill/>
                    </a:lnL>
                    <a:lnR w="12700" cap="flat" cmpd="sng" algn="ctr">
                      <a:solidFill>
                        <a:srgbClr val="80589F"/>
                      </a:solidFill>
                      <a:prstDash val="solid"/>
                      <a:round/>
                      <a:headEnd type="none" w="med" len="med"/>
                      <a:tailEnd type="none" w="med" len="med"/>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7030A0"/>
                    </a:solidFill>
                  </a:tcPr>
                </a:tc>
                <a:extLst>
                  <a:ext uri="{0D108BD9-81ED-4DB2-BD59-A6C34878D82A}">
                    <a16:rowId xmlns:a16="http://schemas.microsoft.com/office/drawing/2014/main" val="2914197121"/>
                  </a:ext>
                </a:extLst>
              </a:tr>
              <a:tr h="259435">
                <a:tc>
                  <a:txBody>
                    <a:bodyPr/>
                    <a:lstStyle/>
                    <a:p>
                      <a:pPr algn="ctr" rtl="0" fontAlgn="ctr">
                        <a:buNone/>
                      </a:pPr>
                      <a:r>
                        <a:rPr lang="es-CO" sz="1500" b="0" i="0" u="none" strike="noStrike">
                          <a:solidFill>
                            <a:srgbClr val="80589F"/>
                          </a:solidFill>
                          <a:effectLst/>
                          <a:latin typeface="Muli"/>
                        </a:rPr>
                        <a:t>Cobertura enero 2026</a:t>
                      </a:r>
                    </a:p>
                  </a:txBody>
                  <a:tcPr marL="9223" marR="9223" marT="9223" marB="44270" anchor="ctr">
                    <a:lnL w="12700" cap="flat" cmpd="sng" algn="ctr">
                      <a:solidFill>
                        <a:srgbClr val="80589F"/>
                      </a:solidFill>
                      <a:prstDash val="solid"/>
                      <a:round/>
                      <a:headEnd type="none" w="med" len="med"/>
                      <a:tailEnd type="none" w="med" len="med"/>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500" b="0" i="0" u="none" strike="noStrike">
                          <a:solidFill>
                            <a:srgbClr val="80589F"/>
                          </a:solidFill>
                          <a:effectLst/>
                          <a:latin typeface="Muli"/>
                        </a:rPr>
                        <a:t>19%</a:t>
                      </a:r>
                    </a:p>
                  </a:txBody>
                  <a:tcPr marL="9223" marR="9223" marT="9223" marB="4427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500" b="0" i="0" u="none" strike="noStrike">
                          <a:solidFill>
                            <a:srgbClr val="80589F"/>
                          </a:solidFill>
                          <a:effectLst/>
                          <a:latin typeface="Muli"/>
                        </a:rPr>
                        <a:t>17%</a:t>
                      </a:r>
                    </a:p>
                  </a:txBody>
                  <a:tcPr marL="9223" marR="9223" marT="9223" marB="4427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500" b="0" i="0" u="none" strike="noStrike">
                          <a:solidFill>
                            <a:srgbClr val="80589F"/>
                          </a:solidFill>
                          <a:effectLst/>
                          <a:latin typeface="Muli"/>
                        </a:rPr>
                        <a:t>5%</a:t>
                      </a:r>
                    </a:p>
                  </a:txBody>
                  <a:tcPr marL="9223" marR="9223" marT="9223" marB="4427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500" b="0" i="0" u="none" strike="noStrike">
                          <a:solidFill>
                            <a:srgbClr val="80589F"/>
                          </a:solidFill>
                          <a:effectLst/>
                          <a:latin typeface="Muli"/>
                        </a:rPr>
                        <a:t>15%</a:t>
                      </a:r>
                    </a:p>
                  </a:txBody>
                  <a:tcPr marL="9223" marR="9223" marT="9223" marB="44270" anchor="ctr">
                    <a:lnL>
                      <a:noFill/>
                    </a:lnL>
                    <a:lnR w="12700" cap="flat" cmpd="sng" algn="ctr">
                      <a:solidFill>
                        <a:srgbClr val="80589F"/>
                      </a:solidFill>
                      <a:prstDash val="solid"/>
                      <a:round/>
                      <a:headEnd type="none" w="med" len="med"/>
                      <a:tailEnd type="none" w="med" len="med"/>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extLst>
                  <a:ext uri="{0D108BD9-81ED-4DB2-BD59-A6C34878D82A}">
                    <a16:rowId xmlns:a16="http://schemas.microsoft.com/office/drawing/2014/main" val="2430485678"/>
                  </a:ext>
                </a:extLst>
              </a:tr>
              <a:tr h="402134">
                <a:tc>
                  <a:txBody>
                    <a:bodyPr/>
                    <a:lstStyle/>
                    <a:p>
                      <a:pPr algn="ctr" rtl="0" fontAlgn="ctr">
                        <a:buNone/>
                      </a:pPr>
                      <a:r>
                        <a:rPr lang="es-CO" sz="1500" b="0" i="0" u="none" strike="noStrike">
                          <a:solidFill>
                            <a:srgbClr val="80589F"/>
                          </a:solidFill>
                          <a:effectLst/>
                          <a:latin typeface="Muli"/>
                        </a:rPr>
                        <a:t>Cobertura Septiembre 2026</a:t>
                      </a:r>
                    </a:p>
                  </a:txBody>
                  <a:tcPr marL="9223" marR="9223" marT="9223" marB="44270" anchor="ctr">
                    <a:lnL w="12700" cap="flat" cmpd="sng" algn="ctr">
                      <a:solidFill>
                        <a:srgbClr val="80589F"/>
                      </a:solidFill>
                      <a:prstDash val="solid"/>
                      <a:round/>
                      <a:headEnd type="none" w="med" len="med"/>
                      <a:tailEnd type="none" w="med" len="med"/>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500" b="0" i="0" u="none" strike="noStrike">
                          <a:solidFill>
                            <a:srgbClr val="80589F"/>
                          </a:solidFill>
                          <a:effectLst/>
                          <a:latin typeface="Muli"/>
                        </a:rPr>
                        <a:t>75%</a:t>
                      </a:r>
                    </a:p>
                  </a:txBody>
                  <a:tcPr marL="9223" marR="9223" marT="9223" marB="4427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500" b="0" i="0" u="none" strike="noStrike">
                          <a:solidFill>
                            <a:srgbClr val="80589F"/>
                          </a:solidFill>
                          <a:effectLst/>
                          <a:latin typeface="Muli"/>
                        </a:rPr>
                        <a:t>79%</a:t>
                      </a:r>
                    </a:p>
                  </a:txBody>
                  <a:tcPr marL="9223" marR="9223" marT="9223" marB="4427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500" b="0" i="0" u="none" strike="noStrike">
                          <a:solidFill>
                            <a:srgbClr val="80589F"/>
                          </a:solidFill>
                          <a:effectLst/>
                          <a:latin typeface="Muli"/>
                        </a:rPr>
                        <a:t>31%</a:t>
                      </a:r>
                    </a:p>
                  </a:txBody>
                  <a:tcPr marL="9223" marR="9223" marT="9223" marB="4427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500" b="0" i="0" u="none" strike="noStrike">
                          <a:solidFill>
                            <a:srgbClr val="80589F"/>
                          </a:solidFill>
                          <a:effectLst/>
                          <a:latin typeface="Muli"/>
                        </a:rPr>
                        <a:t>75%</a:t>
                      </a:r>
                    </a:p>
                  </a:txBody>
                  <a:tcPr marL="9223" marR="9223" marT="9223" marB="44270" anchor="ctr">
                    <a:lnL>
                      <a:noFill/>
                    </a:lnL>
                    <a:lnR w="12700" cap="flat" cmpd="sng" algn="ctr">
                      <a:solidFill>
                        <a:srgbClr val="80589F"/>
                      </a:solidFill>
                      <a:prstDash val="solid"/>
                      <a:round/>
                      <a:headEnd type="none" w="med" len="med"/>
                      <a:tailEnd type="none" w="med" len="med"/>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extLst>
                  <a:ext uri="{0D108BD9-81ED-4DB2-BD59-A6C34878D82A}">
                    <a16:rowId xmlns:a16="http://schemas.microsoft.com/office/drawing/2014/main" val="509227222"/>
                  </a:ext>
                </a:extLst>
              </a:tr>
              <a:tr h="287467">
                <a:tc>
                  <a:txBody>
                    <a:bodyPr/>
                    <a:lstStyle/>
                    <a:p>
                      <a:pPr algn="ctr" rtl="0" fontAlgn="ctr">
                        <a:buNone/>
                      </a:pPr>
                      <a:endParaRPr lang="es-CO" sz="1700" b="0" i="0" u="none" strike="noStrike">
                        <a:solidFill>
                          <a:srgbClr val="80589F"/>
                        </a:solidFill>
                        <a:effectLst/>
                        <a:latin typeface="Muli"/>
                      </a:endParaRPr>
                    </a:p>
                  </a:txBody>
                  <a:tcPr marL="9223" marR="9223" marT="9223" marB="44270" anchor="ctr">
                    <a:lnL w="12700" cap="flat" cmpd="sng" algn="ctr">
                      <a:solidFill>
                        <a:srgbClr val="80589F"/>
                      </a:solidFill>
                      <a:prstDash val="solid"/>
                      <a:round/>
                      <a:headEnd type="none" w="med" len="med"/>
                      <a:tailEnd type="none" w="med" len="med"/>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endParaRPr lang="es-CO" sz="1700" b="0" i="0" u="none" strike="noStrike">
                        <a:solidFill>
                          <a:srgbClr val="80589F"/>
                        </a:solidFill>
                        <a:effectLst/>
                        <a:latin typeface="Muli"/>
                      </a:endParaRPr>
                    </a:p>
                  </a:txBody>
                  <a:tcPr marL="9223" marR="9223" marT="9223" marB="4427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endParaRPr lang="es-CO" sz="1700" b="0" i="0" u="none" strike="noStrike">
                        <a:solidFill>
                          <a:srgbClr val="80589F"/>
                        </a:solidFill>
                        <a:effectLst/>
                        <a:latin typeface="Muli"/>
                      </a:endParaRPr>
                    </a:p>
                  </a:txBody>
                  <a:tcPr marL="9223" marR="9223" marT="9223" marB="4427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endParaRPr lang="es-CO" sz="1700" b="0" i="0" u="none" strike="noStrike">
                        <a:solidFill>
                          <a:srgbClr val="80589F"/>
                        </a:solidFill>
                        <a:effectLst/>
                        <a:latin typeface="Muli"/>
                      </a:endParaRPr>
                    </a:p>
                  </a:txBody>
                  <a:tcPr marL="9223" marR="9223" marT="9223" marB="4427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endParaRPr lang="es-CO" sz="1700" b="0" i="0" u="none" strike="noStrike">
                        <a:solidFill>
                          <a:srgbClr val="80589F"/>
                        </a:solidFill>
                        <a:effectLst/>
                        <a:latin typeface="Muli"/>
                      </a:endParaRPr>
                    </a:p>
                  </a:txBody>
                  <a:tcPr marL="9223" marR="9223" marT="9223" marB="44270" anchor="ctr">
                    <a:lnL>
                      <a:noFill/>
                    </a:lnL>
                    <a:lnR w="12700" cap="flat" cmpd="sng" algn="ctr">
                      <a:solidFill>
                        <a:srgbClr val="80589F"/>
                      </a:solidFill>
                      <a:prstDash val="solid"/>
                      <a:round/>
                      <a:headEnd type="none" w="med" len="med"/>
                      <a:tailEnd type="none" w="med" len="med"/>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extLst>
                  <a:ext uri="{0D108BD9-81ED-4DB2-BD59-A6C34878D82A}">
                    <a16:rowId xmlns:a16="http://schemas.microsoft.com/office/drawing/2014/main" val="1352438155"/>
                  </a:ext>
                </a:extLst>
              </a:tr>
              <a:tr h="259435">
                <a:tc>
                  <a:txBody>
                    <a:bodyPr/>
                    <a:lstStyle/>
                    <a:p>
                      <a:pPr algn="ctr" rtl="0" fontAlgn="ctr">
                        <a:buNone/>
                      </a:pPr>
                      <a:r>
                        <a:rPr lang="es-CO" sz="1500" b="0" i="0" u="none" strike="noStrike">
                          <a:solidFill>
                            <a:srgbClr val="FFFFFF"/>
                          </a:solidFill>
                          <a:effectLst/>
                          <a:latin typeface="Muli"/>
                        </a:rPr>
                        <a:t>TOTAL</a:t>
                      </a:r>
                    </a:p>
                  </a:txBody>
                  <a:tcPr marL="9223" marR="9223" marT="9223" marB="44270" anchor="ctr">
                    <a:lnL w="12700" cap="flat" cmpd="sng" algn="ctr">
                      <a:solidFill>
                        <a:srgbClr val="80589F"/>
                      </a:solidFill>
                      <a:prstDash val="solid"/>
                      <a:round/>
                      <a:headEnd type="none" w="med" len="med"/>
                      <a:tailEnd type="none" w="med" len="med"/>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80589F"/>
                    </a:solidFill>
                  </a:tcPr>
                </a:tc>
                <a:tc>
                  <a:txBody>
                    <a:bodyPr/>
                    <a:lstStyle/>
                    <a:p>
                      <a:pPr algn="ctr" rtl="0" fontAlgn="ctr">
                        <a:buNone/>
                      </a:pPr>
                      <a:r>
                        <a:rPr lang="es-CO" sz="1500" b="0" i="0" u="none" strike="noStrike">
                          <a:solidFill>
                            <a:srgbClr val="FFFFFF"/>
                          </a:solidFill>
                          <a:effectLst/>
                          <a:latin typeface="Muli"/>
                        </a:rPr>
                        <a:t>PSICOLOGÍA</a:t>
                      </a:r>
                    </a:p>
                  </a:txBody>
                  <a:tcPr marL="9223" marR="9223" marT="9223" marB="4427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80589F"/>
                    </a:solidFill>
                  </a:tcPr>
                </a:tc>
                <a:tc>
                  <a:txBody>
                    <a:bodyPr/>
                    <a:lstStyle/>
                    <a:p>
                      <a:pPr algn="ctr" rtl="0" fontAlgn="ctr">
                        <a:buNone/>
                      </a:pPr>
                      <a:r>
                        <a:rPr lang="es-CO" sz="1500" b="0" i="0" u="none" strike="noStrike">
                          <a:solidFill>
                            <a:srgbClr val="FFFFFF"/>
                          </a:solidFill>
                          <a:effectLst/>
                          <a:latin typeface="Muli"/>
                        </a:rPr>
                        <a:t>TRABAJO SOCIAL</a:t>
                      </a:r>
                    </a:p>
                  </a:txBody>
                  <a:tcPr marL="9223" marR="9223" marT="9223" marB="4427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80589F"/>
                    </a:solidFill>
                  </a:tcPr>
                </a:tc>
                <a:tc>
                  <a:txBody>
                    <a:bodyPr/>
                    <a:lstStyle/>
                    <a:p>
                      <a:pPr algn="ctr" rtl="0" fontAlgn="ctr">
                        <a:buNone/>
                      </a:pPr>
                      <a:r>
                        <a:rPr lang="es-CO" sz="1500" b="0" i="0" u="none" strike="noStrike">
                          <a:solidFill>
                            <a:srgbClr val="FFFFFF"/>
                          </a:solidFill>
                          <a:effectLst/>
                          <a:latin typeface="Muli"/>
                        </a:rPr>
                        <a:t>DOLOR Y CP</a:t>
                      </a:r>
                    </a:p>
                  </a:txBody>
                  <a:tcPr marL="9223" marR="9223" marT="9223" marB="4427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80589F"/>
                    </a:solidFill>
                  </a:tcPr>
                </a:tc>
                <a:tc>
                  <a:txBody>
                    <a:bodyPr/>
                    <a:lstStyle/>
                    <a:p>
                      <a:pPr algn="ctr" rtl="0" fontAlgn="ctr">
                        <a:buNone/>
                      </a:pPr>
                      <a:r>
                        <a:rPr lang="es-CO" sz="1500" b="0" i="0" u="none" strike="noStrike">
                          <a:solidFill>
                            <a:srgbClr val="FFFFFF"/>
                          </a:solidFill>
                          <a:effectLst/>
                          <a:latin typeface="Muli"/>
                        </a:rPr>
                        <a:t>NUTRICIÓN</a:t>
                      </a:r>
                    </a:p>
                  </a:txBody>
                  <a:tcPr marL="9223" marR="9223" marT="9223" marB="44270" anchor="ctr">
                    <a:lnL>
                      <a:noFill/>
                    </a:lnL>
                    <a:lnR w="12700" cap="flat" cmpd="sng" algn="ctr">
                      <a:solidFill>
                        <a:srgbClr val="80589F"/>
                      </a:solidFill>
                      <a:prstDash val="solid"/>
                      <a:round/>
                      <a:headEnd type="none" w="med" len="med"/>
                      <a:tailEnd type="none" w="med" len="med"/>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80589F"/>
                    </a:solidFill>
                  </a:tcPr>
                </a:tc>
                <a:extLst>
                  <a:ext uri="{0D108BD9-81ED-4DB2-BD59-A6C34878D82A}">
                    <a16:rowId xmlns:a16="http://schemas.microsoft.com/office/drawing/2014/main" val="916466675"/>
                  </a:ext>
                </a:extLst>
              </a:tr>
              <a:tr h="402134">
                <a:tc>
                  <a:txBody>
                    <a:bodyPr/>
                    <a:lstStyle/>
                    <a:p>
                      <a:pPr algn="ctr" rtl="0" fontAlgn="ctr">
                        <a:buNone/>
                      </a:pPr>
                      <a:r>
                        <a:rPr lang="es-CO" sz="1500" b="0" i="0" u="none" strike="noStrike">
                          <a:solidFill>
                            <a:srgbClr val="80589F"/>
                          </a:solidFill>
                          <a:effectLst/>
                          <a:latin typeface="Muli"/>
                        </a:rPr>
                        <a:t>Cobertura Julio 2026</a:t>
                      </a:r>
                    </a:p>
                  </a:txBody>
                  <a:tcPr marL="9223" marR="9223" marT="9223" marB="44270" anchor="ctr">
                    <a:lnL w="12700" cap="flat" cmpd="sng" algn="ctr">
                      <a:solidFill>
                        <a:srgbClr val="80589F"/>
                      </a:solidFill>
                      <a:prstDash val="solid"/>
                      <a:round/>
                      <a:headEnd type="none" w="med" len="med"/>
                      <a:tailEnd type="none" w="med" len="med"/>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500" b="0" i="0" u="none" strike="noStrike">
                          <a:solidFill>
                            <a:srgbClr val="80589F"/>
                          </a:solidFill>
                          <a:effectLst/>
                          <a:latin typeface="Muli"/>
                        </a:rPr>
                        <a:t>55%</a:t>
                      </a:r>
                    </a:p>
                  </a:txBody>
                  <a:tcPr marL="9223" marR="9223" marT="9223" marB="44270" anchor="ctr">
                    <a:lnL>
                      <a:noFill/>
                    </a:lnL>
                    <a:lnR>
                      <a:noFill/>
                    </a:lnR>
                    <a:lnT w="12700" cap="flat" cmpd="sng" algn="ctr">
                      <a:solidFill>
                        <a:srgbClr val="80589F"/>
                      </a:solidFill>
                      <a:prstDash val="solid"/>
                      <a:round/>
                      <a:headEnd type="none" w="med" len="med"/>
                      <a:tailEnd type="none" w="med" len="med"/>
                    </a:lnT>
                    <a:lnB w="6350" cap="flat" cmpd="sng" algn="ctr">
                      <a:solidFill>
                        <a:srgbClr val="7030A0"/>
                      </a:solidFill>
                      <a:prstDash val="solid"/>
                      <a:round/>
                      <a:headEnd type="none" w="med" len="med"/>
                      <a:tailEnd type="none" w="med" len="med"/>
                    </a:lnB>
                    <a:noFill/>
                  </a:tcPr>
                </a:tc>
                <a:tc>
                  <a:txBody>
                    <a:bodyPr/>
                    <a:lstStyle/>
                    <a:p>
                      <a:pPr algn="ctr" rtl="0" fontAlgn="ctr">
                        <a:buNone/>
                      </a:pPr>
                      <a:r>
                        <a:rPr lang="es-CO" sz="1500" b="0" i="0" u="none" strike="noStrike">
                          <a:solidFill>
                            <a:srgbClr val="80589F"/>
                          </a:solidFill>
                          <a:effectLst/>
                          <a:latin typeface="Muli"/>
                        </a:rPr>
                        <a:t>61%</a:t>
                      </a:r>
                    </a:p>
                  </a:txBody>
                  <a:tcPr marL="9223" marR="9223" marT="9223" marB="44270" anchor="ctr">
                    <a:lnL>
                      <a:noFill/>
                    </a:lnL>
                    <a:lnR>
                      <a:noFill/>
                    </a:lnR>
                    <a:lnT w="12700" cap="flat" cmpd="sng" algn="ctr">
                      <a:solidFill>
                        <a:srgbClr val="80589F"/>
                      </a:solidFill>
                      <a:prstDash val="solid"/>
                      <a:round/>
                      <a:headEnd type="none" w="med" len="med"/>
                      <a:tailEnd type="none" w="med" len="med"/>
                    </a:lnT>
                    <a:lnB w="6350" cap="flat" cmpd="sng" algn="ctr">
                      <a:solidFill>
                        <a:srgbClr val="7030A0"/>
                      </a:solidFill>
                      <a:prstDash val="solid"/>
                      <a:round/>
                      <a:headEnd type="none" w="med" len="med"/>
                      <a:tailEnd type="none" w="med" len="med"/>
                    </a:lnB>
                    <a:noFill/>
                  </a:tcPr>
                </a:tc>
                <a:tc>
                  <a:txBody>
                    <a:bodyPr/>
                    <a:lstStyle/>
                    <a:p>
                      <a:pPr algn="ctr" rtl="0" fontAlgn="ctr">
                        <a:buNone/>
                      </a:pPr>
                      <a:r>
                        <a:rPr lang="es-CO" sz="1500" b="0" i="0" u="none" strike="noStrike">
                          <a:solidFill>
                            <a:srgbClr val="80589F"/>
                          </a:solidFill>
                          <a:effectLst/>
                          <a:latin typeface="Muli"/>
                        </a:rPr>
                        <a:t>16%</a:t>
                      </a:r>
                    </a:p>
                  </a:txBody>
                  <a:tcPr marL="9223" marR="9223" marT="9223" marB="44270" anchor="ctr">
                    <a:lnL>
                      <a:noFill/>
                    </a:lnL>
                    <a:lnR>
                      <a:noFill/>
                    </a:lnR>
                    <a:lnT w="12700" cap="flat" cmpd="sng" algn="ctr">
                      <a:solidFill>
                        <a:srgbClr val="80589F"/>
                      </a:solidFill>
                      <a:prstDash val="solid"/>
                      <a:round/>
                      <a:headEnd type="none" w="med" len="med"/>
                      <a:tailEnd type="none" w="med" len="med"/>
                    </a:lnT>
                    <a:lnB w="6350" cap="flat" cmpd="sng" algn="ctr">
                      <a:solidFill>
                        <a:srgbClr val="7030A0"/>
                      </a:solidFill>
                      <a:prstDash val="solid"/>
                      <a:round/>
                      <a:headEnd type="none" w="med" len="med"/>
                      <a:tailEnd type="none" w="med" len="med"/>
                    </a:lnB>
                    <a:noFill/>
                  </a:tcPr>
                </a:tc>
                <a:tc>
                  <a:txBody>
                    <a:bodyPr/>
                    <a:lstStyle/>
                    <a:p>
                      <a:pPr algn="ctr" rtl="0" fontAlgn="ctr">
                        <a:buNone/>
                      </a:pPr>
                      <a:r>
                        <a:rPr lang="es-CO" sz="1500" b="0" i="0" u="none" strike="noStrike">
                          <a:solidFill>
                            <a:srgbClr val="80589F"/>
                          </a:solidFill>
                          <a:effectLst/>
                          <a:latin typeface="Muli"/>
                        </a:rPr>
                        <a:t>57%</a:t>
                      </a:r>
                    </a:p>
                  </a:txBody>
                  <a:tcPr marL="9223" marR="9223" marT="9223" marB="44270" anchor="ctr">
                    <a:lnL>
                      <a:noFill/>
                    </a:lnL>
                    <a:lnR w="12700" cap="flat" cmpd="sng" algn="ctr">
                      <a:solidFill>
                        <a:srgbClr val="80589F"/>
                      </a:solidFill>
                      <a:prstDash val="solid"/>
                      <a:round/>
                      <a:headEnd type="none" w="med" len="med"/>
                      <a:tailEnd type="none" w="med" len="med"/>
                    </a:lnR>
                    <a:lnT w="12700" cap="flat" cmpd="sng" algn="ctr">
                      <a:solidFill>
                        <a:srgbClr val="80589F"/>
                      </a:solidFill>
                      <a:prstDash val="solid"/>
                      <a:round/>
                      <a:headEnd type="none" w="med" len="med"/>
                      <a:tailEnd type="none" w="med" len="med"/>
                    </a:lnT>
                    <a:lnB w="6350" cap="flat" cmpd="sng" algn="ctr">
                      <a:solidFill>
                        <a:srgbClr val="7030A0"/>
                      </a:solidFill>
                      <a:prstDash val="solid"/>
                      <a:round/>
                      <a:headEnd type="none" w="med" len="med"/>
                      <a:tailEnd type="none" w="med" len="med"/>
                    </a:lnB>
                    <a:noFill/>
                  </a:tcPr>
                </a:tc>
                <a:extLst>
                  <a:ext uri="{0D108BD9-81ED-4DB2-BD59-A6C34878D82A}">
                    <a16:rowId xmlns:a16="http://schemas.microsoft.com/office/drawing/2014/main" val="2303663526"/>
                  </a:ext>
                </a:extLst>
              </a:tr>
              <a:tr h="469674">
                <a:tc>
                  <a:txBody>
                    <a:bodyPr/>
                    <a:lstStyle/>
                    <a:p>
                      <a:pPr algn="ctr" rtl="0" fontAlgn="ctr">
                        <a:buNone/>
                      </a:pPr>
                      <a:r>
                        <a:rPr lang="es-CO" sz="1500" b="0" i="0" u="none" strike="noStrike">
                          <a:solidFill>
                            <a:srgbClr val="80589F"/>
                          </a:solidFill>
                          <a:effectLst/>
                          <a:latin typeface="Muli"/>
                        </a:rPr>
                        <a:t>Promedio Cobertura Global a Septiembre 2026</a:t>
                      </a:r>
                    </a:p>
                  </a:txBody>
                  <a:tcPr marL="9223" marR="9223" marT="9223" marB="44270" anchor="ctr">
                    <a:lnL w="12700" cap="flat" cmpd="sng" algn="ctr">
                      <a:solidFill>
                        <a:srgbClr val="80589F"/>
                      </a:solidFill>
                      <a:prstDash val="solid"/>
                      <a:round/>
                      <a:headEnd type="none" w="med" len="med"/>
                      <a:tailEnd type="none" w="med" len="med"/>
                    </a:lnL>
                    <a:lnR w="6350" cap="flat" cmpd="sng" algn="ctr">
                      <a:solidFill>
                        <a:srgbClr val="7030A0"/>
                      </a:solidFill>
                      <a:prstDash val="solid"/>
                      <a:round/>
                      <a:headEnd type="none" w="med" len="med"/>
                      <a:tailEnd type="none" w="med" len="med"/>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gridSpan="4">
                  <a:txBody>
                    <a:bodyPr/>
                    <a:lstStyle/>
                    <a:p>
                      <a:pPr algn="ctr" rtl="0" fontAlgn="ctr">
                        <a:buNone/>
                      </a:pPr>
                      <a:r>
                        <a:rPr lang="es-CO" sz="1500" b="0" i="0" u="none" strike="noStrike">
                          <a:solidFill>
                            <a:srgbClr val="80589F"/>
                          </a:solidFill>
                          <a:effectLst/>
                          <a:latin typeface="Muli"/>
                        </a:rPr>
                        <a:t>47%</a:t>
                      </a:r>
                    </a:p>
                  </a:txBody>
                  <a:tcPr marL="9223" marR="9223" marT="9223" marB="44270" anchor="ctr">
                    <a:lnL w="6350" cap="flat" cmpd="sng" algn="ctr">
                      <a:solidFill>
                        <a:srgbClr val="7030A0"/>
                      </a:solidFill>
                      <a:prstDash val="solid"/>
                      <a:round/>
                      <a:headEnd type="none" w="med" len="med"/>
                      <a:tailEnd type="none" w="med" len="med"/>
                    </a:lnL>
                    <a:lnR>
                      <a:noFill/>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noFill/>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207704443"/>
                  </a:ext>
                </a:extLst>
              </a:tr>
            </a:tbl>
          </a:graphicData>
        </a:graphic>
      </p:graphicFrame>
    </p:spTree>
    <p:extLst>
      <p:ext uri="{BB962C8B-B14F-4D97-AF65-F5344CB8AC3E}">
        <p14:creationId xmlns:p14="http://schemas.microsoft.com/office/powerpoint/2010/main" val="28246498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816C2-54F2-4361-996F-711709F27D1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ADB4967-C65A-B8B0-CBA5-0C5F1A966624}"/>
              </a:ext>
            </a:extLst>
          </p:cNvPr>
          <p:cNvSpPr>
            <a:spLocks noGrp="1"/>
          </p:cNvSpPr>
          <p:nvPr>
            <p:ph type="title"/>
          </p:nvPr>
        </p:nvSpPr>
        <p:spPr>
          <a:xfrm>
            <a:off x="838200" y="148092"/>
            <a:ext cx="10515600" cy="896937"/>
          </a:xfrm>
        </p:spPr>
        <p:txBody>
          <a:bodyPr>
            <a:normAutofit fontScale="90000"/>
          </a:bodyPr>
          <a:lstStyle/>
          <a:p>
            <a:pPr algn="ctr"/>
            <a:r>
              <a:rPr lang="es-CO" noProof="0"/>
              <a:t>Cuidados Paliativos General 2026</a:t>
            </a:r>
          </a:p>
        </p:txBody>
      </p:sp>
      <p:sp>
        <p:nvSpPr>
          <p:cNvPr id="8" name="CuadroTexto 7">
            <a:extLst>
              <a:ext uri="{FF2B5EF4-FFF2-40B4-BE49-F238E27FC236}">
                <a16:creationId xmlns:a16="http://schemas.microsoft.com/office/drawing/2014/main" id="{EEBA7247-1881-3F3B-F291-6C7BC3F25800}"/>
              </a:ext>
            </a:extLst>
          </p:cNvPr>
          <p:cNvSpPr txBox="1"/>
          <p:nvPr/>
        </p:nvSpPr>
        <p:spPr>
          <a:xfrm>
            <a:off x="6096000" y="3834600"/>
            <a:ext cx="5141265" cy="523220"/>
          </a:xfrm>
          <a:prstGeom prst="rect">
            <a:avLst/>
          </a:prstGeom>
          <a:noFill/>
        </p:spPr>
        <p:txBody>
          <a:bodyPr wrap="square" lIns="91440" tIns="45720" rIns="91440" bIns="45720" anchor="t">
            <a:spAutoFit/>
          </a:bodyPr>
          <a:lstStyle/>
          <a:p>
            <a:pPr algn="ctr"/>
            <a:r>
              <a:rPr lang="es-CO" sz="2000" b="1" noProof="0"/>
              <a:t>Cobertura global actual:  </a:t>
            </a:r>
            <a:r>
              <a:rPr lang="es-CO" sz="2800" b="1" noProof="0">
                <a:solidFill>
                  <a:srgbClr val="4B4B4B"/>
                </a:solidFill>
              </a:rPr>
              <a:t>68%</a:t>
            </a:r>
            <a:endParaRPr lang="es-CO" sz="2000" b="1" noProof="0">
              <a:solidFill>
                <a:srgbClr val="4B4B4B"/>
              </a:solidFill>
            </a:endParaRPr>
          </a:p>
        </p:txBody>
      </p:sp>
      <p:sp>
        <p:nvSpPr>
          <p:cNvPr id="3" name="CuadroTexto 2">
            <a:extLst>
              <a:ext uri="{FF2B5EF4-FFF2-40B4-BE49-F238E27FC236}">
                <a16:creationId xmlns:a16="http://schemas.microsoft.com/office/drawing/2014/main" id="{D1D2D72F-DF46-03A6-B846-1D8001AD8421}"/>
              </a:ext>
            </a:extLst>
          </p:cNvPr>
          <p:cNvSpPr txBox="1"/>
          <p:nvPr/>
        </p:nvSpPr>
        <p:spPr>
          <a:xfrm>
            <a:off x="603042" y="4897425"/>
            <a:ext cx="11195537" cy="1323439"/>
          </a:xfrm>
          <a:prstGeom prst="rect">
            <a:avLst/>
          </a:prstGeom>
          <a:noFill/>
        </p:spPr>
        <p:txBody>
          <a:bodyPr wrap="square" rtlCol="0">
            <a:spAutoFit/>
          </a:bodyPr>
          <a:lstStyle/>
          <a:p>
            <a:r>
              <a:rPr lang="es-CO" sz="1600" noProof="0"/>
              <a:t>*Para el 2025 la cobertura fue del 68%, por que se estableció una meta 2026 80%</a:t>
            </a:r>
          </a:p>
          <a:p>
            <a:r>
              <a:rPr lang="es-CO" sz="1600" noProof="0"/>
              <a:t>*La meta se reinicia cada enero en 0% con el objetivo de dar seguimiento mensual y trazabilidad de lo corrido del año</a:t>
            </a:r>
          </a:p>
          <a:p>
            <a:r>
              <a:rPr lang="es-ES" sz="1600"/>
              <a:t>*</a:t>
            </a:r>
            <a:r>
              <a:rPr lang="es-ES" sz="1600" b="1"/>
              <a:t>T</a:t>
            </a:r>
            <a:r>
              <a:rPr lang="es-MX" sz="1600" b="1" err="1"/>
              <a:t>otal</a:t>
            </a:r>
            <a:r>
              <a:rPr lang="es-MX" sz="1600" b="1"/>
              <a:t> de consultas </a:t>
            </a:r>
            <a:r>
              <a:rPr lang="es-MX" sz="1600"/>
              <a:t>por medicina del dolor 2.294, nutrición 8.940, psicología 9.666, trabajo social: 10.400, enfermería: 1.331</a:t>
            </a:r>
          </a:p>
          <a:p>
            <a:r>
              <a:rPr lang="es-MX" sz="1600"/>
              <a:t>* </a:t>
            </a:r>
            <a:r>
              <a:rPr lang="es-MX" sz="1600" b="1"/>
              <a:t>Cobertura de paliativos por EPS: </a:t>
            </a:r>
            <a:r>
              <a:rPr lang="es-MX" sz="1600"/>
              <a:t>Salud Total  79% (n=2493), Sanitas 86% (n=1770), Emssanar: 51% (n=2198)</a:t>
            </a:r>
          </a:p>
          <a:p>
            <a:r>
              <a:rPr lang="es-MX" sz="1600"/>
              <a:t>*Se presenta un promedio de 11% de incumplimiento con mejoría a nivel nacional</a:t>
            </a:r>
            <a:endParaRPr lang="es-CO" sz="1600" noProof="0"/>
          </a:p>
        </p:txBody>
      </p:sp>
      <p:sp>
        <p:nvSpPr>
          <p:cNvPr id="10" name="CuadroTexto 9">
            <a:extLst>
              <a:ext uri="{FF2B5EF4-FFF2-40B4-BE49-F238E27FC236}">
                <a16:creationId xmlns:a16="http://schemas.microsoft.com/office/drawing/2014/main" id="{C66FA9F4-85EC-F1E3-67AC-132285FDD35F}"/>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Septiembre 2026</a:t>
            </a:r>
          </a:p>
        </p:txBody>
      </p:sp>
      <p:graphicFrame>
        <p:nvGraphicFramePr>
          <p:cNvPr id="5" name="Gráfico 4">
            <a:extLst>
              <a:ext uri="{FF2B5EF4-FFF2-40B4-BE49-F238E27FC236}">
                <a16:creationId xmlns:a16="http://schemas.microsoft.com/office/drawing/2014/main" id="{4EC00AD7-28D6-C1C5-B25A-D306B017DA96}"/>
              </a:ext>
            </a:extLst>
          </p:cNvPr>
          <p:cNvGraphicFramePr>
            <a:graphicFrameLocks/>
          </p:cNvGraphicFramePr>
          <p:nvPr>
            <p:extLst>
              <p:ext uri="{D42A27DB-BD31-4B8C-83A1-F6EECF244321}">
                <p14:modId xmlns:p14="http://schemas.microsoft.com/office/powerpoint/2010/main" val="1627021456"/>
              </p:ext>
            </p:extLst>
          </p:nvPr>
        </p:nvGraphicFramePr>
        <p:xfrm>
          <a:off x="1101969" y="1260231"/>
          <a:ext cx="9870831"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4301125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CD4B8-DE18-186E-E9B9-BCFE2321970F}"/>
            </a:ext>
          </a:extLst>
        </p:cNvPr>
        <p:cNvGrpSpPr/>
        <p:nvPr/>
      </p:nvGrpSpPr>
      <p:grpSpPr>
        <a:xfrm>
          <a:off x="0" y="0"/>
          <a:ext cx="0" cy="0"/>
          <a:chOff x="0" y="0"/>
          <a:chExt cx="0" cy="0"/>
        </a:xfrm>
      </p:grpSpPr>
      <p:sp>
        <p:nvSpPr>
          <p:cNvPr id="6" name="Título 1">
            <a:extLst>
              <a:ext uri="{FF2B5EF4-FFF2-40B4-BE49-F238E27FC236}">
                <a16:creationId xmlns:a16="http://schemas.microsoft.com/office/drawing/2014/main" id="{67752E5D-7D97-6DFC-51D8-2FCEDC11EA89}"/>
              </a:ext>
            </a:extLst>
          </p:cNvPr>
          <p:cNvSpPr txBox="1">
            <a:spLocks/>
          </p:cNvSpPr>
          <p:nvPr/>
        </p:nvSpPr>
        <p:spPr>
          <a:xfrm>
            <a:off x="1068049" y="165719"/>
            <a:ext cx="10515600" cy="81207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400" b="1" kern="1200">
                <a:solidFill>
                  <a:srgbClr val="00A19C"/>
                </a:solidFill>
                <a:latin typeface="+mj-lt"/>
                <a:ea typeface="+mj-ea"/>
                <a:cs typeface="+mj-cs"/>
              </a:defRPr>
            </a:lvl1pPr>
          </a:lstStyle>
          <a:p>
            <a:r>
              <a:rPr lang="es-CO">
                <a:solidFill>
                  <a:schemeClr val="tx1"/>
                </a:solidFill>
                <a:latin typeface="Century Gothic"/>
              </a:rPr>
              <a:t>Encuestas de satisfacción</a:t>
            </a:r>
            <a:endParaRPr lang="es-ES"/>
          </a:p>
        </p:txBody>
      </p:sp>
      <p:sp>
        <p:nvSpPr>
          <p:cNvPr id="12" name="CuadroTexto 11">
            <a:extLst>
              <a:ext uri="{FF2B5EF4-FFF2-40B4-BE49-F238E27FC236}">
                <a16:creationId xmlns:a16="http://schemas.microsoft.com/office/drawing/2014/main" id="{6BEEDD15-8E87-D1B2-1C40-AE5547BFD472}"/>
              </a:ext>
            </a:extLst>
          </p:cNvPr>
          <p:cNvSpPr txBox="1"/>
          <p:nvPr/>
        </p:nvSpPr>
        <p:spPr>
          <a:xfrm>
            <a:off x="6325849" y="1835918"/>
            <a:ext cx="4993180" cy="2800767"/>
          </a:xfrm>
          <a:prstGeom prst="rect">
            <a:avLst/>
          </a:prstGeom>
          <a:noFill/>
        </p:spPr>
        <p:txBody>
          <a:bodyPr wrap="square" lIns="91440" tIns="45720" rIns="91440" bIns="45720" anchor="t">
            <a:spAutoFit/>
          </a:bodyPr>
          <a:lstStyle/>
          <a:p>
            <a:pPr algn="just"/>
            <a:r>
              <a:rPr lang="es-MX" sz="1600">
                <a:solidFill>
                  <a:schemeClr val="tx1">
                    <a:lumMod val="50000"/>
                  </a:schemeClr>
                </a:solidFill>
                <a:latin typeface="Aptos"/>
              </a:rPr>
              <a:t>Durante el mes de AGOSTO se aplicaron 934 encuestas de satisfacción, alcanzando una cobertura del 29% de los pacientes (3182) que recibieron atención en el mes.</a:t>
            </a:r>
          </a:p>
          <a:p>
            <a:pPr algn="just"/>
            <a:endParaRPr lang="es-MX" sz="1600">
              <a:solidFill>
                <a:schemeClr val="tx1">
                  <a:lumMod val="50000"/>
                </a:schemeClr>
              </a:solidFill>
              <a:latin typeface="Aptos"/>
            </a:endParaRPr>
          </a:p>
          <a:p>
            <a:pPr algn="just"/>
            <a:r>
              <a:rPr lang="es-ES" sz="1600">
                <a:solidFill>
                  <a:schemeClr val="tx1">
                    <a:lumMod val="50000"/>
                  </a:schemeClr>
                </a:solidFill>
                <a:latin typeface="Aptos"/>
              </a:rPr>
              <a:t>Los resultados de los indicadores de Experiencia del Usuario correspondientes al mes de agosto evidencian un comportamiento altamente favorable en las tres regionales, destacándose el cumplimiento del 100 % del valor esperado en NPS, CES y FCR en Cauca, Tolima y Valle.</a:t>
            </a:r>
            <a:endParaRPr lang="es-MX" sz="1600">
              <a:solidFill>
                <a:schemeClr val="tx1">
                  <a:lumMod val="50000"/>
                </a:schemeClr>
              </a:solidFill>
              <a:latin typeface="Aptos"/>
            </a:endParaRPr>
          </a:p>
        </p:txBody>
      </p:sp>
      <p:graphicFrame>
        <p:nvGraphicFramePr>
          <p:cNvPr id="2" name="Tabla 1">
            <a:extLst>
              <a:ext uri="{FF2B5EF4-FFF2-40B4-BE49-F238E27FC236}">
                <a16:creationId xmlns:a16="http://schemas.microsoft.com/office/drawing/2014/main" id="{433C02BB-04EC-0EC1-AE35-84CF5C7D9D42}"/>
              </a:ext>
            </a:extLst>
          </p:cNvPr>
          <p:cNvGraphicFramePr>
            <a:graphicFrameLocks noGrp="1"/>
          </p:cNvGraphicFramePr>
          <p:nvPr/>
        </p:nvGraphicFramePr>
        <p:xfrm>
          <a:off x="630380" y="1392476"/>
          <a:ext cx="4549447" cy="4073047"/>
        </p:xfrm>
        <a:graphic>
          <a:graphicData uri="http://schemas.openxmlformats.org/drawingml/2006/table">
            <a:tbl>
              <a:tblPr>
                <a:tableStyleId>{5C22544A-7EE6-4342-B048-85BDC9FD1C3A}</a:tableStyleId>
              </a:tblPr>
              <a:tblGrid>
                <a:gridCol w="2197999">
                  <a:extLst>
                    <a:ext uri="{9D8B030D-6E8A-4147-A177-3AD203B41FA5}">
                      <a16:colId xmlns:a16="http://schemas.microsoft.com/office/drawing/2014/main" val="2903375644"/>
                    </a:ext>
                  </a:extLst>
                </a:gridCol>
                <a:gridCol w="1513700">
                  <a:extLst>
                    <a:ext uri="{9D8B030D-6E8A-4147-A177-3AD203B41FA5}">
                      <a16:colId xmlns:a16="http://schemas.microsoft.com/office/drawing/2014/main" val="1199655044"/>
                    </a:ext>
                  </a:extLst>
                </a:gridCol>
                <a:gridCol w="837748">
                  <a:extLst>
                    <a:ext uri="{9D8B030D-6E8A-4147-A177-3AD203B41FA5}">
                      <a16:colId xmlns:a16="http://schemas.microsoft.com/office/drawing/2014/main" val="492685598"/>
                    </a:ext>
                  </a:extLst>
                </a:gridCol>
              </a:tblGrid>
              <a:tr h="312922">
                <a:tc gridSpan="3">
                  <a:txBody>
                    <a:bodyPr/>
                    <a:lstStyle/>
                    <a:p>
                      <a:pPr algn="ctr" fontAlgn="b">
                        <a:buNone/>
                      </a:pPr>
                      <a:r>
                        <a:rPr lang="es-MX" sz="1400" b="1" i="0" u="none" strike="noStrike">
                          <a:solidFill>
                            <a:schemeClr val="tx1"/>
                          </a:solidFill>
                          <a:effectLst/>
                          <a:latin typeface="Aptos" panose="020B0004020202020204" pitchFamily="34" charset="0"/>
                        </a:rPr>
                        <a:t>DISTRIBUCIÓN DE ENCUESTAS POR CLIENTE</a:t>
                      </a:r>
                      <a:endParaRPr lang="es-CO" sz="1400" b="1" i="0" u="none" strike="noStrike">
                        <a:solidFill>
                          <a:schemeClr val="tx1"/>
                        </a:solidFill>
                        <a:effectLst/>
                        <a:latin typeface="Aptos" panose="020B0004020202020204" pitchFamily="34" charset="0"/>
                      </a:endParaRPr>
                    </a:p>
                  </a:txBody>
                  <a:tcPr marL="9525" marR="9525" marT="9525" marB="0" anchor="ctr">
                    <a:noFill/>
                  </a:tcPr>
                </a:tc>
                <a:tc hMerge="1">
                  <a:txBody>
                    <a:bodyPr/>
                    <a:lstStyle/>
                    <a:p>
                      <a:pPr algn="ctr" fontAlgn="b">
                        <a:buNone/>
                      </a:pPr>
                      <a:endParaRPr lang="es-CO" sz="1200" b="0" i="0" u="none" strike="noStrike">
                        <a:solidFill>
                          <a:schemeClr val="bg1"/>
                        </a:solidFill>
                        <a:effectLst/>
                        <a:latin typeface="Aptos" panose="020B0004020202020204" pitchFamily="34" charset="0"/>
                      </a:endParaRPr>
                    </a:p>
                  </a:txBody>
                  <a:tcPr marL="9525" marR="9525" marT="9525" marB="0" anchor="b">
                    <a:solidFill>
                      <a:schemeClr val="tx1">
                        <a:lumMod val="50000"/>
                      </a:schemeClr>
                    </a:solidFill>
                  </a:tcPr>
                </a:tc>
                <a:tc hMerge="1">
                  <a:txBody>
                    <a:bodyPr/>
                    <a:lstStyle/>
                    <a:p>
                      <a:pPr algn="ctr" fontAlgn="b">
                        <a:buNone/>
                      </a:pPr>
                      <a:endParaRPr lang="es-CO" sz="1200" b="0" i="0" u="none" strike="noStrike">
                        <a:solidFill>
                          <a:schemeClr val="bg1"/>
                        </a:solidFill>
                        <a:effectLst/>
                        <a:latin typeface="Aptos" panose="020B0004020202020204" pitchFamily="34" charset="0"/>
                      </a:endParaRPr>
                    </a:p>
                  </a:txBody>
                  <a:tcPr marL="9525" marR="9525" marT="9525" marB="0" anchor="b">
                    <a:solidFill>
                      <a:schemeClr val="tx1">
                        <a:lumMod val="50000"/>
                      </a:schemeClr>
                    </a:solidFill>
                  </a:tcPr>
                </a:tc>
                <a:extLst>
                  <a:ext uri="{0D108BD9-81ED-4DB2-BD59-A6C34878D82A}">
                    <a16:rowId xmlns:a16="http://schemas.microsoft.com/office/drawing/2014/main" val="1378803862"/>
                  </a:ext>
                </a:extLst>
              </a:tr>
              <a:tr h="446158">
                <a:tc>
                  <a:txBody>
                    <a:bodyPr/>
                    <a:lstStyle/>
                    <a:p>
                      <a:pPr algn="ctr" fontAlgn="b">
                        <a:buNone/>
                      </a:pPr>
                      <a:r>
                        <a:rPr lang="es-CO" sz="1200" u="none" strike="noStrike">
                          <a:solidFill>
                            <a:schemeClr val="bg1"/>
                          </a:solidFill>
                          <a:effectLst/>
                          <a:latin typeface="Aptos" panose="020B0004020202020204" pitchFamily="34" charset="0"/>
                        </a:rPr>
                        <a:t>EPS</a:t>
                      </a:r>
                      <a:endParaRPr lang="es-CO" sz="1200" b="0" i="0" u="none" strike="noStrike">
                        <a:solidFill>
                          <a:schemeClr val="bg1"/>
                        </a:solidFill>
                        <a:effectLst/>
                        <a:latin typeface="Aptos" panose="020B0004020202020204" pitchFamily="34" charset="0"/>
                      </a:endParaRPr>
                    </a:p>
                  </a:txBody>
                  <a:tcPr marL="9525" marR="9525" marT="9525" marB="0" anchor="ctr">
                    <a:solidFill>
                      <a:schemeClr val="tx2"/>
                    </a:solidFill>
                  </a:tcPr>
                </a:tc>
                <a:tc>
                  <a:txBody>
                    <a:bodyPr/>
                    <a:lstStyle/>
                    <a:p>
                      <a:pPr algn="ctr" fontAlgn="b">
                        <a:buNone/>
                      </a:pPr>
                      <a:r>
                        <a:rPr lang="es-CO" sz="1200" u="none" strike="noStrike">
                          <a:solidFill>
                            <a:schemeClr val="bg1"/>
                          </a:solidFill>
                          <a:effectLst/>
                          <a:latin typeface="Aptos" panose="020B0004020202020204" pitchFamily="34" charset="0"/>
                        </a:rPr>
                        <a:t>FRECUENCIA</a:t>
                      </a:r>
                      <a:endParaRPr lang="es-CO" sz="1200" b="0" i="0" u="none" strike="noStrike">
                        <a:solidFill>
                          <a:schemeClr val="bg1"/>
                        </a:solidFill>
                        <a:effectLst/>
                        <a:latin typeface="Aptos" panose="020B0004020202020204" pitchFamily="34" charset="0"/>
                      </a:endParaRPr>
                    </a:p>
                  </a:txBody>
                  <a:tcPr marL="9525" marR="9525" marT="9525" marB="0" anchor="ctr">
                    <a:solidFill>
                      <a:schemeClr val="tx2"/>
                    </a:solidFill>
                  </a:tcPr>
                </a:tc>
                <a:tc>
                  <a:txBody>
                    <a:bodyPr/>
                    <a:lstStyle/>
                    <a:p>
                      <a:pPr algn="ctr" fontAlgn="b">
                        <a:buNone/>
                      </a:pPr>
                      <a:r>
                        <a:rPr lang="es-CO" sz="1200" u="none" strike="noStrike">
                          <a:solidFill>
                            <a:schemeClr val="bg1"/>
                          </a:solidFill>
                          <a:effectLst/>
                          <a:latin typeface="Aptos" panose="020B0004020202020204" pitchFamily="34" charset="0"/>
                        </a:rPr>
                        <a:t>%</a:t>
                      </a:r>
                      <a:endParaRPr lang="es-CO" sz="1200" b="0" i="0" u="none" strike="noStrike">
                        <a:solidFill>
                          <a:schemeClr val="bg1"/>
                        </a:solidFill>
                        <a:effectLst/>
                        <a:latin typeface="Aptos" panose="020B0004020202020204" pitchFamily="34" charset="0"/>
                      </a:endParaRPr>
                    </a:p>
                  </a:txBody>
                  <a:tcPr marL="9525" marR="9525" marT="9525" marB="0" anchor="ctr">
                    <a:solidFill>
                      <a:schemeClr val="tx2"/>
                    </a:solidFill>
                  </a:tcPr>
                </a:tc>
                <a:extLst>
                  <a:ext uri="{0D108BD9-81ED-4DB2-BD59-A6C34878D82A}">
                    <a16:rowId xmlns:a16="http://schemas.microsoft.com/office/drawing/2014/main" val="2235381108"/>
                  </a:ext>
                </a:extLst>
              </a:tr>
              <a:tr h="301270">
                <a:tc>
                  <a:txBody>
                    <a:bodyPr/>
                    <a:lstStyle/>
                    <a:p>
                      <a:pPr algn="ctr" fontAlgn="b">
                        <a:buNone/>
                      </a:pPr>
                      <a:r>
                        <a:rPr lang="es-CO" sz="1200" b="0" i="0" u="none" strike="noStrike">
                          <a:solidFill>
                            <a:srgbClr val="000000"/>
                          </a:solidFill>
                          <a:effectLst/>
                          <a:latin typeface="Aptos" panose="020B0004020202020204" pitchFamily="34" charset="0"/>
                        </a:rPr>
                        <a:t>SALUD TOTAL</a:t>
                      </a:r>
                    </a:p>
                  </a:txBody>
                  <a:tcPr marL="9525" marR="9525" marT="9525" marB="0" anchor="ctr">
                    <a:noFill/>
                  </a:tcPr>
                </a:tc>
                <a:tc>
                  <a:txBody>
                    <a:bodyPr/>
                    <a:lstStyle/>
                    <a:p>
                      <a:pPr algn="ctr" fontAlgn="b">
                        <a:buNone/>
                      </a:pPr>
                      <a:r>
                        <a:rPr lang="es-CO" sz="1200" b="0" i="0" u="none" strike="noStrike">
                          <a:solidFill>
                            <a:srgbClr val="000000"/>
                          </a:solidFill>
                          <a:effectLst/>
                          <a:latin typeface="Aptos" panose="020B0004020202020204" pitchFamily="34" charset="0"/>
                        </a:rPr>
                        <a:t>453</a:t>
                      </a:r>
                    </a:p>
                  </a:txBody>
                  <a:tcPr marL="9525" marR="9525" marT="9525" marB="0" anchor="ctr">
                    <a:noFill/>
                  </a:tcPr>
                </a:tc>
                <a:tc>
                  <a:txBody>
                    <a:bodyPr/>
                    <a:lstStyle/>
                    <a:p>
                      <a:pPr algn="ctr" fontAlgn="b">
                        <a:buNone/>
                      </a:pPr>
                      <a:r>
                        <a:rPr lang="es-CO" sz="1200" b="0" i="0" u="none" strike="noStrike">
                          <a:solidFill>
                            <a:srgbClr val="000000"/>
                          </a:solidFill>
                          <a:effectLst/>
                          <a:latin typeface="Aptos" panose="020B0004020202020204" pitchFamily="34" charset="0"/>
                        </a:rPr>
                        <a:t>49%</a:t>
                      </a:r>
                    </a:p>
                  </a:txBody>
                  <a:tcPr marL="9525" marR="9525" marT="9525" marB="0" anchor="ctr">
                    <a:noFill/>
                  </a:tcPr>
                </a:tc>
                <a:extLst>
                  <a:ext uri="{0D108BD9-81ED-4DB2-BD59-A6C34878D82A}">
                    <a16:rowId xmlns:a16="http://schemas.microsoft.com/office/drawing/2014/main" val="3079232870"/>
                  </a:ext>
                </a:extLst>
              </a:tr>
              <a:tr h="301270">
                <a:tc>
                  <a:txBody>
                    <a:bodyPr/>
                    <a:lstStyle/>
                    <a:p>
                      <a:pPr algn="ctr" fontAlgn="b">
                        <a:buNone/>
                      </a:pPr>
                      <a:r>
                        <a:rPr lang="es-CO" sz="1200" b="0" i="0" u="none" strike="noStrike">
                          <a:solidFill>
                            <a:srgbClr val="000000"/>
                          </a:solidFill>
                          <a:effectLst/>
                          <a:latin typeface="Aptos" panose="020B0004020202020204" pitchFamily="34" charset="0"/>
                        </a:rPr>
                        <a:t>SANITAS</a:t>
                      </a:r>
                    </a:p>
                  </a:txBody>
                  <a:tcPr marL="9525" marR="9525" marT="9525" marB="0" anchor="ctr">
                    <a:noFill/>
                  </a:tcPr>
                </a:tc>
                <a:tc>
                  <a:txBody>
                    <a:bodyPr/>
                    <a:lstStyle/>
                    <a:p>
                      <a:pPr algn="ctr" fontAlgn="b">
                        <a:buNone/>
                      </a:pPr>
                      <a:r>
                        <a:rPr lang="es-CO" sz="1200" b="0" i="0" u="none" strike="noStrike">
                          <a:solidFill>
                            <a:srgbClr val="000000"/>
                          </a:solidFill>
                          <a:effectLst/>
                          <a:latin typeface="Aptos" panose="020B0004020202020204" pitchFamily="34" charset="0"/>
                        </a:rPr>
                        <a:t>335</a:t>
                      </a:r>
                    </a:p>
                  </a:txBody>
                  <a:tcPr marL="9525" marR="9525" marT="9525" marB="0" anchor="ctr">
                    <a:noFill/>
                  </a:tcPr>
                </a:tc>
                <a:tc>
                  <a:txBody>
                    <a:bodyPr/>
                    <a:lstStyle/>
                    <a:p>
                      <a:pPr algn="ctr" fontAlgn="b">
                        <a:buNone/>
                      </a:pPr>
                      <a:r>
                        <a:rPr lang="es-CO" sz="1200" b="0" i="0" u="none" strike="noStrike">
                          <a:solidFill>
                            <a:srgbClr val="000000"/>
                          </a:solidFill>
                          <a:effectLst/>
                          <a:latin typeface="Aptos" panose="020B0004020202020204" pitchFamily="34" charset="0"/>
                        </a:rPr>
                        <a:t>36%</a:t>
                      </a:r>
                    </a:p>
                  </a:txBody>
                  <a:tcPr marL="9525" marR="9525" marT="9525" marB="0" anchor="ctr">
                    <a:noFill/>
                  </a:tcPr>
                </a:tc>
                <a:extLst>
                  <a:ext uri="{0D108BD9-81ED-4DB2-BD59-A6C34878D82A}">
                    <a16:rowId xmlns:a16="http://schemas.microsoft.com/office/drawing/2014/main" val="2260268076"/>
                  </a:ext>
                </a:extLst>
              </a:tr>
              <a:tr h="301270">
                <a:tc>
                  <a:txBody>
                    <a:bodyPr/>
                    <a:lstStyle/>
                    <a:p>
                      <a:pPr algn="ctr" fontAlgn="b">
                        <a:buNone/>
                      </a:pPr>
                      <a:r>
                        <a:rPr lang="es-CO" sz="1200" b="0" i="0" u="none" strike="noStrike">
                          <a:solidFill>
                            <a:srgbClr val="000000"/>
                          </a:solidFill>
                          <a:effectLst/>
                          <a:latin typeface="Aptos" panose="020B0004020202020204" pitchFamily="34" charset="0"/>
                        </a:rPr>
                        <a:t>EMSSANAR</a:t>
                      </a:r>
                    </a:p>
                  </a:txBody>
                  <a:tcPr marL="9525" marR="9525" marT="9525" marB="0" anchor="ctr">
                    <a:noFill/>
                  </a:tcPr>
                </a:tc>
                <a:tc>
                  <a:txBody>
                    <a:bodyPr/>
                    <a:lstStyle/>
                    <a:p>
                      <a:pPr algn="ctr" fontAlgn="b">
                        <a:buNone/>
                      </a:pPr>
                      <a:r>
                        <a:rPr lang="es-CO" sz="1200" b="0" i="0" u="none" strike="noStrike">
                          <a:solidFill>
                            <a:srgbClr val="000000"/>
                          </a:solidFill>
                          <a:effectLst/>
                          <a:latin typeface="Aptos" panose="020B0004020202020204" pitchFamily="34" charset="0"/>
                        </a:rPr>
                        <a:t>123</a:t>
                      </a:r>
                    </a:p>
                  </a:txBody>
                  <a:tcPr marL="9525" marR="9525" marT="9525" marB="0" anchor="ctr">
                    <a:noFill/>
                  </a:tcPr>
                </a:tc>
                <a:tc>
                  <a:txBody>
                    <a:bodyPr/>
                    <a:lstStyle/>
                    <a:p>
                      <a:pPr algn="ctr" fontAlgn="b">
                        <a:buNone/>
                      </a:pPr>
                      <a:r>
                        <a:rPr lang="es-CO" sz="1200" b="0" i="0" u="none" strike="noStrike">
                          <a:solidFill>
                            <a:srgbClr val="000000"/>
                          </a:solidFill>
                          <a:effectLst/>
                          <a:latin typeface="Aptos" panose="020B0004020202020204" pitchFamily="34" charset="0"/>
                        </a:rPr>
                        <a:t>13%</a:t>
                      </a:r>
                    </a:p>
                  </a:txBody>
                  <a:tcPr marL="9525" marR="9525" marT="9525" marB="0" anchor="ctr">
                    <a:noFill/>
                  </a:tcPr>
                </a:tc>
                <a:extLst>
                  <a:ext uri="{0D108BD9-81ED-4DB2-BD59-A6C34878D82A}">
                    <a16:rowId xmlns:a16="http://schemas.microsoft.com/office/drawing/2014/main" val="923994756"/>
                  </a:ext>
                </a:extLst>
              </a:tr>
              <a:tr h="301270">
                <a:tc>
                  <a:txBody>
                    <a:bodyPr/>
                    <a:lstStyle/>
                    <a:p>
                      <a:pPr algn="ctr" fontAlgn="b">
                        <a:buNone/>
                      </a:pPr>
                      <a:r>
                        <a:rPr lang="es-CO" sz="1200" b="0" i="0" u="none" strike="noStrike">
                          <a:solidFill>
                            <a:srgbClr val="000000"/>
                          </a:solidFill>
                          <a:effectLst/>
                          <a:latin typeface="Aptos" panose="020B0004020202020204" pitchFamily="34" charset="0"/>
                        </a:rPr>
                        <a:t>FAMILIAR DE COLOMBIA</a:t>
                      </a:r>
                    </a:p>
                  </a:txBody>
                  <a:tcPr marL="9525" marR="9525" marT="9525" marB="0" anchor="ctr">
                    <a:noFill/>
                  </a:tcPr>
                </a:tc>
                <a:tc>
                  <a:txBody>
                    <a:bodyPr/>
                    <a:lstStyle/>
                    <a:p>
                      <a:pPr algn="ctr" fontAlgn="b">
                        <a:buNone/>
                      </a:pPr>
                      <a:r>
                        <a:rPr lang="es-CO" sz="1200" b="0" i="0" u="none" strike="noStrike">
                          <a:solidFill>
                            <a:srgbClr val="000000"/>
                          </a:solidFill>
                          <a:effectLst/>
                          <a:latin typeface="Aptos" panose="020B0004020202020204" pitchFamily="34" charset="0"/>
                        </a:rPr>
                        <a:t>8</a:t>
                      </a:r>
                    </a:p>
                  </a:txBody>
                  <a:tcPr marL="9525" marR="9525" marT="9525" marB="0" anchor="ctr">
                    <a:noFill/>
                  </a:tcPr>
                </a:tc>
                <a:tc>
                  <a:txBody>
                    <a:bodyPr/>
                    <a:lstStyle/>
                    <a:p>
                      <a:pPr algn="ctr" fontAlgn="b">
                        <a:buNone/>
                      </a:pPr>
                      <a:r>
                        <a:rPr lang="es-CO" sz="1200" b="0" i="0" u="none" strike="noStrike">
                          <a:solidFill>
                            <a:srgbClr val="000000"/>
                          </a:solidFill>
                          <a:effectLst/>
                          <a:latin typeface="Aptos" panose="020B0004020202020204" pitchFamily="34" charset="0"/>
                        </a:rPr>
                        <a:t>1%</a:t>
                      </a:r>
                    </a:p>
                  </a:txBody>
                  <a:tcPr marL="9525" marR="9525" marT="9525" marB="0" anchor="ctr">
                    <a:noFill/>
                  </a:tcPr>
                </a:tc>
                <a:extLst>
                  <a:ext uri="{0D108BD9-81ED-4DB2-BD59-A6C34878D82A}">
                    <a16:rowId xmlns:a16="http://schemas.microsoft.com/office/drawing/2014/main" val="1258607083"/>
                  </a:ext>
                </a:extLst>
              </a:tr>
              <a:tr h="301270">
                <a:tc>
                  <a:txBody>
                    <a:bodyPr/>
                    <a:lstStyle/>
                    <a:p>
                      <a:pPr algn="ctr" fontAlgn="b">
                        <a:buNone/>
                      </a:pPr>
                      <a:r>
                        <a:rPr lang="es-CO" sz="1200" b="0" i="0" u="none" strike="noStrike">
                          <a:solidFill>
                            <a:srgbClr val="000000"/>
                          </a:solidFill>
                          <a:effectLst/>
                          <a:latin typeface="Aptos" panose="020B0004020202020204" pitchFamily="34" charset="0"/>
                        </a:rPr>
                        <a:t>FOMAG</a:t>
                      </a:r>
                    </a:p>
                  </a:txBody>
                  <a:tcPr marL="9525" marR="9525" marT="9525" marB="0" anchor="ctr">
                    <a:noFill/>
                  </a:tcPr>
                </a:tc>
                <a:tc>
                  <a:txBody>
                    <a:bodyPr/>
                    <a:lstStyle/>
                    <a:p>
                      <a:pPr algn="ctr" fontAlgn="b">
                        <a:buNone/>
                      </a:pPr>
                      <a:r>
                        <a:rPr lang="es-CO" sz="1200" b="0" i="0" u="none" strike="noStrike">
                          <a:solidFill>
                            <a:srgbClr val="000000"/>
                          </a:solidFill>
                          <a:effectLst/>
                          <a:latin typeface="Aptos" panose="020B0004020202020204" pitchFamily="34" charset="0"/>
                        </a:rPr>
                        <a:t>5</a:t>
                      </a:r>
                    </a:p>
                  </a:txBody>
                  <a:tcPr marL="9525" marR="9525" marT="9525" marB="0" anchor="ctr">
                    <a:noFill/>
                  </a:tcPr>
                </a:tc>
                <a:tc>
                  <a:txBody>
                    <a:bodyPr/>
                    <a:lstStyle/>
                    <a:p>
                      <a:pPr algn="ctr" fontAlgn="b">
                        <a:buNone/>
                      </a:pPr>
                      <a:r>
                        <a:rPr lang="es-CO" sz="1200" b="0" i="0" u="none" strike="noStrike">
                          <a:solidFill>
                            <a:srgbClr val="000000"/>
                          </a:solidFill>
                          <a:effectLst/>
                          <a:latin typeface="Aptos" panose="020B0004020202020204" pitchFamily="34" charset="0"/>
                        </a:rPr>
                        <a:t>1%</a:t>
                      </a:r>
                    </a:p>
                  </a:txBody>
                  <a:tcPr marL="9525" marR="9525" marT="9525" marB="0" anchor="ctr">
                    <a:noFill/>
                  </a:tcPr>
                </a:tc>
                <a:extLst>
                  <a:ext uri="{0D108BD9-81ED-4DB2-BD59-A6C34878D82A}">
                    <a16:rowId xmlns:a16="http://schemas.microsoft.com/office/drawing/2014/main" val="3559752488"/>
                  </a:ext>
                </a:extLst>
              </a:tr>
              <a:tr h="301270">
                <a:tc>
                  <a:txBody>
                    <a:bodyPr/>
                    <a:lstStyle/>
                    <a:p>
                      <a:pPr algn="ctr" fontAlgn="b">
                        <a:buNone/>
                      </a:pPr>
                      <a:r>
                        <a:rPr lang="es-CO" sz="1200" b="0" i="0" u="none" strike="noStrike">
                          <a:solidFill>
                            <a:srgbClr val="000000"/>
                          </a:solidFill>
                          <a:effectLst/>
                          <a:latin typeface="Aptos" panose="020B0004020202020204" pitchFamily="34" charset="0"/>
                        </a:rPr>
                        <a:t>SIES SALUD</a:t>
                      </a:r>
                    </a:p>
                  </a:txBody>
                  <a:tcPr marL="9525" marR="9525" marT="9525" marB="0" anchor="ctr">
                    <a:noFill/>
                  </a:tcPr>
                </a:tc>
                <a:tc>
                  <a:txBody>
                    <a:bodyPr/>
                    <a:lstStyle/>
                    <a:p>
                      <a:pPr algn="ctr" fontAlgn="b">
                        <a:buNone/>
                      </a:pPr>
                      <a:r>
                        <a:rPr lang="es-CO" sz="1200" b="0" i="0" u="none" strike="noStrike">
                          <a:solidFill>
                            <a:srgbClr val="000000"/>
                          </a:solidFill>
                          <a:effectLst/>
                          <a:latin typeface="Aptos" panose="020B0004020202020204" pitchFamily="34" charset="0"/>
                        </a:rPr>
                        <a:t>5</a:t>
                      </a:r>
                    </a:p>
                  </a:txBody>
                  <a:tcPr marL="9525" marR="9525" marT="9525" marB="0" anchor="ctr">
                    <a:noFill/>
                  </a:tcPr>
                </a:tc>
                <a:tc>
                  <a:txBody>
                    <a:bodyPr/>
                    <a:lstStyle/>
                    <a:p>
                      <a:pPr algn="ctr" fontAlgn="b">
                        <a:buNone/>
                      </a:pPr>
                      <a:r>
                        <a:rPr lang="es-CO" sz="1200" b="0" i="0" u="none" strike="noStrike">
                          <a:solidFill>
                            <a:srgbClr val="000000"/>
                          </a:solidFill>
                          <a:effectLst/>
                          <a:latin typeface="Aptos" panose="020B0004020202020204" pitchFamily="34" charset="0"/>
                        </a:rPr>
                        <a:t>1%</a:t>
                      </a:r>
                    </a:p>
                  </a:txBody>
                  <a:tcPr marL="9525" marR="9525" marT="9525" marB="0" anchor="ctr">
                    <a:noFill/>
                  </a:tcPr>
                </a:tc>
                <a:extLst>
                  <a:ext uri="{0D108BD9-81ED-4DB2-BD59-A6C34878D82A}">
                    <a16:rowId xmlns:a16="http://schemas.microsoft.com/office/drawing/2014/main" val="1812465957"/>
                  </a:ext>
                </a:extLst>
              </a:tr>
              <a:tr h="301270">
                <a:tc>
                  <a:txBody>
                    <a:bodyPr/>
                    <a:lstStyle/>
                    <a:p>
                      <a:pPr algn="ctr" fontAlgn="b">
                        <a:buNone/>
                      </a:pPr>
                      <a:r>
                        <a:rPr lang="es-CO" sz="1200" b="0" i="0" u="none" strike="noStrike">
                          <a:solidFill>
                            <a:srgbClr val="000000"/>
                          </a:solidFill>
                          <a:effectLst/>
                          <a:latin typeface="Aptos" panose="020B0004020202020204" pitchFamily="34" charset="0"/>
                        </a:rPr>
                        <a:t>PARTICULARES</a:t>
                      </a:r>
                    </a:p>
                  </a:txBody>
                  <a:tcPr marL="9525" marR="9525" marT="9525" marB="0" anchor="ctr">
                    <a:noFill/>
                  </a:tcPr>
                </a:tc>
                <a:tc>
                  <a:txBody>
                    <a:bodyPr/>
                    <a:lstStyle/>
                    <a:p>
                      <a:pPr algn="ctr" fontAlgn="b">
                        <a:buNone/>
                      </a:pPr>
                      <a:r>
                        <a:rPr lang="es-CO" sz="1200" b="0" i="0" u="none" strike="noStrike">
                          <a:solidFill>
                            <a:srgbClr val="000000"/>
                          </a:solidFill>
                          <a:effectLst/>
                          <a:latin typeface="Aptos" panose="020B0004020202020204" pitchFamily="34" charset="0"/>
                        </a:rPr>
                        <a:t>2</a:t>
                      </a:r>
                    </a:p>
                  </a:txBody>
                  <a:tcPr marL="9525" marR="9525" marT="9525" marB="0" anchor="ctr">
                    <a:noFill/>
                  </a:tcPr>
                </a:tc>
                <a:tc>
                  <a:txBody>
                    <a:bodyPr/>
                    <a:lstStyle/>
                    <a:p>
                      <a:pPr algn="ctr" fontAlgn="b">
                        <a:buNone/>
                      </a:pPr>
                      <a:r>
                        <a:rPr lang="es-CO" sz="1200" b="0" i="0" u="none" strike="noStrike">
                          <a:solidFill>
                            <a:srgbClr val="000000"/>
                          </a:solidFill>
                          <a:effectLst/>
                          <a:latin typeface="Aptos" panose="020B0004020202020204" pitchFamily="34" charset="0"/>
                        </a:rPr>
                        <a:t>0,2%</a:t>
                      </a:r>
                    </a:p>
                  </a:txBody>
                  <a:tcPr marL="9525" marR="9525" marT="9525" marB="0" anchor="ctr">
                    <a:noFill/>
                  </a:tcPr>
                </a:tc>
                <a:extLst>
                  <a:ext uri="{0D108BD9-81ED-4DB2-BD59-A6C34878D82A}">
                    <a16:rowId xmlns:a16="http://schemas.microsoft.com/office/drawing/2014/main" val="1207906525"/>
                  </a:ext>
                </a:extLst>
              </a:tr>
              <a:tr h="301269">
                <a:tc>
                  <a:txBody>
                    <a:bodyPr/>
                    <a:lstStyle/>
                    <a:p>
                      <a:pPr algn="ctr" fontAlgn="b">
                        <a:buNone/>
                      </a:pPr>
                      <a:r>
                        <a:rPr lang="es-CO" sz="1200" b="0" i="0" u="none" strike="noStrike">
                          <a:solidFill>
                            <a:srgbClr val="000000"/>
                          </a:solidFill>
                          <a:effectLst/>
                          <a:latin typeface="Aptos" panose="020B0004020202020204" pitchFamily="34" charset="0"/>
                        </a:rPr>
                        <a:t>UNICAUCA</a:t>
                      </a:r>
                    </a:p>
                  </a:txBody>
                  <a:tcPr marL="9525" marR="9525" marT="9525" marB="0" anchor="ctr">
                    <a:noFill/>
                  </a:tcPr>
                </a:tc>
                <a:tc>
                  <a:txBody>
                    <a:bodyPr/>
                    <a:lstStyle/>
                    <a:p>
                      <a:pPr algn="ctr" fontAlgn="b">
                        <a:buNone/>
                      </a:pPr>
                      <a:r>
                        <a:rPr lang="es-CO" sz="1200" b="0" i="0" u="none" strike="noStrike">
                          <a:solidFill>
                            <a:srgbClr val="000000"/>
                          </a:solidFill>
                          <a:effectLst/>
                          <a:latin typeface="Aptos" panose="020B0004020202020204" pitchFamily="34" charset="0"/>
                        </a:rPr>
                        <a:t>1</a:t>
                      </a:r>
                    </a:p>
                  </a:txBody>
                  <a:tcPr marL="9525" marR="9525" marT="9525" marB="0" anchor="ctr">
                    <a:noFill/>
                  </a:tcPr>
                </a:tc>
                <a:tc>
                  <a:txBody>
                    <a:bodyPr/>
                    <a:lstStyle/>
                    <a:p>
                      <a:pPr algn="ctr" fontAlgn="b">
                        <a:buNone/>
                      </a:pPr>
                      <a:r>
                        <a:rPr lang="es-CO" sz="1200" b="0" i="0" u="none" strike="noStrike">
                          <a:solidFill>
                            <a:srgbClr val="000000"/>
                          </a:solidFill>
                          <a:effectLst/>
                          <a:latin typeface="Aptos" panose="020B0004020202020204" pitchFamily="34" charset="0"/>
                        </a:rPr>
                        <a:t>0,1%</a:t>
                      </a:r>
                    </a:p>
                  </a:txBody>
                  <a:tcPr marL="9525" marR="9525" marT="9525" marB="0" anchor="ctr">
                    <a:noFill/>
                  </a:tcPr>
                </a:tc>
                <a:extLst>
                  <a:ext uri="{0D108BD9-81ED-4DB2-BD59-A6C34878D82A}">
                    <a16:rowId xmlns:a16="http://schemas.microsoft.com/office/drawing/2014/main" val="1225802858"/>
                  </a:ext>
                </a:extLst>
              </a:tr>
              <a:tr h="301269">
                <a:tc>
                  <a:txBody>
                    <a:bodyPr/>
                    <a:lstStyle/>
                    <a:p>
                      <a:pPr algn="ctr" fontAlgn="b">
                        <a:buNone/>
                      </a:pPr>
                      <a:r>
                        <a:rPr lang="es-CO" sz="1200" b="0" i="0" u="none" strike="noStrike">
                          <a:solidFill>
                            <a:srgbClr val="000000"/>
                          </a:solidFill>
                          <a:effectLst/>
                          <a:latin typeface="Aptos" panose="020B0004020202020204" pitchFamily="34" charset="0"/>
                        </a:rPr>
                        <a:t>IPS ESPECIALIZADA</a:t>
                      </a:r>
                    </a:p>
                  </a:txBody>
                  <a:tcPr marL="9525" marR="9525" marT="9525" marB="0" anchor="ctr">
                    <a:noFill/>
                  </a:tcPr>
                </a:tc>
                <a:tc>
                  <a:txBody>
                    <a:bodyPr/>
                    <a:lstStyle/>
                    <a:p>
                      <a:pPr algn="ctr" fontAlgn="b">
                        <a:buNone/>
                      </a:pPr>
                      <a:r>
                        <a:rPr lang="es-CO" sz="1200" b="0" i="0" u="none" strike="noStrike">
                          <a:solidFill>
                            <a:srgbClr val="000000"/>
                          </a:solidFill>
                          <a:effectLst/>
                          <a:latin typeface="Aptos" panose="020B0004020202020204" pitchFamily="34" charset="0"/>
                        </a:rPr>
                        <a:t>1</a:t>
                      </a:r>
                    </a:p>
                  </a:txBody>
                  <a:tcPr marL="9525" marR="9525" marT="9525" marB="0" anchor="ctr">
                    <a:noFill/>
                  </a:tcPr>
                </a:tc>
                <a:tc>
                  <a:txBody>
                    <a:bodyPr/>
                    <a:lstStyle/>
                    <a:p>
                      <a:pPr algn="ctr" fontAlgn="b">
                        <a:buNone/>
                      </a:pPr>
                      <a:r>
                        <a:rPr lang="es-CO" sz="1200" b="0" i="0" u="none" strike="noStrike">
                          <a:solidFill>
                            <a:srgbClr val="000000"/>
                          </a:solidFill>
                          <a:effectLst/>
                          <a:latin typeface="Aptos" panose="020B0004020202020204" pitchFamily="34" charset="0"/>
                        </a:rPr>
                        <a:t>0,1%</a:t>
                      </a:r>
                    </a:p>
                  </a:txBody>
                  <a:tcPr marL="9525" marR="9525" marT="9525" marB="0" anchor="ctr">
                    <a:noFill/>
                  </a:tcPr>
                </a:tc>
                <a:extLst>
                  <a:ext uri="{0D108BD9-81ED-4DB2-BD59-A6C34878D82A}">
                    <a16:rowId xmlns:a16="http://schemas.microsoft.com/office/drawing/2014/main" val="1976048880"/>
                  </a:ext>
                </a:extLst>
              </a:tr>
              <a:tr h="301269">
                <a:tc>
                  <a:txBody>
                    <a:bodyPr/>
                    <a:lstStyle/>
                    <a:p>
                      <a:pPr algn="ctr" fontAlgn="b">
                        <a:buNone/>
                      </a:pPr>
                      <a:r>
                        <a:rPr lang="es-CO" sz="1200" b="0" i="0" u="none" strike="noStrike">
                          <a:solidFill>
                            <a:srgbClr val="000000"/>
                          </a:solidFill>
                          <a:effectLst/>
                          <a:latin typeface="Aptos" panose="020B0004020202020204" pitchFamily="34" charset="0"/>
                        </a:rPr>
                        <a:t>CLINICA NUESTRA CALI</a:t>
                      </a:r>
                    </a:p>
                  </a:txBody>
                  <a:tcPr marL="9525" marR="9525" marT="9525" marB="0" anchor="ctr">
                    <a:noFill/>
                  </a:tcPr>
                </a:tc>
                <a:tc>
                  <a:txBody>
                    <a:bodyPr/>
                    <a:lstStyle/>
                    <a:p>
                      <a:pPr algn="ctr" fontAlgn="b">
                        <a:buNone/>
                      </a:pPr>
                      <a:r>
                        <a:rPr lang="es-CO" sz="1200" b="0" i="0" u="none" strike="noStrike">
                          <a:solidFill>
                            <a:srgbClr val="000000"/>
                          </a:solidFill>
                          <a:effectLst/>
                          <a:latin typeface="Aptos" panose="020B0004020202020204" pitchFamily="34" charset="0"/>
                        </a:rPr>
                        <a:t>1</a:t>
                      </a:r>
                    </a:p>
                  </a:txBody>
                  <a:tcPr marL="9525" marR="9525" marT="9525" marB="0" anchor="ctr">
                    <a:noFill/>
                  </a:tcPr>
                </a:tc>
                <a:tc>
                  <a:txBody>
                    <a:bodyPr/>
                    <a:lstStyle/>
                    <a:p>
                      <a:pPr algn="ctr" fontAlgn="b">
                        <a:buNone/>
                      </a:pPr>
                      <a:r>
                        <a:rPr lang="es-CO" sz="1200" b="0" i="0" u="none" strike="noStrike">
                          <a:solidFill>
                            <a:srgbClr val="000000"/>
                          </a:solidFill>
                          <a:effectLst/>
                          <a:latin typeface="Aptos" panose="020B0004020202020204" pitchFamily="34" charset="0"/>
                        </a:rPr>
                        <a:t>0,1%</a:t>
                      </a:r>
                    </a:p>
                  </a:txBody>
                  <a:tcPr marL="9525" marR="9525" marT="9525" marB="0" anchor="ctr">
                    <a:noFill/>
                  </a:tcPr>
                </a:tc>
                <a:extLst>
                  <a:ext uri="{0D108BD9-81ED-4DB2-BD59-A6C34878D82A}">
                    <a16:rowId xmlns:a16="http://schemas.microsoft.com/office/drawing/2014/main" val="247369821"/>
                  </a:ext>
                </a:extLst>
              </a:tr>
              <a:tr h="301270">
                <a:tc>
                  <a:txBody>
                    <a:bodyPr/>
                    <a:lstStyle/>
                    <a:p>
                      <a:pPr lvl="0" algn="ctr">
                        <a:buNone/>
                      </a:pPr>
                      <a:r>
                        <a:rPr lang="es-CO" sz="1400" b="0" u="none" strike="noStrike">
                          <a:solidFill>
                            <a:schemeClr val="tx1">
                              <a:lumMod val="50000"/>
                            </a:schemeClr>
                          </a:solidFill>
                          <a:effectLst/>
                          <a:latin typeface="Aptos"/>
                        </a:rPr>
                        <a:t>TOTAL</a:t>
                      </a:r>
                      <a:endParaRPr lang="es-CO" sz="1400" b="0" i="0" u="none" strike="noStrike">
                        <a:solidFill>
                          <a:schemeClr val="tx1">
                            <a:lumMod val="50000"/>
                          </a:schemeClr>
                        </a:solidFill>
                        <a:effectLst/>
                        <a:latin typeface="Aptos"/>
                      </a:endParaRPr>
                    </a:p>
                  </a:txBody>
                  <a:tcPr marL="9525" marR="9525" marT="9525" marB="0" anchor="ctr"/>
                </a:tc>
                <a:tc>
                  <a:txBody>
                    <a:bodyPr/>
                    <a:lstStyle/>
                    <a:p>
                      <a:pPr algn="ctr" fontAlgn="b">
                        <a:buNone/>
                      </a:pPr>
                      <a:r>
                        <a:rPr lang="es-MX" sz="1400" b="0" i="0" u="none" strike="noStrike">
                          <a:solidFill>
                            <a:schemeClr val="tx1">
                              <a:lumMod val="50000"/>
                            </a:schemeClr>
                          </a:solidFill>
                          <a:effectLst/>
                          <a:latin typeface="Aptos"/>
                        </a:rPr>
                        <a:t>934</a:t>
                      </a:r>
                      <a:endParaRPr lang="es-CO" sz="1400" b="0" i="0" u="none" strike="noStrike">
                        <a:solidFill>
                          <a:schemeClr val="tx1">
                            <a:lumMod val="50000"/>
                          </a:schemeClr>
                        </a:solidFill>
                        <a:effectLst/>
                        <a:latin typeface="Aptos" panose="020B0004020202020204" pitchFamily="34" charset="0"/>
                      </a:endParaRPr>
                    </a:p>
                  </a:txBody>
                  <a:tcPr marL="9525" marR="9525" marT="9525" marB="0" anchor="ctr"/>
                </a:tc>
                <a:tc>
                  <a:txBody>
                    <a:bodyPr/>
                    <a:lstStyle/>
                    <a:p>
                      <a:pPr algn="ctr" fontAlgn="b">
                        <a:buNone/>
                      </a:pPr>
                      <a:endParaRPr lang="es-CO" sz="1400" b="0" i="0" u="none" strike="noStrike">
                        <a:solidFill>
                          <a:schemeClr val="tx1">
                            <a:lumMod val="50000"/>
                          </a:schemeClr>
                        </a:solidFill>
                        <a:effectLst/>
                        <a:latin typeface="Aptos" panose="020B0004020202020204" pitchFamily="34" charset="0"/>
                      </a:endParaRPr>
                    </a:p>
                  </a:txBody>
                  <a:tcPr marL="9525" marR="9525" marT="9525" marB="0" anchor="b"/>
                </a:tc>
                <a:extLst>
                  <a:ext uri="{0D108BD9-81ED-4DB2-BD59-A6C34878D82A}">
                    <a16:rowId xmlns:a16="http://schemas.microsoft.com/office/drawing/2014/main" val="2528184240"/>
                  </a:ext>
                </a:extLst>
              </a:tr>
            </a:tbl>
          </a:graphicData>
        </a:graphic>
      </p:graphicFrame>
      <p:sp>
        <p:nvSpPr>
          <p:cNvPr id="4" name="CuadroTexto 4">
            <a:extLst>
              <a:ext uri="{FF2B5EF4-FFF2-40B4-BE49-F238E27FC236}">
                <a16:creationId xmlns:a16="http://schemas.microsoft.com/office/drawing/2014/main" id="{CD94680E-A964-4E7E-637E-BAEB4E89CB8B}"/>
              </a:ext>
            </a:extLst>
          </p:cNvPr>
          <p:cNvSpPr txBox="1"/>
          <p:nvPr/>
        </p:nvSpPr>
        <p:spPr>
          <a:xfrm>
            <a:off x="7679570" y="6415282"/>
            <a:ext cx="3638394" cy="276999"/>
          </a:xfrm>
          <a:prstGeom prst="rect">
            <a:avLst/>
          </a:prstGeom>
          <a:noFill/>
        </p:spPr>
        <p:txBody>
          <a:bodyPr wrap="square">
            <a:spAutoFit/>
          </a:bodyPr>
          <a:ls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CO" sz="1200" b="1" i="1" noProof="0">
                <a:solidFill>
                  <a:schemeClr val="tx2"/>
                </a:solidFill>
              </a:rPr>
              <a:t>Fuente: </a:t>
            </a:r>
            <a:r>
              <a:rPr lang="es-CO" sz="1200" i="1" noProof="0">
                <a:solidFill>
                  <a:schemeClr val="tx2"/>
                </a:solidFill>
              </a:rPr>
              <a:t>SAU INOOS </a:t>
            </a:r>
            <a:r>
              <a:rPr lang="es-CO" sz="1200" i="1">
                <a:solidFill>
                  <a:schemeClr val="tx2"/>
                </a:solidFill>
              </a:rPr>
              <a:t>Agosto </a:t>
            </a:r>
            <a:r>
              <a:rPr lang="es-CO" sz="1200" i="1" noProof="0">
                <a:solidFill>
                  <a:schemeClr val="tx2"/>
                </a:solidFill>
              </a:rPr>
              <a:t>2026</a:t>
            </a:r>
          </a:p>
        </p:txBody>
      </p:sp>
    </p:spTree>
    <p:extLst>
      <p:ext uri="{BB962C8B-B14F-4D97-AF65-F5344CB8AC3E}">
        <p14:creationId xmlns:p14="http://schemas.microsoft.com/office/powerpoint/2010/main" val="302757089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82B5042A-FFCF-17EA-25BC-974243ED11A7}"/>
              </a:ext>
            </a:extLst>
          </p:cNvPr>
          <p:cNvSpPr txBox="1">
            <a:spLocks/>
          </p:cNvSpPr>
          <p:nvPr/>
        </p:nvSpPr>
        <p:spPr>
          <a:xfrm>
            <a:off x="1197428" y="74271"/>
            <a:ext cx="10515600" cy="81207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400" b="1" kern="1200">
                <a:solidFill>
                  <a:srgbClr val="00A19C"/>
                </a:solidFill>
                <a:latin typeface="+mj-lt"/>
                <a:ea typeface="+mj-ea"/>
                <a:cs typeface="+mj-cs"/>
              </a:defRPr>
            </a:lvl1pPr>
          </a:lstStyle>
          <a:p>
            <a:r>
              <a:rPr lang="es-CO">
                <a:solidFill>
                  <a:schemeClr val="tx1"/>
                </a:solidFill>
                <a:latin typeface="Century Gothic"/>
              </a:rPr>
              <a:t>NPS Nacional</a:t>
            </a:r>
            <a:endParaRPr lang="es-ES"/>
          </a:p>
        </p:txBody>
      </p:sp>
      <p:sp>
        <p:nvSpPr>
          <p:cNvPr id="2" name="CuadroTexto 1">
            <a:extLst>
              <a:ext uri="{FF2B5EF4-FFF2-40B4-BE49-F238E27FC236}">
                <a16:creationId xmlns:a16="http://schemas.microsoft.com/office/drawing/2014/main" id="{07DDE530-EBC3-778E-3D8E-6E83EE628B06}"/>
              </a:ext>
            </a:extLst>
          </p:cNvPr>
          <p:cNvSpPr txBox="1"/>
          <p:nvPr/>
        </p:nvSpPr>
        <p:spPr>
          <a:xfrm>
            <a:off x="6489579" y="1658094"/>
            <a:ext cx="5346820" cy="2554545"/>
          </a:xfrm>
          <a:prstGeom prst="rect">
            <a:avLst/>
          </a:prstGeom>
          <a:noFill/>
        </p:spPr>
        <p:txBody>
          <a:bodyPr wrap="square" lIns="91440" tIns="45720" rIns="91440" bIns="45720" anchor="t">
            <a:spAutoFit/>
          </a:bodyPr>
          <a:lstStyle>
            <a:defPPr>
              <a:defRPr lang="es-CO"/>
            </a:defPPr>
            <a:lvl1pPr algn="just">
              <a:defRPr sz="1600">
                <a:solidFill>
                  <a:schemeClr val="tx1">
                    <a:lumMod val="50000"/>
                  </a:schemeClr>
                </a:solidFill>
                <a:latin typeface="Aptos" panose="020B0004020202020204" pitchFamily="34" charset="0"/>
              </a:defRPr>
            </a:lvl1pPr>
          </a:lstStyle>
          <a:p>
            <a:r>
              <a:rPr lang="es-MX">
                <a:latin typeface="Aptos"/>
              </a:rPr>
              <a:t>El Net </a:t>
            </a:r>
            <a:r>
              <a:rPr lang="es-MX" err="1">
                <a:latin typeface="Aptos"/>
              </a:rPr>
              <a:t>Promoter</a:t>
            </a:r>
            <a:r>
              <a:rPr lang="es-MX">
                <a:latin typeface="Aptos"/>
              </a:rPr>
              <a:t> Score (NPS) para agosto fue de 99,7.  Es el resultado más alto en lo corrido del año. </a:t>
            </a:r>
          </a:p>
          <a:p>
            <a:endParaRPr lang="es-MX"/>
          </a:p>
          <a:p>
            <a:r>
              <a:rPr lang="es-CO">
                <a:solidFill>
                  <a:srgbClr val="402C50"/>
                </a:solidFill>
                <a:latin typeface="Aptos"/>
                <a:cs typeface="Arial"/>
              </a:rPr>
              <a:t>Durante el periodo de análisis continua la disminución tanto de los detractores como de los neutros, comportamiento contribuyó al incremento del NPS institucional. </a:t>
            </a:r>
            <a:endParaRPr lang="es-MX"/>
          </a:p>
          <a:p>
            <a:endParaRPr lang="es-MX"/>
          </a:p>
          <a:p>
            <a:r>
              <a:rPr lang="es-ES">
                <a:latin typeface="Aptos"/>
                <a:cs typeface="Arial"/>
              </a:rPr>
              <a:t>Las observaciones correspondientes están relacionadas a la oportunidad en consulta.</a:t>
            </a:r>
            <a:endParaRPr lang="es-CO"/>
          </a:p>
        </p:txBody>
      </p:sp>
      <p:graphicFrame>
        <p:nvGraphicFramePr>
          <p:cNvPr id="8" name="Tabla 7">
            <a:extLst>
              <a:ext uri="{FF2B5EF4-FFF2-40B4-BE49-F238E27FC236}">
                <a16:creationId xmlns:a16="http://schemas.microsoft.com/office/drawing/2014/main" id="{C38194C6-88B8-6338-2A6D-4F509E499E72}"/>
              </a:ext>
            </a:extLst>
          </p:cNvPr>
          <p:cNvGraphicFramePr>
            <a:graphicFrameLocks noGrp="1"/>
          </p:cNvGraphicFramePr>
          <p:nvPr/>
        </p:nvGraphicFramePr>
        <p:xfrm>
          <a:off x="6612950" y="4540611"/>
          <a:ext cx="5100078" cy="887546"/>
        </p:xfrm>
        <a:graphic>
          <a:graphicData uri="http://schemas.openxmlformats.org/drawingml/2006/table">
            <a:tbl>
              <a:tblPr firstRow="1" bandRow="1">
                <a:tableStyleId>{5C22544A-7EE6-4342-B048-85BDC9FD1C3A}</a:tableStyleId>
              </a:tblPr>
              <a:tblGrid>
                <a:gridCol w="622022">
                  <a:extLst>
                    <a:ext uri="{9D8B030D-6E8A-4147-A177-3AD203B41FA5}">
                      <a16:colId xmlns:a16="http://schemas.microsoft.com/office/drawing/2014/main" val="1809928151"/>
                    </a:ext>
                  </a:extLst>
                </a:gridCol>
                <a:gridCol w="488624">
                  <a:extLst>
                    <a:ext uri="{9D8B030D-6E8A-4147-A177-3AD203B41FA5}">
                      <a16:colId xmlns:a16="http://schemas.microsoft.com/office/drawing/2014/main" val="2674354939"/>
                    </a:ext>
                  </a:extLst>
                </a:gridCol>
                <a:gridCol w="513904">
                  <a:extLst>
                    <a:ext uri="{9D8B030D-6E8A-4147-A177-3AD203B41FA5}">
                      <a16:colId xmlns:a16="http://schemas.microsoft.com/office/drawing/2014/main" val="3002279311"/>
                    </a:ext>
                  </a:extLst>
                </a:gridCol>
                <a:gridCol w="540740">
                  <a:extLst>
                    <a:ext uri="{9D8B030D-6E8A-4147-A177-3AD203B41FA5}">
                      <a16:colId xmlns:a16="http://schemas.microsoft.com/office/drawing/2014/main" val="1224125755"/>
                    </a:ext>
                  </a:extLst>
                </a:gridCol>
                <a:gridCol w="609600">
                  <a:extLst>
                    <a:ext uri="{9D8B030D-6E8A-4147-A177-3AD203B41FA5}">
                      <a16:colId xmlns:a16="http://schemas.microsoft.com/office/drawing/2014/main" val="115096566"/>
                    </a:ext>
                  </a:extLst>
                </a:gridCol>
                <a:gridCol w="518160">
                  <a:extLst>
                    <a:ext uri="{9D8B030D-6E8A-4147-A177-3AD203B41FA5}">
                      <a16:colId xmlns:a16="http://schemas.microsoft.com/office/drawing/2014/main" val="2599056579"/>
                    </a:ext>
                  </a:extLst>
                </a:gridCol>
                <a:gridCol w="609600">
                  <a:extLst>
                    <a:ext uri="{9D8B030D-6E8A-4147-A177-3AD203B41FA5}">
                      <a16:colId xmlns:a16="http://schemas.microsoft.com/office/drawing/2014/main" val="184869971"/>
                    </a:ext>
                  </a:extLst>
                </a:gridCol>
                <a:gridCol w="553933">
                  <a:extLst>
                    <a:ext uri="{9D8B030D-6E8A-4147-A177-3AD203B41FA5}">
                      <a16:colId xmlns:a16="http://schemas.microsoft.com/office/drawing/2014/main" val="2573757565"/>
                    </a:ext>
                  </a:extLst>
                </a:gridCol>
                <a:gridCol w="643495">
                  <a:extLst>
                    <a:ext uri="{9D8B030D-6E8A-4147-A177-3AD203B41FA5}">
                      <a16:colId xmlns:a16="http://schemas.microsoft.com/office/drawing/2014/main" val="2426985602"/>
                    </a:ext>
                  </a:extLst>
                </a:gridCol>
              </a:tblGrid>
              <a:tr h="398642">
                <a:tc rowSpan="2">
                  <a:txBody>
                    <a:bodyPr/>
                    <a:lstStyle/>
                    <a:p>
                      <a:pPr algn="ctr"/>
                      <a:r>
                        <a:rPr lang="es-CO" sz="1200" b="0"/>
                        <a:t>NPS</a:t>
                      </a:r>
                    </a:p>
                  </a:txBody>
                  <a:tcPr anchor="ctr"/>
                </a:tc>
                <a:tc>
                  <a:txBody>
                    <a:bodyPr/>
                    <a:lstStyle/>
                    <a:p>
                      <a:pPr algn="ctr"/>
                      <a:r>
                        <a:rPr lang="es-CO" sz="1200" b="0"/>
                        <a:t>Ene</a:t>
                      </a:r>
                    </a:p>
                  </a:txBody>
                  <a:tcPr anchor="ctr"/>
                </a:tc>
                <a:tc>
                  <a:txBody>
                    <a:bodyPr/>
                    <a:lstStyle/>
                    <a:p>
                      <a:pPr algn="ctr"/>
                      <a:r>
                        <a:rPr lang="es-CO" sz="1200" b="0"/>
                        <a:t>Feb</a:t>
                      </a:r>
                    </a:p>
                  </a:txBody>
                  <a:tcPr anchor="ctr"/>
                </a:tc>
                <a:tc>
                  <a:txBody>
                    <a:bodyPr/>
                    <a:lstStyle/>
                    <a:p>
                      <a:pPr algn="ctr"/>
                      <a:r>
                        <a:rPr lang="es-CO" sz="1200" b="0"/>
                        <a:t>Mar</a:t>
                      </a:r>
                    </a:p>
                  </a:txBody>
                  <a:tcPr anchor="ctr"/>
                </a:tc>
                <a:tc>
                  <a:txBody>
                    <a:bodyPr/>
                    <a:lstStyle/>
                    <a:p>
                      <a:pPr algn="ctr"/>
                      <a:r>
                        <a:rPr lang="es-CO" sz="1200" b="0"/>
                        <a:t>Abr</a:t>
                      </a:r>
                    </a:p>
                  </a:txBody>
                  <a:tcPr anchor="ctr"/>
                </a:tc>
                <a:tc>
                  <a:txBody>
                    <a:bodyPr/>
                    <a:lstStyle/>
                    <a:p>
                      <a:pPr algn="ctr"/>
                      <a:r>
                        <a:rPr lang="es-CO" sz="1200" b="0"/>
                        <a:t>May</a:t>
                      </a:r>
                    </a:p>
                  </a:txBody>
                  <a:tcPr anchor="ctr"/>
                </a:tc>
                <a:tc>
                  <a:txBody>
                    <a:bodyPr/>
                    <a:lstStyle/>
                    <a:p>
                      <a:pPr lvl="0" algn="ctr">
                        <a:buNone/>
                      </a:pPr>
                      <a:r>
                        <a:rPr lang="es-CO" sz="1200" b="0"/>
                        <a:t>Jun</a:t>
                      </a:r>
                    </a:p>
                  </a:txBody>
                  <a:tcPr anchor="ctr"/>
                </a:tc>
                <a:tc>
                  <a:txBody>
                    <a:bodyPr/>
                    <a:lstStyle/>
                    <a:p>
                      <a:pPr lvl="0" algn="ctr">
                        <a:buNone/>
                      </a:pPr>
                      <a:r>
                        <a:rPr lang="es-ES" sz="1200" b="0"/>
                        <a:t>Jul</a:t>
                      </a:r>
                      <a:endParaRPr lang="es-CO" sz="1200" b="0"/>
                    </a:p>
                  </a:txBody>
                  <a:tcPr anchor="ctr"/>
                </a:tc>
                <a:tc>
                  <a:txBody>
                    <a:bodyPr/>
                    <a:lstStyle/>
                    <a:p>
                      <a:pPr lvl="0" algn="ctr">
                        <a:buNone/>
                      </a:pPr>
                      <a:r>
                        <a:rPr lang="es-ES" sz="1200" b="0"/>
                        <a:t>Ago</a:t>
                      </a:r>
                      <a:endParaRPr lang="es-CO" sz="1200" b="0"/>
                    </a:p>
                  </a:txBody>
                  <a:tcPr anchor="ctr"/>
                </a:tc>
                <a:extLst>
                  <a:ext uri="{0D108BD9-81ED-4DB2-BD59-A6C34878D82A}">
                    <a16:rowId xmlns:a16="http://schemas.microsoft.com/office/drawing/2014/main" val="3118985410"/>
                  </a:ext>
                </a:extLst>
              </a:tr>
              <a:tr h="488904">
                <a:tc vMerge="1">
                  <a:txBody>
                    <a:bodyPr/>
                    <a:lstStyle/>
                    <a:p>
                      <a:endParaRPr lang="es-CO"/>
                    </a:p>
                  </a:txBody>
                  <a:tcPr/>
                </a:tc>
                <a:tc>
                  <a:txBody>
                    <a:bodyPr/>
                    <a:lstStyle/>
                    <a:p>
                      <a:pPr algn="ctr"/>
                      <a:r>
                        <a:rPr lang="es-CO" sz="1200" b="0">
                          <a:solidFill>
                            <a:schemeClr val="tx1">
                              <a:lumMod val="50000"/>
                            </a:schemeClr>
                          </a:solidFill>
                        </a:rPr>
                        <a:t>96,9</a:t>
                      </a:r>
                    </a:p>
                  </a:txBody>
                  <a:tcPr anchor="ctr"/>
                </a:tc>
                <a:tc>
                  <a:txBody>
                    <a:bodyPr/>
                    <a:lstStyle/>
                    <a:p>
                      <a:pPr algn="ctr"/>
                      <a:r>
                        <a:rPr lang="es-CO" sz="1200" b="0">
                          <a:solidFill>
                            <a:schemeClr val="tx1">
                              <a:lumMod val="50000"/>
                            </a:schemeClr>
                          </a:solidFill>
                        </a:rPr>
                        <a:t>83,3</a:t>
                      </a:r>
                    </a:p>
                  </a:txBody>
                  <a:tcPr anchor="ctr"/>
                </a:tc>
                <a:tc>
                  <a:txBody>
                    <a:bodyPr/>
                    <a:lstStyle/>
                    <a:p>
                      <a:pPr algn="ctr"/>
                      <a:r>
                        <a:rPr lang="es-CO" sz="1200" b="0">
                          <a:solidFill>
                            <a:schemeClr val="tx1">
                              <a:lumMod val="50000"/>
                            </a:schemeClr>
                          </a:solidFill>
                        </a:rPr>
                        <a:t>89,7</a:t>
                      </a:r>
                    </a:p>
                  </a:txBody>
                  <a:tcPr anchor="ctr"/>
                </a:tc>
                <a:tc>
                  <a:txBody>
                    <a:bodyPr/>
                    <a:lstStyle/>
                    <a:p>
                      <a:pPr algn="ctr"/>
                      <a:r>
                        <a:rPr lang="es-CO" sz="1200" b="0">
                          <a:solidFill>
                            <a:schemeClr val="tx1">
                              <a:lumMod val="50000"/>
                            </a:schemeClr>
                          </a:solidFill>
                        </a:rPr>
                        <a:t>88,4</a:t>
                      </a:r>
                    </a:p>
                  </a:txBody>
                  <a:tcPr anchor="ctr"/>
                </a:tc>
                <a:tc>
                  <a:txBody>
                    <a:bodyPr/>
                    <a:lstStyle/>
                    <a:p>
                      <a:pPr algn="ctr"/>
                      <a:r>
                        <a:rPr lang="es-CO" sz="1200" b="0">
                          <a:solidFill>
                            <a:schemeClr val="tx1">
                              <a:lumMod val="50000"/>
                            </a:schemeClr>
                          </a:solidFill>
                        </a:rPr>
                        <a:t>93,0</a:t>
                      </a:r>
                    </a:p>
                  </a:txBody>
                  <a:tcPr anchor="ctr"/>
                </a:tc>
                <a:tc>
                  <a:txBody>
                    <a:bodyPr/>
                    <a:lstStyle/>
                    <a:p>
                      <a:pPr lvl="0" algn="ctr">
                        <a:buNone/>
                      </a:pPr>
                      <a:r>
                        <a:rPr lang="es-MX" sz="1200" b="0">
                          <a:solidFill>
                            <a:schemeClr val="tx1">
                              <a:lumMod val="50000"/>
                            </a:schemeClr>
                          </a:solidFill>
                        </a:rPr>
                        <a:t>98,3</a:t>
                      </a:r>
                      <a:endParaRPr lang="es-CO" sz="1200" b="0">
                        <a:solidFill>
                          <a:schemeClr val="tx1">
                            <a:lumMod val="50000"/>
                          </a:schemeClr>
                        </a:solidFill>
                      </a:endParaRPr>
                    </a:p>
                  </a:txBody>
                  <a:tcPr anchor="ctr"/>
                </a:tc>
                <a:tc>
                  <a:txBody>
                    <a:bodyPr/>
                    <a:lstStyle/>
                    <a:p>
                      <a:pPr lvl="0" algn="ctr">
                        <a:buNone/>
                      </a:pPr>
                      <a:r>
                        <a:rPr lang="es-ES" sz="1200" b="0">
                          <a:solidFill>
                            <a:schemeClr val="tx1">
                              <a:lumMod val="50000"/>
                            </a:schemeClr>
                          </a:solidFill>
                        </a:rPr>
                        <a:t>98,9</a:t>
                      </a:r>
                      <a:endParaRPr lang="es-CO" sz="1200" b="0">
                        <a:solidFill>
                          <a:schemeClr val="tx1">
                            <a:lumMod val="50000"/>
                          </a:schemeClr>
                        </a:solidFill>
                      </a:endParaRPr>
                    </a:p>
                  </a:txBody>
                  <a:tcPr anchor="ctr"/>
                </a:tc>
                <a:tc>
                  <a:txBody>
                    <a:bodyPr/>
                    <a:lstStyle/>
                    <a:p>
                      <a:pPr lvl="0" algn="ctr">
                        <a:buNone/>
                      </a:pPr>
                      <a:r>
                        <a:rPr lang="es-ES" sz="1200" b="0">
                          <a:solidFill>
                            <a:schemeClr val="tx1">
                              <a:lumMod val="50000"/>
                            </a:schemeClr>
                          </a:solidFill>
                        </a:rPr>
                        <a:t>99,7</a:t>
                      </a:r>
                      <a:endParaRPr lang="es-CO" sz="1200" b="0">
                        <a:solidFill>
                          <a:schemeClr val="tx1">
                            <a:lumMod val="50000"/>
                          </a:schemeClr>
                        </a:solidFill>
                      </a:endParaRPr>
                    </a:p>
                  </a:txBody>
                  <a:tcPr anchor="ctr"/>
                </a:tc>
                <a:extLst>
                  <a:ext uri="{0D108BD9-81ED-4DB2-BD59-A6C34878D82A}">
                    <a16:rowId xmlns:a16="http://schemas.microsoft.com/office/drawing/2014/main" val="1442488472"/>
                  </a:ext>
                </a:extLst>
              </a:tr>
            </a:tbl>
          </a:graphicData>
        </a:graphic>
      </p:graphicFrame>
      <p:graphicFrame>
        <p:nvGraphicFramePr>
          <p:cNvPr id="3" name="Gráfico 2">
            <a:extLst>
              <a:ext uri="{FF2B5EF4-FFF2-40B4-BE49-F238E27FC236}">
                <a16:creationId xmlns:a16="http://schemas.microsoft.com/office/drawing/2014/main" id="{B2369ECF-8837-332B-43FC-3C0CD8384633}"/>
              </a:ext>
              <a:ext uri="{147F2762-F138-4A5C-976F-8EAC2B608ADB}">
                <a16:predDERef xmlns:a16="http://schemas.microsoft.com/office/drawing/2014/main" pred="{7EBFAFEB-732E-4977-8FC5-0DDA8A71C3F2}"/>
              </a:ext>
            </a:extLst>
          </p:cNvPr>
          <p:cNvGraphicFramePr>
            <a:graphicFrameLocks/>
          </p:cNvGraphicFramePr>
          <p:nvPr/>
        </p:nvGraphicFramePr>
        <p:xfrm>
          <a:off x="232230" y="1112520"/>
          <a:ext cx="5863770" cy="4876800"/>
        </p:xfrm>
        <a:graphic>
          <a:graphicData uri="http://schemas.openxmlformats.org/drawingml/2006/chart">
            <c:chart xmlns:c="http://schemas.openxmlformats.org/drawingml/2006/chart" xmlns:r="http://schemas.openxmlformats.org/officeDocument/2006/relationships" r:id="rId2"/>
          </a:graphicData>
        </a:graphic>
      </p:graphicFrame>
      <p:sp>
        <p:nvSpPr>
          <p:cNvPr id="6" name="CuadroTexto 4">
            <a:extLst>
              <a:ext uri="{FF2B5EF4-FFF2-40B4-BE49-F238E27FC236}">
                <a16:creationId xmlns:a16="http://schemas.microsoft.com/office/drawing/2014/main" id="{8CB5D42E-9FE8-1C79-853D-F50BE564E820}"/>
              </a:ext>
            </a:extLst>
          </p:cNvPr>
          <p:cNvSpPr txBox="1"/>
          <p:nvPr/>
        </p:nvSpPr>
        <p:spPr>
          <a:xfrm>
            <a:off x="7679570" y="6415282"/>
            <a:ext cx="3638394" cy="276999"/>
          </a:xfrm>
          <a:prstGeom prst="rect">
            <a:avLst/>
          </a:prstGeom>
          <a:noFill/>
        </p:spPr>
        <p:txBody>
          <a:bodyPr wrap="square">
            <a:spAutoFit/>
          </a:bodyPr>
          <a:ls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CO" sz="1200" b="1" i="1" noProof="0">
                <a:solidFill>
                  <a:schemeClr val="tx2"/>
                </a:solidFill>
              </a:rPr>
              <a:t>Fuente: </a:t>
            </a:r>
            <a:r>
              <a:rPr lang="es-CO" sz="1200" i="1" noProof="0">
                <a:solidFill>
                  <a:schemeClr val="tx2"/>
                </a:solidFill>
              </a:rPr>
              <a:t>SAU INOOS </a:t>
            </a:r>
            <a:r>
              <a:rPr lang="es-CO" sz="1200" i="1">
                <a:solidFill>
                  <a:schemeClr val="tx2"/>
                </a:solidFill>
              </a:rPr>
              <a:t>Agosto </a:t>
            </a:r>
            <a:r>
              <a:rPr lang="es-CO" sz="1200" i="1" noProof="0">
                <a:solidFill>
                  <a:schemeClr val="tx2"/>
                </a:solidFill>
              </a:rPr>
              <a:t>2026</a:t>
            </a:r>
          </a:p>
        </p:txBody>
      </p:sp>
    </p:spTree>
    <p:extLst>
      <p:ext uri="{BB962C8B-B14F-4D97-AF65-F5344CB8AC3E}">
        <p14:creationId xmlns:p14="http://schemas.microsoft.com/office/powerpoint/2010/main" val="1243205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C1601F74-D614-7CF0-E51C-D26C924F37A1}"/>
              </a:ext>
            </a:extLst>
          </p:cNvPr>
          <p:cNvSpPr txBox="1">
            <a:spLocks/>
          </p:cNvSpPr>
          <p:nvPr/>
        </p:nvSpPr>
        <p:spPr>
          <a:xfrm>
            <a:off x="1068049" y="5340"/>
            <a:ext cx="10515600" cy="81207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400" b="1" kern="1200">
                <a:solidFill>
                  <a:srgbClr val="00A19C"/>
                </a:solidFill>
                <a:latin typeface="+mj-lt"/>
                <a:ea typeface="+mj-ea"/>
                <a:cs typeface="+mj-cs"/>
              </a:defRPr>
            </a:lvl1pPr>
          </a:lstStyle>
          <a:p>
            <a:r>
              <a:rPr lang="es-CO">
                <a:solidFill>
                  <a:schemeClr val="tx1"/>
                </a:solidFill>
                <a:latin typeface="Century Gothic"/>
              </a:rPr>
              <a:t>QSE Nacional</a:t>
            </a:r>
            <a:endParaRPr lang="es-ES"/>
          </a:p>
        </p:txBody>
      </p:sp>
      <p:sp>
        <p:nvSpPr>
          <p:cNvPr id="6" name="CuadroTexto 5">
            <a:extLst>
              <a:ext uri="{FF2B5EF4-FFF2-40B4-BE49-F238E27FC236}">
                <a16:creationId xmlns:a16="http://schemas.microsoft.com/office/drawing/2014/main" id="{EDB275F7-4AAC-3E57-4223-1511AD77FEEF}"/>
              </a:ext>
            </a:extLst>
          </p:cNvPr>
          <p:cNvSpPr txBox="1"/>
          <p:nvPr/>
        </p:nvSpPr>
        <p:spPr>
          <a:xfrm>
            <a:off x="8249640" y="6575661"/>
            <a:ext cx="2457560" cy="276999"/>
          </a:xfrm>
          <a:prstGeom prst="rect">
            <a:avLst/>
          </a:prstGeom>
          <a:noFill/>
        </p:spPr>
        <p:txBody>
          <a:bodyPr wrap="square">
            <a:spAutoFit/>
          </a:bodyPr>
          <a:lstStyle/>
          <a:p>
            <a:r>
              <a:rPr lang="es-CO" sz="1200" b="1" i="1">
                <a:solidFill>
                  <a:schemeClr val="bg1">
                    <a:lumMod val="50000"/>
                  </a:schemeClr>
                </a:solidFill>
              </a:rPr>
              <a:t>Fuente: QSE Inoos agosto 2026</a:t>
            </a:r>
          </a:p>
        </p:txBody>
      </p:sp>
      <p:graphicFrame>
        <p:nvGraphicFramePr>
          <p:cNvPr id="2" name="Gráfico 1">
            <a:extLst>
              <a:ext uri="{FF2B5EF4-FFF2-40B4-BE49-F238E27FC236}">
                <a16:creationId xmlns:a16="http://schemas.microsoft.com/office/drawing/2014/main" id="{ACC51663-343A-E369-0CA4-16BD5C98DCA6}"/>
              </a:ext>
            </a:extLst>
          </p:cNvPr>
          <p:cNvGraphicFramePr>
            <a:graphicFrameLocks/>
          </p:cNvGraphicFramePr>
          <p:nvPr/>
        </p:nvGraphicFramePr>
        <p:xfrm>
          <a:off x="6551951" y="3498731"/>
          <a:ext cx="4572000" cy="295611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Gráfico 2">
            <a:extLst>
              <a:ext uri="{FF2B5EF4-FFF2-40B4-BE49-F238E27FC236}">
                <a16:creationId xmlns:a16="http://schemas.microsoft.com/office/drawing/2014/main" id="{7BC82F57-CBAB-90F9-5E14-DF34719E4662}"/>
              </a:ext>
              <a:ext uri="{147F2762-F138-4A5C-976F-8EAC2B608ADB}">
                <a16:predDERef xmlns:a16="http://schemas.microsoft.com/office/drawing/2014/main" pred="{ACC51663-343A-E369-0CA4-16BD5C98DCA6}"/>
              </a:ext>
            </a:extLst>
          </p:cNvPr>
          <p:cNvGraphicFramePr>
            <a:graphicFrameLocks/>
          </p:cNvGraphicFramePr>
          <p:nvPr/>
        </p:nvGraphicFramePr>
        <p:xfrm>
          <a:off x="715031" y="666063"/>
          <a:ext cx="4576482" cy="299603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Gráfico 4">
            <a:extLst>
              <a:ext uri="{FF2B5EF4-FFF2-40B4-BE49-F238E27FC236}">
                <a16:creationId xmlns:a16="http://schemas.microsoft.com/office/drawing/2014/main" id="{43A9124C-73C2-3CED-026E-EC811486E7F9}"/>
              </a:ext>
              <a:ext uri="{147F2762-F138-4A5C-976F-8EAC2B608ADB}">
                <a16:predDERef xmlns:a16="http://schemas.microsoft.com/office/drawing/2014/main" pred="{7BC82F57-CBAB-90F9-5E14-DF34719E4662}"/>
              </a:ext>
            </a:extLst>
          </p:cNvPr>
          <p:cNvGraphicFramePr>
            <a:graphicFrameLocks/>
          </p:cNvGraphicFramePr>
          <p:nvPr/>
        </p:nvGraphicFramePr>
        <p:xfrm>
          <a:off x="6547468" y="565031"/>
          <a:ext cx="4576483" cy="29337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 name="Gráfico 6">
            <a:extLst>
              <a:ext uri="{FF2B5EF4-FFF2-40B4-BE49-F238E27FC236}">
                <a16:creationId xmlns:a16="http://schemas.microsoft.com/office/drawing/2014/main" id="{F1444403-4BEC-5781-A2A9-DA7EAD344BB6}"/>
              </a:ext>
              <a:ext uri="{147F2762-F138-4A5C-976F-8EAC2B608ADB}">
                <a16:predDERef xmlns:a16="http://schemas.microsoft.com/office/drawing/2014/main" pred="{43A9124C-73C2-3CED-026E-EC811486E7F9}"/>
              </a:ext>
            </a:extLst>
          </p:cNvPr>
          <p:cNvGraphicFramePr>
            <a:graphicFrameLocks/>
          </p:cNvGraphicFramePr>
          <p:nvPr/>
        </p:nvGraphicFramePr>
        <p:xfrm>
          <a:off x="757613" y="3498731"/>
          <a:ext cx="4533900" cy="2695575"/>
        </p:xfrm>
        <a:graphic>
          <a:graphicData uri="http://schemas.openxmlformats.org/drawingml/2006/chart">
            <c:chart xmlns:c="http://schemas.openxmlformats.org/drawingml/2006/chart" xmlns:r="http://schemas.openxmlformats.org/officeDocument/2006/relationships" r:id="rId5"/>
          </a:graphicData>
        </a:graphic>
      </p:graphicFrame>
      <p:sp>
        <p:nvSpPr>
          <p:cNvPr id="9" name="CuadroTexto 4">
            <a:extLst>
              <a:ext uri="{FF2B5EF4-FFF2-40B4-BE49-F238E27FC236}">
                <a16:creationId xmlns:a16="http://schemas.microsoft.com/office/drawing/2014/main" id="{C7D58C3E-E3A0-0E63-8B7E-96BABB5E7248}"/>
              </a:ext>
            </a:extLst>
          </p:cNvPr>
          <p:cNvSpPr txBox="1"/>
          <p:nvPr/>
        </p:nvSpPr>
        <p:spPr>
          <a:xfrm>
            <a:off x="3167531" y="6581001"/>
            <a:ext cx="3638394" cy="276999"/>
          </a:xfrm>
          <a:prstGeom prst="rect">
            <a:avLst/>
          </a:prstGeom>
          <a:noFill/>
        </p:spPr>
        <p:txBody>
          <a:bodyPr wrap="square">
            <a:spAutoFit/>
          </a:bodyPr>
          <a:ls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CO" sz="1200" b="1" i="1" noProof="0">
                <a:solidFill>
                  <a:schemeClr val="tx2"/>
                </a:solidFill>
              </a:rPr>
              <a:t>Fuente: </a:t>
            </a:r>
            <a:r>
              <a:rPr lang="es-CO" sz="1200" i="1" noProof="0">
                <a:solidFill>
                  <a:schemeClr val="tx2"/>
                </a:solidFill>
              </a:rPr>
              <a:t>SAU INOOS </a:t>
            </a:r>
            <a:r>
              <a:rPr lang="es-CO" sz="1200" i="1">
                <a:solidFill>
                  <a:schemeClr val="tx2"/>
                </a:solidFill>
              </a:rPr>
              <a:t>Agosto </a:t>
            </a:r>
            <a:r>
              <a:rPr lang="es-CO" sz="1200" i="1" noProof="0">
                <a:solidFill>
                  <a:schemeClr val="tx2"/>
                </a:solidFill>
              </a:rPr>
              <a:t>2026</a:t>
            </a:r>
          </a:p>
        </p:txBody>
      </p:sp>
    </p:spTree>
    <p:extLst>
      <p:ext uri="{BB962C8B-B14F-4D97-AF65-F5344CB8AC3E}">
        <p14:creationId xmlns:p14="http://schemas.microsoft.com/office/powerpoint/2010/main" val="75189202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610023B5-D66A-9555-B897-728452F3D25F}"/>
              </a:ext>
            </a:extLst>
          </p:cNvPr>
          <p:cNvSpPr txBox="1">
            <a:spLocks/>
          </p:cNvSpPr>
          <p:nvPr/>
        </p:nvSpPr>
        <p:spPr>
          <a:xfrm>
            <a:off x="1068049" y="5340"/>
            <a:ext cx="10515600" cy="81207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400" b="1" kern="1200">
                <a:solidFill>
                  <a:srgbClr val="00A19C"/>
                </a:solidFill>
                <a:latin typeface="+mj-lt"/>
                <a:ea typeface="+mj-ea"/>
                <a:cs typeface="+mj-cs"/>
              </a:defRPr>
            </a:lvl1pPr>
          </a:lstStyle>
          <a:p>
            <a:r>
              <a:rPr lang="es-CO">
                <a:solidFill>
                  <a:schemeClr val="tx1"/>
                </a:solidFill>
                <a:latin typeface="Century Gothic"/>
              </a:rPr>
              <a:t>QSE por regional</a:t>
            </a:r>
            <a:endParaRPr lang="es-ES"/>
          </a:p>
        </p:txBody>
      </p:sp>
      <p:graphicFrame>
        <p:nvGraphicFramePr>
          <p:cNvPr id="4" name="Tabla 3">
            <a:extLst>
              <a:ext uri="{FF2B5EF4-FFF2-40B4-BE49-F238E27FC236}">
                <a16:creationId xmlns:a16="http://schemas.microsoft.com/office/drawing/2014/main" id="{3F3EFA04-F0DE-45BB-3642-9D0A0409A640}"/>
              </a:ext>
            </a:extLst>
          </p:cNvPr>
          <p:cNvGraphicFramePr>
            <a:graphicFrameLocks noGrp="1"/>
          </p:cNvGraphicFramePr>
          <p:nvPr/>
        </p:nvGraphicFramePr>
        <p:xfrm>
          <a:off x="5613498" y="4468577"/>
          <a:ext cx="6141720" cy="1686075"/>
        </p:xfrm>
        <a:graphic>
          <a:graphicData uri="http://schemas.openxmlformats.org/drawingml/2006/table">
            <a:tbl>
              <a:tblPr>
                <a:tableStyleId>{5C22544A-7EE6-4342-B048-85BDC9FD1C3A}</a:tableStyleId>
              </a:tblPr>
              <a:tblGrid>
                <a:gridCol w="1228344">
                  <a:extLst>
                    <a:ext uri="{9D8B030D-6E8A-4147-A177-3AD203B41FA5}">
                      <a16:colId xmlns:a16="http://schemas.microsoft.com/office/drawing/2014/main" val="2564110044"/>
                    </a:ext>
                  </a:extLst>
                </a:gridCol>
                <a:gridCol w="614172">
                  <a:extLst>
                    <a:ext uri="{9D8B030D-6E8A-4147-A177-3AD203B41FA5}">
                      <a16:colId xmlns:a16="http://schemas.microsoft.com/office/drawing/2014/main" val="558055161"/>
                    </a:ext>
                  </a:extLst>
                </a:gridCol>
                <a:gridCol w="614172">
                  <a:extLst>
                    <a:ext uri="{9D8B030D-6E8A-4147-A177-3AD203B41FA5}">
                      <a16:colId xmlns:a16="http://schemas.microsoft.com/office/drawing/2014/main" val="2965522434"/>
                    </a:ext>
                  </a:extLst>
                </a:gridCol>
                <a:gridCol w="614172">
                  <a:extLst>
                    <a:ext uri="{9D8B030D-6E8A-4147-A177-3AD203B41FA5}">
                      <a16:colId xmlns:a16="http://schemas.microsoft.com/office/drawing/2014/main" val="3388780849"/>
                    </a:ext>
                  </a:extLst>
                </a:gridCol>
                <a:gridCol w="614172">
                  <a:extLst>
                    <a:ext uri="{9D8B030D-6E8A-4147-A177-3AD203B41FA5}">
                      <a16:colId xmlns:a16="http://schemas.microsoft.com/office/drawing/2014/main" val="3450312174"/>
                    </a:ext>
                  </a:extLst>
                </a:gridCol>
                <a:gridCol w="614172">
                  <a:extLst>
                    <a:ext uri="{9D8B030D-6E8A-4147-A177-3AD203B41FA5}">
                      <a16:colId xmlns:a16="http://schemas.microsoft.com/office/drawing/2014/main" val="2208932647"/>
                    </a:ext>
                  </a:extLst>
                </a:gridCol>
                <a:gridCol w="614172">
                  <a:extLst>
                    <a:ext uri="{9D8B030D-6E8A-4147-A177-3AD203B41FA5}">
                      <a16:colId xmlns:a16="http://schemas.microsoft.com/office/drawing/2014/main" val="805728011"/>
                    </a:ext>
                  </a:extLst>
                </a:gridCol>
                <a:gridCol w="614172">
                  <a:extLst>
                    <a:ext uri="{9D8B030D-6E8A-4147-A177-3AD203B41FA5}">
                      <a16:colId xmlns:a16="http://schemas.microsoft.com/office/drawing/2014/main" val="3762377439"/>
                    </a:ext>
                  </a:extLst>
                </a:gridCol>
                <a:gridCol w="614172">
                  <a:extLst>
                    <a:ext uri="{9D8B030D-6E8A-4147-A177-3AD203B41FA5}">
                      <a16:colId xmlns:a16="http://schemas.microsoft.com/office/drawing/2014/main" val="1513506188"/>
                    </a:ext>
                  </a:extLst>
                </a:gridCol>
              </a:tblGrid>
              <a:tr h="337215">
                <a:tc>
                  <a:txBody>
                    <a:bodyPr/>
                    <a:lstStyle/>
                    <a:p>
                      <a:pPr algn="ctr" rtl="0" fontAlgn="b">
                        <a:buNone/>
                      </a:pPr>
                      <a:r>
                        <a:rPr lang="es-CO" sz="1200" u="none" strike="noStrike">
                          <a:solidFill>
                            <a:schemeClr val="bg1"/>
                          </a:solidFill>
                          <a:effectLst/>
                          <a:latin typeface="Aptos" panose="020B0004020202020204" pitchFamily="34" charset="0"/>
                        </a:rPr>
                        <a:t>Indicador</a:t>
                      </a:r>
                      <a:endParaRPr lang="es-CO" sz="1200" b="0" i="0" u="none" strike="noStrike">
                        <a:solidFill>
                          <a:schemeClr val="bg1"/>
                        </a:solidFill>
                        <a:effectLst/>
                        <a:latin typeface="Aptos" panose="020B0004020202020204" pitchFamily="34" charset="0"/>
                      </a:endParaRPr>
                    </a:p>
                  </a:txBody>
                  <a:tcPr marL="9525" marR="9525" marT="9525" marB="0" anchor="ctr">
                    <a:solidFill>
                      <a:srgbClr val="7030A0"/>
                    </a:solidFill>
                  </a:tcPr>
                </a:tc>
                <a:tc>
                  <a:txBody>
                    <a:bodyPr/>
                    <a:lstStyle/>
                    <a:p>
                      <a:pPr algn="ctr" rtl="0" fontAlgn="b">
                        <a:buNone/>
                      </a:pPr>
                      <a:r>
                        <a:rPr lang="es-CO" sz="1200" u="none" strike="noStrike">
                          <a:solidFill>
                            <a:schemeClr val="bg1"/>
                          </a:solidFill>
                          <a:effectLst/>
                          <a:latin typeface="Aptos" panose="020B0004020202020204" pitchFamily="34" charset="0"/>
                        </a:rPr>
                        <a:t>Ene</a:t>
                      </a:r>
                      <a:endParaRPr lang="es-CO" sz="1200" b="0" i="0" u="none" strike="noStrike">
                        <a:solidFill>
                          <a:schemeClr val="bg1"/>
                        </a:solidFill>
                        <a:effectLst/>
                        <a:latin typeface="Aptos" panose="020B0004020202020204" pitchFamily="34" charset="0"/>
                      </a:endParaRPr>
                    </a:p>
                  </a:txBody>
                  <a:tcPr marL="9525" marR="9525" marT="9525" marB="0" anchor="ctr">
                    <a:solidFill>
                      <a:srgbClr val="7030A0"/>
                    </a:solidFill>
                  </a:tcPr>
                </a:tc>
                <a:tc>
                  <a:txBody>
                    <a:bodyPr/>
                    <a:lstStyle/>
                    <a:p>
                      <a:pPr algn="ctr" rtl="0" fontAlgn="b">
                        <a:buNone/>
                      </a:pPr>
                      <a:r>
                        <a:rPr lang="es-CO" sz="1200" u="none" strike="noStrike">
                          <a:solidFill>
                            <a:schemeClr val="bg1"/>
                          </a:solidFill>
                          <a:effectLst/>
                          <a:latin typeface="Aptos" panose="020B0004020202020204" pitchFamily="34" charset="0"/>
                        </a:rPr>
                        <a:t>Feb</a:t>
                      </a:r>
                      <a:endParaRPr lang="es-CO" sz="1200" b="0" i="0" u="none" strike="noStrike">
                        <a:solidFill>
                          <a:schemeClr val="bg1"/>
                        </a:solidFill>
                        <a:effectLst/>
                        <a:latin typeface="Aptos" panose="020B0004020202020204" pitchFamily="34" charset="0"/>
                      </a:endParaRPr>
                    </a:p>
                  </a:txBody>
                  <a:tcPr marL="9525" marR="9525" marT="9525" marB="0" anchor="ctr">
                    <a:solidFill>
                      <a:srgbClr val="7030A0"/>
                    </a:solidFill>
                  </a:tcPr>
                </a:tc>
                <a:tc>
                  <a:txBody>
                    <a:bodyPr/>
                    <a:lstStyle/>
                    <a:p>
                      <a:pPr algn="ctr" rtl="0" fontAlgn="b">
                        <a:buNone/>
                      </a:pPr>
                      <a:r>
                        <a:rPr lang="es-CO" sz="1200" u="none" strike="noStrike">
                          <a:solidFill>
                            <a:schemeClr val="bg1"/>
                          </a:solidFill>
                          <a:effectLst/>
                          <a:latin typeface="Aptos" panose="020B0004020202020204" pitchFamily="34" charset="0"/>
                        </a:rPr>
                        <a:t>Mar</a:t>
                      </a:r>
                      <a:endParaRPr lang="es-CO" sz="1200" b="0" i="0" u="none" strike="noStrike">
                        <a:solidFill>
                          <a:schemeClr val="bg1"/>
                        </a:solidFill>
                        <a:effectLst/>
                        <a:latin typeface="Aptos" panose="020B0004020202020204" pitchFamily="34" charset="0"/>
                      </a:endParaRPr>
                    </a:p>
                  </a:txBody>
                  <a:tcPr marL="9525" marR="9525" marT="9525" marB="0" anchor="ctr">
                    <a:solidFill>
                      <a:srgbClr val="7030A0"/>
                    </a:solidFill>
                  </a:tcPr>
                </a:tc>
                <a:tc>
                  <a:txBody>
                    <a:bodyPr/>
                    <a:lstStyle/>
                    <a:p>
                      <a:pPr algn="ctr" rtl="0" fontAlgn="b">
                        <a:buNone/>
                      </a:pPr>
                      <a:r>
                        <a:rPr lang="es-CO" sz="1200" u="none" strike="noStrike">
                          <a:solidFill>
                            <a:schemeClr val="bg1"/>
                          </a:solidFill>
                          <a:effectLst/>
                          <a:latin typeface="Aptos" panose="020B0004020202020204" pitchFamily="34" charset="0"/>
                        </a:rPr>
                        <a:t>Abr</a:t>
                      </a:r>
                      <a:endParaRPr lang="es-CO" sz="1200" b="0" i="0" u="none" strike="noStrike">
                        <a:solidFill>
                          <a:schemeClr val="bg1"/>
                        </a:solidFill>
                        <a:effectLst/>
                        <a:latin typeface="Aptos" panose="020B0004020202020204" pitchFamily="34" charset="0"/>
                      </a:endParaRPr>
                    </a:p>
                  </a:txBody>
                  <a:tcPr marL="9525" marR="9525" marT="9525" marB="0" anchor="ctr">
                    <a:solidFill>
                      <a:srgbClr val="7030A0"/>
                    </a:solidFill>
                  </a:tcPr>
                </a:tc>
                <a:tc>
                  <a:txBody>
                    <a:bodyPr/>
                    <a:lstStyle/>
                    <a:p>
                      <a:pPr algn="ctr" rtl="0" fontAlgn="b">
                        <a:buNone/>
                      </a:pPr>
                      <a:r>
                        <a:rPr lang="es-CO" sz="1200" u="none" strike="noStrike">
                          <a:solidFill>
                            <a:schemeClr val="bg1"/>
                          </a:solidFill>
                          <a:effectLst/>
                          <a:latin typeface="Aptos" panose="020B0004020202020204" pitchFamily="34" charset="0"/>
                        </a:rPr>
                        <a:t>May</a:t>
                      </a:r>
                      <a:endParaRPr lang="es-CO" sz="1200" b="0" i="0" u="none" strike="noStrike">
                        <a:solidFill>
                          <a:schemeClr val="bg1"/>
                        </a:solidFill>
                        <a:effectLst/>
                        <a:latin typeface="Aptos" panose="020B0004020202020204" pitchFamily="34" charset="0"/>
                      </a:endParaRPr>
                    </a:p>
                  </a:txBody>
                  <a:tcPr marL="9525" marR="9525" marT="9525" marB="0" anchor="ctr">
                    <a:solidFill>
                      <a:srgbClr val="7030A0"/>
                    </a:solidFill>
                  </a:tcPr>
                </a:tc>
                <a:tc>
                  <a:txBody>
                    <a:bodyPr/>
                    <a:lstStyle/>
                    <a:p>
                      <a:pPr algn="ctr" rtl="0" fontAlgn="b">
                        <a:buNone/>
                      </a:pPr>
                      <a:r>
                        <a:rPr lang="es-CO" sz="1200" u="none" strike="noStrike">
                          <a:solidFill>
                            <a:schemeClr val="bg1"/>
                          </a:solidFill>
                          <a:effectLst/>
                          <a:latin typeface="Aptos" panose="020B0004020202020204" pitchFamily="34" charset="0"/>
                        </a:rPr>
                        <a:t>Jun</a:t>
                      </a:r>
                      <a:endParaRPr lang="es-CO" sz="1200" b="0" i="0" u="none" strike="noStrike">
                        <a:solidFill>
                          <a:schemeClr val="bg1"/>
                        </a:solidFill>
                        <a:effectLst/>
                        <a:latin typeface="Aptos" panose="020B0004020202020204" pitchFamily="34" charset="0"/>
                      </a:endParaRPr>
                    </a:p>
                  </a:txBody>
                  <a:tcPr marL="9525" marR="9525" marT="9525" marB="0" anchor="ctr">
                    <a:solidFill>
                      <a:srgbClr val="7030A0"/>
                    </a:solidFill>
                  </a:tcPr>
                </a:tc>
                <a:tc>
                  <a:txBody>
                    <a:bodyPr/>
                    <a:lstStyle/>
                    <a:p>
                      <a:pPr algn="ctr" rtl="0" fontAlgn="b">
                        <a:buNone/>
                      </a:pPr>
                      <a:r>
                        <a:rPr lang="es-ES" sz="1200" b="0" i="0" u="none" strike="noStrike">
                          <a:solidFill>
                            <a:schemeClr val="bg1"/>
                          </a:solidFill>
                          <a:effectLst/>
                          <a:latin typeface="Aptos" panose="020B0004020202020204" pitchFamily="34" charset="0"/>
                        </a:rPr>
                        <a:t>Jul</a:t>
                      </a:r>
                      <a:endParaRPr lang="es-CO" sz="1200" b="0" i="0" u="none" strike="noStrike">
                        <a:solidFill>
                          <a:schemeClr val="bg1"/>
                        </a:solidFill>
                        <a:effectLst/>
                        <a:latin typeface="Aptos" panose="020B0004020202020204" pitchFamily="34" charset="0"/>
                      </a:endParaRPr>
                    </a:p>
                  </a:txBody>
                  <a:tcPr marL="9525" marR="9525" marT="9525" marB="0" anchor="ctr">
                    <a:solidFill>
                      <a:srgbClr val="7030A0"/>
                    </a:solidFill>
                  </a:tcPr>
                </a:tc>
                <a:tc>
                  <a:txBody>
                    <a:bodyPr/>
                    <a:lstStyle/>
                    <a:p>
                      <a:pPr algn="ctr" rtl="0" fontAlgn="b">
                        <a:buNone/>
                      </a:pPr>
                      <a:r>
                        <a:rPr lang="es-ES" sz="1200" b="0" i="0" u="none" strike="noStrike">
                          <a:solidFill>
                            <a:schemeClr val="bg1"/>
                          </a:solidFill>
                          <a:effectLst/>
                          <a:latin typeface="Aptos" panose="020B0004020202020204" pitchFamily="34" charset="0"/>
                        </a:rPr>
                        <a:t>Ago</a:t>
                      </a:r>
                      <a:endParaRPr lang="es-CO" sz="1200" b="0" i="0" u="none" strike="noStrike">
                        <a:solidFill>
                          <a:schemeClr val="bg1"/>
                        </a:solidFill>
                        <a:effectLst/>
                        <a:latin typeface="Aptos" panose="020B0004020202020204" pitchFamily="34" charset="0"/>
                      </a:endParaRPr>
                    </a:p>
                  </a:txBody>
                  <a:tcPr marL="9525" marR="9525" marT="9525" marB="0" anchor="ctr">
                    <a:solidFill>
                      <a:srgbClr val="7030A0"/>
                    </a:solidFill>
                  </a:tcPr>
                </a:tc>
                <a:extLst>
                  <a:ext uri="{0D108BD9-81ED-4DB2-BD59-A6C34878D82A}">
                    <a16:rowId xmlns:a16="http://schemas.microsoft.com/office/drawing/2014/main" val="2205729097"/>
                  </a:ext>
                </a:extLst>
              </a:tr>
              <a:tr h="337215">
                <a:tc>
                  <a:txBody>
                    <a:bodyPr/>
                    <a:lstStyle/>
                    <a:p>
                      <a:pPr algn="ctr" rtl="0" fontAlgn="b">
                        <a:buNone/>
                      </a:pPr>
                      <a:r>
                        <a:rPr lang="es-CO" sz="1200" u="none" strike="noStrike">
                          <a:solidFill>
                            <a:srgbClr val="000000"/>
                          </a:solidFill>
                          <a:effectLst/>
                          <a:latin typeface="Aptos" panose="020B0004020202020204" pitchFamily="34" charset="0"/>
                        </a:rPr>
                        <a:t>NPS</a:t>
                      </a:r>
                      <a:endParaRPr lang="es-CO" sz="1200" b="0" i="0" u="none" strike="noStrike">
                        <a:solidFill>
                          <a:srgbClr val="000000"/>
                        </a:solidFill>
                        <a:effectLst/>
                        <a:latin typeface="Aptos" panose="020B0004020202020204" pitchFamily="34" charset="0"/>
                      </a:endParaRPr>
                    </a:p>
                  </a:txBody>
                  <a:tcPr marL="9525" marR="9525" marT="9525" marB="0" anchor="ctr"/>
                </a:tc>
                <a:tc>
                  <a:txBody>
                    <a:bodyPr/>
                    <a:lstStyle/>
                    <a:p>
                      <a:pPr algn="ctr" rtl="0" fontAlgn="b">
                        <a:buNone/>
                      </a:pPr>
                      <a:r>
                        <a:rPr lang="es-CO" sz="1200" b="0" i="0" u="none" strike="noStrike">
                          <a:solidFill>
                            <a:srgbClr val="000000"/>
                          </a:solidFill>
                          <a:effectLst/>
                          <a:latin typeface="Aptos" panose="020B0004020202020204" pitchFamily="34" charset="0"/>
                        </a:rPr>
                        <a:t>98%</a:t>
                      </a:r>
                    </a:p>
                  </a:txBody>
                  <a:tcPr marL="9525" marR="9525" marT="9525" marB="0" anchor="ctr"/>
                </a:tc>
                <a:tc>
                  <a:txBody>
                    <a:bodyPr/>
                    <a:lstStyle/>
                    <a:p>
                      <a:pPr algn="ctr" rtl="0" fontAlgn="b">
                        <a:buNone/>
                      </a:pPr>
                      <a:r>
                        <a:rPr lang="es-CO" sz="1200" b="0" i="0" u="none" strike="noStrike">
                          <a:solidFill>
                            <a:srgbClr val="000000"/>
                          </a:solidFill>
                          <a:effectLst/>
                          <a:latin typeface="Aptos" panose="020B0004020202020204" pitchFamily="34" charset="0"/>
                        </a:rPr>
                        <a:t>81%</a:t>
                      </a:r>
                    </a:p>
                  </a:txBody>
                  <a:tcPr marL="9525" marR="9525" marT="9525" marB="0" anchor="ctr"/>
                </a:tc>
                <a:tc>
                  <a:txBody>
                    <a:bodyPr/>
                    <a:lstStyle/>
                    <a:p>
                      <a:pPr algn="ctr" rtl="0" fontAlgn="b">
                        <a:buNone/>
                      </a:pPr>
                      <a:r>
                        <a:rPr lang="es-CO" sz="1200" b="0" i="0" u="none" strike="noStrike">
                          <a:solidFill>
                            <a:srgbClr val="000000"/>
                          </a:solidFill>
                          <a:effectLst/>
                          <a:latin typeface="Aptos" panose="020B0004020202020204" pitchFamily="34" charset="0"/>
                        </a:rPr>
                        <a:t>89%</a:t>
                      </a:r>
                    </a:p>
                  </a:txBody>
                  <a:tcPr marL="9525" marR="9525" marT="9525" marB="0" anchor="ctr"/>
                </a:tc>
                <a:tc>
                  <a:txBody>
                    <a:bodyPr/>
                    <a:lstStyle/>
                    <a:p>
                      <a:pPr algn="ctr" rtl="0" fontAlgn="b">
                        <a:buNone/>
                      </a:pPr>
                      <a:r>
                        <a:rPr lang="es-CO" sz="1200" b="0" i="0" u="none" strike="noStrike">
                          <a:solidFill>
                            <a:srgbClr val="000000"/>
                          </a:solidFill>
                          <a:effectLst/>
                          <a:latin typeface="Aptos" panose="020B0004020202020204" pitchFamily="34" charset="0"/>
                        </a:rPr>
                        <a:t>92%</a:t>
                      </a:r>
                    </a:p>
                  </a:txBody>
                  <a:tcPr marL="9525" marR="9525" marT="9525" marB="0" anchor="ctr"/>
                </a:tc>
                <a:tc>
                  <a:txBody>
                    <a:bodyPr/>
                    <a:lstStyle/>
                    <a:p>
                      <a:pPr algn="ctr" rtl="0" fontAlgn="b">
                        <a:buNone/>
                      </a:pPr>
                      <a:r>
                        <a:rPr lang="es-CO" sz="1200" b="0" i="0" u="none" strike="noStrike">
                          <a:solidFill>
                            <a:srgbClr val="000000"/>
                          </a:solidFill>
                          <a:effectLst/>
                          <a:latin typeface="Aptos" panose="020B0004020202020204" pitchFamily="34" charset="0"/>
                        </a:rPr>
                        <a:t>94%</a:t>
                      </a:r>
                    </a:p>
                  </a:txBody>
                  <a:tcPr marL="9525" marR="9525" marT="9525" marB="0" anchor="ctr"/>
                </a:tc>
                <a:tc>
                  <a:txBody>
                    <a:bodyPr/>
                    <a:lstStyle/>
                    <a:p>
                      <a:pPr algn="ctr" rtl="0" fontAlgn="b">
                        <a:buNone/>
                      </a:pPr>
                      <a:r>
                        <a:rPr lang="es-CO" sz="1200" b="0" i="0" u="none" strike="noStrike">
                          <a:solidFill>
                            <a:srgbClr val="000000"/>
                          </a:solidFill>
                          <a:effectLst/>
                          <a:latin typeface="Aptos" panose="020B0004020202020204" pitchFamily="34" charset="0"/>
                        </a:rPr>
                        <a:t>98%</a:t>
                      </a:r>
                    </a:p>
                  </a:txBody>
                  <a:tcPr marL="9525" marR="9525" marT="9525" marB="0" anchor="ctr"/>
                </a:tc>
                <a:tc>
                  <a:txBody>
                    <a:bodyPr/>
                    <a:lstStyle/>
                    <a:p>
                      <a:pPr algn="ctr" rtl="0" fontAlgn="b">
                        <a:buNone/>
                      </a:pPr>
                      <a:r>
                        <a:rPr lang="es-ES" sz="1200" b="0" i="0" u="none" strike="noStrike">
                          <a:solidFill>
                            <a:srgbClr val="000000"/>
                          </a:solidFill>
                          <a:effectLst/>
                          <a:latin typeface="Aptos" panose="020B0004020202020204" pitchFamily="34" charset="0"/>
                        </a:rPr>
                        <a:t>99%</a:t>
                      </a:r>
                      <a:endParaRPr lang="es-CO" sz="1200" b="0" i="0" u="none" strike="noStrike">
                        <a:solidFill>
                          <a:srgbClr val="000000"/>
                        </a:solidFill>
                        <a:effectLst/>
                        <a:latin typeface="Aptos" panose="020B0004020202020204" pitchFamily="34" charset="0"/>
                      </a:endParaRPr>
                    </a:p>
                  </a:txBody>
                  <a:tcPr marL="9525" marR="9525" marT="9525" marB="0" anchor="ctr"/>
                </a:tc>
                <a:tc>
                  <a:txBody>
                    <a:bodyPr/>
                    <a:lstStyle/>
                    <a:p>
                      <a:pPr algn="ctr" rtl="0" fontAlgn="b">
                        <a:buNone/>
                      </a:pPr>
                      <a:r>
                        <a:rPr lang="es-ES" sz="1200" b="0" i="0" u="none" strike="noStrike">
                          <a:solidFill>
                            <a:srgbClr val="000000"/>
                          </a:solidFill>
                          <a:effectLst/>
                          <a:latin typeface="Aptos" panose="020B0004020202020204" pitchFamily="34" charset="0"/>
                        </a:rPr>
                        <a:t>100%</a:t>
                      </a:r>
                      <a:endParaRPr lang="es-CO" sz="1200" b="0" i="0" u="none" strike="noStrike">
                        <a:solidFill>
                          <a:srgbClr val="000000"/>
                        </a:solidFill>
                        <a:effectLst/>
                        <a:latin typeface="Aptos" panose="020B0004020202020204" pitchFamily="34" charset="0"/>
                      </a:endParaRPr>
                    </a:p>
                  </a:txBody>
                  <a:tcPr marL="9525" marR="9525" marT="9525" marB="0" anchor="ctr"/>
                </a:tc>
                <a:extLst>
                  <a:ext uri="{0D108BD9-81ED-4DB2-BD59-A6C34878D82A}">
                    <a16:rowId xmlns:a16="http://schemas.microsoft.com/office/drawing/2014/main" val="3085239956"/>
                  </a:ext>
                </a:extLst>
              </a:tr>
              <a:tr h="337215">
                <a:tc>
                  <a:txBody>
                    <a:bodyPr/>
                    <a:lstStyle/>
                    <a:p>
                      <a:pPr algn="ctr" rtl="0" fontAlgn="b">
                        <a:buNone/>
                      </a:pPr>
                      <a:r>
                        <a:rPr lang="es-CO" sz="1200" u="none" strike="noStrike">
                          <a:solidFill>
                            <a:srgbClr val="000000"/>
                          </a:solidFill>
                          <a:effectLst/>
                          <a:latin typeface="Aptos" panose="020B0004020202020204" pitchFamily="34" charset="0"/>
                        </a:rPr>
                        <a:t>CES</a:t>
                      </a:r>
                      <a:endParaRPr lang="es-CO" sz="1200" b="0" i="0" u="none" strike="noStrike">
                        <a:solidFill>
                          <a:srgbClr val="000000"/>
                        </a:solidFill>
                        <a:effectLst/>
                        <a:latin typeface="Aptos" panose="020B0004020202020204" pitchFamily="34" charset="0"/>
                      </a:endParaRPr>
                    </a:p>
                  </a:txBody>
                  <a:tcPr marL="9525" marR="9525" marT="9525" marB="0" anchor="ctr">
                    <a:noFill/>
                  </a:tcPr>
                </a:tc>
                <a:tc>
                  <a:txBody>
                    <a:bodyPr/>
                    <a:lstStyle/>
                    <a:p>
                      <a:pPr algn="ctr" rtl="0" fontAlgn="b">
                        <a:buNone/>
                      </a:pPr>
                      <a:r>
                        <a:rPr lang="es-CO" sz="1200" b="0" i="0" u="none" strike="noStrike">
                          <a:solidFill>
                            <a:srgbClr val="000000"/>
                          </a:solidFill>
                          <a:effectLst/>
                          <a:latin typeface="Aptos" panose="020B0004020202020204" pitchFamily="34" charset="0"/>
                        </a:rPr>
                        <a:t>98%</a:t>
                      </a:r>
                    </a:p>
                  </a:txBody>
                  <a:tcPr marL="9525" marR="9525" marT="9525" marB="0" anchor="ctr">
                    <a:noFill/>
                  </a:tcPr>
                </a:tc>
                <a:tc>
                  <a:txBody>
                    <a:bodyPr/>
                    <a:lstStyle/>
                    <a:p>
                      <a:pPr algn="ctr" rtl="0" fontAlgn="b">
                        <a:buNone/>
                      </a:pPr>
                      <a:r>
                        <a:rPr lang="es-CO" sz="1200" b="0" i="0" u="none" strike="noStrike">
                          <a:solidFill>
                            <a:srgbClr val="000000"/>
                          </a:solidFill>
                          <a:effectLst/>
                          <a:latin typeface="Aptos" panose="020B0004020202020204" pitchFamily="34" charset="0"/>
                        </a:rPr>
                        <a:t>91%</a:t>
                      </a:r>
                    </a:p>
                  </a:txBody>
                  <a:tcPr marL="9525" marR="9525" marT="9525" marB="0" anchor="ctr">
                    <a:noFill/>
                  </a:tcPr>
                </a:tc>
                <a:tc>
                  <a:txBody>
                    <a:bodyPr/>
                    <a:lstStyle/>
                    <a:p>
                      <a:pPr algn="ctr" rtl="0" fontAlgn="b">
                        <a:buNone/>
                      </a:pPr>
                      <a:r>
                        <a:rPr lang="es-CO" sz="1200" b="0" i="0" u="none" strike="noStrike">
                          <a:solidFill>
                            <a:srgbClr val="000000"/>
                          </a:solidFill>
                          <a:effectLst/>
                          <a:latin typeface="Aptos" panose="020B0004020202020204" pitchFamily="34" charset="0"/>
                        </a:rPr>
                        <a:t>93%</a:t>
                      </a:r>
                    </a:p>
                  </a:txBody>
                  <a:tcPr marL="9525" marR="9525" marT="9525" marB="0" anchor="ctr">
                    <a:noFill/>
                  </a:tcPr>
                </a:tc>
                <a:tc>
                  <a:txBody>
                    <a:bodyPr/>
                    <a:lstStyle/>
                    <a:p>
                      <a:pPr algn="ctr" rtl="0" fontAlgn="b">
                        <a:buNone/>
                      </a:pPr>
                      <a:r>
                        <a:rPr lang="es-CO" sz="1200" b="0" i="0" u="none" strike="noStrike">
                          <a:solidFill>
                            <a:srgbClr val="000000"/>
                          </a:solidFill>
                          <a:effectLst/>
                          <a:latin typeface="Aptos" panose="020B0004020202020204" pitchFamily="34" charset="0"/>
                        </a:rPr>
                        <a:t>94%</a:t>
                      </a:r>
                    </a:p>
                  </a:txBody>
                  <a:tcPr marL="9525" marR="9525" marT="9525" marB="0" anchor="ctr">
                    <a:noFill/>
                  </a:tcPr>
                </a:tc>
                <a:tc>
                  <a:txBody>
                    <a:bodyPr/>
                    <a:lstStyle/>
                    <a:p>
                      <a:pPr algn="ctr" rtl="0" fontAlgn="b">
                        <a:buNone/>
                      </a:pPr>
                      <a:r>
                        <a:rPr lang="es-CO" sz="1200" b="0" i="0" u="none" strike="noStrike">
                          <a:solidFill>
                            <a:srgbClr val="000000"/>
                          </a:solidFill>
                          <a:effectLst/>
                          <a:latin typeface="Aptos" panose="020B0004020202020204" pitchFamily="34" charset="0"/>
                        </a:rPr>
                        <a:t>97%</a:t>
                      </a:r>
                    </a:p>
                  </a:txBody>
                  <a:tcPr marL="9525" marR="9525" marT="9525" marB="0" anchor="ctr">
                    <a:noFill/>
                  </a:tcPr>
                </a:tc>
                <a:tc>
                  <a:txBody>
                    <a:bodyPr/>
                    <a:lstStyle/>
                    <a:p>
                      <a:pPr algn="ctr" rtl="0" fontAlgn="b">
                        <a:buNone/>
                      </a:pPr>
                      <a:r>
                        <a:rPr lang="es-CO" sz="1200" b="0" i="0" u="none" strike="noStrike">
                          <a:solidFill>
                            <a:srgbClr val="000000"/>
                          </a:solidFill>
                          <a:effectLst/>
                          <a:latin typeface="Aptos" panose="020B0004020202020204" pitchFamily="34" charset="0"/>
                        </a:rPr>
                        <a:t>99%</a:t>
                      </a:r>
                    </a:p>
                  </a:txBody>
                  <a:tcPr marL="9525" marR="9525" marT="9525" marB="0" anchor="ctr">
                    <a:noFill/>
                  </a:tcPr>
                </a:tc>
                <a:tc>
                  <a:txBody>
                    <a:bodyPr/>
                    <a:lstStyle/>
                    <a:p>
                      <a:pPr algn="ctr" rtl="0" fontAlgn="b">
                        <a:buNone/>
                      </a:pPr>
                      <a:r>
                        <a:rPr lang="es-ES" sz="1200" b="0" i="0" u="none" strike="noStrike">
                          <a:solidFill>
                            <a:srgbClr val="000000"/>
                          </a:solidFill>
                          <a:effectLst/>
                          <a:latin typeface="Aptos" panose="020B0004020202020204" pitchFamily="34" charset="0"/>
                        </a:rPr>
                        <a:t>100%</a:t>
                      </a:r>
                      <a:endParaRPr lang="es-CO" sz="1200" b="0" i="0" u="none" strike="noStrike">
                        <a:solidFill>
                          <a:srgbClr val="000000"/>
                        </a:solidFill>
                        <a:effectLst/>
                        <a:latin typeface="Aptos" panose="020B0004020202020204" pitchFamily="34" charset="0"/>
                      </a:endParaRPr>
                    </a:p>
                  </a:txBody>
                  <a:tcPr marL="9525" marR="9525" marT="9525" marB="0" anchor="ctr">
                    <a:noFill/>
                  </a:tcPr>
                </a:tc>
                <a:tc>
                  <a:txBody>
                    <a:bodyPr/>
                    <a:lstStyle/>
                    <a:p>
                      <a:pPr algn="ctr" rtl="0" fontAlgn="b">
                        <a:buNone/>
                      </a:pPr>
                      <a:r>
                        <a:rPr lang="es-ES" sz="1200" b="0" i="0" u="none" strike="noStrike">
                          <a:solidFill>
                            <a:srgbClr val="000000"/>
                          </a:solidFill>
                          <a:effectLst/>
                          <a:latin typeface="Aptos" panose="020B0004020202020204" pitchFamily="34" charset="0"/>
                        </a:rPr>
                        <a:t>100%</a:t>
                      </a:r>
                      <a:endParaRPr lang="es-CO" sz="1200" b="0" i="0" u="none" strike="noStrike">
                        <a:solidFill>
                          <a:srgbClr val="000000"/>
                        </a:solidFill>
                        <a:effectLst/>
                        <a:latin typeface="Aptos" panose="020B0004020202020204" pitchFamily="34" charset="0"/>
                      </a:endParaRPr>
                    </a:p>
                  </a:txBody>
                  <a:tcPr marL="9525" marR="9525" marT="9525" marB="0" anchor="ctr">
                    <a:noFill/>
                  </a:tcPr>
                </a:tc>
                <a:extLst>
                  <a:ext uri="{0D108BD9-81ED-4DB2-BD59-A6C34878D82A}">
                    <a16:rowId xmlns:a16="http://schemas.microsoft.com/office/drawing/2014/main" val="3195094512"/>
                  </a:ext>
                </a:extLst>
              </a:tr>
              <a:tr h="337215">
                <a:tc>
                  <a:txBody>
                    <a:bodyPr/>
                    <a:lstStyle/>
                    <a:p>
                      <a:pPr algn="ctr" rtl="0" fontAlgn="b">
                        <a:buNone/>
                      </a:pPr>
                      <a:r>
                        <a:rPr lang="es-CO" sz="1200" u="none" strike="noStrike">
                          <a:solidFill>
                            <a:srgbClr val="000000"/>
                          </a:solidFill>
                          <a:effectLst/>
                          <a:latin typeface="Aptos" panose="020B0004020202020204" pitchFamily="34" charset="0"/>
                        </a:rPr>
                        <a:t>FCR</a:t>
                      </a:r>
                      <a:endParaRPr lang="es-CO" sz="1200" b="0" i="0" u="none" strike="noStrike">
                        <a:solidFill>
                          <a:srgbClr val="000000"/>
                        </a:solidFill>
                        <a:effectLst/>
                        <a:latin typeface="Aptos" panose="020B0004020202020204" pitchFamily="34" charset="0"/>
                      </a:endParaRPr>
                    </a:p>
                  </a:txBody>
                  <a:tcPr marL="9525" marR="9525" marT="9525" marB="0" anchor="ctr"/>
                </a:tc>
                <a:tc>
                  <a:txBody>
                    <a:bodyPr/>
                    <a:lstStyle/>
                    <a:p>
                      <a:pPr algn="ctr" rtl="0" fontAlgn="b">
                        <a:buNone/>
                      </a:pPr>
                      <a:r>
                        <a:rPr lang="es-CO" sz="1200" b="0" i="0" u="none" strike="noStrike">
                          <a:solidFill>
                            <a:srgbClr val="000000"/>
                          </a:solidFill>
                          <a:effectLst/>
                          <a:latin typeface="Aptos" panose="020B0004020202020204" pitchFamily="34" charset="0"/>
                        </a:rPr>
                        <a:t>99%</a:t>
                      </a:r>
                    </a:p>
                  </a:txBody>
                  <a:tcPr marL="9525" marR="9525" marT="9525" marB="0" anchor="ctr"/>
                </a:tc>
                <a:tc>
                  <a:txBody>
                    <a:bodyPr/>
                    <a:lstStyle/>
                    <a:p>
                      <a:pPr algn="ctr" rtl="0" fontAlgn="b">
                        <a:buNone/>
                      </a:pPr>
                      <a:r>
                        <a:rPr lang="es-CO" sz="1200" b="0" i="0" u="none" strike="noStrike">
                          <a:solidFill>
                            <a:srgbClr val="000000"/>
                          </a:solidFill>
                          <a:effectLst/>
                          <a:latin typeface="Aptos" panose="020B0004020202020204" pitchFamily="34" charset="0"/>
                        </a:rPr>
                        <a:t>96%</a:t>
                      </a:r>
                    </a:p>
                  </a:txBody>
                  <a:tcPr marL="9525" marR="9525" marT="9525" marB="0" anchor="ctr"/>
                </a:tc>
                <a:tc>
                  <a:txBody>
                    <a:bodyPr/>
                    <a:lstStyle/>
                    <a:p>
                      <a:pPr algn="ctr" rtl="0" fontAlgn="b">
                        <a:buNone/>
                      </a:pPr>
                      <a:r>
                        <a:rPr lang="es-CO" sz="1200" b="0" i="0" u="none" strike="noStrike">
                          <a:solidFill>
                            <a:srgbClr val="000000"/>
                          </a:solidFill>
                          <a:effectLst/>
                          <a:latin typeface="Aptos" panose="020B0004020202020204" pitchFamily="34" charset="0"/>
                        </a:rPr>
                        <a:t>93%</a:t>
                      </a:r>
                    </a:p>
                  </a:txBody>
                  <a:tcPr marL="9525" marR="9525" marT="9525" marB="0" anchor="ctr"/>
                </a:tc>
                <a:tc>
                  <a:txBody>
                    <a:bodyPr/>
                    <a:lstStyle/>
                    <a:p>
                      <a:pPr algn="ctr" rtl="0" fontAlgn="b">
                        <a:buNone/>
                      </a:pPr>
                      <a:r>
                        <a:rPr lang="es-CO" sz="1200" b="0" i="0" u="none" strike="noStrike">
                          <a:solidFill>
                            <a:srgbClr val="000000"/>
                          </a:solidFill>
                          <a:effectLst/>
                          <a:latin typeface="Aptos" panose="020B0004020202020204" pitchFamily="34" charset="0"/>
                        </a:rPr>
                        <a:t>96%</a:t>
                      </a:r>
                    </a:p>
                  </a:txBody>
                  <a:tcPr marL="9525" marR="9525" marT="9525" marB="0" anchor="ctr"/>
                </a:tc>
                <a:tc>
                  <a:txBody>
                    <a:bodyPr/>
                    <a:lstStyle/>
                    <a:p>
                      <a:pPr algn="ctr" rtl="0" fontAlgn="b">
                        <a:buNone/>
                      </a:pPr>
                      <a:r>
                        <a:rPr lang="es-CO" sz="1200" b="0" i="0" u="none" strike="noStrike">
                          <a:solidFill>
                            <a:srgbClr val="000000"/>
                          </a:solidFill>
                          <a:effectLst/>
                          <a:latin typeface="Aptos" panose="020B0004020202020204" pitchFamily="34" charset="0"/>
                        </a:rPr>
                        <a:t>100%</a:t>
                      </a:r>
                    </a:p>
                  </a:txBody>
                  <a:tcPr marL="9525" marR="9525" marT="9525" marB="0" anchor="ctr"/>
                </a:tc>
                <a:tc>
                  <a:txBody>
                    <a:bodyPr/>
                    <a:lstStyle/>
                    <a:p>
                      <a:pPr algn="ctr" rtl="0" fontAlgn="b">
                        <a:buNone/>
                      </a:pPr>
                      <a:r>
                        <a:rPr lang="es-CO" sz="1200" b="0" i="0" u="none" strike="noStrike">
                          <a:solidFill>
                            <a:srgbClr val="000000"/>
                          </a:solidFill>
                          <a:effectLst/>
                          <a:latin typeface="Aptos" panose="020B0004020202020204" pitchFamily="34" charset="0"/>
                        </a:rPr>
                        <a:t>100%</a:t>
                      </a:r>
                    </a:p>
                  </a:txBody>
                  <a:tcPr marL="9525" marR="9525" marT="9525" marB="0" anchor="ctr"/>
                </a:tc>
                <a:tc>
                  <a:txBody>
                    <a:bodyPr/>
                    <a:lstStyle/>
                    <a:p>
                      <a:pPr algn="ctr" rtl="0" fontAlgn="b">
                        <a:buNone/>
                      </a:pPr>
                      <a:r>
                        <a:rPr lang="es-ES" sz="1200" b="0" i="0" u="none" strike="noStrike">
                          <a:solidFill>
                            <a:srgbClr val="000000"/>
                          </a:solidFill>
                          <a:effectLst/>
                          <a:latin typeface="Aptos" panose="020B0004020202020204" pitchFamily="34" charset="0"/>
                        </a:rPr>
                        <a:t>100%</a:t>
                      </a:r>
                      <a:endParaRPr lang="es-CO" sz="1200" b="0" i="0" u="none" strike="noStrike">
                        <a:solidFill>
                          <a:srgbClr val="000000"/>
                        </a:solidFill>
                        <a:effectLst/>
                        <a:latin typeface="Aptos" panose="020B0004020202020204" pitchFamily="34" charset="0"/>
                      </a:endParaRPr>
                    </a:p>
                  </a:txBody>
                  <a:tcPr marL="9525" marR="9525" marT="9525" marB="0" anchor="ctr"/>
                </a:tc>
                <a:tc>
                  <a:txBody>
                    <a:bodyPr/>
                    <a:lstStyle/>
                    <a:p>
                      <a:pPr algn="ctr" rtl="0" fontAlgn="b">
                        <a:buNone/>
                      </a:pPr>
                      <a:r>
                        <a:rPr lang="es-ES" sz="1200" b="0" i="0" u="none" strike="noStrike">
                          <a:solidFill>
                            <a:srgbClr val="000000"/>
                          </a:solidFill>
                          <a:effectLst/>
                          <a:latin typeface="Aptos" panose="020B0004020202020204" pitchFamily="34" charset="0"/>
                        </a:rPr>
                        <a:t>100%</a:t>
                      </a:r>
                      <a:endParaRPr lang="es-CO" sz="1200" b="0" i="0" u="none" strike="noStrike">
                        <a:solidFill>
                          <a:srgbClr val="000000"/>
                        </a:solidFill>
                        <a:effectLst/>
                        <a:latin typeface="Aptos" panose="020B0004020202020204" pitchFamily="34" charset="0"/>
                      </a:endParaRPr>
                    </a:p>
                  </a:txBody>
                  <a:tcPr marL="9525" marR="9525" marT="9525" marB="0" anchor="ctr"/>
                </a:tc>
                <a:extLst>
                  <a:ext uri="{0D108BD9-81ED-4DB2-BD59-A6C34878D82A}">
                    <a16:rowId xmlns:a16="http://schemas.microsoft.com/office/drawing/2014/main" val="301227678"/>
                  </a:ext>
                </a:extLst>
              </a:tr>
              <a:tr h="337215">
                <a:tc>
                  <a:txBody>
                    <a:bodyPr/>
                    <a:lstStyle/>
                    <a:p>
                      <a:pPr algn="ctr" rtl="0" fontAlgn="b">
                        <a:buNone/>
                      </a:pPr>
                      <a:r>
                        <a:rPr lang="es-CO" sz="1200" u="none" strike="noStrike">
                          <a:solidFill>
                            <a:srgbClr val="000000"/>
                          </a:solidFill>
                          <a:effectLst/>
                          <a:latin typeface="Aptos" panose="020B0004020202020204" pitchFamily="34" charset="0"/>
                        </a:rPr>
                        <a:t>Satisfacción</a:t>
                      </a:r>
                      <a:endParaRPr lang="es-CO" sz="1200" b="0" i="0" u="none" strike="noStrike">
                        <a:solidFill>
                          <a:srgbClr val="000000"/>
                        </a:solidFill>
                        <a:effectLst/>
                        <a:latin typeface="Aptos" panose="020B0004020202020204" pitchFamily="34" charset="0"/>
                      </a:endParaRPr>
                    </a:p>
                  </a:txBody>
                  <a:tcPr marL="9525" marR="9525" marT="9525" marB="0" anchor="ctr">
                    <a:noFill/>
                  </a:tcPr>
                </a:tc>
                <a:tc>
                  <a:txBody>
                    <a:bodyPr/>
                    <a:lstStyle/>
                    <a:p>
                      <a:pPr algn="ctr" rtl="0" fontAlgn="b">
                        <a:buNone/>
                      </a:pPr>
                      <a:r>
                        <a:rPr lang="es-CO" sz="1200" b="0" i="0" u="none" strike="noStrike">
                          <a:solidFill>
                            <a:srgbClr val="000000"/>
                          </a:solidFill>
                          <a:effectLst/>
                          <a:latin typeface="Aptos" panose="020B0004020202020204" pitchFamily="34" charset="0"/>
                        </a:rPr>
                        <a:t>4,9</a:t>
                      </a:r>
                    </a:p>
                  </a:txBody>
                  <a:tcPr marL="9525" marR="9525" marT="9525" marB="0" anchor="ctr">
                    <a:noFill/>
                  </a:tcPr>
                </a:tc>
                <a:tc>
                  <a:txBody>
                    <a:bodyPr/>
                    <a:lstStyle/>
                    <a:p>
                      <a:pPr algn="ctr" rtl="0" fontAlgn="b">
                        <a:buNone/>
                      </a:pPr>
                      <a:r>
                        <a:rPr lang="es-CO" sz="1200" b="0" i="0" u="none" strike="noStrike">
                          <a:solidFill>
                            <a:srgbClr val="000000"/>
                          </a:solidFill>
                          <a:effectLst/>
                          <a:latin typeface="Aptos" panose="020B0004020202020204" pitchFamily="34" charset="0"/>
                        </a:rPr>
                        <a:t>4,7</a:t>
                      </a:r>
                    </a:p>
                  </a:txBody>
                  <a:tcPr marL="9525" marR="9525" marT="9525" marB="0" anchor="ctr">
                    <a:noFill/>
                  </a:tcPr>
                </a:tc>
                <a:tc>
                  <a:txBody>
                    <a:bodyPr/>
                    <a:lstStyle/>
                    <a:p>
                      <a:pPr algn="ctr" rtl="0" fontAlgn="b">
                        <a:buNone/>
                      </a:pPr>
                      <a:r>
                        <a:rPr lang="es-CO" sz="1200" b="0" i="0" u="none" strike="noStrike">
                          <a:solidFill>
                            <a:srgbClr val="000000"/>
                          </a:solidFill>
                          <a:effectLst/>
                          <a:latin typeface="Aptos" panose="020B0004020202020204" pitchFamily="34" charset="0"/>
                        </a:rPr>
                        <a:t>4,8</a:t>
                      </a:r>
                    </a:p>
                  </a:txBody>
                  <a:tcPr marL="9525" marR="9525" marT="9525" marB="0" anchor="ctr">
                    <a:noFill/>
                  </a:tcPr>
                </a:tc>
                <a:tc>
                  <a:txBody>
                    <a:bodyPr/>
                    <a:lstStyle/>
                    <a:p>
                      <a:pPr algn="ctr" rtl="0" fontAlgn="b">
                        <a:buNone/>
                      </a:pPr>
                      <a:r>
                        <a:rPr lang="es-CO" sz="1200" b="0" i="0" u="none" strike="noStrike">
                          <a:solidFill>
                            <a:srgbClr val="000000"/>
                          </a:solidFill>
                          <a:effectLst/>
                          <a:latin typeface="Aptos" panose="020B0004020202020204" pitchFamily="34" charset="0"/>
                        </a:rPr>
                        <a:t>4,8</a:t>
                      </a:r>
                    </a:p>
                  </a:txBody>
                  <a:tcPr marL="9525" marR="9525" marT="9525" marB="0" anchor="ctr">
                    <a:noFill/>
                  </a:tcPr>
                </a:tc>
                <a:tc>
                  <a:txBody>
                    <a:bodyPr/>
                    <a:lstStyle/>
                    <a:p>
                      <a:pPr algn="ctr" rtl="0" fontAlgn="b">
                        <a:buNone/>
                      </a:pPr>
                      <a:r>
                        <a:rPr lang="es-CO" sz="1200" b="0" i="0" u="none" strike="noStrike">
                          <a:solidFill>
                            <a:srgbClr val="000000"/>
                          </a:solidFill>
                          <a:effectLst/>
                          <a:latin typeface="Aptos" panose="020B0004020202020204" pitchFamily="34" charset="0"/>
                        </a:rPr>
                        <a:t>4,8</a:t>
                      </a:r>
                    </a:p>
                  </a:txBody>
                  <a:tcPr marL="9525" marR="9525" marT="9525" marB="0" anchor="ctr">
                    <a:noFill/>
                  </a:tcPr>
                </a:tc>
                <a:tc>
                  <a:txBody>
                    <a:bodyPr/>
                    <a:lstStyle/>
                    <a:p>
                      <a:pPr algn="ctr" rtl="0" fontAlgn="b">
                        <a:buNone/>
                      </a:pPr>
                      <a:r>
                        <a:rPr lang="es-CO" sz="1200" b="0" i="0" u="none" strike="noStrike">
                          <a:solidFill>
                            <a:srgbClr val="000000"/>
                          </a:solidFill>
                          <a:effectLst/>
                          <a:latin typeface="Aptos" panose="020B0004020202020204" pitchFamily="34" charset="0"/>
                        </a:rPr>
                        <a:t>4,9</a:t>
                      </a:r>
                    </a:p>
                  </a:txBody>
                  <a:tcPr marL="9525" marR="9525" marT="9525" marB="0" anchor="ctr">
                    <a:noFill/>
                  </a:tcPr>
                </a:tc>
                <a:tc>
                  <a:txBody>
                    <a:bodyPr/>
                    <a:lstStyle/>
                    <a:p>
                      <a:pPr algn="ctr" rtl="0" fontAlgn="b">
                        <a:buNone/>
                      </a:pPr>
                      <a:r>
                        <a:rPr lang="es-ES" sz="1200" b="0" i="0" u="none" strike="noStrike">
                          <a:solidFill>
                            <a:srgbClr val="000000"/>
                          </a:solidFill>
                          <a:effectLst/>
                          <a:latin typeface="Aptos" panose="020B0004020202020204" pitchFamily="34" charset="0"/>
                        </a:rPr>
                        <a:t>5,0</a:t>
                      </a:r>
                      <a:endParaRPr lang="es-CO" sz="1200" b="0" i="0" u="none" strike="noStrike">
                        <a:solidFill>
                          <a:srgbClr val="000000"/>
                        </a:solidFill>
                        <a:effectLst/>
                        <a:latin typeface="Aptos" panose="020B0004020202020204" pitchFamily="34" charset="0"/>
                      </a:endParaRPr>
                    </a:p>
                  </a:txBody>
                  <a:tcPr marL="9525" marR="9525" marT="9525" marB="0" anchor="ctr">
                    <a:noFill/>
                  </a:tcPr>
                </a:tc>
                <a:tc>
                  <a:txBody>
                    <a:bodyPr/>
                    <a:lstStyle/>
                    <a:p>
                      <a:pPr algn="ctr" rtl="0" fontAlgn="b">
                        <a:buNone/>
                      </a:pPr>
                      <a:r>
                        <a:rPr lang="es-ES" sz="1200" b="0" i="0" u="none" strike="noStrike">
                          <a:solidFill>
                            <a:srgbClr val="000000"/>
                          </a:solidFill>
                          <a:effectLst/>
                          <a:latin typeface="Aptos" panose="020B0004020202020204" pitchFamily="34" charset="0"/>
                        </a:rPr>
                        <a:t>5,0</a:t>
                      </a:r>
                      <a:endParaRPr lang="es-CO" sz="1200" b="0" i="0" u="none" strike="noStrike">
                        <a:solidFill>
                          <a:srgbClr val="000000"/>
                        </a:solidFill>
                        <a:effectLst/>
                        <a:latin typeface="Aptos" panose="020B0004020202020204" pitchFamily="34" charset="0"/>
                      </a:endParaRPr>
                    </a:p>
                  </a:txBody>
                  <a:tcPr marL="9525" marR="9525" marT="9525" marB="0" anchor="ctr">
                    <a:noFill/>
                  </a:tcPr>
                </a:tc>
                <a:extLst>
                  <a:ext uri="{0D108BD9-81ED-4DB2-BD59-A6C34878D82A}">
                    <a16:rowId xmlns:a16="http://schemas.microsoft.com/office/drawing/2014/main" val="1559101740"/>
                  </a:ext>
                </a:extLst>
              </a:tr>
            </a:tbl>
          </a:graphicData>
        </a:graphic>
      </p:graphicFrame>
      <p:sp>
        <p:nvSpPr>
          <p:cNvPr id="9" name="CuadroTexto 8">
            <a:extLst>
              <a:ext uri="{FF2B5EF4-FFF2-40B4-BE49-F238E27FC236}">
                <a16:creationId xmlns:a16="http://schemas.microsoft.com/office/drawing/2014/main" id="{ECF6544E-DB09-E3ED-C6FB-BFE7D42ED6B6}"/>
              </a:ext>
            </a:extLst>
          </p:cNvPr>
          <p:cNvSpPr txBox="1"/>
          <p:nvPr/>
        </p:nvSpPr>
        <p:spPr>
          <a:xfrm>
            <a:off x="351769" y="1413063"/>
            <a:ext cx="4997471" cy="4278094"/>
          </a:xfrm>
          <a:prstGeom prst="rect">
            <a:avLst/>
          </a:prstGeom>
          <a:noFill/>
        </p:spPr>
        <p:txBody>
          <a:bodyPr wrap="square" lIns="91440" tIns="45720" rIns="91440" bIns="45720" anchor="t">
            <a:spAutoFit/>
          </a:bodyPr>
          <a:lstStyle>
            <a:defPPr>
              <a:defRPr lang="es-CO"/>
            </a:defPPr>
            <a:lvl1pPr algn="just">
              <a:defRPr sz="1600">
                <a:solidFill>
                  <a:srgbClr val="402C50"/>
                </a:solidFill>
                <a:latin typeface="Aptos"/>
                <a:cs typeface="Arial"/>
              </a:defRPr>
            </a:lvl1pPr>
          </a:lstStyle>
          <a:p>
            <a:r>
              <a:rPr lang="es-CO"/>
              <a:t>En la regional Cauca se evidencia una evolución sostenida de los indicadores de experiencia del usuario durante 2026. </a:t>
            </a:r>
          </a:p>
          <a:p>
            <a:endParaRPr lang="es-CO"/>
          </a:p>
          <a:p>
            <a:r>
              <a:rPr lang="es-ES"/>
              <a:t>Los comentarios cualitativos estuvieron principalmente relacionados con la oportunidad en el agendamiento de citas y quimioterapia. Recomienda mantener y fortalecer el recordatorio oportuno de las citas programadas.</a:t>
            </a:r>
          </a:p>
          <a:p>
            <a:endParaRPr lang="es-ES"/>
          </a:p>
          <a:p>
            <a:r>
              <a:rPr lang="es-ES"/>
              <a:t>De las 42  observaciones registradas en las encuestas, 39 corresponden a comentarios favorables, mediante expresiones como “excelente atención”, “muy buena atención”, “buena atención”. Esto permite identificar que los usuarios destacan principalmente el trato durante la atención.</a:t>
            </a:r>
          </a:p>
          <a:p>
            <a:endParaRPr lang="es-CO"/>
          </a:p>
        </p:txBody>
      </p:sp>
      <p:sp>
        <p:nvSpPr>
          <p:cNvPr id="11" name="CuadroTexto 10">
            <a:extLst>
              <a:ext uri="{FF2B5EF4-FFF2-40B4-BE49-F238E27FC236}">
                <a16:creationId xmlns:a16="http://schemas.microsoft.com/office/drawing/2014/main" id="{6B69688B-DCD1-0759-394C-A4F92F6FAEED}"/>
              </a:ext>
            </a:extLst>
          </p:cNvPr>
          <p:cNvSpPr txBox="1"/>
          <p:nvPr/>
        </p:nvSpPr>
        <p:spPr>
          <a:xfrm>
            <a:off x="8290561" y="6368981"/>
            <a:ext cx="2286000" cy="276999"/>
          </a:xfrm>
          <a:prstGeom prst="rect">
            <a:avLst/>
          </a:prstGeom>
          <a:noFill/>
        </p:spPr>
        <p:txBody>
          <a:bodyPr wrap="square">
            <a:spAutoFit/>
          </a:bodyPr>
          <a:lstStyle/>
          <a:p>
            <a:r>
              <a:rPr lang="es-CO" sz="1200" b="1" i="1">
                <a:solidFill>
                  <a:schemeClr val="bg1">
                    <a:lumMod val="50000"/>
                  </a:schemeClr>
                </a:solidFill>
              </a:rPr>
              <a:t>Fuente: QSE Inoos agosto 2026</a:t>
            </a:r>
          </a:p>
        </p:txBody>
      </p:sp>
      <p:pic>
        <p:nvPicPr>
          <p:cNvPr id="3" name="Imagen 2">
            <a:extLst>
              <a:ext uri="{FF2B5EF4-FFF2-40B4-BE49-F238E27FC236}">
                <a16:creationId xmlns:a16="http://schemas.microsoft.com/office/drawing/2014/main" id="{D857CB17-4C89-87E7-BE2D-70DA2EB80272}"/>
              </a:ext>
            </a:extLst>
          </p:cNvPr>
          <p:cNvPicPr>
            <a:picLocks noChangeAspect="1"/>
          </p:cNvPicPr>
          <p:nvPr/>
        </p:nvPicPr>
        <p:blipFill>
          <a:blip r:embed="rId2"/>
          <a:stretch>
            <a:fillRect/>
          </a:stretch>
        </p:blipFill>
        <p:spPr>
          <a:xfrm>
            <a:off x="6118952" y="899285"/>
            <a:ext cx="5130812" cy="3431647"/>
          </a:xfrm>
          <a:prstGeom prst="rect">
            <a:avLst/>
          </a:prstGeom>
        </p:spPr>
      </p:pic>
      <p:sp>
        <p:nvSpPr>
          <p:cNvPr id="5" name="CuadroTexto 4">
            <a:extLst>
              <a:ext uri="{FF2B5EF4-FFF2-40B4-BE49-F238E27FC236}">
                <a16:creationId xmlns:a16="http://schemas.microsoft.com/office/drawing/2014/main" id="{B2A3EB02-5643-FB2E-6454-490E80D4B2B8}"/>
              </a:ext>
            </a:extLst>
          </p:cNvPr>
          <p:cNvSpPr txBox="1"/>
          <p:nvPr/>
        </p:nvSpPr>
        <p:spPr>
          <a:xfrm>
            <a:off x="3794301" y="6490651"/>
            <a:ext cx="3638394" cy="276999"/>
          </a:xfrm>
          <a:prstGeom prst="rect">
            <a:avLst/>
          </a:prstGeom>
          <a:noFill/>
        </p:spPr>
        <p:txBody>
          <a:bodyPr wrap="square">
            <a:spAutoFit/>
          </a:bodyPr>
          <a:ls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CO" sz="1200" b="1" i="1" noProof="0">
                <a:solidFill>
                  <a:schemeClr val="tx2"/>
                </a:solidFill>
              </a:rPr>
              <a:t>Fuente: </a:t>
            </a:r>
            <a:r>
              <a:rPr lang="es-CO" sz="1200" i="1" noProof="0">
                <a:solidFill>
                  <a:schemeClr val="tx2"/>
                </a:solidFill>
              </a:rPr>
              <a:t>SAU INOOS </a:t>
            </a:r>
            <a:r>
              <a:rPr lang="es-CO" sz="1200" i="1">
                <a:solidFill>
                  <a:schemeClr val="tx2"/>
                </a:solidFill>
              </a:rPr>
              <a:t>Agosto </a:t>
            </a:r>
            <a:r>
              <a:rPr lang="es-CO" sz="1200" i="1" noProof="0">
                <a:solidFill>
                  <a:schemeClr val="tx2"/>
                </a:solidFill>
              </a:rPr>
              <a:t>2026</a:t>
            </a:r>
          </a:p>
        </p:txBody>
      </p:sp>
    </p:spTree>
    <p:extLst>
      <p:ext uri="{BB962C8B-B14F-4D97-AF65-F5344CB8AC3E}">
        <p14:creationId xmlns:p14="http://schemas.microsoft.com/office/powerpoint/2010/main" val="172787765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4FBAC-FD2A-2FB0-C492-AFD26528109A}"/>
            </a:ext>
          </a:extLst>
        </p:cNvPr>
        <p:cNvGrpSpPr/>
        <p:nvPr/>
      </p:nvGrpSpPr>
      <p:grpSpPr>
        <a:xfrm>
          <a:off x="0" y="0"/>
          <a:ext cx="0" cy="0"/>
          <a:chOff x="0" y="0"/>
          <a:chExt cx="0" cy="0"/>
        </a:xfrm>
      </p:grpSpPr>
      <p:sp>
        <p:nvSpPr>
          <p:cNvPr id="6" name="Título 1">
            <a:extLst>
              <a:ext uri="{FF2B5EF4-FFF2-40B4-BE49-F238E27FC236}">
                <a16:creationId xmlns:a16="http://schemas.microsoft.com/office/drawing/2014/main" id="{430956B8-9B39-EAA3-D188-0960011C2886}"/>
              </a:ext>
            </a:extLst>
          </p:cNvPr>
          <p:cNvSpPr txBox="1">
            <a:spLocks/>
          </p:cNvSpPr>
          <p:nvPr/>
        </p:nvSpPr>
        <p:spPr>
          <a:xfrm>
            <a:off x="1068049" y="5340"/>
            <a:ext cx="10515600" cy="81207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400" b="1" kern="1200">
                <a:solidFill>
                  <a:srgbClr val="00A19C"/>
                </a:solidFill>
                <a:latin typeface="+mj-lt"/>
                <a:ea typeface="+mj-ea"/>
                <a:cs typeface="+mj-cs"/>
              </a:defRPr>
            </a:lvl1pPr>
          </a:lstStyle>
          <a:p>
            <a:r>
              <a:rPr lang="es-CO">
                <a:solidFill>
                  <a:schemeClr val="tx1"/>
                </a:solidFill>
                <a:latin typeface="Century Gothic"/>
              </a:rPr>
              <a:t>QSE por regional</a:t>
            </a:r>
            <a:endParaRPr lang="es-ES"/>
          </a:p>
        </p:txBody>
      </p:sp>
      <p:sp>
        <p:nvSpPr>
          <p:cNvPr id="2" name="CuadroTexto 20">
            <a:extLst>
              <a:ext uri="{FF2B5EF4-FFF2-40B4-BE49-F238E27FC236}">
                <a16:creationId xmlns:a16="http://schemas.microsoft.com/office/drawing/2014/main" id="{9FE03459-7DCA-81A1-4F32-065F0F6DB8FC}"/>
              </a:ext>
            </a:extLst>
          </p:cNvPr>
          <p:cNvSpPr txBox="1"/>
          <p:nvPr/>
        </p:nvSpPr>
        <p:spPr>
          <a:xfrm>
            <a:off x="338910" y="2012805"/>
            <a:ext cx="4934129" cy="2062103"/>
          </a:xfrm>
          <a:prstGeom prst="rect">
            <a:avLst/>
          </a:prstGeom>
          <a:noFill/>
        </p:spPr>
        <p:txBody>
          <a:bodyPr wrap="square" lIns="91440" tIns="45720" rIns="91440" bIns="45720" anchor="t">
            <a:spAutoFit/>
          </a:bodyPr>
          <a:lstStyle>
            <a:defPPr>
              <a:defRPr lang="es-CO"/>
            </a:defPPr>
            <a:lvl1pPr marL="0" algn="just" defTabSz="914400" rtl="0" eaLnBrk="1" latinLnBrk="0" hangingPunct="1">
              <a:defRPr sz="1600" kern="1200">
                <a:solidFill>
                  <a:schemeClr val="tx1">
                    <a:lumMod val="50000"/>
                  </a:schemeClr>
                </a:solidFill>
                <a:latin typeface="Aptos" panose="020B00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a:solidFill>
                  <a:srgbClr val="402C50"/>
                </a:solidFill>
                <a:latin typeface="Aptos"/>
                <a:cs typeface="Arial"/>
              </a:rPr>
              <a:t>La regional Tolima conserva por tercer mes consecutivo el máximo desempeño simultáneo en todos los indicadores.</a:t>
            </a:r>
          </a:p>
          <a:p>
            <a:endParaRPr lang="es-ES">
              <a:solidFill>
                <a:srgbClr val="402C50"/>
              </a:solidFill>
              <a:latin typeface="Aptos"/>
              <a:cs typeface="Arial"/>
            </a:endParaRPr>
          </a:p>
          <a:p>
            <a:r>
              <a:rPr lang="es-ES"/>
              <a:t>Las 23 observaciones registradas en las encuestas corresponden a comentarios favorables, mediante expresiones como “excelente atención”, “muy buena atención”, “buena atención” y “muy buen servicio”. </a:t>
            </a:r>
          </a:p>
        </p:txBody>
      </p:sp>
      <p:graphicFrame>
        <p:nvGraphicFramePr>
          <p:cNvPr id="3" name="Tabla 2">
            <a:extLst>
              <a:ext uri="{FF2B5EF4-FFF2-40B4-BE49-F238E27FC236}">
                <a16:creationId xmlns:a16="http://schemas.microsoft.com/office/drawing/2014/main" id="{D0DAF652-DB78-5235-6E22-BB6A667DB0D5}"/>
              </a:ext>
            </a:extLst>
          </p:cNvPr>
          <p:cNvGraphicFramePr>
            <a:graphicFrameLocks noGrp="1"/>
          </p:cNvGraphicFramePr>
          <p:nvPr/>
        </p:nvGraphicFramePr>
        <p:xfrm>
          <a:off x="5542806" y="4213572"/>
          <a:ext cx="5985682" cy="1686075"/>
        </p:xfrm>
        <a:graphic>
          <a:graphicData uri="http://schemas.openxmlformats.org/drawingml/2006/table">
            <a:tbl>
              <a:tblPr>
                <a:tableStyleId>{5C22544A-7EE6-4342-B048-85BDC9FD1C3A}</a:tableStyleId>
              </a:tblPr>
              <a:tblGrid>
                <a:gridCol w="1197138">
                  <a:extLst>
                    <a:ext uri="{9D8B030D-6E8A-4147-A177-3AD203B41FA5}">
                      <a16:colId xmlns:a16="http://schemas.microsoft.com/office/drawing/2014/main" val="2564110044"/>
                    </a:ext>
                  </a:extLst>
                </a:gridCol>
                <a:gridCol w="598568">
                  <a:extLst>
                    <a:ext uri="{9D8B030D-6E8A-4147-A177-3AD203B41FA5}">
                      <a16:colId xmlns:a16="http://schemas.microsoft.com/office/drawing/2014/main" val="558055161"/>
                    </a:ext>
                  </a:extLst>
                </a:gridCol>
                <a:gridCol w="598568">
                  <a:extLst>
                    <a:ext uri="{9D8B030D-6E8A-4147-A177-3AD203B41FA5}">
                      <a16:colId xmlns:a16="http://schemas.microsoft.com/office/drawing/2014/main" val="2965522434"/>
                    </a:ext>
                  </a:extLst>
                </a:gridCol>
                <a:gridCol w="598568">
                  <a:extLst>
                    <a:ext uri="{9D8B030D-6E8A-4147-A177-3AD203B41FA5}">
                      <a16:colId xmlns:a16="http://schemas.microsoft.com/office/drawing/2014/main" val="3388780849"/>
                    </a:ext>
                  </a:extLst>
                </a:gridCol>
                <a:gridCol w="598568">
                  <a:extLst>
                    <a:ext uri="{9D8B030D-6E8A-4147-A177-3AD203B41FA5}">
                      <a16:colId xmlns:a16="http://schemas.microsoft.com/office/drawing/2014/main" val="3450312174"/>
                    </a:ext>
                  </a:extLst>
                </a:gridCol>
                <a:gridCol w="598568">
                  <a:extLst>
                    <a:ext uri="{9D8B030D-6E8A-4147-A177-3AD203B41FA5}">
                      <a16:colId xmlns:a16="http://schemas.microsoft.com/office/drawing/2014/main" val="2208932647"/>
                    </a:ext>
                  </a:extLst>
                </a:gridCol>
                <a:gridCol w="598568">
                  <a:extLst>
                    <a:ext uri="{9D8B030D-6E8A-4147-A177-3AD203B41FA5}">
                      <a16:colId xmlns:a16="http://schemas.microsoft.com/office/drawing/2014/main" val="805728011"/>
                    </a:ext>
                  </a:extLst>
                </a:gridCol>
                <a:gridCol w="598568">
                  <a:extLst>
                    <a:ext uri="{9D8B030D-6E8A-4147-A177-3AD203B41FA5}">
                      <a16:colId xmlns:a16="http://schemas.microsoft.com/office/drawing/2014/main" val="3413929284"/>
                    </a:ext>
                  </a:extLst>
                </a:gridCol>
                <a:gridCol w="598568">
                  <a:extLst>
                    <a:ext uri="{9D8B030D-6E8A-4147-A177-3AD203B41FA5}">
                      <a16:colId xmlns:a16="http://schemas.microsoft.com/office/drawing/2014/main" val="3155004904"/>
                    </a:ext>
                  </a:extLst>
                </a:gridCol>
              </a:tblGrid>
              <a:tr h="337215">
                <a:tc>
                  <a:txBody>
                    <a:bodyPr/>
                    <a:lstStyle/>
                    <a:p>
                      <a:pPr algn="ctr" rtl="0" fontAlgn="b">
                        <a:buNone/>
                      </a:pPr>
                      <a:r>
                        <a:rPr lang="es-CO" sz="1200" u="none" strike="noStrike">
                          <a:solidFill>
                            <a:schemeClr val="bg1"/>
                          </a:solidFill>
                          <a:effectLst/>
                          <a:latin typeface="Aptos" panose="020B0004020202020204" pitchFamily="34" charset="0"/>
                        </a:rPr>
                        <a:t>Indicador</a:t>
                      </a:r>
                      <a:endParaRPr lang="es-CO" sz="1200" b="0" i="0" u="none" strike="noStrike">
                        <a:solidFill>
                          <a:schemeClr val="bg1"/>
                        </a:solidFill>
                        <a:effectLst/>
                        <a:latin typeface="Aptos" panose="020B0004020202020204" pitchFamily="34" charset="0"/>
                      </a:endParaRPr>
                    </a:p>
                  </a:txBody>
                  <a:tcPr marL="9525" marR="9525" marT="9525" marB="0" anchor="ctr">
                    <a:solidFill>
                      <a:srgbClr val="7030A0"/>
                    </a:solidFill>
                  </a:tcPr>
                </a:tc>
                <a:tc>
                  <a:txBody>
                    <a:bodyPr/>
                    <a:lstStyle/>
                    <a:p>
                      <a:pPr algn="ctr" rtl="0" fontAlgn="b">
                        <a:buNone/>
                      </a:pPr>
                      <a:r>
                        <a:rPr lang="es-CO" sz="1200" u="none" strike="noStrike">
                          <a:solidFill>
                            <a:schemeClr val="bg1"/>
                          </a:solidFill>
                          <a:effectLst/>
                          <a:latin typeface="Aptos" panose="020B0004020202020204" pitchFamily="34" charset="0"/>
                        </a:rPr>
                        <a:t>Ene</a:t>
                      </a:r>
                      <a:endParaRPr lang="es-CO" sz="1200" b="0" i="0" u="none" strike="noStrike">
                        <a:solidFill>
                          <a:schemeClr val="bg1"/>
                        </a:solidFill>
                        <a:effectLst/>
                        <a:latin typeface="Aptos" panose="020B0004020202020204" pitchFamily="34" charset="0"/>
                      </a:endParaRPr>
                    </a:p>
                  </a:txBody>
                  <a:tcPr marL="9525" marR="9525" marT="9525" marB="0" anchor="ctr">
                    <a:solidFill>
                      <a:srgbClr val="7030A0"/>
                    </a:solidFill>
                  </a:tcPr>
                </a:tc>
                <a:tc>
                  <a:txBody>
                    <a:bodyPr/>
                    <a:lstStyle/>
                    <a:p>
                      <a:pPr algn="ctr" rtl="0" fontAlgn="b">
                        <a:buNone/>
                      </a:pPr>
                      <a:r>
                        <a:rPr lang="es-CO" sz="1200" u="none" strike="noStrike">
                          <a:solidFill>
                            <a:schemeClr val="bg1"/>
                          </a:solidFill>
                          <a:effectLst/>
                          <a:latin typeface="Aptos" panose="020B0004020202020204" pitchFamily="34" charset="0"/>
                        </a:rPr>
                        <a:t>Feb</a:t>
                      </a:r>
                      <a:endParaRPr lang="es-CO" sz="1200" b="0" i="0" u="none" strike="noStrike">
                        <a:solidFill>
                          <a:schemeClr val="bg1"/>
                        </a:solidFill>
                        <a:effectLst/>
                        <a:latin typeface="Aptos" panose="020B0004020202020204" pitchFamily="34" charset="0"/>
                      </a:endParaRPr>
                    </a:p>
                  </a:txBody>
                  <a:tcPr marL="9525" marR="9525" marT="9525" marB="0" anchor="ctr">
                    <a:solidFill>
                      <a:srgbClr val="7030A0"/>
                    </a:solidFill>
                  </a:tcPr>
                </a:tc>
                <a:tc>
                  <a:txBody>
                    <a:bodyPr/>
                    <a:lstStyle/>
                    <a:p>
                      <a:pPr algn="ctr" rtl="0" fontAlgn="b">
                        <a:buNone/>
                      </a:pPr>
                      <a:r>
                        <a:rPr lang="es-CO" sz="1200" u="none" strike="noStrike">
                          <a:solidFill>
                            <a:schemeClr val="bg1"/>
                          </a:solidFill>
                          <a:effectLst/>
                          <a:latin typeface="Aptos" panose="020B0004020202020204" pitchFamily="34" charset="0"/>
                        </a:rPr>
                        <a:t>Mar</a:t>
                      </a:r>
                      <a:endParaRPr lang="es-CO" sz="1200" b="0" i="0" u="none" strike="noStrike">
                        <a:solidFill>
                          <a:schemeClr val="bg1"/>
                        </a:solidFill>
                        <a:effectLst/>
                        <a:latin typeface="Aptos" panose="020B0004020202020204" pitchFamily="34" charset="0"/>
                      </a:endParaRPr>
                    </a:p>
                  </a:txBody>
                  <a:tcPr marL="9525" marR="9525" marT="9525" marB="0" anchor="ctr">
                    <a:solidFill>
                      <a:srgbClr val="7030A0"/>
                    </a:solidFill>
                  </a:tcPr>
                </a:tc>
                <a:tc>
                  <a:txBody>
                    <a:bodyPr/>
                    <a:lstStyle/>
                    <a:p>
                      <a:pPr algn="ctr" rtl="0" fontAlgn="b">
                        <a:buNone/>
                      </a:pPr>
                      <a:r>
                        <a:rPr lang="es-CO" sz="1200" u="none" strike="noStrike">
                          <a:solidFill>
                            <a:schemeClr val="bg1"/>
                          </a:solidFill>
                          <a:effectLst/>
                          <a:latin typeface="Aptos" panose="020B0004020202020204" pitchFamily="34" charset="0"/>
                        </a:rPr>
                        <a:t>Abr</a:t>
                      </a:r>
                      <a:endParaRPr lang="es-CO" sz="1200" b="0" i="0" u="none" strike="noStrike">
                        <a:solidFill>
                          <a:schemeClr val="bg1"/>
                        </a:solidFill>
                        <a:effectLst/>
                        <a:latin typeface="Aptos" panose="020B0004020202020204" pitchFamily="34" charset="0"/>
                      </a:endParaRPr>
                    </a:p>
                  </a:txBody>
                  <a:tcPr marL="9525" marR="9525" marT="9525" marB="0" anchor="ctr">
                    <a:solidFill>
                      <a:srgbClr val="7030A0"/>
                    </a:solidFill>
                  </a:tcPr>
                </a:tc>
                <a:tc>
                  <a:txBody>
                    <a:bodyPr/>
                    <a:lstStyle/>
                    <a:p>
                      <a:pPr algn="ctr" rtl="0" fontAlgn="b">
                        <a:buNone/>
                      </a:pPr>
                      <a:r>
                        <a:rPr lang="es-CO" sz="1200" u="none" strike="noStrike">
                          <a:solidFill>
                            <a:schemeClr val="bg1"/>
                          </a:solidFill>
                          <a:effectLst/>
                          <a:latin typeface="Aptos" panose="020B0004020202020204" pitchFamily="34" charset="0"/>
                        </a:rPr>
                        <a:t>May</a:t>
                      </a:r>
                      <a:endParaRPr lang="es-CO" sz="1200" b="0" i="0" u="none" strike="noStrike">
                        <a:solidFill>
                          <a:schemeClr val="bg1"/>
                        </a:solidFill>
                        <a:effectLst/>
                        <a:latin typeface="Aptos" panose="020B0004020202020204" pitchFamily="34" charset="0"/>
                      </a:endParaRPr>
                    </a:p>
                  </a:txBody>
                  <a:tcPr marL="9525" marR="9525" marT="9525" marB="0" anchor="ctr">
                    <a:solidFill>
                      <a:srgbClr val="7030A0"/>
                    </a:solidFill>
                  </a:tcPr>
                </a:tc>
                <a:tc>
                  <a:txBody>
                    <a:bodyPr/>
                    <a:lstStyle/>
                    <a:p>
                      <a:pPr algn="ctr" rtl="0" fontAlgn="b">
                        <a:buNone/>
                      </a:pPr>
                      <a:r>
                        <a:rPr lang="es-CO" sz="1200" u="none" strike="noStrike">
                          <a:solidFill>
                            <a:schemeClr val="bg1"/>
                          </a:solidFill>
                          <a:effectLst/>
                          <a:latin typeface="Aptos" panose="020B0004020202020204" pitchFamily="34" charset="0"/>
                        </a:rPr>
                        <a:t>Jun</a:t>
                      </a:r>
                      <a:endParaRPr lang="es-CO" sz="1200" b="0" i="0" u="none" strike="noStrike">
                        <a:solidFill>
                          <a:schemeClr val="bg1"/>
                        </a:solidFill>
                        <a:effectLst/>
                        <a:latin typeface="Aptos" panose="020B0004020202020204" pitchFamily="34" charset="0"/>
                      </a:endParaRPr>
                    </a:p>
                  </a:txBody>
                  <a:tcPr marL="9525" marR="9525" marT="9525" marB="0" anchor="ctr">
                    <a:solidFill>
                      <a:srgbClr val="7030A0"/>
                    </a:solidFill>
                  </a:tcPr>
                </a:tc>
                <a:tc>
                  <a:txBody>
                    <a:bodyPr/>
                    <a:lstStyle/>
                    <a:p>
                      <a:pPr algn="ctr" rtl="0" fontAlgn="b">
                        <a:buNone/>
                      </a:pPr>
                      <a:r>
                        <a:rPr lang="es-ES" sz="1200" b="0" i="0" u="none" strike="noStrike">
                          <a:solidFill>
                            <a:schemeClr val="bg1"/>
                          </a:solidFill>
                          <a:effectLst/>
                          <a:latin typeface="Aptos" panose="020B0004020202020204" pitchFamily="34" charset="0"/>
                        </a:rPr>
                        <a:t>Jul</a:t>
                      </a:r>
                      <a:endParaRPr lang="es-CO" sz="1200" b="0" i="0" u="none" strike="noStrike">
                        <a:solidFill>
                          <a:schemeClr val="bg1"/>
                        </a:solidFill>
                        <a:effectLst/>
                        <a:latin typeface="Aptos" panose="020B0004020202020204" pitchFamily="34" charset="0"/>
                      </a:endParaRPr>
                    </a:p>
                  </a:txBody>
                  <a:tcPr marL="9525" marR="9525" marT="9525" marB="0" anchor="ctr">
                    <a:solidFill>
                      <a:srgbClr val="7030A0"/>
                    </a:solidFill>
                  </a:tcPr>
                </a:tc>
                <a:tc>
                  <a:txBody>
                    <a:bodyPr/>
                    <a:lstStyle/>
                    <a:p>
                      <a:pPr algn="ctr" rtl="0" fontAlgn="b">
                        <a:buNone/>
                      </a:pPr>
                      <a:r>
                        <a:rPr lang="es-ES" sz="1200" b="0" i="0" u="none" strike="noStrike">
                          <a:solidFill>
                            <a:schemeClr val="bg1"/>
                          </a:solidFill>
                          <a:effectLst/>
                          <a:latin typeface="Aptos" panose="020B0004020202020204" pitchFamily="34" charset="0"/>
                        </a:rPr>
                        <a:t>Ago</a:t>
                      </a:r>
                      <a:endParaRPr lang="es-CO" sz="1200" b="0" i="0" u="none" strike="noStrike">
                        <a:solidFill>
                          <a:schemeClr val="bg1"/>
                        </a:solidFill>
                        <a:effectLst/>
                        <a:latin typeface="Aptos" panose="020B0004020202020204" pitchFamily="34" charset="0"/>
                      </a:endParaRPr>
                    </a:p>
                  </a:txBody>
                  <a:tcPr marL="9525" marR="9525" marT="9525" marB="0" anchor="ctr">
                    <a:solidFill>
                      <a:srgbClr val="7030A0"/>
                    </a:solidFill>
                  </a:tcPr>
                </a:tc>
                <a:extLst>
                  <a:ext uri="{0D108BD9-81ED-4DB2-BD59-A6C34878D82A}">
                    <a16:rowId xmlns:a16="http://schemas.microsoft.com/office/drawing/2014/main" val="2205729097"/>
                  </a:ext>
                </a:extLst>
              </a:tr>
              <a:tr h="337215">
                <a:tc>
                  <a:txBody>
                    <a:bodyPr/>
                    <a:lstStyle/>
                    <a:p>
                      <a:pPr algn="ctr" rtl="0" fontAlgn="b">
                        <a:buNone/>
                      </a:pPr>
                      <a:r>
                        <a:rPr lang="es-CO" sz="1200" u="none" strike="noStrike">
                          <a:solidFill>
                            <a:srgbClr val="000000"/>
                          </a:solidFill>
                          <a:effectLst/>
                          <a:latin typeface="Aptos" panose="020B0004020202020204" pitchFamily="34" charset="0"/>
                        </a:rPr>
                        <a:t>NPS</a:t>
                      </a:r>
                      <a:endParaRPr lang="es-CO" sz="1200" b="0" i="0" u="none" strike="noStrike">
                        <a:solidFill>
                          <a:srgbClr val="000000"/>
                        </a:solidFill>
                        <a:effectLst/>
                        <a:latin typeface="Aptos" panose="020B0004020202020204" pitchFamily="34" charset="0"/>
                      </a:endParaRPr>
                    </a:p>
                  </a:txBody>
                  <a:tcPr marL="9525" marR="9525" marT="9525" marB="0" anchor="ctr"/>
                </a:tc>
                <a:tc>
                  <a:txBody>
                    <a:bodyPr/>
                    <a:lstStyle/>
                    <a:p>
                      <a:pPr algn="ctr" rtl="0" fontAlgn="b">
                        <a:buNone/>
                      </a:pPr>
                      <a:r>
                        <a:rPr lang="es-CO" sz="1200" u="none" strike="noStrike">
                          <a:solidFill>
                            <a:srgbClr val="000000"/>
                          </a:solidFill>
                          <a:effectLst/>
                          <a:latin typeface="Aptos" panose="020B0004020202020204" pitchFamily="34" charset="0"/>
                        </a:rPr>
                        <a:t>97%</a:t>
                      </a:r>
                      <a:endParaRPr lang="es-CO" sz="1200" b="0" i="0" u="none" strike="noStrike">
                        <a:solidFill>
                          <a:srgbClr val="000000"/>
                        </a:solidFill>
                        <a:effectLst/>
                        <a:latin typeface="Aptos" panose="020B0004020202020204" pitchFamily="34" charset="0"/>
                      </a:endParaRPr>
                    </a:p>
                  </a:txBody>
                  <a:tcPr marL="9525" marR="9525" marT="9525" marB="0" anchor="ctr"/>
                </a:tc>
                <a:tc>
                  <a:txBody>
                    <a:bodyPr/>
                    <a:lstStyle/>
                    <a:p>
                      <a:pPr algn="ctr" rtl="0" fontAlgn="b">
                        <a:buNone/>
                      </a:pPr>
                      <a:r>
                        <a:rPr lang="es-CO" sz="1200" u="none" strike="noStrike">
                          <a:solidFill>
                            <a:srgbClr val="000000"/>
                          </a:solidFill>
                          <a:effectLst/>
                          <a:latin typeface="Aptos" panose="020B0004020202020204" pitchFamily="34" charset="0"/>
                        </a:rPr>
                        <a:t>96%</a:t>
                      </a:r>
                      <a:endParaRPr lang="es-CO" sz="1200" b="0" i="0" u="none" strike="noStrike">
                        <a:solidFill>
                          <a:srgbClr val="000000"/>
                        </a:solidFill>
                        <a:effectLst/>
                        <a:latin typeface="Aptos" panose="020B0004020202020204" pitchFamily="34" charset="0"/>
                      </a:endParaRPr>
                    </a:p>
                  </a:txBody>
                  <a:tcPr marL="9525" marR="9525" marT="9525" marB="0" anchor="ctr"/>
                </a:tc>
                <a:tc>
                  <a:txBody>
                    <a:bodyPr/>
                    <a:lstStyle/>
                    <a:p>
                      <a:pPr algn="ctr" rtl="0" fontAlgn="b">
                        <a:buNone/>
                      </a:pPr>
                      <a:r>
                        <a:rPr lang="es-CO" sz="1200" u="none" strike="noStrike">
                          <a:solidFill>
                            <a:srgbClr val="000000"/>
                          </a:solidFill>
                          <a:effectLst/>
                          <a:latin typeface="Aptos" panose="020B0004020202020204" pitchFamily="34" charset="0"/>
                        </a:rPr>
                        <a:t>80%</a:t>
                      </a:r>
                      <a:endParaRPr lang="es-CO" sz="1200" b="0" i="0" u="none" strike="noStrike">
                        <a:solidFill>
                          <a:srgbClr val="000000"/>
                        </a:solidFill>
                        <a:effectLst/>
                        <a:latin typeface="Aptos" panose="020B0004020202020204" pitchFamily="34" charset="0"/>
                      </a:endParaRPr>
                    </a:p>
                  </a:txBody>
                  <a:tcPr marL="9525" marR="9525" marT="9525" marB="0" anchor="ctr"/>
                </a:tc>
                <a:tc>
                  <a:txBody>
                    <a:bodyPr/>
                    <a:lstStyle/>
                    <a:p>
                      <a:pPr algn="ctr" rtl="0" fontAlgn="b">
                        <a:buNone/>
                      </a:pPr>
                      <a:r>
                        <a:rPr lang="es-CO" sz="1200" u="none" strike="noStrike">
                          <a:solidFill>
                            <a:srgbClr val="000000"/>
                          </a:solidFill>
                          <a:effectLst/>
                          <a:latin typeface="Aptos" panose="020B0004020202020204" pitchFamily="34" charset="0"/>
                        </a:rPr>
                        <a:t>84%</a:t>
                      </a:r>
                      <a:endParaRPr lang="es-CO" sz="1200" b="0" i="0" u="none" strike="noStrike">
                        <a:solidFill>
                          <a:srgbClr val="000000"/>
                        </a:solidFill>
                        <a:effectLst/>
                        <a:latin typeface="Aptos" panose="020B0004020202020204" pitchFamily="34" charset="0"/>
                      </a:endParaRPr>
                    </a:p>
                  </a:txBody>
                  <a:tcPr marL="9525" marR="9525" marT="9525" marB="0" anchor="ctr"/>
                </a:tc>
                <a:tc>
                  <a:txBody>
                    <a:bodyPr/>
                    <a:lstStyle/>
                    <a:p>
                      <a:pPr algn="ctr" rtl="0" fontAlgn="b">
                        <a:buNone/>
                      </a:pPr>
                      <a:r>
                        <a:rPr lang="es-CO" sz="1200" u="none" strike="noStrike">
                          <a:solidFill>
                            <a:srgbClr val="000000"/>
                          </a:solidFill>
                          <a:effectLst/>
                          <a:latin typeface="Aptos" panose="020B0004020202020204" pitchFamily="34" charset="0"/>
                        </a:rPr>
                        <a:t>95%</a:t>
                      </a:r>
                      <a:endParaRPr lang="es-CO" sz="1200" b="0" i="0" u="none" strike="noStrike">
                        <a:solidFill>
                          <a:srgbClr val="000000"/>
                        </a:solidFill>
                        <a:effectLst/>
                        <a:latin typeface="Aptos" panose="020B0004020202020204" pitchFamily="34" charset="0"/>
                      </a:endParaRPr>
                    </a:p>
                  </a:txBody>
                  <a:tcPr marL="9525" marR="9525" marT="9525" marB="0" anchor="ctr"/>
                </a:tc>
                <a:tc>
                  <a:txBody>
                    <a:bodyPr/>
                    <a:lstStyle/>
                    <a:p>
                      <a:pPr algn="ctr" rtl="0" fontAlgn="b">
                        <a:buNone/>
                      </a:pPr>
                      <a:r>
                        <a:rPr lang="es-CO" sz="1200" u="none" strike="noStrike">
                          <a:solidFill>
                            <a:srgbClr val="000000"/>
                          </a:solidFill>
                          <a:effectLst/>
                          <a:latin typeface="Aptos" panose="020B0004020202020204" pitchFamily="34" charset="0"/>
                        </a:rPr>
                        <a:t>100%</a:t>
                      </a:r>
                      <a:endParaRPr lang="es-CO" sz="1200" b="0" i="0" u="none" strike="noStrike">
                        <a:solidFill>
                          <a:srgbClr val="000000"/>
                        </a:solidFill>
                        <a:effectLst/>
                        <a:latin typeface="Aptos" panose="020B0004020202020204" pitchFamily="34" charset="0"/>
                      </a:endParaRPr>
                    </a:p>
                  </a:txBody>
                  <a:tcPr marL="9525" marR="9525" marT="9525" marB="0" anchor="ctr"/>
                </a:tc>
                <a:tc>
                  <a:txBody>
                    <a:bodyPr/>
                    <a:lstStyle/>
                    <a:p>
                      <a:pPr algn="ctr" rtl="0" fontAlgn="b">
                        <a:buNone/>
                      </a:pPr>
                      <a:r>
                        <a:rPr lang="es-CO" sz="1200" u="none" strike="noStrike">
                          <a:solidFill>
                            <a:srgbClr val="000000"/>
                          </a:solidFill>
                          <a:effectLst/>
                          <a:latin typeface="Aptos" panose="020B0004020202020204" pitchFamily="34" charset="0"/>
                        </a:rPr>
                        <a:t>100%</a:t>
                      </a:r>
                      <a:endParaRPr lang="es-CO" sz="1200" b="0" i="0" u="none" strike="noStrike">
                        <a:solidFill>
                          <a:srgbClr val="000000"/>
                        </a:solidFill>
                        <a:effectLst/>
                        <a:latin typeface="Aptos" panose="020B0004020202020204" pitchFamily="34" charset="0"/>
                      </a:endParaRPr>
                    </a:p>
                  </a:txBody>
                  <a:tcPr marL="9525" marR="9525" marT="9525" marB="0" anchor="ctr"/>
                </a:tc>
                <a:tc>
                  <a:txBody>
                    <a:bodyPr/>
                    <a:lstStyle/>
                    <a:p>
                      <a:pPr algn="ctr" rtl="0" fontAlgn="b">
                        <a:buNone/>
                      </a:pPr>
                      <a:r>
                        <a:rPr lang="es-ES" sz="1200" b="0" i="0" u="none" strike="noStrike">
                          <a:solidFill>
                            <a:srgbClr val="000000"/>
                          </a:solidFill>
                          <a:effectLst/>
                          <a:latin typeface="Aptos" panose="020B0004020202020204" pitchFamily="34" charset="0"/>
                        </a:rPr>
                        <a:t>100%</a:t>
                      </a:r>
                      <a:endParaRPr lang="es-CO" sz="1200" b="0" i="0" u="none" strike="noStrike">
                        <a:solidFill>
                          <a:srgbClr val="000000"/>
                        </a:solidFill>
                        <a:effectLst/>
                        <a:latin typeface="Aptos" panose="020B0004020202020204" pitchFamily="34" charset="0"/>
                      </a:endParaRPr>
                    </a:p>
                  </a:txBody>
                  <a:tcPr marL="9525" marR="9525" marT="9525" marB="0" anchor="ctr"/>
                </a:tc>
                <a:extLst>
                  <a:ext uri="{0D108BD9-81ED-4DB2-BD59-A6C34878D82A}">
                    <a16:rowId xmlns:a16="http://schemas.microsoft.com/office/drawing/2014/main" val="3085239956"/>
                  </a:ext>
                </a:extLst>
              </a:tr>
              <a:tr h="337215">
                <a:tc>
                  <a:txBody>
                    <a:bodyPr/>
                    <a:lstStyle/>
                    <a:p>
                      <a:pPr algn="ctr" rtl="0" fontAlgn="b">
                        <a:buNone/>
                      </a:pPr>
                      <a:r>
                        <a:rPr lang="es-CO" sz="1200" u="none" strike="noStrike">
                          <a:solidFill>
                            <a:srgbClr val="000000"/>
                          </a:solidFill>
                          <a:effectLst/>
                          <a:latin typeface="Aptos" panose="020B0004020202020204" pitchFamily="34" charset="0"/>
                        </a:rPr>
                        <a:t>CES</a:t>
                      </a:r>
                      <a:endParaRPr lang="es-CO" sz="1200" b="0" i="0" u="none" strike="noStrike">
                        <a:solidFill>
                          <a:srgbClr val="000000"/>
                        </a:solidFill>
                        <a:effectLst/>
                        <a:latin typeface="Aptos" panose="020B0004020202020204" pitchFamily="34" charset="0"/>
                      </a:endParaRPr>
                    </a:p>
                  </a:txBody>
                  <a:tcPr marL="9525" marR="9525" marT="9525" marB="0" anchor="ctr">
                    <a:noFill/>
                  </a:tcPr>
                </a:tc>
                <a:tc>
                  <a:txBody>
                    <a:bodyPr/>
                    <a:lstStyle/>
                    <a:p>
                      <a:pPr algn="ctr" rtl="0" fontAlgn="b">
                        <a:buNone/>
                      </a:pPr>
                      <a:r>
                        <a:rPr lang="es-CO" sz="1200" u="none" strike="noStrike">
                          <a:solidFill>
                            <a:srgbClr val="000000"/>
                          </a:solidFill>
                          <a:effectLst/>
                          <a:latin typeface="Aptos" panose="020B0004020202020204" pitchFamily="34" charset="0"/>
                        </a:rPr>
                        <a:t>97%</a:t>
                      </a:r>
                      <a:endParaRPr lang="es-CO" sz="1200" b="0" i="0" u="none" strike="noStrike">
                        <a:solidFill>
                          <a:srgbClr val="000000"/>
                        </a:solidFill>
                        <a:effectLst/>
                        <a:latin typeface="Aptos" panose="020B0004020202020204" pitchFamily="34" charset="0"/>
                      </a:endParaRPr>
                    </a:p>
                  </a:txBody>
                  <a:tcPr marL="9525" marR="9525" marT="9525" marB="0" anchor="ctr">
                    <a:noFill/>
                  </a:tcPr>
                </a:tc>
                <a:tc>
                  <a:txBody>
                    <a:bodyPr/>
                    <a:lstStyle/>
                    <a:p>
                      <a:pPr algn="ctr" rtl="0" fontAlgn="b">
                        <a:buNone/>
                      </a:pPr>
                      <a:r>
                        <a:rPr lang="es-CO" sz="1200" u="none" strike="noStrike">
                          <a:solidFill>
                            <a:srgbClr val="000000"/>
                          </a:solidFill>
                          <a:effectLst/>
                          <a:latin typeface="Aptos" panose="020B0004020202020204" pitchFamily="34" charset="0"/>
                        </a:rPr>
                        <a:t>96%</a:t>
                      </a:r>
                      <a:endParaRPr lang="es-CO" sz="1200" b="0" i="0" u="none" strike="noStrike">
                        <a:solidFill>
                          <a:srgbClr val="000000"/>
                        </a:solidFill>
                        <a:effectLst/>
                        <a:latin typeface="Aptos" panose="020B0004020202020204" pitchFamily="34" charset="0"/>
                      </a:endParaRPr>
                    </a:p>
                  </a:txBody>
                  <a:tcPr marL="9525" marR="9525" marT="9525" marB="0" anchor="ctr">
                    <a:noFill/>
                  </a:tcPr>
                </a:tc>
                <a:tc>
                  <a:txBody>
                    <a:bodyPr/>
                    <a:lstStyle/>
                    <a:p>
                      <a:pPr algn="ctr" rtl="0" fontAlgn="b">
                        <a:buNone/>
                      </a:pPr>
                      <a:r>
                        <a:rPr lang="es-CO" sz="1200" u="none" strike="noStrike">
                          <a:solidFill>
                            <a:srgbClr val="000000"/>
                          </a:solidFill>
                          <a:effectLst/>
                          <a:latin typeface="Aptos" panose="020B0004020202020204" pitchFamily="34" charset="0"/>
                        </a:rPr>
                        <a:t>90%</a:t>
                      </a:r>
                      <a:endParaRPr lang="es-CO" sz="1200" b="0" i="0" u="none" strike="noStrike">
                        <a:solidFill>
                          <a:srgbClr val="000000"/>
                        </a:solidFill>
                        <a:effectLst/>
                        <a:latin typeface="Aptos" panose="020B0004020202020204" pitchFamily="34" charset="0"/>
                      </a:endParaRPr>
                    </a:p>
                  </a:txBody>
                  <a:tcPr marL="9525" marR="9525" marT="9525" marB="0" anchor="ctr">
                    <a:noFill/>
                  </a:tcPr>
                </a:tc>
                <a:tc>
                  <a:txBody>
                    <a:bodyPr/>
                    <a:lstStyle/>
                    <a:p>
                      <a:pPr algn="ctr" rtl="0" fontAlgn="b">
                        <a:buNone/>
                      </a:pPr>
                      <a:r>
                        <a:rPr lang="es-CO" sz="1200" u="none" strike="noStrike">
                          <a:solidFill>
                            <a:srgbClr val="000000"/>
                          </a:solidFill>
                          <a:effectLst/>
                          <a:latin typeface="Aptos" panose="020B0004020202020204" pitchFamily="34" charset="0"/>
                        </a:rPr>
                        <a:t>93%</a:t>
                      </a:r>
                      <a:endParaRPr lang="es-CO" sz="1200" b="0" i="0" u="none" strike="noStrike">
                        <a:solidFill>
                          <a:srgbClr val="000000"/>
                        </a:solidFill>
                        <a:effectLst/>
                        <a:latin typeface="Aptos" panose="020B0004020202020204" pitchFamily="34" charset="0"/>
                      </a:endParaRPr>
                    </a:p>
                  </a:txBody>
                  <a:tcPr marL="9525" marR="9525" marT="9525" marB="0" anchor="ctr">
                    <a:noFill/>
                  </a:tcPr>
                </a:tc>
                <a:tc>
                  <a:txBody>
                    <a:bodyPr/>
                    <a:lstStyle/>
                    <a:p>
                      <a:pPr algn="ctr" rtl="0" fontAlgn="b">
                        <a:buNone/>
                      </a:pPr>
                      <a:r>
                        <a:rPr lang="es-CO" sz="1200" u="none" strike="noStrike">
                          <a:solidFill>
                            <a:srgbClr val="000000"/>
                          </a:solidFill>
                          <a:effectLst/>
                          <a:latin typeface="Aptos" panose="020B0004020202020204" pitchFamily="34" charset="0"/>
                        </a:rPr>
                        <a:t>99%</a:t>
                      </a:r>
                      <a:endParaRPr lang="es-CO" sz="1200" b="0" i="0" u="none" strike="noStrike">
                        <a:solidFill>
                          <a:srgbClr val="000000"/>
                        </a:solidFill>
                        <a:effectLst/>
                        <a:latin typeface="Aptos" panose="020B0004020202020204" pitchFamily="34" charset="0"/>
                      </a:endParaRPr>
                    </a:p>
                  </a:txBody>
                  <a:tcPr marL="9525" marR="9525" marT="9525" marB="0" anchor="ctr">
                    <a:noFill/>
                  </a:tcPr>
                </a:tc>
                <a:tc>
                  <a:txBody>
                    <a:bodyPr/>
                    <a:lstStyle/>
                    <a:p>
                      <a:pPr algn="ctr" rtl="0" fontAlgn="b">
                        <a:buNone/>
                      </a:pPr>
                      <a:r>
                        <a:rPr lang="es-CO" sz="1200" u="none" strike="noStrike">
                          <a:solidFill>
                            <a:srgbClr val="000000"/>
                          </a:solidFill>
                          <a:effectLst/>
                          <a:latin typeface="Aptos" panose="020B0004020202020204" pitchFamily="34" charset="0"/>
                        </a:rPr>
                        <a:t>100%</a:t>
                      </a:r>
                      <a:endParaRPr lang="es-CO" sz="1200" b="0" i="0" u="none" strike="noStrike">
                        <a:solidFill>
                          <a:srgbClr val="000000"/>
                        </a:solidFill>
                        <a:effectLst/>
                        <a:latin typeface="Aptos" panose="020B0004020202020204" pitchFamily="34" charset="0"/>
                      </a:endParaRPr>
                    </a:p>
                  </a:txBody>
                  <a:tcPr marL="9525" marR="9525" marT="9525" marB="0" anchor="ctr">
                    <a:noFill/>
                  </a:tcPr>
                </a:tc>
                <a:tc>
                  <a:txBody>
                    <a:bodyPr/>
                    <a:lstStyle/>
                    <a:p>
                      <a:pPr algn="ctr" rtl="0" fontAlgn="b">
                        <a:buNone/>
                      </a:pPr>
                      <a:r>
                        <a:rPr lang="es-CO" sz="1200" u="none" strike="noStrike">
                          <a:solidFill>
                            <a:srgbClr val="000000"/>
                          </a:solidFill>
                          <a:effectLst/>
                          <a:latin typeface="Aptos" panose="020B0004020202020204" pitchFamily="34" charset="0"/>
                        </a:rPr>
                        <a:t>100%</a:t>
                      </a:r>
                      <a:endParaRPr lang="es-CO" sz="1200" b="0" i="0" u="none" strike="noStrike">
                        <a:solidFill>
                          <a:srgbClr val="000000"/>
                        </a:solidFill>
                        <a:effectLst/>
                        <a:latin typeface="Aptos" panose="020B0004020202020204" pitchFamily="34" charset="0"/>
                      </a:endParaRPr>
                    </a:p>
                  </a:txBody>
                  <a:tcPr marL="9525" marR="9525" marT="9525" marB="0" anchor="ctr">
                    <a:noFill/>
                  </a:tcPr>
                </a:tc>
                <a:tc>
                  <a:txBody>
                    <a:bodyPr/>
                    <a:lstStyle/>
                    <a:p>
                      <a:pPr algn="ctr" rtl="0" fontAlgn="b">
                        <a:buNone/>
                      </a:pPr>
                      <a:r>
                        <a:rPr lang="es-ES" sz="1200" b="0" i="0" u="none" strike="noStrike">
                          <a:solidFill>
                            <a:srgbClr val="000000"/>
                          </a:solidFill>
                          <a:effectLst/>
                          <a:latin typeface="Aptos" panose="020B0004020202020204" pitchFamily="34" charset="0"/>
                        </a:rPr>
                        <a:t>100%</a:t>
                      </a:r>
                      <a:endParaRPr lang="es-CO" sz="1200" b="0" i="0" u="none" strike="noStrike">
                        <a:solidFill>
                          <a:srgbClr val="000000"/>
                        </a:solidFill>
                        <a:effectLst/>
                        <a:latin typeface="Aptos" panose="020B0004020202020204" pitchFamily="34" charset="0"/>
                      </a:endParaRPr>
                    </a:p>
                  </a:txBody>
                  <a:tcPr marL="9525" marR="9525" marT="9525" marB="0" anchor="ctr">
                    <a:noFill/>
                  </a:tcPr>
                </a:tc>
                <a:extLst>
                  <a:ext uri="{0D108BD9-81ED-4DB2-BD59-A6C34878D82A}">
                    <a16:rowId xmlns:a16="http://schemas.microsoft.com/office/drawing/2014/main" val="3195094512"/>
                  </a:ext>
                </a:extLst>
              </a:tr>
              <a:tr h="337215">
                <a:tc>
                  <a:txBody>
                    <a:bodyPr/>
                    <a:lstStyle/>
                    <a:p>
                      <a:pPr algn="ctr" rtl="0" fontAlgn="b">
                        <a:buNone/>
                      </a:pPr>
                      <a:r>
                        <a:rPr lang="es-CO" sz="1200" u="none" strike="noStrike">
                          <a:solidFill>
                            <a:srgbClr val="000000"/>
                          </a:solidFill>
                          <a:effectLst/>
                          <a:latin typeface="Aptos" panose="020B0004020202020204" pitchFamily="34" charset="0"/>
                        </a:rPr>
                        <a:t>FCR</a:t>
                      </a:r>
                      <a:endParaRPr lang="es-CO" sz="1200" b="0" i="0" u="none" strike="noStrike">
                        <a:solidFill>
                          <a:srgbClr val="000000"/>
                        </a:solidFill>
                        <a:effectLst/>
                        <a:latin typeface="Aptos" panose="020B0004020202020204" pitchFamily="34" charset="0"/>
                      </a:endParaRPr>
                    </a:p>
                  </a:txBody>
                  <a:tcPr marL="9525" marR="9525" marT="9525" marB="0" anchor="ctr"/>
                </a:tc>
                <a:tc>
                  <a:txBody>
                    <a:bodyPr/>
                    <a:lstStyle/>
                    <a:p>
                      <a:pPr algn="ctr" rtl="0" fontAlgn="b">
                        <a:buNone/>
                      </a:pPr>
                      <a:r>
                        <a:rPr lang="es-CO" sz="1200" u="none" strike="noStrike">
                          <a:solidFill>
                            <a:srgbClr val="000000"/>
                          </a:solidFill>
                          <a:effectLst/>
                          <a:latin typeface="Aptos" panose="020B0004020202020204" pitchFamily="34" charset="0"/>
                        </a:rPr>
                        <a:t>97%</a:t>
                      </a:r>
                      <a:endParaRPr lang="es-CO" sz="1200" b="0" i="0" u="none" strike="noStrike">
                        <a:solidFill>
                          <a:srgbClr val="000000"/>
                        </a:solidFill>
                        <a:effectLst/>
                        <a:latin typeface="Aptos" panose="020B0004020202020204" pitchFamily="34" charset="0"/>
                      </a:endParaRPr>
                    </a:p>
                  </a:txBody>
                  <a:tcPr marL="9525" marR="9525" marT="9525" marB="0" anchor="ctr"/>
                </a:tc>
                <a:tc>
                  <a:txBody>
                    <a:bodyPr/>
                    <a:lstStyle/>
                    <a:p>
                      <a:pPr algn="ctr" rtl="0" fontAlgn="b">
                        <a:buNone/>
                      </a:pPr>
                      <a:r>
                        <a:rPr lang="es-CO" sz="1200" u="none" strike="noStrike">
                          <a:solidFill>
                            <a:srgbClr val="000000"/>
                          </a:solidFill>
                          <a:effectLst/>
                          <a:latin typeface="Aptos" panose="020B0004020202020204" pitchFamily="34" charset="0"/>
                        </a:rPr>
                        <a:t>89%</a:t>
                      </a:r>
                      <a:endParaRPr lang="es-CO" sz="1200" b="0" i="0" u="none" strike="noStrike">
                        <a:solidFill>
                          <a:srgbClr val="000000"/>
                        </a:solidFill>
                        <a:effectLst/>
                        <a:latin typeface="Aptos" panose="020B0004020202020204" pitchFamily="34" charset="0"/>
                      </a:endParaRPr>
                    </a:p>
                  </a:txBody>
                  <a:tcPr marL="9525" marR="9525" marT="9525" marB="0" anchor="ctr"/>
                </a:tc>
                <a:tc>
                  <a:txBody>
                    <a:bodyPr/>
                    <a:lstStyle/>
                    <a:p>
                      <a:pPr algn="ctr" rtl="0" fontAlgn="b">
                        <a:buNone/>
                      </a:pPr>
                      <a:r>
                        <a:rPr lang="es-CO" sz="1200" u="none" strike="noStrike">
                          <a:solidFill>
                            <a:srgbClr val="000000"/>
                          </a:solidFill>
                          <a:effectLst/>
                          <a:latin typeface="Aptos" panose="020B0004020202020204" pitchFamily="34" charset="0"/>
                        </a:rPr>
                        <a:t>92%</a:t>
                      </a:r>
                      <a:endParaRPr lang="es-CO" sz="1200" b="0" i="0" u="none" strike="noStrike">
                        <a:solidFill>
                          <a:srgbClr val="000000"/>
                        </a:solidFill>
                        <a:effectLst/>
                        <a:latin typeface="Aptos" panose="020B0004020202020204" pitchFamily="34" charset="0"/>
                      </a:endParaRPr>
                    </a:p>
                  </a:txBody>
                  <a:tcPr marL="9525" marR="9525" marT="9525" marB="0" anchor="ctr"/>
                </a:tc>
                <a:tc>
                  <a:txBody>
                    <a:bodyPr/>
                    <a:lstStyle/>
                    <a:p>
                      <a:pPr algn="ctr" rtl="0" fontAlgn="b">
                        <a:buNone/>
                      </a:pPr>
                      <a:r>
                        <a:rPr lang="es-CO" sz="1200" u="none" strike="noStrike">
                          <a:solidFill>
                            <a:srgbClr val="000000"/>
                          </a:solidFill>
                          <a:effectLst/>
                          <a:latin typeface="Aptos" panose="020B0004020202020204" pitchFamily="34" charset="0"/>
                        </a:rPr>
                        <a:t>91%</a:t>
                      </a:r>
                      <a:endParaRPr lang="es-CO" sz="1200" b="0" i="0" u="none" strike="noStrike">
                        <a:solidFill>
                          <a:srgbClr val="000000"/>
                        </a:solidFill>
                        <a:effectLst/>
                        <a:latin typeface="Aptos" panose="020B0004020202020204" pitchFamily="34" charset="0"/>
                      </a:endParaRPr>
                    </a:p>
                  </a:txBody>
                  <a:tcPr marL="9525" marR="9525" marT="9525" marB="0" anchor="ctr"/>
                </a:tc>
                <a:tc>
                  <a:txBody>
                    <a:bodyPr/>
                    <a:lstStyle/>
                    <a:p>
                      <a:pPr algn="ctr" rtl="0" fontAlgn="b">
                        <a:buNone/>
                      </a:pPr>
                      <a:r>
                        <a:rPr lang="es-CO" sz="1200" u="none" strike="noStrike">
                          <a:solidFill>
                            <a:srgbClr val="000000"/>
                          </a:solidFill>
                          <a:effectLst/>
                          <a:latin typeface="Aptos" panose="020B0004020202020204" pitchFamily="34" charset="0"/>
                        </a:rPr>
                        <a:t>99%</a:t>
                      </a:r>
                      <a:endParaRPr lang="es-CO" sz="1200" b="0" i="0" u="none" strike="noStrike">
                        <a:solidFill>
                          <a:srgbClr val="000000"/>
                        </a:solidFill>
                        <a:effectLst/>
                        <a:latin typeface="Aptos" panose="020B0004020202020204" pitchFamily="34" charset="0"/>
                      </a:endParaRPr>
                    </a:p>
                  </a:txBody>
                  <a:tcPr marL="9525" marR="9525" marT="9525" marB="0" anchor="ctr"/>
                </a:tc>
                <a:tc>
                  <a:txBody>
                    <a:bodyPr/>
                    <a:lstStyle/>
                    <a:p>
                      <a:pPr algn="ctr" rtl="0" fontAlgn="b">
                        <a:buNone/>
                      </a:pPr>
                      <a:r>
                        <a:rPr lang="es-CO" sz="1200" u="none" strike="noStrike">
                          <a:solidFill>
                            <a:srgbClr val="000000"/>
                          </a:solidFill>
                          <a:effectLst/>
                          <a:latin typeface="Aptos" panose="020B0004020202020204" pitchFamily="34" charset="0"/>
                        </a:rPr>
                        <a:t>100%</a:t>
                      </a:r>
                      <a:endParaRPr lang="es-CO" sz="1200" b="0" i="0" u="none" strike="noStrike">
                        <a:solidFill>
                          <a:srgbClr val="000000"/>
                        </a:solidFill>
                        <a:effectLst/>
                        <a:latin typeface="Aptos" panose="020B0004020202020204" pitchFamily="34" charset="0"/>
                      </a:endParaRPr>
                    </a:p>
                  </a:txBody>
                  <a:tcPr marL="9525" marR="9525" marT="9525" marB="0" anchor="ctr"/>
                </a:tc>
                <a:tc>
                  <a:txBody>
                    <a:bodyPr/>
                    <a:lstStyle/>
                    <a:p>
                      <a:pPr algn="ctr" rtl="0" fontAlgn="b">
                        <a:buNone/>
                      </a:pPr>
                      <a:r>
                        <a:rPr lang="es-CO" sz="1200" u="none" strike="noStrike">
                          <a:solidFill>
                            <a:srgbClr val="000000"/>
                          </a:solidFill>
                          <a:effectLst/>
                          <a:latin typeface="Aptos" panose="020B0004020202020204" pitchFamily="34" charset="0"/>
                        </a:rPr>
                        <a:t>100%</a:t>
                      </a:r>
                      <a:endParaRPr lang="es-CO" sz="1200" b="0" i="0" u="none" strike="noStrike">
                        <a:solidFill>
                          <a:srgbClr val="000000"/>
                        </a:solidFill>
                        <a:effectLst/>
                        <a:latin typeface="Aptos" panose="020B0004020202020204" pitchFamily="34" charset="0"/>
                      </a:endParaRPr>
                    </a:p>
                  </a:txBody>
                  <a:tcPr marL="9525" marR="9525" marT="9525" marB="0" anchor="ctr"/>
                </a:tc>
                <a:tc>
                  <a:txBody>
                    <a:bodyPr/>
                    <a:lstStyle/>
                    <a:p>
                      <a:pPr algn="ctr" rtl="0" fontAlgn="b">
                        <a:buNone/>
                      </a:pPr>
                      <a:r>
                        <a:rPr lang="es-ES" sz="1200" b="0" i="0" u="none" strike="noStrike">
                          <a:solidFill>
                            <a:srgbClr val="000000"/>
                          </a:solidFill>
                          <a:effectLst/>
                          <a:latin typeface="Aptos" panose="020B0004020202020204" pitchFamily="34" charset="0"/>
                        </a:rPr>
                        <a:t>100%</a:t>
                      </a:r>
                      <a:endParaRPr lang="es-CO" sz="1200" b="0" i="0" u="none" strike="noStrike">
                        <a:solidFill>
                          <a:srgbClr val="000000"/>
                        </a:solidFill>
                        <a:effectLst/>
                        <a:latin typeface="Aptos" panose="020B0004020202020204" pitchFamily="34" charset="0"/>
                      </a:endParaRPr>
                    </a:p>
                  </a:txBody>
                  <a:tcPr marL="9525" marR="9525" marT="9525" marB="0" anchor="ctr"/>
                </a:tc>
                <a:extLst>
                  <a:ext uri="{0D108BD9-81ED-4DB2-BD59-A6C34878D82A}">
                    <a16:rowId xmlns:a16="http://schemas.microsoft.com/office/drawing/2014/main" val="301227678"/>
                  </a:ext>
                </a:extLst>
              </a:tr>
              <a:tr h="337215">
                <a:tc>
                  <a:txBody>
                    <a:bodyPr/>
                    <a:lstStyle/>
                    <a:p>
                      <a:pPr algn="ctr" rtl="0" fontAlgn="b">
                        <a:buNone/>
                      </a:pPr>
                      <a:r>
                        <a:rPr lang="es-CO" sz="1200" u="none" strike="noStrike">
                          <a:solidFill>
                            <a:srgbClr val="000000"/>
                          </a:solidFill>
                          <a:effectLst/>
                          <a:latin typeface="Aptos" panose="020B0004020202020204" pitchFamily="34" charset="0"/>
                        </a:rPr>
                        <a:t>Satisfacción</a:t>
                      </a:r>
                      <a:endParaRPr lang="es-CO" sz="1200" b="0" i="0" u="none" strike="noStrike">
                        <a:solidFill>
                          <a:srgbClr val="000000"/>
                        </a:solidFill>
                        <a:effectLst/>
                        <a:latin typeface="Aptos" panose="020B0004020202020204" pitchFamily="34" charset="0"/>
                      </a:endParaRPr>
                    </a:p>
                  </a:txBody>
                  <a:tcPr marL="9525" marR="9525" marT="9525" marB="0" anchor="ctr">
                    <a:noFill/>
                  </a:tcPr>
                </a:tc>
                <a:tc>
                  <a:txBody>
                    <a:bodyPr/>
                    <a:lstStyle/>
                    <a:p>
                      <a:pPr algn="ctr" rtl="0" fontAlgn="b">
                        <a:buNone/>
                      </a:pPr>
                      <a:r>
                        <a:rPr lang="es-CO" sz="1200" u="none" strike="noStrike">
                          <a:solidFill>
                            <a:srgbClr val="000000"/>
                          </a:solidFill>
                          <a:effectLst/>
                          <a:latin typeface="Aptos" panose="020B0004020202020204" pitchFamily="34" charset="0"/>
                        </a:rPr>
                        <a:t>4,9</a:t>
                      </a:r>
                      <a:endParaRPr lang="es-CO" sz="1200" b="0" i="0" u="none" strike="noStrike">
                        <a:solidFill>
                          <a:srgbClr val="000000"/>
                        </a:solidFill>
                        <a:effectLst/>
                        <a:latin typeface="Aptos" panose="020B0004020202020204" pitchFamily="34" charset="0"/>
                      </a:endParaRPr>
                    </a:p>
                  </a:txBody>
                  <a:tcPr marL="9525" marR="9525" marT="9525" marB="0" anchor="ctr">
                    <a:noFill/>
                  </a:tcPr>
                </a:tc>
                <a:tc>
                  <a:txBody>
                    <a:bodyPr/>
                    <a:lstStyle/>
                    <a:p>
                      <a:pPr algn="ctr" rtl="0" fontAlgn="b">
                        <a:buNone/>
                      </a:pPr>
                      <a:r>
                        <a:rPr lang="es-CO" sz="1200" u="none" strike="noStrike">
                          <a:solidFill>
                            <a:srgbClr val="000000"/>
                          </a:solidFill>
                          <a:effectLst/>
                          <a:latin typeface="Aptos" panose="020B0004020202020204" pitchFamily="34" charset="0"/>
                        </a:rPr>
                        <a:t>5,0</a:t>
                      </a:r>
                      <a:endParaRPr lang="es-CO" sz="1200" b="0" i="0" u="none" strike="noStrike">
                        <a:solidFill>
                          <a:srgbClr val="000000"/>
                        </a:solidFill>
                        <a:effectLst/>
                        <a:latin typeface="Aptos" panose="020B0004020202020204" pitchFamily="34" charset="0"/>
                      </a:endParaRPr>
                    </a:p>
                  </a:txBody>
                  <a:tcPr marL="9525" marR="9525" marT="9525" marB="0" anchor="ctr">
                    <a:noFill/>
                  </a:tcPr>
                </a:tc>
                <a:tc>
                  <a:txBody>
                    <a:bodyPr/>
                    <a:lstStyle/>
                    <a:p>
                      <a:pPr algn="ctr" rtl="0" fontAlgn="b">
                        <a:buNone/>
                      </a:pPr>
                      <a:r>
                        <a:rPr lang="es-CO" sz="1200" u="none" strike="noStrike">
                          <a:solidFill>
                            <a:srgbClr val="000000"/>
                          </a:solidFill>
                          <a:effectLst/>
                          <a:latin typeface="Aptos" panose="020B0004020202020204" pitchFamily="34" charset="0"/>
                        </a:rPr>
                        <a:t>4,7</a:t>
                      </a:r>
                      <a:endParaRPr lang="es-CO" sz="1200" b="0" i="0" u="none" strike="noStrike">
                        <a:solidFill>
                          <a:srgbClr val="000000"/>
                        </a:solidFill>
                        <a:effectLst/>
                        <a:latin typeface="Aptos" panose="020B0004020202020204" pitchFamily="34" charset="0"/>
                      </a:endParaRPr>
                    </a:p>
                  </a:txBody>
                  <a:tcPr marL="9525" marR="9525" marT="9525" marB="0" anchor="ctr">
                    <a:noFill/>
                  </a:tcPr>
                </a:tc>
                <a:tc>
                  <a:txBody>
                    <a:bodyPr/>
                    <a:lstStyle/>
                    <a:p>
                      <a:pPr algn="ctr" rtl="0" fontAlgn="b">
                        <a:buNone/>
                      </a:pPr>
                      <a:r>
                        <a:rPr lang="es-CO" sz="1200" u="none" strike="noStrike">
                          <a:solidFill>
                            <a:srgbClr val="000000"/>
                          </a:solidFill>
                          <a:effectLst/>
                          <a:latin typeface="Aptos" panose="020B0004020202020204" pitchFamily="34" charset="0"/>
                        </a:rPr>
                        <a:t>4,8</a:t>
                      </a:r>
                      <a:endParaRPr lang="es-CO" sz="1200" b="0" i="0" u="none" strike="noStrike">
                        <a:solidFill>
                          <a:srgbClr val="000000"/>
                        </a:solidFill>
                        <a:effectLst/>
                        <a:latin typeface="Aptos" panose="020B0004020202020204" pitchFamily="34" charset="0"/>
                      </a:endParaRPr>
                    </a:p>
                  </a:txBody>
                  <a:tcPr marL="9525" marR="9525" marT="9525" marB="0" anchor="ctr">
                    <a:noFill/>
                  </a:tcPr>
                </a:tc>
                <a:tc>
                  <a:txBody>
                    <a:bodyPr/>
                    <a:lstStyle/>
                    <a:p>
                      <a:pPr algn="ctr" rtl="0" fontAlgn="b">
                        <a:buNone/>
                      </a:pPr>
                      <a:r>
                        <a:rPr lang="es-CO" sz="1200" u="none" strike="noStrike">
                          <a:solidFill>
                            <a:srgbClr val="000000"/>
                          </a:solidFill>
                          <a:effectLst/>
                          <a:latin typeface="Aptos" panose="020B0004020202020204" pitchFamily="34" charset="0"/>
                        </a:rPr>
                        <a:t>4,9</a:t>
                      </a:r>
                      <a:endParaRPr lang="es-CO" sz="1200" b="0" i="0" u="none" strike="noStrike">
                        <a:solidFill>
                          <a:srgbClr val="000000"/>
                        </a:solidFill>
                        <a:effectLst/>
                        <a:latin typeface="Aptos" panose="020B0004020202020204" pitchFamily="34" charset="0"/>
                      </a:endParaRPr>
                    </a:p>
                  </a:txBody>
                  <a:tcPr marL="9525" marR="9525" marT="9525" marB="0" anchor="ctr">
                    <a:noFill/>
                  </a:tcPr>
                </a:tc>
                <a:tc>
                  <a:txBody>
                    <a:bodyPr/>
                    <a:lstStyle/>
                    <a:p>
                      <a:pPr algn="ctr" rtl="0" fontAlgn="b">
                        <a:buNone/>
                      </a:pPr>
                      <a:r>
                        <a:rPr lang="es-CO" sz="1200" u="none" strike="noStrike">
                          <a:solidFill>
                            <a:srgbClr val="000000"/>
                          </a:solidFill>
                          <a:effectLst/>
                          <a:latin typeface="Aptos" panose="020B0004020202020204" pitchFamily="34" charset="0"/>
                        </a:rPr>
                        <a:t>5,0</a:t>
                      </a:r>
                      <a:endParaRPr lang="es-CO" sz="1200" b="0" i="0" u="none" strike="noStrike">
                        <a:solidFill>
                          <a:srgbClr val="000000"/>
                        </a:solidFill>
                        <a:effectLst/>
                        <a:latin typeface="Aptos" panose="020B0004020202020204" pitchFamily="34" charset="0"/>
                      </a:endParaRPr>
                    </a:p>
                  </a:txBody>
                  <a:tcPr marL="9525" marR="9525" marT="9525" marB="0" anchor="ctr">
                    <a:noFill/>
                  </a:tcPr>
                </a:tc>
                <a:tc>
                  <a:txBody>
                    <a:bodyPr/>
                    <a:lstStyle/>
                    <a:p>
                      <a:pPr algn="ctr" rtl="0" fontAlgn="b">
                        <a:buNone/>
                      </a:pPr>
                      <a:r>
                        <a:rPr lang="es-CO" sz="1200" u="none" strike="noStrike">
                          <a:solidFill>
                            <a:srgbClr val="000000"/>
                          </a:solidFill>
                          <a:effectLst/>
                          <a:latin typeface="Aptos" panose="020B0004020202020204" pitchFamily="34" charset="0"/>
                        </a:rPr>
                        <a:t>5,0</a:t>
                      </a:r>
                      <a:endParaRPr lang="es-CO" sz="1200" b="0" i="0" u="none" strike="noStrike">
                        <a:solidFill>
                          <a:srgbClr val="000000"/>
                        </a:solidFill>
                        <a:effectLst/>
                        <a:latin typeface="Aptos" panose="020B0004020202020204" pitchFamily="34" charset="0"/>
                      </a:endParaRPr>
                    </a:p>
                  </a:txBody>
                  <a:tcPr marL="9525" marR="9525" marT="9525" marB="0" anchor="ctr">
                    <a:noFill/>
                  </a:tcPr>
                </a:tc>
                <a:tc>
                  <a:txBody>
                    <a:bodyPr/>
                    <a:lstStyle/>
                    <a:p>
                      <a:pPr algn="ctr" rtl="0" fontAlgn="b">
                        <a:buNone/>
                      </a:pPr>
                      <a:r>
                        <a:rPr lang="es-ES" sz="1200" b="0" i="0" u="none" strike="noStrike">
                          <a:solidFill>
                            <a:srgbClr val="000000"/>
                          </a:solidFill>
                          <a:effectLst/>
                          <a:latin typeface="Aptos" panose="020B0004020202020204" pitchFamily="34" charset="0"/>
                        </a:rPr>
                        <a:t>5,0</a:t>
                      </a:r>
                      <a:endParaRPr lang="es-CO" sz="1200" b="0" i="0" u="none" strike="noStrike">
                        <a:solidFill>
                          <a:srgbClr val="000000"/>
                        </a:solidFill>
                        <a:effectLst/>
                        <a:latin typeface="Aptos" panose="020B0004020202020204" pitchFamily="34" charset="0"/>
                      </a:endParaRPr>
                    </a:p>
                  </a:txBody>
                  <a:tcPr marL="9525" marR="9525" marT="9525" marB="0" anchor="ctr">
                    <a:noFill/>
                  </a:tcPr>
                </a:tc>
                <a:extLst>
                  <a:ext uri="{0D108BD9-81ED-4DB2-BD59-A6C34878D82A}">
                    <a16:rowId xmlns:a16="http://schemas.microsoft.com/office/drawing/2014/main" val="1559101740"/>
                  </a:ext>
                </a:extLst>
              </a:tr>
            </a:tbl>
          </a:graphicData>
        </a:graphic>
      </p:graphicFrame>
      <p:sp>
        <p:nvSpPr>
          <p:cNvPr id="5" name="CuadroTexto 4">
            <a:extLst>
              <a:ext uri="{FF2B5EF4-FFF2-40B4-BE49-F238E27FC236}">
                <a16:creationId xmlns:a16="http://schemas.microsoft.com/office/drawing/2014/main" id="{8A261CE6-18B5-0CE0-44CE-41D18EF9F1E1}"/>
              </a:ext>
            </a:extLst>
          </p:cNvPr>
          <p:cNvSpPr txBox="1"/>
          <p:nvPr/>
        </p:nvSpPr>
        <p:spPr>
          <a:xfrm>
            <a:off x="8290561" y="6368981"/>
            <a:ext cx="2286000" cy="276999"/>
          </a:xfrm>
          <a:prstGeom prst="rect">
            <a:avLst/>
          </a:prstGeom>
          <a:noFill/>
        </p:spPr>
        <p:txBody>
          <a:bodyPr wrap="square">
            <a:spAutoFit/>
          </a:bodyPr>
          <a:lstStyle/>
          <a:p>
            <a:r>
              <a:rPr lang="es-CO" sz="1200" b="1" i="1">
                <a:solidFill>
                  <a:schemeClr val="bg1">
                    <a:lumMod val="50000"/>
                  </a:schemeClr>
                </a:solidFill>
              </a:rPr>
              <a:t>Fuente: QSE Inoos agosto 2026</a:t>
            </a:r>
          </a:p>
        </p:txBody>
      </p:sp>
      <p:pic>
        <p:nvPicPr>
          <p:cNvPr id="10" name="Imagen 9">
            <a:extLst>
              <a:ext uri="{FF2B5EF4-FFF2-40B4-BE49-F238E27FC236}">
                <a16:creationId xmlns:a16="http://schemas.microsoft.com/office/drawing/2014/main" id="{C4F2A9AF-5978-FF3D-1E95-F5B239A2A3BA}"/>
              </a:ext>
            </a:extLst>
          </p:cNvPr>
          <p:cNvPicPr>
            <a:picLocks noChangeAspect="1"/>
          </p:cNvPicPr>
          <p:nvPr/>
        </p:nvPicPr>
        <p:blipFill>
          <a:blip r:embed="rId3"/>
          <a:stretch>
            <a:fillRect/>
          </a:stretch>
        </p:blipFill>
        <p:spPr>
          <a:xfrm>
            <a:off x="6325849" y="956082"/>
            <a:ext cx="4678239" cy="3118826"/>
          </a:xfrm>
          <a:prstGeom prst="rect">
            <a:avLst/>
          </a:prstGeom>
        </p:spPr>
      </p:pic>
      <p:sp>
        <p:nvSpPr>
          <p:cNvPr id="7" name="CuadroTexto 4">
            <a:extLst>
              <a:ext uri="{FF2B5EF4-FFF2-40B4-BE49-F238E27FC236}">
                <a16:creationId xmlns:a16="http://schemas.microsoft.com/office/drawing/2014/main" id="{25311368-0517-C016-07DA-FCE18ED50343}"/>
              </a:ext>
            </a:extLst>
          </p:cNvPr>
          <p:cNvSpPr txBox="1"/>
          <p:nvPr/>
        </p:nvSpPr>
        <p:spPr>
          <a:xfrm>
            <a:off x="3453842" y="6368981"/>
            <a:ext cx="3638394" cy="276999"/>
          </a:xfrm>
          <a:prstGeom prst="rect">
            <a:avLst/>
          </a:prstGeom>
          <a:noFill/>
        </p:spPr>
        <p:txBody>
          <a:bodyPr wrap="square">
            <a:spAutoFit/>
          </a:bodyPr>
          <a:ls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CO" sz="1200" b="1" i="1" noProof="0">
                <a:solidFill>
                  <a:schemeClr val="tx2"/>
                </a:solidFill>
              </a:rPr>
              <a:t>Fuente: </a:t>
            </a:r>
            <a:r>
              <a:rPr lang="es-CO" sz="1200" i="1" noProof="0">
                <a:solidFill>
                  <a:schemeClr val="tx2"/>
                </a:solidFill>
              </a:rPr>
              <a:t>SAU INOOS </a:t>
            </a:r>
            <a:r>
              <a:rPr lang="es-CO" sz="1200" i="1">
                <a:solidFill>
                  <a:schemeClr val="tx2"/>
                </a:solidFill>
              </a:rPr>
              <a:t>Agosto </a:t>
            </a:r>
            <a:r>
              <a:rPr lang="es-CO" sz="1200" i="1" noProof="0">
                <a:solidFill>
                  <a:schemeClr val="tx2"/>
                </a:solidFill>
              </a:rPr>
              <a:t>2026</a:t>
            </a:r>
          </a:p>
        </p:txBody>
      </p:sp>
    </p:spTree>
    <p:extLst>
      <p:ext uri="{BB962C8B-B14F-4D97-AF65-F5344CB8AC3E}">
        <p14:creationId xmlns:p14="http://schemas.microsoft.com/office/powerpoint/2010/main" val="271506070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36AD2-A7AF-30BC-FED7-F4DA571BD29D}"/>
            </a:ext>
          </a:extLst>
        </p:cNvPr>
        <p:cNvGrpSpPr/>
        <p:nvPr/>
      </p:nvGrpSpPr>
      <p:grpSpPr>
        <a:xfrm>
          <a:off x="0" y="0"/>
          <a:ext cx="0" cy="0"/>
          <a:chOff x="0" y="0"/>
          <a:chExt cx="0" cy="0"/>
        </a:xfrm>
      </p:grpSpPr>
      <p:sp>
        <p:nvSpPr>
          <p:cNvPr id="6" name="Título 1">
            <a:extLst>
              <a:ext uri="{FF2B5EF4-FFF2-40B4-BE49-F238E27FC236}">
                <a16:creationId xmlns:a16="http://schemas.microsoft.com/office/drawing/2014/main" id="{F7C8EE2F-B529-65F8-9804-2B98C2A98471}"/>
              </a:ext>
            </a:extLst>
          </p:cNvPr>
          <p:cNvSpPr txBox="1">
            <a:spLocks/>
          </p:cNvSpPr>
          <p:nvPr/>
        </p:nvSpPr>
        <p:spPr>
          <a:xfrm>
            <a:off x="1068049" y="5340"/>
            <a:ext cx="10515600" cy="81207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400" b="1" kern="1200">
                <a:solidFill>
                  <a:srgbClr val="00A19C"/>
                </a:solidFill>
                <a:latin typeface="+mj-lt"/>
                <a:ea typeface="+mj-ea"/>
                <a:cs typeface="+mj-cs"/>
              </a:defRPr>
            </a:lvl1pPr>
          </a:lstStyle>
          <a:p>
            <a:r>
              <a:rPr lang="es-CO">
                <a:solidFill>
                  <a:schemeClr val="tx1"/>
                </a:solidFill>
                <a:latin typeface="Century Gothic"/>
              </a:rPr>
              <a:t>QSE por regional</a:t>
            </a:r>
            <a:endParaRPr lang="es-ES"/>
          </a:p>
        </p:txBody>
      </p:sp>
      <p:sp>
        <p:nvSpPr>
          <p:cNvPr id="2" name="CuadroTexto 20">
            <a:extLst>
              <a:ext uri="{FF2B5EF4-FFF2-40B4-BE49-F238E27FC236}">
                <a16:creationId xmlns:a16="http://schemas.microsoft.com/office/drawing/2014/main" id="{7948C49B-875F-0CB3-5F3E-544765968ED5}"/>
              </a:ext>
            </a:extLst>
          </p:cNvPr>
          <p:cNvSpPr txBox="1"/>
          <p:nvPr/>
        </p:nvSpPr>
        <p:spPr>
          <a:xfrm>
            <a:off x="436882" y="1413063"/>
            <a:ext cx="4958078" cy="3785652"/>
          </a:xfrm>
          <a:prstGeom prst="rect">
            <a:avLst/>
          </a:prstGeom>
          <a:noFill/>
        </p:spPr>
        <p:txBody>
          <a:bodyPr wrap="square" lIns="91440" tIns="45720" rIns="91440" bIns="45720" anchor="t">
            <a:spAutoFit/>
          </a:bodyPr>
          <a:lstStyle>
            <a:defPPr>
              <a:defRPr lang="es-CO"/>
            </a:defPPr>
            <a:lvl1pPr marL="0" algn="just" defTabSz="914400" rtl="0" eaLnBrk="1" latinLnBrk="0" hangingPunct="1">
              <a:defRPr sz="1600" kern="1200">
                <a:solidFill>
                  <a:schemeClr val="tx1">
                    <a:lumMod val="50000"/>
                  </a:schemeClr>
                </a:solidFill>
                <a:latin typeface="Aptos" panose="020B00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a:t>La regional Valle en agosto alcanza por primera vez en el año el 100 % simultáneamente en NPS, CES y FCR, acompañado de una satisfacción de 5,0 sobre 5,0.</a:t>
            </a:r>
            <a:endParaRPr lang="es-CO"/>
          </a:p>
          <a:p>
            <a:endParaRPr lang="es-CO"/>
          </a:p>
          <a:p>
            <a:r>
              <a:rPr lang="es-CO"/>
              <a:t>Se evidencia solo un detractor, el cual genera la calificación basada en la experiencia de atención de la Clínica Nuestra. </a:t>
            </a:r>
          </a:p>
          <a:p>
            <a:endParaRPr lang="es-CO"/>
          </a:p>
          <a:p>
            <a:r>
              <a:rPr lang="es-ES"/>
              <a:t>De las 91  observaciones registradas en las encuestas, 90 corresponden a comentarios favorables, mediante expresiones como “Felicitaciones al equipo”, “Muy buen servicio, muy amables”, “excelente atención”. Esto permite identificar que los usuarios destacan principalmente el trato durante la atención.</a:t>
            </a:r>
            <a:endParaRPr lang="es-CO"/>
          </a:p>
          <a:p>
            <a:endParaRPr lang="es-CO"/>
          </a:p>
        </p:txBody>
      </p:sp>
      <p:graphicFrame>
        <p:nvGraphicFramePr>
          <p:cNvPr id="4" name="Tabla 3">
            <a:extLst>
              <a:ext uri="{FF2B5EF4-FFF2-40B4-BE49-F238E27FC236}">
                <a16:creationId xmlns:a16="http://schemas.microsoft.com/office/drawing/2014/main" id="{C93C568A-FC1F-8091-DFF1-67B844530F18}"/>
              </a:ext>
            </a:extLst>
          </p:cNvPr>
          <p:cNvGraphicFramePr>
            <a:graphicFrameLocks noGrp="1"/>
          </p:cNvGraphicFramePr>
          <p:nvPr/>
        </p:nvGraphicFramePr>
        <p:xfrm>
          <a:off x="5929612" y="4409009"/>
          <a:ext cx="5439430" cy="1686075"/>
        </p:xfrm>
        <a:graphic>
          <a:graphicData uri="http://schemas.openxmlformats.org/drawingml/2006/table">
            <a:tbl>
              <a:tblPr>
                <a:tableStyleId>{5C22544A-7EE6-4342-B048-85BDC9FD1C3A}</a:tableStyleId>
              </a:tblPr>
              <a:tblGrid>
                <a:gridCol w="1027065">
                  <a:extLst>
                    <a:ext uri="{9D8B030D-6E8A-4147-A177-3AD203B41FA5}">
                      <a16:colId xmlns:a16="http://schemas.microsoft.com/office/drawing/2014/main" val="2564110044"/>
                    </a:ext>
                  </a:extLst>
                </a:gridCol>
                <a:gridCol w="513532">
                  <a:extLst>
                    <a:ext uri="{9D8B030D-6E8A-4147-A177-3AD203B41FA5}">
                      <a16:colId xmlns:a16="http://schemas.microsoft.com/office/drawing/2014/main" val="558055161"/>
                    </a:ext>
                  </a:extLst>
                </a:gridCol>
                <a:gridCol w="513532">
                  <a:extLst>
                    <a:ext uri="{9D8B030D-6E8A-4147-A177-3AD203B41FA5}">
                      <a16:colId xmlns:a16="http://schemas.microsoft.com/office/drawing/2014/main" val="2965522434"/>
                    </a:ext>
                  </a:extLst>
                </a:gridCol>
                <a:gridCol w="513532">
                  <a:extLst>
                    <a:ext uri="{9D8B030D-6E8A-4147-A177-3AD203B41FA5}">
                      <a16:colId xmlns:a16="http://schemas.microsoft.com/office/drawing/2014/main" val="3388780849"/>
                    </a:ext>
                  </a:extLst>
                </a:gridCol>
                <a:gridCol w="513532">
                  <a:extLst>
                    <a:ext uri="{9D8B030D-6E8A-4147-A177-3AD203B41FA5}">
                      <a16:colId xmlns:a16="http://schemas.microsoft.com/office/drawing/2014/main" val="3450312174"/>
                    </a:ext>
                  </a:extLst>
                </a:gridCol>
                <a:gridCol w="513532">
                  <a:extLst>
                    <a:ext uri="{9D8B030D-6E8A-4147-A177-3AD203B41FA5}">
                      <a16:colId xmlns:a16="http://schemas.microsoft.com/office/drawing/2014/main" val="2208932647"/>
                    </a:ext>
                  </a:extLst>
                </a:gridCol>
                <a:gridCol w="555097">
                  <a:extLst>
                    <a:ext uri="{9D8B030D-6E8A-4147-A177-3AD203B41FA5}">
                      <a16:colId xmlns:a16="http://schemas.microsoft.com/office/drawing/2014/main" val="805728011"/>
                    </a:ext>
                  </a:extLst>
                </a:gridCol>
                <a:gridCol w="644804">
                  <a:extLst>
                    <a:ext uri="{9D8B030D-6E8A-4147-A177-3AD203B41FA5}">
                      <a16:colId xmlns:a16="http://schemas.microsoft.com/office/drawing/2014/main" val="2087276966"/>
                    </a:ext>
                  </a:extLst>
                </a:gridCol>
                <a:gridCol w="644804">
                  <a:extLst>
                    <a:ext uri="{9D8B030D-6E8A-4147-A177-3AD203B41FA5}">
                      <a16:colId xmlns:a16="http://schemas.microsoft.com/office/drawing/2014/main" val="2472214195"/>
                    </a:ext>
                  </a:extLst>
                </a:gridCol>
              </a:tblGrid>
              <a:tr h="337215">
                <a:tc>
                  <a:txBody>
                    <a:bodyPr/>
                    <a:lstStyle/>
                    <a:p>
                      <a:pPr algn="ctr" rtl="0" fontAlgn="b">
                        <a:buNone/>
                      </a:pPr>
                      <a:r>
                        <a:rPr lang="es-CO" sz="1200" u="none" strike="noStrike">
                          <a:solidFill>
                            <a:schemeClr val="bg1"/>
                          </a:solidFill>
                          <a:effectLst/>
                          <a:latin typeface="Aptos" panose="020B0004020202020204" pitchFamily="34" charset="0"/>
                        </a:rPr>
                        <a:t>Indicador</a:t>
                      </a:r>
                      <a:endParaRPr lang="es-CO" sz="1200" b="0" i="0" u="none" strike="noStrike">
                        <a:solidFill>
                          <a:schemeClr val="bg1"/>
                        </a:solidFill>
                        <a:effectLst/>
                        <a:latin typeface="Aptos" panose="020B0004020202020204" pitchFamily="34" charset="0"/>
                      </a:endParaRPr>
                    </a:p>
                  </a:txBody>
                  <a:tcPr marL="9525" marR="9525" marT="9525" marB="0" anchor="ctr">
                    <a:solidFill>
                      <a:srgbClr val="7030A0"/>
                    </a:solidFill>
                  </a:tcPr>
                </a:tc>
                <a:tc>
                  <a:txBody>
                    <a:bodyPr/>
                    <a:lstStyle/>
                    <a:p>
                      <a:pPr algn="ctr" rtl="0" fontAlgn="b">
                        <a:buNone/>
                      </a:pPr>
                      <a:r>
                        <a:rPr lang="es-CO" sz="1200" u="none" strike="noStrike">
                          <a:solidFill>
                            <a:schemeClr val="bg1"/>
                          </a:solidFill>
                          <a:effectLst/>
                          <a:latin typeface="Aptos" panose="020B0004020202020204" pitchFamily="34" charset="0"/>
                        </a:rPr>
                        <a:t>Ene</a:t>
                      </a:r>
                      <a:endParaRPr lang="es-CO" sz="1200" b="0" i="0" u="none" strike="noStrike">
                        <a:solidFill>
                          <a:schemeClr val="bg1"/>
                        </a:solidFill>
                        <a:effectLst/>
                        <a:latin typeface="Aptos" panose="020B0004020202020204" pitchFamily="34" charset="0"/>
                      </a:endParaRPr>
                    </a:p>
                  </a:txBody>
                  <a:tcPr marL="9525" marR="9525" marT="9525" marB="0" anchor="ctr">
                    <a:solidFill>
                      <a:srgbClr val="7030A0"/>
                    </a:solidFill>
                  </a:tcPr>
                </a:tc>
                <a:tc>
                  <a:txBody>
                    <a:bodyPr/>
                    <a:lstStyle/>
                    <a:p>
                      <a:pPr algn="ctr" rtl="0" fontAlgn="b">
                        <a:buNone/>
                      </a:pPr>
                      <a:r>
                        <a:rPr lang="es-CO" sz="1200" u="none" strike="noStrike">
                          <a:solidFill>
                            <a:schemeClr val="bg1"/>
                          </a:solidFill>
                          <a:effectLst/>
                          <a:latin typeface="Aptos" panose="020B0004020202020204" pitchFamily="34" charset="0"/>
                        </a:rPr>
                        <a:t>Feb</a:t>
                      </a:r>
                      <a:endParaRPr lang="es-CO" sz="1200" b="0" i="0" u="none" strike="noStrike">
                        <a:solidFill>
                          <a:schemeClr val="bg1"/>
                        </a:solidFill>
                        <a:effectLst/>
                        <a:latin typeface="Aptos" panose="020B0004020202020204" pitchFamily="34" charset="0"/>
                      </a:endParaRPr>
                    </a:p>
                  </a:txBody>
                  <a:tcPr marL="9525" marR="9525" marT="9525" marB="0" anchor="ctr">
                    <a:solidFill>
                      <a:srgbClr val="7030A0"/>
                    </a:solidFill>
                  </a:tcPr>
                </a:tc>
                <a:tc>
                  <a:txBody>
                    <a:bodyPr/>
                    <a:lstStyle/>
                    <a:p>
                      <a:pPr algn="ctr" rtl="0" fontAlgn="b">
                        <a:buNone/>
                      </a:pPr>
                      <a:r>
                        <a:rPr lang="es-CO" sz="1200" u="none" strike="noStrike">
                          <a:solidFill>
                            <a:schemeClr val="bg1"/>
                          </a:solidFill>
                          <a:effectLst/>
                          <a:latin typeface="Aptos" panose="020B0004020202020204" pitchFamily="34" charset="0"/>
                        </a:rPr>
                        <a:t>Mar</a:t>
                      </a:r>
                      <a:endParaRPr lang="es-CO" sz="1200" b="0" i="0" u="none" strike="noStrike">
                        <a:solidFill>
                          <a:schemeClr val="bg1"/>
                        </a:solidFill>
                        <a:effectLst/>
                        <a:latin typeface="Aptos" panose="020B0004020202020204" pitchFamily="34" charset="0"/>
                      </a:endParaRPr>
                    </a:p>
                  </a:txBody>
                  <a:tcPr marL="9525" marR="9525" marT="9525" marB="0" anchor="ctr">
                    <a:solidFill>
                      <a:srgbClr val="7030A0"/>
                    </a:solidFill>
                  </a:tcPr>
                </a:tc>
                <a:tc>
                  <a:txBody>
                    <a:bodyPr/>
                    <a:lstStyle/>
                    <a:p>
                      <a:pPr algn="ctr" rtl="0" fontAlgn="b">
                        <a:buNone/>
                      </a:pPr>
                      <a:r>
                        <a:rPr lang="es-CO" sz="1200" u="none" strike="noStrike">
                          <a:solidFill>
                            <a:schemeClr val="bg1"/>
                          </a:solidFill>
                          <a:effectLst/>
                          <a:latin typeface="Aptos" panose="020B0004020202020204" pitchFamily="34" charset="0"/>
                        </a:rPr>
                        <a:t>Abr</a:t>
                      </a:r>
                      <a:endParaRPr lang="es-CO" sz="1200" b="0" i="0" u="none" strike="noStrike">
                        <a:solidFill>
                          <a:schemeClr val="bg1"/>
                        </a:solidFill>
                        <a:effectLst/>
                        <a:latin typeface="Aptos" panose="020B0004020202020204" pitchFamily="34" charset="0"/>
                      </a:endParaRPr>
                    </a:p>
                  </a:txBody>
                  <a:tcPr marL="9525" marR="9525" marT="9525" marB="0" anchor="ctr">
                    <a:solidFill>
                      <a:srgbClr val="7030A0"/>
                    </a:solidFill>
                  </a:tcPr>
                </a:tc>
                <a:tc>
                  <a:txBody>
                    <a:bodyPr/>
                    <a:lstStyle/>
                    <a:p>
                      <a:pPr algn="ctr" rtl="0" fontAlgn="b">
                        <a:buNone/>
                      </a:pPr>
                      <a:r>
                        <a:rPr lang="es-CO" sz="1200" u="none" strike="noStrike">
                          <a:solidFill>
                            <a:schemeClr val="bg1"/>
                          </a:solidFill>
                          <a:effectLst/>
                          <a:latin typeface="Aptos" panose="020B0004020202020204" pitchFamily="34" charset="0"/>
                        </a:rPr>
                        <a:t>May</a:t>
                      </a:r>
                      <a:endParaRPr lang="es-CO" sz="1200" b="0" i="0" u="none" strike="noStrike">
                        <a:solidFill>
                          <a:schemeClr val="bg1"/>
                        </a:solidFill>
                        <a:effectLst/>
                        <a:latin typeface="Aptos" panose="020B0004020202020204" pitchFamily="34" charset="0"/>
                      </a:endParaRPr>
                    </a:p>
                  </a:txBody>
                  <a:tcPr marL="9525" marR="9525" marT="9525" marB="0" anchor="ctr">
                    <a:solidFill>
                      <a:srgbClr val="7030A0"/>
                    </a:solidFill>
                  </a:tcPr>
                </a:tc>
                <a:tc>
                  <a:txBody>
                    <a:bodyPr/>
                    <a:lstStyle/>
                    <a:p>
                      <a:pPr algn="ctr" rtl="0" fontAlgn="b">
                        <a:buNone/>
                      </a:pPr>
                      <a:r>
                        <a:rPr lang="es-CO" sz="1200" u="none" strike="noStrike">
                          <a:solidFill>
                            <a:schemeClr val="bg1"/>
                          </a:solidFill>
                          <a:effectLst/>
                          <a:latin typeface="Aptos" panose="020B0004020202020204" pitchFamily="34" charset="0"/>
                        </a:rPr>
                        <a:t>Jun</a:t>
                      </a:r>
                      <a:endParaRPr lang="es-CO" sz="1200" b="0" i="0" u="none" strike="noStrike">
                        <a:solidFill>
                          <a:schemeClr val="bg1"/>
                        </a:solidFill>
                        <a:effectLst/>
                        <a:latin typeface="Aptos" panose="020B0004020202020204" pitchFamily="34" charset="0"/>
                      </a:endParaRPr>
                    </a:p>
                  </a:txBody>
                  <a:tcPr marL="9525" marR="9525" marT="9525" marB="0" anchor="ctr">
                    <a:solidFill>
                      <a:srgbClr val="7030A0"/>
                    </a:solidFill>
                  </a:tcPr>
                </a:tc>
                <a:tc>
                  <a:txBody>
                    <a:bodyPr/>
                    <a:lstStyle/>
                    <a:p>
                      <a:pPr algn="ctr" rtl="0" fontAlgn="b">
                        <a:buNone/>
                      </a:pPr>
                      <a:r>
                        <a:rPr lang="es-ES" sz="1200" b="0" i="0" u="none" strike="noStrike">
                          <a:solidFill>
                            <a:schemeClr val="bg1"/>
                          </a:solidFill>
                          <a:effectLst/>
                          <a:latin typeface="Aptos" panose="020B0004020202020204" pitchFamily="34" charset="0"/>
                        </a:rPr>
                        <a:t>Jul</a:t>
                      </a:r>
                      <a:endParaRPr lang="es-CO" sz="1200" b="0" i="0" u="none" strike="noStrike">
                        <a:solidFill>
                          <a:schemeClr val="bg1"/>
                        </a:solidFill>
                        <a:effectLst/>
                        <a:latin typeface="Aptos" panose="020B0004020202020204" pitchFamily="34" charset="0"/>
                      </a:endParaRPr>
                    </a:p>
                  </a:txBody>
                  <a:tcPr marL="9525" marR="9525" marT="9525" marB="0" anchor="ctr">
                    <a:solidFill>
                      <a:srgbClr val="7030A0"/>
                    </a:solidFill>
                  </a:tcPr>
                </a:tc>
                <a:tc>
                  <a:txBody>
                    <a:bodyPr/>
                    <a:lstStyle/>
                    <a:p>
                      <a:pPr algn="ctr" rtl="0" fontAlgn="b">
                        <a:buNone/>
                      </a:pPr>
                      <a:r>
                        <a:rPr lang="es-ES" sz="1200" b="0" i="0" u="none" strike="noStrike">
                          <a:solidFill>
                            <a:schemeClr val="bg1"/>
                          </a:solidFill>
                          <a:effectLst/>
                          <a:latin typeface="Aptos" panose="020B0004020202020204" pitchFamily="34" charset="0"/>
                        </a:rPr>
                        <a:t>Ago</a:t>
                      </a:r>
                      <a:endParaRPr lang="es-CO" sz="1200" b="0" i="0" u="none" strike="noStrike">
                        <a:solidFill>
                          <a:schemeClr val="bg1"/>
                        </a:solidFill>
                        <a:effectLst/>
                        <a:latin typeface="Aptos" panose="020B0004020202020204" pitchFamily="34" charset="0"/>
                      </a:endParaRPr>
                    </a:p>
                  </a:txBody>
                  <a:tcPr marL="9525" marR="9525" marT="9525" marB="0" anchor="ctr">
                    <a:solidFill>
                      <a:srgbClr val="7030A0"/>
                    </a:solidFill>
                  </a:tcPr>
                </a:tc>
                <a:extLst>
                  <a:ext uri="{0D108BD9-81ED-4DB2-BD59-A6C34878D82A}">
                    <a16:rowId xmlns:a16="http://schemas.microsoft.com/office/drawing/2014/main" val="2205729097"/>
                  </a:ext>
                </a:extLst>
              </a:tr>
              <a:tr h="337215">
                <a:tc>
                  <a:txBody>
                    <a:bodyPr/>
                    <a:lstStyle/>
                    <a:p>
                      <a:pPr algn="ctr" rtl="0" fontAlgn="b">
                        <a:buNone/>
                      </a:pPr>
                      <a:r>
                        <a:rPr lang="es-CO" sz="1200" u="none" strike="noStrike">
                          <a:solidFill>
                            <a:srgbClr val="000000"/>
                          </a:solidFill>
                          <a:effectLst/>
                          <a:latin typeface="Aptos" panose="020B0004020202020204" pitchFamily="34" charset="0"/>
                        </a:rPr>
                        <a:t>NPS</a:t>
                      </a:r>
                      <a:endParaRPr lang="es-CO" sz="1200" b="0" i="0" u="none" strike="noStrike">
                        <a:solidFill>
                          <a:srgbClr val="000000"/>
                        </a:solidFill>
                        <a:effectLst/>
                        <a:latin typeface="Aptos" panose="020B0004020202020204" pitchFamily="34" charset="0"/>
                      </a:endParaRPr>
                    </a:p>
                  </a:txBody>
                  <a:tcPr marL="9525" marR="9525" marT="9525" marB="0" anchor="ctr"/>
                </a:tc>
                <a:tc>
                  <a:txBody>
                    <a:bodyPr/>
                    <a:lstStyle/>
                    <a:p>
                      <a:pPr algn="ctr" rtl="0" fontAlgn="b">
                        <a:buNone/>
                      </a:pPr>
                      <a:r>
                        <a:rPr lang="es-CO" sz="1200" b="0" i="0" u="none" strike="noStrike">
                          <a:solidFill>
                            <a:srgbClr val="000000"/>
                          </a:solidFill>
                          <a:effectLst/>
                          <a:latin typeface="Aptos" panose="020B0004020202020204" pitchFamily="34" charset="0"/>
                        </a:rPr>
                        <a:t>96%</a:t>
                      </a:r>
                    </a:p>
                  </a:txBody>
                  <a:tcPr marL="9525" marR="9525" marT="9525" marB="0" anchor="ctr"/>
                </a:tc>
                <a:tc>
                  <a:txBody>
                    <a:bodyPr/>
                    <a:lstStyle/>
                    <a:p>
                      <a:pPr algn="ctr" rtl="0" fontAlgn="b">
                        <a:buNone/>
                      </a:pPr>
                      <a:r>
                        <a:rPr lang="es-CO" sz="1200" b="0" i="0" u="none" strike="noStrike">
                          <a:solidFill>
                            <a:srgbClr val="000000"/>
                          </a:solidFill>
                          <a:effectLst/>
                          <a:latin typeface="Aptos" panose="020B0004020202020204" pitchFamily="34" charset="0"/>
                        </a:rPr>
                        <a:t>89%</a:t>
                      </a:r>
                    </a:p>
                  </a:txBody>
                  <a:tcPr marL="9525" marR="9525" marT="9525" marB="0" anchor="ctr"/>
                </a:tc>
                <a:tc>
                  <a:txBody>
                    <a:bodyPr/>
                    <a:lstStyle/>
                    <a:p>
                      <a:pPr algn="ctr" rtl="0" fontAlgn="b">
                        <a:buNone/>
                      </a:pPr>
                      <a:r>
                        <a:rPr lang="es-CO" sz="1200" b="0" i="0" u="none" strike="noStrike">
                          <a:solidFill>
                            <a:srgbClr val="000000"/>
                          </a:solidFill>
                          <a:effectLst/>
                          <a:latin typeface="Aptos" panose="020B0004020202020204" pitchFamily="34" charset="0"/>
                        </a:rPr>
                        <a:t>92%</a:t>
                      </a:r>
                    </a:p>
                  </a:txBody>
                  <a:tcPr marL="9525" marR="9525" marT="9525" marB="0" anchor="ctr"/>
                </a:tc>
                <a:tc>
                  <a:txBody>
                    <a:bodyPr/>
                    <a:lstStyle/>
                    <a:p>
                      <a:pPr algn="ctr" rtl="0" fontAlgn="b">
                        <a:buNone/>
                      </a:pPr>
                      <a:r>
                        <a:rPr lang="es-CO" sz="1200" b="0" i="0" u="none" strike="noStrike">
                          <a:solidFill>
                            <a:srgbClr val="000000"/>
                          </a:solidFill>
                          <a:effectLst/>
                          <a:latin typeface="Aptos" panose="020B0004020202020204" pitchFamily="34" charset="0"/>
                        </a:rPr>
                        <a:t>87%</a:t>
                      </a:r>
                    </a:p>
                  </a:txBody>
                  <a:tcPr marL="9525" marR="9525" marT="9525" marB="0" anchor="ctr"/>
                </a:tc>
                <a:tc>
                  <a:txBody>
                    <a:bodyPr/>
                    <a:lstStyle/>
                    <a:p>
                      <a:pPr algn="ctr" rtl="0" fontAlgn="b">
                        <a:buNone/>
                      </a:pPr>
                      <a:r>
                        <a:rPr lang="es-CO" sz="1200" b="0" i="0" u="none" strike="noStrike">
                          <a:solidFill>
                            <a:srgbClr val="000000"/>
                          </a:solidFill>
                          <a:effectLst/>
                          <a:latin typeface="Aptos" panose="020B0004020202020204" pitchFamily="34" charset="0"/>
                        </a:rPr>
                        <a:t>91%</a:t>
                      </a:r>
                    </a:p>
                  </a:txBody>
                  <a:tcPr marL="9525" marR="9525" marT="9525" marB="0" anchor="ctr"/>
                </a:tc>
                <a:tc>
                  <a:txBody>
                    <a:bodyPr/>
                    <a:lstStyle/>
                    <a:p>
                      <a:pPr algn="ctr" rtl="0" fontAlgn="b">
                        <a:buNone/>
                      </a:pPr>
                      <a:r>
                        <a:rPr lang="es-CO" sz="1200" b="0" i="0" u="none" strike="noStrike">
                          <a:solidFill>
                            <a:srgbClr val="000000"/>
                          </a:solidFill>
                          <a:effectLst/>
                          <a:latin typeface="Aptos" panose="020B0004020202020204" pitchFamily="34" charset="0"/>
                        </a:rPr>
                        <a:t>98%</a:t>
                      </a:r>
                    </a:p>
                  </a:txBody>
                  <a:tcPr marL="9525" marR="9525" marT="9525" marB="0" anchor="ctr"/>
                </a:tc>
                <a:tc>
                  <a:txBody>
                    <a:bodyPr/>
                    <a:lstStyle/>
                    <a:p>
                      <a:pPr algn="ctr" rtl="0" fontAlgn="b">
                        <a:buNone/>
                      </a:pPr>
                      <a:r>
                        <a:rPr lang="es-ES" sz="1200" b="0" i="0" u="none" strike="noStrike">
                          <a:solidFill>
                            <a:srgbClr val="000000"/>
                          </a:solidFill>
                          <a:effectLst/>
                          <a:latin typeface="Aptos" panose="020B0004020202020204" pitchFamily="34" charset="0"/>
                        </a:rPr>
                        <a:t>98%</a:t>
                      </a:r>
                      <a:endParaRPr lang="es-CO" sz="1200" b="0" i="0" u="none" strike="noStrike">
                        <a:solidFill>
                          <a:srgbClr val="000000"/>
                        </a:solidFill>
                        <a:effectLst/>
                        <a:latin typeface="Aptos" panose="020B0004020202020204" pitchFamily="34" charset="0"/>
                      </a:endParaRPr>
                    </a:p>
                  </a:txBody>
                  <a:tcPr marL="9525" marR="9525" marT="9525" marB="0" anchor="ctr"/>
                </a:tc>
                <a:tc>
                  <a:txBody>
                    <a:bodyPr/>
                    <a:lstStyle/>
                    <a:p>
                      <a:pPr algn="ctr" rtl="0" fontAlgn="b">
                        <a:buNone/>
                      </a:pPr>
                      <a:r>
                        <a:rPr lang="es-ES" sz="1200" b="0" i="0" u="none" strike="noStrike">
                          <a:solidFill>
                            <a:srgbClr val="000000"/>
                          </a:solidFill>
                          <a:effectLst/>
                          <a:latin typeface="Aptos" panose="020B0004020202020204" pitchFamily="34" charset="0"/>
                        </a:rPr>
                        <a:t>100%</a:t>
                      </a:r>
                      <a:endParaRPr lang="es-CO" sz="1200" b="0" i="0" u="none" strike="noStrike">
                        <a:solidFill>
                          <a:srgbClr val="000000"/>
                        </a:solidFill>
                        <a:effectLst/>
                        <a:latin typeface="Aptos" panose="020B0004020202020204" pitchFamily="34" charset="0"/>
                      </a:endParaRPr>
                    </a:p>
                  </a:txBody>
                  <a:tcPr marL="9525" marR="9525" marT="9525" marB="0" anchor="ctr"/>
                </a:tc>
                <a:extLst>
                  <a:ext uri="{0D108BD9-81ED-4DB2-BD59-A6C34878D82A}">
                    <a16:rowId xmlns:a16="http://schemas.microsoft.com/office/drawing/2014/main" val="3085239956"/>
                  </a:ext>
                </a:extLst>
              </a:tr>
              <a:tr h="337215">
                <a:tc>
                  <a:txBody>
                    <a:bodyPr/>
                    <a:lstStyle/>
                    <a:p>
                      <a:pPr algn="ctr" rtl="0" fontAlgn="b">
                        <a:buNone/>
                      </a:pPr>
                      <a:r>
                        <a:rPr lang="es-CO" sz="1200" u="none" strike="noStrike">
                          <a:solidFill>
                            <a:srgbClr val="000000"/>
                          </a:solidFill>
                          <a:effectLst/>
                          <a:latin typeface="Aptos" panose="020B0004020202020204" pitchFamily="34" charset="0"/>
                        </a:rPr>
                        <a:t>CES</a:t>
                      </a:r>
                      <a:endParaRPr lang="es-CO" sz="1200" b="0" i="0" u="none" strike="noStrike">
                        <a:solidFill>
                          <a:srgbClr val="000000"/>
                        </a:solidFill>
                        <a:effectLst/>
                        <a:latin typeface="Aptos" panose="020B0004020202020204" pitchFamily="34" charset="0"/>
                      </a:endParaRPr>
                    </a:p>
                  </a:txBody>
                  <a:tcPr marL="9525" marR="9525" marT="9525" marB="0" anchor="ctr">
                    <a:noFill/>
                  </a:tcPr>
                </a:tc>
                <a:tc>
                  <a:txBody>
                    <a:bodyPr/>
                    <a:lstStyle/>
                    <a:p>
                      <a:pPr algn="ctr" rtl="0" fontAlgn="b">
                        <a:buNone/>
                      </a:pPr>
                      <a:r>
                        <a:rPr lang="es-CO" sz="1200" b="0" i="0" u="none" strike="noStrike">
                          <a:solidFill>
                            <a:srgbClr val="000000"/>
                          </a:solidFill>
                          <a:effectLst/>
                          <a:latin typeface="Aptos" panose="020B0004020202020204" pitchFamily="34" charset="0"/>
                        </a:rPr>
                        <a:t>97%</a:t>
                      </a:r>
                    </a:p>
                  </a:txBody>
                  <a:tcPr marL="9525" marR="9525" marT="9525" marB="0" anchor="ctr">
                    <a:noFill/>
                  </a:tcPr>
                </a:tc>
                <a:tc>
                  <a:txBody>
                    <a:bodyPr/>
                    <a:lstStyle/>
                    <a:p>
                      <a:pPr algn="ctr" rtl="0" fontAlgn="b">
                        <a:buNone/>
                      </a:pPr>
                      <a:r>
                        <a:rPr lang="es-CO" sz="1200" b="0" i="0" u="none" strike="noStrike">
                          <a:solidFill>
                            <a:srgbClr val="000000"/>
                          </a:solidFill>
                          <a:effectLst/>
                          <a:latin typeface="Aptos" panose="020B0004020202020204" pitchFamily="34" charset="0"/>
                        </a:rPr>
                        <a:t>94%</a:t>
                      </a:r>
                    </a:p>
                  </a:txBody>
                  <a:tcPr marL="9525" marR="9525" marT="9525" marB="0" anchor="ctr">
                    <a:noFill/>
                  </a:tcPr>
                </a:tc>
                <a:tc>
                  <a:txBody>
                    <a:bodyPr/>
                    <a:lstStyle/>
                    <a:p>
                      <a:pPr algn="ctr" rtl="0" fontAlgn="b">
                        <a:buNone/>
                      </a:pPr>
                      <a:r>
                        <a:rPr lang="es-CO" sz="1200" b="0" i="0" u="none" strike="noStrike">
                          <a:solidFill>
                            <a:srgbClr val="000000"/>
                          </a:solidFill>
                          <a:effectLst/>
                          <a:latin typeface="Aptos" panose="020B0004020202020204" pitchFamily="34" charset="0"/>
                        </a:rPr>
                        <a:t>93%</a:t>
                      </a:r>
                    </a:p>
                  </a:txBody>
                  <a:tcPr marL="9525" marR="9525" marT="9525" marB="0" anchor="ctr">
                    <a:noFill/>
                  </a:tcPr>
                </a:tc>
                <a:tc>
                  <a:txBody>
                    <a:bodyPr/>
                    <a:lstStyle/>
                    <a:p>
                      <a:pPr algn="ctr" rtl="0" fontAlgn="b">
                        <a:buNone/>
                      </a:pPr>
                      <a:r>
                        <a:rPr lang="es-CO" sz="1200" b="0" i="0" u="none" strike="noStrike">
                          <a:solidFill>
                            <a:srgbClr val="000000"/>
                          </a:solidFill>
                          <a:effectLst/>
                          <a:latin typeface="Aptos" panose="020B0004020202020204" pitchFamily="34" charset="0"/>
                        </a:rPr>
                        <a:t>93%</a:t>
                      </a:r>
                    </a:p>
                  </a:txBody>
                  <a:tcPr marL="9525" marR="9525" marT="9525" marB="0" anchor="ctr">
                    <a:noFill/>
                  </a:tcPr>
                </a:tc>
                <a:tc>
                  <a:txBody>
                    <a:bodyPr/>
                    <a:lstStyle/>
                    <a:p>
                      <a:pPr algn="ctr" rtl="0" fontAlgn="b">
                        <a:buNone/>
                      </a:pPr>
                      <a:r>
                        <a:rPr lang="es-CO" sz="1200" b="0" i="0" u="none" strike="noStrike">
                          <a:solidFill>
                            <a:srgbClr val="000000"/>
                          </a:solidFill>
                          <a:effectLst/>
                          <a:latin typeface="Aptos" panose="020B0004020202020204" pitchFamily="34" charset="0"/>
                        </a:rPr>
                        <a:t>96%</a:t>
                      </a:r>
                    </a:p>
                  </a:txBody>
                  <a:tcPr marL="9525" marR="9525" marT="9525" marB="0" anchor="ctr">
                    <a:noFill/>
                  </a:tcPr>
                </a:tc>
                <a:tc>
                  <a:txBody>
                    <a:bodyPr/>
                    <a:lstStyle/>
                    <a:p>
                      <a:pPr algn="ctr" rtl="0" fontAlgn="b">
                        <a:buNone/>
                      </a:pPr>
                      <a:r>
                        <a:rPr lang="es-CO" sz="1200" b="0" i="0" u="none" strike="noStrike">
                          <a:solidFill>
                            <a:srgbClr val="000000"/>
                          </a:solidFill>
                          <a:effectLst/>
                          <a:latin typeface="Aptos" panose="020B0004020202020204" pitchFamily="34" charset="0"/>
                        </a:rPr>
                        <a:t>98%</a:t>
                      </a:r>
                    </a:p>
                  </a:txBody>
                  <a:tcPr marL="9525" marR="9525" marT="9525" marB="0" anchor="ctr">
                    <a:noFill/>
                  </a:tcPr>
                </a:tc>
                <a:tc>
                  <a:txBody>
                    <a:bodyPr/>
                    <a:lstStyle/>
                    <a:p>
                      <a:pPr algn="ctr" rtl="0" fontAlgn="b">
                        <a:buNone/>
                      </a:pPr>
                      <a:r>
                        <a:rPr lang="es-ES" sz="1200" b="0" i="0" u="none" strike="noStrike">
                          <a:solidFill>
                            <a:srgbClr val="000000"/>
                          </a:solidFill>
                          <a:effectLst/>
                          <a:latin typeface="Aptos" panose="020B0004020202020204" pitchFamily="34" charset="0"/>
                        </a:rPr>
                        <a:t>99%</a:t>
                      </a:r>
                      <a:endParaRPr lang="es-CO" sz="1200" b="0" i="0" u="none" strike="noStrike">
                        <a:solidFill>
                          <a:srgbClr val="000000"/>
                        </a:solidFill>
                        <a:effectLst/>
                        <a:latin typeface="Aptos" panose="020B0004020202020204" pitchFamily="34" charset="0"/>
                      </a:endParaRPr>
                    </a:p>
                  </a:txBody>
                  <a:tcPr marL="9525" marR="9525" marT="9525" marB="0" anchor="ctr">
                    <a:noFill/>
                  </a:tcPr>
                </a:tc>
                <a:tc>
                  <a:txBody>
                    <a:bodyPr/>
                    <a:lstStyle/>
                    <a:p>
                      <a:pPr algn="ctr" rtl="0" fontAlgn="b">
                        <a:buNone/>
                      </a:pPr>
                      <a:r>
                        <a:rPr lang="es-ES" sz="1200" b="0" i="0" u="none" strike="noStrike">
                          <a:solidFill>
                            <a:srgbClr val="000000"/>
                          </a:solidFill>
                          <a:effectLst/>
                          <a:latin typeface="Aptos" panose="020B0004020202020204" pitchFamily="34" charset="0"/>
                        </a:rPr>
                        <a:t>100%</a:t>
                      </a:r>
                      <a:endParaRPr lang="es-CO" sz="1200" b="0" i="0" u="none" strike="noStrike">
                        <a:solidFill>
                          <a:srgbClr val="000000"/>
                        </a:solidFill>
                        <a:effectLst/>
                        <a:latin typeface="Aptos" panose="020B0004020202020204" pitchFamily="34" charset="0"/>
                      </a:endParaRPr>
                    </a:p>
                  </a:txBody>
                  <a:tcPr marL="9525" marR="9525" marT="9525" marB="0" anchor="ctr">
                    <a:noFill/>
                  </a:tcPr>
                </a:tc>
                <a:extLst>
                  <a:ext uri="{0D108BD9-81ED-4DB2-BD59-A6C34878D82A}">
                    <a16:rowId xmlns:a16="http://schemas.microsoft.com/office/drawing/2014/main" val="3195094512"/>
                  </a:ext>
                </a:extLst>
              </a:tr>
              <a:tr h="337215">
                <a:tc>
                  <a:txBody>
                    <a:bodyPr/>
                    <a:lstStyle/>
                    <a:p>
                      <a:pPr algn="ctr" rtl="0" fontAlgn="b">
                        <a:buNone/>
                      </a:pPr>
                      <a:r>
                        <a:rPr lang="es-CO" sz="1200" u="none" strike="noStrike">
                          <a:solidFill>
                            <a:srgbClr val="000000"/>
                          </a:solidFill>
                          <a:effectLst/>
                          <a:latin typeface="Aptos" panose="020B0004020202020204" pitchFamily="34" charset="0"/>
                        </a:rPr>
                        <a:t>FCR</a:t>
                      </a:r>
                      <a:endParaRPr lang="es-CO" sz="1200" b="0" i="0" u="none" strike="noStrike">
                        <a:solidFill>
                          <a:srgbClr val="000000"/>
                        </a:solidFill>
                        <a:effectLst/>
                        <a:latin typeface="Aptos" panose="020B0004020202020204" pitchFamily="34" charset="0"/>
                      </a:endParaRPr>
                    </a:p>
                  </a:txBody>
                  <a:tcPr marL="9525" marR="9525" marT="9525" marB="0" anchor="ctr"/>
                </a:tc>
                <a:tc>
                  <a:txBody>
                    <a:bodyPr/>
                    <a:lstStyle/>
                    <a:p>
                      <a:pPr algn="ctr" rtl="0" fontAlgn="b">
                        <a:buNone/>
                      </a:pPr>
                      <a:r>
                        <a:rPr lang="es-CO" sz="1200" b="0" i="0" u="none" strike="noStrike">
                          <a:solidFill>
                            <a:srgbClr val="000000"/>
                          </a:solidFill>
                          <a:effectLst/>
                          <a:latin typeface="Aptos" panose="020B0004020202020204" pitchFamily="34" charset="0"/>
                        </a:rPr>
                        <a:t>97%</a:t>
                      </a:r>
                    </a:p>
                  </a:txBody>
                  <a:tcPr marL="9525" marR="9525" marT="9525" marB="0" anchor="ctr"/>
                </a:tc>
                <a:tc>
                  <a:txBody>
                    <a:bodyPr/>
                    <a:lstStyle/>
                    <a:p>
                      <a:pPr algn="ctr" rtl="0" fontAlgn="b">
                        <a:buNone/>
                      </a:pPr>
                      <a:r>
                        <a:rPr lang="es-CO" sz="1200" b="0" i="0" u="none" strike="noStrike">
                          <a:solidFill>
                            <a:srgbClr val="000000"/>
                          </a:solidFill>
                          <a:effectLst/>
                          <a:latin typeface="Aptos" panose="020B0004020202020204" pitchFamily="34" charset="0"/>
                        </a:rPr>
                        <a:t>90%</a:t>
                      </a:r>
                    </a:p>
                  </a:txBody>
                  <a:tcPr marL="9525" marR="9525" marT="9525" marB="0" anchor="ctr"/>
                </a:tc>
                <a:tc>
                  <a:txBody>
                    <a:bodyPr/>
                    <a:lstStyle/>
                    <a:p>
                      <a:pPr algn="ctr" rtl="0" fontAlgn="b">
                        <a:buNone/>
                      </a:pPr>
                      <a:r>
                        <a:rPr lang="es-CO" sz="1200" b="0" i="0" u="none" strike="noStrike">
                          <a:solidFill>
                            <a:srgbClr val="000000"/>
                          </a:solidFill>
                          <a:effectLst/>
                          <a:latin typeface="Aptos" panose="020B0004020202020204" pitchFamily="34" charset="0"/>
                        </a:rPr>
                        <a:t>95%</a:t>
                      </a:r>
                    </a:p>
                  </a:txBody>
                  <a:tcPr marL="9525" marR="9525" marT="9525" marB="0" anchor="ctr"/>
                </a:tc>
                <a:tc>
                  <a:txBody>
                    <a:bodyPr/>
                    <a:lstStyle/>
                    <a:p>
                      <a:pPr algn="ctr" rtl="0" fontAlgn="b">
                        <a:buNone/>
                      </a:pPr>
                      <a:r>
                        <a:rPr lang="es-CO" sz="1200" b="0" i="0" u="none" strike="noStrike">
                          <a:solidFill>
                            <a:srgbClr val="000000"/>
                          </a:solidFill>
                          <a:effectLst/>
                          <a:latin typeface="Aptos" panose="020B0004020202020204" pitchFamily="34" charset="0"/>
                        </a:rPr>
                        <a:t>96%</a:t>
                      </a:r>
                    </a:p>
                  </a:txBody>
                  <a:tcPr marL="9525" marR="9525" marT="9525" marB="0" anchor="ctr"/>
                </a:tc>
                <a:tc>
                  <a:txBody>
                    <a:bodyPr/>
                    <a:lstStyle/>
                    <a:p>
                      <a:pPr algn="ctr" rtl="0" fontAlgn="b">
                        <a:buNone/>
                      </a:pPr>
                      <a:r>
                        <a:rPr lang="es-CO" sz="1200" b="0" i="0" u="none" strike="noStrike">
                          <a:solidFill>
                            <a:srgbClr val="000000"/>
                          </a:solidFill>
                          <a:effectLst/>
                          <a:latin typeface="Aptos" panose="020B0004020202020204" pitchFamily="34" charset="0"/>
                        </a:rPr>
                        <a:t>99%</a:t>
                      </a:r>
                    </a:p>
                  </a:txBody>
                  <a:tcPr marL="9525" marR="9525" marT="9525" marB="0" anchor="ctr"/>
                </a:tc>
                <a:tc>
                  <a:txBody>
                    <a:bodyPr/>
                    <a:lstStyle/>
                    <a:p>
                      <a:pPr algn="ctr" rtl="0" fontAlgn="b">
                        <a:buNone/>
                      </a:pPr>
                      <a:r>
                        <a:rPr lang="es-CO" sz="1200" b="0" i="0" u="none" strike="noStrike">
                          <a:solidFill>
                            <a:srgbClr val="000000"/>
                          </a:solidFill>
                          <a:effectLst/>
                          <a:latin typeface="Aptos" panose="020B0004020202020204" pitchFamily="34" charset="0"/>
                        </a:rPr>
                        <a:t>100%</a:t>
                      </a:r>
                    </a:p>
                  </a:txBody>
                  <a:tcPr marL="9525" marR="9525" marT="9525" marB="0" anchor="ctr"/>
                </a:tc>
                <a:tc>
                  <a:txBody>
                    <a:bodyPr/>
                    <a:lstStyle/>
                    <a:p>
                      <a:pPr algn="ctr" rtl="0" fontAlgn="b">
                        <a:buNone/>
                      </a:pPr>
                      <a:r>
                        <a:rPr lang="es-ES" sz="1200" b="0" i="0" u="none" strike="noStrike">
                          <a:solidFill>
                            <a:srgbClr val="000000"/>
                          </a:solidFill>
                          <a:effectLst/>
                          <a:latin typeface="Aptos" panose="020B0004020202020204" pitchFamily="34" charset="0"/>
                        </a:rPr>
                        <a:t>100%</a:t>
                      </a:r>
                      <a:endParaRPr lang="es-CO" sz="1200" b="0" i="0" u="none" strike="noStrike">
                        <a:solidFill>
                          <a:srgbClr val="000000"/>
                        </a:solidFill>
                        <a:effectLst/>
                        <a:latin typeface="Aptos" panose="020B0004020202020204" pitchFamily="34" charset="0"/>
                      </a:endParaRPr>
                    </a:p>
                  </a:txBody>
                  <a:tcPr marL="9525" marR="9525" marT="9525" marB="0" anchor="ctr"/>
                </a:tc>
                <a:tc>
                  <a:txBody>
                    <a:bodyPr/>
                    <a:lstStyle/>
                    <a:p>
                      <a:pPr algn="ctr" rtl="0" fontAlgn="b">
                        <a:buNone/>
                      </a:pPr>
                      <a:r>
                        <a:rPr lang="es-ES" sz="1200" b="0" i="0" u="none" strike="noStrike">
                          <a:solidFill>
                            <a:srgbClr val="000000"/>
                          </a:solidFill>
                          <a:effectLst/>
                          <a:latin typeface="Aptos" panose="020B0004020202020204" pitchFamily="34" charset="0"/>
                        </a:rPr>
                        <a:t>100%</a:t>
                      </a:r>
                      <a:endParaRPr lang="es-CO" sz="1200" b="0" i="0" u="none" strike="noStrike">
                        <a:solidFill>
                          <a:srgbClr val="000000"/>
                        </a:solidFill>
                        <a:effectLst/>
                        <a:latin typeface="Aptos" panose="020B0004020202020204" pitchFamily="34" charset="0"/>
                      </a:endParaRPr>
                    </a:p>
                  </a:txBody>
                  <a:tcPr marL="9525" marR="9525" marT="9525" marB="0" anchor="ctr"/>
                </a:tc>
                <a:extLst>
                  <a:ext uri="{0D108BD9-81ED-4DB2-BD59-A6C34878D82A}">
                    <a16:rowId xmlns:a16="http://schemas.microsoft.com/office/drawing/2014/main" val="301227678"/>
                  </a:ext>
                </a:extLst>
              </a:tr>
              <a:tr h="337215">
                <a:tc>
                  <a:txBody>
                    <a:bodyPr/>
                    <a:lstStyle/>
                    <a:p>
                      <a:pPr algn="ctr" rtl="0" fontAlgn="b">
                        <a:buNone/>
                      </a:pPr>
                      <a:r>
                        <a:rPr lang="es-CO" sz="1200" u="none" strike="noStrike">
                          <a:solidFill>
                            <a:srgbClr val="000000"/>
                          </a:solidFill>
                          <a:effectLst/>
                          <a:latin typeface="Aptos" panose="020B0004020202020204" pitchFamily="34" charset="0"/>
                        </a:rPr>
                        <a:t>Satisfacción</a:t>
                      </a:r>
                      <a:endParaRPr lang="es-CO" sz="1200" b="0" i="0" u="none" strike="noStrike">
                        <a:solidFill>
                          <a:srgbClr val="000000"/>
                        </a:solidFill>
                        <a:effectLst/>
                        <a:latin typeface="Aptos" panose="020B0004020202020204" pitchFamily="34" charset="0"/>
                      </a:endParaRPr>
                    </a:p>
                  </a:txBody>
                  <a:tcPr marL="9525" marR="9525" marT="9525" marB="0" anchor="ctr">
                    <a:noFill/>
                  </a:tcPr>
                </a:tc>
                <a:tc>
                  <a:txBody>
                    <a:bodyPr/>
                    <a:lstStyle/>
                    <a:p>
                      <a:pPr algn="ctr" rtl="0" fontAlgn="b">
                        <a:buNone/>
                      </a:pPr>
                      <a:r>
                        <a:rPr lang="es-CO" sz="1200" b="0" i="0" u="none" strike="noStrike">
                          <a:solidFill>
                            <a:srgbClr val="000000"/>
                          </a:solidFill>
                          <a:effectLst/>
                          <a:latin typeface="Aptos" panose="020B0004020202020204" pitchFamily="34" charset="0"/>
                        </a:rPr>
                        <a:t>4,9</a:t>
                      </a:r>
                    </a:p>
                  </a:txBody>
                  <a:tcPr marL="9525" marR="9525" marT="9525" marB="0" anchor="ctr">
                    <a:noFill/>
                  </a:tcPr>
                </a:tc>
                <a:tc>
                  <a:txBody>
                    <a:bodyPr/>
                    <a:lstStyle/>
                    <a:p>
                      <a:pPr algn="ctr" rtl="0" fontAlgn="b">
                        <a:buNone/>
                      </a:pPr>
                      <a:r>
                        <a:rPr lang="es-CO" sz="1200" b="0" i="0" u="none" strike="noStrike">
                          <a:solidFill>
                            <a:srgbClr val="000000"/>
                          </a:solidFill>
                          <a:effectLst/>
                          <a:latin typeface="Aptos" panose="020B0004020202020204" pitchFamily="34" charset="0"/>
                        </a:rPr>
                        <a:t>4,9</a:t>
                      </a:r>
                    </a:p>
                  </a:txBody>
                  <a:tcPr marL="9525" marR="9525" marT="9525" marB="0" anchor="ctr">
                    <a:noFill/>
                  </a:tcPr>
                </a:tc>
                <a:tc>
                  <a:txBody>
                    <a:bodyPr/>
                    <a:lstStyle/>
                    <a:p>
                      <a:pPr algn="ctr" rtl="0" fontAlgn="b">
                        <a:buNone/>
                      </a:pPr>
                      <a:r>
                        <a:rPr lang="es-CO" sz="1200" b="0" i="0" u="none" strike="noStrike">
                          <a:solidFill>
                            <a:srgbClr val="000000"/>
                          </a:solidFill>
                          <a:effectLst/>
                          <a:latin typeface="Aptos" panose="020B0004020202020204" pitchFamily="34" charset="0"/>
                        </a:rPr>
                        <a:t>4,9</a:t>
                      </a:r>
                    </a:p>
                  </a:txBody>
                  <a:tcPr marL="9525" marR="9525" marT="9525" marB="0" anchor="ctr">
                    <a:noFill/>
                  </a:tcPr>
                </a:tc>
                <a:tc>
                  <a:txBody>
                    <a:bodyPr/>
                    <a:lstStyle/>
                    <a:p>
                      <a:pPr algn="ctr" rtl="0" fontAlgn="b">
                        <a:buNone/>
                      </a:pPr>
                      <a:r>
                        <a:rPr lang="es-CO" sz="1200" b="0" i="0" u="none" strike="noStrike">
                          <a:solidFill>
                            <a:srgbClr val="000000"/>
                          </a:solidFill>
                          <a:effectLst/>
                          <a:latin typeface="Aptos" panose="020B0004020202020204" pitchFamily="34" charset="0"/>
                        </a:rPr>
                        <a:t>4,8</a:t>
                      </a:r>
                    </a:p>
                  </a:txBody>
                  <a:tcPr marL="9525" marR="9525" marT="9525" marB="0" anchor="ctr">
                    <a:noFill/>
                  </a:tcPr>
                </a:tc>
                <a:tc>
                  <a:txBody>
                    <a:bodyPr/>
                    <a:lstStyle/>
                    <a:p>
                      <a:pPr algn="ctr" rtl="0" fontAlgn="b">
                        <a:buNone/>
                      </a:pPr>
                      <a:r>
                        <a:rPr lang="es-CO" sz="1200" b="0" i="0" u="none" strike="noStrike">
                          <a:solidFill>
                            <a:srgbClr val="000000"/>
                          </a:solidFill>
                          <a:effectLst/>
                          <a:latin typeface="Aptos" panose="020B0004020202020204" pitchFamily="34" charset="0"/>
                        </a:rPr>
                        <a:t>4,8</a:t>
                      </a:r>
                    </a:p>
                  </a:txBody>
                  <a:tcPr marL="9525" marR="9525" marT="9525" marB="0" anchor="ctr">
                    <a:noFill/>
                  </a:tcPr>
                </a:tc>
                <a:tc>
                  <a:txBody>
                    <a:bodyPr/>
                    <a:lstStyle/>
                    <a:p>
                      <a:pPr algn="ctr" rtl="0" fontAlgn="b">
                        <a:buNone/>
                      </a:pPr>
                      <a:r>
                        <a:rPr lang="es-CO" sz="1200" b="0" i="0" u="none" strike="noStrike">
                          <a:solidFill>
                            <a:srgbClr val="000000"/>
                          </a:solidFill>
                          <a:effectLst/>
                          <a:latin typeface="Aptos" panose="020B0004020202020204" pitchFamily="34" charset="0"/>
                        </a:rPr>
                        <a:t>4,9</a:t>
                      </a:r>
                    </a:p>
                  </a:txBody>
                  <a:tcPr marL="9525" marR="9525" marT="9525" marB="0" anchor="ctr">
                    <a:noFill/>
                  </a:tcPr>
                </a:tc>
                <a:tc>
                  <a:txBody>
                    <a:bodyPr/>
                    <a:lstStyle/>
                    <a:p>
                      <a:pPr algn="ctr" rtl="0" fontAlgn="b">
                        <a:buNone/>
                      </a:pPr>
                      <a:r>
                        <a:rPr lang="es-ES" sz="1200" b="0" i="0" u="none" strike="noStrike">
                          <a:solidFill>
                            <a:srgbClr val="000000"/>
                          </a:solidFill>
                          <a:effectLst/>
                          <a:latin typeface="Aptos" panose="020B0004020202020204" pitchFamily="34" charset="0"/>
                        </a:rPr>
                        <a:t>5,0</a:t>
                      </a:r>
                      <a:endParaRPr lang="es-CO" sz="1200" b="0" i="0" u="none" strike="noStrike">
                        <a:solidFill>
                          <a:srgbClr val="000000"/>
                        </a:solidFill>
                        <a:effectLst/>
                        <a:latin typeface="Aptos" panose="020B0004020202020204" pitchFamily="34" charset="0"/>
                      </a:endParaRPr>
                    </a:p>
                  </a:txBody>
                  <a:tcPr marL="9525" marR="9525" marT="9525" marB="0" anchor="ctr">
                    <a:noFill/>
                  </a:tcPr>
                </a:tc>
                <a:tc>
                  <a:txBody>
                    <a:bodyPr/>
                    <a:lstStyle/>
                    <a:p>
                      <a:pPr algn="ctr" rtl="0" fontAlgn="b">
                        <a:buNone/>
                      </a:pPr>
                      <a:r>
                        <a:rPr lang="es-ES" sz="1200" b="0" i="0" u="none" strike="noStrike">
                          <a:solidFill>
                            <a:srgbClr val="000000"/>
                          </a:solidFill>
                          <a:effectLst/>
                          <a:latin typeface="Aptos" panose="020B0004020202020204" pitchFamily="34" charset="0"/>
                        </a:rPr>
                        <a:t>5,0</a:t>
                      </a:r>
                      <a:endParaRPr lang="es-CO" sz="1200" b="0" i="0" u="none" strike="noStrike">
                        <a:solidFill>
                          <a:srgbClr val="000000"/>
                        </a:solidFill>
                        <a:effectLst/>
                        <a:latin typeface="Aptos" panose="020B0004020202020204" pitchFamily="34" charset="0"/>
                      </a:endParaRPr>
                    </a:p>
                  </a:txBody>
                  <a:tcPr marL="9525" marR="9525" marT="9525" marB="0" anchor="ctr">
                    <a:noFill/>
                  </a:tcPr>
                </a:tc>
                <a:extLst>
                  <a:ext uri="{0D108BD9-81ED-4DB2-BD59-A6C34878D82A}">
                    <a16:rowId xmlns:a16="http://schemas.microsoft.com/office/drawing/2014/main" val="1559101740"/>
                  </a:ext>
                </a:extLst>
              </a:tr>
            </a:tbl>
          </a:graphicData>
        </a:graphic>
      </p:graphicFrame>
      <p:sp>
        <p:nvSpPr>
          <p:cNvPr id="5" name="CuadroTexto 4">
            <a:extLst>
              <a:ext uri="{FF2B5EF4-FFF2-40B4-BE49-F238E27FC236}">
                <a16:creationId xmlns:a16="http://schemas.microsoft.com/office/drawing/2014/main" id="{567D0C13-DBDA-4CF1-B329-1B73F7696221}"/>
              </a:ext>
            </a:extLst>
          </p:cNvPr>
          <p:cNvSpPr txBox="1"/>
          <p:nvPr/>
        </p:nvSpPr>
        <p:spPr>
          <a:xfrm>
            <a:off x="8290561" y="6368981"/>
            <a:ext cx="2286000" cy="276999"/>
          </a:xfrm>
          <a:prstGeom prst="rect">
            <a:avLst/>
          </a:prstGeom>
          <a:noFill/>
        </p:spPr>
        <p:txBody>
          <a:bodyPr wrap="square">
            <a:spAutoFit/>
          </a:bodyPr>
          <a:lstStyle/>
          <a:p>
            <a:r>
              <a:rPr lang="es-CO" sz="1200" b="1" i="1">
                <a:solidFill>
                  <a:schemeClr val="bg1">
                    <a:lumMod val="50000"/>
                  </a:schemeClr>
                </a:solidFill>
              </a:rPr>
              <a:t>Fuente: QSE Inoos agosto 2026</a:t>
            </a:r>
          </a:p>
        </p:txBody>
      </p:sp>
      <p:pic>
        <p:nvPicPr>
          <p:cNvPr id="10" name="Imagen 9">
            <a:extLst>
              <a:ext uri="{FF2B5EF4-FFF2-40B4-BE49-F238E27FC236}">
                <a16:creationId xmlns:a16="http://schemas.microsoft.com/office/drawing/2014/main" id="{02BF582B-2569-313F-9A8E-90E533433A95}"/>
              </a:ext>
            </a:extLst>
          </p:cNvPr>
          <p:cNvPicPr>
            <a:picLocks noChangeAspect="1"/>
          </p:cNvPicPr>
          <p:nvPr/>
        </p:nvPicPr>
        <p:blipFill>
          <a:blip r:embed="rId2"/>
          <a:stretch>
            <a:fillRect/>
          </a:stretch>
        </p:blipFill>
        <p:spPr>
          <a:xfrm>
            <a:off x="6011927" y="817418"/>
            <a:ext cx="5274799" cy="3537138"/>
          </a:xfrm>
          <a:prstGeom prst="rect">
            <a:avLst/>
          </a:prstGeom>
        </p:spPr>
      </p:pic>
      <p:sp>
        <p:nvSpPr>
          <p:cNvPr id="7" name="CuadroTexto 4">
            <a:extLst>
              <a:ext uri="{FF2B5EF4-FFF2-40B4-BE49-F238E27FC236}">
                <a16:creationId xmlns:a16="http://schemas.microsoft.com/office/drawing/2014/main" id="{4C82D468-D0EC-1575-ED21-D1C68A1195A3}"/>
              </a:ext>
            </a:extLst>
          </p:cNvPr>
          <p:cNvSpPr txBox="1"/>
          <p:nvPr/>
        </p:nvSpPr>
        <p:spPr>
          <a:xfrm>
            <a:off x="3575763" y="6368981"/>
            <a:ext cx="3638394" cy="276999"/>
          </a:xfrm>
          <a:prstGeom prst="rect">
            <a:avLst/>
          </a:prstGeom>
          <a:noFill/>
        </p:spPr>
        <p:txBody>
          <a:bodyPr wrap="square">
            <a:spAutoFit/>
          </a:bodyPr>
          <a:ls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CO" sz="1200" b="1" i="1" noProof="0">
                <a:solidFill>
                  <a:schemeClr val="tx2"/>
                </a:solidFill>
              </a:rPr>
              <a:t>Fuente: </a:t>
            </a:r>
            <a:r>
              <a:rPr lang="es-CO" sz="1200" i="1" noProof="0">
                <a:solidFill>
                  <a:schemeClr val="tx2"/>
                </a:solidFill>
              </a:rPr>
              <a:t>SAU INOOS </a:t>
            </a:r>
            <a:r>
              <a:rPr lang="es-CO" sz="1200" i="1">
                <a:solidFill>
                  <a:schemeClr val="tx2"/>
                </a:solidFill>
              </a:rPr>
              <a:t>Agosto </a:t>
            </a:r>
            <a:r>
              <a:rPr lang="es-CO" sz="1200" i="1" noProof="0">
                <a:solidFill>
                  <a:schemeClr val="tx2"/>
                </a:solidFill>
              </a:rPr>
              <a:t>2026</a:t>
            </a:r>
          </a:p>
        </p:txBody>
      </p:sp>
    </p:spTree>
    <p:extLst>
      <p:ext uri="{BB962C8B-B14F-4D97-AF65-F5344CB8AC3E}">
        <p14:creationId xmlns:p14="http://schemas.microsoft.com/office/powerpoint/2010/main" val="9572092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F9E37-9E13-8D88-EB6E-82D7D4D953DF}"/>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46024DD8-5476-D3C2-2D63-5D32BD15CD4D}"/>
              </a:ext>
            </a:extLst>
          </p:cNvPr>
          <p:cNvSpPr txBox="1">
            <a:spLocks/>
          </p:cNvSpPr>
          <p:nvPr/>
        </p:nvSpPr>
        <p:spPr>
          <a:xfrm>
            <a:off x="838200" y="101552"/>
            <a:ext cx="10515600" cy="81207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400" b="1" kern="1200">
                <a:solidFill>
                  <a:srgbClr val="00A19C"/>
                </a:solidFill>
                <a:latin typeface="+mj-lt"/>
                <a:ea typeface="+mj-ea"/>
                <a:cs typeface="+mj-cs"/>
              </a:defRPr>
            </a:lvl1pPr>
          </a:lstStyle>
          <a:p>
            <a:r>
              <a:rPr lang="es-CO">
                <a:solidFill>
                  <a:schemeClr val="tx1"/>
                </a:solidFill>
                <a:latin typeface="Century Gothic"/>
              </a:rPr>
              <a:t>PQRSF Nacional</a:t>
            </a:r>
            <a:endParaRPr lang="es-ES"/>
          </a:p>
        </p:txBody>
      </p:sp>
      <p:sp>
        <p:nvSpPr>
          <p:cNvPr id="7" name="CuadroTexto 6">
            <a:extLst>
              <a:ext uri="{FF2B5EF4-FFF2-40B4-BE49-F238E27FC236}">
                <a16:creationId xmlns:a16="http://schemas.microsoft.com/office/drawing/2014/main" id="{1A2FFAED-5579-4CB7-91D9-EFEAE5F4E4DF}"/>
              </a:ext>
            </a:extLst>
          </p:cNvPr>
          <p:cNvSpPr txBox="1"/>
          <p:nvPr/>
        </p:nvSpPr>
        <p:spPr>
          <a:xfrm>
            <a:off x="259080" y="1031456"/>
            <a:ext cx="4442460" cy="1815882"/>
          </a:xfrm>
          <a:prstGeom prst="rect">
            <a:avLst/>
          </a:prstGeom>
          <a:noFill/>
        </p:spPr>
        <p:txBody>
          <a:bodyPr wrap="square" lIns="91440" tIns="45720" rIns="91440" bIns="45720" anchor="t">
            <a:spAutoFit/>
          </a:bodyPr>
          <a:lstStyle>
            <a:defPPr>
              <a:defRPr lang="es-CO"/>
            </a:defPPr>
            <a:lvl1pPr algn="just">
              <a:defRPr sz="1600">
                <a:solidFill>
                  <a:schemeClr val="tx1">
                    <a:lumMod val="50000"/>
                  </a:schemeClr>
                </a:solidFill>
                <a:latin typeface="Aptos" panose="020B0004020202020204" pitchFamily="34" charset="0"/>
              </a:defRPr>
            </a:lvl1pPr>
          </a:lstStyle>
          <a:p>
            <a:r>
              <a:rPr lang="es-ES"/>
              <a:t>El resultado de agosto permite identificar una reducción de 32 manifestaciones frente a julio. La disminución se explica principalmente por la reducción de los reclamos y las felicitaciones, no obstante, los reclamos continúan representando el mayor porcentaje de las manifestaciones.</a:t>
            </a:r>
            <a:endParaRPr lang="es-CO"/>
          </a:p>
        </p:txBody>
      </p:sp>
      <p:graphicFrame>
        <p:nvGraphicFramePr>
          <p:cNvPr id="2" name="Gráfico 1">
            <a:extLst>
              <a:ext uri="{FF2B5EF4-FFF2-40B4-BE49-F238E27FC236}">
                <a16:creationId xmlns:a16="http://schemas.microsoft.com/office/drawing/2014/main" id="{CC611703-4841-1A52-6451-32EE22652E5E}"/>
              </a:ext>
            </a:extLst>
          </p:cNvPr>
          <p:cNvGraphicFramePr>
            <a:graphicFrameLocks/>
          </p:cNvGraphicFramePr>
          <p:nvPr/>
        </p:nvGraphicFramePr>
        <p:xfrm>
          <a:off x="4701540" y="913630"/>
          <a:ext cx="7231380" cy="5045210"/>
        </p:xfrm>
        <a:graphic>
          <a:graphicData uri="http://schemas.openxmlformats.org/drawingml/2006/chart">
            <c:chart xmlns:c="http://schemas.openxmlformats.org/drawingml/2006/chart" xmlns:r="http://schemas.openxmlformats.org/officeDocument/2006/relationships" r:id="rId3"/>
          </a:graphicData>
        </a:graphic>
      </p:graphicFrame>
      <p:sp>
        <p:nvSpPr>
          <p:cNvPr id="6" name="CuadroTexto 5">
            <a:extLst>
              <a:ext uri="{FF2B5EF4-FFF2-40B4-BE49-F238E27FC236}">
                <a16:creationId xmlns:a16="http://schemas.microsoft.com/office/drawing/2014/main" id="{3406C44A-CF13-900C-F8DC-2DC6B023A999}"/>
              </a:ext>
            </a:extLst>
          </p:cNvPr>
          <p:cNvSpPr txBox="1"/>
          <p:nvPr/>
        </p:nvSpPr>
        <p:spPr>
          <a:xfrm>
            <a:off x="259080" y="2965164"/>
            <a:ext cx="4442460" cy="3046988"/>
          </a:xfrm>
          <a:prstGeom prst="rect">
            <a:avLst/>
          </a:prstGeom>
          <a:noFill/>
        </p:spPr>
        <p:txBody>
          <a:bodyPr wrap="square" lIns="91440" tIns="45720" rIns="91440" bIns="45720" anchor="t">
            <a:spAutoFit/>
          </a:bodyPr>
          <a:lstStyle>
            <a:defPPr>
              <a:defRPr lang="es-CO"/>
            </a:defPPr>
            <a:lvl1pPr algn="just">
              <a:defRPr sz="1600">
                <a:solidFill>
                  <a:schemeClr val="tx1">
                    <a:lumMod val="50000"/>
                  </a:schemeClr>
                </a:solidFill>
                <a:latin typeface="Aptos" panose="020B0004020202020204" pitchFamily="34" charset="0"/>
              </a:defRPr>
            </a:lvl1pPr>
          </a:lstStyle>
          <a:p>
            <a:r>
              <a:rPr lang="es-CO"/>
              <a:t>Es especialmente pertinente relacionar los  resultados del mes con las situaciones que impactaron la prestación del servicio, como las dificultades administrativas y financieras asociadas a EMSSANAR en Cauca y Valle, así como las situaciones de autorización y disponibilidad de medicamentos reportadas en Tolima. Estos factores pueden incidir en la percepción de oportunidad y continuidad y deben diferenciarse de aquellas oportunidades de mejora directamente atribuibles a los procesos internos de la institución.</a:t>
            </a:r>
          </a:p>
        </p:txBody>
      </p:sp>
      <p:sp>
        <p:nvSpPr>
          <p:cNvPr id="5" name="CuadroTexto 4">
            <a:extLst>
              <a:ext uri="{FF2B5EF4-FFF2-40B4-BE49-F238E27FC236}">
                <a16:creationId xmlns:a16="http://schemas.microsoft.com/office/drawing/2014/main" id="{C15BEFD0-9F31-ADE0-1396-EDEFDED5EED1}"/>
              </a:ext>
            </a:extLst>
          </p:cNvPr>
          <p:cNvSpPr txBox="1"/>
          <p:nvPr/>
        </p:nvSpPr>
        <p:spPr>
          <a:xfrm>
            <a:off x="7679570" y="6415282"/>
            <a:ext cx="3638394" cy="276999"/>
          </a:xfrm>
          <a:prstGeom prst="rect">
            <a:avLst/>
          </a:prstGeom>
          <a:noFill/>
        </p:spPr>
        <p:txBody>
          <a:bodyPr wrap="square">
            <a:spAutoFit/>
          </a:bodyPr>
          <a:ls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CO" sz="1200" b="1" i="1" noProof="0">
                <a:solidFill>
                  <a:schemeClr val="tx2"/>
                </a:solidFill>
              </a:rPr>
              <a:t>Fuente: </a:t>
            </a:r>
            <a:r>
              <a:rPr lang="es-CO" sz="1200" i="1" noProof="0">
                <a:solidFill>
                  <a:schemeClr val="tx2"/>
                </a:solidFill>
              </a:rPr>
              <a:t>SAU INOOS </a:t>
            </a:r>
            <a:r>
              <a:rPr lang="es-CO" sz="1200" i="1">
                <a:solidFill>
                  <a:schemeClr val="tx2"/>
                </a:solidFill>
              </a:rPr>
              <a:t>Agosto </a:t>
            </a:r>
            <a:r>
              <a:rPr lang="es-CO" sz="1200" i="1" noProof="0">
                <a:solidFill>
                  <a:schemeClr val="tx2"/>
                </a:solidFill>
              </a:rPr>
              <a:t>2026</a:t>
            </a:r>
          </a:p>
        </p:txBody>
      </p:sp>
    </p:spTree>
    <p:extLst>
      <p:ext uri="{BB962C8B-B14F-4D97-AF65-F5344CB8AC3E}">
        <p14:creationId xmlns:p14="http://schemas.microsoft.com/office/powerpoint/2010/main" val="220640296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558614B7-9AF4-33C1-BBBE-A6A3E6606425}"/>
              </a:ext>
            </a:extLst>
          </p:cNvPr>
          <p:cNvSpPr txBox="1">
            <a:spLocks/>
          </p:cNvSpPr>
          <p:nvPr/>
        </p:nvSpPr>
        <p:spPr>
          <a:xfrm>
            <a:off x="838200" y="101552"/>
            <a:ext cx="10515600" cy="81207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400" b="1" kern="1200">
                <a:solidFill>
                  <a:srgbClr val="00A19C"/>
                </a:solidFill>
                <a:latin typeface="+mj-lt"/>
                <a:ea typeface="+mj-ea"/>
                <a:cs typeface="+mj-cs"/>
              </a:defRPr>
            </a:lvl1pPr>
          </a:lstStyle>
          <a:p>
            <a:r>
              <a:rPr lang="es-CO">
                <a:solidFill>
                  <a:schemeClr val="tx1"/>
                </a:solidFill>
                <a:latin typeface="Century Gothic"/>
              </a:rPr>
              <a:t>PQRSF Nacional</a:t>
            </a:r>
            <a:endParaRPr lang="es-ES"/>
          </a:p>
        </p:txBody>
      </p:sp>
      <p:graphicFrame>
        <p:nvGraphicFramePr>
          <p:cNvPr id="8" name="Tabla 7">
            <a:extLst>
              <a:ext uri="{FF2B5EF4-FFF2-40B4-BE49-F238E27FC236}">
                <a16:creationId xmlns:a16="http://schemas.microsoft.com/office/drawing/2014/main" id="{9FCCBD11-BB04-718E-8E98-9B11CD8E474F}"/>
              </a:ext>
            </a:extLst>
          </p:cNvPr>
          <p:cNvGraphicFramePr>
            <a:graphicFrameLocks noGrp="1"/>
          </p:cNvGraphicFramePr>
          <p:nvPr/>
        </p:nvGraphicFramePr>
        <p:xfrm>
          <a:off x="838200" y="4587294"/>
          <a:ext cx="4404362" cy="1419622"/>
        </p:xfrm>
        <a:graphic>
          <a:graphicData uri="http://schemas.openxmlformats.org/drawingml/2006/table">
            <a:tbl>
              <a:tblPr>
                <a:tableStyleId>{BC89EF96-8CEA-46FF-86C4-4CE0E7609802}</a:tableStyleId>
              </a:tblPr>
              <a:tblGrid>
                <a:gridCol w="829117">
                  <a:extLst>
                    <a:ext uri="{9D8B030D-6E8A-4147-A177-3AD203B41FA5}">
                      <a16:colId xmlns:a16="http://schemas.microsoft.com/office/drawing/2014/main" val="429197563"/>
                    </a:ext>
                  </a:extLst>
                </a:gridCol>
                <a:gridCol w="541704">
                  <a:extLst>
                    <a:ext uri="{9D8B030D-6E8A-4147-A177-3AD203B41FA5}">
                      <a16:colId xmlns:a16="http://schemas.microsoft.com/office/drawing/2014/main" val="3820412179"/>
                    </a:ext>
                  </a:extLst>
                </a:gridCol>
                <a:gridCol w="433363">
                  <a:extLst>
                    <a:ext uri="{9D8B030D-6E8A-4147-A177-3AD203B41FA5}">
                      <a16:colId xmlns:a16="http://schemas.microsoft.com/office/drawing/2014/main" val="1567067634"/>
                    </a:ext>
                  </a:extLst>
                </a:gridCol>
                <a:gridCol w="433363">
                  <a:extLst>
                    <a:ext uri="{9D8B030D-6E8A-4147-A177-3AD203B41FA5}">
                      <a16:colId xmlns:a16="http://schemas.microsoft.com/office/drawing/2014/main" val="3493246497"/>
                    </a:ext>
                  </a:extLst>
                </a:gridCol>
                <a:gridCol w="433363">
                  <a:extLst>
                    <a:ext uri="{9D8B030D-6E8A-4147-A177-3AD203B41FA5}">
                      <a16:colId xmlns:a16="http://schemas.microsoft.com/office/drawing/2014/main" val="3431327014"/>
                    </a:ext>
                  </a:extLst>
                </a:gridCol>
                <a:gridCol w="433363">
                  <a:extLst>
                    <a:ext uri="{9D8B030D-6E8A-4147-A177-3AD203B41FA5}">
                      <a16:colId xmlns:a16="http://schemas.microsoft.com/office/drawing/2014/main" val="1226321939"/>
                    </a:ext>
                  </a:extLst>
                </a:gridCol>
                <a:gridCol w="433363">
                  <a:extLst>
                    <a:ext uri="{9D8B030D-6E8A-4147-A177-3AD203B41FA5}">
                      <a16:colId xmlns:a16="http://schemas.microsoft.com/office/drawing/2014/main" val="2621043128"/>
                    </a:ext>
                  </a:extLst>
                </a:gridCol>
                <a:gridCol w="433363">
                  <a:extLst>
                    <a:ext uri="{9D8B030D-6E8A-4147-A177-3AD203B41FA5}">
                      <a16:colId xmlns:a16="http://schemas.microsoft.com/office/drawing/2014/main" val="2000360677"/>
                    </a:ext>
                  </a:extLst>
                </a:gridCol>
                <a:gridCol w="433363">
                  <a:extLst>
                    <a:ext uri="{9D8B030D-6E8A-4147-A177-3AD203B41FA5}">
                      <a16:colId xmlns:a16="http://schemas.microsoft.com/office/drawing/2014/main" val="1535978230"/>
                    </a:ext>
                  </a:extLst>
                </a:gridCol>
              </a:tblGrid>
              <a:tr h="344822">
                <a:tc>
                  <a:txBody>
                    <a:bodyPr/>
                    <a:lstStyle/>
                    <a:p>
                      <a:pPr algn="ctr" fontAlgn="ctr">
                        <a:buNone/>
                      </a:pPr>
                      <a:r>
                        <a:rPr lang="es-CO" sz="1100" u="none" strike="noStrike">
                          <a:solidFill>
                            <a:schemeClr val="bg1"/>
                          </a:solidFill>
                          <a:effectLst/>
                          <a:latin typeface="Aptos" panose="020B0004020202020204" pitchFamily="34" charset="0"/>
                        </a:rPr>
                        <a:t>REGIONAL</a:t>
                      </a:r>
                      <a:endParaRPr lang="es-CO" sz="1100" b="0" i="0" u="none" strike="noStrike">
                        <a:solidFill>
                          <a:schemeClr val="bg1"/>
                        </a:solidFill>
                        <a:effectLst/>
                        <a:latin typeface="Aptos" panose="020B0004020202020204" pitchFamily="34" charset="0"/>
                      </a:endParaRPr>
                    </a:p>
                  </a:txBody>
                  <a:tcPr marL="0" marR="0" marT="0" marB="0" anchor="ctr">
                    <a:solidFill>
                      <a:schemeClr val="tx1"/>
                    </a:solidFill>
                  </a:tcPr>
                </a:tc>
                <a:tc>
                  <a:txBody>
                    <a:bodyPr/>
                    <a:lstStyle/>
                    <a:p>
                      <a:pPr algn="ctr" fontAlgn="b">
                        <a:buNone/>
                      </a:pPr>
                      <a:r>
                        <a:rPr lang="es-CO" sz="1100" u="none" strike="noStrike">
                          <a:solidFill>
                            <a:schemeClr val="bg1"/>
                          </a:solidFill>
                          <a:effectLst/>
                          <a:latin typeface="Aptos" panose="020B0004020202020204" pitchFamily="34" charset="0"/>
                        </a:rPr>
                        <a:t>ENE</a:t>
                      </a:r>
                      <a:endParaRPr lang="es-CO" sz="1100" b="0" i="0" u="none" strike="noStrike">
                        <a:solidFill>
                          <a:schemeClr val="bg1"/>
                        </a:solidFill>
                        <a:effectLst/>
                        <a:latin typeface="Aptos" panose="020B0004020202020204" pitchFamily="34" charset="0"/>
                      </a:endParaRPr>
                    </a:p>
                  </a:txBody>
                  <a:tcPr marL="0" marR="0" marT="0" marB="0" anchor="ctr">
                    <a:solidFill>
                      <a:schemeClr val="tx1"/>
                    </a:solidFill>
                  </a:tcPr>
                </a:tc>
                <a:tc>
                  <a:txBody>
                    <a:bodyPr/>
                    <a:lstStyle/>
                    <a:p>
                      <a:pPr algn="ctr" fontAlgn="b">
                        <a:buNone/>
                      </a:pPr>
                      <a:r>
                        <a:rPr lang="es-CO" sz="1100" u="none" strike="noStrike">
                          <a:solidFill>
                            <a:schemeClr val="bg1"/>
                          </a:solidFill>
                          <a:effectLst/>
                          <a:latin typeface="Aptos" panose="020B0004020202020204" pitchFamily="34" charset="0"/>
                        </a:rPr>
                        <a:t>FEB</a:t>
                      </a:r>
                      <a:endParaRPr lang="es-CO" sz="1100" b="0" i="0" u="none" strike="noStrike">
                        <a:solidFill>
                          <a:schemeClr val="bg1"/>
                        </a:solidFill>
                        <a:effectLst/>
                        <a:latin typeface="Aptos" panose="020B0004020202020204" pitchFamily="34" charset="0"/>
                      </a:endParaRPr>
                    </a:p>
                  </a:txBody>
                  <a:tcPr marL="0" marR="0" marT="0" marB="0" anchor="ctr">
                    <a:solidFill>
                      <a:schemeClr val="tx1"/>
                    </a:solidFill>
                  </a:tcPr>
                </a:tc>
                <a:tc>
                  <a:txBody>
                    <a:bodyPr/>
                    <a:lstStyle/>
                    <a:p>
                      <a:pPr algn="ctr" fontAlgn="b">
                        <a:buNone/>
                      </a:pPr>
                      <a:r>
                        <a:rPr lang="es-MX" sz="1100" b="0" i="0" u="none" strike="noStrike">
                          <a:solidFill>
                            <a:schemeClr val="bg1"/>
                          </a:solidFill>
                          <a:effectLst/>
                          <a:latin typeface="Aptos" panose="020B0004020202020204" pitchFamily="34" charset="0"/>
                        </a:rPr>
                        <a:t>MAR</a:t>
                      </a:r>
                      <a:endParaRPr lang="es-CO" sz="1100" b="0" i="0" u="none" strike="noStrike">
                        <a:solidFill>
                          <a:schemeClr val="bg1"/>
                        </a:solidFill>
                        <a:effectLst/>
                        <a:latin typeface="Aptos" panose="020B0004020202020204" pitchFamily="34" charset="0"/>
                      </a:endParaRPr>
                    </a:p>
                  </a:txBody>
                  <a:tcPr marL="0" marR="0" marT="0" marB="0" anchor="ctr">
                    <a:solidFill>
                      <a:schemeClr val="tx1"/>
                    </a:solidFill>
                  </a:tcPr>
                </a:tc>
                <a:tc>
                  <a:txBody>
                    <a:bodyPr/>
                    <a:lstStyle/>
                    <a:p>
                      <a:pPr algn="ctr" fontAlgn="b">
                        <a:buNone/>
                      </a:pPr>
                      <a:r>
                        <a:rPr lang="es-MX" sz="1100" b="0" i="0" u="none" strike="noStrike">
                          <a:solidFill>
                            <a:schemeClr val="bg1"/>
                          </a:solidFill>
                          <a:effectLst/>
                          <a:latin typeface="Aptos" panose="020B0004020202020204" pitchFamily="34" charset="0"/>
                        </a:rPr>
                        <a:t>ABR</a:t>
                      </a:r>
                      <a:endParaRPr lang="es-CO" sz="1100" b="0" i="0" u="none" strike="noStrike">
                        <a:solidFill>
                          <a:schemeClr val="bg1"/>
                        </a:solidFill>
                        <a:effectLst/>
                        <a:latin typeface="Aptos" panose="020B0004020202020204" pitchFamily="34" charset="0"/>
                      </a:endParaRPr>
                    </a:p>
                  </a:txBody>
                  <a:tcPr marL="0" marR="0" marT="0" marB="0" anchor="ctr">
                    <a:solidFill>
                      <a:schemeClr val="tx1"/>
                    </a:solidFill>
                  </a:tcPr>
                </a:tc>
                <a:tc>
                  <a:txBody>
                    <a:bodyPr/>
                    <a:lstStyle/>
                    <a:p>
                      <a:pPr algn="ctr" fontAlgn="b">
                        <a:buNone/>
                      </a:pPr>
                      <a:r>
                        <a:rPr lang="es-MX" sz="1100" b="0" i="0" u="none" strike="noStrike">
                          <a:solidFill>
                            <a:schemeClr val="bg1"/>
                          </a:solidFill>
                          <a:effectLst/>
                          <a:latin typeface="Aptos" panose="020B0004020202020204" pitchFamily="34" charset="0"/>
                        </a:rPr>
                        <a:t>MAY</a:t>
                      </a:r>
                      <a:endParaRPr lang="es-CO" sz="1100" b="0" i="0" u="none" strike="noStrike">
                        <a:solidFill>
                          <a:schemeClr val="bg1"/>
                        </a:solidFill>
                        <a:effectLst/>
                        <a:latin typeface="Aptos" panose="020B0004020202020204" pitchFamily="34" charset="0"/>
                      </a:endParaRPr>
                    </a:p>
                  </a:txBody>
                  <a:tcPr marL="0" marR="0" marT="0" marB="0" anchor="ctr">
                    <a:solidFill>
                      <a:schemeClr val="tx1"/>
                    </a:solidFill>
                  </a:tcPr>
                </a:tc>
                <a:tc>
                  <a:txBody>
                    <a:bodyPr/>
                    <a:lstStyle/>
                    <a:p>
                      <a:pPr algn="ctr" fontAlgn="b">
                        <a:buNone/>
                      </a:pPr>
                      <a:r>
                        <a:rPr lang="es-MX" sz="1100" b="0" i="0" u="none" strike="noStrike">
                          <a:solidFill>
                            <a:schemeClr val="bg1"/>
                          </a:solidFill>
                          <a:effectLst/>
                          <a:latin typeface="Aptos" panose="020B0004020202020204" pitchFamily="34" charset="0"/>
                        </a:rPr>
                        <a:t>JUN</a:t>
                      </a:r>
                      <a:endParaRPr lang="es-CO" sz="1100" b="0" i="0" u="none" strike="noStrike">
                        <a:solidFill>
                          <a:schemeClr val="bg1"/>
                        </a:solidFill>
                        <a:effectLst/>
                        <a:latin typeface="Aptos" panose="020B0004020202020204" pitchFamily="34" charset="0"/>
                      </a:endParaRPr>
                    </a:p>
                  </a:txBody>
                  <a:tcPr marL="0" marR="0" marT="0" marB="0" anchor="ctr">
                    <a:solidFill>
                      <a:schemeClr val="tx1"/>
                    </a:solidFill>
                  </a:tcPr>
                </a:tc>
                <a:tc>
                  <a:txBody>
                    <a:bodyPr/>
                    <a:lstStyle/>
                    <a:p>
                      <a:pPr algn="ctr" fontAlgn="b">
                        <a:buNone/>
                      </a:pPr>
                      <a:r>
                        <a:rPr lang="es-ES" sz="1100" b="0" i="0" u="none" strike="noStrike">
                          <a:solidFill>
                            <a:schemeClr val="bg1"/>
                          </a:solidFill>
                          <a:effectLst/>
                          <a:latin typeface="Aptos" panose="020B0004020202020204" pitchFamily="34" charset="0"/>
                        </a:rPr>
                        <a:t>JUL</a:t>
                      </a:r>
                      <a:endParaRPr lang="es-CO" sz="1100" b="0" i="0" u="none" strike="noStrike">
                        <a:solidFill>
                          <a:schemeClr val="bg1"/>
                        </a:solidFill>
                        <a:effectLst/>
                        <a:latin typeface="Aptos" panose="020B0004020202020204" pitchFamily="34" charset="0"/>
                      </a:endParaRPr>
                    </a:p>
                  </a:txBody>
                  <a:tcPr marL="0" marR="0" marT="0" marB="0" anchor="ctr">
                    <a:solidFill>
                      <a:schemeClr val="tx1"/>
                    </a:solidFill>
                  </a:tcPr>
                </a:tc>
                <a:tc>
                  <a:txBody>
                    <a:bodyPr/>
                    <a:lstStyle/>
                    <a:p>
                      <a:pPr algn="ctr" fontAlgn="b">
                        <a:buNone/>
                      </a:pPr>
                      <a:r>
                        <a:rPr lang="es-ES" sz="1100" b="0" i="0" u="none" strike="noStrike">
                          <a:solidFill>
                            <a:schemeClr val="bg1"/>
                          </a:solidFill>
                          <a:effectLst/>
                          <a:latin typeface="Aptos" panose="020B0004020202020204" pitchFamily="34" charset="0"/>
                        </a:rPr>
                        <a:t>AGO</a:t>
                      </a:r>
                      <a:endParaRPr lang="es-CO" sz="1100" b="0" i="0" u="none" strike="noStrike">
                        <a:solidFill>
                          <a:schemeClr val="bg1"/>
                        </a:solidFill>
                        <a:effectLst/>
                        <a:latin typeface="Aptos" panose="020B0004020202020204" pitchFamily="34" charset="0"/>
                      </a:endParaRPr>
                    </a:p>
                  </a:txBody>
                  <a:tcPr marL="0" marR="0" marT="0" marB="0" anchor="ctr">
                    <a:solidFill>
                      <a:schemeClr val="tx1"/>
                    </a:solidFill>
                  </a:tcPr>
                </a:tc>
                <a:extLst>
                  <a:ext uri="{0D108BD9-81ED-4DB2-BD59-A6C34878D82A}">
                    <a16:rowId xmlns:a16="http://schemas.microsoft.com/office/drawing/2014/main" val="97715056"/>
                  </a:ext>
                </a:extLst>
              </a:tr>
              <a:tr h="385156">
                <a:tc>
                  <a:txBody>
                    <a:bodyPr/>
                    <a:lstStyle/>
                    <a:p>
                      <a:pPr algn="ctr" fontAlgn="b">
                        <a:buNone/>
                      </a:pPr>
                      <a:r>
                        <a:rPr lang="es-CO" sz="1100" u="none" strike="noStrike">
                          <a:solidFill>
                            <a:srgbClr val="000000"/>
                          </a:solidFill>
                          <a:effectLst/>
                          <a:latin typeface="Aptos" panose="020B0004020202020204" pitchFamily="34" charset="0"/>
                        </a:rPr>
                        <a:t>CAUCA</a:t>
                      </a:r>
                      <a:endParaRPr lang="es-CO" sz="1100" b="0" i="0" u="none" strike="noStrike">
                        <a:solidFill>
                          <a:srgbClr val="000000"/>
                        </a:solidFill>
                        <a:effectLst/>
                        <a:latin typeface="Aptos" panose="020B0004020202020204" pitchFamily="34" charset="0"/>
                      </a:endParaRPr>
                    </a:p>
                  </a:txBody>
                  <a:tcPr marL="0" marR="0" marT="0" marB="0" anchor="ctr"/>
                </a:tc>
                <a:tc>
                  <a:txBody>
                    <a:bodyPr/>
                    <a:lstStyle/>
                    <a:p>
                      <a:pPr algn="ctr" fontAlgn="b">
                        <a:buNone/>
                      </a:pPr>
                      <a:r>
                        <a:rPr lang="es-CO" sz="1100" u="none" strike="noStrike">
                          <a:solidFill>
                            <a:srgbClr val="000000"/>
                          </a:solidFill>
                          <a:effectLst/>
                          <a:latin typeface="Aptos" panose="020B0004020202020204" pitchFamily="34" charset="0"/>
                        </a:rPr>
                        <a:t>0,31</a:t>
                      </a:r>
                      <a:endParaRPr lang="es-CO" sz="1100" b="0" i="0" u="none" strike="noStrike">
                        <a:solidFill>
                          <a:srgbClr val="000000"/>
                        </a:solidFill>
                        <a:effectLst/>
                        <a:latin typeface="Aptos" panose="020B0004020202020204" pitchFamily="34" charset="0"/>
                      </a:endParaRPr>
                    </a:p>
                  </a:txBody>
                  <a:tcPr marL="0" marR="0" marT="0" marB="0" anchor="ctr"/>
                </a:tc>
                <a:tc>
                  <a:txBody>
                    <a:bodyPr/>
                    <a:lstStyle/>
                    <a:p>
                      <a:pPr algn="ctr" fontAlgn="b">
                        <a:buNone/>
                      </a:pPr>
                      <a:r>
                        <a:rPr lang="es-CO" sz="1100" u="none" strike="noStrike">
                          <a:solidFill>
                            <a:srgbClr val="000000"/>
                          </a:solidFill>
                          <a:effectLst/>
                          <a:latin typeface="Aptos" panose="020B0004020202020204" pitchFamily="34" charset="0"/>
                        </a:rPr>
                        <a:t>1,42</a:t>
                      </a:r>
                      <a:endParaRPr lang="es-CO" sz="1100" b="0" i="0" u="none" strike="noStrike">
                        <a:solidFill>
                          <a:srgbClr val="000000"/>
                        </a:solidFill>
                        <a:effectLst/>
                        <a:latin typeface="Aptos" panose="020B0004020202020204" pitchFamily="34" charset="0"/>
                      </a:endParaRPr>
                    </a:p>
                  </a:txBody>
                  <a:tcPr marL="0" marR="0" marT="0" marB="0" anchor="ctr"/>
                </a:tc>
                <a:tc>
                  <a:txBody>
                    <a:bodyPr/>
                    <a:lstStyle/>
                    <a:p>
                      <a:pPr algn="ctr" fontAlgn="b">
                        <a:buNone/>
                      </a:pPr>
                      <a:r>
                        <a:rPr lang="es-MX" sz="1100" b="0" i="0" u="none" strike="noStrike">
                          <a:solidFill>
                            <a:srgbClr val="000000"/>
                          </a:solidFill>
                          <a:effectLst/>
                          <a:latin typeface="Aptos" panose="020B0004020202020204" pitchFamily="34" charset="0"/>
                        </a:rPr>
                        <a:t>1,10</a:t>
                      </a:r>
                      <a:endParaRPr lang="es-CO" sz="1100" b="0" i="0" u="none" strike="noStrike">
                        <a:solidFill>
                          <a:srgbClr val="000000"/>
                        </a:solidFill>
                        <a:effectLst/>
                        <a:latin typeface="Aptos" panose="020B0004020202020204" pitchFamily="34" charset="0"/>
                      </a:endParaRPr>
                    </a:p>
                  </a:txBody>
                  <a:tcPr marL="0" marR="0" marT="0" marB="0" anchor="ctr"/>
                </a:tc>
                <a:tc>
                  <a:txBody>
                    <a:bodyPr/>
                    <a:lstStyle/>
                    <a:p>
                      <a:pPr algn="ctr" fontAlgn="b">
                        <a:buNone/>
                      </a:pPr>
                      <a:r>
                        <a:rPr lang="es-MX" sz="1100" b="0" i="0" u="none" strike="noStrike">
                          <a:solidFill>
                            <a:srgbClr val="000000"/>
                          </a:solidFill>
                          <a:effectLst/>
                          <a:latin typeface="Aptos" panose="020B0004020202020204" pitchFamily="34" charset="0"/>
                        </a:rPr>
                        <a:t>8,25</a:t>
                      </a:r>
                      <a:endParaRPr lang="es-CO" sz="1100" b="0" i="0" u="none" strike="noStrike">
                        <a:solidFill>
                          <a:srgbClr val="000000"/>
                        </a:solidFill>
                        <a:effectLst/>
                        <a:latin typeface="Aptos" panose="020B0004020202020204" pitchFamily="34" charset="0"/>
                      </a:endParaRPr>
                    </a:p>
                  </a:txBody>
                  <a:tcPr marL="0" marR="0" marT="0" marB="0" anchor="ctr"/>
                </a:tc>
                <a:tc>
                  <a:txBody>
                    <a:bodyPr/>
                    <a:lstStyle/>
                    <a:p>
                      <a:pPr algn="ctr" fontAlgn="b">
                        <a:buNone/>
                      </a:pPr>
                      <a:r>
                        <a:rPr lang="es-MX" sz="1100" b="0" i="0" u="none" strike="noStrike">
                          <a:solidFill>
                            <a:srgbClr val="000000"/>
                          </a:solidFill>
                          <a:effectLst/>
                          <a:latin typeface="Aptos" panose="020B0004020202020204" pitchFamily="34" charset="0"/>
                        </a:rPr>
                        <a:t>2,93</a:t>
                      </a:r>
                      <a:endParaRPr lang="es-CO" sz="1100" b="0" i="0" u="none" strike="noStrike">
                        <a:solidFill>
                          <a:srgbClr val="000000"/>
                        </a:solidFill>
                        <a:effectLst/>
                        <a:latin typeface="Aptos" panose="020B0004020202020204" pitchFamily="34" charset="0"/>
                      </a:endParaRPr>
                    </a:p>
                  </a:txBody>
                  <a:tcPr marL="0" marR="0" marT="0" marB="0" anchor="ctr"/>
                </a:tc>
                <a:tc>
                  <a:txBody>
                    <a:bodyPr/>
                    <a:lstStyle/>
                    <a:p>
                      <a:pPr algn="ctr" fontAlgn="b">
                        <a:buNone/>
                      </a:pPr>
                      <a:r>
                        <a:rPr lang="es-MX" sz="1100" b="0" i="0" u="none" strike="noStrike">
                          <a:solidFill>
                            <a:srgbClr val="000000"/>
                          </a:solidFill>
                          <a:effectLst/>
                          <a:latin typeface="Aptos" panose="020B0004020202020204" pitchFamily="34" charset="0"/>
                        </a:rPr>
                        <a:t>4,61</a:t>
                      </a:r>
                      <a:endParaRPr lang="es-CO" sz="1100" b="0" i="0" u="none" strike="noStrike">
                        <a:solidFill>
                          <a:srgbClr val="000000"/>
                        </a:solidFill>
                        <a:effectLst/>
                        <a:latin typeface="Aptos" panose="020B0004020202020204" pitchFamily="34" charset="0"/>
                      </a:endParaRPr>
                    </a:p>
                  </a:txBody>
                  <a:tcPr marL="0" marR="0" marT="0" marB="0" anchor="ctr"/>
                </a:tc>
                <a:tc>
                  <a:txBody>
                    <a:bodyPr/>
                    <a:lstStyle/>
                    <a:p>
                      <a:pPr algn="ctr" fontAlgn="b">
                        <a:buNone/>
                      </a:pPr>
                      <a:r>
                        <a:rPr lang="es-ES" sz="1100" b="0" i="0" u="none" strike="noStrike">
                          <a:solidFill>
                            <a:srgbClr val="000000"/>
                          </a:solidFill>
                          <a:effectLst/>
                          <a:latin typeface="Aptos" panose="020B0004020202020204" pitchFamily="34" charset="0"/>
                        </a:rPr>
                        <a:t>2,92</a:t>
                      </a:r>
                      <a:endParaRPr lang="es-CO" sz="1100" b="0" i="0" u="none" strike="noStrike">
                        <a:solidFill>
                          <a:srgbClr val="000000"/>
                        </a:solidFill>
                        <a:effectLst/>
                        <a:latin typeface="Aptos" panose="020B0004020202020204" pitchFamily="34" charset="0"/>
                      </a:endParaRPr>
                    </a:p>
                  </a:txBody>
                  <a:tcPr marL="0" marR="0" marT="0" marB="0" anchor="ctr"/>
                </a:tc>
                <a:tc>
                  <a:txBody>
                    <a:bodyPr/>
                    <a:lstStyle/>
                    <a:p>
                      <a:pPr algn="ctr" fontAlgn="b">
                        <a:buNone/>
                      </a:pPr>
                      <a:r>
                        <a:rPr lang="es-ES" sz="1100" b="0" i="0" u="none" strike="noStrike">
                          <a:solidFill>
                            <a:srgbClr val="000000"/>
                          </a:solidFill>
                          <a:effectLst/>
                          <a:latin typeface="Aptos" panose="020B0004020202020204" pitchFamily="34" charset="0"/>
                        </a:rPr>
                        <a:t>4,16</a:t>
                      </a:r>
                      <a:endParaRPr lang="es-CO" sz="1100" b="0" i="0" u="none" strike="noStrike">
                        <a:solidFill>
                          <a:srgbClr val="000000"/>
                        </a:solidFill>
                        <a:effectLst/>
                        <a:latin typeface="Aptos" panose="020B0004020202020204" pitchFamily="34" charset="0"/>
                      </a:endParaRPr>
                    </a:p>
                  </a:txBody>
                  <a:tcPr marL="0" marR="0" marT="0" marB="0" anchor="ctr"/>
                </a:tc>
                <a:extLst>
                  <a:ext uri="{0D108BD9-81ED-4DB2-BD59-A6C34878D82A}">
                    <a16:rowId xmlns:a16="http://schemas.microsoft.com/office/drawing/2014/main" val="1091626207"/>
                  </a:ext>
                </a:extLst>
              </a:tr>
              <a:tr h="344822">
                <a:tc>
                  <a:txBody>
                    <a:bodyPr/>
                    <a:lstStyle/>
                    <a:p>
                      <a:pPr algn="ctr" fontAlgn="b">
                        <a:buNone/>
                      </a:pPr>
                      <a:r>
                        <a:rPr lang="es-CO" sz="1100" u="none" strike="noStrike">
                          <a:solidFill>
                            <a:srgbClr val="000000"/>
                          </a:solidFill>
                          <a:effectLst/>
                          <a:latin typeface="Aptos" panose="020B0004020202020204" pitchFamily="34" charset="0"/>
                        </a:rPr>
                        <a:t>TOLIMA</a:t>
                      </a:r>
                      <a:endParaRPr lang="es-CO" sz="1100" b="0" i="0" u="none" strike="noStrike">
                        <a:solidFill>
                          <a:srgbClr val="000000"/>
                        </a:solidFill>
                        <a:effectLst/>
                        <a:latin typeface="Aptos" panose="020B0004020202020204" pitchFamily="34" charset="0"/>
                      </a:endParaRPr>
                    </a:p>
                  </a:txBody>
                  <a:tcPr marL="0" marR="0" marT="0" marB="0" anchor="ctr"/>
                </a:tc>
                <a:tc>
                  <a:txBody>
                    <a:bodyPr/>
                    <a:lstStyle/>
                    <a:p>
                      <a:pPr algn="ctr" fontAlgn="b">
                        <a:buNone/>
                      </a:pPr>
                      <a:r>
                        <a:rPr lang="es-CO" sz="1100" u="none" strike="noStrike">
                          <a:solidFill>
                            <a:srgbClr val="000000"/>
                          </a:solidFill>
                          <a:effectLst/>
                          <a:latin typeface="Aptos" panose="020B0004020202020204" pitchFamily="34" charset="0"/>
                        </a:rPr>
                        <a:t>3,98</a:t>
                      </a:r>
                      <a:endParaRPr lang="es-CO" sz="1100" b="0" i="0" u="none" strike="noStrike">
                        <a:solidFill>
                          <a:srgbClr val="000000"/>
                        </a:solidFill>
                        <a:effectLst/>
                        <a:latin typeface="Aptos" panose="020B0004020202020204" pitchFamily="34" charset="0"/>
                      </a:endParaRPr>
                    </a:p>
                  </a:txBody>
                  <a:tcPr marL="0" marR="0" marT="0" marB="0" anchor="ctr"/>
                </a:tc>
                <a:tc>
                  <a:txBody>
                    <a:bodyPr/>
                    <a:lstStyle/>
                    <a:p>
                      <a:pPr algn="ctr" fontAlgn="b">
                        <a:buNone/>
                      </a:pPr>
                      <a:r>
                        <a:rPr lang="es-CO" sz="1100" u="none" strike="noStrike">
                          <a:solidFill>
                            <a:srgbClr val="000000"/>
                          </a:solidFill>
                          <a:effectLst/>
                          <a:latin typeface="Aptos" panose="020B0004020202020204" pitchFamily="34" charset="0"/>
                        </a:rPr>
                        <a:t>7,65</a:t>
                      </a:r>
                      <a:endParaRPr lang="es-CO" sz="1100" b="0" i="0" u="none" strike="noStrike">
                        <a:solidFill>
                          <a:srgbClr val="000000"/>
                        </a:solidFill>
                        <a:effectLst/>
                        <a:latin typeface="Aptos" panose="020B0004020202020204" pitchFamily="34" charset="0"/>
                      </a:endParaRPr>
                    </a:p>
                  </a:txBody>
                  <a:tcPr marL="0" marR="0" marT="0" marB="0" anchor="ctr"/>
                </a:tc>
                <a:tc>
                  <a:txBody>
                    <a:bodyPr/>
                    <a:lstStyle/>
                    <a:p>
                      <a:pPr algn="ctr" fontAlgn="b">
                        <a:buNone/>
                      </a:pPr>
                      <a:r>
                        <a:rPr lang="es-MX" sz="1100" b="0" i="0" u="none" strike="noStrike">
                          <a:solidFill>
                            <a:srgbClr val="000000"/>
                          </a:solidFill>
                          <a:effectLst/>
                          <a:latin typeface="Aptos" panose="020B0004020202020204" pitchFamily="34" charset="0"/>
                        </a:rPr>
                        <a:t>0,0</a:t>
                      </a:r>
                      <a:endParaRPr lang="es-CO" sz="1100" b="0" i="0" u="none" strike="noStrike">
                        <a:solidFill>
                          <a:srgbClr val="000000"/>
                        </a:solidFill>
                        <a:effectLst/>
                        <a:latin typeface="Aptos" panose="020B0004020202020204" pitchFamily="34" charset="0"/>
                      </a:endParaRPr>
                    </a:p>
                  </a:txBody>
                  <a:tcPr marL="0" marR="0" marT="0" marB="0" anchor="ctr"/>
                </a:tc>
                <a:tc>
                  <a:txBody>
                    <a:bodyPr/>
                    <a:lstStyle/>
                    <a:p>
                      <a:pPr algn="ctr" fontAlgn="b">
                        <a:buNone/>
                      </a:pPr>
                      <a:r>
                        <a:rPr lang="es-MX" sz="1100" b="0" i="0" u="none" strike="noStrike">
                          <a:solidFill>
                            <a:srgbClr val="000000"/>
                          </a:solidFill>
                          <a:effectLst/>
                          <a:latin typeface="Aptos" panose="020B0004020202020204" pitchFamily="34" charset="0"/>
                        </a:rPr>
                        <a:t>6,58</a:t>
                      </a:r>
                      <a:endParaRPr lang="es-CO" sz="1100" b="0" i="0" u="none" strike="noStrike">
                        <a:solidFill>
                          <a:srgbClr val="000000"/>
                        </a:solidFill>
                        <a:effectLst/>
                        <a:latin typeface="Aptos" panose="020B0004020202020204" pitchFamily="34" charset="0"/>
                      </a:endParaRPr>
                    </a:p>
                  </a:txBody>
                  <a:tcPr marL="0" marR="0" marT="0" marB="0" anchor="ctr"/>
                </a:tc>
                <a:tc>
                  <a:txBody>
                    <a:bodyPr/>
                    <a:lstStyle/>
                    <a:p>
                      <a:pPr algn="ctr" fontAlgn="b">
                        <a:buNone/>
                      </a:pPr>
                      <a:r>
                        <a:rPr lang="es-MX" sz="1100" b="0" i="0" u="none" strike="noStrike">
                          <a:solidFill>
                            <a:srgbClr val="000000"/>
                          </a:solidFill>
                          <a:effectLst/>
                          <a:latin typeface="Aptos" panose="020B0004020202020204" pitchFamily="34" charset="0"/>
                        </a:rPr>
                        <a:t>4,34</a:t>
                      </a:r>
                      <a:endParaRPr lang="es-CO" sz="1100" b="0" i="0" u="none" strike="noStrike">
                        <a:solidFill>
                          <a:srgbClr val="000000"/>
                        </a:solidFill>
                        <a:effectLst/>
                        <a:latin typeface="Aptos" panose="020B0004020202020204" pitchFamily="34" charset="0"/>
                      </a:endParaRPr>
                    </a:p>
                  </a:txBody>
                  <a:tcPr marL="0" marR="0" marT="0" marB="0" anchor="ctr"/>
                </a:tc>
                <a:tc>
                  <a:txBody>
                    <a:bodyPr/>
                    <a:lstStyle/>
                    <a:p>
                      <a:pPr algn="ctr" fontAlgn="b">
                        <a:buNone/>
                      </a:pPr>
                      <a:r>
                        <a:rPr lang="es-MX" sz="1100" b="0" i="0" u="none" strike="noStrike">
                          <a:solidFill>
                            <a:srgbClr val="000000"/>
                          </a:solidFill>
                          <a:effectLst/>
                          <a:latin typeface="Aptos" panose="020B0004020202020204" pitchFamily="34" charset="0"/>
                        </a:rPr>
                        <a:t>4,65</a:t>
                      </a:r>
                      <a:endParaRPr lang="es-CO" sz="1100" b="0" i="0" u="none" strike="noStrike">
                        <a:solidFill>
                          <a:srgbClr val="000000"/>
                        </a:solidFill>
                        <a:effectLst/>
                        <a:latin typeface="Aptos" panose="020B0004020202020204" pitchFamily="34" charset="0"/>
                      </a:endParaRPr>
                    </a:p>
                  </a:txBody>
                  <a:tcPr marL="0" marR="0" marT="0" marB="0" anchor="ctr"/>
                </a:tc>
                <a:tc>
                  <a:txBody>
                    <a:bodyPr/>
                    <a:lstStyle/>
                    <a:p>
                      <a:pPr algn="ctr" fontAlgn="b">
                        <a:buNone/>
                      </a:pPr>
                      <a:r>
                        <a:rPr lang="es-ES" sz="1100" b="0" i="0" u="none" strike="noStrike">
                          <a:solidFill>
                            <a:srgbClr val="000000"/>
                          </a:solidFill>
                          <a:effectLst/>
                          <a:latin typeface="Aptos" panose="020B0004020202020204" pitchFamily="34" charset="0"/>
                        </a:rPr>
                        <a:t>19,82</a:t>
                      </a:r>
                      <a:endParaRPr lang="es-CO" sz="1100" b="0" i="0" u="none" strike="noStrike">
                        <a:solidFill>
                          <a:srgbClr val="000000"/>
                        </a:solidFill>
                        <a:effectLst/>
                        <a:latin typeface="Aptos" panose="020B0004020202020204" pitchFamily="34" charset="0"/>
                      </a:endParaRPr>
                    </a:p>
                  </a:txBody>
                  <a:tcPr marL="0" marR="0" marT="0" marB="0" anchor="ctr"/>
                </a:tc>
                <a:tc>
                  <a:txBody>
                    <a:bodyPr/>
                    <a:lstStyle/>
                    <a:p>
                      <a:pPr algn="ctr" fontAlgn="b">
                        <a:buNone/>
                      </a:pPr>
                      <a:r>
                        <a:rPr lang="es-ES" sz="1100" b="0" i="0" u="none" strike="noStrike">
                          <a:solidFill>
                            <a:srgbClr val="000000"/>
                          </a:solidFill>
                          <a:effectLst/>
                          <a:latin typeface="Aptos" panose="020B0004020202020204" pitchFamily="34" charset="0"/>
                        </a:rPr>
                        <a:t>9,17</a:t>
                      </a:r>
                      <a:endParaRPr lang="es-CO" sz="1100" b="0" i="0" u="none" strike="noStrike">
                        <a:solidFill>
                          <a:srgbClr val="000000"/>
                        </a:solidFill>
                        <a:effectLst/>
                        <a:latin typeface="Aptos" panose="020B0004020202020204" pitchFamily="34" charset="0"/>
                      </a:endParaRPr>
                    </a:p>
                  </a:txBody>
                  <a:tcPr marL="0" marR="0" marT="0" marB="0" anchor="ctr"/>
                </a:tc>
                <a:extLst>
                  <a:ext uri="{0D108BD9-81ED-4DB2-BD59-A6C34878D82A}">
                    <a16:rowId xmlns:a16="http://schemas.microsoft.com/office/drawing/2014/main" val="1247583481"/>
                  </a:ext>
                </a:extLst>
              </a:tr>
              <a:tr h="344822">
                <a:tc>
                  <a:txBody>
                    <a:bodyPr/>
                    <a:lstStyle/>
                    <a:p>
                      <a:pPr algn="ctr" fontAlgn="b">
                        <a:buNone/>
                      </a:pPr>
                      <a:r>
                        <a:rPr lang="es-CO" sz="1100" u="none" strike="noStrike">
                          <a:solidFill>
                            <a:srgbClr val="000000"/>
                          </a:solidFill>
                          <a:effectLst/>
                          <a:latin typeface="Aptos" panose="020B0004020202020204" pitchFamily="34" charset="0"/>
                        </a:rPr>
                        <a:t>VALLE</a:t>
                      </a:r>
                      <a:endParaRPr lang="es-CO" sz="1100" b="0" i="0" u="none" strike="noStrike">
                        <a:solidFill>
                          <a:srgbClr val="000000"/>
                        </a:solidFill>
                        <a:effectLst/>
                        <a:latin typeface="Aptos" panose="020B0004020202020204" pitchFamily="34" charset="0"/>
                      </a:endParaRPr>
                    </a:p>
                  </a:txBody>
                  <a:tcPr marL="0" marR="0" marT="0" marB="0" anchor="ctr"/>
                </a:tc>
                <a:tc>
                  <a:txBody>
                    <a:bodyPr/>
                    <a:lstStyle/>
                    <a:p>
                      <a:pPr algn="ctr" fontAlgn="b">
                        <a:buNone/>
                      </a:pPr>
                      <a:r>
                        <a:rPr lang="es-CO" sz="1100" u="none" strike="noStrike">
                          <a:solidFill>
                            <a:srgbClr val="000000"/>
                          </a:solidFill>
                          <a:effectLst/>
                          <a:latin typeface="Aptos" panose="020B0004020202020204" pitchFamily="34" charset="0"/>
                        </a:rPr>
                        <a:t>3,49</a:t>
                      </a:r>
                      <a:endParaRPr lang="es-CO" sz="1100" b="0" i="0" u="none" strike="noStrike">
                        <a:solidFill>
                          <a:srgbClr val="000000"/>
                        </a:solidFill>
                        <a:effectLst/>
                        <a:latin typeface="Aptos" panose="020B0004020202020204" pitchFamily="34" charset="0"/>
                      </a:endParaRPr>
                    </a:p>
                  </a:txBody>
                  <a:tcPr marL="0" marR="0" marT="0" marB="0" anchor="ctr"/>
                </a:tc>
                <a:tc>
                  <a:txBody>
                    <a:bodyPr/>
                    <a:lstStyle/>
                    <a:p>
                      <a:pPr algn="ctr" fontAlgn="b">
                        <a:buNone/>
                      </a:pPr>
                      <a:r>
                        <a:rPr lang="es-CO" sz="1100" u="none" strike="noStrike">
                          <a:solidFill>
                            <a:srgbClr val="000000"/>
                          </a:solidFill>
                          <a:effectLst/>
                          <a:latin typeface="Aptos" panose="020B0004020202020204" pitchFamily="34" charset="0"/>
                        </a:rPr>
                        <a:t>4,36</a:t>
                      </a:r>
                      <a:endParaRPr lang="es-CO" sz="1100" b="0" i="0" u="none" strike="noStrike">
                        <a:solidFill>
                          <a:srgbClr val="000000"/>
                        </a:solidFill>
                        <a:effectLst/>
                        <a:latin typeface="Aptos" panose="020B0004020202020204" pitchFamily="34" charset="0"/>
                      </a:endParaRPr>
                    </a:p>
                  </a:txBody>
                  <a:tcPr marL="0" marR="0" marT="0" marB="0" anchor="ctr"/>
                </a:tc>
                <a:tc>
                  <a:txBody>
                    <a:bodyPr/>
                    <a:lstStyle/>
                    <a:p>
                      <a:pPr algn="ctr" fontAlgn="b">
                        <a:buNone/>
                      </a:pPr>
                      <a:r>
                        <a:rPr lang="es-MX" sz="1100" b="0" i="0" u="none" strike="noStrike">
                          <a:solidFill>
                            <a:srgbClr val="000000"/>
                          </a:solidFill>
                          <a:effectLst/>
                          <a:latin typeface="Aptos" panose="020B0004020202020204" pitchFamily="34" charset="0"/>
                        </a:rPr>
                        <a:t>4,99</a:t>
                      </a:r>
                      <a:endParaRPr lang="es-CO" sz="1100" b="0" i="0" u="none" strike="noStrike">
                        <a:solidFill>
                          <a:srgbClr val="000000"/>
                        </a:solidFill>
                        <a:effectLst/>
                        <a:latin typeface="Aptos" panose="020B0004020202020204" pitchFamily="34" charset="0"/>
                      </a:endParaRPr>
                    </a:p>
                  </a:txBody>
                  <a:tcPr marL="0" marR="0" marT="0" marB="0" anchor="ctr"/>
                </a:tc>
                <a:tc>
                  <a:txBody>
                    <a:bodyPr/>
                    <a:lstStyle/>
                    <a:p>
                      <a:pPr algn="ctr" fontAlgn="b">
                        <a:buNone/>
                      </a:pPr>
                      <a:r>
                        <a:rPr lang="es-MX" sz="1100" b="0" i="0" u="none" strike="noStrike">
                          <a:solidFill>
                            <a:srgbClr val="000000"/>
                          </a:solidFill>
                          <a:effectLst/>
                          <a:latin typeface="Aptos" panose="020B0004020202020204" pitchFamily="34" charset="0"/>
                        </a:rPr>
                        <a:t>9,89</a:t>
                      </a:r>
                      <a:endParaRPr lang="es-CO" sz="1100" b="0" i="0" u="none" strike="noStrike">
                        <a:solidFill>
                          <a:srgbClr val="000000"/>
                        </a:solidFill>
                        <a:effectLst/>
                        <a:latin typeface="Aptos" panose="020B0004020202020204" pitchFamily="34" charset="0"/>
                      </a:endParaRPr>
                    </a:p>
                  </a:txBody>
                  <a:tcPr marL="0" marR="0" marT="0" marB="0" anchor="ctr"/>
                </a:tc>
                <a:tc>
                  <a:txBody>
                    <a:bodyPr/>
                    <a:lstStyle/>
                    <a:p>
                      <a:pPr algn="ctr" fontAlgn="b">
                        <a:buNone/>
                      </a:pPr>
                      <a:r>
                        <a:rPr lang="es-MX" sz="1100" b="0" i="0" u="none" strike="noStrike">
                          <a:solidFill>
                            <a:srgbClr val="000000"/>
                          </a:solidFill>
                          <a:effectLst/>
                          <a:latin typeface="Aptos" panose="020B0004020202020204" pitchFamily="34" charset="0"/>
                        </a:rPr>
                        <a:t>11,87</a:t>
                      </a:r>
                      <a:endParaRPr lang="es-CO" sz="1100" b="0" i="0" u="none" strike="noStrike">
                        <a:solidFill>
                          <a:srgbClr val="000000"/>
                        </a:solidFill>
                        <a:effectLst/>
                        <a:latin typeface="Aptos" panose="020B0004020202020204" pitchFamily="34" charset="0"/>
                      </a:endParaRPr>
                    </a:p>
                  </a:txBody>
                  <a:tcPr marL="0" marR="0" marT="0" marB="0" anchor="ctr"/>
                </a:tc>
                <a:tc>
                  <a:txBody>
                    <a:bodyPr/>
                    <a:lstStyle/>
                    <a:p>
                      <a:pPr algn="ctr" fontAlgn="b">
                        <a:buNone/>
                      </a:pPr>
                      <a:r>
                        <a:rPr lang="es-MX" sz="1100" b="0" i="0" u="none" strike="noStrike">
                          <a:solidFill>
                            <a:srgbClr val="000000"/>
                          </a:solidFill>
                          <a:effectLst/>
                          <a:latin typeface="Aptos" panose="020B0004020202020204" pitchFamily="34" charset="0"/>
                        </a:rPr>
                        <a:t>7,88</a:t>
                      </a:r>
                      <a:endParaRPr lang="es-CO" sz="1100" b="0" i="0" u="none" strike="noStrike">
                        <a:solidFill>
                          <a:srgbClr val="000000"/>
                        </a:solidFill>
                        <a:effectLst/>
                        <a:latin typeface="Aptos" panose="020B0004020202020204" pitchFamily="34" charset="0"/>
                      </a:endParaRPr>
                    </a:p>
                  </a:txBody>
                  <a:tcPr marL="0" marR="0" marT="0" marB="0" anchor="ctr"/>
                </a:tc>
                <a:tc>
                  <a:txBody>
                    <a:bodyPr/>
                    <a:lstStyle/>
                    <a:p>
                      <a:pPr algn="ctr" fontAlgn="b">
                        <a:buNone/>
                      </a:pPr>
                      <a:r>
                        <a:rPr lang="es-ES" sz="1100" b="0" i="0" u="none" strike="noStrike">
                          <a:solidFill>
                            <a:srgbClr val="000000"/>
                          </a:solidFill>
                          <a:effectLst/>
                          <a:latin typeface="Aptos" panose="020B0004020202020204" pitchFamily="34" charset="0"/>
                        </a:rPr>
                        <a:t>10,98</a:t>
                      </a:r>
                      <a:endParaRPr lang="es-CO" sz="1100" b="0" i="0" u="none" strike="noStrike">
                        <a:solidFill>
                          <a:srgbClr val="000000"/>
                        </a:solidFill>
                        <a:effectLst/>
                        <a:latin typeface="Aptos" panose="020B0004020202020204" pitchFamily="34" charset="0"/>
                      </a:endParaRPr>
                    </a:p>
                  </a:txBody>
                  <a:tcPr marL="0" marR="0" marT="0" marB="0" anchor="ctr"/>
                </a:tc>
                <a:tc>
                  <a:txBody>
                    <a:bodyPr/>
                    <a:lstStyle/>
                    <a:p>
                      <a:pPr algn="ctr" fontAlgn="b">
                        <a:buNone/>
                      </a:pPr>
                      <a:r>
                        <a:rPr lang="es-ES" sz="1100" b="0" i="0" u="none" strike="noStrike">
                          <a:solidFill>
                            <a:srgbClr val="000000"/>
                          </a:solidFill>
                          <a:effectLst/>
                          <a:latin typeface="Aptos" panose="020B0004020202020204" pitchFamily="34" charset="0"/>
                        </a:rPr>
                        <a:t>9,80</a:t>
                      </a:r>
                      <a:endParaRPr lang="es-CO" sz="1100" b="0" i="0" u="none" strike="noStrike">
                        <a:solidFill>
                          <a:srgbClr val="000000"/>
                        </a:solidFill>
                        <a:effectLst/>
                        <a:latin typeface="Aptos" panose="020B0004020202020204" pitchFamily="34" charset="0"/>
                      </a:endParaRPr>
                    </a:p>
                  </a:txBody>
                  <a:tcPr marL="0" marR="0" marT="0" marB="0" anchor="ctr"/>
                </a:tc>
                <a:extLst>
                  <a:ext uri="{0D108BD9-81ED-4DB2-BD59-A6C34878D82A}">
                    <a16:rowId xmlns:a16="http://schemas.microsoft.com/office/drawing/2014/main" val="633256060"/>
                  </a:ext>
                </a:extLst>
              </a:tr>
            </a:tbl>
          </a:graphicData>
        </a:graphic>
      </p:graphicFrame>
      <p:graphicFrame>
        <p:nvGraphicFramePr>
          <p:cNvPr id="13" name="Tabla 12">
            <a:extLst>
              <a:ext uri="{FF2B5EF4-FFF2-40B4-BE49-F238E27FC236}">
                <a16:creationId xmlns:a16="http://schemas.microsoft.com/office/drawing/2014/main" id="{3DCAD973-1BE0-98FF-4F17-BAA05EF792A0}"/>
              </a:ext>
            </a:extLst>
          </p:cNvPr>
          <p:cNvGraphicFramePr>
            <a:graphicFrameLocks noGrp="1"/>
          </p:cNvGraphicFramePr>
          <p:nvPr/>
        </p:nvGraphicFramePr>
        <p:xfrm>
          <a:off x="7376160" y="4587294"/>
          <a:ext cx="3898796" cy="1419624"/>
        </p:xfrm>
        <a:graphic>
          <a:graphicData uri="http://schemas.openxmlformats.org/drawingml/2006/table">
            <a:tbl>
              <a:tblPr>
                <a:tableStyleId>{616DA210-FB5B-4158-B5E0-FEB733F419BA}</a:tableStyleId>
              </a:tblPr>
              <a:tblGrid>
                <a:gridCol w="815956">
                  <a:extLst>
                    <a:ext uri="{9D8B030D-6E8A-4147-A177-3AD203B41FA5}">
                      <a16:colId xmlns:a16="http://schemas.microsoft.com/office/drawing/2014/main" val="603676852"/>
                    </a:ext>
                  </a:extLst>
                </a:gridCol>
                <a:gridCol w="705400">
                  <a:extLst>
                    <a:ext uri="{9D8B030D-6E8A-4147-A177-3AD203B41FA5}">
                      <a16:colId xmlns:a16="http://schemas.microsoft.com/office/drawing/2014/main" val="1268954258"/>
                    </a:ext>
                  </a:extLst>
                </a:gridCol>
                <a:gridCol w="792480">
                  <a:extLst>
                    <a:ext uri="{9D8B030D-6E8A-4147-A177-3AD203B41FA5}">
                      <a16:colId xmlns:a16="http://schemas.microsoft.com/office/drawing/2014/main" val="2567182184"/>
                    </a:ext>
                  </a:extLst>
                </a:gridCol>
                <a:gridCol w="883920">
                  <a:extLst>
                    <a:ext uri="{9D8B030D-6E8A-4147-A177-3AD203B41FA5}">
                      <a16:colId xmlns:a16="http://schemas.microsoft.com/office/drawing/2014/main" val="3895648890"/>
                    </a:ext>
                  </a:extLst>
                </a:gridCol>
                <a:gridCol w="701040">
                  <a:extLst>
                    <a:ext uri="{9D8B030D-6E8A-4147-A177-3AD203B41FA5}">
                      <a16:colId xmlns:a16="http://schemas.microsoft.com/office/drawing/2014/main" val="1707129047"/>
                    </a:ext>
                  </a:extLst>
                </a:gridCol>
              </a:tblGrid>
              <a:tr h="236604">
                <a:tc>
                  <a:txBody>
                    <a:bodyPr/>
                    <a:lstStyle/>
                    <a:p>
                      <a:pPr algn="ctr" fontAlgn="ctr">
                        <a:buNone/>
                      </a:pPr>
                      <a:r>
                        <a:rPr lang="es-CO" sz="1100" u="none" strike="noStrike">
                          <a:solidFill>
                            <a:schemeClr val="bg1"/>
                          </a:solidFill>
                          <a:effectLst/>
                          <a:latin typeface="Aptos" panose="020B0004020202020204" pitchFamily="34" charset="0"/>
                        </a:rPr>
                        <a:t>Tipo</a:t>
                      </a:r>
                      <a:endParaRPr lang="es-CO" sz="1100" b="0" i="0" u="none" strike="noStrike">
                        <a:solidFill>
                          <a:schemeClr val="bg1"/>
                        </a:solidFill>
                        <a:effectLst/>
                        <a:latin typeface="Aptos" panose="020B0004020202020204" pitchFamily="34" charset="0"/>
                      </a:endParaRPr>
                    </a:p>
                  </a:txBody>
                  <a:tcPr marL="0" marR="0" marT="0" marB="0" anchor="ctr">
                    <a:solidFill>
                      <a:schemeClr val="tx1"/>
                    </a:solidFill>
                  </a:tcPr>
                </a:tc>
                <a:tc>
                  <a:txBody>
                    <a:bodyPr/>
                    <a:lstStyle/>
                    <a:p>
                      <a:pPr algn="ctr" fontAlgn="ctr">
                        <a:buNone/>
                      </a:pPr>
                      <a:r>
                        <a:rPr lang="es-CO" sz="1100" u="none" strike="noStrike">
                          <a:solidFill>
                            <a:schemeClr val="bg1"/>
                          </a:solidFill>
                          <a:effectLst/>
                          <a:latin typeface="Aptos" panose="020B0004020202020204" pitchFamily="34" charset="0"/>
                        </a:rPr>
                        <a:t>Salud Total</a:t>
                      </a:r>
                      <a:endParaRPr lang="es-CO" sz="1100" b="0" i="0" u="none" strike="noStrike">
                        <a:solidFill>
                          <a:schemeClr val="bg1"/>
                        </a:solidFill>
                        <a:effectLst/>
                        <a:latin typeface="Aptos" panose="020B0004020202020204" pitchFamily="34" charset="0"/>
                      </a:endParaRPr>
                    </a:p>
                  </a:txBody>
                  <a:tcPr marL="0" marR="0" marT="0" marB="0" anchor="ctr">
                    <a:solidFill>
                      <a:schemeClr val="tx1"/>
                    </a:solidFill>
                  </a:tcPr>
                </a:tc>
                <a:tc>
                  <a:txBody>
                    <a:bodyPr/>
                    <a:lstStyle/>
                    <a:p>
                      <a:pPr algn="ctr" fontAlgn="ctr">
                        <a:buNone/>
                      </a:pPr>
                      <a:r>
                        <a:rPr lang="es-CO" sz="1100" u="none" strike="noStrike">
                          <a:solidFill>
                            <a:schemeClr val="bg1"/>
                          </a:solidFill>
                          <a:effectLst/>
                          <a:latin typeface="Aptos" panose="020B0004020202020204" pitchFamily="34" charset="0"/>
                        </a:rPr>
                        <a:t>Sanitas</a:t>
                      </a:r>
                      <a:endParaRPr lang="es-CO" sz="1100" b="0" i="0" u="none" strike="noStrike">
                        <a:solidFill>
                          <a:schemeClr val="bg1"/>
                        </a:solidFill>
                        <a:effectLst/>
                        <a:latin typeface="Aptos" panose="020B0004020202020204" pitchFamily="34" charset="0"/>
                      </a:endParaRPr>
                    </a:p>
                  </a:txBody>
                  <a:tcPr marL="0" marR="0" marT="0" marB="0" anchor="ctr">
                    <a:solidFill>
                      <a:schemeClr val="tx1"/>
                    </a:solidFill>
                  </a:tcPr>
                </a:tc>
                <a:tc>
                  <a:txBody>
                    <a:bodyPr/>
                    <a:lstStyle/>
                    <a:p>
                      <a:pPr algn="ctr" fontAlgn="ctr">
                        <a:buNone/>
                      </a:pPr>
                      <a:r>
                        <a:rPr lang="es-CO" sz="1100" u="none" strike="noStrike">
                          <a:solidFill>
                            <a:schemeClr val="bg1"/>
                          </a:solidFill>
                          <a:effectLst/>
                          <a:latin typeface="Aptos" panose="020B0004020202020204" pitchFamily="34" charset="0"/>
                        </a:rPr>
                        <a:t>Emssanar </a:t>
                      </a:r>
                      <a:endParaRPr lang="es-CO" sz="1100" b="0" i="0" u="none" strike="noStrike">
                        <a:solidFill>
                          <a:schemeClr val="bg1"/>
                        </a:solidFill>
                        <a:effectLst/>
                        <a:latin typeface="Aptos" panose="020B0004020202020204" pitchFamily="34" charset="0"/>
                      </a:endParaRPr>
                    </a:p>
                  </a:txBody>
                  <a:tcPr marL="0" marR="0" marT="0" marB="0" anchor="ctr">
                    <a:solidFill>
                      <a:schemeClr val="tx1"/>
                    </a:solidFill>
                  </a:tcPr>
                </a:tc>
                <a:tc>
                  <a:txBody>
                    <a:bodyPr/>
                    <a:lstStyle/>
                    <a:p>
                      <a:pPr algn="ctr" fontAlgn="ctr">
                        <a:buNone/>
                      </a:pPr>
                      <a:r>
                        <a:rPr lang="es-CO" sz="1100" u="none" strike="noStrike">
                          <a:solidFill>
                            <a:schemeClr val="bg1"/>
                          </a:solidFill>
                          <a:effectLst/>
                          <a:latin typeface="Aptos" panose="020B0004020202020204" pitchFamily="34" charset="0"/>
                        </a:rPr>
                        <a:t>Otros</a:t>
                      </a:r>
                      <a:endParaRPr lang="es-CO" sz="1100" b="0" i="0" u="none" strike="noStrike">
                        <a:solidFill>
                          <a:schemeClr val="bg1"/>
                        </a:solidFill>
                        <a:effectLst/>
                        <a:latin typeface="Aptos" panose="020B0004020202020204" pitchFamily="34" charset="0"/>
                      </a:endParaRPr>
                    </a:p>
                  </a:txBody>
                  <a:tcPr marL="0" marR="0" marT="0" marB="0" anchor="ctr">
                    <a:solidFill>
                      <a:schemeClr val="tx1"/>
                    </a:solidFill>
                  </a:tcPr>
                </a:tc>
                <a:extLst>
                  <a:ext uri="{0D108BD9-81ED-4DB2-BD59-A6C34878D82A}">
                    <a16:rowId xmlns:a16="http://schemas.microsoft.com/office/drawing/2014/main" val="469957168"/>
                  </a:ext>
                </a:extLst>
              </a:tr>
              <a:tr h="236604">
                <a:tc>
                  <a:txBody>
                    <a:bodyPr/>
                    <a:lstStyle/>
                    <a:p>
                      <a:pPr algn="ctr" fontAlgn="ctr">
                        <a:buNone/>
                      </a:pPr>
                      <a:r>
                        <a:rPr lang="es-CO" sz="1100" u="none" strike="noStrike">
                          <a:solidFill>
                            <a:schemeClr val="tx1">
                              <a:lumMod val="50000"/>
                            </a:schemeClr>
                          </a:solidFill>
                          <a:effectLst/>
                          <a:latin typeface="Aptos" panose="020B0004020202020204" pitchFamily="34" charset="0"/>
                        </a:rPr>
                        <a:t>Petición</a:t>
                      </a:r>
                      <a:endParaRPr lang="es-CO" sz="1100" b="0" i="0" u="none" strike="noStrike">
                        <a:solidFill>
                          <a:schemeClr val="tx1">
                            <a:lumMod val="50000"/>
                          </a:schemeClr>
                        </a:solidFill>
                        <a:effectLst/>
                        <a:latin typeface="Aptos" panose="020B0004020202020204" pitchFamily="34" charset="0"/>
                      </a:endParaRPr>
                    </a:p>
                  </a:txBody>
                  <a:tcPr marL="0" marR="0" marT="0" marB="0" anchor="ctr"/>
                </a:tc>
                <a:tc>
                  <a:txBody>
                    <a:bodyPr/>
                    <a:lstStyle/>
                    <a:p>
                      <a:pPr algn="ctr" fontAlgn="ctr">
                        <a:buNone/>
                      </a:pPr>
                      <a:r>
                        <a:rPr lang="es-CO" sz="1050" b="0" i="0" u="none" strike="noStrike">
                          <a:solidFill>
                            <a:srgbClr val="000000"/>
                          </a:solidFill>
                          <a:effectLst/>
                          <a:latin typeface="Aptos" panose="020B0004020202020204" pitchFamily="34" charset="0"/>
                        </a:rPr>
                        <a:t>23</a:t>
                      </a:r>
                    </a:p>
                  </a:txBody>
                  <a:tcPr marL="0" marR="0" marT="0" marB="0" anchor="ctr"/>
                </a:tc>
                <a:tc>
                  <a:txBody>
                    <a:bodyPr/>
                    <a:lstStyle/>
                    <a:p>
                      <a:pPr algn="ctr" fontAlgn="ctr">
                        <a:buNone/>
                      </a:pPr>
                      <a:r>
                        <a:rPr lang="es-CO" sz="1050" b="0" i="0" u="none" strike="noStrike">
                          <a:solidFill>
                            <a:srgbClr val="000000"/>
                          </a:solidFill>
                          <a:effectLst/>
                          <a:latin typeface="Aptos" panose="020B0004020202020204" pitchFamily="34" charset="0"/>
                        </a:rPr>
                        <a:t>16</a:t>
                      </a:r>
                    </a:p>
                  </a:txBody>
                  <a:tcPr marL="0" marR="0" marT="0" marB="0" anchor="ctr"/>
                </a:tc>
                <a:tc>
                  <a:txBody>
                    <a:bodyPr/>
                    <a:lstStyle/>
                    <a:p>
                      <a:pPr algn="ctr" fontAlgn="ctr">
                        <a:buNone/>
                      </a:pPr>
                      <a:r>
                        <a:rPr lang="es-CO" sz="1050" b="0" i="0" u="none" strike="noStrike">
                          <a:solidFill>
                            <a:srgbClr val="000000"/>
                          </a:solidFill>
                          <a:effectLst/>
                          <a:latin typeface="Aptos" panose="020B0004020202020204" pitchFamily="34" charset="0"/>
                        </a:rPr>
                        <a:t>7</a:t>
                      </a:r>
                    </a:p>
                  </a:txBody>
                  <a:tcPr marL="0" marR="0" marT="0" marB="0" anchor="ctr"/>
                </a:tc>
                <a:tc>
                  <a:txBody>
                    <a:bodyPr/>
                    <a:lstStyle/>
                    <a:p>
                      <a:pPr algn="ctr" fontAlgn="ctr">
                        <a:buNone/>
                      </a:pPr>
                      <a:r>
                        <a:rPr lang="es-CO" sz="1050" b="0" i="0" u="none" strike="noStrike">
                          <a:solidFill>
                            <a:srgbClr val="000000"/>
                          </a:solidFill>
                          <a:effectLst/>
                          <a:latin typeface="Aptos" panose="020B0004020202020204" pitchFamily="34" charset="0"/>
                        </a:rPr>
                        <a:t>0</a:t>
                      </a:r>
                    </a:p>
                  </a:txBody>
                  <a:tcPr marL="0" marR="0" marT="0" marB="0" anchor="ctr"/>
                </a:tc>
                <a:extLst>
                  <a:ext uri="{0D108BD9-81ED-4DB2-BD59-A6C34878D82A}">
                    <a16:rowId xmlns:a16="http://schemas.microsoft.com/office/drawing/2014/main" val="1921968799"/>
                  </a:ext>
                </a:extLst>
              </a:tr>
              <a:tr h="236604">
                <a:tc>
                  <a:txBody>
                    <a:bodyPr/>
                    <a:lstStyle/>
                    <a:p>
                      <a:pPr algn="ctr" fontAlgn="ctr">
                        <a:buNone/>
                      </a:pPr>
                      <a:r>
                        <a:rPr lang="es-CO" sz="1100" u="none" strike="noStrike">
                          <a:solidFill>
                            <a:schemeClr val="tx1">
                              <a:lumMod val="50000"/>
                            </a:schemeClr>
                          </a:solidFill>
                          <a:effectLst/>
                          <a:latin typeface="Aptos" panose="020B0004020202020204" pitchFamily="34" charset="0"/>
                        </a:rPr>
                        <a:t>Queja</a:t>
                      </a:r>
                      <a:endParaRPr lang="es-CO" sz="1100" b="0" i="0" u="none" strike="noStrike">
                        <a:solidFill>
                          <a:schemeClr val="tx1">
                            <a:lumMod val="50000"/>
                          </a:schemeClr>
                        </a:solidFill>
                        <a:effectLst/>
                        <a:latin typeface="Aptos" panose="020B0004020202020204" pitchFamily="34" charset="0"/>
                      </a:endParaRPr>
                    </a:p>
                  </a:txBody>
                  <a:tcPr marL="0" marR="0" marT="0" marB="0" anchor="ctr"/>
                </a:tc>
                <a:tc>
                  <a:txBody>
                    <a:bodyPr/>
                    <a:lstStyle/>
                    <a:p>
                      <a:pPr algn="ctr" fontAlgn="ctr">
                        <a:buNone/>
                      </a:pPr>
                      <a:r>
                        <a:rPr lang="es-CO" sz="1050" b="0" i="0" u="none" strike="noStrike">
                          <a:solidFill>
                            <a:srgbClr val="000000"/>
                          </a:solidFill>
                          <a:effectLst/>
                          <a:latin typeface="Aptos" panose="020B0004020202020204" pitchFamily="34" charset="0"/>
                        </a:rPr>
                        <a:t>0</a:t>
                      </a:r>
                    </a:p>
                  </a:txBody>
                  <a:tcPr marL="0" marR="0" marT="0" marB="0" anchor="ctr"/>
                </a:tc>
                <a:tc>
                  <a:txBody>
                    <a:bodyPr/>
                    <a:lstStyle/>
                    <a:p>
                      <a:pPr algn="ctr" fontAlgn="ctr">
                        <a:buNone/>
                      </a:pPr>
                      <a:r>
                        <a:rPr lang="es-CO" sz="1050" b="0" i="0" u="none" strike="noStrike">
                          <a:solidFill>
                            <a:srgbClr val="000000"/>
                          </a:solidFill>
                          <a:effectLst/>
                          <a:latin typeface="Aptos" panose="020B0004020202020204" pitchFamily="34" charset="0"/>
                        </a:rPr>
                        <a:t>1</a:t>
                      </a:r>
                    </a:p>
                  </a:txBody>
                  <a:tcPr marL="0" marR="0" marT="0" marB="0" anchor="ctr"/>
                </a:tc>
                <a:tc>
                  <a:txBody>
                    <a:bodyPr/>
                    <a:lstStyle/>
                    <a:p>
                      <a:pPr algn="ctr" fontAlgn="ctr">
                        <a:buNone/>
                      </a:pPr>
                      <a:r>
                        <a:rPr lang="es-CO" sz="1050" b="0" i="0" u="none" strike="noStrike">
                          <a:solidFill>
                            <a:srgbClr val="000000"/>
                          </a:solidFill>
                          <a:effectLst/>
                          <a:latin typeface="Aptos" panose="020B0004020202020204" pitchFamily="34" charset="0"/>
                        </a:rPr>
                        <a:t>0</a:t>
                      </a:r>
                    </a:p>
                  </a:txBody>
                  <a:tcPr marL="0" marR="0" marT="0" marB="0" anchor="ctr"/>
                </a:tc>
                <a:tc>
                  <a:txBody>
                    <a:bodyPr/>
                    <a:lstStyle/>
                    <a:p>
                      <a:pPr algn="ctr" fontAlgn="ctr">
                        <a:buNone/>
                      </a:pPr>
                      <a:r>
                        <a:rPr lang="es-CO" sz="1050" b="0" i="0" u="none" strike="noStrike">
                          <a:solidFill>
                            <a:srgbClr val="000000"/>
                          </a:solidFill>
                          <a:effectLst/>
                          <a:latin typeface="Aptos" panose="020B0004020202020204" pitchFamily="34" charset="0"/>
                        </a:rPr>
                        <a:t>0</a:t>
                      </a:r>
                    </a:p>
                  </a:txBody>
                  <a:tcPr marL="0" marR="0" marT="0" marB="0" anchor="ctr"/>
                </a:tc>
                <a:extLst>
                  <a:ext uri="{0D108BD9-81ED-4DB2-BD59-A6C34878D82A}">
                    <a16:rowId xmlns:a16="http://schemas.microsoft.com/office/drawing/2014/main" val="1995284"/>
                  </a:ext>
                </a:extLst>
              </a:tr>
              <a:tr h="236604">
                <a:tc>
                  <a:txBody>
                    <a:bodyPr/>
                    <a:lstStyle/>
                    <a:p>
                      <a:pPr algn="ctr" fontAlgn="ctr">
                        <a:buNone/>
                      </a:pPr>
                      <a:r>
                        <a:rPr lang="es-CO" sz="1100" u="none" strike="noStrike">
                          <a:solidFill>
                            <a:schemeClr val="tx1">
                              <a:lumMod val="50000"/>
                            </a:schemeClr>
                          </a:solidFill>
                          <a:effectLst/>
                          <a:latin typeface="Aptos" panose="020B0004020202020204" pitchFamily="34" charset="0"/>
                        </a:rPr>
                        <a:t>Reclamo</a:t>
                      </a:r>
                      <a:endParaRPr lang="es-CO" sz="1100" b="0" i="0" u="none" strike="noStrike">
                        <a:solidFill>
                          <a:schemeClr val="tx1">
                            <a:lumMod val="50000"/>
                          </a:schemeClr>
                        </a:solidFill>
                        <a:effectLst/>
                        <a:latin typeface="Aptos" panose="020B0004020202020204" pitchFamily="34" charset="0"/>
                      </a:endParaRPr>
                    </a:p>
                  </a:txBody>
                  <a:tcPr marL="0" marR="0" marT="0" marB="0" anchor="ctr"/>
                </a:tc>
                <a:tc>
                  <a:txBody>
                    <a:bodyPr/>
                    <a:lstStyle/>
                    <a:p>
                      <a:pPr algn="ctr" fontAlgn="ctr">
                        <a:buNone/>
                      </a:pPr>
                      <a:r>
                        <a:rPr lang="es-CO" sz="1050" b="0" i="0" u="none" strike="noStrike">
                          <a:solidFill>
                            <a:srgbClr val="000000"/>
                          </a:solidFill>
                          <a:effectLst/>
                          <a:latin typeface="Aptos" panose="020B0004020202020204" pitchFamily="34" charset="0"/>
                        </a:rPr>
                        <a:t>33</a:t>
                      </a:r>
                    </a:p>
                  </a:txBody>
                  <a:tcPr marL="0" marR="0" marT="0" marB="0" anchor="ctr"/>
                </a:tc>
                <a:tc>
                  <a:txBody>
                    <a:bodyPr/>
                    <a:lstStyle/>
                    <a:p>
                      <a:pPr algn="ctr" fontAlgn="ctr">
                        <a:buNone/>
                      </a:pPr>
                      <a:r>
                        <a:rPr lang="es-CO" sz="1050" b="0" i="0" u="none" strike="noStrike">
                          <a:solidFill>
                            <a:srgbClr val="000000"/>
                          </a:solidFill>
                          <a:effectLst/>
                          <a:latin typeface="Aptos" panose="020B0004020202020204" pitchFamily="34" charset="0"/>
                        </a:rPr>
                        <a:t>14</a:t>
                      </a:r>
                    </a:p>
                  </a:txBody>
                  <a:tcPr marL="0" marR="0" marT="0" marB="0" anchor="ctr"/>
                </a:tc>
                <a:tc>
                  <a:txBody>
                    <a:bodyPr/>
                    <a:lstStyle/>
                    <a:p>
                      <a:pPr algn="ctr" fontAlgn="ctr">
                        <a:buNone/>
                      </a:pPr>
                      <a:r>
                        <a:rPr lang="es-CO" sz="1050" b="0" i="0" u="none" strike="noStrike">
                          <a:solidFill>
                            <a:srgbClr val="000000"/>
                          </a:solidFill>
                          <a:effectLst/>
                          <a:latin typeface="Aptos" panose="020B0004020202020204" pitchFamily="34" charset="0"/>
                        </a:rPr>
                        <a:t>3</a:t>
                      </a:r>
                    </a:p>
                  </a:txBody>
                  <a:tcPr marL="0" marR="0" marT="0" marB="0" anchor="ctr"/>
                </a:tc>
                <a:tc>
                  <a:txBody>
                    <a:bodyPr/>
                    <a:lstStyle/>
                    <a:p>
                      <a:pPr algn="ctr" fontAlgn="ctr">
                        <a:buNone/>
                      </a:pPr>
                      <a:r>
                        <a:rPr lang="es-CO" sz="1050" b="0" i="0" u="none" strike="noStrike">
                          <a:solidFill>
                            <a:srgbClr val="000000"/>
                          </a:solidFill>
                          <a:effectLst/>
                          <a:latin typeface="Aptos" panose="020B0004020202020204" pitchFamily="34" charset="0"/>
                        </a:rPr>
                        <a:t>0</a:t>
                      </a:r>
                    </a:p>
                  </a:txBody>
                  <a:tcPr marL="0" marR="0" marT="0" marB="0" anchor="ctr"/>
                </a:tc>
                <a:extLst>
                  <a:ext uri="{0D108BD9-81ED-4DB2-BD59-A6C34878D82A}">
                    <a16:rowId xmlns:a16="http://schemas.microsoft.com/office/drawing/2014/main" val="307835742"/>
                  </a:ext>
                </a:extLst>
              </a:tr>
              <a:tr h="236604">
                <a:tc>
                  <a:txBody>
                    <a:bodyPr/>
                    <a:lstStyle/>
                    <a:p>
                      <a:pPr algn="ctr" fontAlgn="ctr">
                        <a:buNone/>
                      </a:pPr>
                      <a:r>
                        <a:rPr lang="es-CO" sz="1100" u="none" strike="noStrike">
                          <a:solidFill>
                            <a:schemeClr val="tx1">
                              <a:lumMod val="50000"/>
                            </a:schemeClr>
                          </a:solidFill>
                          <a:effectLst/>
                          <a:latin typeface="Aptos" panose="020B0004020202020204" pitchFamily="34" charset="0"/>
                        </a:rPr>
                        <a:t>Sugerencia</a:t>
                      </a:r>
                      <a:endParaRPr lang="es-CO" sz="1100" b="0" i="0" u="none" strike="noStrike">
                        <a:solidFill>
                          <a:schemeClr val="tx1">
                            <a:lumMod val="50000"/>
                          </a:schemeClr>
                        </a:solidFill>
                        <a:effectLst/>
                        <a:latin typeface="Aptos" panose="020B0004020202020204" pitchFamily="34" charset="0"/>
                      </a:endParaRPr>
                    </a:p>
                  </a:txBody>
                  <a:tcPr marL="0" marR="0" marT="0" marB="0" anchor="ctr"/>
                </a:tc>
                <a:tc>
                  <a:txBody>
                    <a:bodyPr/>
                    <a:lstStyle/>
                    <a:p>
                      <a:pPr algn="ctr" fontAlgn="ctr">
                        <a:buNone/>
                      </a:pPr>
                      <a:r>
                        <a:rPr lang="es-CO" sz="1050" b="0" i="0" u="none" strike="noStrike">
                          <a:solidFill>
                            <a:srgbClr val="000000"/>
                          </a:solidFill>
                          <a:effectLst/>
                          <a:latin typeface="Aptos" panose="020B0004020202020204" pitchFamily="34" charset="0"/>
                        </a:rPr>
                        <a:t>2</a:t>
                      </a:r>
                    </a:p>
                  </a:txBody>
                  <a:tcPr marL="0" marR="0" marT="0" marB="0" anchor="ctr"/>
                </a:tc>
                <a:tc>
                  <a:txBody>
                    <a:bodyPr/>
                    <a:lstStyle/>
                    <a:p>
                      <a:pPr algn="ctr" fontAlgn="ctr">
                        <a:buNone/>
                      </a:pPr>
                      <a:r>
                        <a:rPr lang="es-CO" sz="1050" b="0" i="0" u="none" strike="noStrike">
                          <a:solidFill>
                            <a:srgbClr val="000000"/>
                          </a:solidFill>
                          <a:effectLst/>
                          <a:latin typeface="Aptos" panose="020B0004020202020204" pitchFamily="34" charset="0"/>
                        </a:rPr>
                        <a:t>2</a:t>
                      </a:r>
                    </a:p>
                  </a:txBody>
                  <a:tcPr marL="0" marR="0" marT="0" marB="0" anchor="ctr"/>
                </a:tc>
                <a:tc>
                  <a:txBody>
                    <a:bodyPr/>
                    <a:lstStyle/>
                    <a:p>
                      <a:pPr algn="ctr" fontAlgn="ctr">
                        <a:buNone/>
                      </a:pPr>
                      <a:r>
                        <a:rPr lang="es-CO" sz="1050" b="0" i="0" u="none" strike="noStrike">
                          <a:solidFill>
                            <a:srgbClr val="000000"/>
                          </a:solidFill>
                          <a:effectLst/>
                          <a:latin typeface="Aptos" panose="020B0004020202020204" pitchFamily="34" charset="0"/>
                        </a:rPr>
                        <a:t>0</a:t>
                      </a:r>
                    </a:p>
                  </a:txBody>
                  <a:tcPr marL="0" marR="0" marT="0" marB="0" anchor="ctr"/>
                </a:tc>
                <a:tc>
                  <a:txBody>
                    <a:bodyPr/>
                    <a:lstStyle/>
                    <a:p>
                      <a:pPr algn="ctr" fontAlgn="ctr">
                        <a:buNone/>
                      </a:pPr>
                      <a:r>
                        <a:rPr lang="es-CO" sz="1050" b="0" i="0" u="none" strike="noStrike">
                          <a:solidFill>
                            <a:srgbClr val="000000"/>
                          </a:solidFill>
                          <a:effectLst/>
                          <a:latin typeface="Aptos" panose="020B0004020202020204" pitchFamily="34" charset="0"/>
                        </a:rPr>
                        <a:t>0</a:t>
                      </a:r>
                    </a:p>
                  </a:txBody>
                  <a:tcPr marL="0" marR="0" marT="0" marB="0" anchor="ctr"/>
                </a:tc>
                <a:extLst>
                  <a:ext uri="{0D108BD9-81ED-4DB2-BD59-A6C34878D82A}">
                    <a16:rowId xmlns:a16="http://schemas.microsoft.com/office/drawing/2014/main" val="1238719339"/>
                  </a:ext>
                </a:extLst>
              </a:tr>
              <a:tr h="236604">
                <a:tc>
                  <a:txBody>
                    <a:bodyPr/>
                    <a:lstStyle/>
                    <a:p>
                      <a:pPr algn="ctr" fontAlgn="ctr">
                        <a:buNone/>
                      </a:pPr>
                      <a:r>
                        <a:rPr lang="es-CO" sz="1100" u="none" strike="noStrike">
                          <a:solidFill>
                            <a:schemeClr val="tx1">
                              <a:lumMod val="50000"/>
                            </a:schemeClr>
                          </a:solidFill>
                          <a:effectLst/>
                          <a:latin typeface="Aptos" panose="020B0004020202020204" pitchFamily="34" charset="0"/>
                        </a:rPr>
                        <a:t>Felicitación</a:t>
                      </a:r>
                      <a:endParaRPr lang="es-CO" sz="1100" b="0" i="0" u="none" strike="noStrike">
                        <a:solidFill>
                          <a:schemeClr val="tx1">
                            <a:lumMod val="50000"/>
                          </a:schemeClr>
                        </a:solidFill>
                        <a:effectLst/>
                        <a:latin typeface="Aptos" panose="020B0004020202020204" pitchFamily="34" charset="0"/>
                      </a:endParaRPr>
                    </a:p>
                  </a:txBody>
                  <a:tcPr marL="0" marR="0" marT="0" marB="0" anchor="ctr"/>
                </a:tc>
                <a:tc>
                  <a:txBody>
                    <a:bodyPr/>
                    <a:lstStyle/>
                    <a:p>
                      <a:pPr algn="ctr" fontAlgn="ctr">
                        <a:buNone/>
                      </a:pPr>
                      <a:r>
                        <a:rPr lang="es-CO" sz="1050" b="0" i="0" u="none" strike="noStrike">
                          <a:solidFill>
                            <a:srgbClr val="000000"/>
                          </a:solidFill>
                          <a:effectLst/>
                          <a:latin typeface="Aptos" panose="020B0004020202020204" pitchFamily="34" charset="0"/>
                        </a:rPr>
                        <a:t>8</a:t>
                      </a:r>
                    </a:p>
                  </a:txBody>
                  <a:tcPr marL="0" marR="0" marT="0" marB="0" anchor="ctr"/>
                </a:tc>
                <a:tc>
                  <a:txBody>
                    <a:bodyPr/>
                    <a:lstStyle/>
                    <a:p>
                      <a:pPr algn="ctr" fontAlgn="ctr">
                        <a:buNone/>
                      </a:pPr>
                      <a:r>
                        <a:rPr lang="es-CO" sz="1050" b="0" i="0" u="none" strike="noStrike">
                          <a:solidFill>
                            <a:srgbClr val="000000"/>
                          </a:solidFill>
                          <a:effectLst/>
                          <a:latin typeface="Aptos" panose="020B0004020202020204" pitchFamily="34" charset="0"/>
                        </a:rPr>
                        <a:t>5</a:t>
                      </a:r>
                    </a:p>
                  </a:txBody>
                  <a:tcPr marL="0" marR="0" marT="0" marB="0" anchor="ctr"/>
                </a:tc>
                <a:tc>
                  <a:txBody>
                    <a:bodyPr/>
                    <a:lstStyle/>
                    <a:p>
                      <a:pPr algn="ctr" fontAlgn="ctr">
                        <a:buNone/>
                      </a:pPr>
                      <a:r>
                        <a:rPr lang="es-CO" sz="1050" b="0" i="0" u="none" strike="noStrike">
                          <a:solidFill>
                            <a:srgbClr val="000000"/>
                          </a:solidFill>
                          <a:effectLst/>
                          <a:latin typeface="Aptos" panose="020B0004020202020204" pitchFamily="34" charset="0"/>
                        </a:rPr>
                        <a:t>1</a:t>
                      </a:r>
                    </a:p>
                  </a:txBody>
                  <a:tcPr marL="0" marR="0" marT="0" marB="0" anchor="ctr"/>
                </a:tc>
                <a:tc>
                  <a:txBody>
                    <a:bodyPr/>
                    <a:lstStyle/>
                    <a:p>
                      <a:pPr algn="ctr" fontAlgn="ctr">
                        <a:buNone/>
                      </a:pPr>
                      <a:r>
                        <a:rPr lang="es-CO" sz="1050" b="0" i="0" u="none" strike="noStrike">
                          <a:solidFill>
                            <a:srgbClr val="000000"/>
                          </a:solidFill>
                          <a:effectLst/>
                          <a:latin typeface="Aptos" panose="020B0004020202020204" pitchFamily="34" charset="0"/>
                        </a:rPr>
                        <a:t>3</a:t>
                      </a:r>
                    </a:p>
                  </a:txBody>
                  <a:tcPr marL="0" marR="0" marT="0" marB="0" anchor="ctr"/>
                </a:tc>
                <a:extLst>
                  <a:ext uri="{0D108BD9-81ED-4DB2-BD59-A6C34878D82A}">
                    <a16:rowId xmlns:a16="http://schemas.microsoft.com/office/drawing/2014/main" val="444582659"/>
                  </a:ext>
                </a:extLst>
              </a:tr>
            </a:tbl>
          </a:graphicData>
        </a:graphic>
      </p:graphicFrame>
      <p:graphicFrame>
        <p:nvGraphicFramePr>
          <p:cNvPr id="2" name="Gráfico 1">
            <a:extLst>
              <a:ext uri="{FF2B5EF4-FFF2-40B4-BE49-F238E27FC236}">
                <a16:creationId xmlns:a16="http://schemas.microsoft.com/office/drawing/2014/main" id="{03338EC5-7C18-D4C2-B6FF-2D55D0A23A1B}"/>
              </a:ext>
              <a:ext uri="{147F2762-F138-4A5C-976F-8EAC2B608ADB}">
                <a16:predDERef xmlns:a16="http://schemas.microsoft.com/office/drawing/2014/main" pred="{5DF41F1D-BC03-40C3-0BA8-2B3F7BD05E18}"/>
              </a:ext>
            </a:extLst>
          </p:cNvPr>
          <p:cNvGraphicFramePr>
            <a:graphicFrameLocks/>
          </p:cNvGraphicFramePr>
          <p:nvPr/>
        </p:nvGraphicFramePr>
        <p:xfrm>
          <a:off x="838200" y="1193510"/>
          <a:ext cx="4639235" cy="308342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Gráfico 2">
            <a:extLst>
              <a:ext uri="{FF2B5EF4-FFF2-40B4-BE49-F238E27FC236}">
                <a16:creationId xmlns:a16="http://schemas.microsoft.com/office/drawing/2014/main" id="{082661FD-B207-B054-0143-79E145C0684E}"/>
              </a:ext>
              <a:ext uri="{147F2762-F138-4A5C-976F-8EAC2B608ADB}">
                <a16:predDERef xmlns:a16="http://schemas.microsoft.com/office/drawing/2014/main" pred="{2413FC85-884A-4C1D-9E5C-21BA0BD17447}"/>
              </a:ext>
            </a:extLst>
          </p:cNvPr>
          <p:cNvGraphicFramePr>
            <a:graphicFrameLocks/>
          </p:cNvGraphicFramePr>
          <p:nvPr/>
        </p:nvGraphicFramePr>
        <p:xfrm>
          <a:off x="6967325" y="1193510"/>
          <a:ext cx="4569355" cy="2868875"/>
        </p:xfrm>
        <a:graphic>
          <a:graphicData uri="http://schemas.openxmlformats.org/drawingml/2006/chart">
            <c:chart xmlns:c="http://schemas.openxmlformats.org/drawingml/2006/chart" xmlns:r="http://schemas.openxmlformats.org/officeDocument/2006/relationships" r:id="rId3"/>
          </a:graphicData>
        </a:graphic>
      </p:graphicFrame>
      <p:sp>
        <p:nvSpPr>
          <p:cNvPr id="5" name="CuadroTexto 4">
            <a:extLst>
              <a:ext uri="{FF2B5EF4-FFF2-40B4-BE49-F238E27FC236}">
                <a16:creationId xmlns:a16="http://schemas.microsoft.com/office/drawing/2014/main" id="{9851DFEE-62EB-09B3-58C5-EF2153DC0D8B}"/>
              </a:ext>
            </a:extLst>
          </p:cNvPr>
          <p:cNvSpPr txBox="1"/>
          <p:nvPr/>
        </p:nvSpPr>
        <p:spPr>
          <a:xfrm>
            <a:off x="7679570" y="6415282"/>
            <a:ext cx="3638394" cy="276999"/>
          </a:xfrm>
          <a:prstGeom prst="rect">
            <a:avLst/>
          </a:prstGeom>
          <a:noFill/>
        </p:spPr>
        <p:txBody>
          <a:bodyPr wrap="square">
            <a:spAutoFit/>
          </a:bodyPr>
          <a:ls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CO" sz="1200" b="1" i="1" noProof="0">
                <a:solidFill>
                  <a:schemeClr val="tx2"/>
                </a:solidFill>
              </a:rPr>
              <a:t>Fuente: </a:t>
            </a:r>
            <a:r>
              <a:rPr lang="es-CO" sz="1200" i="1" noProof="0">
                <a:solidFill>
                  <a:schemeClr val="tx2"/>
                </a:solidFill>
              </a:rPr>
              <a:t>SAU INOOS </a:t>
            </a:r>
            <a:r>
              <a:rPr lang="es-CO" sz="1200" i="1">
                <a:solidFill>
                  <a:schemeClr val="tx2"/>
                </a:solidFill>
              </a:rPr>
              <a:t>Agosto </a:t>
            </a:r>
            <a:r>
              <a:rPr lang="es-CO" sz="1200" i="1" noProof="0">
                <a:solidFill>
                  <a:schemeClr val="tx2"/>
                </a:solidFill>
              </a:rPr>
              <a:t>2026</a:t>
            </a:r>
          </a:p>
        </p:txBody>
      </p:sp>
    </p:spTree>
    <p:extLst>
      <p:ext uri="{BB962C8B-B14F-4D97-AF65-F5344CB8AC3E}">
        <p14:creationId xmlns:p14="http://schemas.microsoft.com/office/powerpoint/2010/main" val="298056845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6FB80-5A42-4FFE-092F-E1F3012BB99D}"/>
            </a:ext>
          </a:extLst>
        </p:cNvPr>
        <p:cNvGrpSpPr/>
        <p:nvPr/>
      </p:nvGrpSpPr>
      <p:grpSpPr>
        <a:xfrm>
          <a:off x="0" y="0"/>
          <a:ext cx="0" cy="0"/>
          <a:chOff x="0" y="0"/>
          <a:chExt cx="0" cy="0"/>
        </a:xfrm>
      </p:grpSpPr>
      <p:cxnSp>
        <p:nvCxnSpPr>
          <p:cNvPr id="83" name="Conector recto 82">
            <a:extLst>
              <a:ext uri="{FF2B5EF4-FFF2-40B4-BE49-F238E27FC236}">
                <a16:creationId xmlns:a16="http://schemas.microsoft.com/office/drawing/2014/main" id="{C4F5D084-99F7-51B6-9355-2AABE5B71919}"/>
              </a:ext>
            </a:extLst>
          </p:cNvPr>
          <p:cNvCxnSpPr>
            <a:cxnSpLocks/>
            <a:stCxn id="18" idx="1"/>
            <a:endCxn id="79" idx="2"/>
          </p:cNvCxnSpPr>
          <p:nvPr/>
        </p:nvCxnSpPr>
        <p:spPr>
          <a:xfrm>
            <a:off x="557885" y="5436851"/>
            <a:ext cx="4350468" cy="1112520"/>
          </a:xfrm>
          <a:prstGeom prst="line">
            <a:avLst/>
          </a:prstGeom>
          <a:ln w="381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80" name="Conector recto 79">
            <a:extLst>
              <a:ext uri="{FF2B5EF4-FFF2-40B4-BE49-F238E27FC236}">
                <a16:creationId xmlns:a16="http://schemas.microsoft.com/office/drawing/2014/main" id="{CC510CF9-A5DF-FEBA-7AF4-E1795CAC6AFB}"/>
              </a:ext>
            </a:extLst>
          </p:cNvPr>
          <p:cNvCxnSpPr>
            <a:cxnSpLocks/>
            <a:stCxn id="18" idx="1"/>
            <a:endCxn id="79" idx="0"/>
          </p:cNvCxnSpPr>
          <p:nvPr/>
        </p:nvCxnSpPr>
        <p:spPr>
          <a:xfrm flipV="1">
            <a:off x="557885" y="4324331"/>
            <a:ext cx="4350468" cy="1112520"/>
          </a:xfrm>
          <a:prstGeom prst="line">
            <a:avLst/>
          </a:prstGeom>
          <a:ln w="381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66" name="Conector recto 65">
            <a:extLst>
              <a:ext uri="{FF2B5EF4-FFF2-40B4-BE49-F238E27FC236}">
                <a16:creationId xmlns:a16="http://schemas.microsoft.com/office/drawing/2014/main" id="{35EF221F-A2C2-C684-E8D3-48A4FA0F6DCE}"/>
              </a:ext>
            </a:extLst>
          </p:cNvPr>
          <p:cNvCxnSpPr>
            <a:cxnSpLocks/>
            <a:stCxn id="15" idx="1"/>
            <a:endCxn id="65" idx="0"/>
          </p:cNvCxnSpPr>
          <p:nvPr/>
        </p:nvCxnSpPr>
        <p:spPr>
          <a:xfrm flipV="1">
            <a:off x="557885" y="3081020"/>
            <a:ext cx="4350468" cy="370840"/>
          </a:xfrm>
          <a:prstGeom prst="line">
            <a:avLst/>
          </a:prstGeom>
          <a:ln w="381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69" name="Conector recto 68">
            <a:extLst>
              <a:ext uri="{FF2B5EF4-FFF2-40B4-BE49-F238E27FC236}">
                <a16:creationId xmlns:a16="http://schemas.microsoft.com/office/drawing/2014/main" id="{6D6327CE-9EF3-4D65-8600-48AE4DA6E998}"/>
              </a:ext>
            </a:extLst>
          </p:cNvPr>
          <p:cNvCxnSpPr>
            <a:cxnSpLocks/>
            <a:stCxn id="15" idx="1"/>
            <a:endCxn id="65" idx="2"/>
          </p:cNvCxnSpPr>
          <p:nvPr/>
        </p:nvCxnSpPr>
        <p:spPr>
          <a:xfrm>
            <a:off x="557885" y="3451860"/>
            <a:ext cx="4350468" cy="370840"/>
          </a:xfrm>
          <a:prstGeom prst="line">
            <a:avLst/>
          </a:prstGeom>
          <a:ln w="381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42" name="Conector recto 41">
            <a:extLst>
              <a:ext uri="{FF2B5EF4-FFF2-40B4-BE49-F238E27FC236}">
                <a16:creationId xmlns:a16="http://schemas.microsoft.com/office/drawing/2014/main" id="{60146876-9B92-AA1E-CE87-60D487665924}"/>
              </a:ext>
            </a:extLst>
          </p:cNvPr>
          <p:cNvCxnSpPr>
            <a:cxnSpLocks/>
            <a:stCxn id="12" idx="1"/>
            <a:endCxn id="21" idx="2"/>
          </p:cNvCxnSpPr>
          <p:nvPr/>
        </p:nvCxnSpPr>
        <p:spPr>
          <a:xfrm>
            <a:off x="557885" y="1840730"/>
            <a:ext cx="4350468" cy="927100"/>
          </a:xfrm>
          <a:prstGeom prst="line">
            <a:avLst/>
          </a:prstGeom>
          <a:ln w="381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36" name="Conector recto 35">
            <a:extLst>
              <a:ext uri="{FF2B5EF4-FFF2-40B4-BE49-F238E27FC236}">
                <a16:creationId xmlns:a16="http://schemas.microsoft.com/office/drawing/2014/main" id="{69593367-54F5-2EBA-4866-7EA6542523DE}"/>
              </a:ext>
            </a:extLst>
          </p:cNvPr>
          <p:cNvCxnSpPr>
            <a:cxnSpLocks/>
            <a:stCxn id="12" idx="1"/>
            <a:endCxn id="21" idx="0"/>
          </p:cNvCxnSpPr>
          <p:nvPr/>
        </p:nvCxnSpPr>
        <p:spPr>
          <a:xfrm flipV="1">
            <a:off x="557885" y="913630"/>
            <a:ext cx="4350468" cy="927100"/>
          </a:xfrm>
          <a:prstGeom prst="line">
            <a:avLst/>
          </a:prstGeom>
          <a:ln w="381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 name="Título 1">
            <a:extLst>
              <a:ext uri="{FF2B5EF4-FFF2-40B4-BE49-F238E27FC236}">
                <a16:creationId xmlns:a16="http://schemas.microsoft.com/office/drawing/2014/main" id="{354CD0FA-D3E1-6AB4-D8E6-B09C399B4766}"/>
              </a:ext>
            </a:extLst>
          </p:cNvPr>
          <p:cNvSpPr txBox="1">
            <a:spLocks/>
          </p:cNvSpPr>
          <p:nvPr/>
        </p:nvSpPr>
        <p:spPr>
          <a:xfrm>
            <a:off x="838200" y="101552"/>
            <a:ext cx="10515600" cy="81207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400" b="1" kern="1200">
                <a:solidFill>
                  <a:srgbClr val="00A19C"/>
                </a:solidFill>
                <a:latin typeface="+mj-lt"/>
                <a:ea typeface="+mj-ea"/>
                <a:cs typeface="+mj-cs"/>
              </a:defRPr>
            </a:lvl1pPr>
          </a:lstStyle>
          <a:p>
            <a:r>
              <a:rPr lang="es-CO">
                <a:solidFill>
                  <a:schemeClr val="tx1"/>
                </a:solidFill>
                <a:latin typeface="Century Gothic"/>
              </a:rPr>
              <a:t>Causas Reclamos</a:t>
            </a:r>
            <a:endParaRPr lang="es-ES"/>
          </a:p>
        </p:txBody>
      </p:sp>
      <p:graphicFrame>
        <p:nvGraphicFramePr>
          <p:cNvPr id="12" name="Tabla 11">
            <a:extLst>
              <a:ext uri="{FF2B5EF4-FFF2-40B4-BE49-F238E27FC236}">
                <a16:creationId xmlns:a16="http://schemas.microsoft.com/office/drawing/2014/main" id="{0A761100-B61C-F45B-8CCB-2C76A217F498}"/>
              </a:ext>
            </a:extLst>
          </p:cNvPr>
          <p:cNvGraphicFramePr>
            <a:graphicFrameLocks noGrp="1"/>
          </p:cNvGraphicFramePr>
          <p:nvPr/>
        </p:nvGraphicFramePr>
        <p:xfrm>
          <a:off x="557885" y="1284470"/>
          <a:ext cx="1864560" cy="1112520"/>
        </p:xfrm>
        <a:graphic>
          <a:graphicData uri="http://schemas.openxmlformats.org/drawingml/2006/table">
            <a:tbl>
              <a:tblPr firstRow="1" bandRow="1">
                <a:tableStyleId>{5C22544A-7EE6-4342-B048-85BDC9FD1C3A}</a:tableStyleId>
              </a:tblPr>
              <a:tblGrid>
                <a:gridCol w="669845">
                  <a:extLst>
                    <a:ext uri="{9D8B030D-6E8A-4147-A177-3AD203B41FA5}">
                      <a16:colId xmlns:a16="http://schemas.microsoft.com/office/drawing/2014/main" val="2328962288"/>
                    </a:ext>
                  </a:extLst>
                </a:gridCol>
                <a:gridCol w="1194715">
                  <a:extLst>
                    <a:ext uri="{9D8B030D-6E8A-4147-A177-3AD203B41FA5}">
                      <a16:colId xmlns:a16="http://schemas.microsoft.com/office/drawing/2014/main" val="2214441063"/>
                    </a:ext>
                  </a:extLst>
                </a:gridCol>
              </a:tblGrid>
              <a:tr h="370840">
                <a:tc>
                  <a:txBody>
                    <a:bodyPr/>
                    <a:lstStyle/>
                    <a:p>
                      <a:pPr algn="ctr"/>
                      <a:r>
                        <a:rPr lang="es-ES" sz="1600"/>
                        <a:t>12</a:t>
                      </a:r>
                      <a:endParaRPr lang="es-CO" sz="1600"/>
                    </a:p>
                  </a:txBody>
                  <a:tcPr/>
                </a:tc>
                <a:tc>
                  <a:txBody>
                    <a:bodyPr/>
                    <a:lstStyle/>
                    <a:p>
                      <a:pPr algn="ctr"/>
                      <a:r>
                        <a:rPr lang="es-ES" sz="1600"/>
                        <a:t>Cauca</a:t>
                      </a:r>
                      <a:endParaRPr lang="es-CO" sz="1600"/>
                    </a:p>
                  </a:txBody>
                  <a:tcPr/>
                </a:tc>
                <a:extLst>
                  <a:ext uri="{0D108BD9-81ED-4DB2-BD59-A6C34878D82A}">
                    <a16:rowId xmlns:a16="http://schemas.microsoft.com/office/drawing/2014/main" val="94815902"/>
                  </a:ext>
                </a:extLst>
              </a:tr>
              <a:tr h="370840">
                <a:tc>
                  <a:txBody>
                    <a:bodyPr/>
                    <a:lstStyle/>
                    <a:p>
                      <a:pPr algn="ctr"/>
                      <a:r>
                        <a:rPr lang="es-ES" sz="1600">
                          <a:solidFill>
                            <a:schemeClr val="tx1">
                              <a:lumMod val="50000"/>
                            </a:schemeClr>
                          </a:solidFill>
                        </a:rPr>
                        <a:t>11</a:t>
                      </a:r>
                      <a:endParaRPr lang="es-CO" sz="1600">
                        <a:solidFill>
                          <a:schemeClr val="tx1">
                            <a:lumMod val="50000"/>
                          </a:schemeClr>
                        </a:solidFill>
                      </a:endParaRPr>
                    </a:p>
                  </a:txBody>
                  <a:tcPr/>
                </a:tc>
                <a:tc>
                  <a:txBody>
                    <a:bodyPr/>
                    <a:lstStyle/>
                    <a:p>
                      <a:pPr algn="ctr"/>
                      <a:r>
                        <a:rPr lang="es-ES" sz="1600">
                          <a:solidFill>
                            <a:schemeClr val="tx1">
                              <a:lumMod val="50000"/>
                            </a:schemeClr>
                          </a:solidFill>
                        </a:rPr>
                        <a:t>Sanitas</a:t>
                      </a:r>
                      <a:endParaRPr lang="es-CO" sz="1600">
                        <a:solidFill>
                          <a:schemeClr val="tx1">
                            <a:lumMod val="50000"/>
                          </a:schemeClr>
                        </a:solidFill>
                      </a:endParaRPr>
                    </a:p>
                  </a:txBody>
                  <a:tcPr/>
                </a:tc>
                <a:extLst>
                  <a:ext uri="{0D108BD9-81ED-4DB2-BD59-A6C34878D82A}">
                    <a16:rowId xmlns:a16="http://schemas.microsoft.com/office/drawing/2014/main" val="2591926626"/>
                  </a:ext>
                </a:extLst>
              </a:tr>
              <a:tr h="370840">
                <a:tc>
                  <a:txBody>
                    <a:bodyPr/>
                    <a:lstStyle/>
                    <a:p>
                      <a:pPr algn="ctr"/>
                      <a:r>
                        <a:rPr lang="es-ES" sz="1600">
                          <a:solidFill>
                            <a:schemeClr val="tx1">
                              <a:lumMod val="50000"/>
                            </a:schemeClr>
                          </a:solidFill>
                        </a:rPr>
                        <a:t>1</a:t>
                      </a:r>
                      <a:endParaRPr lang="es-CO" sz="1600">
                        <a:solidFill>
                          <a:schemeClr val="tx1">
                            <a:lumMod val="50000"/>
                          </a:schemeClr>
                        </a:solidFill>
                      </a:endParaRPr>
                    </a:p>
                  </a:txBody>
                  <a:tcPr/>
                </a:tc>
                <a:tc>
                  <a:txBody>
                    <a:bodyPr/>
                    <a:lstStyle/>
                    <a:p>
                      <a:pPr algn="ctr"/>
                      <a:r>
                        <a:rPr lang="es-ES" sz="1600">
                          <a:solidFill>
                            <a:schemeClr val="tx1">
                              <a:lumMod val="50000"/>
                            </a:schemeClr>
                          </a:solidFill>
                        </a:rPr>
                        <a:t>Emssanar</a:t>
                      </a:r>
                      <a:endParaRPr lang="es-CO" sz="1600">
                        <a:solidFill>
                          <a:schemeClr val="tx1">
                            <a:lumMod val="50000"/>
                          </a:schemeClr>
                        </a:solidFill>
                      </a:endParaRPr>
                    </a:p>
                  </a:txBody>
                  <a:tcPr/>
                </a:tc>
                <a:extLst>
                  <a:ext uri="{0D108BD9-81ED-4DB2-BD59-A6C34878D82A}">
                    <a16:rowId xmlns:a16="http://schemas.microsoft.com/office/drawing/2014/main" val="1552831888"/>
                  </a:ext>
                </a:extLst>
              </a:tr>
            </a:tbl>
          </a:graphicData>
        </a:graphic>
      </p:graphicFrame>
      <p:graphicFrame>
        <p:nvGraphicFramePr>
          <p:cNvPr id="15" name="Tabla 14">
            <a:extLst>
              <a:ext uri="{FF2B5EF4-FFF2-40B4-BE49-F238E27FC236}">
                <a16:creationId xmlns:a16="http://schemas.microsoft.com/office/drawing/2014/main" id="{37C5FDB8-7976-FEB3-306E-5BE7586766C6}"/>
              </a:ext>
            </a:extLst>
          </p:cNvPr>
          <p:cNvGraphicFramePr>
            <a:graphicFrameLocks noGrp="1"/>
          </p:cNvGraphicFramePr>
          <p:nvPr/>
        </p:nvGraphicFramePr>
        <p:xfrm>
          <a:off x="557885" y="2895600"/>
          <a:ext cx="1864560" cy="1112520"/>
        </p:xfrm>
        <a:graphic>
          <a:graphicData uri="http://schemas.openxmlformats.org/drawingml/2006/table">
            <a:tbl>
              <a:tblPr firstRow="1" bandRow="1">
                <a:tableStyleId>{5C22544A-7EE6-4342-B048-85BDC9FD1C3A}</a:tableStyleId>
              </a:tblPr>
              <a:tblGrid>
                <a:gridCol w="669845">
                  <a:extLst>
                    <a:ext uri="{9D8B030D-6E8A-4147-A177-3AD203B41FA5}">
                      <a16:colId xmlns:a16="http://schemas.microsoft.com/office/drawing/2014/main" val="2328962288"/>
                    </a:ext>
                  </a:extLst>
                </a:gridCol>
                <a:gridCol w="1194715">
                  <a:extLst>
                    <a:ext uri="{9D8B030D-6E8A-4147-A177-3AD203B41FA5}">
                      <a16:colId xmlns:a16="http://schemas.microsoft.com/office/drawing/2014/main" val="2214441063"/>
                    </a:ext>
                  </a:extLst>
                </a:gridCol>
              </a:tblGrid>
              <a:tr h="370840">
                <a:tc>
                  <a:txBody>
                    <a:bodyPr/>
                    <a:lstStyle/>
                    <a:p>
                      <a:pPr algn="ctr"/>
                      <a:r>
                        <a:rPr lang="es-ES" sz="1600"/>
                        <a:t>3</a:t>
                      </a:r>
                      <a:endParaRPr lang="es-CO" sz="1600"/>
                    </a:p>
                  </a:txBody>
                  <a:tcPr/>
                </a:tc>
                <a:tc>
                  <a:txBody>
                    <a:bodyPr/>
                    <a:lstStyle/>
                    <a:p>
                      <a:pPr algn="ctr"/>
                      <a:r>
                        <a:rPr lang="es-ES" sz="1600"/>
                        <a:t>Tolima</a:t>
                      </a:r>
                      <a:endParaRPr lang="es-CO" sz="1600"/>
                    </a:p>
                  </a:txBody>
                  <a:tcPr/>
                </a:tc>
                <a:extLst>
                  <a:ext uri="{0D108BD9-81ED-4DB2-BD59-A6C34878D82A}">
                    <a16:rowId xmlns:a16="http://schemas.microsoft.com/office/drawing/2014/main" val="94815902"/>
                  </a:ext>
                </a:extLst>
              </a:tr>
              <a:tr h="370840">
                <a:tc>
                  <a:txBody>
                    <a:bodyPr/>
                    <a:lstStyle/>
                    <a:p>
                      <a:pPr algn="ctr"/>
                      <a:r>
                        <a:rPr lang="es-ES" sz="1600">
                          <a:solidFill>
                            <a:schemeClr val="tx1">
                              <a:lumMod val="50000"/>
                            </a:schemeClr>
                          </a:solidFill>
                        </a:rPr>
                        <a:t>1</a:t>
                      </a:r>
                      <a:endParaRPr lang="es-CO" sz="1600">
                        <a:solidFill>
                          <a:schemeClr val="tx1">
                            <a:lumMod val="50000"/>
                          </a:schemeClr>
                        </a:solidFill>
                      </a:endParaRPr>
                    </a:p>
                  </a:txBody>
                  <a:tcPr/>
                </a:tc>
                <a:tc>
                  <a:txBody>
                    <a:bodyPr/>
                    <a:lstStyle/>
                    <a:p>
                      <a:pPr algn="ctr"/>
                      <a:r>
                        <a:rPr lang="es-ES" sz="1600">
                          <a:solidFill>
                            <a:schemeClr val="tx1">
                              <a:lumMod val="50000"/>
                            </a:schemeClr>
                          </a:solidFill>
                        </a:rPr>
                        <a:t>Salud Total</a:t>
                      </a:r>
                      <a:endParaRPr lang="es-CO" sz="1600">
                        <a:solidFill>
                          <a:schemeClr val="tx1">
                            <a:lumMod val="50000"/>
                          </a:schemeClr>
                        </a:solidFill>
                      </a:endParaRPr>
                    </a:p>
                  </a:txBody>
                  <a:tcPr/>
                </a:tc>
                <a:extLst>
                  <a:ext uri="{0D108BD9-81ED-4DB2-BD59-A6C34878D82A}">
                    <a16:rowId xmlns:a16="http://schemas.microsoft.com/office/drawing/2014/main" val="2591926626"/>
                  </a:ext>
                </a:extLst>
              </a:tr>
              <a:tr h="370840">
                <a:tc>
                  <a:txBody>
                    <a:bodyPr/>
                    <a:lstStyle/>
                    <a:p>
                      <a:pPr algn="ctr"/>
                      <a:r>
                        <a:rPr lang="es-ES" sz="1600">
                          <a:solidFill>
                            <a:schemeClr val="tx1">
                              <a:lumMod val="50000"/>
                            </a:schemeClr>
                          </a:solidFill>
                        </a:rPr>
                        <a:t>2</a:t>
                      </a:r>
                      <a:endParaRPr lang="es-CO" sz="1600">
                        <a:solidFill>
                          <a:schemeClr val="tx1">
                            <a:lumMod val="50000"/>
                          </a:schemeClr>
                        </a:solidFill>
                      </a:endParaRPr>
                    </a:p>
                  </a:txBody>
                  <a:tcPr/>
                </a:tc>
                <a:tc>
                  <a:txBody>
                    <a:bodyPr/>
                    <a:lstStyle/>
                    <a:p>
                      <a:pPr algn="ctr"/>
                      <a:r>
                        <a:rPr lang="es-ES" sz="1600">
                          <a:solidFill>
                            <a:schemeClr val="tx1">
                              <a:lumMod val="50000"/>
                            </a:schemeClr>
                          </a:solidFill>
                        </a:rPr>
                        <a:t>Sanitas</a:t>
                      </a:r>
                      <a:endParaRPr lang="es-CO" sz="1600">
                        <a:solidFill>
                          <a:schemeClr val="tx1">
                            <a:lumMod val="50000"/>
                          </a:schemeClr>
                        </a:solidFill>
                      </a:endParaRPr>
                    </a:p>
                  </a:txBody>
                  <a:tcPr/>
                </a:tc>
                <a:extLst>
                  <a:ext uri="{0D108BD9-81ED-4DB2-BD59-A6C34878D82A}">
                    <a16:rowId xmlns:a16="http://schemas.microsoft.com/office/drawing/2014/main" val="1552831888"/>
                  </a:ext>
                </a:extLst>
              </a:tr>
            </a:tbl>
          </a:graphicData>
        </a:graphic>
      </p:graphicFrame>
      <p:graphicFrame>
        <p:nvGraphicFramePr>
          <p:cNvPr id="18" name="Tabla 17">
            <a:extLst>
              <a:ext uri="{FF2B5EF4-FFF2-40B4-BE49-F238E27FC236}">
                <a16:creationId xmlns:a16="http://schemas.microsoft.com/office/drawing/2014/main" id="{F53D8659-3E5B-6F85-BA32-EB4F1073212B}"/>
              </a:ext>
            </a:extLst>
          </p:cNvPr>
          <p:cNvGraphicFramePr>
            <a:graphicFrameLocks noGrp="1"/>
          </p:cNvGraphicFramePr>
          <p:nvPr/>
        </p:nvGraphicFramePr>
        <p:xfrm>
          <a:off x="557885" y="4695171"/>
          <a:ext cx="1864560" cy="1483360"/>
        </p:xfrm>
        <a:graphic>
          <a:graphicData uri="http://schemas.openxmlformats.org/drawingml/2006/table">
            <a:tbl>
              <a:tblPr firstRow="1" bandRow="1">
                <a:tableStyleId>{5C22544A-7EE6-4342-B048-85BDC9FD1C3A}</a:tableStyleId>
              </a:tblPr>
              <a:tblGrid>
                <a:gridCol w="669845">
                  <a:extLst>
                    <a:ext uri="{9D8B030D-6E8A-4147-A177-3AD203B41FA5}">
                      <a16:colId xmlns:a16="http://schemas.microsoft.com/office/drawing/2014/main" val="2328962288"/>
                    </a:ext>
                  </a:extLst>
                </a:gridCol>
                <a:gridCol w="1194715">
                  <a:extLst>
                    <a:ext uri="{9D8B030D-6E8A-4147-A177-3AD203B41FA5}">
                      <a16:colId xmlns:a16="http://schemas.microsoft.com/office/drawing/2014/main" val="2214441063"/>
                    </a:ext>
                  </a:extLst>
                </a:gridCol>
              </a:tblGrid>
              <a:tr h="370840">
                <a:tc>
                  <a:txBody>
                    <a:bodyPr/>
                    <a:lstStyle/>
                    <a:p>
                      <a:pPr algn="ctr"/>
                      <a:r>
                        <a:rPr lang="es-ES" sz="1600"/>
                        <a:t>36</a:t>
                      </a:r>
                      <a:endParaRPr lang="es-CO" sz="1600"/>
                    </a:p>
                  </a:txBody>
                  <a:tcPr/>
                </a:tc>
                <a:tc>
                  <a:txBody>
                    <a:bodyPr/>
                    <a:lstStyle/>
                    <a:p>
                      <a:pPr algn="ctr"/>
                      <a:r>
                        <a:rPr lang="es-ES" sz="1600"/>
                        <a:t>Valle</a:t>
                      </a:r>
                      <a:endParaRPr lang="es-CO" sz="1600"/>
                    </a:p>
                  </a:txBody>
                  <a:tcPr/>
                </a:tc>
                <a:extLst>
                  <a:ext uri="{0D108BD9-81ED-4DB2-BD59-A6C34878D82A}">
                    <a16:rowId xmlns:a16="http://schemas.microsoft.com/office/drawing/2014/main" val="94815902"/>
                  </a:ext>
                </a:extLst>
              </a:tr>
              <a:tr h="370840">
                <a:tc>
                  <a:txBody>
                    <a:bodyPr/>
                    <a:lstStyle/>
                    <a:p>
                      <a:pPr algn="ctr"/>
                      <a:r>
                        <a:rPr lang="es-ES" sz="1600">
                          <a:solidFill>
                            <a:schemeClr val="tx1">
                              <a:lumMod val="50000"/>
                            </a:schemeClr>
                          </a:solidFill>
                        </a:rPr>
                        <a:t>32</a:t>
                      </a:r>
                      <a:endParaRPr lang="es-CO" sz="1600">
                        <a:solidFill>
                          <a:schemeClr val="tx1">
                            <a:lumMod val="50000"/>
                          </a:schemeClr>
                        </a:solidFill>
                      </a:endParaRPr>
                    </a:p>
                  </a:txBody>
                  <a:tcPr/>
                </a:tc>
                <a:tc>
                  <a:txBody>
                    <a:bodyPr/>
                    <a:lstStyle/>
                    <a:p>
                      <a:pPr algn="ctr"/>
                      <a:r>
                        <a:rPr lang="es-ES" sz="1600">
                          <a:solidFill>
                            <a:schemeClr val="tx1">
                              <a:lumMod val="50000"/>
                            </a:schemeClr>
                          </a:solidFill>
                        </a:rPr>
                        <a:t>Salud Total</a:t>
                      </a:r>
                      <a:endParaRPr lang="es-CO" sz="1600">
                        <a:solidFill>
                          <a:schemeClr val="tx1">
                            <a:lumMod val="50000"/>
                          </a:schemeClr>
                        </a:solidFill>
                      </a:endParaRPr>
                    </a:p>
                  </a:txBody>
                  <a:tcPr/>
                </a:tc>
                <a:extLst>
                  <a:ext uri="{0D108BD9-81ED-4DB2-BD59-A6C34878D82A}">
                    <a16:rowId xmlns:a16="http://schemas.microsoft.com/office/drawing/2014/main" val="2591926626"/>
                  </a:ext>
                </a:extLst>
              </a:tr>
              <a:tr h="370840">
                <a:tc>
                  <a:txBody>
                    <a:bodyPr/>
                    <a:lstStyle/>
                    <a:p>
                      <a:pPr algn="ctr"/>
                      <a:r>
                        <a:rPr lang="es-ES" sz="1600">
                          <a:solidFill>
                            <a:schemeClr val="tx1">
                              <a:lumMod val="50000"/>
                            </a:schemeClr>
                          </a:solidFill>
                        </a:rPr>
                        <a:t>2</a:t>
                      </a:r>
                      <a:endParaRPr lang="es-CO" sz="1600">
                        <a:solidFill>
                          <a:schemeClr val="tx1">
                            <a:lumMod val="50000"/>
                          </a:schemeClr>
                        </a:solidFill>
                      </a:endParaRPr>
                    </a:p>
                  </a:txBody>
                  <a:tcPr/>
                </a:tc>
                <a:tc>
                  <a:txBody>
                    <a:bodyPr/>
                    <a:lstStyle/>
                    <a:p>
                      <a:pPr algn="ctr"/>
                      <a:r>
                        <a:rPr lang="es-ES" sz="1600">
                          <a:solidFill>
                            <a:schemeClr val="tx1">
                              <a:lumMod val="50000"/>
                            </a:schemeClr>
                          </a:solidFill>
                        </a:rPr>
                        <a:t>Emssanar</a:t>
                      </a:r>
                      <a:endParaRPr lang="es-CO" sz="1600">
                        <a:solidFill>
                          <a:schemeClr val="tx1">
                            <a:lumMod val="50000"/>
                          </a:schemeClr>
                        </a:solidFill>
                      </a:endParaRPr>
                    </a:p>
                  </a:txBody>
                  <a:tcPr/>
                </a:tc>
                <a:extLst>
                  <a:ext uri="{0D108BD9-81ED-4DB2-BD59-A6C34878D82A}">
                    <a16:rowId xmlns:a16="http://schemas.microsoft.com/office/drawing/2014/main" val="1552831888"/>
                  </a:ext>
                </a:extLst>
              </a:tr>
              <a:tr h="370840">
                <a:tc>
                  <a:txBody>
                    <a:bodyPr/>
                    <a:lstStyle/>
                    <a:p>
                      <a:pPr algn="ctr"/>
                      <a:r>
                        <a:rPr lang="es-ES" sz="1600">
                          <a:solidFill>
                            <a:schemeClr val="tx1">
                              <a:lumMod val="50000"/>
                            </a:schemeClr>
                          </a:solidFill>
                        </a:rPr>
                        <a:t>2</a:t>
                      </a:r>
                      <a:endParaRPr lang="es-CO" sz="1600">
                        <a:solidFill>
                          <a:schemeClr val="tx1">
                            <a:lumMod val="50000"/>
                          </a:schemeClr>
                        </a:solidFill>
                      </a:endParaRPr>
                    </a:p>
                  </a:txBody>
                  <a:tcPr/>
                </a:tc>
                <a:tc>
                  <a:txBody>
                    <a:bodyPr/>
                    <a:lstStyle/>
                    <a:p>
                      <a:pPr algn="ctr"/>
                      <a:r>
                        <a:rPr lang="es-ES" sz="1600">
                          <a:solidFill>
                            <a:schemeClr val="tx1">
                              <a:lumMod val="50000"/>
                            </a:schemeClr>
                          </a:solidFill>
                        </a:rPr>
                        <a:t>Sanitas</a:t>
                      </a:r>
                      <a:endParaRPr lang="es-CO" sz="1600">
                        <a:solidFill>
                          <a:schemeClr val="tx1">
                            <a:lumMod val="50000"/>
                          </a:schemeClr>
                        </a:solidFill>
                      </a:endParaRPr>
                    </a:p>
                  </a:txBody>
                  <a:tcPr/>
                </a:tc>
                <a:extLst>
                  <a:ext uri="{0D108BD9-81ED-4DB2-BD59-A6C34878D82A}">
                    <a16:rowId xmlns:a16="http://schemas.microsoft.com/office/drawing/2014/main" val="2823714821"/>
                  </a:ext>
                </a:extLst>
              </a:tr>
            </a:tbl>
          </a:graphicData>
        </a:graphic>
      </p:graphicFrame>
      <p:graphicFrame>
        <p:nvGraphicFramePr>
          <p:cNvPr id="19" name="Tabla 18">
            <a:extLst>
              <a:ext uri="{FF2B5EF4-FFF2-40B4-BE49-F238E27FC236}">
                <a16:creationId xmlns:a16="http://schemas.microsoft.com/office/drawing/2014/main" id="{7D390D6E-24DB-A3BC-022F-BCED988A3C22}"/>
              </a:ext>
            </a:extLst>
          </p:cNvPr>
          <p:cNvGraphicFramePr>
            <a:graphicFrameLocks noGrp="1"/>
          </p:cNvGraphicFramePr>
          <p:nvPr/>
        </p:nvGraphicFramePr>
        <p:xfrm>
          <a:off x="8783741" y="1284970"/>
          <a:ext cx="1864560" cy="335280"/>
        </p:xfrm>
        <a:graphic>
          <a:graphicData uri="http://schemas.openxmlformats.org/drawingml/2006/table">
            <a:tbl>
              <a:tblPr firstRow="1" bandRow="1">
                <a:tableStyleId>{5C22544A-7EE6-4342-B048-85BDC9FD1C3A}</a:tableStyleId>
              </a:tblPr>
              <a:tblGrid>
                <a:gridCol w="669845">
                  <a:extLst>
                    <a:ext uri="{9D8B030D-6E8A-4147-A177-3AD203B41FA5}">
                      <a16:colId xmlns:a16="http://schemas.microsoft.com/office/drawing/2014/main" val="827344574"/>
                    </a:ext>
                  </a:extLst>
                </a:gridCol>
                <a:gridCol w="1194715">
                  <a:extLst>
                    <a:ext uri="{9D8B030D-6E8A-4147-A177-3AD203B41FA5}">
                      <a16:colId xmlns:a16="http://schemas.microsoft.com/office/drawing/2014/main" val="3019738964"/>
                    </a:ext>
                  </a:extLst>
                </a:gridCol>
              </a:tblGrid>
              <a:tr h="0">
                <a:tc>
                  <a:txBody>
                    <a:bodyPr/>
                    <a:lstStyle/>
                    <a:p>
                      <a:pPr algn="ctr"/>
                      <a:r>
                        <a:rPr lang="es-ES" sz="1600">
                          <a:solidFill>
                            <a:schemeClr val="bg1"/>
                          </a:solidFill>
                        </a:rPr>
                        <a:t>115</a:t>
                      </a:r>
                      <a:endParaRPr lang="es-CO" sz="1600">
                        <a:solidFill>
                          <a:schemeClr val="bg1"/>
                        </a:solidFill>
                      </a:endParaRPr>
                    </a:p>
                  </a:txBody>
                  <a:tcPr>
                    <a:solidFill>
                      <a:srgbClr val="00A19C"/>
                    </a:solidFill>
                  </a:tcPr>
                </a:tc>
                <a:tc>
                  <a:txBody>
                    <a:bodyPr/>
                    <a:lstStyle/>
                    <a:p>
                      <a:pPr algn="ctr"/>
                      <a:r>
                        <a:rPr lang="es-ES" sz="1600">
                          <a:solidFill>
                            <a:schemeClr val="bg1"/>
                          </a:solidFill>
                        </a:rPr>
                        <a:t>Emssanar</a:t>
                      </a:r>
                      <a:endParaRPr lang="es-CO" sz="1600">
                        <a:solidFill>
                          <a:schemeClr val="bg1"/>
                        </a:solidFill>
                      </a:endParaRPr>
                    </a:p>
                  </a:txBody>
                  <a:tcPr>
                    <a:solidFill>
                      <a:srgbClr val="00A19C"/>
                    </a:solidFill>
                  </a:tcPr>
                </a:tc>
                <a:extLst>
                  <a:ext uri="{0D108BD9-81ED-4DB2-BD59-A6C34878D82A}">
                    <a16:rowId xmlns:a16="http://schemas.microsoft.com/office/drawing/2014/main" val="2486191359"/>
                  </a:ext>
                </a:extLst>
              </a:tr>
            </a:tbl>
          </a:graphicData>
        </a:graphic>
      </p:graphicFrame>
      <p:graphicFrame>
        <p:nvGraphicFramePr>
          <p:cNvPr id="21" name="Tabla 20">
            <a:extLst>
              <a:ext uri="{FF2B5EF4-FFF2-40B4-BE49-F238E27FC236}">
                <a16:creationId xmlns:a16="http://schemas.microsoft.com/office/drawing/2014/main" id="{7572480F-536D-E3E7-D0A6-0CE06D536320}"/>
              </a:ext>
            </a:extLst>
          </p:cNvPr>
          <p:cNvGraphicFramePr>
            <a:graphicFrameLocks noGrp="1"/>
          </p:cNvGraphicFramePr>
          <p:nvPr/>
        </p:nvGraphicFramePr>
        <p:xfrm>
          <a:off x="2698553" y="913630"/>
          <a:ext cx="4419600" cy="1854200"/>
        </p:xfrm>
        <a:graphic>
          <a:graphicData uri="http://schemas.openxmlformats.org/drawingml/2006/table">
            <a:tbl>
              <a:tblPr firstRow="1" bandRow="1">
                <a:tableStyleId>{5C22544A-7EE6-4342-B048-85BDC9FD1C3A}</a:tableStyleId>
              </a:tblPr>
              <a:tblGrid>
                <a:gridCol w="669845">
                  <a:extLst>
                    <a:ext uri="{9D8B030D-6E8A-4147-A177-3AD203B41FA5}">
                      <a16:colId xmlns:a16="http://schemas.microsoft.com/office/drawing/2014/main" val="2895156695"/>
                    </a:ext>
                  </a:extLst>
                </a:gridCol>
                <a:gridCol w="3749755">
                  <a:extLst>
                    <a:ext uri="{9D8B030D-6E8A-4147-A177-3AD203B41FA5}">
                      <a16:colId xmlns:a16="http://schemas.microsoft.com/office/drawing/2014/main" val="588126392"/>
                    </a:ext>
                  </a:extLst>
                </a:gridCol>
              </a:tblGrid>
              <a:tr h="370840">
                <a:tc>
                  <a:txBody>
                    <a:bodyPr/>
                    <a:lstStyle/>
                    <a:p>
                      <a:pPr algn="ctr"/>
                      <a:r>
                        <a:rPr lang="es-ES" sz="1600" b="0">
                          <a:solidFill>
                            <a:schemeClr val="bg1"/>
                          </a:solidFill>
                        </a:rPr>
                        <a:t>5</a:t>
                      </a:r>
                      <a:endParaRPr lang="es-CO" sz="1600" b="0">
                        <a:solidFill>
                          <a:schemeClr val="bg1"/>
                        </a:solidFill>
                      </a:endParaRPr>
                    </a:p>
                  </a:txBody>
                  <a:tcPr>
                    <a:solidFill>
                      <a:srgbClr val="80589F"/>
                    </a:solidFill>
                  </a:tcPr>
                </a:tc>
                <a:tc>
                  <a:txBody>
                    <a:bodyPr/>
                    <a:lstStyle/>
                    <a:p>
                      <a:pPr algn="l"/>
                      <a:r>
                        <a:rPr lang="es-ES" sz="1600" b="0">
                          <a:solidFill>
                            <a:schemeClr val="tx1">
                              <a:lumMod val="50000"/>
                            </a:schemeClr>
                          </a:solidFill>
                        </a:rPr>
                        <a:t>Información y orientación al paciente</a:t>
                      </a:r>
                      <a:endParaRPr lang="es-CO" sz="1600" b="0">
                        <a:solidFill>
                          <a:schemeClr val="tx1">
                            <a:lumMod val="50000"/>
                          </a:schemeClr>
                        </a:solidFill>
                      </a:endParaRPr>
                    </a:p>
                  </a:txBody>
                  <a:tcPr>
                    <a:solidFill>
                      <a:srgbClr val="EDEAF0"/>
                    </a:solidFill>
                  </a:tcPr>
                </a:tc>
                <a:extLst>
                  <a:ext uri="{0D108BD9-81ED-4DB2-BD59-A6C34878D82A}">
                    <a16:rowId xmlns:a16="http://schemas.microsoft.com/office/drawing/2014/main" val="2183438607"/>
                  </a:ext>
                </a:extLst>
              </a:tr>
              <a:tr h="370840">
                <a:tc>
                  <a:txBody>
                    <a:bodyPr/>
                    <a:lstStyle/>
                    <a:p>
                      <a:pPr algn="ctr"/>
                      <a:r>
                        <a:rPr lang="es-ES" sz="1600" b="0">
                          <a:solidFill>
                            <a:schemeClr val="bg1"/>
                          </a:solidFill>
                        </a:rPr>
                        <a:t>3</a:t>
                      </a:r>
                      <a:endParaRPr lang="es-CO" sz="1600" b="0">
                        <a:solidFill>
                          <a:schemeClr val="bg1"/>
                        </a:solidFill>
                      </a:endParaRPr>
                    </a:p>
                  </a:txBody>
                  <a:tcPr>
                    <a:solidFill>
                      <a:srgbClr val="80589F"/>
                    </a:solidFill>
                  </a:tcPr>
                </a:tc>
                <a:tc>
                  <a:txBody>
                    <a:bodyPr/>
                    <a:lstStyle/>
                    <a:p>
                      <a:pPr algn="l"/>
                      <a:r>
                        <a:rPr lang="es-ES" sz="1600">
                          <a:solidFill>
                            <a:schemeClr val="tx1">
                              <a:lumMod val="50000"/>
                            </a:schemeClr>
                          </a:solidFill>
                        </a:rPr>
                        <a:t>Continuidad del tratamiento</a:t>
                      </a:r>
                      <a:endParaRPr lang="es-CO" sz="1600">
                        <a:solidFill>
                          <a:schemeClr val="tx1">
                            <a:lumMod val="50000"/>
                          </a:schemeClr>
                        </a:solidFill>
                      </a:endParaRPr>
                    </a:p>
                  </a:txBody>
                  <a:tcPr/>
                </a:tc>
                <a:extLst>
                  <a:ext uri="{0D108BD9-81ED-4DB2-BD59-A6C34878D82A}">
                    <a16:rowId xmlns:a16="http://schemas.microsoft.com/office/drawing/2014/main" val="344844624"/>
                  </a:ext>
                </a:extLst>
              </a:tr>
              <a:tr h="370840">
                <a:tc>
                  <a:txBody>
                    <a:bodyPr/>
                    <a:lstStyle/>
                    <a:p>
                      <a:pPr algn="ctr"/>
                      <a:r>
                        <a:rPr lang="es-ES" sz="1600" b="0">
                          <a:solidFill>
                            <a:schemeClr val="bg1"/>
                          </a:solidFill>
                        </a:rPr>
                        <a:t>2</a:t>
                      </a:r>
                      <a:endParaRPr lang="es-CO" sz="1600" b="0">
                        <a:solidFill>
                          <a:schemeClr val="bg1"/>
                        </a:solidFill>
                      </a:endParaRPr>
                    </a:p>
                  </a:txBody>
                  <a:tcPr>
                    <a:solidFill>
                      <a:srgbClr val="80589F"/>
                    </a:solidFill>
                  </a:tcPr>
                </a:tc>
                <a:tc>
                  <a:txBody>
                    <a:bodyPr/>
                    <a:lstStyle/>
                    <a:p>
                      <a:pPr algn="l"/>
                      <a:r>
                        <a:rPr lang="es-ES" sz="1600">
                          <a:solidFill>
                            <a:schemeClr val="tx1">
                              <a:lumMod val="50000"/>
                            </a:schemeClr>
                          </a:solidFill>
                        </a:rPr>
                        <a:t>Cancelación de citas</a:t>
                      </a:r>
                      <a:endParaRPr lang="es-CO" sz="1600">
                        <a:solidFill>
                          <a:schemeClr val="tx1">
                            <a:lumMod val="50000"/>
                          </a:schemeClr>
                        </a:solidFill>
                      </a:endParaRPr>
                    </a:p>
                  </a:txBody>
                  <a:tcPr/>
                </a:tc>
                <a:extLst>
                  <a:ext uri="{0D108BD9-81ED-4DB2-BD59-A6C34878D82A}">
                    <a16:rowId xmlns:a16="http://schemas.microsoft.com/office/drawing/2014/main" val="3822239907"/>
                  </a:ext>
                </a:extLst>
              </a:tr>
              <a:tr h="370840">
                <a:tc>
                  <a:txBody>
                    <a:bodyPr/>
                    <a:lstStyle/>
                    <a:p>
                      <a:pPr algn="ctr"/>
                      <a:r>
                        <a:rPr lang="es-ES" sz="1600" b="0">
                          <a:solidFill>
                            <a:schemeClr val="bg1"/>
                          </a:solidFill>
                        </a:rPr>
                        <a:t>1</a:t>
                      </a:r>
                      <a:endParaRPr lang="es-CO" sz="1600" b="0">
                        <a:solidFill>
                          <a:schemeClr val="bg1"/>
                        </a:solidFill>
                      </a:endParaRPr>
                    </a:p>
                  </a:txBody>
                  <a:tcPr>
                    <a:solidFill>
                      <a:srgbClr val="80589F"/>
                    </a:solidFill>
                  </a:tcPr>
                </a:tc>
                <a:tc>
                  <a:txBody>
                    <a:bodyPr/>
                    <a:lstStyle/>
                    <a:p>
                      <a:pPr algn="l"/>
                      <a:r>
                        <a:rPr lang="es-ES" sz="1600">
                          <a:solidFill>
                            <a:schemeClr val="tx1">
                              <a:lumMod val="50000"/>
                            </a:schemeClr>
                          </a:solidFill>
                        </a:rPr>
                        <a:t>Canales de comunicación</a:t>
                      </a:r>
                      <a:endParaRPr lang="es-CO" sz="1600">
                        <a:solidFill>
                          <a:schemeClr val="tx1">
                            <a:lumMod val="50000"/>
                          </a:schemeClr>
                        </a:solidFill>
                      </a:endParaRPr>
                    </a:p>
                  </a:txBody>
                  <a:tcPr/>
                </a:tc>
                <a:extLst>
                  <a:ext uri="{0D108BD9-81ED-4DB2-BD59-A6C34878D82A}">
                    <a16:rowId xmlns:a16="http://schemas.microsoft.com/office/drawing/2014/main" val="1218199385"/>
                  </a:ext>
                </a:extLst>
              </a:tr>
              <a:tr h="370840">
                <a:tc>
                  <a:txBody>
                    <a:bodyPr/>
                    <a:lstStyle/>
                    <a:p>
                      <a:pPr algn="ctr"/>
                      <a:r>
                        <a:rPr lang="es-ES" sz="1600" b="0">
                          <a:solidFill>
                            <a:schemeClr val="bg1"/>
                          </a:solidFill>
                        </a:rPr>
                        <a:t>1</a:t>
                      </a:r>
                      <a:endParaRPr lang="es-CO" sz="1600" b="0">
                        <a:solidFill>
                          <a:schemeClr val="bg1"/>
                        </a:solidFill>
                      </a:endParaRPr>
                    </a:p>
                  </a:txBody>
                  <a:tcPr>
                    <a:solidFill>
                      <a:srgbClr val="80589F"/>
                    </a:solidFill>
                  </a:tcPr>
                </a:tc>
                <a:tc>
                  <a:txBody>
                    <a:bodyPr/>
                    <a:lstStyle/>
                    <a:p>
                      <a:pPr algn="l"/>
                      <a:r>
                        <a:rPr lang="es-ES" sz="1600">
                          <a:solidFill>
                            <a:schemeClr val="tx1">
                              <a:lumMod val="50000"/>
                            </a:schemeClr>
                          </a:solidFill>
                        </a:rPr>
                        <a:t>Causa externa - Hospitalización</a:t>
                      </a:r>
                      <a:endParaRPr lang="es-CO" sz="1600">
                        <a:solidFill>
                          <a:schemeClr val="tx1">
                            <a:lumMod val="50000"/>
                          </a:schemeClr>
                        </a:solidFill>
                      </a:endParaRPr>
                    </a:p>
                  </a:txBody>
                  <a:tcPr/>
                </a:tc>
                <a:extLst>
                  <a:ext uri="{0D108BD9-81ED-4DB2-BD59-A6C34878D82A}">
                    <a16:rowId xmlns:a16="http://schemas.microsoft.com/office/drawing/2014/main" val="1682271261"/>
                  </a:ext>
                </a:extLst>
              </a:tr>
            </a:tbl>
          </a:graphicData>
        </a:graphic>
      </p:graphicFrame>
      <p:graphicFrame>
        <p:nvGraphicFramePr>
          <p:cNvPr id="65" name="Tabla 64">
            <a:extLst>
              <a:ext uri="{FF2B5EF4-FFF2-40B4-BE49-F238E27FC236}">
                <a16:creationId xmlns:a16="http://schemas.microsoft.com/office/drawing/2014/main" id="{F8FC2D80-379B-BC56-C795-9376291F97EE}"/>
              </a:ext>
            </a:extLst>
          </p:cNvPr>
          <p:cNvGraphicFramePr>
            <a:graphicFrameLocks noGrp="1"/>
          </p:cNvGraphicFramePr>
          <p:nvPr/>
        </p:nvGraphicFramePr>
        <p:xfrm>
          <a:off x="2698553" y="3081020"/>
          <a:ext cx="4419600" cy="741680"/>
        </p:xfrm>
        <a:graphic>
          <a:graphicData uri="http://schemas.openxmlformats.org/drawingml/2006/table">
            <a:tbl>
              <a:tblPr firstRow="1" bandRow="1">
                <a:tableStyleId>{5C22544A-7EE6-4342-B048-85BDC9FD1C3A}</a:tableStyleId>
              </a:tblPr>
              <a:tblGrid>
                <a:gridCol w="669845">
                  <a:extLst>
                    <a:ext uri="{9D8B030D-6E8A-4147-A177-3AD203B41FA5}">
                      <a16:colId xmlns:a16="http://schemas.microsoft.com/office/drawing/2014/main" val="2895156695"/>
                    </a:ext>
                  </a:extLst>
                </a:gridCol>
                <a:gridCol w="3749755">
                  <a:extLst>
                    <a:ext uri="{9D8B030D-6E8A-4147-A177-3AD203B41FA5}">
                      <a16:colId xmlns:a16="http://schemas.microsoft.com/office/drawing/2014/main" val="588126392"/>
                    </a:ext>
                  </a:extLst>
                </a:gridCol>
              </a:tblGrid>
              <a:tr h="370840">
                <a:tc>
                  <a:txBody>
                    <a:bodyPr/>
                    <a:lstStyle/>
                    <a:p>
                      <a:pPr algn="ctr"/>
                      <a:r>
                        <a:rPr lang="es-ES" sz="1600" b="0">
                          <a:solidFill>
                            <a:schemeClr val="bg1"/>
                          </a:solidFill>
                        </a:rPr>
                        <a:t>2</a:t>
                      </a:r>
                      <a:endParaRPr lang="es-CO" sz="1600" b="0">
                        <a:solidFill>
                          <a:schemeClr val="bg1"/>
                        </a:solidFill>
                      </a:endParaRPr>
                    </a:p>
                  </a:txBody>
                  <a:tcPr>
                    <a:solidFill>
                      <a:srgbClr val="80589F"/>
                    </a:solidFill>
                  </a:tcPr>
                </a:tc>
                <a:tc>
                  <a:txBody>
                    <a:bodyPr/>
                    <a:lstStyle/>
                    <a:p>
                      <a:pPr algn="l"/>
                      <a:r>
                        <a:rPr lang="es-ES" sz="1600" b="0">
                          <a:solidFill>
                            <a:schemeClr val="tx1">
                              <a:lumMod val="50000"/>
                            </a:schemeClr>
                          </a:solidFill>
                        </a:rPr>
                        <a:t>Continuidad del tratamiento</a:t>
                      </a:r>
                      <a:endParaRPr lang="es-CO" sz="1600" b="0">
                        <a:solidFill>
                          <a:schemeClr val="tx1">
                            <a:lumMod val="50000"/>
                          </a:schemeClr>
                        </a:solidFill>
                      </a:endParaRPr>
                    </a:p>
                  </a:txBody>
                  <a:tcPr>
                    <a:solidFill>
                      <a:srgbClr val="EDEAF0"/>
                    </a:solidFill>
                  </a:tcPr>
                </a:tc>
                <a:extLst>
                  <a:ext uri="{0D108BD9-81ED-4DB2-BD59-A6C34878D82A}">
                    <a16:rowId xmlns:a16="http://schemas.microsoft.com/office/drawing/2014/main" val="2183438607"/>
                  </a:ext>
                </a:extLst>
              </a:tr>
              <a:tr h="370840">
                <a:tc>
                  <a:txBody>
                    <a:bodyPr/>
                    <a:lstStyle/>
                    <a:p>
                      <a:pPr algn="ctr"/>
                      <a:r>
                        <a:rPr lang="es-ES" sz="1600" b="0">
                          <a:solidFill>
                            <a:schemeClr val="bg1"/>
                          </a:solidFill>
                        </a:rPr>
                        <a:t>1</a:t>
                      </a:r>
                      <a:endParaRPr lang="es-CO" sz="1600" b="0">
                        <a:solidFill>
                          <a:schemeClr val="bg1"/>
                        </a:solidFill>
                      </a:endParaRPr>
                    </a:p>
                  </a:txBody>
                  <a:tcPr>
                    <a:solidFill>
                      <a:srgbClr val="80589F"/>
                    </a:solidFill>
                  </a:tcPr>
                </a:tc>
                <a:tc>
                  <a:txBody>
                    <a:bodyPr/>
                    <a:lstStyle/>
                    <a:p>
                      <a:pPr algn="l"/>
                      <a:r>
                        <a:rPr lang="es-ES" sz="1600">
                          <a:solidFill>
                            <a:schemeClr val="tx1">
                              <a:lumMod val="50000"/>
                            </a:schemeClr>
                          </a:solidFill>
                        </a:rPr>
                        <a:t>Atención virtual - Hematología</a:t>
                      </a:r>
                      <a:endParaRPr lang="es-CO" sz="1600">
                        <a:solidFill>
                          <a:schemeClr val="tx1">
                            <a:lumMod val="50000"/>
                          </a:schemeClr>
                        </a:solidFill>
                      </a:endParaRPr>
                    </a:p>
                  </a:txBody>
                  <a:tcPr/>
                </a:tc>
                <a:extLst>
                  <a:ext uri="{0D108BD9-81ED-4DB2-BD59-A6C34878D82A}">
                    <a16:rowId xmlns:a16="http://schemas.microsoft.com/office/drawing/2014/main" val="344844624"/>
                  </a:ext>
                </a:extLst>
              </a:tr>
            </a:tbl>
          </a:graphicData>
        </a:graphic>
      </p:graphicFrame>
      <p:graphicFrame>
        <p:nvGraphicFramePr>
          <p:cNvPr id="79" name="Tabla 78">
            <a:extLst>
              <a:ext uri="{FF2B5EF4-FFF2-40B4-BE49-F238E27FC236}">
                <a16:creationId xmlns:a16="http://schemas.microsoft.com/office/drawing/2014/main" id="{EA46702F-C3F5-04B8-A663-24E117317D26}"/>
              </a:ext>
            </a:extLst>
          </p:cNvPr>
          <p:cNvGraphicFramePr>
            <a:graphicFrameLocks noGrp="1"/>
          </p:cNvGraphicFramePr>
          <p:nvPr/>
        </p:nvGraphicFramePr>
        <p:xfrm>
          <a:off x="2698553" y="4324331"/>
          <a:ext cx="4419600" cy="2225040"/>
        </p:xfrm>
        <a:graphic>
          <a:graphicData uri="http://schemas.openxmlformats.org/drawingml/2006/table">
            <a:tbl>
              <a:tblPr firstRow="1" bandRow="1">
                <a:tableStyleId>{5C22544A-7EE6-4342-B048-85BDC9FD1C3A}</a:tableStyleId>
              </a:tblPr>
              <a:tblGrid>
                <a:gridCol w="669845">
                  <a:extLst>
                    <a:ext uri="{9D8B030D-6E8A-4147-A177-3AD203B41FA5}">
                      <a16:colId xmlns:a16="http://schemas.microsoft.com/office/drawing/2014/main" val="2895156695"/>
                    </a:ext>
                  </a:extLst>
                </a:gridCol>
                <a:gridCol w="3749755">
                  <a:extLst>
                    <a:ext uri="{9D8B030D-6E8A-4147-A177-3AD203B41FA5}">
                      <a16:colId xmlns:a16="http://schemas.microsoft.com/office/drawing/2014/main" val="588126392"/>
                    </a:ext>
                  </a:extLst>
                </a:gridCol>
              </a:tblGrid>
              <a:tr h="370840">
                <a:tc>
                  <a:txBody>
                    <a:bodyPr/>
                    <a:lstStyle/>
                    <a:p>
                      <a:pPr algn="ctr"/>
                      <a:r>
                        <a:rPr lang="es-ES" sz="1600" b="0">
                          <a:solidFill>
                            <a:schemeClr val="bg1"/>
                          </a:solidFill>
                        </a:rPr>
                        <a:t>19</a:t>
                      </a:r>
                      <a:endParaRPr lang="es-CO" sz="1600" b="0">
                        <a:solidFill>
                          <a:schemeClr val="bg1"/>
                        </a:solidFill>
                      </a:endParaRPr>
                    </a:p>
                  </a:txBody>
                  <a:tcPr>
                    <a:solidFill>
                      <a:srgbClr val="80589F"/>
                    </a:solidFill>
                  </a:tcPr>
                </a:tc>
                <a:tc>
                  <a:txBody>
                    <a:bodyPr/>
                    <a:lstStyle/>
                    <a:p>
                      <a:pPr algn="l"/>
                      <a:r>
                        <a:rPr lang="es-ES" sz="1600" b="0">
                          <a:solidFill>
                            <a:schemeClr val="tx1">
                              <a:lumMod val="50000"/>
                            </a:schemeClr>
                          </a:solidFill>
                        </a:rPr>
                        <a:t>Continuidad del tratamiento</a:t>
                      </a:r>
                      <a:endParaRPr lang="es-CO" sz="1600" b="0">
                        <a:solidFill>
                          <a:schemeClr val="tx1">
                            <a:lumMod val="50000"/>
                          </a:schemeClr>
                        </a:solidFill>
                      </a:endParaRPr>
                    </a:p>
                  </a:txBody>
                  <a:tcPr>
                    <a:solidFill>
                      <a:srgbClr val="EDEAF0"/>
                    </a:solidFill>
                  </a:tcPr>
                </a:tc>
                <a:extLst>
                  <a:ext uri="{0D108BD9-81ED-4DB2-BD59-A6C34878D82A}">
                    <a16:rowId xmlns:a16="http://schemas.microsoft.com/office/drawing/2014/main" val="2183438607"/>
                  </a:ext>
                </a:extLst>
              </a:tr>
              <a:tr h="370840">
                <a:tc>
                  <a:txBody>
                    <a:bodyPr/>
                    <a:lstStyle/>
                    <a:p>
                      <a:pPr algn="ctr"/>
                      <a:r>
                        <a:rPr lang="es-ES" sz="1600" b="0">
                          <a:solidFill>
                            <a:schemeClr val="bg1"/>
                          </a:solidFill>
                        </a:rPr>
                        <a:t>4</a:t>
                      </a:r>
                      <a:endParaRPr lang="es-CO" sz="1600" b="0">
                        <a:solidFill>
                          <a:schemeClr val="bg1"/>
                        </a:solidFill>
                      </a:endParaRPr>
                    </a:p>
                  </a:txBody>
                  <a:tcPr>
                    <a:solidFill>
                      <a:srgbClr val="80589F"/>
                    </a:solidFill>
                  </a:tcPr>
                </a:tc>
                <a:tc>
                  <a:txBody>
                    <a:bodyPr/>
                    <a:lstStyle/>
                    <a:p>
                      <a:pPr algn="l"/>
                      <a:r>
                        <a:rPr lang="es-ES" sz="1600">
                          <a:solidFill>
                            <a:schemeClr val="tx1">
                              <a:lumMod val="50000"/>
                            </a:schemeClr>
                          </a:solidFill>
                        </a:rPr>
                        <a:t>Oportunidad cirugía</a:t>
                      </a:r>
                      <a:endParaRPr lang="es-CO" sz="1600">
                        <a:solidFill>
                          <a:schemeClr val="tx1">
                            <a:lumMod val="50000"/>
                          </a:schemeClr>
                        </a:solidFill>
                      </a:endParaRPr>
                    </a:p>
                  </a:txBody>
                  <a:tcPr/>
                </a:tc>
                <a:extLst>
                  <a:ext uri="{0D108BD9-81ED-4DB2-BD59-A6C34878D82A}">
                    <a16:rowId xmlns:a16="http://schemas.microsoft.com/office/drawing/2014/main" val="344844624"/>
                  </a:ext>
                </a:extLst>
              </a:tr>
              <a:tr h="370840">
                <a:tc>
                  <a:txBody>
                    <a:bodyPr/>
                    <a:lstStyle/>
                    <a:p>
                      <a:pPr algn="ctr"/>
                      <a:r>
                        <a:rPr lang="es-ES" sz="1600" b="0">
                          <a:solidFill>
                            <a:schemeClr val="bg1"/>
                          </a:solidFill>
                        </a:rPr>
                        <a:t>4</a:t>
                      </a:r>
                      <a:endParaRPr lang="es-CO" sz="1600" b="0">
                        <a:solidFill>
                          <a:schemeClr val="bg1"/>
                        </a:solidFill>
                      </a:endParaRPr>
                    </a:p>
                  </a:txBody>
                  <a:tcPr>
                    <a:solidFill>
                      <a:srgbClr val="80589F"/>
                    </a:solidFill>
                  </a:tcPr>
                </a:tc>
                <a:tc>
                  <a:txBody>
                    <a:bodyPr/>
                    <a:lstStyle/>
                    <a:p>
                      <a:pPr algn="l"/>
                      <a:r>
                        <a:rPr lang="es-ES" sz="1600">
                          <a:solidFill>
                            <a:schemeClr val="tx1">
                              <a:lumMod val="50000"/>
                            </a:schemeClr>
                          </a:solidFill>
                        </a:rPr>
                        <a:t>Canales de comunicación</a:t>
                      </a:r>
                      <a:endParaRPr lang="es-CO" sz="1600">
                        <a:solidFill>
                          <a:schemeClr val="tx1">
                            <a:lumMod val="50000"/>
                          </a:schemeClr>
                        </a:solidFill>
                      </a:endParaRPr>
                    </a:p>
                  </a:txBody>
                  <a:tcPr/>
                </a:tc>
                <a:extLst>
                  <a:ext uri="{0D108BD9-81ED-4DB2-BD59-A6C34878D82A}">
                    <a16:rowId xmlns:a16="http://schemas.microsoft.com/office/drawing/2014/main" val="3822239907"/>
                  </a:ext>
                </a:extLst>
              </a:tr>
              <a:tr h="370840">
                <a:tc>
                  <a:txBody>
                    <a:bodyPr/>
                    <a:lstStyle/>
                    <a:p>
                      <a:pPr algn="ctr"/>
                      <a:r>
                        <a:rPr lang="es-ES" sz="1600" b="0">
                          <a:solidFill>
                            <a:schemeClr val="bg1"/>
                          </a:solidFill>
                        </a:rPr>
                        <a:t>5</a:t>
                      </a:r>
                      <a:endParaRPr lang="es-CO" sz="1600" b="0">
                        <a:solidFill>
                          <a:schemeClr val="bg1"/>
                        </a:solidFill>
                      </a:endParaRPr>
                    </a:p>
                  </a:txBody>
                  <a:tcPr>
                    <a:solidFill>
                      <a:srgbClr val="80589F"/>
                    </a:solidFill>
                  </a:tcPr>
                </a:tc>
                <a:tc>
                  <a:txBody>
                    <a:bodyPr/>
                    <a:lstStyle/>
                    <a:p>
                      <a:pPr algn="l"/>
                      <a:r>
                        <a:rPr lang="es-ES" sz="1600">
                          <a:solidFill>
                            <a:schemeClr val="tx1">
                              <a:lumMod val="50000"/>
                            </a:schemeClr>
                          </a:solidFill>
                        </a:rPr>
                        <a:t>Oportunidad en consulta</a:t>
                      </a:r>
                      <a:endParaRPr lang="es-CO" sz="1600">
                        <a:solidFill>
                          <a:schemeClr val="tx1">
                            <a:lumMod val="50000"/>
                          </a:schemeClr>
                        </a:solidFill>
                      </a:endParaRPr>
                    </a:p>
                  </a:txBody>
                  <a:tcPr/>
                </a:tc>
                <a:extLst>
                  <a:ext uri="{0D108BD9-81ED-4DB2-BD59-A6C34878D82A}">
                    <a16:rowId xmlns:a16="http://schemas.microsoft.com/office/drawing/2014/main" val="1218199385"/>
                  </a:ext>
                </a:extLst>
              </a:tr>
              <a:tr h="370840">
                <a:tc>
                  <a:txBody>
                    <a:bodyPr/>
                    <a:lstStyle/>
                    <a:p>
                      <a:pPr algn="ctr"/>
                      <a:r>
                        <a:rPr lang="es-ES" sz="1600" b="0">
                          <a:solidFill>
                            <a:schemeClr val="bg1"/>
                          </a:solidFill>
                        </a:rPr>
                        <a:t>1</a:t>
                      </a:r>
                      <a:endParaRPr lang="es-CO" sz="1600" b="0">
                        <a:solidFill>
                          <a:schemeClr val="bg1"/>
                        </a:solidFill>
                      </a:endParaRPr>
                    </a:p>
                  </a:txBody>
                  <a:tcPr>
                    <a:solidFill>
                      <a:srgbClr val="80589F"/>
                    </a:solidFill>
                  </a:tcPr>
                </a:tc>
                <a:tc>
                  <a:txBody>
                    <a:bodyPr/>
                    <a:lstStyle/>
                    <a:p>
                      <a:pPr algn="l"/>
                      <a:r>
                        <a:rPr lang="es-ES" sz="1600">
                          <a:solidFill>
                            <a:schemeClr val="tx1">
                              <a:lumMod val="50000"/>
                            </a:schemeClr>
                          </a:solidFill>
                        </a:rPr>
                        <a:t>Atención médica</a:t>
                      </a:r>
                      <a:endParaRPr lang="es-CO" sz="1600">
                        <a:solidFill>
                          <a:schemeClr val="tx1">
                            <a:lumMod val="50000"/>
                          </a:schemeClr>
                        </a:solidFill>
                      </a:endParaRPr>
                    </a:p>
                  </a:txBody>
                  <a:tcPr/>
                </a:tc>
                <a:extLst>
                  <a:ext uri="{0D108BD9-81ED-4DB2-BD59-A6C34878D82A}">
                    <a16:rowId xmlns:a16="http://schemas.microsoft.com/office/drawing/2014/main" val="1682271261"/>
                  </a:ext>
                </a:extLst>
              </a:tr>
              <a:tr h="370840">
                <a:tc>
                  <a:txBody>
                    <a:bodyPr/>
                    <a:lstStyle/>
                    <a:p>
                      <a:pPr algn="ctr"/>
                      <a:r>
                        <a:rPr lang="es-ES" sz="1600" b="0">
                          <a:solidFill>
                            <a:schemeClr val="bg1"/>
                          </a:solidFill>
                        </a:rPr>
                        <a:t>3</a:t>
                      </a:r>
                      <a:endParaRPr lang="es-CO" sz="1600" b="0">
                        <a:solidFill>
                          <a:schemeClr val="bg1"/>
                        </a:solidFill>
                      </a:endParaRPr>
                    </a:p>
                  </a:txBody>
                  <a:tcPr>
                    <a:solidFill>
                      <a:srgbClr val="80589F"/>
                    </a:solidFill>
                  </a:tcPr>
                </a:tc>
                <a:tc>
                  <a:txBody>
                    <a:bodyPr/>
                    <a:lstStyle/>
                    <a:p>
                      <a:pPr algn="l"/>
                      <a:r>
                        <a:rPr lang="es-ES" sz="1600">
                          <a:solidFill>
                            <a:schemeClr val="tx1">
                              <a:lumMod val="50000"/>
                            </a:schemeClr>
                          </a:solidFill>
                        </a:rPr>
                        <a:t>Causa externa</a:t>
                      </a:r>
                      <a:endParaRPr lang="es-CO" sz="1600">
                        <a:solidFill>
                          <a:schemeClr val="tx1">
                            <a:lumMod val="50000"/>
                          </a:schemeClr>
                        </a:solidFill>
                      </a:endParaRPr>
                    </a:p>
                  </a:txBody>
                  <a:tcPr/>
                </a:tc>
                <a:extLst>
                  <a:ext uri="{0D108BD9-81ED-4DB2-BD59-A6C34878D82A}">
                    <a16:rowId xmlns:a16="http://schemas.microsoft.com/office/drawing/2014/main" val="4170268882"/>
                  </a:ext>
                </a:extLst>
              </a:tr>
            </a:tbl>
          </a:graphicData>
        </a:graphic>
      </p:graphicFrame>
      <p:graphicFrame>
        <p:nvGraphicFramePr>
          <p:cNvPr id="87" name="Tabla 86">
            <a:extLst>
              <a:ext uri="{FF2B5EF4-FFF2-40B4-BE49-F238E27FC236}">
                <a16:creationId xmlns:a16="http://schemas.microsoft.com/office/drawing/2014/main" id="{ACD1FF3E-3582-0D95-3DDF-0A663E48A795}"/>
              </a:ext>
            </a:extLst>
          </p:cNvPr>
          <p:cNvGraphicFramePr>
            <a:graphicFrameLocks noGrp="1"/>
          </p:cNvGraphicFramePr>
          <p:nvPr/>
        </p:nvGraphicFramePr>
        <p:xfrm>
          <a:off x="7888231" y="2396990"/>
          <a:ext cx="3984739" cy="4079240"/>
        </p:xfrm>
        <a:graphic>
          <a:graphicData uri="http://schemas.openxmlformats.org/drawingml/2006/table">
            <a:tbl>
              <a:tblPr firstRow="1" bandRow="1">
                <a:tableStyleId>{5C22544A-7EE6-4342-B048-85BDC9FD1C3A}</a:tableStyleId>
              </a:tblPr>
              <a:tblGrid>
                <a:gridCol w="555739">
                  <a:extLst>
                    <a:ext uri="{9D8B030D-6E8A-4147-A177-3AD203B41FA5}">
                      <a16:colId xmlns:a16="http://schemas.microsoft.com/office/drawing/2014/main" val="2895156695"/>
                    </a:ext>
                  </a:extLst>
                </a:gridCol>
                <a:gridCol w="3429000">
                  <a:extLst>
                    <a:ext uri="{9D8B030D-6E8A-4147-A177-3AD203B41FA5}">
                      <a16:colId xmlns:a16="http://schemas.microsoft.com/office/drawing/2014/main" val="588126392"/>
                    </a:ext>
                  </a:extLst>
                </a:gridCol>
              </a:tblGrid>
              <a:tr h="370840">
                <a:tc>
                  <a:txBody>
                    <a:bodyPr/>
                    <a:lstStyle/>
                    <a:p>
                      <a:pPr algn="ctr" fontAlgn="b">
                        <a:buNone/>
                      </a:pPr>
                      <a:r>
                        <a:rPr lang="es-CO" sz="1600" b="0" i="0" u="none" strike="noStrike">
                          <a:solidFill>
                            <a:schemeClr val="bg1"/>
                          </a:solidFill>
                          <a:effectLst/>
                          <a:latin typeface="Muli"/>
                        </a:rPr>
                        <a:t>41</a:t>
                      </a:r>
                    </a:p>
                  </a:txBody>
                  <a:tcPr marL="9525" marR="9525" marT="9525" marB="0" anchor="ctr">
                    <a:solidFill>
                      <a:srgbClr val="00A19C"/>
                    </a:solidFill>
                  </a:tcPr>
                </a:tc>
                <a:tc>
                  <a:txBody>
                    <a:bodyPr/>
                    <a:lstStyle/>
                    <a:p>
                      <a:pPr algn="l" fontAlgn="b">
                        <a:buNone/>
                      </a:pPr>
                      <a:r>
                        <a:rPr lang="es-CO" sz="1600" b="0" i="0" u="none" strike="noStrike">
                          <a:solidFill>
                            <a:srgbClr val="000000"/>
                          </a:solidFill>
                          <a:effectLst/>
                          <a:latin typeface="Muli"/>
                        </a:rPr>
                        <a:t>Programación de consulta</a:t>
                      </a:r>
                    </a:p>
                  </a:txBody>
                  <a:tcPr marL="9525" marR="9525" marT="9525" marB="0" anchor="ctr">
                    <a:solidFill>
                      <a:srgbClr val="EDEAF0"/>
                    </a:solidFill>
                  </a:tcPr>
                </a:tc>
                <a:extLst>
                  <a:ext uri="{0D108BD9-81ED-4DB2-BD59-A6C34878D82A}">
                    <a16:rowId xmlns:a16="http://schemas.microsoft.com/office/drawing/2014/main" val="2183438607"/>
                  </a:ext>
                </a:extLst>
              </a:tr>
              <a:tr h="370840">
                <a:tc>
                  <a:txBody>
                    <a:bodyPr/>
                    <a:lstStyle/>
                    <a:p>
                      <a:pPr algn="ctr" fontAlgn="b">
                        <a:buNone/>
                      </a:pPr>
                      <a:r>
                        <a:rPr lang="es-CO" sz="1600" b="0" i="0" u="none" strike="noStrike">
                          <a:solidFill>
                            <a:schemeClr val="bg1"/>
                          </a:solidFill>
                          <a:effectLst/>
                          <a:latin typeface="Muli"/>
                        </a:rPr>
                        <a:t>40</a:t>
                      </a:r>
                    </a:p>
                  </a:txBody>
                  <a:tcPr marL="9525" marR="9525" marT="9525" marB="0" anchor="ctr">
                    <a:solidFill>
                      <a:srgbClr val="00A19C"/>
                    </a:solidFill>
                  </a:tcPr>
                </a:tc>
                <a:tc>
                  <a:txBody>
                    <a:bodyPr/>
                    <a:lstStyle/>
                    <a:p>
                      <a:pPr algn="l" fontAlgn="b">
                        <a:buNone/>
                      </a:pPr>
                      <a:r>
                        <a:rPr lang="es-CO" sz="1600" b="0" i="0" u="none" strike="noStrike">
                          <a:solidFill>
                            <a:srgbClr val="000000"/>
                          </a:solidFill>
                          <a:effectLst/>
                          <a:latin typeface="Muli"/>
                        </a:rPr>
                        <a:t>Continuidad quimioterapia</a:t>
                      </a:r>
                    </a:p>
                  </a:txBody>
                  <a:tcPr marL="9525" marR="9525" marT="9525" marB="0" anchor="ctr"/>
                </a:tc>
                <a:extLst>
                  <a:ext uri="{0D108BD9-81ED-4DB2-BD59-A6C34878D82A}">
                    <a16:rowId xmlns:a16="http://schemas.microsoft.com/office/drawing/2014/main" val="344844624"/>
                  </a:ext>
                </a:extLst>
              </a:tr>
              <a:tr h="370840">
                <a:tc>
                  <a:txBody>
                    <a:bodyPr/>
                    <a:lstStyle/>
                    <a:p>
                      <a:pPr algn="ctr" fontAlgn="b">
                        <a:buNone/>
                      </a:pPr>
                      <a:r>
                        <a:rPr lang="es-CO" sz="1600" b="0" i="0" u="none" strike="noStrike">
                          <a:solidFill>
                            <a:schemeClr val="bg1"/>
                          </a:solidFill>
                          <a:effectLst/>
                          <a:latin typeface="Muli"/>
                        </a:rPr>
                        <a:t>12</a:t>
                      </a:r>
                    </a:p>
                  </a:txBody>
                  <a:tcPr marL="9525" marR="9525" marT="9525" marB="0" anchor="ctr">
                    <a:solidFill>
                      <a:srgbClr val="00A19C"/>
                    </a:solidFill>
                  </a:tcPr>
                </a:tc>
                <a:tc>
                  <a:txBody>
                    <a:bodyPr/>
                    <a:lstStyle/>
                    <a:p>
                      <a:pPr algn="l" fontAlgn="b">
                        <a:buNone/>
                      </a:pPr>
                      <a:r>
                        <a:rPr lang="es-CO" sz="1600" b="0" i="0" u="none" strike="noStrike">
                          <a:solidFill>
                            <a:srgbClr val="000000"/>
                          </a:solidFill>
                          <a:effectLst/>
                          <a:latin typeface="Muli"/>
                        </a:rPr>
                        <a:t>Programación de imágenes</a:t>
                      </a:r>
                    </a:p>
                  </a:txBody>
                  <a:tcPr marL="9525" marR="9525" marT="9525" marB="0" anchor="ctr"/>
                </a:tc>
                <a:extLst>
                  <a:ext uri="{0D108BD9-81ED-4DB2-BD59-A6C34878D82A}">
                    <a16:rowId xmlns:a16="http://schemas.microsoft.com/office/drawing/2014/main" val="3822239907"/>
                  </a:ext>
                </a:extLst>
              </a:tr>
              <a:tr h="370840">
                <a:tc>
                  <a:txBody>
                    <a:bodyPr/>
                    <a:lstStyle/>
                    <a:p>
                      <a:pPr algn="ctr" fontAlgn="b">
                        <a:buNone/>
                      </a:pPr>
                      <a:r>
                        <a:rPr lang="es-CO" sz="1600" b="0" i="0" u="none" strike="noStrike">
                          <a:solidFill>
                            <a:schemeClr val="bg1"/>
                          </a:solidFill>
                          <a:effectLst/>
                          <a:latin typeface="Muli"/>
                        </a:rPr>
                        <a:t>6</a:t>
                      </a:r>
                    </a:p>
                  </a:txBody>
                  <a:tcPr marL="9525" marR="9525" marT="9525" marB="0" anchor="ctr">
                    <a:solidFill>
                      <a:srgbClr val="00A19C"/>
                    </a:solidFill>
                  </a:tcPr>
                </a:tc>
                <a:tc>
                  <a:txBody>
                    <a:bodyPr/>
                    <a:lstStyle/>
                    <a:p>
                      <a:pPr algn="l" fontAlgn="b">
                        <a:buNone/>
                      </a:pPr>
                      <a:r>
                        <a:rPr lang="es-CO" sz="1600" b="0" i="0" u="none" strike="noStrike">
                          <a:solidFill>
                            <a:srgbClr val="000000"/>
                          </a:solidFill>
                          <a:effectLst/>
                          <a:latin typeface="Muli"/>
                        </a:rPr>
                        <a:t>Programación de cirugía</a:t>
                      </a:r>
                    </a:p>
                  </a:txBody>
                  <a:tcPr marL="9525" marR="9525" marT="9525" marB="0" anchor="ctr"/>
                </a:tc>
                <a:extLst>
                  <a:ext uri="{0D108BD9-81ED-4DB2-BD59-A6C34878D82A}">
                    <a16:rowId xmlns:a16="http://schemas.microsoft.com/office/drawing/2014/main" val="1682271261"/>
                  </a:ext>
                </a:extLst>
              </a:tr>
              <a:tr h="370840">
                <a:tc>
                  <a:txBody>
                    <a:bodyPr/>
                    <a:lstStyle/>
                    <a:p>
                      <a:pPr algn="ctr" fontAlgn="b">
                        <a:buNone/>
                      </a:pPr>
                      <a:r>
                        <a:rPr lang="es-CO" sz="1600" b="0" i="0" u="none" strike="noStrike">
                          <a:solidFill>
                            <a:schemeClr val="bg1"/>
                          </a:solidFill>
                          <a:effectLst/>
                          <a:latin typeface="Muli"/>
                        </a:rPr>
                        <a:t>4</a:t>
                      </a:r>
                    </a:p>
                  </a:txBody>
                  <a:tcPr marL="9525" marR="9525" marT="9525" marB="0" anchor="ctr">
                    <a:solidFill>
                      <a:srgbClr val="00A19C"/>
                    </a:solidFill>
                  </a:tcPr>
                </a:tc>
                <a:tc>
                  <a:txBody>
                    <a:bodyPr/>
                    <a:lstStyle/>
                    <a:p>
                      <a:pPr algn="l" fontAlgn="b">
                        <a:buNone/>
                      </a:pPr>
                      <a:r>
                        <a:rPr lang="es-CO" sz="1600" b="0" i="0" u="none" strike="noStrike">
                          <a:solidFill>
                            <a:srgbClr val="000000"/>
                          </a:solidFill>
                          <a:effectLst/>
                          <a:latin typeface="Muli"/>
                        </a:rPr>
                        <a:t>Programación de procedimiento</a:t>
                      </a:r>
                    </a:p>
                  </a:txBody>
                  <a:tcPr marL="9525" marR="9525" marT="9525" marB="0" anchor="ctr"/>
                </a:tc>
                <a:extLst>
                  <a:ext uri="{0D108BD9-81ED-4DB2-BD59-A6C34878D82A}">
                    <a16:rowId xmlns:a16="http://schemas.microsoft.com/office/drawing/2014/main" val="1414541194"/>
                  </a:ext>
                </a:extLst>
              </a:tr>
              <a:tr h="370840">
                <a:tc>
                  <a:txBody>
                    <a:bodyPr/>
                    <a:lstStyle/>
                    <a:p>
                      <a:pPr algn="ctr" fontAlgn="b">
                        <a:buNone/>
                      </a:pPr>
                      <a:r>
                        <a:rPr lang="es-CO" sz="1600" b="0" i="0" u="none" strike="noStrike">
                          <a:solidFill>
                            <a:schemeClr val="bg1"/>
                          </a:solidFill>
                          <a:effectLst/>
                          <a:latin typeface="Muli"/>
                        </a:rPr>
                        <a:t>4</a:t>
                      </a:r>
                    </a:p>
                  </a:txBody>
                  <a:tcPr marL="9525" marR="9525" marT="9525" marB="0" anchor="ctr">
                    <a:solidFill>
                      <a:srgbClr val="00A19C"/>
                    </a:solidFill>
                  </a:tcPr>
                </a:tc>
                <a:tc>
                  <a:txBody>
                    <a:bodyPr/>
                    <a:lstStyle/>
                    <a:p>
                      <a:pPr algn="l" fontAlgn="b">
                        <a:buNone/>
                      </a:pPr>
                      <a:r>
                        <a:rPr lang="es-CO" sz="1600" b="0" i="0" u="none" strike="noStrike">
                          <a:solidFill>
                            <a:srgbClr val="000000"/>
                          </a:solidFill>
                          <a:effectLst/>
                          <a:latin typeface="Muli"/>
                        </a:rPr>
                        <a:t>Programación de radioterapia</a:t>
                      </a:r>
                    </a:p>
                  </a:txBody>
                  <a:tcPr marL="9525" marR="9525" marT="9525" marB="0" anchor="ctr"/>
                </a:tc>
                <a:extLst>
                  <a:ext uri="{0D108BD9-81ED-4DB2-BD59-A6C34878D82A}">
                    <a16:rowId xmlns:a16="http://schemas.microsoft.com/office/drawing/2014/main" val="2030214790"/>
                  </a:ext>
                </a:extLst>
              </a:tr>
              <a:tr h="370840">
                <a:tc>
                  <a:txBody>
                    <a:bodyPr/>
                    <a:lstStyle/>
                    <a:p>
                      <a:pPr algn="ctr" fontAlgn="b">
                        <a:buNone/>
                      </a:pPr>
                      <a:r>
                        <a:rPr lang="es-CO" sz="1600" b="0" i="0" u="none" strike="noStrike">
                          <a:solidFill>
                            <a:schemeClr val="bg1"/>
                          </a:solidFill>
                          <a:effectLst/>
                          <a:latin typeface="Muli"/>
                        </a:rPr>
                        <a:t>3</a:t>
                      </a:r>
                    </a:p>
                  </a:txBody>
                  <a:tcPr marL="9525" marR="9525" marT="9525" marB="0" anchor="ctr">
                    <a:solidFill>
                      <a:srgbClr val="00A19C"/>
                    </a:solidFill>
                  </a:tcPr>
                </a:tc>
                <a:tc>
                  <a:txBody>
                    <a:bodyPr/>
                    <a:lstStyle/>
                    <a:p>
                      <a:pPr algn="l" fontAlgn="b">
                        <a:buNone/>
                      </a:pPr>
                      <a:r>
                        <a:rPr lang="es-CO" sz="1600" b="0" i="0" u="none" strike="noStrike">
                          <a:solidFill>
                            <a:srgbClr val="000000"/>
                          </a:solidFill>
                          <a:effectLst/>
                          <a:latin typeface="Muli"/>
                        </a:rPr>
                        <a:t>Toma de laboratorios</a:t>
                      </a:r>
                    </a:p>
                  </a:txBody>
                  <a:tcPr marL="9525" marR="9525" marT="9525" marB="0" anchor="ctr"/>
                </a:tc>
                <a:extLst>
                  <a:ext uri="{0D108BD9-81ED-4DB2-BD59-A6C34878D82A}">
                    <a16:rowId xmlns:a16="http://schemas.microsoft.com/office/drawing/2014/main" val="848248275"/>
                  </a:ext>
                </a:extLst>
              </a:tr>
              <a:tr h="370840">
                <a:tc>
                  <a:txBody>
                    <a:bodyPr/>
                    <a:lstStyle/>
                    <a:p>
                      <a:pPr algn="ctr" fontAlgn="b">
                        <a:buNone/>
                      </a:pPr>
                      <a:r>
                        <a:rPr lang="es-CO" sz="1600" b="0" i="0" u="none" strike="noStrike">
                          <a:solidFill>
                            <a:schemeClr val="bg1"/>
                          </a:solidFill>
                          <a:effectLst/>
                          <a:latin typeface="Muli"/>
                        </a:rPr>
                        <a:t>1</a:t>
                      </a:r>
                    </a:p>
                  </a:txBody>
                  <a:tcPr marL="9525" marR="9525" marT="9525" marB="0" anchor="ctr">
                    <a:solidFill>
                      <a:srgbClr val="00A19C"/>
                    </a:solidFill>
                  </a:tcPr>
                </a:tc>
                <a:tc>
                  <a:txBody>
                    <a:bodyPr/>
                    <a:lstStyle/>
                    <a:p>
                      <a:pPr algn="l" fontAlgn="b">
                        <a:buNone/>
                      </a:pPr>
                      <a:r>
                        <a:rPr lang="es-CO" sz="1600" b="0" i="0" u="none" strike="noStrike">
                          <a:solidFill>
                            <a:srgbClr val="000000"/>
                          </a:solidFill>
                          <a:effectLst/>
                          <a:latin typeface="Muli"/>
                        </a:rPr>
                        <a:t>Programación radioterapia</a:t>
                      </a:r>
                    </a:p>
                  </a:txBody>
                  <a:tcPr marL="9525" marR="9525" marT="9525" marB="0" anchor="ctr"/>
                </a:tc>
                <a:extLst>
                  <a:ext uri="{0D108BD9-81ED-4DB2-BD59-A6C34878D82A}">
                    <a16:rowId xmlns:a16="http://schemas.microsoft.com/office/drawing/2014/main" val="1253855468"/>
                  </a:ext>
                </a:extLst>
              </a:tr>
              <a:tr h="370840">
                <a:tc>
                  <a:txBody>
                    <a:bodyPr/>
                    <a:lstStyle/>
                    <a:p>
                      <a:pPr algn="ctr" fontAlgn="b">
                        <a:buNone/>
                      </a:pPr>
                      <a:r>
                        <a:rPr lang="es-CO" sz="1600" b="0" i="0" u="none" strike="noStrike">
                          <a:solidFill>
                            <a:schemeClr val="bg1"/>
                          </a:solidFill>
                          <a:effectLst/>
                          <a:latin typeface="Muli"/>
                        </a:rPr>
                        <a:t>1</a:t>
                      </a:r>
                    </a:p>
                  </a:txBody>
                  <a:tcPr marL="9525" marR="9525" marT="9525" marB="0" anchor="ctr">
                    <a:solidFill>
                      <a:srgbClr val="00A19C"/>
                    </a:solidFill>
                  </a:tcPr>
                </a:tc>
                <a:tc>
                  <a:txBody>
                    <a:bodyPr/>
                    <a:lstStyle/>
                    <a:p>
                      <a:pPr algn="l" fontAlgn="b">
                        <a:buNone/>
                      </a:pPr>
                      <a:r>
                        <a:rPr lang="es-CO" sz="1600" b="0" i="0" u="none" strike="noStrike">
                          <a:solidFill>
                            <a:srgbClr val="000000"/>
                          </a:solidFill>
                          <a:effectLst/>
                          <a:latin typeface="Muli"/>
                        </a:rPr>
                        <a:t>Causa Externa</a:t>
                      </a:r>
                    </a:p>
                  </a:txBody>
                  <a:tcPr marL="9525" marR="9525" marT="9525" marB="0" anchor="ctr"/>
                </a:tc>
                <a:extLst>
                  <a:ext uri="{0D108BD9-81ED-4DB2-BD59-A6C34878D82A}">
                    <a16:rowId xmlns:a16="http://schemas.microsoft.com/office/drawing/2014/main" val="4284443498"/>
                  </a:ext>
                </a:extLst>
              </a:tr>
              <a:tr h="370840">
                <a:tc>
                  <a:txBody>
                    <a:bodyPr/>
                    <a:lstStyle/>
                    <a:p>
                      <a:pPr algn="ctr" fontAlgn="b">
                        <a:buNone/>
                      </a:pPr>
                      <a:r>
                        <a:rPr lang="es-CO" sz="1600" b="0" i="0" u="none" strike="noStrike">
                          <a:solidFill>
                            <a:schemeClr val="bg1"/>
                          </a:solidFill>
                          <a:effectLst/>
                          <a:latin typeface="Muli"/>
                        </a:rPr>
                        <a:t>1</a:t>
                      </a:r>
                    </a:p>
                  </a:txBody>
                  <a:tcPr marL="9525" marR="9525" marT="9525" marB="0" anchor="ctr">
                    <a:solidFill>
                      <a:srgbClr val="00A19C"/>
                    </a:solidFill>
                  </a:tcPr>
                </a:tc>
                <a:tc>
                  <a:txBody>
                    <a:bodyPr/>
                    <a:lstStyle/>
                    <a:p>
                      <a:pPr algn="l" fontAlgn="b">
                        <a:buNone/>
                      </a:pPr>
                      <a:r>
                        <a:rPr lang="es-CO" sz="1600" b="0" i="0" u="none" strike="noStrike">
                          <a:solidFill>
                            <a:srgbClr val="000000"/>
                          </a:solidFill>
                          <a:effectLst/>
                          <a:latin typeface="Muli"/>
                        </a:rPr>
                        <a:t>Programaciónde yodoterapia</a:t>
                      </a:r>
                    </a:p>
                  </a:txBody>
                  <a:tcPr marL="9525" marR="9525" marT="9525" marB="0" anchor="ctr"/>
                </a:tc>
                <a:extLst>
                  <a:ext uri="{0D108BD9-81ED-4DB2-BD59-A6C34878D82A}">
                    <a16:rowId xmlns:a16="http://schemas.microsoft.com/office/drawing/2014/main" val="1507299188"/>
                  </a:ext>
                </a:extLst>
              </a:tr>
              <a:tr h="370840">
                <a:tc>
                  <a:txBody>
                    <a:bodyPr/>
                    <a:lstStyle/>
                    <a:p>
                      <a:pPr algn="ctr" fontAlgn="b">
                        <a:buNone/>
                      </a:pPr>
                      <a:r>
                        <a:rPr lang="es-CO" sz="1600" b="0" i="0" u="none" strike="noStrike">
                          <a:solidFill>
                            <a:schemeClr val="bg1"/>
                          </a:solidFill>
                          <a:effectLst/>
                          <a:latin typeface="Muli"/>
                        </a:rPr>
                        <a:t>2</a:t>
                      </a:r>
                    </a:p>
                  </a:txBody>
                  <a:tcPr marL="9525" marR="9525" marT="9525" marB="0" anchor="ctr">
                    <a:solidFill>
                      <a:srgbClr val="00A19C"/>
                    </a:solidFill>
                  </a:tcPr>
                </a:tc>
                <a:tc>
                  <a:txBody>
                    <a:bodyPr/>
                    <a:lstStyle/>
                    <a:p>
                      <a:pPr algn="l" fontAlgn="b">
                        <a:buNone/>
                      </a:pPr>
                      <a:r>
                        <a:rPr lang="es-CO" sz="1600" b="0" i="0" u="none" strike="noStrike">
                          <a:solidFill>
                            <a:srgbClr val="000000"/>
                          </a:solidFill>
                          <a:effectLst/>
                          <a:latin typeface="Muli"/>
                        </a:rPr>
                        <a:t>Continuidad de curaciones</a:t>
                      </a:r>
                    </a:p>
                  </a:txBody>
                  <a:tcPr marL="9525" marR="9525" marT="9525" marB="0" anchor="ctr"/>
                </a:tc>
                <a:extLst>
                  <a:ext uri="{0D108BD9-81ED-4DB2-BD59-A6C34878D82A}">
                    <a16:rowId xmlns:a16="http://schemas.microsoft.com/office/drawing/2014/main" val="2557511163"/>
                  </a:ext>
                </a:extLst>
              </a:tr>
            </a:tbl>
          </a:graphicData>
        </a:graphic>
      </p:graphicFrame>
      <p:sp>
        <p:nvSpPr>
          <p:cNvPr id="90" name="CuadroTexto 20">
            <a:extLst>
              <a:ext uri="{FF2B5EF4-FFF2-40B4-BE49-F238E27FC236}">
                <a16:creationId xmlns:a16="http://schemas.microsoft.com/office/drawing/2014/main" id="{16F08BA0-07D3-72B0-2BCE-A8B70794F590}"/>
              </a:ext>
            </a:extLst>
          </p:cNvPr>
          <p:cNvSpPr txBox="1"/>
          <p:nvPr/>
        </p:nvSpPr>
        <p:spPr>
          <a:xfrm>
            <a:off x="7888230" y="1748520"/>
            <a:ext cx="3984739" cy="584775"/>
          </a:xfrm>
          <a:prstGeom prst="rect">
            <a:avLst/>
          </a:prstGeom>
          <a:noFill/>
        </p:spPr>
        <p:txBody>
          <a:bodyPr wrap="square" lIns="91440" tIns="45720" rIns="91440" bIns="45720" anchor="t">
            <a:spAutoFit/>
          </a:bodyPr>
          <a:lstStyle>
            <a:defPPr>
              <a:defRPr lang="es-CO"/>
            </a:defPPr>
            <a:lvl1pPr marL="0" algn="just" defTabSz="914400" rtl="0" eaLnBrk="1" latinLnBrk="0" hangingPunct="1">
              <a:defRPr sz="1600" kern="1200">
                <a:solidFill>
                  <a:schemeClr val="tx1">
                    <a:lumMod val="50000"/>
                  </a:schemeClr>
                </a:solidFill>
                <a:latin typeface="Aptos" panose="020B00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
              <a:t>Casos Supersalud y Secretaría de Salud reportados por Emssanar</a:t>
            </a:r>
          </a:p>
        </p:txBody>
      </p:sp>
      <p:sp>
        <p:nvSpPr>
          <p:cNvPr id="4" name="CuadroTexto 4">
            <a:extLst>
              <a:ext uri="{FF2B5EF4-FFF2-40B4-BE49-F238E27FC236}">
                <a16:creationId xmlns:a16="http://schemas.microsoft.com/office/drawing/2014/main" id="{D2E4059F-D216-43AF-5779-685AFC7DE316}"/>
              </a:ext>
            </a:extLst>
          </p:cNvPr>
          <p:cNvSpPr txBox="1"/>
          <p:nvPr/>
        </p:nvSpPr>
        <p:spPr>
          <a:xfrm>
            <a:off x="7674250" y="6479449"/>
            <a:ext cx="3638394" cy="276999"/>
          </a:xfrm>
          <a:prstGeom prst="rect">
            <a:avLst/>
          </a:prstGeom>
          <a:noFill/>
        </p:spPr>
        <p:txBody>
          <a:bodyPr wrap="square">
            <a:spAutoFit/>
          </a:bodyPr>
          <a:ls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CO" sz="1200" b="1" i="1" noProof="0">
                <a:solidFill>
                  <a:schemeClr val="tx2"/>
                </a:solidFill>
              </a:rPr>
              <a:t>Fuente: </a:t>
            </a:r>
            <a:r>
              <a:rPr lang="es-CO" sz="1200" i="1" noProof="0">
                <a:solidFill>
                  <a:schemeClr val="tx2"/>
                </a:solidFill>
              </a:rPr>
              <a:t>SAU INOOS </a:t>
            </a:r>
            <a:r>
              <a:rPr lang="es-CO" sz="1200" i="1">
                <a:solidFill>
                  <a:schemeClr val="tx2"/>
                </a:solidFill>
              </a:rPr>
              <a:t>Agosto </a:t>
            </a:r>
            <a:r>
              <a:rPr lang="es-CO" sz="1200" i="1" noProof="0">
                <a:solidFill>
                  <a:schemeClr val="tx2"/>
                </a:solidFill>
              </a:rPr>
              <a:t>2026</a:t>
            </a:r>
          </a:p>
        </p:txBody>
      </p:sp>
    </p:spTree>
    <p:extLst>
      <p:ext uri="{BB962C8B-B14F-4D97-AF65-F5344CB8AC3E}">
        <p14:creationId xmlns:p14="http://schemas.microsoft.com/office/powerpoint/2010/main" val="254524113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upo 12">
            <a:extLst>
              <a:ext uri="{FF2B5EF4-FFF2-40B4-BE49-F238E27FC236}">
                <a16:creationId xmlns:a16="http://schemas.microsoft.com/office/drawing/2014/main" id="{D64470F3-BFA9-244A-7482-2D8CEED67C65}"/>
              </a:ext>
            </a:extLst>
          </p:cNvPr>
          <p:cNvGrpSpPr/>
          <p:nvPr/>
        </p:nvGrpSpPr>
        <p:grpSpPr>
          <a:xfrm>
            <a:off x="20" y="1282"/>
            <a:ext cx="12191980" cy="6856718"/>
            <a:chOff x="20" y="1282"/>
            <a:chExt cx="12191980" cy="6856718"/>
          </a:xfrm>
        </p:grpSpPr>
        <p:pic>
          <p:nvPicPr>
            <p:cNvPr id="15" name="Imagen 14">
              <a:extLst>
                <a:ext uri="{FF2B5EF4-FFF2-40B4-BE49-F238E27FC236}">
                  <a16:creationId xmlns:a16="http://schemas.microsoft.com/office/drawing/2014/main" id="{24BE1AAE-6DC0-51FB-1412-4591717F3379}"/>
                </a:ext>
              </a:extLst>
            </p:cNvPr>
            <p:cNvPicPr>
              <a:picLocks noChangeAspect="1"/>
            </p:cNvPicPr>
            <p:nvPr/>
          </p:nvPicPr>
          <p:blipFill>
            <a:blip r:embed="rId2">
              <a:extLst>
                <a:ext uri="{28A0092B-C50C-407E-A947-70E740481C1C}">
                  <a14:useLocalDpi xmlns:a14="http://schemas.microsoft.com/office/drawing/2010/main" val="0"/>
                </a:ext>
              </a:extLst>
            </a:blip>
            <a:srcRect b="19"/>
            <a:stretch>
              <a:fillRect/>
            </a:stretch>
          </p:blipFill>
          <p:spPr>
            <a:xfrm>
              <a:off x="20" y="1282"/>
              <a:ext cx="12191980" cy="6856718"/>
            </a:xfrm>
            <a:prstGeom prst="rect">
              <a:avLst/>
            </a:prstGeom>
          </p:spPr>
        </p:pic>
        <p:sp>
          <p:nvSpPr>
            <p:cNvPr id="17" name="CuadroTexto 16">
              <a:extLst>
                <a:ext uri="{FF2B5EF4-FFF2-40B4-BE49-F238E27FC236}">
                  <a16:creationId xmlns:a16="http://schemas.microsoft.com/office/drawing/2014/main" id="{D69D1364-ABF3-D4B3-AC09-F9CD0DB12000}"/>
                </a:ext>
              </a:extLst>
            </p:cNvPr>
            <p:cNvSpPr txBox="1"/>
            <p:nvPr/>
          </p:nvSpPr>
          <p:spPr>
            <a:xfrm>
              <a:off x="4463321" y="807674"/>
              <a:ext cx="3916181" cy="1323439"/>
            </a:xfrm>
            <a:prstGeom prst="rect">
              <a:avLst/>
            </a:prstGeom>
            <a:noFill/>
          </p:spPr>
          <p:txBody>
            <a:bodyPr wrap="square">
              <a:spAutoFit/>
            </a:bodyPr>
            <a:lstStyle/>
            <a:p>
              <a:pPr algn="just"/>
              <a:r>
                <a:rPr lang="es-CO" sz="1600">
                  <a:latin typeface="Gadugi" panose="020B0502040204020203" pitchFamily="34" charset="0"/>
                  <a:ea typeface="Gadugi" panose="020B0502040204020203" pitchFamily="34" charset="0"/>
                </a:rPr>
                <a:t>Es muy satisfactorio llegar y ser bien atendido con calidez y una actitud humanista para un paciente en condiciones difíciles de salud el personal es muy amable</a:t>
              </a:r>
            </a:p>
          </p:txBody>
        </p:sp>
        <p:sp>
          <p:nvSpPr>
            <p:cNvPr id="19" name="CuadroTexto 18">
              <a:extLst>
                <a:ext uri="{FF2B5EF4-FFF2-40B4-BE49-F238E27FC236}">
                  <a16:creationId xmlns:a16="http://schemas.microsoft.com/office/drawing/2014/main" id="{E77790DB-4854-FA72-2382-C7E34DE9B5E7}"/>
                </a:ext>
              </a:extLst>
            </p:cNvPr>
            <p:cNvSpPr txBox="1"/>
            <p:nvPr/>
          </p:nvSpPr>
          <p:spPr>
            <a:xfrm>
              <a:off x="8699121" y="1241044"/>
              <a:ext cx="3171735" cy="707886"/>
            </a:xfrm>
            <a:prstGeom prst="rect">
              <a:avLst/>
            </a:prstGeom>
            <a:noFill/>
          </p:spPr>
          <p:txBody>
            <a:bodyPr wrap="square">
              <a:spAutoFit/>
            </a:bodyPr>
            <a:lstStyle/>
            <a:p>
              <a:pPr algn="ctr"/>
              <a:r>
                <a:rPr lang="es-CO" sz="2000"/>
                <a:t>Muy buena atención, muy amables</a:t>
              </a:r>
            </a:p>
          </p:txBody>
        </p:sp>
        <p:sp>
          <p:nvSpPr>
            <p:cNvPr id="21" name="CuadroTexto 20">
              <a:extLst>
                <a:ext uri="{FF2B5EF4-FFF2-40B4-BE49-F238E27FC236}">
                  <a16:creationId xmlns:a16="http://schemas.microsoft.com/office/drawing/2014/main" id="{E196ED47-1E64-699A-89D6-A30CDDF186F0}"/>
                </a:ext>
              </a:extLst>
            </p:cNvPr>
            <p:cNvSpPr txBox="1"/>
            <p:nvPr/>
          </p:nvSpPr>
          <p:spPr>
            <a:xfrm>
              <a:off x="5065322" y="2245794"/>
              <a:ext cx="6805534" cy="646331"/>
            </a:xfrm>
            <a:prstGeom prst="rect">
              <a:avLst/>
            </a:prstGeom>
            <a:noFill/>
          </p:spPr>
          <p:txBody>
            <a:bodyPr wrap="square">
              <a:spAutoFit/>
            </a:bodyPr>
            <a:lstStyle/>
            <a:p>
              <a:pPr algn="ctr"/>
              <a:r>
                <a:rPr lang="es-CO">
                  <a:latin typeface="Trebuchet MS" panose="020B0603020202020204" pitchFamily="34" charset="0"/>
                </a:rPr>
                <a:t>Quedo muy agradecida por su atención, por su colaboración y su don de servicio</a:t>
              </a:r>
            </a:p>
          </p:txBody>
        </p:sp>
        <p:sp>
          <p:nvSpPr>
            <p:cNvPr id="23" name="CuadroTexto 22">
              <a:extLst>
                <a:ext uri="{FF2B5EF4-FFF2-40B4-BE49-F238E27FC236}">
                  <a16:creationId xmlns:a16="http://schemas.microsoft.com/office/drawing/2014/main" id="{7AF0DFC0-06EE-7F66-54D8-56EA9C089478}"/>
                </a:ext>
              </a:extLst>
            </p:cNvPr>
            <p:cNvSpPr txBox="1"/>
            <p:nvPr/>
          </p:nvSpPr>
          <p:spPr>
            <a:xfrm>
              <a:off x="8124668" y="3042546"/>
              <a:ext cx="3746188" cy="923330"/>
            </a:xfrm>
            <a:prstGeom prst="rect">
              <a:avLst/>
            </a:prstGeom>
            <a:noFill/>
          </p:spPr>
          <p:txBody>
            <a:bodyPr wrap="square">
              <a:spAutoFit/>
            </a:bodyPr>
            <a:lstStyle/>
            <a:p>
              <a:pPr algn="ctr"/>
              <a:r>
                <a:rPr lang="es-CO">
                  <a:latin typeface="Tw Cen MT" panose="020B0602020104020603" pitchFamily="34" charset="0"/>
                </a:rPr>
                <a:t>Un buen servicio buena atención de los operarios, enfermeros médicos Dios los bendiga sigan trabajando bien </a:t>
              </a:r>
            </a:p>
          </p:txBody>
        </p:sp>
        <p:sp>
          <p:nvSpPr>
            <p:cNvPr id="25" name="CuadroTexto 24">
              <a:extLst>
                <a:ext uri="{FF2B5EF4-FFF2-40B4-BE49-F238E27FC236}">
                  <a16:creationId xmlns:a16="http://schemas.microsoft.com/office/drawing/2014/main" id="{C4A288D4-9567-7EF6-28E1-CE83CF225508}"/>
                </a:ext>
              </a:extLst>
            </p:cNvPr>
            <p:cNvSpPr txBox="1"/>
            <p:nvPr/>
          </p:nvSpPr>
          <p:spPr>
            <a:xfrm>
              <a:off x="5063798" y="2892125"/>
              <a:ext cx="2344645" cy="523220"/>
            </a:xfrm>
            <a:prstGeom prst="rect">
              <a:avLst/>
            </a:prstGeom>
            <a:noFill/>
          </p:spPr>
          <p:txBody>
            <a:bodyPr wrap="square">
              <a:spAutoFit/>
            </a:bodyPr>
            <a:lstStyle/>
            <a:p>
              <a:pPr algn="ctr"/>
              <a:r>
                <a:rPr lang="es-CO" sz="1400">
                  <a:latin typeface="Century Gothic" panose="020B0502020202020204" pitchFamily="34" charset="0"/>
                </a:rPr>
                <a:t>Muy buen servicio, muy humanos</a:t>
              </a:r>
            </a:p>
          </p:txBody>
        </p:sp>
        <p:sp>
          <p:nvSpPr>
            <p:cNvPr id="27" name="CuadroTexto 26">
              <a:extLst>
                <a:ext uri="{FF2B5EF4-FFF2-40B4-BE49-F238E27FC236}">
                  <a16:creationId xmlns:a16="http://schemas.microsoft.com/office/drawing/2014/main" id="{2A45E12F-FE6F-E7FD-A3D5-F9C00C493FA4}"/>
                </a:ext>
              </a:extLst>
            </p:cNvPr>
            <p:cNvSpPr txBox="1"/>
            <p:nvPr/>
          </p:nvSpPr>
          <p:spPr>
            <a:xfrm>
              <a:off x="4849281" y="3736289"/>
              <a:ext cx="3618808" cy="1754326"/>
            </a:xfrm>
            <a:prstGeom prst="rect">
              <a:avLst/>
            </a:prstGeom>
            <a:noFill/>
          </p:spPr>
          <p:txBody>
            <a:bodyPr wrap="square">
              <a:spAutoFit/>
            </a:bodyPr>
            <a:lstStyle/>
            <a:p>
              <a:pPr algn="ctr"/>
              <a:r>
                <a:rPr lang="es-CO">
                  <a:latin typeface="Univers Condensed" panose="020B0506020202050204" pitchFamily="34" charset="0"/>
                </a:rPr>
                <a:t>Deseo felicitar a la señora de servicios generales por su amabilidad y por alegrarnos con un tinto y su constante sonrisa, también con su gran compromiso al mantener todo muy limpio y agradable.</a:t>
              </a:r>
            </a:p>
          </p:txBody>
        </p:sp>
        <p:sp>
          <p:nvSpPr>
            <p:cNvPr id="29" name="CuadroTexto 28">
              <a:extLst>
                <a:ext uri="{FF2B5EF4-FFF2-40B4-BE49-F238E27FC236}">
                  <a16:creationId xmlns:a16="http://schemas.microsoft.com/office/drawing/2014/main" id="{35F77579-B170-A0C1-14F3-91C0BE8CF182}"/>
                </a:ext>
              </a:extLst>
            </p:cNvPr>
            <p:cNvSpPr txBox="1"/>
            <p:nvPr/>
          </p:nvSpPr>
          <p:spPr>
            <a:xfrm>
              <a:off x="8777209" y="4536472"/>
              <a:ext cx="2784527" cy="1200329"/>
            </a:xfrm>
            <a:prstGeom prst="rect">
              <a:avLst/>
            </a:prstGeom>
            <a:noFill/>
          </p:spPr>
          <p:txBody>
            <a:bodyPr wrap="square">
              <a:spAutoFit/>
            </a:bodyPr>
            <a:lstStyle/>
            <a:p>
              <a:pPr algn="ctr"/>
              <a:r>
                <a:rPr lang="es-CO">
                  <a:latin typeface="Century Gothic" panose="020B0502020202020204" pitchFamily="34" charset="0"/>
                </a:rPr>
                <a:t>Muy puntuales para la entrega de medicamento, muy buena atención</a:t>
              </a:r>
            </a:p>
          </p:txBody>
        </p:sp>
      </p:grpSp>
    </p:spTree>
    <p:extLst>
      <p:ext uri="{BB962C8B-B14F-4D97-AF65-F5344CB8AC3E}">
        <p14:creationId xmlns:p14="http://schemas.microsoft.com/office/powerpoint/2010/main" val="279512155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A057236F-CCB9-4A14-DC26-7AC32A153525}"/>
              </a:ext>
            </a:extLst>
          </p:cNvPr>
          <p:cNvSpPr txBox="1">
            <a:spLocks/>
          </p:cNvSpPr>
          <p:nvPr/>
        </p:nvSpPr>
        <p:spPr>
          <a:xfrm>
            <a:off x="2366874" y="0"/>
            <a:ext cx="6902254" cy="812078"/>
          </a:xfrm>
          <a:prstGeom prst="rect">
            <a:avLst/>
          </a:prstGeom>
        </p:spPr>
        <p:txBody>
          <a:bodyPr vert="horz" lIns="91440" tIns="45720" rIns="91440" bIns="45720" rtlCol="0" anchor="b">
            <a:normAutofit/>
          </a:bodyPr>
          <a:lstStyle>
            <a:defPPr>
              <a:defRPr lang="es-CO"/>
            </a:defPPr>
            <a:lvl1pPr algn="ctr">
              <a:lnSpc>
                <a:spcPct val="90000"/>
              </a:lnSpc>
              <a:spcBef>
                <a:spcPct val="0"/>
              </a:spcBef>
              <a:buNone/>
              <a:defRPr sz="4400" b="1">
                <a:latin typeface="Century Gothic"/>
                <a:ea typeface="+mj-ea"/>
                <a:cs typeface="+mj-cs"/>
              </a:defRPr>
            </a:lvl1pPr>
          </a:lstStyle>
          <a:p>
            <a:r>
              <a:rPr lang="es-CO">
                <a:solidFill>
                  <a:srgbClr val="00A19C"/>
                </a:solidFill>
              </a:rPr>
              <a:t>Humanización</a:t>
            </a:r>
            <a:endParaRPr lang="es-ES">
              <a:solidFill>
                <a:srgbClr val="00A19C"/>
              </a:solidFill>
            </a:endParaRPr>
          </a:p>
        </p:txBody>
      </p:sp>
      <p:sp>
        <p:nvSpPr>
          <p:cNvPr id="11" name="CuadroTexto 10">
            <a:extLst>
              <a:ext uri="{FF2B5EF4-FFF2-40B4-BE49-F238E27FC236}">
                <a16:creationId xmlns:a16="http://schemas.microsoft.com/office/drawing/2014/main" id="{FD77C72F-C9AF-AB88-F6F9-48F367A876EE}"/>
              </a:ext>
            </a:extLst>
          </p:cNvPr>
          <p:cNvSpPr txBox="1"/>
          <p:nvPr/>
        </p:nvSpPr>
        <p:spPr>
          <a:xfrm>
            <a:off x="259081" y="3159925"/>
            <a:ext cx="5669280" cy="1815882"/>
          </a:xfrm>
          <a:prstGeom prst="rect">
            <a:avLst/>
          </a:prstGeom>
          <a:noFill/>
        </p:spPr>
        <p:txBody>
          <a:bodyPr wrap="square" lIns="91440" tIns="45720" rIns="91440" bIns="45720" anchor="t">
            <a:spAutoFit/>
          </a:bodyPr>
          <a:lstStyle/>
          <a:p>
            <a:pPr algn="just"/>
            <a:r>
              <a:rPr lang="es-ES" sz="1600">
                <a:solidFill>
                  <a:srgbClr val="402C50"/>
                </a:solidFill>
                <a:latin typeface="Aptos" panose="020B0004020202020204" pitchFamily="34" charset="0"/>
                <a:cs typeface="Arial"/>
              </a:rPr>
              <a:t>En el mes de agosto se aplicaron 169  encuestas.  Los resultados reflejan </a:t>
            </a:r>
            <a:r>
              <a:rPr lang="es-CO" sz="1600">
                <a:solidFill>
                  <a:srgbClr val="402C50"/>
                </a:solidFill>
                <a:latin typeface="Aptos" panose="020B0004020202020204" pitchFamily="34" charset="0"/>
                <a:cs typeface="Arial"/>
              </a:rPr>
              <a:t>una valoración altamente favorable de la experiencia de los usuarios frente a los componentes de humanización evaluados.  </a:t>
            </a:r>
            <a:r>
              <a:rPr lang="es-ES" sz="1600">
                <a:solidFill>
                  <a:srgbClr val="402C50"/>
                </a:solidFill>
                <a:latin typeface="Aptos" panose="020B0004020202020204" pitchFamily="34" charset="0"/>
                <a:cs typeface="Arial"/>
              </a:rPr>
              <a:t>Esto permite concluir que la relación médico-paciente, la comunicación y la participación del usuario en su atención constituyen fortalezas consolidadas del modelo de atención humanizada. </a:t>
            </a:r>
            <a:endParaRPr lang="es-MX" sz="1600">
              <a:latin typeface="Aptos" panose="020B0004020202020204" pitchFamily="34" charset="0"/>
            </a:endParaRPr>
          </a:p>
        </p:txBody>
      </p:sp>
      <p:sp>
        <p:nvSpPr>
          <p:cNvPr id="15" name="CuadroTexto 14">
            <a:extLst>
              <a:ext uri="{FF2B5EF4-FFF2-40B4-BE49-F238E27FC236}">
                <a16:creationId xmlns:a16="http://schemas.microsoft.com/office/drawing/2014/main" id="{4BB954A4-0851-9D77-8618-51E44CA12F6D}"/>
              </a:ext>
            </a:extLst>
          </p:cNvPr>
          <p:cNvSpPr txBox="1"/>
          <p:nvPr/>
        </p:nvSpPr>
        <p:spPr>
          <a:xfrm>
            <a:off x="6263640" y="3159925"/>
            <a:ext cx="5669281" cy="1815882"/>
          </a:xfrm>
          <a:prstGeom prst="rect">
            <a:avLst/>
          </a:prstGeom>
          <a:noFill/>
        </p:spPr>
        <p:txBody>
          <a:bodyPr wrap="square" lIns="91440" tIns="45720" rIns="91440" bIns="45720" anchor="t">
            <a:spAutoFit/>
          </a:bodyPr>
          <a:lstStyle>
            <a:defPPr>
              <a:defRPr lang="es-CO"/>
            </a:defPPr>
            <a:lvl1pPr algn="just">
              <a:defRPr sz="1600">
                <a:solidFill>
                  <a:srgbClr val="402C50"/>
                </a:solidFill>
                <a:latin typeface="Aptos" panose="020B0004020202020204" pitchFamily="34" charset="0"/>
                <a:cs typeface="Arial"/>
              </a:defRPr>
            </a:lvl1pPr>
          </a:lstStyle>
          <a:p>
            <a:r>
              <a:rPr lang="es-ES"/>
              <a:t>El resultado global de PROMS también altamente favorable. Se evidencia una percepción positiva respecto al impacto de la atención recibida sobre la calidad de vida, el manejo de síntomas y la satisfacción con los resultados de la atención.</a:t>
            </a:r>
          </a:p>
          <a:p>
            <a:r>
              <a:rPr lang="es-CO"/>
              <a:t>El principal aspecto para seguimiento es la capacidad física para realizar tareas cotidianas, que presenta un resultado inferior al de los demás componentes.</a:t>
            </a:r>
            <a:endParaRPr lang="es-MX"/>
          </a:p>
        </p:txBody>
      </p:sp>
      <p:graphicFrame>
        <p:nvGraphicFramePr>
          <p:cNvPr id="2" name="Gráfico 1">
            <a:extLst>
              <a:ext uri="{FF2B5EF4-FFF2-40B4-BE49-F238E27FC236}">
                <a16:creationId xmlns:a16="http://schemas.microsoft.com/office/drawing/2014/main" id="{8F81CF2B-40CE-6101-45A9-05B81F6ABFCA}"/>
              </a:ext>
            </a:extLst>
          </p:cNvPr>
          <p:cNvGraphicFramePr>
            <a:graphicFrameLocks/>
          </p:cNvGraphicFramePr>
          <p:nvPr/>
        </p:nvGraphicFramePr>
        <p:xfrm>
          <a:off x="490522" y="766358"/>
          <a:ext cx="4596796" cy="220450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Gráfico 2">
            <a:extLst>
              <a:ext uri="{FF2B5EF4-FFF2-40B4-BE49-F238E27FC236}">
                <a16:creationId xmlns:a16="http://schemas.microsoft.com/office/drawing/2014/main" id="{5B29C43E-391E-2CF5-A7C5-2F0A2898BC14}"/>
              </a:ext>
              <a:ext uri="{147F2762-F138-4A5C-976F-8EAC2B608ADB}">
                <a16:predDERef xmlns:a16="http://schemas.microsoft.com/office/drawing/2014/main" pred="{E93D7FB9-AF42-4F9C-A0BC-99CDE0FC88D0}"/>
              </a:ext>
            </a:extLst>
          </p:cNvPr>
          <p:cNvGraphicFramePr>
            <a:graphicFrameLocks/>
          </p:cNvGraphicFramePr>
          <p:nvPr/>
        </p:nvGraphicFramePr>
        <p:xfrm>
          <a:off x="6831617" y="766358"/>
          <a:ext cx="4548566" cy="2182737"/>
        </p:xfrm>
        <a:graphic>
          <a:graphicData uri="http://schemas.openxmlformats.org/drawingml/2006/chart">
            <c:chart xmlns:c="http://schemas.openxmlformats.org/drawingml/2006/chart" xmlns:r="http://schemas.openxmlformats.org/officeDocument/2006/relationships" r:id="rId4"/>
          </a:graphicData>
        </a:graphic>
      </p:graphicFrame>
      <p:sp>
        <p:nvSpPr>
          <p:cNvPr id="9" name="CuadroTexto 8">
            <a:extLst>
              <a:ext uri="{FF2B5EF4-FFF2-40B4-BE49-F238E27FC236}">
                <a16:creationId xmlns:a16="http://schemas.microsoft.com/office/drawing/2014/main" id="{E4D82D02-F970-B79F-EC88-9CD4A90DEEF5}"/>
              </a:ext>
            </a:extLst>
          </p:cNvPr>
          <p:cNvSpPr txBox="1"/>
          <p:nvPr/>
        </p:nvSpPr>
        <p:spPr>
          <a:xfrm>
            <a:off x="259079" y="5021527"/>
            <a:ext cx="11673844" cy="1077218"/>
          </a:xfrm>
          <a:prstGeom prst="rect">
            <a:avLst/>
          </a:prstGeom>
          <a:noFill/>
        </p:spPr>
        <p:txBody>
          <a:bodyPr wrap="square" lIns="91440" tIns="45720" rIns="91440" bIns="45720" anchor="t">
            <a:spAutoFit/>
          </a:bodyPr>
          <a:lstStyle>
            <a:defPPr>
              <a:defRPr lang="es-CO"/>
            </a:defPPr>
            <a:lvl1pPr algn="just">
              <a:defRPr sz="1600">
                <a:solidFill>
                  <a:srgbClr val="402C50"/>
                </a:solidFill>
                <a:latin typeface="Aptos" panose="020B0004020202020204" pitchFamily="34" charset="0"/>
                <a:cs typeface="Arial"/>
              </a:defRPr>
            </a:lvl1pPr>
          </a:lstStyle>
          <a:p>
            <a:r>
              <a:rPr lang="es-CO"/>
              <a:t>Las observaciones ratifican la percepción favorable de la atención, con expresiones frecuentes de reconocimiento a la amabilidad, el buen servicio y la calidad del personal. Las oportunidades de mejora se relacionan principalmente con agendamiento de citas, tiempos de espera, oportunidad de algunos procesos, entrega de medicamentos y respuesta de gestión, evidenciando que los principales retos se encuentran en aspectos operativos que pueden incidir indirectamente en la experiencia del usuario.</a:t>
            </a:r>
          </a:p>
        </p:txBody>
      </p:sp>
      <p:sp>
        <p:nvSpPr>
          <p:cNvPr id="6" name="CuadroTexto 4">
            <a:extLst>
              <a:ext uri="{FF2B5EF4-FFF2-40B4-BE49-F238E27FC236}">
                <a16:creationId xmlns:a16="http://schemas.microsoft.com/office/drawing/2014/main" id="{383D0800-E01D-BE0B-01F4-0418CECC4FB6}"/>
              </a:ext>
            </a:extLst>
          </p:cNvPr>
          <p:cNvSpPr txBox="1"/>
          <p:nvPr/>
        </p:nvSpPr>
        <p:spPr>
          <a:xfrm>
            <a:off x="7674250" y="6479449"/>
            <a:ext cx="3638394" cy="276999"/>
          </a:xfrm>
          <a:prstGeom prst="rect">
            <a:avLst/>
          </a:prstGeom>
          <a:noFill/>
        </p:spPr>
        <p:txBody>
          <a:bodyPr wrap="square">
            <a:spAutoFit/>
          </a:bodyPr>
          <a:ls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CO" sz="1200" b="1" i="1" noProof="0">
                <a:solidFill>
                  <a:schemeClr val="tx2"/>
                </a:solidFill>
              </a:rPr>
              <a:t>Fuente: </a:t>
            </a:r>
            <a:r>
              <a:rPr lang="es-CO" sz="1200" i="1" noProof="0">
                <a:solidFill>
                  <a:schemeClr val="tx2"/>
                </a:solidFill>
              </a:rPr>
              <a:t>SAU INOOS </a:t>
            </a:r>
            <a:r>
              <a:rPr lang="es-CO" sz="1200" i="1">
                <a:solidFill>
                  <a:schemeClr val="tx2"/>
                </a:solidFill>
              </a:rPr>
              <a:t>Agosto </a:t>
            </a:r>
            <a:r>
              <a:rPr lang="es-CO" sz="1200" i="1" noProof="0">
                <a:solidFill>
                  <a:schemeClr val="tx2"/>
                </a:solidFill>
              </a:rPr>
              <a:t>2026</a:t>
            </a:r>
          </a:p>
        </p:txBody>
      </p:sp>
    </p:spTree>
    <p:extLst>
      <p:ext uri="{BB962C8B-B14F-4D97-AF65-F5344CB8AC3E}">
        <p14:creationId xmlns:p14="http://schemas.microsoft.com/office/powerpoint/2010/main" val="364444534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1C1FCF6C-A6D2-9755-3DD5-2FEB0E5734A1}"/>
              </a:ext>
            </a:extLst>
          </p:cNvPr>
          <p:cNvGraphicFramePr>
            <a:graphicFrameLocks noGrp="1"/>
          </p:cNvGraphicFramePr>
          <p:nvPr/>
        </p:nvGraphicFramePr>
        <p:xfrm>
          <a:off x="1022323" y="1269780"/>
          <a:ext cx="10147352" cy="4308059"/>
        </p:xfrm>
        <a:graphic>
          <a:graphicData uri="http://schemas.openxmlformats.org/drawingml/2006/table">
            <a:tbl>
              <a:tblPr firstRow="1" bandRow="1">
                <a:tableStyleId>{5C22544A-7EE6-4342-B048-85BDC9FD1C3A}</a:tableStyleId>
              </a:tblPr>
              <a:tblGrid>
                <a:gridCol w="1432385">
                  <a:extLst>
                    <a:ext uri="{9D8B030D-6E8A-4147-A177-3AD203B41FA5}">
                      <a16:colId xmlns:a16="http://schemas.microsoft.com/office/drawing/2014/main" val="2225751187"/>
                    </a:ext>
                  </a:extLst>
                </a:gridCol>
                <a:gridCol w="1186849">
                  <a:extLst>
                    <a:ext uri="{9D8B030D-6E8A-4147-A177-3AD203B41FA5}">
                      <a16:colId xmlns:a16="http://schemas.microsoft.com/office/drawing/2014/main" val="1113414371"/>
                    </a:ext>
                  </a:extLst>
                </a:gridCol>
                <a:gridCol w="2005263">
                  <a:extLst>
                    <a:ext uri="{9D8B030D-6E8A-4147-A177-3AD203B41FA5}">
                      <a16:colId xmlns:a16="http://schemas.microsoft.com/office/drawing/2014/main" val="2880615388"/>
                    </a:ext>
                  </a:extLst>
                </a:gridCol>
                <a:gridCol w="2053390">
                  <a:extLst>
                    <a:ext uri="{9D8B030D-6E8A-4147-A177-3AD203B41FA5}">
                      <a16:colId xmlns:a16="http://schemas.microsoft.com/office/drawing/2014/main" val="1939393152"/>
                    </a:ext>
                  </a:extLst>
                </a:gridCol>
                <a:gridCol w="1998257">
                  <a:extLst>
                    <a:ext uri="{9D8B030D-6E8A-4147-A177-3AD203B41FA5}">
                      <a16:colId xmlns:a16="http://schemas.microsoft.com/office/drawing/2014/main" val="215635285"/>
                    </a:ext>
                  </a:extLst>
                </a:gridCol>
                <a:gridCol w="1471208">
                  <a:extLst>
                    <a:ext uri="{9D8B030D-6E8A-4147-A177-3AD203B41FA5}">
                      <a16:colId xmlns:a16="http://schemas.microsoft.com/office/drawing/2014/main" val="3178477941"/>
                    </a:ext>
                  </a:extLst>
                </a:gridCol>
              </a:tblGrid>
              <a:tr h="925020">
                <a:tc rowSpan="9">
                  <a:txBody>
                    <a:bodyPr/>
                    <a:lstStyle/>
                    <a:p>
                      <a:pPr algn="ctr"/>
                      <a:r>
                        <a:rPr lang="es-CO" sz="2400"/>
                        <a:t>PREMS</a:t>
                      </a:r>
                      <a:endParaRPr lang="es-CO" sz="1400"/>
                    </a:p>
                  </a:txBody>
                  <a:tcPr anchor="ctr"/>
                </a:tc>
                <a:tc>
                  <a:txBody>
                    <a:bodyPr/>
                    <a:lstStyle/>
                    <a:p>
                      <a:pPr algn="ctr"/>
                      <a:r>
                        <a:rPr lang="es-CO" sz="1400"/>
                        <a:t>Promedio mes</a:t>
                      </a:r>
                    </a:p>
                  </a:txBody>
                  <a:tcPr anchor="ctr"/>
                </a:tc>
                <a:tc>
                  <a:txBody>
                    <a:bodyPr/>
                    <a:lstStyle/>
                    <a:p>
                      <a:pPr algn="ctr" fontAlgn="b">
                        <a:buNone/>
                      </a:pPr>
                      <a:r>
                        <a:rPr lang="es-MX" sz="1400" b="0" i="0" u="none" strike="noStrike">
                          <a:solidFill>
                            <a:schemeClr val="bg1"/>
                          </a:solidFill>
                          <a:effectLst/>
                          <a:latin typeface="Aptos" panose="020B0004020202020204" pitchFamily="34" charset="0"/>
                        </a:rPr>
                        <a:t>Amabilidad y preocupación del médico por su bienestar</a:t>
                      </a:r>
                    </a:p>
                  </a:txBody>
                  <a:tcPr marL="9525" marR="9525" marT="9525" marB="0" anchor="ctr"/>
                </a:tc>
                <a:tc>
                  <a:txBody>
                    <a:bodyPr/>
                    <a:lstStyle/>
                    <a:p>
                      <a:pPr algn="ctr" fontAlgn="b">
                        <a:buNone/>
                      </a:pPr>
                      <a:r>
                        <a:rPr lang="es-MX" sz="1400" b="0" i="0" u="none" strike="noStrike">
                          <a:solidFill>
                            <a:schemeClr val="bg1"/>
                          </a:solidFill>
                          <a:effectLst/>
                          <a:latin typeface="Aptos" panose="020B0004020202020204" pitchFamily="34" charset="0"/>
                        </a:rPr>
                        <a:t>Claridad de la información brindada durante la consulta</a:t>
                      </a:r>
                    </a:p>
                  </a:txBody>
                  <a:tcPr marL="9525" marR="9525" marT="9525" marB="0" anchor="ctr"/>
                </a:tc>
                <a:tc>
                  <a:txBody>
                    <a:bodyPr/>
                    <a:lstStyle/>
                    <a:p>
                      <a:pPr algn="ctr" fontAlgn="b">
                        <a:buNone/>
                      </a:pPr>
                      <a:r>
                        <a:rPr lang="es-MX" sz="1400" b="0" i="0" u="none" strike="noStrike">
                          <a:solidFill>
                            <a:schemeClr val="bg1"/>
                          </a:solidFill>
                          <a:effectLst/>
                          <a:latin typeface="Aptos" panose="020B0004020202020204" pitchFamily="34" charset="0"/>
                        </a:rPr>
                        <a:t>Claridad de la explicación de los ordenamientos y remisiones</a:t>
                      </a:r>
                    </a:p>
                  </a:txBody>
                  <a:tcPr marL="9525" marR="9525" marT="9525" marB="0" anchor="ctr"/>
                </a:tc>
                <a:tc>
                  <a:txBody>
                    <a:bodyPr/>
                    <a:lstStyle/>
                    <a:p>
                      <a:pPr algn="ctr" fontAlgn="b">
                        <a:buNone/>
                      </a:pPr>
                      <a:r>
                        <a:rPr lang="es-MX" sz="1400" b="0" i="0" u="none" strike="noStrike">
                          <a:solidFill>
                            <a:schemeClr val="bg1"/>
                          </a:solidFill>
                          <a:effectLst/>
                          <a:latin typeface="Aptos" panose="020B0004020202020204" pitchFamily="34" charset="0"/>
                        </a:rPr>
                        <a:t>Participación en las decisiones sobre el tratamiento</a:t>
                      </a:r>
                    </a:p>
                  </a:txBody>
                  <a:tcPr marL="9525" marR="9525" marT="9525" marB="0" anchor="ctr"/>
                </a:tc>
                <a:extLst>
                  <a:ext uri="{0D108BD9-81ED-4DB2-BD59-A6C34878D82A}">
                    <a16:rowId xmlns:a16="http://schemas.microsoft.com/office/drawing/2014/main" val="1994992180"/>
                  </a:ext>
                </a:extLst>
              </a:tr>
              <a:tr h="483571">
                <a:tc vMerge="1">
                  <a:txBody>
                    <a:bodyPr/>
                    <a:lstStyle/>
                    <a:p>
                      <a:pPr algn="ctr"/>
                      <a:endParaRPr lang="es-CO" sz="1400">
                        <a:solidFill>
                          <a:schemeClr val="tx1">
                            <a:lumMod val="50000"/>
                          </a:schemeClr>
                        </a:solidFill>
                      </a:endParaRPr>
                    </a:p>
                  </a:txBody>
                  <a:tcPr anchor="ctr"/>
                </a:tc>
                <a:tc>
                  <a:txBody>
                    <a:bodyPr/>
                    <a:lstStyle/>
                    <a:p>
                      <a:pPr algn="ctr"/>
                      <a:r>
                        <a:rPr lang="es-CO" sz="1400">
                          <a:solidFill>
                            <a:schemeClr val="tx1">
                              <a:lumMod val="50000"/>
                            </a:schemeClr>
                          </a:solidFill>
                        </a:rPr>
                        <a:t>ENE</a:t>
                      </a:r>
                    </a:p>
                  </a:txBody>
                  <a:tcPr anchor="ctr"/>
                </a:tc>
                <a:tc>
                  <a:txBody>
                    <a:bodyPr/>
                    <a:lstStyle/>
                    <a:p>
                      <a:pPr algn="ctr"/>
                      <a:r>
                        <a:rPr lang="es-CO" sz="1400">
                          <a:solidFill>
                            <a:schemeClr val="tx1">
                              <a:lumMod val="50000"/>
                            </a:schemeClr>
                          </a:solidFill>
                        </a:rPr>
                        <a:t>4,94</a:t>
                      </a:r>
                    </a:p>
                  </a:txBody>
                  <a:tcPr anchor="ctr"/>
                </a:tc>
                <a:tc>
                  <a:txBody>
                    <a:bodyPr/>
                    <a:lstStyle/>
                    <a:p>
                      <a:pPr algn="ctr"/>
                      <a:r>
                        <a:rPr lang="es-CO" sz="1400">
                          <a:solidFill>
                            <a:schemeClr val="tx1">
                              <a:lumMod val="50000"/>
                            </a:schemeClr>
                          </a:solidFill>
                        </a:rPr>
                        <a:t>4,93</a:t>
                      </a:r>
                    </a:p>
                  </a:txBody>
                  <a:tcPr anchor="ctr"/>
                </a:tc>
                <a:tc>
                  <a:txBody>
                    <a:bodyPr/>
                    <a:lstStyle/>
                    <a:p>
                      <a:pPr algn="ctr"/>
                      <a:r>
                        <a:rPr lang="es-CO" sz="1400">
                          <a:solidFill>
                            <a:schemeClr val="tx1">
                              <a:lumMod val="50000"/>
                            </a:schemeClr>
                          </a:solidFill>
                        </a:rPr>
                        <a:t>4,92</a:t>
                      </a:r>
                    </a:p>
                  </a:txBody>
                  <a:tcPr anchor="ctr"/>
                </a:tc>
                <a:tc>
                  <a:txBody>
                    <a:bodyPr/>
                    <a:lstStyle/>
                    <a:p>
                      <a:pPr algn="ctr"/>
                      <a:r>
                        <a:rPr lang="es-CO" sz="1400">
                          <a:solidFill>
                            <a:schemeClr val="tx1">
                              <a:lumMod val="50000"/>
                            </a:schemeClr>
                          </a:solidFill>
                        </a:rPr>
                        <a:t>4,93</a:t>
                      </a:r>
                    </a:p>
                  </a:txBody>
                  <a:tcPr anchor="ctr"/>
                </a:tc>
                <a:extLst>
                  <a:ext uri="{0D108BD9-81ED-4DB2-BD59-A6C34878D82A}">
                    <a16:rowId xmlns:a16="http://schemas.microsoft.com/office/drawing/2014/main" val="2853932976"/>
                  </a:ext>
                </a:extLst>
              </a:tr>
              <a:tr h="455893">
                <a:tc vMerge="1">
                  <a:txBody>
                    <a:bodyPr/>
                    <a:lstStyle/>
                    <a:p>
                      <a:pPr algn="ctr"/>
                      <a:endParaRPr lang="es-CO" sz="1400"/>
                    </a:p>
                  </a:txBody>
                  <a:tcPr anchor="ctr"/>
                </a:tc>
                <a:tc>
                  <a:txBody>
                    <a:bodyPr/>
                    <a:lstStyle/>
                    <a:p>
                      <a:pPr algn="ctr"/>
                      <a:r>
                        <a:rPr lang="es-MX" sz="1400">
                          <a:solidFill>
                            <a:schemeClr val="tx1">
                              <a:lumMod val="50000"/>
                            </a:schemeClr>
                          </a:solidFill>
                        </a:rPr>
                        <a:t>FEB</a:t>
                      </a:r>
                      <a:endParaRPr lang="es-CO" sz="1400">
                        <a:solidFill>
                          <a:schemeClr val="tx1">
                            <a:lumMod val="50000"/>
                          </a:schemeClr>
                        </a:solidFill>
                      </a:endParaRPr>
                    </a:p>
                  </a:txBody>
                  <a:tcPr anchor="ctr"/>
                </a:tc>
                <a:tc>
                  <a:txBody>
                    <a:bodyPr/>
                    <a:lstStyle/>
                    <a:p>
                      <a:pPr algn="ctr"/>
                      <a:r>
                        <a:rPr lang="es-MX" sz="1400">
                          <a:solidFill>
                            <a:schemeClr val="tx1">
                              <a:lumMod val="50000"/>
                            </a:schemeClr>
                          </a:solidFill>
                        </a:rPr>
                        <a:t>4,74</a:t>
                      </a:r>
                      <a:endParaRPr lang="es-CO" sz="1400">
                        <a:solidFill>
                          <a:schemeClr val="tx1">
                            <a:lumMod val="50000"/>
                          </a:schemeClr>
                        </a:solidFill>
                      </a:endParaRPr>
                    </a:p>
                  </a:txBody>
                  <a:tcPr anchor="ctr"/>
                </a:tc>
                <a:tc>
                  <a:txBody>
                    <a:bodyPr/>
                    <a:lstStyle/>
                    <a:p>
                      <a:pPr algn="ctr"/>
                      <a:r>
                        <a:rPr lang="es-MX" sz="1400">
                          <a:solidFill>
                            <a:schemeClr val="tx1">
                              <a:lumMod val="50000"/>
                            </a:schemeClr>
                          </a:solidFill>
                        </a:rPr>
                        <a:t>4,65</a:t>
                      </a:r>
                      <a:endParaRPr lang="es-CO" sz="1400">
                        <a:solidFill>
                          <a:schemeClr val="tx1">
                            <a:lumMod val="50000"/>
                          </a:schemeClr>
                        </a:solidFill>
                      </a:endParaRPr>
                    </a:p>
                  </a:txBody>
                  <a:tcPr anchor="ctr"/>
                </a:tc>
                <a:tc>
                  <a:txBody>
                    <a:bodyPr/>
                    <a:lstStyle/>
                    <a:p>
                      <a:pPr algn="ctr"/>
                      <a:r>
                        <a:rPr lang="es-MX" sz="1400">
                          <a:solidFill>
                            <a:schemeClr val="tx1">
                              <a:lumMod val="50000"/>
                            </a:schemeClr>
                          </a:solidFill>
                        </a:rPr>
                        <a:t>4,74</a:t>
                      </a:r>
                      <a:endParaRPr lang="es-CO" sz="1400">
                        <a:solidFill>
                          <a:schemeClr val="tx1">
                            <a:lumMod val="50000"/>
                          </a:schemeClr>
                        </a:solidFill>
                      </a:endParaRPr>
                    </a:p>
                  </a:txBody>
                  <a:tcPr anchor="ctr"/>
                </a:tc>
                <a:tc>
                  <a:txBody>
                    <a:bodyPr/>
                    <a:lstStyle/>
                    <a:p>
                      <a:pPr algn="ctr"/>
                      <a:r>
                        <a:rPr lang="es-MX" sz="1400">
                          <a:solidFill>
                            <a:schemeClr val="tx1">
                              <a:lumMod val="50000"/>
                            </a:schemeClr>
                          </a:solidFill>
                        </a:rPr>
                        <a:t>4,55</a:t>
                      </a:r>
                      <a:endParaRPr lang="es-CO" sz="1400">
                        <a:solidFill>
                          <a:schemeClr val="tx1">
                            <a:lumMod val="50000"/>
                          </a:schemeClr>
                        </a:solidFill>
                      </a:endParaRPr>
                    </a:p>
                  </a:txBody>
                  <a:tcPr anchor="ctr"/>
                </a:tc>
                <a:extLst>
                  <a:ext uri="{0D108BD9-81ED-4DB2-BD59-A6C34878D82A}">
                    <a16:rowId xmlns:a16="http://schemas.microsoft.com/office/drawing/2014/main" val="1710492791"/>
                  </a:ext>
                </a:extLst>
              </a:tr>
              <a:tr h="407263">
                <a:tc vMerge="1">
                  <a:txBody>
                    <a:bodyPr/>
                    <a:lstStyle/>
                    <a:p>
                      <a:pPr algn="ctr"/>
                      <a:endParaRPr lang="es-CO" sz="1400"/>
                    </a:p>
                  </a:txBody>
                  <a:tcPr anchor="ctr"/>
                </a:tc>
                <a:tc>
                  <a:txBody>
                    <a:bodyPr/>
                    <a:lstStyle/>
                    <a:p>
                      <a:pPr algn="ctr"/>
                      <a:r>
                        <a:rPr lang="es-MX" sz="1400">
                          <a:solidFill>
                            <a:schemeClr val="tx1">
                              <a:lumMod val="50000"/>
                            </a:schemeClr>
                          </a:solidFill>
                        </a:rPr>
                        <a:t>MAR</a:t>
                      </a:r>
                      <a:endParaRPr lang="es-CO" sz="1400">
                        <a:solidFill>
                          <a:schemeClr val="tx1">
                            <a:lumMod val="50000"/>
                          </a:schemeClr>
                        </a:solidFill>
                      </a:endParaRPr>
                    </a:p>
                  </a:txBody>
                  <a:tcPr anchor="ctr"/>
                </a:tc>
                <a:tc>
                  <a:txBody>
                    <a:bodyPr/>
                    <a:lstStyle/>
                    <a:p>
                      <a:pPr algn="ctr"/>
                      <a:r>
                        <a:rPr lang="es-MX" sz="1400">
                          <a:solidFill>
                            <a:schemeClr val="tx1">
                              <a:lumMod val="50000"/>
                            </a:schemeClr>
                          </a:solidFill>
                        </a:rPr>
                        <a:t>4,69</a:t>
                      </a:r>
                      <a:endParaRPr lang="es-CO" sz="1400">
                        <a:solidFill>
                          <a:schemeClr val="tx1">
                            <a:lumMod val="50000"/>
                          </a:schemeClr>
                        </a:solidFill>
                      </a:endParaRPr>
                    </a:p>
                  </a:txBody>
                  <a:tcPr anchor="ctr"/>
                </a:tc>
                <a:tc>
                  <a:txBody>
                    <a:bodyPr/>
                    <a:lstStyle/>
                    <a:p>
                      <a:pPr algn="ctr"/>
                      <a:r>
                        <a:rPr lang="es-MX" sz="1400">
                          <a:solidFill>
                            <a:schemeClr val="tx1">
                              <a:lumMod val="50000"/>
                            </a:schemeClr>
                          </a:solidFill>
                        </a:rPr>
                        <a:t>4,64</a:t>
                      </a:r>
                      <a:endParaRPr lang="es-CO" sz="1400">
                        <a:solidFill>
                          <a:schemeClr val="tx1">
                            <a:lumMod val="50000"/>
                          </a:schemeClr>
                        </a:solidFill>
                      </a:endParaRPr>
                    </a:p>
                  </a:txBody>
                  <a:tcPr anchor="ctr"/>
                </a:tc>
                <a:tc>
                  <a:txBody>
                    <a:bodyPr/>
                    <a:lstStyle/>
                    <a:p>
                      <a:pPr algn="ctr"/>
                      <a:r>
                        <a:rPr lang="es-MX" sz="1400">
                          <a:solidFill>
                            <a:schemeClr val="tx1">
                              <a:lumMod val="50000"/>
                            </a:schemeClr>
                          </a:solidFill>
                        </a:rPr>
                        <a:t>4,61</a:t>
                      </a:r>
                      <a:endParaRPr lang="es-CO" sz="1400">
                        <a:solidFill>
                          <a:schemeClr val="tx1">
                            <a:lumMod val="50000"/>
                          </a:schemeClr>
                        </a:solidFill>
                      </a:endParaRPr>
                    </a:p>
                  </a:txBody>
                  <a:tcPr anchor="ctr"/>
                </a:tc>
                <a:tc>
                  <a:txBody>
                    <a:bodyPr/>
                    <a:lstStyle/>
                    <a:p>
                      <a:pPr algn="ctr"/>
                      <a:r>
                        <a:rPr lang="es-MX" sz="1400">
                          <a:solidFill>
                            <a:schemeClr val="tx1">
                              <a:lumMod val="50000"/>
                            </a:schemeClr>
                          </a:solidFill>
                        </a:rPr>
                        <a:t>4,63</a:t>
                      </a:r>
                      <a:endParaRPr lang="es-CO" sz="1400">
                        <a:solidFill>
                          <a:schemeClr val="tx1">
                            <a:lumMod val="50000"/>
                          </a:schemeClr>
                        </a:solidFill>
                      </a:endParaRPr>
                    </a:p>
                  </a:txBody>
                  <a:tcPr anchor="ctr"/>
                </a:tc>
                <a:extLst>
                  <a:ext uri="{0D108BD9-81ED-4DB2-BD59-A6C34878D82A}">
                    <a16:rowId xmlns:a16="http://schemas.microsoft.com/office/drawing/2014/main" val="327867422"/>
                  </a:ext>
                </a:extLst>
              </a:tr>
              <a:tr h="407263">
                <a:tc vMerge="1">
                  <a:txBody>
                    <a:bodyPr/>
                    <a:lstStyle/>
                    <a:p>
                      <a:pPr algn="ctr"/>
                      <a:endParaRPr lang="es-CO" sz="14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MX" sz="1400">
                          <a:solidFill>
                            <a:schemeClr val="tx1">
                              <a:lumMod val="50000"/>
                            </a:schemeClr>
                          </a:solidFill>
                        </a:rPr>
                        <a:t>ABR</a:t>
                      </a:r>
                      <a:endParaRPr lang="es-CO" sz="1400">
                        <a:solidFill>
                          <a:schemeClr val="tx1">
                            <a:lumMod val="50000"/>
                          </a:schemeClr>
                        </a:solidFill>
                      </a:endParaRPr>
                    </a:p>
                  </a:txBody>
                  <a:tcPr anchor="ctr"/>
                </a:tc>
                <a:tc>
                  <a:txBody>
                    <a:bodyPr/>
                    <a:lstStyle/>
                    <a:p>
                      <a:pPr algn="ctr"/>
                      <a:r>
                        <a:rPr lang="es-MX" sz="1400">
                          <a:solidFill>
                            <a:schemeClr val="tx1">
                              <a:lumMod val="50000"/>
                            </a:schemeClr>
                          </a:solidFill>
                        </a:rPr>
                        <a:t>4,82</a:t>
                      </a:r>
                      <a:endParaRPr lang="es-CO" sz="1400">
                        <a:solidFill>
                          <a:schemeClr val="tx1">
                            <a:lumMod val="50000"/>
                          </a:schemeClr>
                        </a:solidFill>
                      </a:endParaRPr>
                    </a:p>
                  </a:txBody>
                  <a:tcPr anchor="ctr"/>
                </a:tc>
                <a:tc>
                  <a:txBody>
                    <a:bodyPr/>
                    <a:lstStyle/>
                    <a:p>
                      <a:pPr algn="ctr"/>
                      <a:r>
                        <a:rPr lang="es-MX" sz="1400">
                          <a:solidFill>
                            <a:schemeClr val="tx1">
                              <a:lumMod val="50000"/>
                            </a:schemeClr>
                          </a:solidFill>
                        </a:rPr>
                        <a:t>4,78</a:t>
                      </a:r>
                      <a:endParaRPr lang="es-CO" sz="1400">
                        <a:solidFill>
                          <a:schemeClr val="tx1">
                            <a:lumMod val="50000"/>
                          </a:schemeClr>
                        </a:solidFill>
                      </a:endParaRPr>
                    </a:p>
                  </a:txBody>
                  <a:tcPr anchor="ctr"/>
                </a:tc>
                <a:tc>
                  <a:txBody>
                    <a:bodyPr/>
                    <a:lstStyle/>
                    <a:p>
                      <a:pPr algn="ctr"/>
                      <a:r>
                        <a:rPr lang="es-MX" sz="1400">
                          <a:solidFill>
                            <a:schemeClr val="tx1">
                              <a:lumMod val="50000"/>
                            </a:schemeClr>
                          </a:solidFill>
                        </a:rPr>
                        <a:t>4,78</a:t>
                      </a:r>
                      <a:endParaRPr lang="es-CO" sz="1400">
                        <a:solidFill>
                          <a:schemeClr val="tx1">
                            <a:lumMod val="50000"/>
                          </a:schemeClr>
                        </a:solidFill>
                      </a:endParaRPr>
                    </a:p>
                  </a:txBody>
                  <a:tcPr anchor="ctr"/>
                </a:tc>
                <a:tc>
                  <a:txBody>
                    <a:bodyPr/>
                    <a:lstStyle/>
                    <a:p>
                      <a:pPr algn="ctr"/>
                      <a:r>
                        <a:rPr lang="es-MX" sz="1400">
                          <a:solidFill>
                            <a:schemeClr val="tx1">
                              <a:lumMod val="50000"/>
                            </a:schemeClr>
                          </a:solidFill>
                        </a:rPr>
                        <a:t>4</a:t>
                      </a:r>
                      <a:r>
                        <a:rPr lang="es-CO" sz="1400">
                          <a:solidFill>
                            <a:schemeClr val="tx1">
                              <a:lumMod val="50000"/>
                            </a:schemeClr>
                          </a:solidFill>
                        </a:rPr>
                        <a:t>,81</a:t>
                      </a:r>
                      <a:endParaRPr lang="es-MX" sz="1400">
                        <a:solidFill>
                          <a:schemeClr val="tx1">
                            <a:lumMod val="50000"/>
                          </a:schemeClr>
                        </a:solidFill>
                      </a:endParaRPr>
                    </a:p>
                  </a:txBody>
                  <a:tcPr anchor="ctr"/>
                </a:tc>
                <a:extLst>
                  <a:ext uri="{0D108BD9-81ED-4DB2-BD59-A6C34878D82A}">
                    <a16:rowId xmlns:a16="http://schemas.microsoft.com/office/drawing/2014/main" val="3670117232"/>
                  </a:ext>
                </a:extLst>
              </a:tr>
              <a:tr h="407263">
                <a:tc vMerge="1">
                  <a:txBody>
                    <a:bodyPr/>
                    <a:lstStyle/>
                    <a:p>
                      <a:pPr algn="ctr"/>
                      <a:endParaRPr lang="es-CO" sz="14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MX" sz="1400">
                          <a:solidFill>
                            <a:schemeClr val="tx1">
                              <a:lumMod val="50000"/>
                            </a:schemeClr>
                          </a:solidFill>
                        </a:rPr>
                        <a:t>MAY</a:t>
                      </a:r>
                      <a:endParaRPr lang="es-CO" sz="1400">
                        <a:solidFill>
                          <a:schemeClr val="tx1">
                            <a:lumMod val="50000"/>
                          </a:schemeClr>
                        </a:solidFill>
                      </a:endParaRPr>
                    </a:p>
                  </a:txBody>
                  <a:tcPr anchor="ctr"/>
                </a:tc>
                <a:tc>
                  <a:txBody>
                    <a:bodyPr/>
                    <a:lstStyle/>
                    <a:p>
                      <a:pPr algn="ctr"/>
                      <a:r>
                        <a:rPr lang="es-MX" sz="1400">
                          <a:solidFill>
                            <a:schemeClr val="tx1">
                              <a:lumMod val="50000"/>
                            </a:schemeClr>
                          </a:solidFill>
                        </a:rPr>
                        <a:t>4,91</a:t>
                      </a:r>
                      <a:endParaRPr lang="es-CO" sz="1400">
                        <a:solidFill>
                          <a:schemeClr val="tx1">
                            <a:lumMod val="50000"/>
                          </a:schemeClr>
                        </a:solidFill>
                      </a:endParaRPr>
                    </a:p>
                  </a:txBody>
                  <a:tcPr anchor="ctr"/>
                </a:tc>
                <a:tc>
                  <a:txBody>
                    <a:bodyPr/>
                    <a:lstStyle/>
                    <a:p>
                      <a:pPr algn="ctr"/>
                      <a:r>
                        <a:rPr lang="es-MX" sz="1400">
                          <a:solidFill>
                            <a:schemeClr val="tx1">
                              <a:lumMod val="50000"/>
                            </a:schemeClr>
                          </a:solidFill>
                        </a:rPr>
                        <a:t>4,91</a:t>
                      </a:r>
                      <a:endParaRPr lang="es-CO" sz="1400">
                        <a:solidFill>
                          <a:schemeClr val="tx1">
                            <a:lumMod val="50000"/>
                          </a:schemeClr>
                        </a:solidFill>
                      </a:endParaRPr>
                    </a:p>
                  </a:txBody>
                  <a:tcPr anchor="ctr"/>
                </a:tc>
                <a:tc>
                  <a:txBody>
                    <a:bodyPr/>
                    <a:lstStyle/>
                    <a:p>
                      <a:pPr algn="ctr"/>
                      <a:r>
                        <a:rPr lang="es-MX" sz="1400">
                          <a:solidFill>
                            <a:schemeClr val="tx1">
                              <a:lumMod val="50000"/>
                            </a:schemeClr>
                          </a:solidFill>
                        </a:rPr>
                        <a:t>4,91</a:t>
                      </a:r>
                      <a:endParaRPr lang="es-CO" sz="1400">
                        <a:solidFill>
                          <a:schemeClr val="tx1">
                            <a:lumMod val="50000"/>
                          </a:schemeClr>
                        </a:solidFill>
                      </a:endParaRPr>
                    </a:p>
                  </a:txBody>
                  <a:tcPr anchor="ctr"/>
                </a:tc>
                <a:tc>
                  <a:txBody>
                    <a:bodyPr/>
                    <a:lstStyle/>
                    <a:p>
                      <a:pPr algn="ctr"/>
                      <a:r>
                        <a:rPr lang="es-MX" sz="1400">
                          <a:solidFill>
                            <a:schemeClr val="tx1">
                              <a:lumMod val="50000"/>
                            </a:schemeClr>
                          </a:solidFill>
                        </a:rPr>
                        <a:t>4,91</a:t>
                      </a:r>
                    </a:p>
                  </a:txBody>
                  <a:tcPr anchor="ctr"/>
                </a:tc>
                <a:extLst>
                  <a:ext uri="{0D108BD9-81ED-4DB2-BD59-A6C34878D82A}">
                    <a16:rowId xmlns:a16="http://schemas.microsoft.com/office/drawing/2014/main" val="2352337560"/>
                  </a:ext>
                </a:extLst>
              </a:tr>
              <a:tr h="407262">
                <a:tc vMerge="1">
                  <a:txBody>
                    <a:bodyPr/>
                    <a:lstStyle/>
                    <a:p>
                      <a:endParaRPr lang="es-ES"/>
                    </a:p>
                  </a:txBody>
                  <a:tcPr anchor="ctr"/>
                </a:tc>
                <a:tc>
                  <a:txBody>
                    <a:bodyPr/>
                    <a:lstStyle/>
                    <a:p>
                      <a:pPr marL="0" lvl="0" indent="0" algn="ctr" defTabSz="914400">
                        <a:lnSpc>
                          <a:spcPct val="100000"/>
                        </a:lnSpc>
                        <a:spcBef>
                          <a:spcPts val="0"/>
                        </a:spcBef>
                        <a:spcAft>
                          <a:spcPts val="0"/>
                        </a:spcAft>
                        <a:buNone/>
                        <a:tabLst/>
                        <a:defRPr/>
                      </a:pPr>
                      <a:r>
                        <a:rPr lang="es-MX" sz="1400">
                          <a:solidFill>
                            <a:schemeClr val="tx1">
                              <a:lumMod val="50000"/>
                            </a:schemeClr>
                          </a:solidFill>
                        </a:rPr>
                        <a:t>JUN</a:t>
                      </a:r>
                    </a:p>
                  </a:txBody>
                  <a:tcPr anchor="ctr"/>
                </a:tc>
                <a:tc>
                  <a:txBody>
                    <a:bodyPr/>
                    <a:lstStyle/>
                    <a:p>
                      <a:pPr lvl="0" algn="ctr">
                        <a:buNone/>
                      </a:pPr>
                      <a:r>
                        <a:rPr lang="es-MX" sz="1400">
                          <a:solidFill>
                            <a:schemeClr val="tx1">
                              <a:lumMod val="50000"/>
                            </a:schemeClr>
                          </a:solidFill>
                        </a:rPr>
                        <a:t>4,88</a:t>
                      </a:r>
                    </a:p>
                  </a:txBody>
                  <a:tcPr anchor="ctr"/>
                </a:tc>
                <a:tc>
                  <a:txBody>
                    <a:bodyPr/>
                    <a:lstStyle/>
                    <a:p>
                      <a:pPr lvl="0" algn="ctr">
                        <a:buNone/>
                      </a:pPr>
                      <a:r>
                        <a:rPr lang="es-MX" sz="1400" b="0" i="0" u="none" strike="noStrike" noProof="0">
                          <a:solidFill>
                            <a:schemeClr val="tx1">
                              <a:lumMod val="50000"/>
                            </a:schemeClr>
                          </a:solidFill>
                          <a:latin typeface="Muli"/>
                        </a:rPr>
                        <a:t>4,88</a:t>
                      </a:r>
                      <a:endParaRPr lang="es-ES"/>
                    </a:p>
                  </a:txBody>
                  <a:tcPr anchor="ctr"/>
                </a:tc>
                <a:tc>
                  <a:txBody>
                    <a:bodyPr/>
                    <a:lstStyle/>
                    <a:p>
                      <a:pPr lvl="0" algn="ctr">
                        <a:buNone/>
                      </a:pPr>
                      <a:r>
                        <a:rPr lang="es-MX" sz="1400" b="0" i="0" u="none" strike="noStrike" noProof="0">
                          <a:solidFill>
                            <a:schemeClr val="tx1">
                              <a:lumMod val="50000"/>
                            </a:schemeClr>
                          </a:solidFill>
                          <a:latin typeface="Muli"/>
                        </a:rPr>
                        <a:t>4,88</a:t>
                      </a:r>
                      <a:endParaRPr lang="es-ES"/>
                    </a:p>
                  </a:txBody>
                  <a:tcPr anchor="ctr"/>
                </a:tc>
                <a:tc>
                  <a:txBody>
                    <a:bodyPr/>
                    <a:lstStyle/>
                    <a:p>
                      <a:pPr lvl="0" algn="ctr">
                        <a:buNone/>
                      </a:pPr>
                      <a:r>
                        <a:rPr lang="es-MX" sz="1400" b="0" i="0" u="none" strike="noStrike" noProof="0">
                          <a:solidFill>
                            <a:schemeClr val="tx1">
                              <a:lumMod val="50000"/>
                            </a:schemeClr>
                          </a:solidFill>
                          <a:latin typeface="Muli"/>
                        </a:rPr>
                        <a:t>4,88</a:t>
                      </a:r>
                      <a:endParaRPr lang="es-ES"/>
                    </a:p>
                  </a:txBody>
                  <a:tcPr anchor="ctr"/>
                </a:tc>
                <a:extLst>
                  <a:ext uri="{0D108BD9-81ED-4DB2-BD59-A6C34878D82A}">
                    <a16:rowId xmlns:a16="http://schemas.microsoft.com/office/drawing/2014/main" val="1980442251"/>
                  </a:ext>
                </a:extLst>
              </a:tr>
              <a:tr h="407262">
                <a:tc vMerge="1">
                  <a:txBody>
                    <a:bodyPr/>
                    <a:lstStyle/>
                    <a:p>
                      <a:pPr algn="ctr"/>
                      <a:endParaRPr lang="es-CO" sz="1400"/>
                    </a:p>
                  </a:txBody>
                  <a:tcPr anchor="ctr"/>
                </a:tc>
                <a:tc>
                  <a:txBody>
                    <a:bodyPr/>
                    <a:lstStyle/>
                    <a:p>
                      <a:pPr marL="0" lvl="0" indent="0" algn="ctr" defTabSz="914400" rtl="0" eaLnBrk="1" latinLnBrk="0" hangingPunct="1">
                        <a:lnSpc>
                          <a:spcPct val="100000"/>
                        </a:lnSpc>
                        <a:spcBef>
                          <a:spcPts val="0"/>
                        </a:spcBef>
                        <a:spcAft>
                          <a:spcPts val="0"/>
                        </a:spcAft>
                        <a:buNone/>
                        <a:tabLst/>
                        <a:defRPr/>
                      </a:pPr>
                      <a:r>
                        <a:rPr lang="es-MX" sz="1400" kern="1200">
                          <a:solidFill>
                            <a:schemeClr val="tx1">
                              <a:lumMod val="50000"/>
                            </a:schemeClr>
                          </a:solidFill>
                          <a:latin typeface="+mn-lt"/>
                          <a:ea typeface="+mn-ea"/>
                          <a:cs typeface="+mn-cs"/>
                        </a:rPr>
                        <a:t>JUL</a:t>
                      </a:r>
                    </a:p>
                  </a:txBody>
                  <a:tcPr anchor="ctr"/>
                </a:tc>
                <a:tc>
                  <a:txBody>
                    <a:bodyPr/>
                    <a:lstStyle/>
                    <a:p>
                      <a:pPr marL="0" lvl="0" indent="0" algn="ctr" defTabSz="914400" rtl="0" eaLnBrk="1" latinLnBrk="0" hangingPunct="1">
                        <a:lnSpc>
                          <a:spcPct val="100000"/>
                        </a:lnSpc>
                        <a:spcBef>
                          <a:spcPts val="0"/>
                        </a:spcBef>
                        <a:spcAft>
                          <a:spcPts val="0"/>
                        </a:spcAft>
                        <a:buNone/>
                        <a:tabLst/>
                        <a:defRPr/>
                      </a:pPr>
                      <a:r>
                        <a:rPr lang="es-MX" sz="1400" kern="1200">
                          <a:solidFill>
                            <a:schemeClr val="tx1">
                              <a:lumMod val="50000"/>
                            </a:schemeClr>
                          </a:solidFill>
                          <a:latin typeface="+mn-lt"/>
                          <a:ea typeface="+mn-ea"/>
                          <a:cs typeface="+mn-cs"/>
                        </a:rPr>
                        <a:t>4,90</a:t>
                      </a:r>
                    </a:p>
                  </a:txBody>
                  <a:tcPr anchor="ctr"/>
                </a:tc>
                <a:tc>
                  <a:txBody>
                    <a:bodyPr/>
                    <a:lstStyle/>
                    <a:p>
                      <a:pPr marL="0" lvl="0" indent="0" algn="ctr" defTabSz="914400" rtl="0" eaLnBrk="1" latinLnBrk="0" hangingPunct="1">
                        <a:lnSpc>
                          <a:spcPct val="100000"/>
                        </a:lnSpc>
                        <a:spcBef>
                          <a:spcPts val="0"/>
                        </a:spcBef>
                        <a:spcAft>
                          <a:spcPts val="0"/>
                        </a:spcAft>
                        <a:buNone/>
                        <a:tabLst/>
                        <a:defRPr/>
                      </a:pPr>
                      <a:r>
                        <a:rPr lang="es-MX" sz="1400" kern="1200">
                          <a:solidFill>
                            <a:schemeClr val="tx1">
                              <a:lumMod val="50000"/>
                            </a:schemeClr>
                          </a:solidFill>
                          <a:latin typeface="+mn-lt"/>
                          <a:ea typeface="+mn-ea"/>
                          <a:cs typeface="+mn-cs"/>
                        </a:rPr>
                        <a:t>4,90</a:t>
                      </a:r>
                      <a:endParaRPr lang="es-ES" sz="1400" kern="1200">
                        <a:solidFill>
                          <a:schemeClr val="tx1">
                            <a:lumMod val="50000"/>
                          </a:schemeClr>
                        </a:solidFill>
                        <a:latin typeface="+mn-lt"/>
                        <a:ea typeface="+mn-ea"/>
                        <a:cs typeface="+mn-cs"/>
                      </a:endParaRPr>
                    </a:p>
                  </a:txBody>
                  <a:tcPr anchor="ctr"/>
                </a:tc>
                <a:tc>
                  <a:txBody>
                    <a:bodyPr/>
                    <a:lstStyle/>
                    <a:p>
                      <a:pPr marL="0" lvl="0" indent="0" algn="ctr" defTabSz="914400" rtl="0" eaLnBrk="1" latinLnBrk="0" hangingPunct="1">
                        <a:lnSpc>
                          <a:spcPct val="100000"/>
                        </a:lnSpc>
                        <a:spcBef>
                          <a:spcPts val="0"/>
                        </a:spcBef>
                        <a:spcAft>
                          <a:spcPts val="0"/>
                        </a:spcAft>
                        <a:buNone/>
                        <a:tabLst/>
                        <a:defRPr/>
                      </a:pPr>
                      <a:r>
                        <a:rPr lang="es-MX" sz="1400" kern="1200">
                          <a:solidFill>
                            <a:schemeClr val="tx1">
                              <a:lumMod val="50000"/>
                            </a:schemeClr>
                          </a:solidFill>
                          <a:latin typeface="+mn-lt"/>
                          <a:ea typeface="+mn-ea"/>
                          <a:cs typeface="+mn-cs"/>
                        </a:rPr>
                        <a:t>4,90</a:t>
                      </a:r>
                      <a:endParaRPr lang="es-ES" sz="1400" kern="1200">
                        <a:solidFill>
                          <a:schemeClr val="tx1">
                            <a:lumMod val="50000"/>
                          </a:schemeClr>
                        </a:solidFill>
                        <a:latin typeface="+mn-lt"/>
                        <a:ea typeface="+mn-ea"/>
                        <a:cs typeface="+mn-cs"/>
                      </a:endParaRPr>
                    </a:p>
                  </a:txBody>
                  <a:tcPr anchor="ctr"/>
                </a:tc>
                <a:tc>
                  <a:txBody>
                    <a:bodyPr/>
                    <a:lstStyle/>
                    <a:p>
                      <a:pPr marL="0" lvl="0" indent="0" algn="ctr" defTabSz="914400" rtl="0" eaLnBrk="1" latinLnBrk="0" hangingPunct="1">
                        <a:lnSpc>
                          <a:spcPct val="100000"/>
                        </a:lnSpc>
                        <a:spcBef>
                          <a:spcPts val="0"/>
                        </a:spcBef>
                        <a:spcAft>
                          <a:spcPts val="0"/>
                        </a:spcAft>
                        <a:buNone/>
                        <a:tabLst/>
                        <a:defRPr/>
                      </a:pPr>
                      <a:r>
                        <a:rPr lang="es-ES" sz="1400" kern="1200">
                          <a:solidFill>
                            <a:schemeClr val="tx1">
                              <a:lumMod val="50000"/>
                            </a:schemeClr>
                          </a:solidFill>
                          <a:latin typeface="+mn-lt"/>
                          <a:ea typeface="+mn-ea"/>
                          <a:cs typeface="+mn-cs"/>
                        </a:rPr>
                        <a:t>4,88</a:t>
                      </a:r>
                    </a:p>
                  </a:txBody>
                  <a:tcPr anchor="ctr"/>
                </a:tc>
                <a:extLst>
                  <a:ext uri="{0D108BD9-81ED-4DB2-BD59-A6C34878D82A}">
                    <a16:rowId xmlns:a16="http://schemas.microsoft.com/office/drawing/2014/main" val="1524628437"/>
                  </a:ext>
                </a:extLst>
              </a:tr>
              <a:tr h="407262">
                <a:tc vMerge="1">
                  <a:txBody>
                    <a:bodyPr/>
                    <a:lstStyle/>
                    <a:p>
                      <a:pPr algn="ctr"/>
                      <a:endParaRPr lang="es-CO" sz="1400"/>
                    </a:p>
                  </a:txBody>
                  <a:tcPr anchor="ctr"/>
                </a:tc>
                <a:tc>
                  <a:txBody>
                    <a:bodyPr/>
                    <a:lstStyle/>
                    <a:p>
                      <a:pPr marL="0" lvl="0" indent="0" algn="ctr" defTabSz="914400" rtl="0" eaLnBrk="1" latinLnBrk="0" hangingPunct="1">
                        <a:lnSpc>
                          <a:spcPct val="100000"/>
                        </a:lnSpc>
                        <a:spcBef>
                          <a:spcPts val="0"/>
                        </a:spcBef>
                        <a:spcAft>
                          <a:spcPts val="0"/>
                        </a:spcAft>
                        <a:buNone/>
                        <a:tabLst/>
                        <a:defRPr/>
                      </a:pPr>
                      <a:r>
                        <a:rPr lang="es-MX" sz="1400" kern="1200">
                          <a:solidFill>
                            <a:schemeClr val="tx1">
                              <a:lumMod val="50000"/>
                            </a:schemeClr>
                          </a:solidFill>
                          <a:latin typeface="+mn-lt"/>
                          <a:ea typeface="+mn-ea"/>
                          <a:cs typeface="+mn-cs"/>
                        </a:rPr>
                        <a:t>AGO</a:t>
                      </a:r>
                    </a:p>
                  </a:txBody>
                  <a:tcPr anchor="ctr"/>
                </a:tc>
                <a:tc>
                  <a:txBody>
                    <a:bodyPr/>
                    <a:lstStyle/>
                    <a:p>
                      <a:pPr marL="0" lvl="0" indent="0" algn="ctr" defTabSz="914400" rtl="0" eaLnBrk="1" latinLnBrk="0" hangingPunct="1">
                        <a:lnSpc>
                          <a:spcPct val="100000"/>
                        </a:lnSpc>
                        <a:spcBef>
                          <a:spcPts val="0"/>
                        </a:spcBef>
                        <a:spcAft>
                          <a:spcPts val="0"/>
                        </a:spcAft>
                        <a:buNone/>
                        <a:tabLst/>
                        <a:defRPr/>
                      </a:pPr>
                      <a:r>
                        <a:rPr lang="es-MX" sz="1400" kern="1200">
                          <a:solidFill>
                            <a:schemeClr val="tx1">
                              <a:lumMod val="50000"/>
                            </a:schemeClr>
                          </a:solidFill>
                          <a:latin typeface="+mn-lt"/>
                          <a:ea typeface="+mn-ea"/>
                          <a:cs typeface="+mn-cs"/>
                        </a:rPr>
                        <a:t>4,98</a:t>
                      </a:r>
                    </a:p>
                  </a:txBody>
                  <a:tcPr anchor="ctr"/>
                </a:tc>
                <a:tc>
                  <a:txBody>
                    <a:bodyPr/>
                    <a:lstStyle/>
                    <a:p>
                      <a:pPr marL="0" lvl="0" indent="0" algn="ctr" defTabSz="914400" rtl="0" eaLnBrk="1" latinLnBrk="0" hangingPunct="1">
                        <a:lnSpc>
                          <a:spcPct val="100000"/>
                        </a:lnSpc>
                        <a:spcBef>
                          <a:spcPts val="0"/>
                        </a:spcBef>
                        <a:spcAft>
                          <a:spcPts val="0"/>
                        </a:spcAft>
                        <a:buNone/>
                        <a:tabLst/>
                        <a:defRPr/>
                      </a:pPr>
                      <a:r>
                        <a:rPr lang="es-ES" sz="1400" kern="1200">
                          <a:solidFill>
                            <a:schemeClr val="tx1">
                              <a:lumMod val="50000"/>
                            </a:schemeClr>
                          </a:solidFill>
                          <a:latin typeface="+mn-lt"/>
                          <a:ea typeface="+mn-ea"/>
                          <a:cs typeface="+mn-cs"/>
                        </a:rPr>
                        <a:t>4,98</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a:solidFill>
                            <a:schemeClr val="tx1">
                              <a:lumMod val="50000"/>
                            </a:schemeClr>
                          </a:solidFill>
                          <a:latin typeface="+mn-lt"/>
                          <a:ea typeface="+mn-ea"/>
                          <a:cs typeface="+mn-cs"/>
                        </a:rPr>
                        <a:t>4,98</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a:solidFill>
                            <a:schemeClr val="tx1">
                              <a:lumMod val="50000"/>
                            </a:schemeClr>
                          </a:solidFill>
                          <a:latin typeface="+mn-lt"/>
                          <a:ea typeface="+mn-ea"/>
                          <a:cs typeface="+mn-cs"/>
                        </a:rPr>
                        <a:t>4,98</a:t>
                      </a:r>
                    </a:p>
                  </a:txBody>
                  <a:tcPr anchor="ctr"/>
                </a:tc>
                <a:extLst>
                  <a:ext uri="{0D108BD9-81ED-4DB2-BD59-A6C34878D82A}">
                    <a16:rowId xmlns:a16="http://schemas.microsoft.com/office/drawing/2014/main" val="733828450"/>
                  </a:ext>
                </a:extLst>
              </a:tr>
            </a:tbl>
          </a:graphicData>
        </a:graphic>
      </p:graphicFrame>
      <p:sp>
        <p:nvSpPr>
          <p:cNvPr id="7" name="Título 1">
            <a:extLst>
              <a:ext uri="{FF2B5EF4-FFF2-40B4-BE49-F238E27FC236}">
                <a16:creationId xmlns:a16="http://schemas.microsoft.com/office/drawing/2014/main" id="{71EF1C5A-8038-09ED-20DB-49CA58A79496}"/>
              </a:ext>
            </a:extLst>
          </p:cNvPr>
          <p:cNvSpPr txBox="1">
            <a:spLocks/>
          </p:cNvSpPr>
          <p:nvPr/>
        </p:nvSpPr>
        <p:spPr>
          <a:xfrm>
            <a:off x="2305914" y="246286"/>
            <a:ext cx="6902254" cy="812078"/>
          </a:xfrm>
          <a:prstGeom prst="rect">
            <a:avLst/>
          </a:prstGeom>
        </p:spPr>
        <p:txBody>
          <a:bodyPr vert="horz" lIns="91440" tIns="45720" rIns="91440" bIns="45720" rtlCol="0" anchor="b">
            <a:normAutofit/>
          </a:bodyPr>
          <a:lstStyle>
            <a:defPPr>
              <a:defRPr lang="es-CO"/>
            </a:defPPr>
            <a:lvl1pPr algn="ctr">
              <a:lnSpc>
                <a:spcPct val="90000"/>
              </a:lnSpc>
              <a:spcBef>
                <a:spcPct val="0"/>
              </a:spcBef>
              <a:buNone/>
              <a:defRPr sz="4400" b="1">
                <a:latin typeface="Century Gothic"/>
                <a:ea typeface="+mj-ea"/>
                <a:cs typeface="+mj-cs"/>
              </a:defRPr>
            </a:lvl1pPr>
          </a:lstStyle>
          <a:p>
            <a:r>
              <a:rPr lang="es-CO">
                <a:solidFill>
                  <a:srgbClr val="00A19C"/>
                </a:solidFill>
              </a:rPr>
              <a:t>Amabilidad - PREMS</a:t>
            </a:r>
            <a:endParaRPr lang="es-ES">
              <a:solidFill>
                <a:srgbClr val="00A19C"/>
              </a:solidFill>
            </a:endParaRPr>
          </a:p>
        </p:txBody>
      </p:sp>
      <p:sp>
        <p:nvSpPr>
          <p:cNvPr id="3" name="CuadroTexto 4">
            <a:extLst>
              <a:ext uri="{FF2B5EF4-FFF2-40B4-BE49-F238E27FC236}">
                <a16:creationId xmlns:a16="http://schemas.microsoft.com/office/drawing/2014/main" id="{45B22A8C-CA9E-C6CA-7684-7A147FE562FF}"/>
              </a:ext>
            </a:extLst>
          </p:cNvPr>
          <p:cNvSpPr txBox="1"/>
          <p:nvPr/>
        </p:nvSpPr>
        <p:spPr>
          <a:xfrm>
            <a:off x="7674250" y="6479449"/>
            <a:ext cx="3638394" cy="276999"/>
          </a:xfrm>
          <a:prstGeom prst="rect">
            <a:avLst/>
          </a:prstGeom>
          <a:noFill/>
        </p:spPr>
        <p:txBody>
          <a:bodyPr wrap="square">
            <a:spAutoFit/>
          </a:bodyPr>
          <a:ls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CO" sz="1200" b="1" i="1" noProof="0">
                <a:solidFill>
                  <a:schemeClr val="tx2"/>
                </a:solidFill>
              </a:rPr>
              <a:t>Fuente: </a:t>
            </a:r>
            <a:r>
              <a:rPr lang="es-CO" sz="1200" i="1" noProof="0">
                <a:solidFill>
                  <a:schemeClr val="tx2"/>
                </a:solidFill>
              </a:rPr>
              <a:t>SAU INOOS </a:t>
            </a:r>
            <a:r>
              <a:rPr lang="es-CO" sz="1200" i="1">
                <a:solidFill>
                  <a:schemeClr val="tx2"/>
                </a:solidFill>
              </a:rPr>
              <a:t>Agosto </a:t>
            </a:r>
            <a:r>
              <a:rPr lang="es-CO" sz="1200" i="1" noProof="0">
                <a:solidFill>
                  <a:schemeClr val="tx2"/>
                </a:solidFill>
              </a:rPr>
              <a:t>2026</a:t>
            </a:r>
          </a:p>
        </p:txBody>
      </p:sp>
    </p:spTree>
    <p:extLst>
      <p:ext uri="{BB962C8B-B14F-4D97-AF65-F5344CB8AC3E}">
        <p14:creationId xmlns:p14="http://schemas.microsoft.com/office/powerpoint/2010/main" val="328763920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5920B363-7824-14F3-7AC3-35AE1B41A393}"/>
              </a:ext>
            </a:extLst>
          </p:cNvPr>
          <p:cNvGraphicFramePr>
            <a:graphicFrameLocks noGrp="1"/>
          </p:cNvGraphicFramePr>
          <p:nvPr/>
        </p:nvGraphicFramePr>
        <p:xfrm>
          <a:off x="1022324" y="1268057"/>
          <a:ext cx="10147352" cy="4299025"/>
        </p:xfrm>
        <a:graphic>
          <a:graphicData uri="http://schemas.openxmlformats.org/drawingml/2006/table">
            <a:tbl>
              <a:tblPr firstRow="1" bandRow="1">
                <a:tableStyleId>{5C22544A-7EE6-4342-B048-85BDC9FD1C3A}</a:tableStyleId>
              </a:tblPr>
              <a:tblGrid>
                <a:gridCol w="1418737">
                  <a:extLst>
                    <a:ext uri="{9D8B030D-6E8A-4147-A177-3AD203B41FA5}">
                      <a16:colId xmlns:a16="http://schemas.microsoft.com/office/drawing/2014/main" val="2763962048"/>
                    </a:ext>
                  </a:extLst>
                </a:gridCol>
                <a:gridCol w="1351450">
                  <a:extLst>
                    <a:ext uri="{9D8B030D-6E8A-4147-A177-3AD203B41FA5}">
                      <a16:colId xmlns:a16="http://schemas.microsoft.com/office/drawing/2014/main" val="501384373"/>
                    </a:ext>
                  </a:extLst>
                </a:gridCol>
                <a:gridCol w="2401684">
                  <a:extLst>
                    <a:ext uri="{9D8B030D-6E8A-4147-A177-3AD203B41FA5}">
                      <a16:colId xmlns:a16="http://schemas.microsoft.com/office/drawing/2014/main" val="1911225208"/>
                    </a:ext>
                  </a:extLst>
                </a:gridCol>
                <a:gridCol w="2033065">
                  <a:extLst>
                    <a:ext uri="{9D8B030D-6E8A-4147-A177-3AD203B41FA5}">
                      <a16:colId xmlns:a16="http://schemas.microsoft.com/office/drawing/2014/main" val="3194376771"/>
                    </a:ext>
                  </a:extLst>
                </a:gridCol>
                <a:gridCol w="1471208">
                  <a:extLst>
                    <a:ext uri="{9D8B030D-6E8A-4147-A177-3AD203B41FA5}">
                      <a16:colId xmlns:a16="http://schemas.microsoft.com/office/drawing/2014/main" val="2514360255"/>
                    </a:ext>
                  </a:extLst>
                </a:gridCol>
                <a:gridCol w="1471208">
                  <a:extLst>
                    <a:ext uri="{9D8B030D-6E8A-4147-A177-3AD203B41FA5}">
                      <a16:colId xmlns:a16="http://schemas.microsoft.com/office/drawing/2014/main" val="2114207444"/>
                    </a:ext>
                  </a:extLst>
                </a:gridCol>
              </a:tblGrid>
              <a:tr h="1303205">
                <a:tc rowSpan="9">
                  <a:txBody>
                    <a:bodyPr/>
                    <a:lstStyle/>
                    <a:p>
                      <a:pPr algn="ctr"/>
                      <a:r>
                        <a:rPr lang="es-CO" sz="2400"/>
                        <a:t>PROMS</a:t>
                      </a:r>
                    </a:p>
                  </a:txBody>
                  <a:tcPr anchor="ctr"/>
                </a:tc>
                <a:tc>
                  <a:txBody>
                    <a:bodyPr/>
                    <a:lstStyle/>
                    <a:p>
                      <a:pPr algn="ctr"/>
                      <a:r>
                        <a:rPr lang="es-CO" sz="1400"/>
                        <a:t>Promedio mes</a:t>
                      </a:r>
                    </a:p>
                  </a:txBody>
                  <a:tcPr anchor="ctr"/>
                </a:tc>
                <a:tc>
                  <a:txBody>
                    <a:bodyPr/>
                    <a:lstStyle/>
                    <a:p>
                      <a:pPr algn="ctr" fontAlgn="b">
                        <a:buNone/>
                      </a:pPr>
                      <a:r>
                        <a:rPr lang="es-MX" sz="1400" b="0" u="none" strike="noStrike">
                          <a:solidFill>
                            <a:schemeClr val="bg1"/>
                          </a:solidFill>
                          <a:effectLst/>
                        </a:rPr>
                        <a:t>Siente que su calidad de vida ha mejorado con la atención recibida</a:t>
                      </a:r>
                      <a:endParaRPr lang="es-MX" sz="1400" b="0" i="0" u="none" strike="noStrike">
                        <a:solidFill>
                          <a:schemeClr val="bg1"/>
                        </a:solidFill>
                        <a:effectLst/>
                        <a:latin typeface="Aptos" panose="020B0004020202020204" pitchFamily="34" charset="0"/>
                      </a:endParaRPr>
                    </a:p>
                  </a:txBody>
                  <a:tcPr marL="9525" marR="9525" marT="9525" marB="0" anchor="ctr"/>
                </a:tc>
                <a:tc>
                  <a:txBody>
                    <a:bodyPr/>
                    <a:lstStyle/>
                    <a:p>
                      <a:pPr algn="ctr" fontAlgn="b">
                        <a:buNone/>
                      </a:pPr>
                      <a:r>
                        <a:rPr lang="es-MX" sz="1400" b="0" u="none" strike="noStrike">
                          <a:solidFill>
                            <a:schemeClr val="bg1"/>
                          </a:solidFill>
                          <a:effectLst/>
                        </a:rPr>
                        <a:t>Se siente físicamente capaz de realizar tareas cotidianas</a:t>
                      </a:r>
                      <a:endParaRPr lang="es-MX" sz="1400" b="0" i="0" u="none" strike="noStrike">
                        <a:solidFill>
                          <a:schemeClr val="bg1"/>
                        </a:solidFill>
                        <a:effectLst/>
                        <a:latin typeface="Aptos" panose="020B0004020202020204" pitchFamily="34" charset="0"/>
                      </a:endParaRPr>
                    </a:p>
                  </a:txBody>
                  <a:tcPr marL="9525" marR="9525" marT="9525" marB="0" anchor="ctr"/>
                </a:tc>
                <a:tc>
                  <a:txBody>
                    <a:bodyPr/>
                    <a:lstStyle/>
                    <a:p>
                      <a:pPr algn="ctr" fontAlgn="b">
                        <a:buNone/>
                      </a:pPr>
                      <a:r>
                        <a:rPr lang="es-MX" sz="1400" b="0" u="none" strike="noStrike">
                          <a:solidFill>
                            <a:schemeClr val="bg1"/>
                          </a:solidFill>
                          <a:effectLst/>
                        </a:rPr>
                        <a:t>Los síntomas relacionados con el diagnóstico y/o tratamiento están siendo manejados de forma adecuada</a:t>
                      </a:r>
                      <a:endParaRPr lang="es-MX" sz="1400" b="0" i="0" u="none" strike="noStrike">
                        <a:solidFill>
                          <a:schemeClr val="bg1"/>
                        </a:solidFill>
                        <a:effectLst/>
                        <a:latin typeface="Aptos" panose="020B0004020202020204" pitchFamily="34" charset="0"/>
                      </a:endParaRPr>
                    </a:p>
                  </a:txBody>
                  <a:tcPr marL="9525" marR="9525" marT="9525" marB="0" anchor="ctr"/>
                </a:tc>
                <a:tc>
                  <a:txBody>
                    <a:bodyPr/>
                    <a:lstStyle/>
                    <a:p>
                      <a:pPr algn="ctr" fontAlgn="b">
                        <a:buNone/>
                      </a:pPr>
                      <a:r>
                        <a:rPr lang="es-MX" sz="1400" b="0" u="none" strike="noStrike">
                          <a:solidFill>
                            <a:schemeClr val="bg1"/>
                          </a:solidFill>
                          <a:effectLst/>
                        </a:rPr>
                        <a:t>Se  siente satisfecho con los resultados de mi atención médica</a:t>
                      </a:r>
                      <a:endParaRPr lang="es-MX" sz="1400" b="0" i="0" u="none" strike="noStrike">
                        <a:solidFill>
                          <a:schemeClr val="bg1"/>
                        </a:solidFill>
                        <a:effectLst/>
                        <a:latin typeface="Aptos" panose="020B0004020202020204" pitchFamily="34" charset="0"/>
                      </a:endParaRPr>
                    </a:p>
                  </a:txBody>
                  <a:tcPr marL="9525" marR="9525" marT="9525" marB="0" anchor="ctr"/>
                </a:tc>
                <a:extLst>
                  <a:ext uri="{0D108BD9-81ED-4DB2-BD59-A6C34878D82A}">
                    <a16:rowId xmlns:a16="http://schemas.microsoft.com/office/drawing/2014/main" val="51530196"/>
                  </a:ext>
                </a:extLst>
              </a:tr>
              <a:tr h="488488">
                <a:tc vMerge="1">
                  <a:txBody>
                    <a:bodyPr/>
                    <a:lstStyle/>
                    <a:p>
                      <a:pPr algn="ctr"/>
                      <a:endParaRPr lang="es-CO" sz="1400">
                        <a:solidFill>
                          <a:schemeClr val="tx1">
                            <a:lumMod val="50000"/>
                          </a:schemeClr>
                        </a:solidFill>
                      </a:endParaRPr>
                    </a:p>
                  </a:txBody>
                  <a:tcPr anchor="ctr">
                    <a:solidFill>
                      <a:srgbClr val="F3FB8F"/>
                    </a:solidFill>
                  </a:tcPr>
                </a:tc>
                <a:tc>
                  <a:txBody>
                    <a:bodyPr/>
                    <a:lstStyle/>
                    <a:p>
                      <a:pPr algn="ctr"/>
                      <a:r>
                        <a:rPr lang="es-CO" sz="1400">
                          <a:solidFill>
                            <a:schemeClr val="tx1">
                              <a:lumMod val="50000"/>
                            </a:schemeClr>
                          </a:solidFill>
                        </a:rPr>
                        <a:t>ENE</a:t>
                      </a:r>
                    </a:p>
                  </a:txBody>
                  <a:tcPr anchor="ctr"/>
                </a:tc>
                <a:tc>
                  <a:txBody>
                    <a:bodyPr/>
                    <a:lstStyle/>
                    <a:p>
                      <a:pPr algn="ctr"/>
                      <a:r>
                        <a:rPr lang="es-CO" sz="1400">
                          <a:solidFill>
                            <a:schemeClr val="tx1">
                              <a:lumMod val="50000"/>
                            </a:schemeClr>
                          </a:solidFill>
                        </a:rPr>
                        <a:t>4,73</a:t>
                      </a:r>
                    </a:p>
                  </a:txBody>
                  <a:tcPr anchor="ctr"/>
                </a:tc>
                <a:tc>
                  <a:txBody>
                    <a:bodyPr/>
                    <a:lstStyle/>
                    <a:p>
                      <a:pPr algn="ctr"/>
                      <a:r>
                        <a:rPr lang="es-CO" sz="1400">
                          <a:solidFill>
                            <a:schemeClr val="tx1">
                              <a:lumMod val="50000"/>
                            </a:schemeClr>
                          </a:solidFill>
                        </a:rPr>
                        <a:t>4,55</a:t>
                      </a:r>
                    </a:p>
                  </a:txBody>
                  <a:tcPr anchor="ctr"/>
                </a:tc>
                <a:tc>
                  <a:txBody>
                    <a:bodyPr/>
                    <a:lstStyle/>
                    <a:p>
                      <a:pPr algn="ctr"/>
                      <a:r>
                        <a:rPr lang="es-CO" sz="1400">
                          <a:solidFill>
                            <a:schemeClr val="tx1">
                              <a:lumMod val="50000"/>
                            </a:schemeClr>
                          </a:solidFill>
                        </a:rPr>
                        <a:t>4,83</a:t>
                      </a:r>
                    </a:p>
                  </a:txBody>
                  <a:tcPr anchor="ctr"/>
                </a:tc>
                <a:tc>
                  <a:txBody>
                    <a:bodyPr/>
                    <a:lstStyle/>
                    <a:p>
                      <a:pPr algn="ctr"/>
                      <a:r>
                        <a:rPr lang="es-CO" sz="1400">
                          <a:solidFill>
                            <a:schemeClr val="tx1">
                              <a:lumMod val="50000"/>
                            </a:schemeClr>
                          </a:solidFill>
                        </a:rPr>
                        <a:t>4,87</a:t>
                      </a:r>
                    </a:p>
                  </a:txBody>
                  <a:tcPr anchor="ctr"/>
                </a:tc>
                <a:extLst>
                  <a:ext uri="{0D108BD9-81ED-4DB2-BD59-A6C34878D82A}">
                    <a16:rowId xmlns:a16="http://schemas.microsoft.com/office/drawing/2014/main" val="1755617465"/>
                  </a:ext>
                </a:extLst>
              </a:tr>
              <a:tr h="354010">
                <a:tc vMerge="1">
                  <a:txBody>
                    <a:bodyPr/>
                    <a:lstStyle/>
                    <a:p>
                      <a:pPr algn="ctr"/>
                      <a:endParaRPr lang="es-CO" sz="2400"/>
                    </a:p>
                  </a:txBody>
                  <a:tcPr anchor="ctr">
                    <a:solidFill>
                      <a:srgbClr val="FFC000"/>
                    </a:solidFill>
                  </a:tcPr>
                </a:tc>
                <a:tc>
                  <a:txBody>
                    <a:bodyPr/>
                    <a:lstStyle/>
                    <a:p>
                      <a:pPr algn="ctr"/>
                      <a:r>
                        <a:rPr lang="es-MX" sz="1400">
                          <a:solidFill>
                            <a:schemeClr val="tx1">
                              <a:lumMod val="50000"/>
                            </a:schemeClr>
                          </a:solidFill>
                        </a:rPr>
                        <a:t>FEB</a:t>
                      </a:r>
                      <a:endParaRPr lang="es-CO" sz="1400">
                        <a:solidFill>
                          <a:schemeClr val="tx1">
                            <a:lumMod val="50000"/>
                          </a:schemeClr>
                        </a:solidFill>
                      </a:endParaRPr>
                    </a:p>
                  </a:txBody>
                  <a:tcPr anchor="ctr"/>
                </a:tc>
                <a:tc>
                  <a:txBody>
                    <a:bodyPr/>
                    <a:lstStyle/>
                    <a:p>
                      <a:pPr algn="ctr"/>
                      <a:r>
                        <a:rPr lang="es-MX" sz="1400">
                          <a:solidFill>
                            <a:schemeClr val="tx1">
                              <a:lumMod val="50000"/>
                            </a:schemeClr>
                          </a:solidFill>
                        </a:rPr>
                        <a:t>4,55</a:t>
                      </a:r>
                      <a:endParaRPr lang="es-CO" sz="1400">
                        <a:solidFill>
                          <a:schemeClr val="tx1">
                            <a:lumMod val="50000"/>
                          </a:schemeClr>
                        </a:solidFill>
                      </a:endParaRPr>
                    </a:p>
                  </a:txBody>
                  <a:tcPr anchor="ctr"/>
                </a:tc>
                <a:tc>
                  <a:txBody>
                    <a:bodyPr/>
                    <a:lstStyle/>
                    <a:p>
                      <a:pPr algn="ctr"/>
                      <a:r>
                        <a:rPr lang="es-MX" sz="1400">
                          <a:solidFill>
                            <a:schemeClr val="tx1">
                              <a:lumMod val="50000"/>
                            </a:schemeClr>
                          </a:solidFill>
                        </a:rPr>
                        <a:t>4,35</a:t>
                      </a:r>
                      <a:endParaRPr lang="es-CO" sz="1400">
                        <a:solidFill>
                          <a:schemeClr val="tx1">
                            <a:lumMod val="50000"/>
                          </a:schemeClr>
                        </a:solidFill>
                      </a:endParaRPr>
                    </a:p>
                  </a:txBody>
                  <a:tcPr anchor="ctr"/>
                </a:tc>
                <a:tc>
                  <a:txBody>
                    <a:bodyPr/>
                    <a:lstStyle/>
                    <a:p>
                      <a:pPr algn="ctr"/>
                      <a:r>
                        <a:rPr lang="es-MX" sz="1400">
                          <a:solidFill>
                            <a:schemeClr val="tx1">
                              <a:lumMod val="50000"/>
                            </a:schemeClr>
                          </a:solidFill>
                        </a:rPr>
                        <a:t>4,42</a:t>
                      </a:r>
                      <a:endParaRPr lang="es-CO" sz="1400">
                        <a:solidFill>
                          <a:schemeClr val="tx1">
                            <a:lumMod val="50000"/>
                          </a:schemeClr>
                        </a:solidFill>
                      </a:endParaRPr>
                    </a:p>
                  </a:txBody>
                  <a:tcPr anchor="ctr"/>
                </a:tc>
                <a:tc>
                  <a:txBody>
                    <a:bodyPr/>
                    <a:lstStyle/>
                    <a:p>
                      <a:pPr algn="ctr"/>
                      <a:r>
                        <a:rPr lang="es-MX" sz="1400">
                          <a:solidFill>
                            <a:schemeClr val="tx1">
                              <a:lumMod val="50000"/>
                            </a:schemeClr>
                          </a:solidFill>
                        </a:rPr>
                        <a:t>4,39</a:t>
                      </a:r>
                      <a:endParaRPr lang="es-CO" sz="1400">
                        <a:solidFill>
                          <a:schemeClr val="tx1">
                            <a:lumMod val="50000"/>
                          </a:schemeClr>
                        </a:solidFill>
                      </a:endParaRPr>
                    </a:p>
                  </a:txBody>
                  <a:tcPr anchor="ctr"/>
                </a:tc>
                <a:extLst>
                  <a:ext uri="{0D108BD9-81ED-4DB2-BD59-A6C34878D82A}">
                    <a16:rowId xmlns:a16="http://schemas.microsoft.com/office/drawing/2014/main" val="2935887947"/>
                  </a:ext>
                </a:extLst>
              </a:tr>
              <a:tr h="358887">
                <a:tc vMerge="1">
                  <a:txBody>
                    <a:bodyPr/>
                    <a:lstStyle/>
                    <a:p>
                      <a:pPr algn="ctr"/>
                      <a:endParaRPr lang="es-CO" sz="2400"/>
                    </a:p>
                  </a:txBody>
                  <a:tcPr anchor="ctr">
                    <a:solidFill>
                      <a:srgbClr val="FFC000"/>
                    </a:solidFill>
                  </a:tcPr>
                </a:tc>
                <a:tc>
                  <a:txBody>
                    <a:bodyPr/>
                    <a:lstStyle/>
                    <a:p>
                      <a:pPr algn="ctr"/>
                      <a:r>
                        <a:rPr lang="es-MX" sz="1400">
                          <a:solidFill>
                            <a:schemeClr val="tx1">
                              <a:lumMod val="50000"/>
                            </a:schemeClr>
                          </a:solidFill>
                        </a:rPr>
                        <a:t>MAR</a:t>
                      </a:r>
                      <a:endParaRPr lang="es-CO" sz="1400">
                        <a:solidFill>
                          <a:schemeClr val="tx1">
                            <a:lumMod val="50000"/>
                          </a:schemeClr>
                        </a:solidFill>
                      </a:endParaRPr>
                    </a:p>
                  </a:txBody>
                  <a:tcPr anchor="ctr"/>
                </a:tc>
                <a:tc>
                  <a:txBody>
                    <a:bodyPr/>
                    <a:lstStyle/>
                    <a:p>
                      <a:pPr algn="ctr"/>
                      <a:r>
                        <a:rPr lang="es-MX" sz="1400">
                          <a:solidFill>
                            <a:schemeClr val="tx1">
                              <a:lumMod val="50000"/>
                            </a:schemeClr>
                          </a:solidFill>
                        </a:rPr>
                        <a:t>4,58</a:t>
                      </a:r>
                      <a:endParaRPr lang="es-CO" sz="1400">
                        <a:solidFill>
                          <a:schemeClr val="tx1">
                            <a:lumMod val="50000"/>
                          </a:schemeClr>
                        </a:solidFill>
                      </a:endParaRPr>
                    </a:p>
                  </a:txBody>
                  <a:tcPr anchor="ctr"/>
                </a:tc>
                <a:tc>
                  <a:txBody>
                    <a:bodyPr/>
                    <a:lstStyle/>
                    <a:p>
                      <a:pPr algn="ctr"/>
                      <a:r>
                        <a:rPr lang="es-MX" sz="1400">
                          <a:solidFill>
                            <a:schemeClr val="tx1">
                              <a:lumMod val="50000"/>
                            </a:schemeClr>
                          </a:solidFill>
                        </a:rPr>
                        <a:t>4,63</a:t>
                      </a:r>
                      <a:endParaRPr lang="es-CO" sz="1400">
                        <a:solidFill>
                          <a:schemeClr val="tx1">
                            <a:lumMod val="50000"/>
                          </a:schemeClr>
                        </a:solidFill>
                      </a:endParaRPr>
                    </a:p>
                  </a:txBody>
                  <a:tcPr anchor="ctr"/>
                </a:tc>
                <a:tc>
                  <a:txBody>
                    <a:bodyPr/>
                    <a:lstStyle/>
                    <a:p>
                      <a:pPr algn="ctr"/>
                      <a:r>
                        <a:rPr lang="es-MX" sz="1400">
                          <a:solidFill>
                            <a:schemeClr val="tx1">
                              <a:lumMod val="50000"/>
                            </a:schemeClr>
                          </a:solidFill>
                        </a:rPr>
                        <a:t>4,64</a:t>
                      </a:r>
                      <a:endParaRPr lang="es-CO" sz="1400">
                        <a:solidFill>
                          <a:schemeClr val="tx1">
                            <a:lumMod val="50000"/>
                          </a:schemeClr>
                        </a:solidFill>
                      </a:endParaRPr>
                    </a:p>
                  </a:txBody>
                  <a:tcPr anchor="ctr"/>
                </a:tc>
                <a:tc>
                  <a:txBody>
                    <a:bodyPr/>
                    <a:lstStyle/>
                    <a:p>
                      <a:pPr algn="ctr"/>
                      <a:r>
                        <a:rPr lang="es-MX" sz="1400">
                          <a:solidFill>
                            <a:schemeClr val="tx1">
                              <a:lumMod val="50000"/>
                            </a:schemeClr>
                          </a:solidFill>
                        </a:rPr>
                        <a:t>4,60</a:t>
                      </a:r>
                      <a:endParaRPr lang="es-CO" sz="1400">
                        <a:solidFill>
                          <a:schemeClr val="tx1">
                            <a:lumMod val="50000"/>
                          </a:schemeClr>
                        </a:solidFill>
                      </a:endParaRPr>
                    </a:p>
                  </a:txBody>
                  <a:tcPr anchor="ctr"/>
                </a:tc>
                <a:extLst>
                  <a:ext uri="{0D108BD9-81ED-4DB2-BD59-A6C34878D82A}">
                    <a16:rowId xmlns:a16="http://schemas.microsoft.com/office/drawing/2014/main" val="1755343761"/>
                  </a:ext>
                </a:extLst>
              </a:tr>
              <a:tr h="358887">
                <a:tc vMerge="1">
                  <a:txBody>
                    <a:bodyPr/>
                    <a:lstStyle/>
                    <a:p>
                      <a:pPr algn="ctr"/>
                      <a:endParaRPr lang="es-CO" sz="2400"/>
                    </a:p>
                  </a:txBody>
                  <a:tcPr anchor="ctr">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MX" sz="1400">
                          <a:solidFill>
                            <a:schemeClr val="tx1">
                              <a:lumMod val="50000"/>
                            </a:schemeClr>
                          </a:solidFill>
                        </a:rPr>
                        <a:t>ABR</a:t>
                      </a:r>
                      <a:endParaRPr lang="es-CO" sz="1400">
                        <a:solidFill>
                          <a:schemeClr val="tx1">
                            <a:lumMod val="50000"/>
                          </a:schemeClr>
                        </a:solidFill>
                      </a:endParaRPr>
                    </a:p>
                  </a:txBody>
                  <a:tcPr anchor="ctr"/>
                </a:tc>
                <a:tc>
                  <a:txBody>
                    <a:bodyPr/>
                    <a:lstStyle/>
                    <a:p>
                      <a:pPr algn="ctr"/>
                      <a:r>
                        <a:rPr lang="es-MX" sz="1400">
                          <a:solidFill>
                            <a:schemeClr val="tx1">
                              <a:lumMod val="50000"/>
                            </a:schemeClr>
                          </a:solidFill>
                        </a:rPr>
                        <a:t>4,50</a:t>
                      </a:r>
                      <a:endParaRPr lang="es-CO" sz="1400">
                        <a:solidFill>
                          <a:schemeClr val="tx1">
                            <a:lumMod val="50000"/>
                          </a:schemeClr>
                        </a:solidFill>
                      </a:endParaRPr>
                    </a:p>
                  </a:txBody>
                  <a:tcPr anchor="ctr"/>
                </a:tc>
                <a:tc>
                  <a:txBody>
                    <a:bodyPr/>
                    <a:lstStyle/>
                    <a:p>
                      <a:pPr algn="ctr"/>
                      <a:r>
                        <a:rPr lang="es-MX" sz="1400">
                          <a:solidFill>
                            <a:schemeClr val="tx1">
                              <a:lumMod val="50000"/>
                            </a:schemeClr>
                          </a:solidFill>
                        </a:rPr>
                        <a:t>4,37</a:t>
                      </a:r>
                      <a:endParaRPr lang="es-CO" sz="1400">
                        <a:solidFill>
                          <a:schemeClr val="tx1">
                            <a:lumMod val="50000"/>
                          </a:schemeClr>
                        </a:solidFill>
                      </a:endParaRPr>
                    </a:p>
                  </a:txBody>
                  <a:tcPr anchor="ctr"/>
                </a:tc>
                <a:tc>
                  <a:txBody>
                    <a:bodyPr/>
                    <a:lstStyle/>
                    <a:p>
                      <a:pPr algn="ctr"/>
                      <a:r>
                        <a:rPr lang="es-MX" sz="1400">
                          <a:solidFill>
                            <a:schemeClr val="tx1">
                              <a:lumMod val="50000"/>
                            </a:schemeClr>
                          </a:solidFill>
                        </a:rPr>
                        <a:t>4,46</a:t>
                      </a:r>
                      <a:endParaRPr lang="es-CO" sz="1400">
                        <a:solidFill>
                          <a:schemeClr val="tx1">
                            <a:lumMod val="50000"/>
                          </a:schemeClr>
                        </a:solidFill>
                      </a:endParaRPr>
                    </a:p>
                  </a:txBody>
                  <a:tcPr anchor="ctr"/>
                </a:tc>
                <a:tc>
                  <a:txBody>
                    <a:bodyPr/>
                    <a:lstStyle/>
                    <a:p>
                      <a:pPr algn="ctr"/>
                      <a:r>
                        <a:rPr lang="es-MX" sz="1400">
                          <a:solidFill>
                            <a:schemeClr val="tx1">
                              <a:lumMod val="50000"/>
                            </a:schemeClr>
                          </a:solidFill>
                        </a:rPr>
                        <a:t>4,46</a:t>
                      </a:r>
                      <a:endParaRPr lang="es-CO" sz="1400">
                        <a:solidFill>
                          <a:schemeClr val="tx1">
                            <a:lumMod val="50000"/>
                          </a:schemeClr>
                        </a:solidFill>
                      </a:endParaRPr>
                    </a:p>
                  </a:txBody>
                  <a:tcPr anchor="ctr"/>
                </a:tc>
                <a:extLst>
                  <a:ext uri="{0D108BD9-81ED-4DB2-BD59-A6C34878D82A}">
                    <a16:rowId xmlns:a16="http://schemas.microsoft.com/office/drawing/2014/main" val="1148271487"/>
                  </a:ext>
                </a:extLst>
              </a:tr>
              <a:tr h="358887">
                <a:tc vMerge="1">
                  <a:txBody>
                    <a:bodyPr/>
                    <a:lstStyle/>
                    <a:p>
                      <a:pPr algn="ctr"/>
                      <a:endParaRPr lang="es-CO" sz="24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MX" sz="1400">
                          <a:solidFill>
                            <a:schemeClr val="tx1">
                              <a:lumMod val="50000"/>
                            </a:schemeClr>
                          </a:solidFill>
                        </a:rPr>
                        <a:t>MAY</a:t>
                      </a:r>
                      <a:endParaRPr lang="es-CO" sz="1400">
                        <a:solidFill>
                          <a:schemeClr val="tx1">
                            <a:lumMod val="50000"/>
                          </a:schemeClr>
                        </a:solidFill>
                      </a:endParaRPr>
                    </a:p>
                  </a:txBody>
                  <a:tcPr anchor="ctr"/>
                </a:tc>
                <a:tc>
                  <a:txBody>
                    <a:bodyPr/>
                    <a:lstStyle/>
                    <a:p>
                      <a:pPr algn="ctr"/>
                      <a:r>
                        <a:rPr lang="es-MX" sz="1400">
                          <a:solidFill>
                            <a:schemeClr val="tx1">
                              <a:lumMod val="50000"/>
                            </a:schemeClr>
                          </a:solidFill>
                        </a:rPr>
                        <a:t>4,85</a:t>
                      </a:r>
                      <a:endParaRPr lang="es-CO" sz="1400">
                        <a:solidFill>
                          <a:schemeClr val="tx1">
                            <a:lumMod val="50000"/>
                          </a:schemeClr>
                        </a:solidFill>
                      </a:endParaRPr>
                    </a:p>
                  </a:txBody>
                  <a:tcPr anchor="ctr"/>
                </a:tc>
                <a:tc>
                  <a:txBody>
                    <a:bodyPr/>
                    <a:lstStyle/>
                    <a:p>
                      <a:pPr algn="ctr"/>
                      <a:r>
                        <a:rPr lang="es-MX" sz="1400">
                          <a:solidFill>
                            <a:schemeClr val="tx1">
                              <a:lumMod val="50000"/>
                            </a:schemeClr>
                          </a:solidFill>
                        </a:rPr>
                        <a:t>4,84</a:t>
                      </a:r>
                      <a:endParaRPr lang="es-CO" sz="1400">
                        <a:solidFill>
                          <a:schemeClr val="tx1">
                            <a:lumMod val="50000"/>
                          </a:schemeClr>
                        </a:solidFill>
                      </a:endParaRPr>
                    </a:p>
                  </a:txBody>
                  <a:tcPr anchor="ctr"/>
                </a:tc>
                <a:tc>
                  <a:txBody>
                    <a:bodyPr/>
                    <a:lstStyle/>
                    <a:p>
                      <a:pPr algn="ctr"/>
                      <a:r>
                        <a:rPr lang="es-MX" sz="1400">
                          <a:solidFill>
                            <a:schemeClr val="tx1">
                              <a:lumMod val="50000"/>
                            </a:schemeClr>
                          </a:solidFill>
                        </a:rPr>
                        <a:t>4,84</a:t>
                      </a:r>
                      <a:endParaRPr lang="es-CO" sz="1400">
                        <a:solidFill>
                          <a:schemeClr val="tx1">
                            <a:lumMod val="50000"/>
                          </a:schemeClr>
                        </a:solidFill>
                      </a:endParaRPr>
                    </a:p>
                  </a:txBody>
                  <a:tcPr anchor="ctr"/>
                </a:tc>
                <a:tc>
                  <a:txBody>
                    <a:bodyPr/>
                    <a:lstStyle/>
                    <a:p>
                      <a:pPr algn="ctr"/>
                      <a:r>
                        <a:rPr lang="es-MX" sz="1400">
                          <a:solidFill>
                            <a:schemeClr val="tx1">
                              <a:lumMod val="50000"/>
                            </a:schemeClr>
                          </a:solidFill>
                        </a:rPr>
                        <a:t>4,85</a:t>
                      </a:r>
                      <a:endParaRPr lang="es-CO" sz="1400">
                        <a:solidFill>
                          <a:schemeClr val="tx1">
                            <a:lumMod val="50000"/>
                          </a:schemeClr>
                        </a:solidFill>
                      </a:endParaRPr>
                    </a:p>
                  </a:txBody>
                  <a:tcPr anchor="ctr"/>
                </a:tc>
                <a:extLst>
                  <a:ext uri="{0D108BD9-81ED-4DB2-BD59-A6C34878D82A}">
                    <a16:rowId xmlns:a16="http://schemas.microsoft.com/office/drawing/2014/main" val="1292100572"/>
                  </a:ext>
                </a:extLst>
              </a:tr>
              <a:tr h="358887">
                <a:tc vMerge="1">
                  <a:txBody>
                    <a:bodyPr/>
                    <a:lstStyle/>
                    <a:p>
                      <a:endParaRPr lang="es-ES"/>
                    </a:p>
                  </a:txBody>
                  <a:tcPr anchor="ctr"/>
                </a:tc>
                <a:tc>
                  <a:txBody>
                    <a:bodyPr/>
                    <a:lstStyle/>
                    <a:p>
                      <a:pPr marL="0" lvl="0" indent="0" algn="ctr" defTabSz="914400">
                        <a:lnSpc>
                          <a:spcPct val="100000"/>
                        </a:lnSpc>
                        <a:spcBef>
                          <a:spcPts val="0"/>
                        </a:spcBef>
                        <a:spcAft>
                          <a:spcPts val="0"/>
                        </a:spcAft>
                        <a:buNone/>
                        <a:tabLst/>
                        <a:defRPr/>
                      </a:pPr>
                      <a:r>
                        <a:rPr lang="es-MX" sz="1400">
                          <a:solidFill>
                            <a:schemeClr val="tx1">
                              <a:lumMod val="50000"/>
                            </a:schemeClr>
                          </a:solidFill>
                        </a:rPr>
                        <a:t>JUN</a:t>
                      </a:r>
                    </a:p>
                  </a:txBody>
                  <a:tcPr anchor="ctr"/>
                </a:tc>
                <a:tc>
                  <a:txBody>
                    <a:bodyPr/>
                    <a:lstStyle/>
                    <a:p>
                      <a:pPr lvl="0" algn="ctr">
                        <a:buNone/>
                      </a:pPr>
                      <a:r>
                        <a:rPr lang="es-MX" sz="1400">
                          <a:solidFill>
                            <a:schemeClr val="tx1">
                              <a:lumMod val="50000"/>
                            </a:schemeClr>
                          </a:solidFill>
                        </a:rPr>
                        <a:t>4,65</a:t>
                      </a:r>
                    </a:p>
                  </a:txBody>
                  <a:tcPr anchor="ctr"/>
                </a:tc>
                <a:tc>
                  <a:txBody>
                    <a:bodyPr/>
                    <a:lstStyle/>
                    <a:p>
                      <a:pPr lvl="0" algn="ctr">
                        <a:buNone/>
                      </a:pPr>
                      <a:r>
                        <a:rPr lang="es-MX" sz="1400">
                          <a:solidFill>
                            <a:schemeClr val="tx1">
                              <a:lumMod val="50000"/>
                            </a:schemeClr>
                          </a:solidFill>
                        </a:rPr>
                        <a:t>4,64</a:t>
                      </a:r>
                    </a:p>
                  </a:txBody>
                  <a:tcPr anchor="ctr"/>
                </a:tc>
                <a:tc>
                  <a:txBody>
                    <a:bodyPr/>
                    <a:lstStyle/>
                    <a:p>
                      <a:pPr lvl="0" algn="ctr">
                        <a:buNone/>
                      </a:pPr>
                      <a:r>
                        <a:rPr lang="es-MX" sz="1400">
                          <a:solidFill>
                            <a:schemeClr val="tx1">
                              <a:lumMod val="50000"/>
                            </a:schemeClr>
                          </a:solidFill>
                        </a:rPr>
                        <a:t>4,69</a:t>
                      </a:r>
                    </a:p>
                  </a:txBody>
                  <a:tcPr anchor="ctr"/>
                </a:tc>
                <a:tc>
                  <a:txBody>
                    <a:bodyPr/>
                    <a:lstStyle/>
                    <a:p>
                      <a:pPr lvl="0" algn="ctr">
                        <a:buNone/>
                      </a:pPr>
                      <a:r>
                        <a:rPr lang="es-MX" sz="1400">
                          <a:solidFill>
                            <a:schemeClr val="tx1">
                              <a:lumMod val="50000"/>
                            </a:schemeClr>
                          </a:solidFill>
                        </a:rPr>
                        <a:t>4,71</a:t>
                      </a:r>
                    </a:p>
                  </a:txBody>
                  <a:tcPr anchor="ctr"/>
                </a:tc>
                <a:extLst>
                  <a:ext uri="{0D108BD9-81ED-4DB2-BD59-A6C34878D82A}">
                    <a16:rowId xmlns:a16="http://schemas.microsoft.com/office/drawing/2014/main" val="2339853890"/>
                  </a:ext>
                </a:extLst>
              </a:tr>
              <a:tr h="358887">
                <a:tc vMerge="1">
                  <a:txBody>
                    <a:bodyPr/>
                    <a:lstStyle/>
                    <a:p>
                      <a:pPr algn="ctr"/>
                      <a:endParaRPr lang="es-CO" sz="2400"/>
                    </a:p>
                  </a:txBody>
                  <a:tcPr anchor="ctr"/>
                </a:tc>
                <a:tc>
                  <a:txBody>
                    <a:bodyPr/>
                    <a:lstStyle/>
                    <a:p>
                      <a:pPr marL="0" lvl="0" indent="0" algn="ctr" defTabSz="914400">
                        <a:lnSpc>
                          <a:spcPct val="100000"/>
                        </a:lnSpc>
                        <a:spcBef>
                          <a:spcPts val="0"/>
                        </a:spcBef>
                        <a:spcAft>
                          <a:spcPts val="0"/>
                        </a:spcAft>
                        <a:buNone/>
                        <a:tabLst/>
                        <a:defRPr/>
                      </a:pPr>
                      <a:r>
                        <a:rPr lang="es-MX" sz="1400">
                          <a:solidFill>
                            <a:schemeClr val="tx1">
                              <a:lumMod val="50000"/>
                            </a:schemeClr>
                          </a:solidFill>
                        </a:rPr>
                        <a:t>JUL</a:t>
                      </a:r>
                    </a:p>
                  </a:txBody>
                  <a:tcPr anchor="ctr"/>
                </a:tc>
                <a:tc>
                  <a:txBody>
                    <a:bodyPr/>
                    <a:lstStyle/>
                    <a:p>
                      <a:pPr lvl="0" algn="ctr">
                        <a:buNone/>
                      </a:pPr>
                      <a:r>
                        <a:rPr lang="es-MX" sz="1400">
                          <a:solidFill>
                            <a:schemeClr val="tx1">
                              <a:lumMod val="50000"/>
                            </a:schemeClr>
                          </a:solidFill>
                        </a:rPr>
                        <a:t>4,88</a:t>
                      </a:r>
                    </a:p>
                  </a:txBody>
                  <a:tcPr anchor="ctr"/>
                </a:tc>
                <a:tc>
                  <a:txBody>
                    <a:bodyPr/>
                    <a:lstStyle/>
                    <a:p>
                      <a:pPr lvl="0" algn="ctr">
                        <a:buNone/>
                      </a:pPr>
                      <a:r>
                        <a:rPr lang="es-MX" sz="1400">
                          <a:solidFill>
                            <a:schemeClr val="tx1">
                              <a:lumMod val="50000"/>
                            </a:schemeClr>
                          </a:solidFill>
                        </a:rPr>
                        <a:t>4,62</a:t>
                      </a:r>
                    </a:p>
                  </a:txBody>
                  <a:tcPr anchor="ctr"/>
                </a:tc>
                <a:tc>
                  <a:txBody>
                    <a:bodyPr/>
                    <a:lstStyle/>
                    <a:p>
                      <a:pPr lvl="0" algn="ctr">
                        <a:buNone/>
                      </a:pPr>
                      <a:r>
                        <a:rPr lang="es-MX" sz="1400">
                          <a:solidFill>
                            <a:schemeClr val="tx1">
                              <a:lumMod val="50000"/>
                            </a:schemeClr>
                          </a:solidFill>
                        </a:rPr>
                        <a:t>4,88</a:t>
                      </a:r>
                    </a:p>
                  </a:txBody>
                  <a:tcPr anchor="ctr"/>
                </a:tc>
                <a:tc>
                  <a:txBody>
                    <a:bodyPr/>
                    <a:lstStyle/>
                    <a:p>
                      <a:pPr lvl="0" algn="ctr">
                        <a:buNone/>
                      </a:pPr>
                      <a:r>
                        <a:rPr lang="es-MX" sz="1400">
                          <a:solidFill>
                            <a:schemeClr val="tx1">
                              <a:lumMod val="50000"/>
                            </a:schemeClr>
                          </a:solidFill>
                        </a:rPr>
                        <a:t>4,88</a:t>
                      </a:r>
                    </a:p>
                  </a:txBody>
                  <a:tcPr anchor="ctr"/>
                </a:tc>
                <a:extLst>
                  <a:ext uri="{0D108BD9-81ED-4DB2-BD59-A6C34878D82A}">
                    <a16:rowId xmlns:a16="http://schemas.microsoft.com/office/drawing/2014/main" val="766546990"/>
                  </a:ext>
                </a:extLst>
              </a:tr>
              <a:tr h="358887">
                <a:tc vMerge="1">
                  <a:txBody>
                    <a:bodyPr/>
                    <a:lstStyle/>
                    <a:p>
                      <a:pPr algn="ctr"/>
                      <a:endParaRPr lang="es-CO" sz="2400"/>
                    </a:p>
                  </a:txBody>
                  <a:tcPr anchor="ctr"/>
                </a:tc>
                <a:tc>
                  <a:txBody>
                    <a:bodyPr/>
                    <a:lstStyle/>
                    <a:p>
                      <a:pPr marL="0" lvl="0" indent="0" algn="ctr" defTabSz="914400">
                        <a:lnSpc>
                          <a:spcPct val="100000"/>
                        </a:lnSpc>
                        <a:spcBef>
                          <a:spcPts val="0"/>
                        </a:spcBef>
                        <a:spcAft>
                          <a:spcPts val="0"/>
                        </a:spcAft>
                        <a:buNone/>
                        <a:tabLst/>
                        <a:defRPr/>
                      </a:pPr>
                      <a:r>
                        <a:rPr lang="es-MX" sz="1400">
                          <a:solidFill>
                            <a:schemeClr val="tx1">
                              <a:lumMod val="50000"/>
                            </a:schemeClr>
                          </a:solidFill>
                        </a:rPr>
                        <a:t>AGO</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a:solidFill>
                            <a:schemeClr val="tx1">
                              <a:lumMod val="50000"/>
                            </a:schemeClr>
                          </a:solidFill>
                          <a:latin typeface="+mn-lt"/>
                          <a:ea typeface="+mn-ea"/>
                          <a:cs typeface="+mn-cs"/>
                        </a:rPr>
                        <a:t>4,98</a:t>
                      </a:r>
                    </a:p>
                  </a:txBody>
                  <a:tcPr anchor="ctr"/>
                </a:tc>
                <a:tc>
                  <a:txBody>
                    <a:bodyPr/>
                    <a:lstStyle/>
                    <a:p>
                      <a:pPr lvl="0" algn="ctr">
                        <a:buNone/>
                      </a:pPr>
                      <a:r>
                        <a:rPr lang="es-MX" sz="1400">
                          <a:solidFill>
                            <a:schemeClr val="tx1">
                              <a:lumMod val="50000"/>
                            </a:schemeClr>
                          </a:solidFill>
                        </a:rPr>
                        <a:t>4,82</a:t>
                      </a:r>
                    </a:p>
                  </a:txBody>
                  <a:tcPr anchor="ctr"/>
                </a:tc>
                <a:tc>
                  <a:txBody>
                    <a:bodyPr/>
                    <a:lstStyle/>
                    <a:p>
                      <a:pPr lvl="0" algn="ctr">
                        <a:buNone/>
                      </a:pPr>
                      <a:r>
                        <a:rPr lang="es-MX" sz="1400">
                          <a:solidFill>
                            <a:schemeClr val="tx1">
                              <a:lumMod val="50000"/>
                            </a:schemeClr>
                          </a:solidFill>
                        </a:rPr>
                        <a:t>4,98</a:t>
                      </a:r>
                    </a:p>
                  </a:txBody>
                  <a:tcPr anchor="ctr"/>
                </a:tc>
                <a:tc>
                  <a:txBody>
                    <a:bodyPr/>
                    <a:lstStyle/>
                    <a:p>
                      <a:pPr lvl="0" algn="ctr">
                        <a:buNone/>
                      </a:pPr>
                      <a:r>
                        <a:rPr lang="es-MX" sz="1400">
                          <a:solidFill>
                            <a:schemeClr val="tx1">
                              <a:lumMod val="50000"/>
                            </a:schemeClr>
                          </a:solidFill>
                        </a:rPr>
                        <a:t>4,98</a:t>
                      </a:r>
                    </a:p>
                  </a:txBody>
                  <a:tcPr anchor="ctr"/>
                </a:tc>
                <a:extLst>
                  <a:ext uri="{0D108BD9-81ED-4DB2-BD59-A6C34878D82A}">
                    <a16:rowId xmlns:a16="http://schemas.microsoft.com/office/drawing/2014/main" val="1489998444"/>
                  </a:ext>
                </a:extLst>
              </a:tr>
            </a:tbl>
          </a:graphicData>
        </a:graphic>
      </p:graphicFrame>
      <p:sp>
        <p:nvSpPr>
          <p:cNvPr id="5" name="Título 1">
            <a:extLst>
              <a:ext uri="{FF2B5EF4-FFF2-40B4-BE49-F238E27FC236}">
                <a16:creationId xmlns:a16="http://schemas.microsoft.com/office/drawing/2014/main" id="{1FDF1DD9-7B76-6B29-A3F8-C8B074C1B5FE}"/>
              </a:ext>
            </a:extLst>
          </p:cNvPr>
          <p:cNvSpPr txBox="1">
            <a:spLocks/>
          </p:cNvSpPr>
          <p:nvPr/>
        </p:nvSpPr>
        <p:spPr>
          <a:xfrm>
            <a:off x="1363579" y="246286"/>
            <a:ext cx="8786924" cy="812078"/>
          </a:xfrm>
          <a:prstGeom prst="rect">
            <a:avLst/>
          </a:prstGeom>
        </p:spPr>
        <p:txBody>
          <a:bodyPr vert="horz" lIns="91440" tIns="45720" rIns="91440" bIns="45720" rtlCol="0" anchor="b">
            <a:normAutofit/>
          </a:bodyPr>
          <a:lstStyle>
            <a:defPPr>
              <a:defRPr lang="es-CO"/>
            </a:defPPr>
            <a:lvl1pPr algn="ctr">
              <a:lnSpc>
                <a:spcPct val="90000"/>
              </a:lnSpc>
              <a:spcBef>
                <a:spcPct val="0"/>
              </a:spcBef>
              <a:buNone/>
              <a:defRPr sz="4400" b="1">
                <a:solidFill>
                  <a:srgbClr val="00A19C"/>
                </a:solidFill>
                <a:latin typeface="Century Gothic"/>
                <a:ea typeface="+mj-ea"/>
                <a:cs typeface="+mj-cs"/>
              </a:defRPr>
            </a:lvl1pPr>
          </a:lstStyle>
          <a:p>
            <a:r>
              <a:rPr lang="es-CO"/>
              <a:t>Responsabilidad - PROMS</a:t>
            </a:r>
            <a:endParaRPr lang="es-ES"/>
          </a:p>
        </p:txBody>
      </p:sp>
      <p:sp>
        <p:nvSpPr>
          <p:cNvPr id="3" name="CuadroTexto 4">
            <a:extLst>
              <a:ext uri="{FF2B5EF4-FFF2-40B4-BE49-F238E27FC236}">
                <a16:creationId xmlns:a16="http://schemas.microsoft.com/office/drawing/2014/main" id="{D425A4B6-0994-2B0A-0A83-EFFBACA29A27}"/>
              </a:ext>
            </a:extLst>
          </p:cNvPr>
          <p:cNvSpPr txBox="1"/>
          <p:nvPr/>
        </p:nvSpPr>
        <p:spPr>
          <a:xfrm>
            <a:off x="7674250" y="6479449"/>
            <a:ext cx="3638394" cy="276999"/>
          </a:xfrm>
          <a:prstGeom prst="rect">
            <a:avLst/>
          </a:prstGeom>
          <a:noFill/>
        </p:spPr>
        <p:txBody>
          <a:bodyPr wrap="square">
            <a:spAutoFit/>
          </a:bodyPr>
          <a:ls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CO" sz="1200" b="1" i="1" noProof="0">
                <a:solidFill>
                  <a:schemeClr val="tx2"/>
                </a:solidFill>
              </a:rPr>
              <a:t>Fuente: </a:t>
            </a:r>
            <a:r>
              <a:rPr lang="es-CO" sz="1200" i="1" noProof="0">
                <a:solidFill>
                  <a:schemeClr val="tx2"/>
                </a:solidFill>
              </a:rPr>
              <a:t>SAU INOOS </a:t>
            </a:r>
            <a:r>
              <a:rPr lang="es-CO" sz="1200" i="1">
                <a:solidFill>
                  <a:schemeClr val="tx2"/>
                </a:solidFill>
              </a:rPr>
              <a:t>Agosto </a:t>
            </a:r>
            <a:r>
              <a:rPr lang="es-CO" sz="1200" i="1" noProof="0">
                <a:solidFill>
                  <a:schemeClr val="tx2"/>
                </a:solidFill>
              </a:rPr>
              <a:t>2026</a:t>
            </a:r>
          </a:p>
        </p:txBody>
      </p:sp>
    </p:spTree>
    <p:extLst>
      <p:ext uri="{BB962C8B-B14F-4D97-AF65-F5344CB8AC3E}">
        <p14:creationId xmlns:p14="http://schemas.microsoft.com/office/powerpoint/2010/main" val="386100963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A53CD-5DBC-9A08-A28F-0DEF48FA031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247AF2A-5392-2CA9-ABF7-B0CAB9CBB066}"/>
              </a:ext>
            </a:extLst>
          </p:cNvPr>
          <p:cNvSpPr txBox="1">
            <a:spLocks/>
          </p:cNvSpPr>
          <p:nvPr/>
        </p:nvSpPr>
        <p:spPr>
          <a:xfrm>
            <a:off x="838200" y="32370"/>
            <a:ext cx="10515600" cy="812078"/>
          </a:xfrm>
          <a:prstGeom prst="rect">
            <a:avLst/>
          </a:prstGeom>
        </p:spPr>
        <p:txBody>
          <a:bodyPr vert="horz" lIns="91440" tIns="45720" rIns="91440" bIns="45720" rtlCol="0" anchor="b">
            <a:normAutofit/>
          </a:bodyPr>
          <a:lstStyle>
            <a:defPPr>
              <a:defRPr lang="es-CO"/>
            </a:defPPr>
            <a:lvl1pPr algn="ctr">
              <a:lnSpc>
                <a:spcPct val="90000"/>
              </a:lnSpc>
              <a:spcBef>
                <a:spcPct val="0"/>
              </a:spcBef>
              <a:buNone/>
              <a:defRPr sz="4400" b="1">
                <a:solidFill>
                  <a:srgbClr val="00A19C"/>
                </a:solidFill>
                <a:latin typeface="Century Gothic"/>
                <a:ea typeface="+mj-ea"/>
                <a:cs typeface="+mj-cs"/>
              </a:defRPr>
            </a:lvl1pPr>
          </a:lstStyle>
          <a:p>
            <a:r>
              <a:rPr lang="es-CO"/>
              <a:t>Humanización</a:t>
            </a:r>
            <a:endParaRPr lang="es-ES"/>
          </a:p>
        </p:txBody>
      </p:sp>
      <p:sp>
        <p:nvSpPr>
          <p:cNvPr id="4" name="Rectángulo 3">
            <a:extLst>
              <a:ext uri="{FF2B5EF4-FFF2-40B4-BE49-F238E27FC236}">
                <a16:creationId xmlns:a16="http://schemas.microsoft.com/office/drawing/2014/main" id="{1C158CCC-A6B1-6079-EFD6-5C3136F952C9}"/>
              </a:ext>
            </a:extLst>
          </p:cNvPr>
          <p:cNvSpPr/>
          <p:nvPr/>
        </p:nvSpPr>
        <p:spPr>
          <a:xfrm>
            <a:off x="255977" y="844448"/>
            <a:ext cx="1806905" cy="1200329"/>
          </a:xfrm>
          <a:prstGeom prst="rect">
            <a:avLst/>
          </a:prstGeom>
          <a:noFill/>
        </p:spPr>
        <p:txBody>
          <a:bodyPr wrap="none" lIns="91440" tIns="45720" rIns="91440" bIns="45720">
            <a:spAutoFit/>
          </a:bodyPr>
          <a:lstStyle/>
          <a:p>
            <a:pPr algn="ctr"/>
            <a:r>
              <a:rPr lang="es-ES" sz="7200" b="1" cap="none" spc="0">
                <a:ln w="0"/>
                <a:solidFill>
                  <a:schemeClr val="tx1"/>
                </a:solidFill>
                <a:effectLst>
                  <a:outerShdw blurRad="38100" dist="19050" dir="2700000" algn="tl" rotWithShape="0">
                    <a:schemeClr val="dk1">
                      <a:alpha val="40000"/>
                    </a:schemeClr>
                  </a:outerShdw>
                </a:effectLst>
              </a:rPr>
              <a:t>A</a:t>
            </a:r>
            <a:r>
              <a:rPr lang="es-ES" sz="2000" b="1" cap="none" spc="0">
                <a:ln w="0"/>
                <a:solidFill>
                  <a:schemeClr val="tx1"/>
                </a:solidFill>
                <a:effectLst>
                  <a:outerShdw blurRad="38100" dist="19050" dir="2700000" algn="tl" rotWithShape="0">
                    <a:schemeClr val="dk1">
                      <a:alpha val="40000"/>
                    </a:schemeClr>
                  </a:outerShdw>
                </a:effectLst>
              </a:rPr>
              <a:t>mabilidad</a:t>
            </a:r>
          </a:p>
        </p:txBody>
      </p:sp>
      <p:sp>
        <p:nvSpPr>
          <p:cNvPr id="7" name="Rectángulo 6">
            <a:extLst>
              <a:ext uri="{FF2B5EF4-FFF2-40B4-BE49-F238E27FC236}">
                <a16:creationId xmlns:a16="http://schemas.microsoft.com/office/drawing/2014/main" id="{37C3F553-3513-85F0-BE39-B00040A68FE3}"/>
              </a:ext>
            </a:extLst>
          </p:cNvPr>
          <p:cNvSpPr/>
          <p:nvPr/>
        </p:nvSpPr>
        <p:spPr>
          <a:xfrm>
            <a:off x="255977" y="2336540"/>
            <a:ext cx="1536767" cy="1200329"/>
          </a:xfrm>
          <a:prstGeom prst="rect">
            <a:avLst/>
          </a:prstGeom>
          <a:noFill/>
        </p:spPr>
        <p:txBody>
          <a:bodyPr wrap="none" lIns="91440" tIns="45720" rIns="91440" bIns="45720">
            <a:spAutoFit/>
          </a:bodyPr>
          <a:lstStyle/>
          <a:p>
            <a:pPr algn="ctr"/>
            <a:r>
              <a:rPr lang="es-ES" sz="7200" b="1" cap="none" spc="0">
                <a:ln w="0"/>
                <a:solidFill>
                  <a:srgbClr val="00A19C"/>
                </a:solidFill>
                <a:effectLst>
                  <a:outerShdw blurRad="38100" dist="19050" dir="2700000" algn="tl" rotWithShape="0">
                    <a:schemeClr val="dk1">
                      <a:alpha val="40000"/>
                    </a:schemeClr>
                  </a:outerShdw>
                </a:effectLst>
              </a:rPr>
              <a:t>M</a:t>
            </a:r>
            <a:r>
              <a:rPr lang="es-ES" sz="2000" b="1" cap="none" spc="0">
                <a:ln w="0"/>
                <a:solidFill>
                  <a:srgbClr val="00A19C"/>
                </a:solidFill>
                <a:effectLst>
                  <a:outerShdw blurRad="38100" dist="19050" dir="2700000" algn="tl" rotWithShape="0">
                    <a:schemeClr val="dk1">
                      <a:alpha val="40000"/>
                    </a:schemeClr>
                  </a:outerShdw>
                </a:effectLst>
              </a:rPr>
              <a:t>ejora</a:t>
            </a:r>
          </a:p>
        </p:txBody>
      </p:sp>
      <p:sp>
        <p:nvSpPr>
          <p:cNvPr id="8" name="Rectángulo 7">
            <a:extLst>
              <a:ext uri="{FF2B5EF4-FFF2-40B4-BE49-F238E27FC236}">
                <a16:creationId xmlns:a16="http://schemas.microsoft.com/office/drawing/2014/main" id="{6188AF90-4790-733E-EC17-60A41AA859DC}"/>
              </a:ext>
            </a:extLst>
          </p:cNvPr>
          <p:cNvSpPr/>
          <p:nvPr/>
        </p:nvSpPr>
        <p:spPr>
          <a:xfrm>
            <a:off x="255977" y="3641480"/>
            <a:ext cx="2005677" cy="1200329"/>
          </a:xfrm>
          <a:prstGeom prst="rect">
            <a:avLst/>
          </a:prstGeom>
          <a:noFill/>
        </p:spPr>
        <p:txBody>
          <a:bodyPr wrap="none" lIns="91440" tIns="45720" rIns="91440" bIns="45720">
            <a:spAutoFit/>
          </a:bodyPr>
          <a:lstStyle/>
          <a:p>
            <a:pPr algn="ctr"/>
            <a:r>
              <a:rPr lang="es-ES" sz="7200" b="1">
                <a:ln w="0"/>
                <a:solidFill>
                  <a:schemeClr val="tx1">
                    <a:lumMod val="60000"/>
                    <a:lumOff val="40000"/>
                  </a:schemeClr>
                </a:solidFill>
                <a:effectLst>
                  <a:outerShdw blurRad="38100" dist="19050" dir="2700000" algn="tl" rotWithShape="0">
                    <a:schemeClr val="dk1">
                      <a:alpha val="40000"/>
                    </a:schemeClr>
                  </a:outerShdw>
                </a:effectLst>
              </a:rPr>
              <a:t>O</a:t>
            </a:r>
            <a:r>
              <a:rPr lang="es-ES" sz="2000" b="1">
                <a:ln w="0"/>
                <a:solidFill>
                  <a:schemeClr val="tx1">
                    <a:lumMod val="60000"/>
                    <a:lumOff val="40000"/>
                  </a:schemeClr>
                </a:solidFill>
                <a:effectLst>
                  <a:outerShdw blurRad="38100" dist="19050" dir="2700000" algn="tl" rotWithShape="0">
                    <a:schemeClr val="dk1">
                      <a:alpha val="40000"/>
                    </a:schemeClr>
                  </a:outerShdw>
                </a:effectLst>
              </a:rPr>
              <a:t>portunidad</a:t>
            </a:r>
            <a:endParaRPr lang="es-ES" sz="2000" b="1" cap="none" spc="0">
              <a:ln w="0"/>
              <a:solidFill>
                <a:schemeClr val="tx1">
                  <a:lumMod val="60000"/>
                  <a:lumOff val="40000"/>
                </a:schemeClr>
              </a:solidFill>
              <a:effectLst>
                <a:outerShdw blurRad="38100" dist="19050" dir="2700000" algn="tl" rotWithShape="0">
                  <a:schemeClr val="dk1">
                    <a:alpha val="40000"/>
                  </a:schemeClr>
                </a:outerShdw>
              </a:effectLst>
            </a:endParaRPr>
          </a:p>
        </p:txBody>
      </p:sp>
      <p:sp>
        <p:nvSpPr>
          <p:cNvPr id="9" name="Rectángulo 8">
            <a:extLst>
              <a:ext uri="{FF2B5EF4-FFF2-40B4-BE49-F238E27FC236}">
                <a16:creationId xmlns:a16="http://schemas.microsoft.com/office/drawing/2014/main" id="{1CC8EAF5-926C-4CCD-38F2-AF70674ED9DF}"/>
              </a:ext>
            </a:extLst>
          </p:cNvPr>
          <p:cNvSpPr/>
          <p:nvPr/>
        </p:nvSpPr>
        <p:spPr>
          <a:xfrm>
            <a:off x="255977" y="5000179"/>
            <a:ext cx="1909497" cy="1200329"/>
          </a:xfrm>
          <a:prstGeom prst="rect">
            <a:avLst/>
          </a:prstGeom>
          <a:noFill/>
        </p:spPr>
        <p:txBody>
          <a:bodyPr wrap="none" lIns="91440" tIns="45720" rIns="91440" bIns="45720">
            <a:spAutoFit/>
          </a:bodyPr>
          <a:lstStyle/>
          <a:p>
            <a:pPr algn="ctr"/>
            <a:r>
              <a:rPr lang="es-ES" sz="7200" b="1" cap="none" spc="0">
                <a:ln w="0"/>
                <a:solidFill>
                  <a:srgbClr val="FFC000"/>
                </a:solidFill>
                <a:effectLst>
                  <a:outerShdw blurRad="38100" dist="19050" dir="2700000" algn="tl" rotWithShape="0">
                    <a:schemeClr val="dk1">
                      <a:alpha val="40000"/>
                    </a:schemeClr>
                  </a:outerShdw>
                </a:effectLst>
              </a:rPr>
              <a:t>R</a:t>
            </a:r>
            <a:r>
              <a:rPr lang="es-ES" sz="2000" b="1" cap="none" spc="0">
                <a:ln w="0"/>
                <a:solidFill>
                  <a:srgbClr val="FFC000"/>
                </a:solidFill>
                <a:effectLst>
                  <a:outerShdw blurRad="38100" dist="19050" dir="2700000" algn="tl" rotWithShape="0">
                    <a:schemeClr val="dk1">
                      <a:alpha val="40000"/>
                    </a:schemeClr>
                  </a:outerShdw>
                </a:effectLst>
              </a:rPr>
              <a:t>esponsable</a:t>
            </a:r>
          </a:p>
        </p:txBody>
      </p:sp>
      <p:graphicFrame>
        <p:nvGraphicFramePr>
          <p:cNvPr id="38" name="Tabla 37">
            <a:extLst>
              <a:ext uri="{FF2B5EF4-FFF2-40B4-BE49-F238E27FC236}">
                <a16:creationId xmlns:a16="http://schemas.microsoft.com/office/drawing/2014/main" id="{89C659E9-EDF5-EF6C-6A3E-252CE004D7C9}"/>
              </a:ext>
            </a:extLst>
          </p:cNvPr>
          <p:cNvGraphicFramePr>
            <a:graphicFrameLocks noGrp="1"/>
          </p:cNvGraphicFramePr>
          <p:nvPr/>
        </p:nvGraphicFramePr>
        <p:xfrm>
          <a:off x="2198154" y="1090859"/>
          <a:ext cx="9052003" cy="1112520"/>
        </p:xfrm>
        <a:graphic>
          <a:graphicData uri="http://schemas.openxmlformats.org/drawingml/2006/table">
            <a:tbl>
              <a:tblPr firstRow="1" bandRow="1">
                <a:tableStyleId>{5C22544A-7EE6-4342-B048-85BDC9FD1C3A}</a:tableStyleId>
              </a:tblPr>
              <a:tblGrid>
                <a:gridCol w="1011094">
                  <a:extLst>
                    <a:ext uri="{9D8B030D-6E8A-4147-A177-3AD203B41FA5}">
                      <a16:colId xmlns:a16="http://schemas.microsoft.com/office/drawing/2014/main" val="1113414371"/>
                    </a:ext>
                  </a:extLst>
                </a:gridCol>
                <a:gridCol w="650649">
                  <a:extLst>
                    <a:ext uri="{9D8B030D-6E8A-4147-A177-3AD203B41FA5}">
                      <a16:colId xmlns:a16="http://schemas.microsoft.com/office/drawing/2014/main" val="2880615388"/>
                    </a:ext>
                  </a:extLst>
                </a:gridCol>
                <a:gridCol w="524132">
                  <a:extLst>
                    <a:ext uri="{9D8B030D-6E8A-4147-A177-3AD203B41FA5}">
                      <a16:colId xmlns:a16="http://schemas.microsoft.com/office/drawing/2014/main" val="21564700"/>
                    </a:ext>
                  </a:extLst>
                </a:gridCol>
                <a:gridCol w="649690">
                  <a:extLst>
                    <a:ext uri="{9D8B030D-6E8A-4147-A177-3AD203B41FA5}">
                      <a16:colId xmlns:a16="http://schemas.microsoft.com/office/drawing/2014/main" val="1049753371"/>
                    </a:ext>
                  </a:extLst>
                </a:gridCol>
                <a:gridCol w="551494">
                  <a:extLst>
                    <a:ext uri="{9D8B030D-6E8A-4147-A177-3AD203B41FA5}">
                      <a16:colId xmlns:a16="http://schemas.microsoft.com/office/drawing/2014/main" val="2726105456"/>
                    </a:ext>
                  </a:extLst>
                </a:gridCol>
                <a:gridCol w="708118">
                  <a:extLst>
                    <a:ext uri="{9D8B030D-6E8A-4147-A177-3AD203B41FA5}">
                      <a16:colId xmlns:a16="http://schemas.microsoft.com/office/drawing/2014/main" val="486969447"/>
                    </a:ext>
                  </a:extLst>
                </a:gridCol>
                <a:gridCol w="708118">
                  <a:extLst>
                    <a:ext uri="{9D8B030D-6E8A-4147-A177-3AD203B41FA5}">
                      <a16:colId xmlns:a16="http://schemas.microsoft.com/office/drawing/2014/main" val="2336036264"/>
                    </a:ext>
                  </a:extLst>
                </a:gridCol>
                <a:gridCol w="708118">
                  <a:extLst>
                    <a:ext uri="{9D8B030D-6E8A-4147-A177-3AD203B41FA5}">
                      <a16:colId xmlns:a16="http://schemas.microsoft.com/office/drawing/2014/main" val="1723377452"/>
                    </a:ext>
                  </a:extLst>
                </a:gridCol>
                <a:gridCol w="708118">
                  <a:extLst>
                    <a:ext uri="{9D8B030D-6E8A-4147-A177-3AD203B41FA5}">
                      <a16:colId xmlns:a16="http://schemas.microsoft.com/office/drawing/2014/main" val="959250665"/>
                    </a:ext>
                  </a:extLst>
                </a:gridCol>
                <a:gridCol w="708118">
                  <a:extLst>
                    <a:ext uri="{9D8B030D-6E8A-4147-A177-3AD203B41FA5}">
                      <a16:colId xmlns:a16="http://schemas.microsoft.com/office/drawing/2014/main" val="1905146251"/>
                    </a:ext>
                  </a:extLst>
                </a:gridCol>
                <a:gridCol w="708118">
                  <a:extLst>
                    <a:ext uri="{9D8B030D-6E8A-4147-A177-3AD203B41FA5}">
                      <a16:colId xmlns:a16="http://schemas.microsoft.com/office/drawing/2014/main" val="3640917941"/>
                    </a:ext>
                  </a:extLst>
                </a:gridCol>
                <a:gridCol w="708118">
                  <a:extLst>
                    <a:ext uri="{9D8B030D-6E8A-4147-A177-3AD203B41FA5}">
                      <a16:colId xmlns:a16="http://schemas.microsoft.com/office/drawing/2014/main" val="1578480510"/>
                    </a:ext>
                  </a:extLst>
                </a:gridCol>
                <a:gridCol w="708118">
                  <a:extLst>
                    <a:ext uri="{9D8B030D-6E8A-4147-A177-3AD203B41FA5}">
                      <a16:colId xmlns:a16="http://schemas.microsoft.com/office/drawing/2014/main" val="2453225587"/>
                    </a:ext>
                  </a:extLst>
                </a:gridCol>
              </a:tblGrid>
              <a:tr h="370840">
                <a:tc>
                  <a:txBody>
                    <a:bodyPr/>
                    <a:lstStyle/>
                    <a:p>
                      <a:pPr algn="ctr"/>
                      <a:r>
                        <a:rPr lang="es-CO" sz="1200"/>
                        <a:t>Indicador</a:t>
                      </a:r>
                    </a:p>
                  </a:txBody>
                  <a:tcPr anchor="ctr"/>
                </a:tc>
                <a:tc>
                  <a:txBody>
                    <a:bodyPr/>
                    <a:lstStyle/>
                    <a:p>
                      <a:pPr algn="ctr"/>
                      <a:r>
                        <a:rPr lang="es-CO" sz="1200"/>
                        <a:t>SEP</a:t>
                      </a:r>
                    </a:p>
                  </a:txBody>
                  <a:tcPr anchor="ctr"/>
                </a:tc>
                <a:tc>
                  <a:txBody>
                    <a:bodyPr/>
                    <a:lstStyle/>
                    <a:p>
                      <a:pPr algn="ctr"/>
                      <a:r>
                        <a:rPr lang="es-CO" sz="1200"/>
                        <a:t>OCT</a:t>
                      </a:r>
                    </a:p>
                  </a:txBody>
                  <a:tcPr anchor="ctr"/>
                </a:tc>
                <a:tc>
                  <a:txBody>
                    <a:bodyPr/>
                    <a:lstStyle/>
                    <a:p>
                      <a:pPr algn="ctr"/>
                      <a:r>
                        <a:rPr lang="es-CO" sz="1200"/>
                        <a:t>NOV</a:t>
                      </a:r>
                    </a:p>
                  </a:txBody>
                  <a:tcPr anchor="ctr"/>
                </a:tc>
                <a:tc>
                  <a:txBody>
                    <a:bodyPr/>
                    <a:lstStyle/>
                    <a:p>
                      <a:pPr algn="ctr"/>
                      <a:r>
                        <a:rPr lang="es-CO" sz="1200"/>
                        <a:t>DIC</a:t>
                      </a:r>
                    </a:p>
                  </a:txBody>
                  <a:tcPr anchor="ctr"/>
                </a:tc>
                <a:tc>
                  <a:txBody>
                    <a:bodyPr/>
                    <a:lstStyle/>
                    <a:p>
                      <a:pPr algn="ctr"/>
                      <a:r>
                        <a:rPr lang="es-CO" sz="1200"/>
                        <a:t>ENE</a:t>
                      </a:r>
                    </a:p>
                  </a:txBody>
                  <a:tcPr anchor="ctr"/>
                </a:tc>
                <a:tc>
                  <a:txBody>
                    <a:bodyPr/>
                    <a:lstStyle/>
                    <a:p>
                      <a:pPr algn="ctr"/>
                      <a:r>
                        <a:rPr lang="es-MX" sz="1200"/>
                        <a:t>FEB</a:t>
                      </a:r>
                      <a:endParaRPr lang="es-CO" sz="1200"/>
                    </a:p>
                  </a:txBody>
                  <a:tcPr anchor="ctr"/>
                </a:tc>
                <a:tc>
                  <a:txBody>
                    <a:bodyPr/>
                    <a:lstStyle/>
                    <a:p>
                      <a:pPr algn="ctr"/>
                      <a:r>
                        <a:rPr lang="es-MX" sz="1200"/>
                        <a:t>MAR</a:t>
                      </a:r>
                      <a:endParaRPr lang="es-CO" sz="1200"/>
                    </a:p>
                  </a:txBody>
                  <a:tcPr anchor="ctr"/>
                </a:tc>
                <a:tc>
                  <a:txBody>
                    <a:bodyPr/>
                    <a:lstStyle/>
                    <a:p>
                      <a:pPr algn="ctr"/>
                      <a:r>
                        <a:rPr lang="es-MX" sz="1200"/>
                        <a:t>ABR</a:t>
                      </a:r>
                      <a:endParaRPr lang="es-CO" sz="1200"/>
                    </a:p>
                  </a:txBody>
                  <a:tcPr anchor="ctr"/>
                </a:tc>
                <a:tc>
                  <a:txBody>
                    <a:bodyPr/>
                    <a:lstStyle/>
                    <a:p>
                      <a:pPr algn="ctr"/>
                      <a:r>
                        <a:rPr lang="es-MX" sz="1200"/>
                        <a:t>MAY</a:t>
                      </a:r>
                      <a:endParaRPr lang="es-CO" sz="1200"/>
                    </a:p>
                  </a:txBody>
                  <a:tcPr anchor="ctr"/>
                </a:tc>
                <a:tc>
                  <a:txBody>
                    <a:bodyPr/>
                    <a:lstStyle/>
                    <a:p>
                      <a:pPr lvl="0" algn="ctr">
                        <a:buNone/>
                      </a:pPr>
                      <a:r>
                        <a:rPr lang="es-MX" sz="1200"/>
                        <a:t>JUN</a:t>
                      </a:r>
                    </a:p>
                  </a:txBody>
                  <a:tcPr anchor="ctr"/>
                </a:tc>
                <a:tc>
                  <a:txBody>
                    <a:bodyPr/>
                    <a:lstStyle/>
                    <a:p>
                      <a:pPr lvl="0" algn="ctr">
                        <a:buNone/>
                      </a:pPr>
                      <a:r>
                        <a:rPr lang="es-MX" sz="1200"/>
                        <a:t>JUL</a:t>
                      </a:r>
                    </a:p>
                  </a:txBody>
                  <a:tcPr anchor="ctr"/>
                </a:tc>
                <a:tc>
                  <a:txBody>
                    <a:bodyPr/>
                    <a:lstStyle/>
                    <a:p>
                      <a:pPr lvl="0" algn="ctr">
                        <a:buNone/>
                      </a:pPr>
                      <a:r>
                        <a:rPr lang="es-MX" sz="1200"/>
                        <a:t>AGO</a:t>
                      </a:r>
                    </a:p>
                  </a:txBody>
                  <a:tcPr anchor="ctr"/>
                </a:tc>
                <a:extLst>
                  <a:ext uri="{0D108BD9-81ED-4DB2-BD59-A6C34878D82A}">
                    <a16:rowId xmlns:a16="http://schemas.microsoft.com/office/drawing/2014/main" val="1994992180"/>
                  </a:ext>
                </a:extLst>
              </a:tr>
              <a:tr h="370840">
                <a:tc>
                  <a:txBody>
                    <a:bodyPr/>
                    <a:lstStyle/>
                    <a:p>
                      <a:pPr algn="ctr"/>
                      <a:r>
                        <a:rPr lang="es-CO" sz="1200">
                          <a:solidFill>
                            <a:schemeClr val="tx1">
                              <a:lumMod val="50000"/>
                            </a:schemeClr>
                          </a:solidFill>
                        </a:rPr>
                        <a:t>PREMS</a:t>
                      </a:r>
                    </a:p>
                  </a:txBody>
                  <a:tcPr anchor="ctr"/>
                </a:tc>
                <a:tc>
                  <a:txBody>
                    <a:bodyPr/>
                    <a:lstStyle/>
                    <a:p>
                      <a:pPr algn="ctr"/>
                      <a:r>
                        <a:rPr lang="es-CO" sz="1200">
                          <a:solidFill>
                            <a:schemeClr val="tx1">
                              <a:lumMod val="50000"/>
                            </a:schemeClr>
                          </a:solidFill>
                        </a:rPr>
                        <a:t>99%</a:t>
                      </a:r>
                    </a:p>
                  </a:txBody>
                  <a:tcPr anchor="ctr"/>
                </a:tc>
                <a:tc>
                  <a:txBody>
                    <a:bodyPr/>
                    <a:lstStyle/>
                    <a:p>
                      <a:pPr algn="ctr"/>
                      <a:r>
                        <a:rPr lang="es-CO" sz="1200">
                          <a:solidFill>
                            <a:schemeClr val="tx1">
                              <a:lumMod val="50000"/>
                            </a:schemeClr>
                          </a:solidFill>
                        </a:rPr>
                        <a:t>98%</a:t>
                      </a:r>
                    </a:p>
                  </a:txBody>
                  <a:tcPr anchor="ctr"/>
                </a:tc>
                <a:tc>
                  <a:txBody>
                    <a:bodyPr/>
                    <a:lstStyle/>
                    <a:p>
                      <a:pPr algn="ctr"/>
                      <a:r>
                        <a:rPr lang="es-CO" sz="1200">
                          <a:solidFill>
                            <a:schemeClr val="tx1">
                              <a:lumMod val="50000"/>
                            </a:schemeClr>
                          </a:solidFill>
                        </a:rPr>
                        <a:t>97%</a:t>
                      </a:r>
                    </a:p>
                  </a:txBody>
                  <a:tcPr anchor="ctr"/>
                </a:tc>
                <a:tc>
                  <a:txBody>
                    <a:bodyPr/>
                    <a:lstStyle/>
                    <a:p>
                      <a:pPr algn="ctr"/>
                      <a:r>
                        <a:rPr lang="es-CO" sz="1200">
                          <a:solidFill>
                            <a:schemeClr val="tx1">
                              <a:lumMod val="50000"/>
                            </a:schemeClr>
                          </a:solidFill>
                        </a:rPr>
                        <a:t>99%</a:t>
                      </a:r>
                    </a:p>
                  </a:txBody>
                  <a:tcPr anchor="ctr"/>
                </a:tc>
                <a:tc>
                  <a:txBody>
                    <a:bodyPr/>
                    <a:lstStyle/>
                    <a:p>
                      <a:pPr algn="ctr"/>
                      <a:r>
                        <a:rPr lang="es-CO" sz="1200">
                          <a:solidFill>
                            <a:schemeClr val="tx1">
                              <a:lumMod val="50000"/>
                            </a:schemeClr>
                          </a:solidFill>
                        </a:rPr>
                        <a:t>99%</a:t>
                      </a:r>
                    </a:p>
                  </a:txBody>
                  <a:tcPr anchor="ctr"/>
                </a:tc>
                <a:tc>
                  <a:txBody>
                    <a:bodyPr/>
                    <a:lstStyle/>
                    <a:p>
                      <a:pPr algn="ctr"/>
                      <a:r>
                        <a:rPr lang="es-MX" sz="1200">
                          <a:solidFill>
                            <a:schemeClr val="tx1">
                              <a:lumMod val="50000"/>
                            </a:schemeClr>
                          </a:solidFill>
                        </a:rPr>
                        <a:t>93%</a:t>
                      </a:r>
                      <a:endParaRPr lang="es-CO" sz="1200">
                        <a:solidFill>
                          <a:schemeClr val="tx1">
                            <a:lumMod val="50000"/>
                          </a:schemeClr>
                        </a:solidFill>
                      </a:endParaRPr>
                    </a:p>
                  </a:txBody>
                  <a:tcPr anchor="ctr"/>
                </a:tc>
                <a:tc>
                  <a:txBody>
                    <a:bodyPr/>
                    <a:lstStyle/>
                    <a:p>
                      <a:pPr algn="ctr"/>
                      <a:r>
                        <a:rPr lang="es-MX" sz="1200">
                          <a:solidFill>
                            <a:schemeClr val="tx1">
                              <a:lumMod val="50000"/>
                            </a:schemeClr>
                          </a:solidFill>
                        </a:rPr>
                        <a:t>93%</a:t>
                      </a:r>
                      <a:endParaRPr lang="es-CO" sz="1200">
                        <a:solidFill>
                          <a:schemeClr val="tx1">
                            <a:lumMod val="50000"/>
                          </a:schemeClr>
                        </a:solidFill>
                      </a:endParaRPr>
                    </a:p>
                  </a:txBody>
                  <a:tcPr anchor="ctr"/>
                </a:tc>
                <a:tc>
                  <a:txBody>
                    <a:bodyPr/>
                    <a:lstStyle/>
                    <a:p>
                      <a:pPr algn="ctr"/>
                      <a:r>
                        <a:rPr lang="es-MX" sz="1200">
                          <a:solidFill>
                            <a:schemeClr val="tx1">
                              <a:lumMod val="50000"/>
                            </a:schemeClr>
                          </a:solidFill>
                        </a:rPr>
                        <a:t>96%</a:t>
                      </a:r>
                      <a:endParaRPr lang="es-CO" sz="1200">
                        <a:solidFill>
                          <a:schemeClr val="tx1">
                            <a:lumMod val="50000"/>
                          </a:schemeClr>
                        </a:solidFill>
                      </a:endParaRPr>
                    </a:p>
                  </a:txBody>
                  <a:tcPr anchor="ctr"/>
                </a:tc>
                <a:tc>
                  <a:txBody>
                    <a:bodyPr/>
                    <a:lstStyle/>
                    <a:p>
                      <a:pPr algn="ctr"/>
                      <a:r>
                        <a:rPr lang="es-MX" sz="1200">
                          <a:solidFill>
                            <a:schemeClr val="tx1">
                              <a:lumMod val="50000"/>
                            </a:schemeClr>
                          </a:solidFill>
                        </a:rPr>
                        <a:t>98%</a:t>
                      </a:r>
                      <a:endParaRPr lang="es-CO" sz="1200">
                        <a:solidFill>
                          <a:schemeClr val="tx1">
                            <a:lumMod val="50000"/>
                          </a:schemeClr>
                        </a:solidFill>
                      </a:endParaRPr>
                    </a:p>
                  </a:txBody>
                  <a:tcPr anchor="ctr"/>
                </a:tc>
                <a:tc>
                  <a:txBody>
                    <a:bodyPr/>
                    <a:lstStyle/>
                    <a:p>
                      <a:pPr lvl="0" algn="ctr">
                        <a:buNone/>
                      </a:pPr>
                      <a:r>
                        <a:rPr lang="es-MX" sz="1200">
                          <a:solidFill>
                            <a:schemeClr val="tx1">
                              <a:lumMod val="50000"/>
                            </a:schemeClr>
                          </a:solidFill>
                        </a:rPr>
                        <a:t>98%</a:t>
                      </a:r>
                    </a:p>
                  </a:txBody>
                  <a:tcPr anchor="ctr"/>
                </a:tc>
                <a:tc>
                  <a:txBody>
                    <a:bodyPr/>
                    <a:lstStyle/>
                    <a:p>
                      <a:pPr lvl="0" algn="ctr">
                        <a:buNone/>
                      </a:pPr>
                      <a:r>
                        <a:rPr lang="es-MX" sz="1200">
                          <a:solidFill>
                            <a:schemeClr val="tx1">
                              <a:lumMod val="50000"/>
                            </a:schemeClr>
                          </a:solidFill>
                        </a:rPr>
                        <a:t>98%</a:t>
                      </a:r>
                    </a:p>
                  </a:txBody>
                  <a:tcPr anchor="ctr"/>
                </a:tc>
                <a:tc>
                  <a:txBody>
                    <a:bodyPr/>
                    <a:lstStyle/>
                    <a:p>
                      <a:pPr lvl="0" algn="ctr">
                        <a:buNone/>
                      </a:pPr>
                      <a:r>
                        <a:rPr lang="es-MX" sz="1200">
                          <a:solidFill>
                            <a:schemeClr val="tx1">
                              <a:lumMod val="50000"/>
                            </a:schemeClr>
                          </a:solidFill>
                        </a:rPr>
                        <a:t>100%</a:t>
                      </a:r>
                    </a:p>
                  </a:txBody>
                  <a:tcPr anchor="ctr"/>
                </a:tc>
                <a:extLst>
                  <a:ext uri="{0D108BD9-81ED-4DB2-BD59-A6C34878D82A}">
                    <a16:rowId xmlns:a16="http://schemas.microsoft.com/office/drawing/2014/main" val="2853932976"/>
                  </a:ext>
                </a:extLst>
              </a:tr>
              <a:tr h="370840">
                <a:tc>
                  <a:txBody>
                    <a:bodyPr/>
                    <a:lstStyle/>
                    <a:p>
                      <a:pPr algn="ctr"/>
                      <a:r>
                        <a:rPr lang="es-CO" sz="1200">
                          <a:solidFill>
                            <a:schemeClr val="tx1">
                              <a:lumMod val="50000"/>
                            </a:schemeClr>
                          </a:solidFill>
                        </a:rPr>
                        <a:t>CES</a:t>
                      </a:r>
                    </a:p>
                  </a:txBody>
                  <a:tcPr anchor="ctr">
                    <a:solidFill>
                      <a:schemeClr val="bg1">
                        <a:lumMod val="95000"/>
                      </a:schemeClr>
                    </a:solidFill>
                  </a:tcPr>
                </a:tc>
                <a:tc>
                  <a:txBody>
                    <a:bodyPr/>
                    <a:lstStyle/>
                    <a:p>
                      <a:pPr algn="ctr"/>
                      <a:r>
                        <a:rPr lang="es-CO" sz="1200">
                          <a:solidFill>
                            <a:schemeClr val="tx1">
                              <a:lumMod val="50000"/>
                            </a:schemeClr>
                          </a:solidFill>
                        </a:rPr>
                        <a:t>98%</a:t>
                      </a:r>
                    </a:p>
                  </a:txBody>
                  <a:tcPr anchor="ctr">
                    <a:solidFill>
                      <a:schemeClr val="bg1">
                        <a:lumMod val="95000"/>
                      </a:schemeClr>
                    </a:solidFill>
                  </a:tcPr>
                </a:tc>
                <a:tc>
                  <a:txBody>
                    <a:bodyPr/>
                    <a:lstStyle/>
                    <a:p>
                      <a:pPr algn="ctr"/>
                      <a:r>
                        <a:rPr lang="es-CO" sz="1200">
                          <a:solidFill>
                            <a:schemeClr val="tx1">
                              <a:lumMod val="50000"/>
                            </a:schemeClr>
                          </a:solidFill>
                        </a:rPr>
                        <a:t>96%</a:t>
                      </a:r>
                    </a:p>
                  </a:txBody>
                  <a:tcPr anchor="ctr">
                    <a:solidFill>
                      <a:schemeClr val="bg1">
                        <a:lumMod val="95000"/>
                      </a:schemeClr>
                    </a:solidFill>
                  </a:tcPr>
                </a:tc>
                <a:tc>
                  <a:txBody>
                    <a:bodyPr/>
                    <a:lstStyle/>
                    <a:p>
                      <a:pPr algn="ctr"/>
                      <a:r>
                        <a:rPr lang="es-CO" sz="1200">
                          <a:solidFill>
                            <a:schemeClr val="tx1">
                              <a:lumMod val="50000"/>
                            </a:schemeClr>
                          </a:solidFill>
                        </a:rPr>
                        <a:t>97%</a:t>
                      </a:r>
                    </a:p>
                  </a:txBody>
                  <a:tcPr anchor="ctr">
                    <a:solidFill>
                      <a:schemeClr val="bg1">
                        <a:lumMod val="95000"/>
                      </a:schemeClr>
                    </a:solidFill>
                  </a:tcPr>
                </a:tc>
                <a:tc>
                  <a:txBody>
                    <a:bodyPr/>
                    <a:lstStyle/>
                    <a:p>
                      <a:pPr algn="ctr"/>
                      <a:r>
                        <a:rPr lang="es-CO" sz="1200">
                          <a:solidFill>
                            <a:schemeClr val="tx1">
                              <a:lumMod val="50000"/>
                            </a:schemeClr>
                          </a:solidFill>
                        </a:rPr>
                        <a:t>98%</a:t>
                      </a:r>
                    </a:p>
                  </a:txBody>
                  <a:tcPr anchor="ctr">
                    <a:solidFill>
                      <a:schemeClr val="bg1">
                        <a:lumMod val="95000"/>
                      </a:schemeClr>
                    </a:solidFill>
                  </a:tcPr>
                </a:tc>
                <a:tc>
                  <a:txBody>
                    <a:bodyPr/>
                    <a:lstStyle/>
                    <a:p>
                      <a:pPr algn="ctr"/>
                      <a:r>
                        <a:rPr lang="es-CO" sz="1200">
                          <a:solidFill>
                            <a:schemeClr val="tx1">
                              <a:lumMod val="50000"/>
                            </a:schemeClr>
                          </a:solidFill>
                        </a:rPr>
                        <a:t>97%</a:t>
                      </a:r>
                    </a:p>
                  </a:txBody>
                  <a:tcPr anchor="ctr">
                    <a:solidFill>
                      <a:schemeClr val="bg1">
                        <a:lumMod val="95000"/>
                      </a:schemeClr>
                    </a:solidFill>
                  </a:tcPr>
                </a:tc>
                <a:tc>
                  <a:txBody>
                    <a:bodyPr/>
                    <a:lstStyle/>
                    <a:p>
                      <a:pPr algn="ctr"/>
                      <a:r>
                        <a:rPr lang="es-MX" sz="1200">
                          <a:solidFill>
                            <a:schemeClr val="tx1">
                              <a:lumMod val="50000"/>
                            </a:schemeClr>
                          </a:solidFill>
                        </a:rPr>
                        <a:t>92%</a:t>
                      </a:r>
                      <a:endParaRPr lang="es-CO" sz="1200">
                        <a:solidFill>
                          <a:schemeClr val="tx1">
                            <a:lumMod val="50000"/>
                          </a:schemeClr>
                        </a:solidFill>
                      </a:endParaRPr>
                    </a:p>
                  </a:txBody>
                  <a:tcPr anchor="ctr">
                    <a:solidFill>
                      <a:schemeClr val="bg1">
                        <a:lumMod val="95000"/>
                      </a:schemeClr>
                    </a:solidFill>
                  </a:tcPr>
                </a:tc>
                <a:tc>
                  <a:txBody>
                    <a:bodyPr/>
                    <a:lstStyle/>
                    <a:p>
                      <a:pPr algn="ctr"/>
                      <a:r>
                        <a:rPr lang="es-MX" sz="1200">
                          <a:solidFill>
                            <a:schemeClr val="tx1">
                              <a:lumMod val="50000"/>
                            </a:schemeClr>
                          </a:solidFill>
                        </a:rPr>
                        <a:t>92%</a:t>
                      </a:r>
                      <a:endParaRPr lang="es-CO" sz="1200">
                        <a:solidFill>
                          <a:schemeClr val="tx1">
                            <a:lumMod val="50000"/>
                          </a:schemeClr>
                        </a:solidFill>
                      </a:endParaRPr>
                    </a:p>
                  </a:txBody>
                  <a:tcPr anchor="ctr">
                    <a:solidFill>
                      <a:schemeClr val="bg1">
                        <a:lumMod val="95000"/>
                      </a:schemeClr>
                    </a:solidFill>
                  </a:tcPr>
                </a:tc>
                <a:tc>
                  <a:txBody>
                    <a:bodyPr/>
                    <a:lstStyle/>
                    <a:p>
                      <a:pPr algn="ctr"/>
                      <a:r>
                        <a:rPr lang="es-MX" sz="1200">
                          <a:solidFill>
                            <a:schemeClr val="tx1">
                              <a:lumMod val="50000"/>
                            </a:schemeClr>
                          </a:solidFill>
                        </a:rPr>
                        <a:t>93%</a:t>
                      </a:r>
                      <a:endParaRPr lang="es-CO" sz="1200">
                        <a:solidFill>
                          <a:schemeClr val="tx1">
                            <a:lumMod val="50000"/>
                          </a:schemeClr>
                        </a:solidFill>
                      </a:endParaRPr>
                    </a:p>
                  </a:txBody>
                  <a:tcPr anchor="ctr">
                    <a:solidFill>
                      <a:schemeClr val="bg1">
                        <a:lumMod val="95000"/>
                      </a:schemeClr>
                    </a:solidFill>
                  </a:tcPr>
                </a:tc>
                <a:tc>
                  <a:txBody>
                    <a:bodyPr/>
                    <a:lstStyle/>
                    <a:p>
                      <a:pPr algn="ctr"/>
                      <a:r>
                        <a:rPr lang="es-MX" sz="1200">
                          <a:solidFill>
                            <a:schemeClr val="tx1">
                              <a:lumMod val="50000"/>
                            </a:schemeClr>
                          </a:solidFill>
                        </a:rPr>
                        <a:t>97%</a:t>
                      </a:r>
                      <a:endParaRPr lang="es-CO" sz="1200">
                        <a:solidFill>
                          <a:schemeClr val="tx1">
                            <a:lumMod val="50000"/>
                          </a:schemeClr>
                        </a:solidFill>
                      </a:endParaRPr>
                    </a:p>
                  </a:txBody>
                  <a:tcPr anchor="ctr">
                    <a:solidFill>
                      <a:schemeClr val="bg1">
                        <a:lumMod val="95000"/>
                      </a:schemeClr>
                    </a:solidFill>
                  </a:tcPr>
                </a:tc>
                <a:tc>
                  <a:txBody>
                    <a:bodyPr/>
                    <a:lstStyle/>
                    <a:p>
                      <a:pPr lvl="0" algn="ctr">
                        <a:buNone/>
                      </a:pPr>
                      <a:r>
                        <a:rPr lang="es-MX" sz="1200">
                          <a:solidFill>
                            <a:schemeClr val="tx1">
                              <a:lumMod val="50000"/>
                            </a:schemeClr>
                          </a:solidFill>
                        </a:rPr>
                        <a:t>98,6%</a:t>
                      </a:r>
                    </a:p>
                  </a:txBody>
                  <a:tcPr anchor="ctr">
                    <a:solidFill>
                      <a:schemeClr val="bg1">
                        <a:lumMod val="95000"/>
                      </a:schemeClr>
                    </a:solidFill>
                  </a:tcPr>
                </a:tc>
                <a:tc>
                  <a:txBody>
                    <a:bodyPr/>
                    <a:lstStyle/>
                    <a:p>
                      <a:pPr lvl="0" algn="ctr">
                        <a:buNone/>
                      </a:pPr>
                      <a:r>
                        <a:rPr lang="es-MX" sz="1200">
                          <a:solidFill>
                            <a:schemeClr val="tx1">
                              <a:lumMod val="50000"/>
                            </a:schemeClr>
                          </a:solidFill>
                        </a:rPr>
                        <a:t>99,2%</a:t>
                      </a:r>
                    </a:p>
                  </a:txBody>
                  <a:tcPr anchor="ctr">
                    <a:solidFill>
                      <a:schemeClr val="bg1">
                        <a:lumMod val="95000"/>
                      </a:schemeClr>
                    </a:solidFill>
                  </a:tcPr>
                </a:tc>
                <a:tc>
                  <a:txBody>
                    <a:bodyPr/>
                    <a:lstStyle/>
                    <a:p>
                      <a:pPr lvl="0" algn="ctr">
                        <a:buNone/>
                      </a:pPr>
                      <a:r>
                        <a:rPr lang="es-MX" sz="1200">
                          <a:solidFill>
                            <a:schemeClr val="tx1">
                              <a:lumMod val="50000"/>
                            </a:schemeClr>
                          </a:solidFill>
                        </a:rPr>
                        <a:t>100%</a:t>
                      </a:r>
                    </a:p>
                  </a:txBody>
                  <a:tcPr anchor="ctr">
                    <a:solidFill>
                      <a:schemeClr val="bg1">
                        <a:lumMod val="95000"/>
                      </a:schemeClr>
                    </a:solidFill>
                  </a:tcPr>
                </a:tc>
                <a:extLst>
                  <a:ext uri="{0D108BD9-81ED-4DB2-BD59-A6C34878D82A}">
                    <a16:rowId xmlns:a16="http://schemas.microsoft.com/office/drawing/2014/main" val="3462431911"/>
                  </a:ext>
                </a:extLst>
              </a:tr>
            </a:tbl>
          </a:graphicData>
        </a:graphic>
      </p:graphicFrame>
      <p:graphicFrame>
        <p:nvGraphicFramePr>
          <p:cNvPr id="40" name="Tabla 39">
            <a:extLst>
              <a:ext uri="{FF2B5EF4-FFF2-40B4-BE49-F238E27FC236}">
                <a16:creationId xmlns:a16="http://schemas.microsoft.com/office/drawing/2014/main" id="{1AD249AD-0C94-C594-88E9-F16CF43D3086}"/>
              </a:ext>
            </a:extLst>
          </p:cNvPr>
          <p:cNvGraphicFramePr>
            <a:graphicFrameLocks noGrp="1"/>
          </p:cNvGraphicFramePr>
          <p:nvPr/>
        </p:nvGraphicFramePr>
        <p:xfrm>
          <a:off x="2198148" y="2469090"/>
          <a:ext cx="9044030" cy="1112520"/>
        </p:xfrm>
        <a:graphic>
          <a:graphicData uri="http://schemas.openxmlformats.org/drawingml/2006/table">
            <a:tbl>
              <a:tblPr firstRow="1" bandRow="1">
                <a:tableStyleId>{5C22544A-7EE6-4342-B048-85BDC9FD1C3A}</a:tableStyleId>
              </a:tblPr>
              <a:tblGrid>
                <a:gridCol w="1377703">
                  <a:extLst>
                    <a:ext uri="{9D8B030D-6E8A-4147-A177-3AD203B41FA5}">
                      <a16:colId xmlns:a16="http://schemas.microsoft.com/office/drawing/2014/main" val="1113414371"/>
                    </a:ext>
                  </a:extLst>
                </a:gridCol>
                <a:gridCol w="520081">
                  <a:extLst>
                    <a:ext uri="{9D8B030D-6E8A-4147-A177-3AD203B41FA5}">
                      <a16:colId xmlns:a16="http://schemas.microsoft.com/office/drawing/2014/main" val="2880615388"/>
                    </a:ext>
                  </a:extLst>
                </a:gridCol>
                <a:gridCol w="607146">
                  <a:extLst>
                    <a:ext uri="{9D8B030D-6E8A-4147-A177-3AD203B41FA5}">
                      <a16:colId xmlns:a16="http://schemas.microsoft.com/office/drawing/2014/main" val="3761259103"/>
                    </a:ext>
                  </a:extLst>
                </a:gridCol>
                <a:gridCol w="653910">
                  <a:extLst>
                    <a:ext uri="{9D8B030D-6E8A-4147-A177-3AD203B41FA5}">
                      <a16:colId xmlns:a16="http://schemas.microsoft.com/office/drawing/2014/main" val="2712570626"/>
                    </a:ext>
                  </a:extLst>
                </a:gridCol>
                <a:gridCol w="653910">
                  <a:extLst>
                    <a:ext uri="{9D8B030D-6E8A-4147-A177-3AD203B41FA5}">
                      <a16:colId xmlns:a16="http://schemas.microsoft.com/office/drawing/2014/main" val="3679765591"/>
                    </a:ext>
                  </a:extLst>
                </a:gridCol>
                <a:gridCol w="653910">
                  <a:extLst>
                    <a:ext uri="{9D8B030D-6E8A-4147-A177-3AD203B41FA5}">
                      <a16:colId xmlns:a16="http://schemas.microsoft.com/office/drawing/2014/main" val="533547900"/>
                    </a:ext>
                  </a:extLst>
                </a:gridCol>
                <a:gridCol w="653910">
                  <a:extLst>
                    <a:ext uri="{9D8B030D-6E8A-4147-A177-3AD203B41FA5}">
                      <a16:colId xmlns:a16="http://schemas.microsoft.com/office/drawing/2014/main" val="1901218819"/>
                    </a:ext>
                  </a:extLst>
                </a:gridCol>
                <a:gridCol w="653910">
                  <a:extLst>
                    <a:ext uri="{9D8B030D-6E8A-4147-A177-3AD203B41FA5}">
                      <a16:colId xmlns:a16="http://schemas.microsoft.com/office/drawing/2014/main" val="2016994675"/>
                    </a:ext>
                  </a:extLst>
                </a:gridCol>
                <a:gridCol w="653910">
                  <a:extLst>
                    <a:ext uri="{9D8B030D-6E8A-4147-A177-3AD203B41FA5}">
                      <a16:colId xmlns:a16="http://schemas.microsoft.com/office/drawing/2014/main" val="245494399"/>
                    </a:ext>
                  </a:extLst>
                </a:gridCol>
                <a:gridCol w="653910">
                  <a:extLst>
                    <a:ext uri="{9D8B030D-6E8A-4147-A177-3AD203B41FA5}">
                      <a16:colId xmlns:a16="http://schemas.microsoft.com/office/drawing/2014/main" val="2397537389"/>
                    </a:ext>
                  </a:extLst>
                </a:gridCol>
                <a:gridCol w="653910">
                  <a:extLst>
                    <a:ext uri="{9D8B030D-6E8A-4147-A177-3AD203B41FA5}">
                      <a16:colId xmlns:a16="http://schemas.microsoft.com/office/drawing/2014/main" val="2655213337"/>
                    </a:ext>
                  </a:extLst>
                </a:gridCol>
                <a:gridCol w="653910">
                  <a:extLst>
                    <a:ext uri="{9D8B030D-6E8A-4147-A177-3AD203B41FA5}">
                      <a16:colId xmlns:a16="http://schemas.microsoft.com/office/drawing/2014/main" val="1506190205"/>
                    </a:ext>
                  </a:extLst>
                </a:gridCol>
                <a:gridCol w="653910">
                  <a:extLst>
                    <a:ext uri="{9D8B030D-6E8A-4147-A177-3AD203B41FA5}">
                      <a16:colId xmlns:a16="http://schemas.microsoft.com/office/drawing/2014/main" val="566608974"/>
                    </a:ext>
                  </a:extLst>
                </a:gridCol>
              </a:tblGrid>
              <a:tr h="370840">
                <a:tc>
                  <a:txBody>
                    <a:bodyPr/>
                    <a:lstStyle/>
                    <a:p>
                      <a:pPr algn="ctr"/>
                      <a:r>
                        <a:rPr lang="es-CO" sz="1200"/>
                        <a:t>Indicador</a:t>
                      </a:r>
                    </a:p>
                  </a:txBody>
                  <a:tcPr anchor="ctr">
                    <a:solidFill>
                      <a:srgbClr val="00A19C"/>
                    </a:solidFill>
                  </a:tcPr>
                </a:tc>
                <a:tc>
                  <a:txBody>
                    <a:bodyPr/>
                    <a:lstStyle/>
                    <a:p>
                      <a:pPr algn="ctr"/>
                      <a:r>
                        <a:rPr lang="es-CO" sz="1200"/>
                        <a:t>SEP</a:t>
                      </a:r>
                    </a:p>
                  </a:txBody>
                  <a:tcPr anchor="ctr">
                    <a:solidFill>
                      <a:srgbClr val="00A19C"/>
                    </a:solidFill>
                  </a:tcPr>
                </a:tc>
                <a:tc>
                  <a:txBody>
                    <a:bodyPr/>
                    <a:lstStyle/>
                    <a:p>
                      <a:pPr algn="ctr"/>
                      <a:r>
                        <a:rPr lang="es-CO" sz="1200"/>
                        <a:t>OCT</a:t>
                      </a:r>
                    </a:p>
                  </a:txBody>
                  <a:tcPr anchor="ctr">
                    <a:solidFill>
                      <a:srgbClr val="00A19C"/>
                    </a:solidFill>
                  </a:tcPr>
                </a:tc>
                <a:tc>
                  <a:txBody>
                    <a:bodyPr/>
                    <a:lstStyle/>
                    <a:p>
                      <a:pPr algn="ctr"/>
                      <a:r>
                        <a:rPr lang="es-CO" sz="1200"/>
                        <a:t>NOV</a:t>
                      </a:r>
                    </a:p>
                  </a:txBody>
                  <a:tcPr anchor="ctr">
                    <a:solidFill>
                      <a:srgbClr val="00A19C"/>
                    </a:solidFill>
                  </a:tcPr>
                </a:tc>
                <a:tc>
                  <a:txBody>
                    <a:bodyPr/>
                    <a:lstStyle/>
                    <a:p>
                      <a:pPr algn="ctr"/>
                      <a:r>
                        <a:rPr lang="es-CO" sz="1200"/>
                        <a:t>DIC</a:t>
                      </a:r>
                    </a:p>
                  </a:txBody>
                  <a:tcPr anchor="ctr">
                    <a:solidFill>
                      <a:srgbClr val="00A19C"/>
                    </a:solidFill>
                  </a:tcPr>
                </a:tc>
                <a:tc>
                  <a:txBody>
                    <a:bodyPr/>
                    <a:lstStyle/>
                    <a:p>
                      <a:pPr algn="ctr"/>
                      <a:r>
                        <a:rPr lang="es-CO" sz="1200"/>
                        <a:t>ENE</a:t>
                      </a:r>
                    </a:p>
                  </a:txBody>
                  <a:tcPr anchor="ctr">
                    <a:solidFill>
                      <a:srgbClr val="00A19C"/>
                    </a:solidFill>
                  </a:tcPr>
                </a:tc>
                <a:tc>
                  <a:txBody>
                    <a:bodyPr/>
                    <a:lstStyle/>
                    <a:p>
                      <a:pPr algn="ctr"/>
                      <a:r>
                        <a:rPr lang="es-MX" sz="1200"/>
                        <a:t>FEB</a:t>
                      </a:r>
                      <a:endParaRPr lang="es-CO" sz="1200"/>
                    </a:p>
                  </a:txBody>
                  <a:tcPr anchor="ctr">
                    <a:solidFill>
                      <a:srgbClr val="00A19C"/>
                    </a:solidFill>
                  </a:tcPr>
                </a:tc>
                <a:tc>
                  <a:txBody>
                    <a:bodyPr/>
                    <a:lstStyle/>
                    <a:p>
                      <a:pPr algn="ctr"/>
                      <a:r>
                        <a:rPr lang="es-MX" sz="1200"/>
                        <a:t>MAR</a:t>
                      </a:r>
                      <a:endParaRPr lang="es-CO" sz="1200"/>
                    </a:p>
                  </a:txBody>
                  <a:tcPr anchor="ctr">
                    <a:solidFill>
                      <a:srgbClr val="00A19C"/>
                    </a:solidFill>
                  </a:tcPr>
                </a:tc>
                <a:tc>
                  <a:txBody>
                    <a:bodyPr/>
                    <a:lstStyle/>
                    <a:p>
                      <a:pPr algn="ctr"/>
                      <a:r>
                        <a:rPr lang="es-MX" sz="1200"/>
                        <a:t>ABR</a:t>
                      </a:r>
                      <a:endParaRPr lang="es-CO" sz="1200"/>
                    </a:p>
                  </a:txBody>
                  <a:tcPr anchor="ctr">
                    <a:solidFill>
                      <a:srgbClr val="00A19C"/>
                    </a:solidFill>
                  </a:tcPr>
                </a:tc>
                <a:tc>
                  <a:txBody>
                    <a:bodyPr/>
                    <a:lstStyle/>
                    <a:p>
                      <a:pPr algn="ctr"/>
                      <a:r>
                        <a:rPr lang="es-MX" sz="1200"/>
                        <a:t>MAY</a:t>
                      </a:r>
                      <a:endParaRPr lang="es-CO" sz="1200"/>
                    </a:p>
                  </a:txBody>
                  <a:tcPr anchor="ctr">
                    <a:solidFill>
                      <a:srgbClr val="00A19C"/>
                    </a:solidFill>
                  </a:tcPr>
                </a:tc>
                <a:tc>
                  <a:txBody>
                    <a:bodyPr/>
                    <a:lstStyle/>
                    <a:p>
                      <a:pPr lvl="0" algn="ctr">
                        <a:buNone/>
                      </a:pPr>
                      <a:r>
                        <a:rPr lang="es-MX" sz="1200"/>
                        <a:t>JUN</a:t>
                      </a:r>
                    </a:p>
                  </a:txBody>
                  <a:tcPr anchor="ctr">
                    <a:solidFill>
                      <a:srgbClr val="00A19C"/>
                    </a:solidFill>
                  </a:tcPr>
                </a:tc>
                <a:tc>
                  <a:txBody>
                    <a:bodyPr/>
                    <a:lstStyle/>
                    <a:p>
                      <a:pPr lvl="0" algn="ctr">
                        <a:buNone/>
                      </a:pPr>
                      <a:r>
                        <a:rPr lang="es-MX" sz="1200"/>
                        <a:t>JUL</a:t>
                      </a:r>
                    </a:p>
                  </a:txBody>
                  <a:tcPr anchor="ctr">
                    <a:solidFill>
                      <a:srgbClr val="00A19C"/>
                    </a:solidFill>
                  </a:tcPr>
                </a:tc>
                <a:tc>
                  <a:txBody>
                    <a:bodyPr/>
                    <a:lstStyle/>
                    <a:p>
                      <a:pPr lvl="0" algn="ctr">
                        <a:buNone/>
                      </a:pPr>
                      <a:r>
                        <a:rPr lang="es-MX" sz="1200"/>
                        <a:t>AGO</a:t>
                      </a:r>
                    </a:p>
                  </a:txBody>
                  <a:tcPr anchor="ctr">
                    <a:solidFill>
                      <a:srgbClr val="00A19C"/>
                    </a:solidFill>
                  </a:tcPr>
                </a:tc>
                <a:extLst>
                  <a:ext uri="{0D108BD9-81ED-4DB2-BD59-A6C34878D82A}">
                    <a16:rowId xmlns:a16="http://schemas.microsoft.com/office/drawing/2014/main" val="1994992180"/>
                  </a:ext>
                </a:extLst>
              </a:tr>
              <a:tr h="370840">
                <a:tc>
                  <a:txBody>
                    <a:bodyPr/>
                    <a:lstStyle/>
                    <a:p>
                      <a:pPr algn="ctr"/>
                      <a:r>
                        <a:rPr lang="es-CO" sz="1200">
                          <a:solidFill>
                            <a:schemeClr val="tx1">
                              <a:lumMod val="50000"/>
                            </a:schemeClr>
                          </a:solidFill>
                        </a:rPr>
                        <a:t>TASA QR</a:t>
                      </a:r>
                    </a:p>
                  </a:txBody>
                  <a:tcPr anchor="ctr">
                    <a:solidFill>
                      <a:srgbClr val="A8D5E0"/>
                    </a:solidFill>
                  </a:tcPr>
                </a:tc>
                <a:tc>
                  <a:txBody>
                    <a:bodyPr/>
                    <a:lstStyle/>
                    <a:p>
                      <a:pPr algn="ctr"/>
                      <a:r>
                        <a:rPr lang="es-CO" sz="1200">
                          <a:solidFill>
                            <a:schemeClr val="tx1">
                              <a:lumMod val="50000"/>
                            </a:schemeClr>
                          </a:solidFill>
                        </a:rPr>
                        <a:t>0</a:t>
                      </a:r>
                    </a:p>
                  </a:txBody>
                  <a:tcPr anchor="ctr">
                    <a:solidFill>
                      <a:srgbClr val="A8D5E0"/>
                    </a:solidFill>
                  </a:tcPr>
                </a:tc>
                <a:tc>
                  <a:txBody>
                    <a:bodyPr/>
                    <a:lstStyle/>
                    <a:p>
                      <a:pPr algn="ctr"/>
                      <a:r>
                        <a:rPr lang="es-CO" sz="1200">
                          <a:solidFill>
                            <a:schemeClr val="tx1">
                              <a:lumMod val="50000"/>
                            </a:schemeClr>
                          </a:solidFill>
                        </a:rPr>
                        <a:t>0</a:t>
                      </a:r>
                    </a:p>
                  </a:txBody>
                  <a:tcPr anchor="ctr">
                    <a:solidFill>
                      <a:srgbClr val="A8D5E0"/>
                    </a:solidFill>
                  </a:tcPr>
                </a:tc>
                <a:tc>
                  <a:txBody>
                    <a:bodyPr/>
                    <a:lstStyle/>
                    <a:p>
                      <a:pPr algn="ctr"/>
                      <a:r>
                        <a:rPr lang="es-CO" sz="1200">
                          <a:solidFill>
                            <a:schemeClr val="tx1">
                              <a:lumMod val="50000"/>
                            </a:schemeClr>
                          </a:solidFill>
                        </a:rPr>
                        <a:t>0</a:t>
                      </a:r>
                    </a:p>
                  </a:txBody>
                  <a:tcPr anchor="ctr">
                    <a:solidFill>
                      <a:srgbClr val="A8D5E0"/>
                    </a:solidFill>
                  </a:tcPr>
                </a:tc>
                <a:tc>
                  <a:txBody>
                    <a:bodyPr/>
                    <a:lstStyle/>
                    <a:p>
                      <a:pPr algn="ctr"/>
                      <a:r>
                        <a:rPr lang="es-CO" sz="1200">
                          <a:solidFill>
                            <a:schemeClr val="tx1">
                              <a:lumMod val="50000"/>
                            </a:schemeClr>
                          </a:solidFill>
                        </a:rPr>
                        <a:t>0</a:t>
                      </a:r>
                    </a:p>
                  </a:txBody>
                  <a:tcPr anchor="ctr">
                    <a:solidFill>
                      <a:srgbClr val="A8D5E0"/>
                    </a:solidFill>
                  </a:tcPr>
                </a:tc>
                <a:tc>
                  <a:txBody>
                    <a:bodyPr/>
                    <a:lstStyle/>
                    <a:p>
                      <a:pPr algn="ctr"/>
                      <a:r>
                        <a:rPr lang="es-CO" sz="1200">
                          <a:solidFill>
                            <a:schemeClr val="tx1">
                              <a:lumMod val="50000"/>
                            </a:schemeClr>
                          </a:solidFill>
                        </a:rPr>
                        <a:t>0</a:t>
                      </a:r>
                    </a:p>
                  </a:txBody>
                  <a:tcPr anchor="ctr">
                    <a:solidFill>
                      <a:srgbClr val="A8D5E0"/>
                    </a:solidFill>
                  </a:tcPr>
                </a:tc>
                <a:tc>
                  <a:txBody>
                    <a:bodyPr/>
                    <a:lstStyle/>
                    <a:p>
                      <a:pPr algn="ctr"/>
                      <a:r>
                        <a:rPr lang="es-MX" sz="1200">
                          <a:solidFill>
                            <a:schemeClr val="tx1">
                              <a:lumMod val="50000"/>
                            </a:schemeClr>
                          </a:solidFill>
                        </a:rPr>
                        <a:t>0</a:t>
                      </a:r>
                      <a:endParaRPr lang="es-CO" sz="1200">
                        <a:solidFill>
                          <a:schemeClr val="tx1">
                            <a:lumMod val="50000"/>
                          </a:schemeClr>
                        </a:solidFill>
                      </a:endParaRPr>
                    </a:p>
                  </a:txBody>
                  <a:tcPr anchor="ctr">
                    <a:solidFill>
                      <a:srgbClr val="A8D5E0"/>
                    </a:solidFill>
                  </a:tcPr>
                </a:tc>
                <a:tc>
                  <a:txBody>
                    <a:bodyPr/>
                    <a:lstStyle/>
                    <a:p>
                      <a:pPr algn="ctr"/>
                      <a:r>
                        <a:rPr lang="es-MX" sz="1200">
                          <a:solidFill>
                            <a:schemeClr val="tx1">
                              <a:lumMod val="50000"/>
                            </a:schemeClr>
                          </a:solidFill>
                        </a:rPr>
                        <a:t>0</a:t>
                      </a:r>
                      <a:endParaRPr lang="es-CO" sz="1200">
                        <a:solidFill>
                          <a:schemeClr val="tx1">
                            <a:lumMod val="50000"/>
                          </a:schemeClr>
                        </a:solidFill>
                      </a:endParaRPr>
                    </a:p>
                  </a:txBody>
                  <a:tcPr anchor="ctr">
                    <a:solidFill>
                      <a:srgbClr val="A8D5E0"/>
                    </a:solidFill>
                  </a:tcPr>
                </a:tc>
                <a:tc>
                  <a:txBody>
                    <a:bodyPr/>
                    <a:lstStyle/>
                    <a:p>
                      <a:pPr algn="ctr"/>
                      <a:r>
                        <a:rPr lang="es-MX" sz="1200">
                          <a:solidFill>
                            <a:schemeClr val="tx1">
                              <a:lumMod val="50000"/>
                            </a:schemeClr>
                          </a:solidFill>
                        </a:rPr>
                        <a:t>0</a:t>
                      </a:r>
                      <a:endParaRPr lang="es-CO" sz="1200">
                        <a:solidFill>
                          <a:schemeClr val="tx1">
                            <a:lumMod val="50000"/>
                          </a:schemeClr>
                        </a:solidFill>
                      </a:endParaRPr>
                    </a:p>
                  </a:txBody>
                  <a:tcPr anchor="ctr">
                    <a:solidFill>
                      <a:srgbClr val="A8D5E0"/>
                    </a:solidFill>
                  </a:tcPr>
                </a:tc>
                <a:tc>
                  <a:txBody>
                    <a:bodyPr/>
                    <a:lstStyle/>
                    <a:p>
                      <a:pPr algn="ctr"/>
                      <a:r>
                        <a:rPr lang="es-CO" sz="1200">
                          <a:solidFill>
                            <a:schemeClr val="tx1">
                              <a:lumMod val="50000"/>
                            </a:schemeClr>
                          </a:solidFill>
                        </a:rPr>
                        <a:t>0</a:t>
                      </a:r>
                    </a:p>
                  </a:txBody>
                  <a:tcPr anchor="ctr">
                    <a:solidFill>
                      <a:srgbClr val="A8D5E0"/>
                    </a:solidFill>
                  </a:tcPr>
                </a:tc>
                <a:tc>
                  <a:txBody>
                    <a:bodyPr/>
                    <a:lstStyle/>
                    <a:p>
                      <a:pPr lvl="0" algn="ctr">
                        <a:buNone/>
                      </a:pPr>
                      <a:r>
                        <a:rPr lang="es-MX" sz="1200">
                          <a:solidFill>
                            <a:schemeClr val="tx1">
                              <a:lumMod val="50000"/>
                            </a:schemeClr>
                          </a:solidFill>
                        </a:rPr>
                        <a:t>0</a:t>
                      </a:r>
                      <a:endParaRPr lang="es-CO" sz="1200">
                        <a:solidFill>
                          <a:schemeClr val="tx1">
                            <a:lumMod val="50000"/>
                          </a:schemeClr>
                        </a:solidFill>
                      </a:endParaRPr>
                    </a:p>
                  </a:txBody>
                  <a:tcPr anchor="ctr">
                    <a:solidFill>
                      <a:srgbClr val="A8D5E0"/>
                    </a:solidFill>
                  </a:tcPr>
                </a:tc>
                <a:tc>
                  <a:txBody>
                    <a:bodyPr/>
                    <a:lstStyle/>
                    <a:p>
                      <a:pPr lvl="0" algn="ctr">
                        <a:buNone/>
                      </a:pPr>
                      <a:r>
                        <a:rPr lang="es-ES" sz="1200">
                          <a:solidFill>
                            <a:schemeClr val="tx1">
                              <a:lumMod val="50000"/>
                            </a:schemeClr>
                          </a:solidFill>
                        </a:rPr>
                        <a:t>0</a:t>
                      </a:r>
                      <a:endParaRPr lang="es-CO" sz="1200">
                        <a:solidFill>
                          <a:schemeClr val="tx1">
                            <a:lumMod val="50000"/>
                          </a:schemeClr>
                        </a:solidFill>
                      </a:endParaRPr>
                    </a:p>
                  </a:txBody>
                  <a:tcPr anchor="ctr">
                    <a:solidFill>
                      <a:srgbClr val="A8D5E0"/>
                    </a:solidFill>
                  </a:tcPr>
                </a:tc>
                <a:tc>
                  <a:txBody>
                    <a:bodyPr/>
                    <a:lstStyle/>
                    <a:p>
                      <a:pPr lvl="0" algn="ctr">
                        <a:buNone/>
                      </a:pPr>
                      <a:r>
                        <a:rPr lang="es-ES" sz="1200">
                          <a:solidFill>
                            <a:schemeClr val="tx1">
                              <a:lumMod val="50000"/>
                            </a:schemeClr>
                          </a:solidFill>
                        </a:rPr>
                        <a:t>0</a:t>
                      </a:r>
                      <a:endParaRPr lang="es-CO" sz="1200">
                        <a:solidFill>
                          <a:schemeClr val="tx1">
                            <a:lumMod val="50000"/>
                          </a:schemeClr>
                        </a:solidFill>
                      </a:endParaRPr>
                    </a:p>
                  </a:txBody>
                  <a:tcPr anchor="ctr">
                    <a:solidFill>
                      <a:srgbClr val="A8D5E0"/>
                    </a:solidFill>
                  </a:tcPr>
                </a:tc>
                <a:extLst>
                  <a:ext uri="{0D108BD9-81ED-4DB2-BD59-A6C34878D82A}">
                    <a16:rowId xmlns:a16="http://schemas.microsoft.com/office/drawing/2014/main" val="2853932976"/>
                  </a:ext>
                </a:extLst>
              </a:tr>
              <a:tr h="370840">
                <a:tc>
                  <a:txBody>
                    <a:bodyPr/>
                    <a:lstStyle/>
                    <a:p>
                      <a:pPr algn="ctr"/>
                      <a:r>
                        <a:rPr lang="es-CO" sz="1200">
                          <a:solidFill>
                            <a:schemeClr val="tx1">
                              <a:lumMod val="50000"/>
                            </a:schemeClr>
                          </a:solidFill>
                        </a:rPr>
                        <a:t>SATISFACCIÓN </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a:ln>
                            <a:noFill/>
                          </a:ln>
                          <a:solidFill>
                            <a:srgbClr val="80589F">
                              <a:lumMod val="50000"/>
                            </a:srgbClr>
                          </a:solidFill>
                          <a:effectLst/>
                          <a:uLnTx/>
                          <a:uFillTx/>
                          <a:latin typeface="Muli"/>
                          <a:ea typeface="+mn-ea"/>
                          <a:cs typeface="+mn-cs"/>
                        </a:rPr>
                        <a:t>4,9</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a:ln>
                            <a:noFill/>
                          </a:ln>
                          <a:solidFill>
                            <a:srgbClr val="80589F">
                              <a:lumMod val="50000"/>
                            </a:srgbClr>
                          </a:solidFill>
                          <a:effectLst/>
                          <a:uLnTx/>
                          <a:uFillTx/>
                          <a:latin typeface="Muli"/>
                          <a:ea typeface="+mn-ea"/>
                          <a:cs typeface="+mn-cs"/>
                        </a:rPr>
                        <a:t>4,9</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a:ln>
                            <a:noFill/>
                          </a:ln>
                          <a:solidFill>
                            <a:srgbClr val="80589F">
                              <a:lumMod val="50000"/>
                            </a:srgbClr>
                          </a:solidFill>
                          <a:effectLst/>
                          <a:uLnTx/>
                          <a:uFillTx/>
                          <a:latin typeface="Muli"/>
                          <a:ea typeface="+mn-ea"/>
                          <a:cs typeface="+mn-cs"/>
                        </a:rPr>
                        <a:t>4,9</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a:ln>
                            <a:noFill/>
                          </a:ln>
                          <a:solidFill>
                            <a:srgbClr val="80589F">
                              <a:lumMod val="50000"/>
                            </a:srgbClr>
                          </a:solidFill>
                          <a:effectLst/>
                          <a:uLnTx/>
                          <a:uFillTx/>
                          <a:latin typeface="Muli"/>
                          <a:ea typeface="+mn-ea"/>
                          <a:cs typeface="+mn-cs"/>
                        </a:rPr>
                        <a:t>4,9</a:t>
                      </a:r>
                    </a:p>
                  </a:txBody>
                  <a:tcPr anchor="ctr">
                    <a:solidFill>
                      <a:schemeClr val="bg1">
                        <a:lumMod val="95000"/>
                      </a:schemeClr>
                    </a:solidFill>
                  </a:tcPr>
                </a:tc>
                <a:tc>
                  <a:txBody>
                    <a:bodyPr/>
                    <a:lstStyle/>
                    <a:p>
                      <a:pPr algn="ctr"/>
                      <a:r>
                        <a:rPr lang="es-CO" sz="1200">
                          <a:solidFill>
                            <a:schemeClr val="tx1">
                              <a:lumMod val="50000"/>
                            </a:schemeClr>
                          </a:solidFill>
                        </a:rPr>
                        <a:t>4,9</a:t>
                      </a:r>
                    </a:p>
                  </a:txBody>
                  <a:tcPr anchor="ctr">
                    <a:solidFill>
                      <a:schemeClr val="bg1">
                        <a:lumMod val="95000"/>
                      </a:schemeClr>
                    </a:solidFill>
                  </a:tcPr>
                </a:tc>
                <a:tc>
                  <a:txBody>
                    <a:bodyPr/>
                    <a:lstStyle/>
                    <a:p>
                      <a:pPr algn="ctr"/>
                      <a:r>
                        <a:rPr lang="es-MX" sz="1200">
                          <a:solidFill>
                            <a:schemeClr val="tx1">
                              <a:lumMod val="50000"/>
                            </a:schemeClr>
                          </a:solidFill>
                        </a:rPr>
                        <a:t>4,8</a:t>
                      </a:r>
                      <a:endParaRPr lang="es-CO" sz="1200">
                        <a:solidFill>
                          <a:schemeClr val="tx1">
                            <a:lumMod val="50000"/>
                          </a:schemeClr>
                        </a:solidFill>
                      </a:endParaRPr>
                    </a:p>
                  </a:txBody>
                  <a:tcPr anchor="ctr">
                    <a:solidFill>
                      <a:schemeClr val="bg1">
                        <a:lumMod val="95000"/>
                      </a:schemeClr>
                    </a:solidFill>
                  </a:tcPr>
                </a:tc>
                <a:tc>
                  <a:txBody>
                    <a:bodyPr/>
                    <a:lstStyle/>
                    <a:p>
                      <a:pPr algn="ctr"/>
                      <a:r>
                        <a:rPr lang="es-MX" sz="1200">
                          <a:solidFill>
                            <a:schemeClr val="tx1">
                              <a:lumMod val="50000"/>
                            </a:schemeClr>
                          </a:solidFill>
                        </a:rPr>
                        <a:t>4,8</a:t>
                      </a:r>
                      <a:endParaRPr lang="es-CO" sz="1200">
                        <a:solidFill>
                          <a:schemeClr val="tx1">
                            <a:lumMod val="50000"/>
                          </a:schemeClr>
                        </a:solidFill>
                      </a:endParaRPr>
                    </a:p>
                  </a:txBody>
                  <a:tcPr anchor="ctr">
                    <a:solidFill>
                      <a:schemeClr val="bg1">
                        <a:lumMod val="95000"/>
                      </a:schemeClr>
                    </a:solidFill>
                  </a:tcPr>
                </a:tc>
                <a:tc>
                  <a:txBody>
                    <a:bodyPr/>
                    <a:lstStyle/>
                    <a:p>
                      <a:pPr algn="ctr"/>
                      <a:r>
                        <a:rPr lang="es-MX" sz="1200">
                          <a:solidFill>
                            <a:schemeClr val="tx1">
                              <a:lumMod val="50000"/>
                            </a:schemeClr>
                          </a:solidFill>
                        </a:rPr>
                        <a:t>4,8</a:t>
                      </a:r>
                      <a:endParaRPr lang="es-CO" sz="1200">
                        <a:solidFill>
                          <a:schemeClr val="tx1">
                            <a:lumMod val="50000"/>
                          </a:schemeClr>
                        </a:solidFill>
                      </a:endParaRPr>
                    </a:p>
                  </a:txBody>
                  <a:tcPr anchor="ctr">
                    <a:solidFill>
                      <a:schemeClr val="bg1">
                        <a:lumMod val="95000"/>
                      </a:schemeClr>
                    </a:solidFill>
                  </a:tcPr>
                </a:tc>
                <a:tc>
                  <a:txBody>
                    <a:bodyPr/>
                    <a:lstStyle/>
                    <a:p>
                      <a:pPr algn="ctr"/>
                      <a:r>
                        <a:rPr lang="es-MX" sz="1200">
                          <a:solidFill>
                            <a:schemeClr val="tx1">
                              <a:lumMod val="50000"/>
                            </a:schemeClr>
                          </a:solidFill>
                        </a:rPr>
                        <a:t>4,8</a:t>
                      </a:r>
                      <a:endParaRPr lang="es-CO" sz="1200">
                        <a:solidFill>
                          <a:schemeClr val="tx1">
                            <a:lumMod val="50000"/>
                          </a:schemeClr>
                        </a:solidFill>
                      </a:endParaRPr>
                    </a:p>
                  </a:txBody>
                  <a:tcPr anchor="ctr">
                    <a:solidFill>
                      <a:schemeClr val="bg1">
                        <a:lumMod val="95000"/>
                      </a:schemeClr>
                    </a:solidFill>
                  </a:tcPr>
                </a:tc>
                <a:tc>
                  <a:txBody>
                    <a:bodyPr/>
                    <a:lstStyle/>
                    <a:p>
                      <a:pPr lvl="0" algn="ctr">
                        <a:buNone/>
                      </a:pPr>
                      <a:r>
                        <a:rPr lang="es-MX" sz="1200">
                          <a:solidFill>
                            <a:schemeClr val="tx1">
                              <a:lumMod val="50000"/>
                            </a:schemeClr>
                          </a:solidFill>
                        </a:rPr>
                        <a:t>4,9</a:t>
                      </a:r>
                    </a:p>
                  </a:txBody>
                  <a:tcPr anchor="ctr">
                    <a:solidFill>
                      <a:schemeClr val="bg1">
                        <a:lumMod val="95000"/>
                      </a:schemeClr>
                    </a:solidFill>
                  </a:tcPr>
                </a:tc>
                <a:tc>
                  <a:txBody>
                    <a:bodyPr/>
                    <a:lstStyle/>
                    <a:p>
                      <a:pPr lvl="0" algn="ctr">
                        <a:buNone/>
                      </a:pPr>
                      <a:r>
                        <a:rPr lang="es-MX" sz="1200">
                          <a:solidFill>
                            <a:schemeClr val="tx1">
                              <a:lumMod val="50000"/>
                            </a:schemeClr>
                          </a:solidFill>
                        </a:rPr>
                        <a:t>4,9</a:t>
                      </a:r>
                    </a:p>
                  </a:txBody>
                  <a:tcPr anchor="ctr">
                    <a:solidFill>
                      <a:schemeClr val="bg1">
                        <a:lumMod val="95000"/>
                      </a:schemeClr>
                    </a:solidFill>
                  </a:tcPr>
                </a:tc>
                <a:tc>
                  <a:txBody>
                    <a:bodyPr/>
                    <a:lstStyle/>
                    <a:p>
                      <a:pPr lvl="0" algn="ctr">
                        <a:buNone/>
                      </a:pPr>
                      <a:r>
                        <a:rPr lang="es-MX" sz="1200">
                          <a:solidFill>
                            <a:schemeClr val="tx1">
                              <a:lumMod val="50000"/>
                            </a:schemeClr>
                          </a:solidFill>
                        </a:rPr>
                        <a:t>5,0</a:t>
                      </a:r>
                    </a:p>
                  </a:txBody>
                  <a:tcPr anchor="ctr">
                    <a:solidFill>
                      <a:schemeClr val="bg1">
                        <a:lumMod val="95000"/>
                      </a:schemeClr>
                    </a:solidFill>
                  </a:tcPr>
                </a:tc>
                <a:extLst>
                  <a:ext uri="{0D108BD9-81ED-4DB2-BD59-A6C34878D82A}">
                    <a16:rowId xmlns:a16="http://schemas.microsoft.com/office/drawing/2014/main" val="3462431911"/>
                  </a:ext>
                </a:extLst>
              </a:tr>
            </a:tbl>
          </a:graphicData>
        </a:graphic>
      </p:graphicFrame>
      <p:graphicFrame>
        <p:nvGraphicFramePr>
          <p:cNvPr id="42" name="Tabla 41">
            <a:extLst>
              <a:ext uri="{FF2B5EF4-FFF2-40B4-BE49-F238E27FC236}">
                <a16:creationId xmlns:a16="http://schemas.microsoft.com/office/drawing/2014/main" id="{24E9193E-2B54-D59A-7D89-435378285342}"/>
              </a:ext>
            </a:extLst>
          </p:cNvPr>
          <p:cNvGraphicFramePr>
            <a:graphicFrameLocks noGrp="1"/>
          </p:cNvGraphicFramePr>
          <p:nvPr/>
        </p:nvGraphicFramePr>
        <p:xfrm>
          <a:off x="2198151" y="3754486"/>
          <a:ext cx="9088572" cy="1112520"/>
        </p:xfrm>
        <a:graphic>
          <a:graphicData uri="http://schemas.openxmlformats.org/drawingml/2006/table">
            <a:tbl>
              <a:tblPr firstRow="1" bandRow="1">
                <a:tableStyleId>{5C22544A-7EE6-4342-B048-85BDC9FD1C3A}</a:tableStyleId>
              </a:tblPr>
              <a:tblGrid>
                <a:gridCol w="1447740">
                  <a:extLst>
                    <a:ext uri="{9D8B030D-6E8A-4147-A177-3AD203B41FA5}">
                      <a16:colId xmlns:a16="http://schemas.microsoft.com/office/drawing/2014/main" val="1113414371"/>
                    </a:ext>
                  </a:extLst>
                </a:gridCol>
                <a:gridCol w="636736">
                  <a:extLst>
                    <a:ext uri="{9D8B030D-6E8A-4147-A177-3AD203B41FA5}">
                      <a16:colId xmlns:a16="http://schemas.microsoft.com/office/drawing/2014/main" val="2880615388"/>
                    </a:ext>
                  </a:extLst>
                </a:gridCol>
                <a:gridCol w="636736">
                  <a:extLst>
                    <a:ext uri="{9D8B030D-6E8A-4147-A177-3AD203B41FA5}">
                      <a16:colId xmlns:a16="http://schemas.microsoft.com/office/drawing/2014/main" val="4126807483"/>
                    </a:ext>
                  </a:extLst>
                </a:gridCol>
                <a:gridCol w="636736">
                  <a:extLst>
                    <a:ext uri="{9D8B030D-6E8A-4147-A177-3AD203B41FA5}">
                      <a16:colId xmlns:a16="http://schemas.microsoft.com/office/drawing/2014/main" val="2501294492"/>
                    </a:ext>
                  </a:extLst>
                </a:gridCol>
                <a:gridCol w="636736">
                  <a:extLst>
                    <a:ext uri="{9D8B030D-6E8A-4147-A177-3AD203B41FA5}">
                      <a16:colId xmlns:a16="http://schemas.microsoft.com/office/drawing/2014/main" val="4224886986"/>
                    </a:ext>
                  </a:extLst>
                </a:gridCol>
                <a:gridCol w="636736">
                  <a:extLst>
                    <a:ext uri="{9D8B030D-6E8A-4147-A177-3AD203B41FA5}">
                      <a16:colId xmlns:a16="http://schemas.microsoft.com/office/drawing/2014/main" val="2764740043"/>
                    </a:ext>
                  </a:extLst>
                </a:gridCol>
                <a:gridCol w="636736">
                  <a:extLst>
                    <a:ext uri="{9D8B030D-6E8A-4147-A177-3AD203B41FA5}">
                      <a16:colId xmlns:a16="http://schemas.microsoft.com/office/drawing/2014/main" val="1716428948"/>
                    </a:ext>
                  </a:extLst>
                </a:gridCol>
                <a:gridCol w="636736">
                  <a:extLst>
                    <a:ext uri="{9D8B030D-6E8A-4147-A177-3AD203B41FA5}">
                      <a16:colId xmlns:a16="http://schemas.microsoft.com/office/drawing/2014/main" val="931040855"/>
                    </a:ext>
                  </a:extLst>
                </a:gridCol>
                <a:gridCol w="636736">
                  <a:extLst>
                    <a:ext uri="{9D8B030D-6E8A-4147-A177-3AD203B41FA5}">
                      <a16:colId xmlns:a16="http://schemas.microsoft.com/office/drawing/2014/main" val="1341400101"/>
                    </a:ext>
                  </a:extLst>
                </a:gridCol>
                <a:gridCol w="636736">
                  <a:extLst>
                    <a:ext uri="{9D8B030D-6E8A-4147-A177-3AD203B41FA5}">
                      <a16:colId xmlns:a16="http://schemas.microsoft.com/office/drawing/2014/main" val="1779436705"/>
                    </a:ext>
                  </a:extLst>
                </a:gridCol>
                <a:gridCol w="636736">
                  <a:extLst>
                    <a:ext uri="{9D8B030D-6E8A-4147-A177-3AD203B41FA5}">
                      <a16:colId xmlns:a16="http://schemas.microsoft.com/office/drawing/2014/main" val="967816963"/>
                    </a:ext>
                  </a:extLst>
                </a:gridCol>
                <a:gridCol w="636736">
                  <a:extLst>
                    <a:ext uri="{9D8B030D-6E8A-4147-A177-3AD203B41FA5}">
                      <a16:colId xmlns:a16="http://schemas.microsoft.com/office/drawing/2014/main" val="3177846589"/>
                    </a:ext>
                  </a:extLst>
                </a:gridCol>
                <a:gridCol w="636736">
                  <a:extLst>
                    <a:ext uri="{9D8B030D-6E8A-4147-A177-3AD203B41FA5}">
                      <a16:colId xmlns:a16="http://schemas.microsoft.com/office/drawing/2014/main" val="74826218"/>
                    </a:ext>
                  </a:extLst>
                </a:gridCol>
              </a:tblGrid>
              <a:tr h="370840">
                <a:tc>
                  <a:txBody>
                    <a:bodyPr/>
                    <a:lstStyle/>
                    <a:p>
                      <a:pPr algn="ctr"/>
                      <a:r>
                        <a:rPr lang="es-CO" sz="1200"/>
                        <a:t>Indicador</a:t>
                      </a:r>
                    </a:p>
                  </a:txBody>
                  <a:tcPr anchor="ctr">
                    <a:solidFill>
                      <a:schemeClr val="tx2">
                        <a:lumMod val="60000"/>
                        <a:lumOff val="40000"/>
                      </a:schemeClr>
                    </a:solidFill>
                  </a:tcPr>
                </a:tc>
                <a:tc>
                  <a:txBody>
                    <a:bodyPr/>
                    <a:lstStyle/>
                    <a:p>
                      <a:pPr algn="ctr"/>
                      <a:r>
                        <a:rPr lang="es-CO" sz="1200"/>
                        <a:t>SEP</a:t>
                      </a:r>
                    </a:p>
                  </a:txBody>
                  <a:tcPr anchor="ctr">
                    <a:solidFill>
                      <a:schemeClr val="tx2">
                        <a:lumMod val="60000"/>
                        <a:lumOff val="40000"/>
                      </a:schemeClr>
                    </a:solidFill>
                  </a:tcPr>
                </a:tc>
                <a:tc>
                  <a:txBody>
                    <a:bodyPr/>
                    <a:lstStyle/>
                    <a:p>
                      <a:pPr algn="ctr"/>
                      <a:r>
                        <a:rPr lang="es-CO" sz="1200"/>
                        <a:t>OCT</a:t>
                      </a:r>
                    </a:p>
                  </a:txBody>
                  <a:tcPr anchor="ctr">
                    <a:solidFill>
                      <a:schemeClr val="tx2">
                        <a:lumMod val="60000"/>
                        <a:lumOff val="40000"/>
                      </a:schemeClr>
                    </a:solidFill>
                  </a:tcPr>
                </a:tc>
                <a:tc>
                  <a:txBody>
                    <a:bodyPr/>
                    <a:lstStyle/>
                    <a:p>
                      <a:pPr algn="ctr"/>
                      <a:r>
                        <a:rPr lang="es-CO" sz="1200"/>
                        <a:t>NOV</a:t>
                      </a:r>
                    </a:p>
                  </a:txBody>
                  <a:tcPr anchor="ctr">
                    <a:solidFill>
                      <a:schemeClr val="tx2">
                        <a:lumMod val="60000"/>
                        <a:lumOff val="40000"/>
                      </a:schemeClr>
                    </a:solidFill>
                  </a:tcPr>
                </a:tc>
                <a:tc>
                  <a:txBody>
                    <a:bodyPr/>
                    <a:lstStyle/>
                    <a:p>
                      <a:pPr algn="ctr"/>
                      <a:r>
                        <a:rPr lang="es-CO" sz="1200"/>
                        <a:t>DIC</a:t>
                      </a:r>
                    </a:p>
                  </a:txBody>
                  <a:tcPr anchor="ctr">
                    <a:solidFill>
                      <a:schemeClr val="tx2">
                        <a:lumMod val="60000"/>
                        <a:lumOff val="40000"/>
                      </a:schemeClr>
                    </a:solidFill>
                  </a:tcPr>
                </a:tc>
                <a:tc>
                  <a:txBody>
                    <a:bodyPr/>
                    <a:lstStyle/>
                    <a:p>
                      <a:pPr algn="ctr"/>
                      <a:r>
                        <a:rPr lang="es-CO" sz="1200"/>
                        <a:t>ENE</a:t>
                      </a:r>
                    </a:p>
                  </a:txBody>
                  <a:tcPr anchor="ctr">
                    <a:solidFill>
                      <a:schemeClr val="tx2">
                        <a:lumMod val="60000"/>
                        <a:lumOff val="40000"/>
                      </a:schemeClr>
                    </a:solidFill>
                  </a:tcPr>
                </a:tc>
                <a:tc>
                  <a:txBody>
                    <a:bodyPr/>
                    <a:lstStyle/>
                    <a:p>
                      <a:pPr algn="ctr"/>
                      <a:r>
                        <a:rPr lang="es-MX" sz="1200"/>
                        <a:t>FEB</a:t>
                      </a:r>
                      <a:endParaRPr lang="es-CO" sz="1200"/>
                    </a:p>
                  </a:txBody>
                  <a:tcPr anchor="ctr">
                    <a:solidFill>
                      <a:schemeClr val="tx2">
                        <a:lumMod val="60000"/>
                        <a:lumOff val="40000"/>
                      </a:schemeClr>
                    </a:solidFill>
                  </a:tcPr>
                </a:tc>
                <a:tc>
                  <a:txBody>
                    <a:bodyPr/>
                    <a:lstStyle/>
                    <a:p>
                      <a:pPr algn="ctr"/>
                      <a:r>
                        <a:rPr lang="es-MX" sz="1200"/>
                        <a:t>MAR</a:t>
                      </a:r>
                      <a:endParaRPr lang="es-CO" sz="1200"/>
                    </a:p>
                  </a:txBody>
                  <a:tcPr anchor="ctr">
                    <a:solidFill>
                      <a:schemeClr val="tx2">
                        <a:lumMod val="60000"/>
                        <a:lumOff val="40000"/>
                      </a:schemeClr>
                    </a:solidFill>
                  </a:tcPr>
                </a:tc>
                <a:tc>
                  <a:txBody>
                    <a:bodyPr/>
                    <a:lstStyle/>
                    <a:p>
                      <a:pPr algn="ctr"/>
                      <a:r>
                        <a:rPr lang="es-MX" sz="1200"/>
                        <a:t>ABR</a:t>
                      </a:r>
                      <a:endParaRPr lang="es-CO" sz="1200"/>
                    </a:p>
                  </a:txBody>
                  <a:tcPr anchor="ctr">
                    <a:solidFill>
                      <a:schemeClr val="tx2">
                        <a:lumMod val="60000"/>
                        <a:lumOff val="40000"/>
                      </a:schemeClr>
                    </a:solidFill>
                  </a:tcPr>
                </a:tc>
                <a:tc>
                  <a:txBody>
                    <a:bodyPr/>
                    <a:lstStyle/>
                    <a:p>
                      <a:pPr algn="ctr"/>
                      <a:r>
                        <a:rPr lang="es-MX" sz="1200"/>
                        <a:t>MAY</a:t>
                      </a:r>
                      <a:endParaRPr lang="es-CO" sz="1200"/>
                    </a:p>
                  </a:txBody>
                  <a:tcPr anchor="ctr">
                    <a:solidFill>
                      <a:schemeClr val="tx2">
                        <a:lumMod val="60000"/>
                        <a:lumOff val="40000"/>
                      </a:schemeClr>
                    </a:solidFill>
                  </a:tcPr>
                </a:tc>
                <a:tc>
                  <a:txBody>
                    <a:bodyPr/>
                    <a:lstStyle/>
                    <a:p>
                      <a:pPr lvl="0" algn="ctr">
                        <a:buNone/>
                      </a:pPr>
                      <a:r>
                        <a:rPr lang="es-MX" sz="1200"/>
                        <a:t>JUN</a:t>
                      </a:r>
                    </a:p>
                  </a:txBody>
                  <a:tcPr anchor="ctr">
                    <a:solidFill>
                      <a:schemeClr val="tx2">
                        <a:lumMod val="60000"/>
                        <a:lumOff val="40000"/>
                      </a:schemeClr>
                    </a:solidFill>
                  </a:tcPr>
                </a:tc>
                <a:tc>
                  <a:txBody>
                    <a:bodyPr/>
                    <a:lstStyle/>
                    <a:p>
                      <a:pPr lvl="0" algn="ctr">
                        <a:buNone/>
                      </a:pPr>
                      <a:r>
                        <a:rPr lang="es-MX" sz="1200"/>
                        <a:t>JUL</a:t>
                      </a:r>
                    </a:p>
                  </a:txBody>
                  <a:tcPr anchor="ctr">
                    <a:solidFill>
                      <a:schemeClr val="tx2">
                        <a:lumMod val="60000"/>
                        <a:lumOff val="40000"/>
                      </a:schemeClr>
                    </a:solidFill>
                  </a:tcPr>
                </a:tc>
                <a:tc>
                  <a:txBody>
                    <a:bodyPr/>
                    <a:lstStyle/>
                    <a:p>
                      <a:pPr lvl="0" algn="ctr">
                        <a:buNone/>
                      </a:pPr>
                      <a:r>
                        <a:rPr lang="es-MX" sz="1200"/>
                        <a:t>AGO</a:t>
                      </a:r>
                    </a:p>
                  </a:txBody>
                  <a:tcPr anchor="ctr">
                    <a:solidFill>
                      <a:schemeClr val="tx2">
                        <a:lumMod val="60000"/>
                        <a:lumOff val="40000"/>
                      </a:schemeClr>
                    </a:solidFill>
                  </a:tcPr>
                </a:tc>
                <a:extLst>
                  <a:ext uri="{0D108BD9-81ED-4DB2-BD59-A6C34878D82A}">
                    <a16:rowId xmlns:a16="http://schemas.microsoft.com/office/drawing/2014/main" val="1994992180"/>
                  </a:ext>
                </a:extLst>
              </a:tr>
              <a:tr h="370840">
                <a:tc>
                  <a:txBody>
                    <a:bodyPr/>
                    <a:lstStyle/>
                    <a:p>
                      <a:pPr algn="ctr"/>
                      <a:r>
                        <a:rPr lang="es-CO" sz="1200">
                          <a:solidFill>
                            <a:schemeClr val="tx1">
                              <a:lumMod val="50000"/>
                            </a:schemeClr>
                          </a:solidFill>
                        </a:rPr>
                        <a:t>FCR</a:t>
                      </a:r>
                    </a:p>
                  </a:txBody>
                  <a:tcPr anchor="ctr">
                    <a:solidFill>
                      <a:schemeClr val="tx1">
                        <a:lumMod val="20000"/>
                        <a:lumOff val="80000"/>
                      </a:schemeClr>
                    </a:solidFill>
                  </a:tcPr>
                </a:tc>
                <a:tc>
                  <a:txBody>
                    <a:bodyPr/>
                    <a:lstStyle/>
                    <a:p>
                      <a:pPr algn="ctr"/>
                      <a:r>
                        <a:rPr lang="es-CO" sz="1200">
                          <a:solidFill>
                            <a:schemeClr val="tx1">
                              <a:lumMod val="50000"/>
                            </a:schemeClr>
                          </a:solidFill>
                        </a:rPr>
                        <a:t>99%</a:t>
                      </a:r>
                    </a:p>
                  </a:txBody>
                  <a:tcPr anchor="ctr">
                    <a:solidFill>
                      <a:schemeClr val="tx1">
                        <a:lumMod val="20000"/>
                        <a:lumOff val="80000"/>
                      </a:schemeClr>
                    </a:solidFill>
                  </a:tcPr>
                </a:tc>
                <a:tc>
                  <a:txBody>
                    <a:bodyPr/>
                    <a:lstStyle/>
                    <a:p>
                      <a:pPr algn="ctr"/>
                      <a:r>
                        <a:rPr lang="es-CO" sz="1200">
                          <a:solidFill>
                            <a:schemeClr val="tx1">
                              <a:lumMod val="50000"/>
                            </a:schemeClr>
                          </a:solidFill>
                        </a:rPr>
                        <a:t>97%</a:t>
                      </a:r>
                    </a:p>
                  </a:txBody>
                  <a:tcPr anchor="ctr">
                    <a:solidFill>
                      <a:schemeClr val="tx1">
                        <a:lumMod val="20000"/>
                        <a:lumOff val="80000"/>
                      </a:schemeClr>
                    </a:solidFill>
                  </a:tcPr>
                </a:tc>
                <a:tc>
                  <a:txBody>
                    <a:bodyPr/>
                    <a:lstStyle/>
                    <a:p>
                      <a:pPr algn="ctr"/>
                      <a:r>
                        <a:rPr lang="es-CO" sz="1200">
                          <a:solidFill>
                            <a:schemeClr val="tx1">
                              <a:lumMod val="50000"/>
                            </a:schemeClr>
                          </a:solidFill>
                        </a:rPr>
                        <a:t>97%</a:t>
                      </a:r>
                    </a:p>
                  </a:txBody>
                  <a:tcPr anchor="ctr">
                    <a:solidFill>
                      <a:schemeClr val="tx1">
                        <a:lumMod val="20000"/>
                        <a:lumOff val="80000"/>
                      </a:schemeClr>
                    </a:solidFill>
                  </a:tcPr>
                </a:tc>
                <a:tc>
                  <a:txBody>
                    <a:bodyPr/>
                    <a:lstStyle/>
                    <a:p>
                      <a:pPr algn="ctr"/>
                      <a:r>
                        <a:rPr lang="es-CO" sz="1200">
                          <a:solidFill>
                            <a:schemeClr val="tx1">
                              <a:lumMod val="50000"/>
                            </a:schemeClr>
                          </a:solidFill>
                        </a:rPr>
                        <a:t>98%</a:t>
                      </a:r>
                    </a:p>
                  </a:txBody>
                  <a:tcPr anchor="ctr">
                    <a:solidFill>
                      <a:schemeClr val="tx1">
                        <a:lumMod val="20000"/>
                        <a:lumOff val="80000"/>
                      </a:schemeClr>
                    </a:solidFill>
                  </a:tcPr>
                </a:tc>
                <a:tc>
                  <a:txBody>
                    <a:bodyPr/>
                    <a:lstStyle/>
                    <a:p>
                      <a:pPr algn="ctr"/>
                      <a:r>
                        <a:rPr lang="es-CO" sz="1200">
                          <a:solidFill>
                            <a:schemeClr val="tx1">
                              <a:lumMod val="50000"/>
                            </a:schemeClr>
                          </a:solidFill>
                        </a:rPr>
                        <a:t>98%</a:t>
                      </a:r>
                    </a:p>
                  </a:txBody>
                  <a:tcPr anchor="ctr">
                    <a:solidFill>
                      <a:schemeClr val="tx1">
                        <a:lumMod val="20000"/>
                        <a:lumOff val="80000"/>
                      </a:schemeClr>
                    </a:solidFill>
                  </a:tcPr>
                </a:tc>
                <a:tc>
                  <a:txBody>
                    <a:bodyPr/>
                    <a:lstStyle/>
                    <a:p>
                      <a:pPr algn="ctr"/>
                      <a:r>
                        <a:rPr lang="es-MX" sz="1200">
                          <a:solidFill>
                            <a:schemeClr val="tx1">
                              <a:lumMod val="50000"/>
                            </a:schemeClr>
                          </a:solidFill>
                        </a:rPr>
                        <a:t>94%</a:t>
                      </a:r>
                      <a:endParaRPr lang="es-CO" sz="1200">
                        <a:solidFill>
                          <a:schemeClr val="tx1">
                            <a:lumMod val="50000"/>
                          </a:schemeClr>
                        </a:solidFill>
                      </a:endParaRPr>
                    </a:p>
                  </a:txBody>
                  <a:tcPr anchor="ctr">
                    <a:solidFill>
                      <a:schemeClr val="tx1">
                        <a:lumMod val="20000"/>
                        <a:lumOff val="80000"/>
                      </a:schemeClr>
                    </a:solidFill>
                  </a:tcPr>
                </a:tc>
                <a:tc>
                  <a:txBody>
                    <a:bodyPr/>
                    <a:lstStyle/>
                    <a:p>
                      <a:pPr algn="ctr"/>
                      <a:r>
                        <a:rPr lang="es-MX" sz="1200">
                          <a:solidFill>
                            <a:schemeClr val="tx1">
                              <a:lumMod val="50000"/>
                            </a:schemeClr>
                          </a:solidFill>
                        </a:rPr>
                        <a:t>94%</a:t>
                      </a:r>
                      <a:endParaRPr lang="es-CO" sz="1200">
                        <a:solidFill>
                          <a:schemeClr val="tx1">
                            <a:lumMod val="50000"/>
                          </a:schemeClr>
                        </a:solidFill>
                      </a:endParaRPr>
                    </a:p>
                  </a:txBody>
                  <a:tcPr anchor="ctr">
                    <a:solidFill>
                      <a:schemeClr val="tx1">
                        <a:lumMod val="20000"/>
                        <a:lumOff val="80000"/>
                      </a:schemeClr>
                    </a:solidFill>
                  </a:tcPr>
                </a:tc>
                <a:tc>
                  <a:txBody>
                    <a:bodyPr/>
                    <a:lstStyle/>
                    <a:p>
                      <a:pPr algn="ctr"/>
                      <a:r>
                        <a:rPr lang="es-MX" sz="1200">
                          <a:solidFill>
                            <a:schemeClr val="tx1">
                              <a:lumMod val="50000"/>
                            </a:schemeClr>
                          </a:solidFill>
                        </a:rPr>
                        <a:t>95%</a:t>
                      </a:r>
                      <a:endParaRPr lang="es-CO" sz="1200">
                        <a:solidFill>
                          <a:schemeClr val="tx1">
                            <a:lumMod val="50000"/>
                          </a:schemeClr>
                        </a:solidFill>
                      </a:endParaRPr>
                    </a:p>
                  </a:txBody>
                  <a:tcPr anchor="ctr">
                    <a:solidFill>
                      <a:schemeClr val="tx1">
                        <a:lumMod val="20000"/>
                        <a:lumOff val="80000"/>
                      </a:schemeClr>
                    </a:solidFill>
                  </a:tcPr>
                </a:tc>
                <a:tc>
                  <a:txBody>
                    <a:bodyPr/>
                    <a:lstStyle/>
                    <a:p>
                      <a:pPr algn="ctr"/>
                      <a:r>
                        <a:rPr lang="es-MX" sz="1200">
                          <a:solidFill>
                            <a:schemeClr val="tx1">
                              <a:lumMod val="50000"/>
                            </a:schemeClr>
                          </a:solidFill>
                        </a:rPr>
                        <a:t>99%</a:t>
                      </a:r>
                      <a:endParaRPr lang="es-CO" sz="1200">
                        <a:solidFill>
                          <a:schemeClr val="tx1">
                            <a:lumMod val="50000"/>
                          </a:schemeClr>
                        </a:solidFill>
                      </a:endParaRPr>
                    </a:p>
                  </a:txBody>
                  <a:tcPr anchor="ctr">
                    <a:solidFill>
                      <a:schemeClr val="tx1">
                        <a:lumMod val="20000"/>
                        <a:lumOff val="80000"/>
                      </a:schemeClr>
                    </a:solidFill>
                  </a:tcPr>
                </a:tc>
                <a:tc>
                  <a:txBody>
                    <a:bodyPr/>
                    <a:lstStyle/>
                    <a:p>
                      <a:pPr lvl="0" algn="ctr">
                        <a:buNone/>
                      </a:pPr>
                      <a:r>
                        <a:rPr lang="es-MX" sz="1200">
                          <a:solidFill>
                            <a:schemeClr val="tx1">
                              <a:lumMod val="50000"/>
                            </a:schemeClr>
                          </a:solidFill>
                        </a:rPr>
                        <a:t>99%</a:t>
                      </a:r>
                    </a:p>
                  </a:txBody>
                  <a:tcPr anchor="ctr">
                    <a:solidFill>
                      <a:schemeClr val="tx1">
                        <a:lumMod val="20000"/>
                        <a:lumOff val="80000"/>
                      </a:schemeClr>
                    </a:solidFill>
                  </a:tcPr>
                </a:tc>
                <a:tc>
                  <a:txBody>
                    <a:bodyPr/>
                    <a:lstStyle/>
                    <a:p>
                      <a:pPr lvl="0" algn="ctr">
                        <a:buNone/>
                      </a:pPr>
                      <a:r>
                        <a:rPr lang="es-MX" sz="1200">
                          <a:solidFill>
                            <a:schemeClr val="tx1">
                              <a:lumMod val="50000"/>
                            </a:schemeClr>
                          </a:solidFill>
                        </a:rPr>
                        <a:t>99%</a:t>
                      </a:r>
                    </a:p>
                  </a:txBody>
                  <a:tcPr anchor="ctr">
                    <a:solidFill>
                      <a:schemeClr val="tx1">
                        <a:lumMod val="20000"/>
                        <a:lumOff val="80000"/>
                      </a:schemeClr>
                    </a:solidFill>
                  </a:tcPr>
                </a:tc>
                <a:tc>
                  <a:txBody>
                    <a:bodyPr/>
                    <a:lstStyle/>
                    <a:p>
                      <a:pPr lvl="0" algn="ctr">
                        <a:buNone/>
                      </a:pPr>
                      <a:r>
                        <a:rPr lang="es-MX" sz="1200">
                          <a:solidFill>
                            <a:schemeClr val="tx1">
                              <a:lumMod val="50000"/>
                            </a:schemeClr>
                          </a:solidFill>
                        </a:rPr>
                        <a:t>100%</a:t>
                      </a:r>
                    </a:p>
                  </a:txBody>
                  <a:tcPr anchor="ctr">
                    <a:solidFill>
                      <a:schemeClr val="tx1">
                        <a:lumMod val="20000"/>
                        <a:lumOff val="80000"/>
                      </a:schemeClr>
                    </a:solidFill>
                  </a:tcPr>
                </a:tc>
                <a:extLst>
                  <a:ext uri="{0D108BD9-81ED-4DB2-BD59-A6C34878D82A}">
                    <a16:rowId xmlns:a16="http://schemas.microsoft.com/office/drawing/2014/main" val="2853932976"/>
                  </a:ext>
                </a:extLst>
              </a:tr>
              <a:tr h="370840">
                <a:tc>
                  <a:txBody>
                    <a:bodyPr/>
                    <a:lstStyle/>
                    <a:p>
                      <a:pPr algn="ctr"/>
                      <a:r>
                        <a:rPr lang="es-CO" sz="1200">
                          <a:solidFill>
                            <a:schemeClr val="tx1">
                              <a:lumMod val="50000"/>
                            </a:schemeClr>
                          </a:solidFill>
                        </a:rPr>
                        <a:t>OPORTUNIDAD </a:t>
                      </a:r>
                    </a:p>
                  </a:txBody>
                  <a:tcPr anchor="ctr">
                    <a:solidFill>
                      <a:schemeClr val="bg1">
                        <a:lumMod val="95000"/>
                      </a:schemeClr>
                    </a:solidFill>
                  </a:tcPr>
                </a:tc>
                <a:tc>
                  <a:txBody>
                    <a:bodyPr/>
                    <a:lstStyle/>
                    <a:p>
                      <a:pPr algn="ctr"/>
                      <a:r>
                        <a:rPr lang="es-CO" sz="1200">
                          <a:solidFill>
                            <a:schemeClr val="tx1">
                              <a:lumMod val="50000"/>
                            </a:schemeClr>
                          </a:solidFill>
                        </a:rPr>
                        <a:t>6,0</a:t>
                      </a:r>
                    </a:p>
                  </a:txBody>
                  <a:tcPr anchor="ctr">
                    <a:solidFill>
                      <a:schemeClr val="bg1">
                        <a:lumMod val="95000"/>
                      </a:schemeClr>
                    </a:solidFill>
                  </a:tcPr>
                </a:tc>
                <a:tc>
                  <a:txBody>
                    <a:bodyPr/>
                    <a:lstStyle/>
                    <a:p>
                      <a:pPr algn="ctr"/>
                      <a:r>
                        <a:rPr lang="es-CO" sz="1200">
                          <a:solidFill>
                            <a:schemeClr val="tx1">
                              <a:lumMod val="50000"/>
                            </a:schemeClr>
                          </a:solidFill>
                        </a:rPr>
                        <a:t>7,0</a:t>
                      </a:r>
                    </a:p>
                  </a:txBody>
                  <a:tcPr anchor="ctr">
                    <a:solidFill>
                      <a:schemeClr val="bg1">
                        <a:lumMod val="95000"/>
                      </a:schemeClr>
                    </a:solidFill>
                  </a:tcPr>
                </a:tc>
                <a:tc>
                  <a:txBody>
                    <a:bodyPr/>
                    <a:lstStyle/>
                    <a:p>
                      <a:pPr algn="ctr"/>
                      <a:r>
                        <a:rPr lang="es-CO" sz="1200">
                          <a:solidFill>
                            <a:schemeClr val="tx1">
                              <a:lumMod val="50000"/>
                            </a:schemeClr>
                          </a:solidFill>
                        </a:rPr>
                        <a:t>9,9</a:t>
                      </a:r>
                    </a:p>
                  </a:txBody>
                  <a:tcPr anchor="ctr">
                    <a:solidFill>
                      <a:schemeClr val="bg1">
                        <a:lumMod val="95000"/>
                      </a:schemeClr>
                    </a:solidFill>
                  </a:tcPr>
                </a:tc>
                <a:tc>
                  <a:txBody>
                    <a:bodyPr/>
                    <a:lstStyle/>
                    <a:p>
                      <a:pPr algn="ctr"/>
                      <a:r>
                        <a:rPr lang="es-CO" sz="1200">
                          <a:solidFill>
                            <a:schemeClr val="tx1">
                              <a:lumMod val="50000"/>
                            </a:schemeClr>
                          </a:solidFill>
                        </a:rPr>
                        <a:t>8,8</a:t>
                      </a:r>
                    </a:p>
                  </a:txBody>
                  <a:tcPr anchor="ctr">
                    <a:solidFill>
                      <a:schemeClr val="bg1">
                        <a:lumMod val="95000"/>
                      </a:schemeClr>
                    </a:solidFill>
                  </a:tcPr>
                </a:tc>
                <a:tc>
                  <a:txBody>
                    <a:bodyPr/>
                    <a:lstStyle/>
                    <a:p>
                      <a:pPr algn="ctr"/>
                      <a:r>
                        <a:rPr lang="es-CO" sz="1200">
                          <a:solidFill>
                            <a:schemeClr val="tx1">
                              <a:lumMod val="50000"/>
                            </a:schemeClr>
                          </a:solidFill>
                        </a:rPr>
                        <a:t>12,7</a:t>
                      </a:r>
                    </a:p>
                  </a:txBody>
                  <a:tcPr anchor="ctr">
                    <a:solidFill>
                      <a:schemeClr val="bg1">
                        <a:lumMod val="95000"/>
                      </a:schemeClr>
                    </a:solidFill>
                  </a:tcPr>
                </a:tc>
                <a:tc>
                  <a:txBody>
                    <a:bodyPr/>
                    <a:lstStyle/>
                    <a:p>
                      <a:pPr algn="ctr"/>
                      <a:r>
                        <a:rPr lang="es-MX" sz="1200">
                          <a:solidFill>
                            <a:schemeClr val="tx1">
                              <a:lumMod val="50000"/>
                            </a:schemeClr>
                          </a:solidFill>
                        </a:rPr>
                        <a:t>8,1</a:t>
                      </a:r>
                      <a:endParaRPr lang="es-CO" sz="1200">
                        <a:solidFill>
                          <a:schemeClr val="tx1">
                            <a:lumMod val="50000"/>
                          </a:schemeClr>
                        </a:solidFill>
                      </a:endParaRPr>
                    </a:p>
                  </a:txBody>
                  <a:tcPr anchor="ctr">
                    <a:solidFill>
                      <a:schemeClr val="bg1">
                        <a:lumMod val="95000"/>
                      </a:schemeClr>
                    </a:solidFill>
                  </a:tcPr>
                </a:tc>
                <a:tc>
                  <a:txBody>
                    <a:bodyPr/>
                    <a:lstStyle/>
                    <a:p>
                      <a:pPr algn="ctr"/>
                      <a:r>
                        <a:rPr lang="es-MX" sz="1200">
                          <a:solidFill>
                            <a:schemeClr val="tx1">
                              <a:lumMod val="50000"/>
                            </a:schemeClr>
                          </a:solidFill>
                        </a:rPr>
                        <a:t>6,5</a:t>
                      </a:r>
                      <a:endParaRPr lang="es-CO" sz="1200">
                        <a:solidFill>
                          <a:schemeClr val="tx1">
                            <a:lumMod val="50000"/>
                          </a:schemeClr>
                        </a:solidFill>
                      </a:endParaRPr>
                    </a:p>
                  </a:txBody>
                  <a:tcPr anchor="ctr">
                    <a:solidFill>
                      <a:schemeClr val="bg1">
                        <a:lumMod val="95000"/>
                      </a:schemeClr>
                    </a:solidFill>
                  </a:tcPr>
                </a:tc>
                <a:tc>
                  <a:txBody>
                    <a:bodyPr/>
                    <a:lstStyle/>
                    <a:p>
                      <a:pPr algn="ctr"/>
                      <a:r>
                        <a:rPr lang="es-MX" sz="1200">
                          <a:solidFill>
                            <a:schemeClr val="tx1">
                              <a:lumMod val="50000"/>
                            </a:schemeClr>
                          </a:solidFill>
                        </a:rPr>
                        <a:t>8,1</a:t>
                      </a:r>
                      <a:endParaRPr lang="es-CO" sz="1200">
                        <a:solidFill>
                          <a:schemeClr val="tx1">
                            <a:lumMod val="50000"/>
                          </a:schemeClr>
                        </a:solidFill>
                      </a:endParaRPr>
                    </a:p>
                  </a:txBody>
                  <a:tcPr anchor="ctr">
                    <a:solidFill>
                      <a:schemeClr val="bg1">
                        <a:lumMod val="95000"/>
                      </a:schemeClr>
                    </a:solidFill>
                  </a:tcPr>
                </a:tc>
                <a:tc>
                  <a:txBody>
                    <a:bodyPr/>
                    <a:lstStyle/>
                    <a:p>
                      <a:pPr algn="ctr"/>
                      <a:r>
                        <a:rPr lang="es-MX" sz="1200">
                          <a:solidFill>
                            <a:schemeClr val="tx1">
                              <a:lumMod val="50000"/>
                            </a:schemeClr>
                          </a:solidFill>
                        </a:rPr>
                        <a:t>7,2</a:t>
                      </a:r>
                      <a:endParaRPr lang="es-CO" sz="1200">
                        <a:solidFill>
                          <a:schemeClr val="tx1">
                            <a:lumMod val="50000"/>
                          </a:schemeClr>
                        </a:solidFill>
                      </a:endParaRPr>
                    </a:p>
                  </a:txBody>
                  <a:tcPr anchor="ctr">
                    <a:solidFill>
                      <a:schemeClr val="bg1">
                        <a:lumMod val="95000"/>
                      </a:schemeClr>
                    </a:solidFill>
                  </a:tcPr>
                </a:tc>
                <a:tc>
                  <a:txBody>
                    <a:bodyPr/>
                    <a:lstStyle/>
                    <a:p>
                      <a:pPr lvl="0" algn="ctr">
                        <a:buNone/>
                      </a:pPr>
                      <a:r>
                        <a:rPr lang="es-MX" sz="1200">
                          <a:solidFill>
                            <a:schemeClr val="tx1">
                              <a:lumMod val="50000"/>
                            </a:schemeClr>
                          </a:solidFill>
                        </a:rPr>
                        <a:t>6,1</a:t>
                      </a:r>
                    </a:p>
                  </a:txBody>
                  <a:tcPr anchor="ctr">
                    <a:solidFill>
                      <a:schemeClr val="bg1">
                        <a:lumMod val="95000"/>
                      </a:schemeClr>
                    </a:solidFill>
                  </a:tcPr>
                </a:tc>
                <a:tc>
                  <a:txBody>
                    <a:bodyPr/>
                    <a:lstStyle/>
                    <a:p>
                      <a:pPr lvl="0" algn="ctr">
                        <a:buNone/>
                      </a:pPr>
                      <a:r>
                        <a:rPr lang="es-MX" sz="1200">
                          <a:solidFill>
                            <a:schemeClr val="tx1">
                              <a:lumMod val="50000"/>
                            </a:schemeClr>
                          </a:solidFill>
                        </a:rPr>
                        <a:t>8,9</a:t>
                      </a:r>
                    </a:p>
                  </a:txBody>
                  <a:tcPr anchor="ctr">
                    <a:solidFill>
                      <a:schemeClr val="bg1">
                        <a:lumMod val="95000"/>
                      </a:schemeClr>
                    </a:solidFill>
                  </a:tcPr>
                </a:tc>
                <a:tc>
                  <a:txBody>
                    <a:bodyPr/>
                    <a:lstStyle/>
                    <a:p>
                      <a:pPr lvl="0" algn="ctr">
                        <a:buNone/>
                      </a:pPr>
                      <a:r>
                        <a:rPr lang="es-MX" sz="1200">
                          <a:solidFill>
                            <a:schemeClr val="tx1">
                              <a:lumMod val="50000"/>
                            </a:schemeClr>
                          </a:solidFill>
                        </a:rPr>
                        <a:t>8,8</a:t>
                      </a:r>
                    </a:p>
                  </a:txBody>
                  <a:tcPr anchor="ctr">
                    <a:solidFill>
                      <a:schemeClr val="bg1">
                        <a:lumMod val="95000"/>
                      </a:schemeClr>
                    </a:solidFill>
                  </a:tcPr>
                </a:tc>
                <a:extLst>
                  <a:ext uri="{0D108BD9-81ED-4DB2-BD59-A6C34878D82A}">
                    <a16:rowId xmlns:a16="http://schemas.microsoft.com/office/drawing/2014/main" val="3462431911"/>
                  </a:ext>
                </a:extLst>
              </a:tr>
            </a:tbl>
          </a:graphicData>
        </a:graphic>
      </p:graphicFrame>
      <p:graphicFrame>
        <p:nvGraphicFramePr>
          <p:cNvPr id="43" name="Tabla 42">
            <a:extLst>
              <a:ext uri="{FF2B5EF4-FFF2-40B4-BE49-F238E27FC236}">
                <a16:creationId xmlns:a16="http://schemas.microsoft.com/office/drawing/2014/main" id="{847E7400-421D-CBF9-1002-9B3AA0CEE784}"/>
              </a:ext>
            </a:extLst>
          </p:cNvPr>
          <p:cNvGraphicFramePr>
            <a:graphicFrameLocks noGrp="1"/>
          </p:cNvGraphicFramePr>
          <p:nvPr/>
        </p:nvGraphicFramePr>
        <p:xfrm>
          <a:off x="2198152" y="5158273"/>
          <a:ext cx="9155643" cy="1112520"/>
        </p:xfrm>
        <a:graphic>
          <a:graphicData uri="http://schemas.openxmlformats.org/drawingml/2006/table">
            <a:tbl>
              <a:tblPr firstRow="1" bandRow="1">
                <a:tableStyleId>{5C22544A-7EE6-4342-B048-85BDC9FD1C3A}</a:tableStyleId>
              </a:tblPr>
              <a:tblGrid>
                <a:gridCol w="1543851">
                  <a:extLst>
                    <a:ext uri="{9D8B030D-6E8A-4147-A177-3AD203B41FA5}">
                      <a16:colId xmlns:a16="http://schemas.microsoft.com/office/drawing/2014/main" val="1113414371"/>
                    </a:ext>
                  </a:extLst>
                </a:gridCol>
                <a:gridCol w="634316">
                  <a:extLst>
                    <a:ext uri="{9D8B030D-6E8A-4147-A177-3AD203B41FA5}">
                      <a16:colId xmlns:a16="http://schemas.microsoft.com/office/drawing/2014/main" val="2880615388"/>
                    </a:ext>
                  </a:extLst>
                </a:gridCol>
                <a:gridCol w="634316">
                  <a:extLst>
                    <a:ext uri="{9D8B030D-6E8A-4147-A177-3AD203B41FA5}">
                      <a16:colId xmlns:a16="http://schemas.microsoft.com/office/drawing/2014/main" val="3221563792"/>
                    </a:ext>
                  </a:extLst>
                </a:gridCol>
                <a:gridCol w="634316">
                  <a:extLst>
                    <a:ext uri="{9D8B030D-6E8A-4147-A177-3AD203B41FA5}">
                      <a16:colId xmlns:a16="http://schemas.microsoft.com/office/drawing/2014/main" val="5183052"/>
                    </a:ext>
                  </a:extLst>
                </a:gridCol>
                <a:gridCol w="634316">
                  <a:extLst>
                    <a:ext uri="{9D8B030D-6E8A-4147-A177-3AD203B41FA5}">
                      <a16:colId xmlns:a16="http://schemas.microsoft.com/office/drawing/2014/main" val="1009753733"/>
                    </a:ext>
                  </a:extLst>
                </a:gridCol>
                <a:gridCol w="634316">
                  <a:extLst>
                    <a:ext uri="{9D8B030D-6E8A-4147-A177-3AD203B41FA5}">
                      <a16:colId xmlns:a16="http://schemas.microsoft.com/office/drawing/2014/main" val="3906431369"/>
                    </a:ext>
                  </a:extLst>
                </a:gridCol>
                <a:gridCol w="634316">
                  <a:extLst>
                    <a:ext uri="{9D8B030D-6E8A-4147-A177-3AD203B41FA5}">
                      <a16:colId xmlns:a16="http://schemas.microsoft.com/office/drawing/2014/main" val="1828435222"/>
                    </a:ext>
                  </a:extLst>
                </a:gridCol>
                <a:gridCol w="634316">
                  <a:extLst>
                    <a:ext uri="{9D8B030D-6E8A-4147-A177-3AD203B41FA5}">
                      <a16:colId xmlns:a16="http://schemas.microsoft.com/office/drawing/2014/main" val="4063025655"/>
                    </a:ext>
                  </a:extLst>
                </a:gridCol>
                <a:gridCol w="634316">
                  <a:extLst>
                    <a:ext uri="{9D8B030D-6E8A-4147-A177-3AD203B41FA5}">
                      <a16:colId xmlns:a16="http://schemas.microsoft.com/office/drawing/2014/main" val="331311846"/>
                    </a:ext>
                  </a:extLst>
                </a:gridCol>
                <a:gridCol w="634316">
                  <a:extLst>
                    <a:ext uri="{9D8B030D-6E8A-4147-A177-3AD203B41FA5}">
                      <a16:colId xmlns:a16="http://schemas.microsoft.com/office/drawing/2014/main" val="2774564002"/>
                    </a:ext>
                  </a:extLst>
                </a:gridCol>
                <a:gridCol w="634316">
                  <a:extLst>
                    <a:ext uri="{9D8B030D-6E8A-4147-A177-3AD203B41FA5}">
                      <a16:colId xmlns:a16="http://schemas.microsoft.com/office/drawing/2014/main" val="2116532623"/>
                    </a:ext>
                  </a:extLst>
                </a:gridCol>
                <a:gridCol w="634316">
                  <a:extLst>
                    <a:ext uri="{9D8B030D-6E8A-4147-A177-3AD203B41FA5}">
                      <a16:colId xmlns:a16="http://schemas.microsoft.com/office/drawing/2014/main" val="1778303113"/>
                    </a:ext>
                  </a:extLst>
                </a:gridCol>
                <a:gridCol w="634316">
                  <a:extLst>
                    <a:ext uri="{9D8B030D-6E8A-4147-A177-3AD203B41FA5}">
                      <a16:colId xmlns:a16="http://schemas.microsoft.com/office/drawing/2014/main" val="1803006317"/>
                    </a:ext>
                  </a:extLst>
                </a:gridCol>
              </a:tblGrid>
              <a:tr h="370840">
                <a:tc>
                  <a:txBody>
                    <a:bodyPr/>
                    <a:lstStyle/>
                    <a:p>
                      <a:pPr algn="ctr"/>
                      <a:r>
                        <a:rPr lang="es-CO" sz="1200"/>
                        <a:t>Indicador</a:t>
                      </a:r>
                    </a:p>
                  </a:txBody>
                  <a:tcPr anchor="ctr">
                    <a:solidFill>
                      <a:srgbClr val="FFC000"/>
                    </a:solidFill>
                  </a:tcPr>
                </a:tc>
                <a:tc>
                  <a:txBody>
                    <a:bodyPr/>
                    <a:lstStyle/>
                    <a:p>
                      <a:pPr algn="ctr"/>
                      <a:r>
                        <a:rPr lang="es-CO" sz="1200"/>
                        <a:t>SEP</a:t>
                      </a:r>
                    </a:p>
                  </a:txBody>
                  <a:tcPr anchor="ctr">
                    <a:solidFill>
                      <a:srgbClr val="FFC000"/>
                    </a:solidFill>
                  </a:tcPr>
                </a:tc>
                <a:tc>
                  <a:txBody>
                    <a:bodyPr/>
                    <a:lstStyle/>
                    <a:p>
                      <a:pPr algn="ctr"/>
                      <a:r>
                        <a:rPr lang="es-CO" sz="1200"/>
                        <a:t>OCT</a:t>
                      </a:r>
                    </a:p>
                  </a:txBody>
                  <a:tcPr anchor="ctr">
                    <a:solidFill>
                      <a:srgbClr val="FFC000"/>
                    </a:solidFill>
                  </a:tcPr>
                </a:tc>
                <a:tc>
                  <a:txBody>
                    <a:bodyPr/>
                    <a:lstStyle/>
                    <a:p>
                      <a:pPr algn="ctr"/>
                      <a:r>
                        <a:rPr lang="es-CO" sz="1200"/>
                        <a:t>NOV</a:t>
                      </a:r>
                    </a:p>
                  </a:txBody>
                  <a:tcPr anchor="ctr">
                    <a:solidFill>
                      <a:srgbClr val="FFC000"/>
                    </a:solidFill>
                  </a:tcPr>
                </a:tc>
                <a:tc>
                  <a:txBody>
                    <a:bodyPr/>
                    <a:lstStyle/>
                    <a:p>
                      <a:pPr algn="ctr"/>
                      <a:r>
                        <a:rPr lang="es-CO" sz="1200"/>
                        <a:t>DIC</a:t>
                      </a:r>
                    </a:p>
                  </a:txBody>
                  <a:tcPr anchor="ctr">
                    <a:solidFill>
                      <a:srgbClr val="FFC000"/>
                    </a:solidFill>
                  </a:tcPr>
                </a:tc>
                <a:tc>
                  <a:txBody>
                    <a:bodyPr/>
                    <a:lstStyle/>
                    <a:p>
                      <a:pPr algn="ctr"/>
                      <a:r>
                        <a:rPr lang="es-CO" sz="1200"/>
                        <a:t>ENE</a:t>
                      </a:r>
                    </a:p>
                  </a:txBody>
                  <a:tcPr anchor="ctr">
                    <a:solidFill>
                      <a:srgbClr val="FFC000"/>
                    </a:solidFill>
                  </a:tcPr>
                </a:tc>
                <a:tc>
                  <a:txBody>
                    <a:bodyPr/>
                    <a:lstStyle/>
                    <a:p>
                      <a:pPr algn="ctr"/>
                      <a:r>
                        <a:rPr lang="es-MX" sz="1200"/>
                        <a:t>FEB</a:t>
                      </a:r>
                      <a:endParaRPr lang="es-CO" sz="1200"/>
                    </a:p>
                  </a:txBody>
                  <a:tcPr anchor="ctr">
                    <a:solidFill>
                      <a:srgbClr val="FFC000"/>
                    </a:solidFill>
                  </a:tcPr>
                </a:tc>
                <a:tc>
                  <a:txBody>
                    <a:bodyPr/>
                    <a:lstStyle/>
                    <a:p>
                      <a:pPr algn="ctr"/>
                      <a:r>
                        <a:rPr lang="es-MX" sz="1200"/>
                        <a:t>MAR</a:t>
                      </a:r>
                      <a:endParaRPr lang="es-CO" sz="1200"/>
                    </a:p>
                  </a:txBody>
                  <a:tcPr anchor="ctr">
                    <a:solidFill>
                      <a:srgbClr val="FFC000"/>
                    </a:solidFill>
                  </a:tcPr>
                </a:tc>
                <a:tc>
                  <a:txBody>
                    <a:bodyPr/>
                    <a:lstStyle/>
                    <a:p>
                      <a:pPr algn="ctr"/>
                      <a:r>
                        <a:rPr lang="es-MX" sz="1200"/>
                        <a:t>ABR</a:t>
                      </a:r>
                      <a:endParaRPr lang="es-CO" sz="1200"/>
                    </a:p>
                  </a:txBody>
                  <a:tcPr anchor="ctr">
                    <a:solidFill>
                      <a:srgbClr val="FFC000"/>
                    </a:solidFill>
                  </a:tcPr>
                </a:tc>
                <a:tc>
                  <a:txBody>
                    <a:bodyPr/>
                    <a:lstStyle/>
                    <a:p>
                      <a:pPr algn="ctr"/>
                      <a:r>
                        <a:rPr lang="es-MX" sz="1200"/>
                        <a:t>MAY</a:t>
                      </a:r>
                      <a:endParaRPr lang="es-CO" sz="1200"/>
                    </a:p>
                  </a:txBody>
                  <a:tcPr anchor="ctr">
                    <a:solidFill>
                      <a:srgbClr val="FFC000"/>
                    </a:solidFill>
                  </a:tcPr>
                </a:tc>
                <a:tc>
                  <a:txBody>
                    <a:bodyPr/>
                    <a:lstStyle/>
                    <a:p>
                      <a:pPr lvl="0" algn="ctr">
                        <a:buNone/>
                      </a:pPr>
                      <a:r>
                        <a:rPr lang="es-MX" sz="1200"/>
                        <a:t>JUN</a:t>
                      </a:r>
                    </a:p>
                  </a:txBody>
                  <a:tcPr anchor="ctr">
                    <a:solidFill>
                      <a:srgbClr val="FFC000"/>
                    </a:solidFill>
                  </a:tcPr>
                </a:tc>
                <a:tc>
                  <a:txBody>
                    <a:bodyPr/>
                    <a:lstStyle/>
                    <a:p>
                      <a:pPr lvl="0" algn="ctr">
                        <a:buNone/>
                      </a:pPr>
                      <a:r>
                        <a:rPr lang="es-MX" sz="1200"/>
                        <a:t>JUL</a:t>
                      </a:r>
                    </a:p>
                  </a:txBody>
                  <a:tcPr anchor="ctr">
                    <a:solidFill>
                      <a:srgbClr val="FFC000"/>
                    </a:solidFill>
                  </a:tcPr>
                </a:tc>
                <a:tc>
                  <a:txBody>
                    <a:bodyPr/>
                    <a:lstStyle/>
                    <a:p>
                      <a:pPr lvl="0" algn="ctr">
                        <a:buNone/>
                      </a:pPr>
                      <a:r>
                        <a:rPr lang="es-MX" sz="1200"/>
                        <a:t>AGO</a:t>
                      </a:r>
                    </a:p>
                  </a:txBody>
                  <a:tcPr anchor="ctr">
                    <a:solidFill>
                      <a:srgbClr val="FFC000"/>
                    </a:solidFill>
                  </a:tcPr>
                </a:tc>
                <a:extLst>
                  <a:ext uri="{0D108BD9-81ED-4DB2-BD59-A6C34878D82A}">
                    <a16:rowId xmlns:a16="http://schemas.microsoft.com/office/drawing/2014/main" val="1994992180"/>
                  </a:ext>
                </a:extLst>
              </a:tr>
              <a:tr h="370840">
                <a:tc>
                  <a:txBody>
                    <a:bodyPr/>
                    <a:lstStyle/>
                    <a:p>
                      <a:pPr algn="ctr"/>
                      <a:r>
                        <a:rPr lang="es-CO" sz="1200">
                          <a:solidFill>
                            <a:schemeClr val="tx1">
                              <a:lumMod val="50000"/>
                            </a:schemeClr>
                          </a:solidFill>
                        </a:rPr>
                        <a:t>PROMS</a:t>
                      </a:r>
                    </a:p>
                  </a:txBody>
                  <a:tcPr anchor="ctr">
                    <a:solidFill>
                      <a:srgbClr val="F3FB8F"/>
                    </a:solidFill>
                  </a:tcPr>
                </a:tc>
                <a:tc>
                  <a:txBody>
                    <a:bodyPr/>
                    <a:lstStyle/>
                    <a:p>
                      <a:pPr algn="ctr"/>
                      <a:r>
                        <a:rPr lang="es-CO" sz="1200">
                          <a:solidFill>
                            <a:schemeClr val="tx1">
                              <a:lumMod val="50000"/>
                            </a:schemeClr>
                          </a:solidFill>
                        </a:rPr>
                        <a:t>95%</a:t>
                      </a:r>
                    </a:p>
                  </a:txBody>
                  <a:tcPr anchor="ctr">
                    <a:solidFill>
                      <a:srgbClr val="F3FB8F"/>
                    </a:solidFill>
                  </a:tcPr>
                </a:tc>
                <a:tc>
                  <a:txBody>
                    <a:bodyPr/>
                    <a:lstStyle/>
                    <a:p>
                      <a:pPr algn="ctr"/>
                      <a:r>
                        <a:rPr lang="es-CO" sz="1200">
                          <a:solidFill>
                            <a:schemeClr val="tx1">
                              <a:lumMod val="50000"/>
                            </a:schemeClr>
                          </a:solidFill>
                        </a:rPr>
                        <a:t>92%</a:t>
                      </a:r>
                    </a:p>
                  </a:txBody>
                  <a:tcPr anchor="ctr">
                    <a:solidFill>
                      <a:srgbClr val="F3FB8F"/>
                    </a:solidFill>
                  </a:tcPr>
                </a:tc>
                <a:tc>
                  <a:txBody>
                    <a:bodyPr/>
                    <a:lstStyle/>
                    <a:p>
                      <a:pPr algn="ctr"/>
                      <a:r>
                        <a:rPr lang="es-CO" sz="1200">
                          <a:solidFill>
                            <a:schemeClr val="tx1">
                              <a:lumMod val="50000"/>
                            </a:schemeClr>
                          </a:solidFill>
                        </a:rPr>
                        <a:t>95%</a:t>
                      </a:r>
                    </a:p>
                  </a:txBody>
                  <a:tcPr anchor="ctr">
                    <a:solidFill>
                      <a:srgbClr val="F3FB8F"/>
                    </a:solidFill>
                  </a:tcPr>
                </a:tc>
                <a:tc>
                  <a:txBody>
                    <a:bodyPr/>
                    <a:lstStyle/>
                    <a:p>
                      <a:pPr algn="ctr"/>
                      <a:r>
                        <a:rPr lang="es-CO" sz="1200">
                          <a:solidFill>
                            <a:schemeClr val="tx1">
                              <a:lumMod val="50000"/>
                            </a:schemeClr>
                          </a:solidFill>
                        </a:rPr>
                        <a:t>96%</a:t>
                      </a:r>
                    </a:p>
                  </a:txBody>
                  <a:tcPr anchor="ctr">
                    <a:solidFill>
                      <a:srgbClr val="F3FB8F"/>
                    </a:solidFill>
                  </a:tcPr>
                </a:tc>
                <a:tc>
                  <a:txBody>
                    <a:bodyPr/>
                    <a:lstStyle/>
                    <a:p>
                      <a:pPr algn="ctr"/>
                      <a:r>
                        <a:rPr lang="es-CO" sz="1200">
                          <a:solidFill>
                            <a:schemeClr val="tx1">
                              <a:lumMod val="50000"/>
                            </a:schemeClr>
                          </a:solidFill>
                        </a:rPr>
                        <a:t>95%</a:t>
                      </a:r>
                    </a:p>
                  </a:txBody>
                  <a:tcPr anchor="ctr">
                    <a:solidFill>
                      <a:srgbClr val="F3FB8F"/>
                    </a:solidFill>
                  </a:tcPr>
                </a:tc>
                <a:tc>
                  <a:txBody>
                    <a:bodyPr/>
                    <a:lstStyle/>
                    <a:p>
                      <a:pPr algn="ctr"/>
                      <a:r>
                        <a:rPr lang="es-MX" sz="1200">
                          <a:solidFill>
                            <a:schemeClr val="tx1">
                              <a:lumMod val="50000"/>
                            </a:schemeClr>
                          </a:solidFill>
                        </a:rPr>
                        <a:t>89%</a:t>
                      </a:r>
                      <a:endParaRPr lang="es-CO" sz="1200">
                        <a:solidFill>
                          <a:schemeClr val="tx1">
                            <a:lumMod val="50000"/>
                          </a:schemeClr>
                        </a:solidFill>
                      </a:endParaRPr>
                    </a:p>
                  </a:txBody>
                  <a:tcPr anchor="ctr">
                    <a:solidFill>
                      <a:srgbClr val="F3FB8F"/>
                    </a:solidFill>
                  </a:tcPr>
                </a:tc>
                <a:tc>
                  <a:txBody>
                    <a:bodyPr/>
                    <a:lstStyle/>
                    <a:p>
                      <a:pPr algn="ctr"/>
                      <a:r>
                        <a:rPr lang="es-MX" sz="1200">
                          <a:solidFill>
                            <a:schemeClr val="tx1">
                              <a:lumMod val="50000"/>
                            </a:schemeClr>
                          </a:solidFill>
                        </a:rPr>
                        <a:t>92%</a:t>
                      </a:r>
                      <a:endParaRPr lang="es-CO" sz="1200">
                        <a:solidFill>
                          <a:schemeClr val="tx1">
                            <a:lumMod val="50000"/>
                          </a:schemeClr>
                        </a:solidFill>
                      </a:endParaRPr>
                    </a:p>
                  </a:txBody>
                  <a:tcPr anchor="ctr">
                    <a:solidFill>
                      <a:srgbClr val="F3FB8F"/>
                    </a:solidFill>
                  </a:tcPr>
                </a:tc>
                <a:tc>
                  <a:txBody>
                    <a:bodyPr/>
                    <a:lstStyle/>
                    <a:p>
                      <a:pPr algn="ctr"/>
                      <a:r>
                        <a:rPr lang="es-MX" sz="1200">
                          <a:solidFill>
                            <a:schemeClr val="tx1">
                              <a:lumMod val="50000"/>
                            </a:schemeClr>
                          </a:solidFill>
                        </a:rPr>
                        <a:t>89%</a:t>
                      </a:r>
                      <a:endParaRPr lang="es-CO" sz="1200">
                        <a:solidFill>
                          <a:schemeClr val="tx1">
                            <a:lumMod val="50000"/>
                          </a:schemeClr>
                        </a:solidFill>
                      </a:endParaRPr>
                    </a:p>
                  </a:txBody>
                  <a:tcPr anchor="ctr">
                    <a:solidFill>
                      <a:srgbClr val="F3FB8F"/>
                    </a:solidFill>
                  </a:tcPr>
                </a:tc>
                <a:tc>
                  <a:txBody>
                    <a:bodyPr/>
                    <a:lstStyle/>
                    <a:p>
                      <a:pPr algn="ctr"/>
                      <a:r>
                        <a:rPr lang="es-MX" sz="1200">
                          <a:solidFill>
                            <a:schemeClr val="tx1">
                              <a:lumMod val="50000"/>
                            </a:schemeClr>
                          </a:solidFill>
                        </a:rPr>
                        <a:t>97%</a:t>
                      </a:r>
                      <a:endParaRPr lang="es-CO" sz="1200">
                        <a:solidFill>
                          <a:schemeClr val="tx1">
                            <a:lumMod val="50000"/>
                          </a:schemeClr>
                        </a:solidFill>
                      </a:endParaRPr>
                    </a:p>
                  </a:txBody>
                  <a:tcPr anchor="ctr">
                    <a:solidFill>
                      <a:srgbClr val="F3FB8F"/>
                    </a:solidFill>
                  </a:tcPr>
                </a:tc>
                <a:tc>
                  <a:txBody>
                    <a:bodyPr/>
                    <a:lstStyle/>
                    <a:p>
                      <a:pPr lvl="0" algn="ctr">
                        <a:buNone/>
                      </a:pPr>
                      <a:r>
                        <a:rPr lang="es-MX" sz="1200">
                          <a:solidFill>
                            <a:schemeClr val="tx1">
                              <a:lumMod val="50000"/>
                            </a:schemeClr>
                          </a:solidFill>
                        </a:rPr>
                        <a:t>93%</a:t>
                      </a:r>
                    </a:p>
                  </a:txBody>
                  <a:tcPr anchor="ctr">
                    <a:solidFill>
                      <a:srgbClr val="F3FB8F"/>
                    </a:solidFill>
                  </a:tcPr>
                </a:tc>
                <a:tc>
                  <a:txBody>
                    <a:bodyPr/>
                    <a:lstStyle/>
                    <a:p>
                      <a:pPr lvl="0" algn="ctr">
                        <a:buNone/>
                      </a:pPr>
                      <a:r>
                        <a:rPr lang="es-MX" sz="1200">
                          <a:solidFill>
                            <a:schemeClr val="tx1">
                              <a:lumMod val="50000"/>
                            </a:schemeClr>
                          </a:solidFill>
                        </a:rPr>
                        <a:t>96%</a:t>
                      </a:r>
                    </a:p>
                  </a:txBody>
                  <a:tcPr anchor="ctr">
                    <a:solidFill>
                      <a:srgbClr val="F3FB8F"/>
                    </a:solidFill>
                  </a:tcPr>
                </a:tc>
                <a:tc>
                  <a:txBody>
                    <a:bodyPr/>
                    <a:lstStyle/>
                    <a:p>
                      <a:pPr lvl="0" algn="ctr">
                        <a:buNone/>
                      </a:pPr>
                      <a:r>
                        <a:rPr lang="es-MX" sz="1200">
                          <a:solidFill>
                            <a:schemeClr val="tx1">
                              <a:lumMod val="50000"/>
                            </a:schemeClr>
                          </a:solidFill>
                        </a:rPr>
                        <a:t>99%</a:t>
                      </a:r>
                    </a:p>
                  </a:txBody>
                  <a:tcPr anchor="ctr">
                    <a:solidFill>
                      <a:srgbClr val="F3FB8F"/>
                    </a:solidFill>
                  </a:tcPr>
                </a:tc>
                <a:extLst>
                  <a:ext uri="{0D108BD9-81ED-4DB2-BD59-A6C34878D82A}">
                    <a16:rowId xmlns:a16="http://schemas.microsoft.com/office/drawing/2014/main" val="2853932976"/>
                  </a:ext>
                </a:extLst>
              </a:tr>
              <a:tr h="370840">
                <a:tc>
                  <a:txBody>
                    <a:bodyPr/>
                    <a:lstStyle/>
                    <a:p>
                      <a:pPr algn="ctr"/>
                      <a:r>
                        <a:rPr lang="es-CO" sz="1200">
                          <a:solidFill>
                            <a:schemeClr val="tx1">
                              <a:lumMod val="50000"/>
                            </a:schemeClr>
                          </a:solidFill>
                        </a:rPr>
                        <a:t>NPS </a:t>
                      </a:r>
                    </a:p>
                  </a:txBody>
                  <a:tcPr anchor="ctr">
                    <a:solidFill>
                      <a:schemeClr val="bg1">
                        <a:lumMod val="95000"/>
                      </a:schemeClr>
                    </a:solidFill>
                  </a:tcPr>
                </a:tc>
                <a:tc>
                  <a:txBody>
                    <a:bodyPr/>
                    <a:lstStyle/>
                    <a:p>
                      <a:pPr algn="ctr"/>
                      <a:r>
                        <a:rPr lang="es-CO" sz="1200">
                          <a:solidFill>
                            <a:schemeClr val="tx1">
                              <a:lumMod val="50000"/>
                            </a:schemeClr>
                          </a:solidFill>
                        </a:rPr>
                        <a:t>97</a:t>
                      </a:r>
                    </a:p>
                  </a:txBody>
                  <a:tcPr anchor="ctr">
                    <a:solidFill>
                      <a:schemeClr val="bg1">
                        <a:lumMod val="95000"/>
                      </a:schemeClr>
                    </a:solidFill>
                  </a:tcPr>
                </a:tc>
                <a:tc>
                  <a:txBody>
                    <a:bodyPr/>
                    <a:lstStyle/>
                    <a:p>
                      <a:pPr algn="ctr"/>
                      <a:r>
                        <a:rPr lang="es-CO" sz="1200">
                          <a:solidFill>
                            <a:schemeClr val="tx1">
                              <a:lumMod val="50000"/>
                            </a:schemeClr>
                          </a:solidFill>
                        </a:rPr>
                        <a:t>92</a:t>
                      </a:r>
                    </a:p>
                  </a:txBody>
                  <a:tcPr anchor="ctr">
                    <a:solidFill>
                      <a:schemeClr val="bg1">
                        <a:lumMod val="95000"/>
                      </a:schemeClr>
                    </a:solidFill>
                  </a:tcPr>
                </a:tc>
                <a:tc>
                  <a:txBody>
                    <a:bodyPr/>
                    <a:lstStyle/>
                    <a:p>
                      <a:pPr algn="ctr"/>
                      <a:r>
                        <a:rPr lang="es-CO" sz="1200">
                          <a:solidFill>
                            <a:schemeClr val="tx1">
                              <a:lumMod val="50000"/>
                            </a:schemeClr>
                          </a:solidFill>
                        </a:rPr>
                        <a:t>93</a:t>
                      </a:r>
                    </a:p>
                  </a:txBody>
                  <a:tcPr anchor="ctr">
                    <a:solidFill>
                      <a:schemeClr val="bg1">
                        <a:lumMod val="95000"/>
                      </a:schemeClr>
                    </a:solidFill>
                  </a:tcPr>
                </a:tc>
                <a:tc>
                  <a:txBody>
                    <a:bodyPr/>
                    <a:lstStyle/>
                    <a:p>
                      <a:pPr algn="ctr"/>
                      <a:r>
                        <a:rPr lang="es-CO" sz="1200">
                          <a:solidFill>
                            <a:schemeClr val="tx1">
                              <a:lumMod val="50000"/>
                            </a:schemeClr>
                          </a:solidFill>
                        </a:rPr>
                        <a:t>98</a:t>
                      </a:r>
                    </a:p>
                  </a:txBody>
                  <a:tcPr anchor="ctr">
                    <a:solidFill>
                      <a:schemeClr val="bg1">
                        <a:lumMod val="95000"/>
                      </a:schemeClr>
                    </a:solidFill>
                  </a:tcPr>
                </a:tc>
                <a:tc>
                  <a:txBody>
                    <a:bodyPr/>
                    <a:lstStyle/>
                    <a:p>
                      <a:pPr algn="ctr"/>
                      <a:r>
                        <a:rPr lang="es-CO" sz="1200">
                          <a:solidFill>
                            <a:schemeClr val="tx1">
                              <a:lumMod val="50000"/>
                            </a:schemeClr>
                          </a:solidFill>
                        </a:rPr>
                        <a:t>97</a:t>
                      </a:r>
                    </a:p>
                  </a:txBody>
                  <a:tcPr anchor="ctr">
                    <a:solidFill>
                      <a:schemeClr val="bg1">
                        <a:lumMod val="95000"/>
                      </a:schemeClr>
                    </a:solidFill>
                  </a:tcPr>
                </a:tc>
                <a:tc>
                  <a:txBody>
                    <a:bodyPr/>
                    <a:lstStyle/>
                    <a:p>
                      <a:pPr algn="ctr"/>
                      <a:r>
                        <a:rPr lang="es-MX" sz="1200">
                          <a:solidFill>
                            <a:schemeClr val="tx1">
                              <a:lumMod val="50000"/>
                            </a:schemeClr>
                          </a:solidFill>
                        </a:rPr>
                        <a:t>83</a:t>
                      </a:r>
                      <a:endParaRPr lang="es-CO" sz="1200">
                        <a:solidFill>
                          <a:schemeClr val="tx1">
                            <a:lumMod val="50000"/>
                          </a:schemeClr>
                        </a:solidFill>
                      </a:endParaRPr>
                    </a:p>
                  </a:txBody>
                  <a:tcPr anchor="ctr">
                    <a:solidFill>
                      <a:schemeClr val="bg1">
                        <a:lumMod val="95000"/>
                      </a:schemeClr>
                    </a:solidFill>
                  </a:tcPr>
                </a:tc>
                <a:tc>
                  <a:txBody>
                    <a:bodyPr/>
                    <a:lstStyle/>
                    <a:p>
                      <a:pPr algn="ctr"/>
                      <a:r>
                        <a:rPr lang="es-MX" sz="1200">
                          <a:solidFill>
                            <a:schemeClr val="tx1">
                              <a:lumMod val="50000"/>
                            </a:schemeClr>
                          </a:solidFill>
                        </a:rPr>
                        <a:t>90</a:t>
                      </a:r>
                      <a:endParaRPr lang="es-CO" sz="1200">
                        <a:solidFill>
                          <a:schemeClr val="tx1">
                            <a:lumMod val="50000"/>
                          </a:schemeClr>
                        </a:solidFill>
                      </a:endParaRPr>
                    </a:p>
                  </a:txBody>
                  <a:tcPr anchor="ctr">
                    <a:solidFill>
                      <a:schemeClr val="bg1">
                        <a:lumMod val="95000"/>
                      </a:schemeClr>
                    </a:solidFill>
                  </a:tcPr>
                </a:tc>
                <a:tc>
                  <a:txBody>
                    <a:bodyPr/>
                    <a:lstStyle/>
                    <a:p>
                      <a:pPr algn="ctr"/>
                      <a:r>
                        <a:rPr lang="es-MX" sz="1200">
                          <a:solidFill>
                            <a:schemeClr val="tx1">
                              <a:lumMod val="50000"/>
                            </a:schemeClr>
                          </a:solidFill>
                        </a:rPr>
                        <a:t>88</a:t>
                      </a:r>
                      <a:endParaRPr lang="es-CO" sz="1200">
                        <a:solidFill>
                          <a:schemeClr val="tx1">
                            <a:lumMod val="50000"/>
                          </a:schemeClr>
                        </a:solidFill>
                      </a:endParaRPr>
                    </a:p>
                  </a:txBody>
                  <a:tcPr anchor="ctr">
                    <a:solidFill>
                      <a:schemeClr val="bg1">
                        <a:lumMod val="95000"/>
                      </a:schemeClr>
                    </a:solidFill>
                  </a:tcPr>
                </a:tc>
                <a:tc>
                  <a:txBody>
                    <a:bodyPr/>
                    <a:lstStyle/>
                    <a:p>
                      <a:pPr algn="ctr"/>
                      <a:r>
                        <a:rPr lang="es-MX" sz="1200">
                          <a:solidFill>
                            <a:schemeClr val="tx1">
                              <a:lumMod val="50000"/>
                            </a:schemeClr>
                          </a:solidFill>
                        </a:rPr>
                        <a:t>93</a:t>
                      </a:r>
                      <a:endParaRPr lang="es-CO" sz="1200">
                        <a:solidFill>
                          <a:schemeClr val="tx1">
                            <a:lumMod val="50000"/>
                          </a:schemeClr>
                        </a:solidFill>
                      </a:endParaRPr>
                    </a:p>
                  </a:txBody>
                  <a:tcPr anchor="ctr">
                    <a:solidFill>
                      <a:schemeClr val="bg1">
                        <a:lumMod val="95000"/>
                      </a:schemeClr>
                    </a:solidFill>
                  </a:tcPr>
                </a:tc>
                <a:tc>
                  <a:txBody>
                    <a:bodyPr/>
                    <a:lstStyle/>
                    <a:p>
                      <a:pPr lvl="0" algn="ctr">
                        <a:buNone/>
                      </a:pPr>
                      <a:r>
                        <a:rPr lang="es-MX" sz="1200">
                          <a:solidFill>
                            <a:schemeClr val="tx1">
                              <a:lumMod val="50000"/>
                            </a:schemeClr>
                          </a:solidFill>
                        </a:rPr>
                        <a:t>98,3</a:t>
                      </a:r>
                    </a:p>
                  </a:txBody>
                  <a:tcPr anchor="ctr">
                    <a:solidFill>
                      <a:schemeClr val="bg1">
                        <a:lumMod val="95000"/>
                      </a:schemeClr>
                    </a:solidFill>
                  </a:tcPr>
                </a:tc>
                <a:tc>
                  <a:txBody>
                    <a:bodyPr/>
                    <a:lstStyle/>
                    <a:p>
                      <a:pPr lvl="0" algn="ctr">
                        <a:buNone/>
                      </a:pPr>
                      <a:r>
                        <a:rPr lang="es-MX" sz="1200">
                          <a:solidFill>
                            <a:schemeClr val="tx1">
                              <a:lumMod val="50000"/>
                            </a:schemeClr>
                          </a:solidFill>
                        </a:rPr>
                        <a:t>98,9</a:t>
                      </a:r>
                    </a:p>
                  </a:txBody>
                  <a:tcPr anchor="ctr">
                    <a:solidFill>
                      <a:schemeClr val="bg1">
                        <a:lumMod val="95000"/>
                      </a:schemeClr>
                    </a:solidFill>
                  </a:tcPr>
                </a:tc>
                <a:tc>
                  <a:txBody>
                    <a:bodyPr/>
                    <a:lstStyle/>
                    <a:p>
                      <a:pPr lvl="0" algn="ctr">
                        <a:buNone/>
                      </a:pPr>
                      <a:r>
                        <a:rPr lang="es-MX" sz="1200">
                          <a:solidFill>
                            <a:schemeClr val="tx1">
                              <a:lumMod val="50000"/>
                            </a:schemeClr>
                          </a:solidFill>
                        </a:rPr>
                        <a:t>99,7</a:t>
                      </a:r>
                    </a:p>
                  </a:txBody>
                  <a:tcPr anchor="ctr">
                    <a:solidFill>
                      <a:schemeClr val="bg1">
                        <a:lumMod val="95000"/>
                      </a:schemeClr>
                    </a:solidFill>
                  </a:tcPr>
                </a:tc>
                <a:extLst>
                  <a:ext uri="{0D108BD9-81ED-4DB2-BD59-A6C34878D82A}">
                    <a16:rowId xmlns:a16="http://schemas.microsoft.com/office/drawing/2014/main" val="3462431911"/>
                  </a:ext>
                </a:extLst>
              </a:tr>
            </a:tbl>
          </a:graphicData>
        </a:graphic>
      </p:graphicFrame>
      <p:sp>
        <p:nvSpPr>
          <p:cNvPr id="5" name="CuadroTexto 4">
            <a:extLst>
              <a:ext uri="{FF2B5EF4-FFF2-40B4-BE49-F238E27FC236}">
                <a16:creationId xmlns:a16="http://schemas.microsoft.com/office/drawing/2014/main" id="{F5965C99-7932-5B90-951C-29C0B116C738}"/>
              </a:ext>
            </a:extLst>
          </p:cNvPr>
          <p:cNvSpPr txBox="1"/>
          <p:nvPr/>
        </p:nvSpPr>
        <p:spPr>
          <a:xfrm>
            <a:off x="7674250" y="6479449"/>
            <a:ext cx="3638394" cy="276999"/>
          </a:xfrm>
          <a:prstGeom prst="rect">
            <a:avLst/>
          </a:prstGeom>
          <a:noFill/>
        </p:spPr>
        <p:txBody>
          <a:bodyPr wrap="square">
            <a:spAutoFit/>
          </a:bodyPr>
          <a:ls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CO" sz="1200" b="1" i="1" noProof="0">
                <a:solidFill>
                  <a:schemeClr val="tx2"/>
                </a:solidFill>
              </a:rPr>
              <a:t>Fuente: </a:t>
            </a:r>
            <a:r>
              <a:rPr lang="es-CO" sz="1200" i="1" noProof="0">
                <a:solidFill>
                  <a:schemeClr val="tx2"/>
                </a:solidFill>
              </a:rPr>
              <a:t>SAU INOOS </a:t>
            </a:r>
            <a:r>
              <a:rPr lang="es-CO" sz="1200" i="1">
                <a:solidFill>
                  <a:schemeClr val="tx2"/>
                </a:solidFill>
              </a:rPr>
              <a:t>Agosto </a:t>
            </a:r>
            <a:r>
              <a:rPr lang="es-CO" sz="1200" i="1" noProof="0">
                <a:solidFill>
                  <a:schemeClr val="tx2"/>
                </a:solidFill>
              </a:rPr>
              <a:t>2026</a:t>
            </a:r>
          </a:p>
        </p:txBody>
      </p:sp>
    </p:spTree>
    <p:extLst>
      <p:ext uri="{BB962C8B-B14F-4D97-AF65-F5344CB8AC3E}">
        <p14:creationId xmlns:p14="http://schemas.microsoft.com/office/powerpoint/2010/main" val="294398186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par>
                                <p:cTn id="8" presetID="22" presetClass="entr" presetSubtype="4" fill="hold"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wipe(down)">
                                      <p:cBhvr>
                                        <p:cTn id="10" dur="500"/>
                                        <p:tgtEl>
                                          <p:spTgt spid="38"/>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par>
                                <p:cTn id="14" presetID="22" presetClass="entr" presetSubtype="4" fill="hold" nodeType="withEffect">
                                  <p:stCondLst>
                                    <p:cond delay="0"/>
                                  </p:stCondLst>
                                  <p:childTnLst>
                                    <p:set>
                                      <p:cBhvr>
                                        <p:cTn id="15" dur="1" fill="hold">
                                          <p:stCondLst>
                                            <p:cond delay="0"/>
                                          </p:stCondLst>
                                        </p:cTn>
                                        <p:tgtEl>
                                          <p:spTgt spid="40"/>
                                        </p:tgtEl>
                                        <p:attrNameLst>
                                          <p:attrName>style.visibility</p:attrName>
                                        </p:attrNameLst>
                                      </p:cBhvr>
                                      <p:to>
                                        <p:strVal val="visible"/>
                                      </p:to>
                                    </p:set>
                                    <p:animEffect transition="in" filter="wipe(down)">
                                      <p:cBhvr>
                                        <p:cTn id="16" dur="500"/>
                                        <p:tgtEl>
                                          <p:spTgt spid="40"/>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down)">
                                      <p:cBhvr>
                                        <p:cTn id="19" dur="500"/>
                                        <p:tgtEl>
                                          <p:spTgt spid="8"/>
                                        </p:tgtEl>
                                      </p:cBhvr>
                                    </p:animEffect>
                                  </p:childTnLst>
                                </p:cTn>
                              </p:par>
                              <p:par>
                                <p:cTn id="20" presetID="22" presetClass="entr" presetSubtype="4" fill="hold" nodeType="withEffect">
                                  <p:stCondLst>
                                    <p:cond delay="0"/>
                                  </p:stCondLst>
                                  <p:childTnLst>
                                    <p:set>
                                      <p:cBhvr>
                                        <p:cTn id="21" dur="1" fill="hold">
                                          <p:stCondLst>
                                            <p:cond delay="0"/>
                                          </p:stCondLst>
                                        </p:cTn>
                                        <p:tgtEl>
                                          <p:spTgt spid="42"/>
                                        </p:tgtEl>
                                        <p:attrNameLst>
                                          <p:attrName>style.visibility</p:attrName>
                                        </p:attrNameLst>
                                      </p:cBhvr>
                                      <p:to>
                                        <p:strVal val="visible"/>
                                      </p:to>
                                    </p:set>
                                    <p:animEffect transition="in" filter="wipe(down)">
                                      <p:cBhvr>
                                        <p:cTn id="22" dur="500"/>
                                        <p:tgtEl>
                                          <p:spTgt spid="42"/>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down)">
                                      <p:cBhvr>
                                        <p:cTn id="25" dur="500"/>
                                        <p:tgtEl>
                                          <p:spTgt spid="9"/>
                                        </p:tgtEl>
                                      </p:cBhvr>
                                    </p:animEffect>
                                  </p:childTnLst>
                                </p:cTn>
                              </p:par>
                              <p:par>
                                <p:cTn id="26" presetID="22" presetClass="entr" presetSubtype="4" fill="hold" nodeType="withEffect">
                                  <p:stCondLst>
                                    <p:cond delay="0"/>
                                  </p:stCondLst>
                                  <p:childTnLst>
                                    <p:set>
                                      <p:cBhvr>
                                        <p:cTn id="27" dur="1" fill="hold">
                                          <p:stCondLst>
                                            <p:cond delay="0"/>
                                          </p:stCondLst>
                                        </p:cTn>
                                        <p:tgtEl>
                                          <p:spTgt spid="43"/>
                                        </p:tgtEl>
                                        <p:attrNameLst>
                                          <p:attrName>style.visibility</p:attrName>
                                        </p:attrNameLst>
                                      </p:cBhvr>
                                      <p:to>
                                        <p:strVal val="visible"/>
                                      </p:to>
                                    </p:set>
                                    <p:animEffect transition="in" filter="wipe(down)">
                                      <p:cBhvr>
                                        <p:cTn id="28"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ángulo: esquinas redondeadas 74">
            <a:extLst>
              <a:ext uri="{FF2B5EF4-FFF2-40B4-BE49-F238E27FC236}">
                <a16:creationId xmlns:a16="http://schemas.microsoft.com/office/drawing/2014/main" id="{B2638666-2AB0-7F66-D313-80D76E3362A3}"/>
              </a:ext>
            </a:extLst>
          </p:cNvPr>
          <p:cNvSpPr/>
          <p:nvPr/>
        </p:nvSpPr>
        <p:spPr>
          <a:xfrm>
            <a:off x="166312" y="162232"/>
            <a:ext cx="6053418" cy="6141490"/>
          </a:xfrm>
          <a:prstGeom prst="roundRect">
            <a:avLst>
              <a:gd name="adj" fmla="val 5391"/>
            </a:avLst>
          </a:prstGeom>
          <a:solidFill>
            <a:schemeClr val="bg1"/>
          </a:solidFill>
          <a:ln>
            <a:solidFill>
              <a:schemeClr val="accent1">
                <a:lumMod val="60000"/>
                <a:lumOff val="40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1" name="Rectángulo: esquinas redondeadas 60">
            <a:extLst>
              <a:ext uri="{FF2B5EF4-FFF2-40B4-BE49-F238E27FC236}">
                <a16:creationId xmlns:a16="http://schemas.microsoft.com/office/drawing/2014/main" id="{7C238C1C-D56C-17D1-F35F-A7863735A86B}"/>
              </a:ext>
            </a:extLst>
          </p:cNvPr>
          <p:cNvSpPr/>
          <p:nvPr/>
        </p:nvSpPr>
        <p:spPr>
          <a:xfrm>
            <a:off x="7516080" y="249096"/>
            <a:ext cx="3547477" cy="1398173"/>
          </a:xfrm>
          <a:prstGeom prst="roundRect">
            <a:avLst>
              <a:gd name="adj" fmla="val 11391"/>
            </a:avLst>
          </a:prstGeom>
          <a:solidFill>
            <a:schemeClr val="accent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Título 1">
            <a:extLst>
              <a:ext uri="{FF2B5EF4-FFF2-40B4-BE49-F238E27FC236}">
                <a16:creationId xmlns:a16="http://schemas.microsoft.com/office/drawing/2014/main" id="{36396A60-1CB8-E075-77B7-FA215492A8CC}"/>
              </a:ext>
            </a:extLst>
          </p:cNvPr>
          <p:cNvSpPr txBox="1">
            <a:spLocks/>
          </p:cNvSpPr>
          <p:nvPr/>
        </p:nvSpPr>
        <p:spPr>
          <a:xfrm>
            <a:off x="7516080" y="215998"/>
            <a:ext cx="3547477" cy="618254"/>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2400">
                <a:solidFill>
                  <a:schemeClr val="bg1">
                    <a:lumMod val="85000"/>
                  </a:schemeClr>
                </a:solidFill>
              </a:rPr>
              <a:t>INDICADORES CALL CENTER</a:t>
            </a:r>
          </a:p>
        </p:txBody>
      </p:sp>
      <p:sp>
        <p:nvSpPr>
          <p:cNvPr id="47" name="Rectángulo: esquinas redondeadas 46">
            <a:extLst>
              <a:ext uri="{FF2B5EF4-FFF2-40B4-BE49-F238E27FC236}">
                <a16:creationId xmlns:a16="http://schemas.microsoft.com/office/drawing/2014/main" id="{7C876549-DB31-79B2-FB2F-18F8B86A4182}"/>
              </a:ext>
            </a:extLst>
          </p:cNvPr>
          <p:cNvSpPr/>
          <p:nvPr/>
        </p:nvSpPr>
        <p:spPr>
          <a:xfrm>
            <a:off x="7015464" y="1813802"/>
            <a:ext cx="4459753" cy="430887"/>
          </a:xfrm>
          <a:prstGeom prst="roundRect">
            <a:avLst>
              <a:gd name="adj" fmla="val 46760"/>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3" name="CuadroTexto 22">
            <a:extLst>
              <a:ext uri="{FF2B5EF4-FFF2-40B4-BE49-F238E27FC236}">
                <a16:creationId xmlns:a16="http://schemas.microsoft.com/office/drawing/2014/main" id="{8403696A-D57A-C1BC-9686-D7F5DBE944FB}"/>
              </a:ext>
            </a:extLst>
          </p:cNvPr>
          <p:cNvSpPr txBox="1"/>
          <p:nvPr/>
        </p:nvSpPr>
        <p:spPr>
          <a:xfrm>
            <a:off x="6941299" y="1680367"/>
            <a:ext cx="4664243" cy="646331"/>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fontScale="97500"/>
          </a:bodyPr>
          <a:lstStyle>
            <a:defPPr>
              <a:defRPr lang="es-CO"/>
            </a:defPPr>
            <a:lvl1pPr algn="ctr">
              <a:lnSpc>
                <a:spcPct val="90000"/>
              </a:lnSpc>
              <a:spcBef>
                <a:spcPct val="0"/>
              </a:spcBef>
              <a:buNone/>
              <a:defRPr sz="2000" b="1">
                <a:solidFill>
                  <a:srgbClr val="00A19C"/>
                </a:solidFill>
                <a:latin typeface="+mj-lt"/>
                <a:ea typeface="+mj-ea"/>
                <a:cs typeface="+mj-cs"/>
              </a:defRPr>
            </a:lvl1pPr>
          </a:lstStyle>
          <a:p>
            <a:r>
              <a:rPr lang="es-MX" sz="1600"/>
              <a:t>INDICADOR DE SATISFACCION CALIFICACION (4-5)</a:t>
            </a:r>
            <a:endParaRPr lang="es-CO" sz="1600"/>
          </a:p>
        </p:txBody>
      </p:sp>
      <p:sp>
        <p:nvSpPr>
          <p:cNvPr id="29" name="Título 1">
            <a:extLst>
              <a:ext uri="{FF2B5EF4-FFF2-40B4-BE49-F238E27FC236}">
                <a16:creationId xmlns:a16="http://schemas.microsoft.com/office/drawing/2014/main" id="{F98DB3D6-1CE4-0F68-103C-CB8B2ED9599C}"/>
              </a:ext>
            </a:extLst>
          </p:cNvPr>
          <p:cNvSpPr txBox="1">
            <a:spLocks/>
          </p:cNvSpPr>
          <p:nvPr/>
        </p:nvSpPr>
        <p:spPr>
          <a:xfrm>
            <a:off x="7196529" y="513317"/>
            <a:ext cx="4153785" cy="530223"/>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1600">
                <a:solidFill>
                  <a:schemeClr val="bg1">
                    <a:lumMod val="85000"/>
                  </a:schemeClr>
                </a:solidFill>
              </a:rPr>
              <a:t>SOLICITUDES POR MEDIOS ALTERNOS</a:t>
            </a:r>
          </a:p>
        </p:txBody>
      </p:sp>
      <p:sp>
        <p:nvSpPr>
          <p:cNvPr id="22" name="Título 1">
            <a:extLst>
              <a:ext uri="{FF2B5EF4-FFF2-40B4-BE49-F238E27FC236}">
                <a16:creationId xmlns:a16="http://schemas.microsoft.com/office/drawing/2014/main" id="{9099AC00-07DD-AA04-D077-15BC3856DEF5}"/>
              </a:ext>
            </a:extLst>
          </p:cNvPr>
          <p:cNvSpPr txBox="1">
            <a:spLocks/>
          </p:cNvSpPr>
          <p:nvPr/>
        </p:nvSpPr>
        <p:spPr>
          <a:xfrm>
            <a:off x="8409824" y="964828"/>
            <a:ext cx="562484" cy="372861"/>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fontScale="75000" lnSpcReduction="20000"/>
          </a:bodyPr>
          <a:lstStyle>
            <a:lvl1pPr algn="ctr"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bg1">
                    <a:lumMod val="85000"/>
                  </a:schemeClr>
                </a:solidFill>
              </a:rPr>
              <a:t>63 </a:t>
            </a:r>
          </a:p>
        </p:txBody>
      </p:sp>
      <p:sp>
        <p:nvSpPr>
          <p:cNvPr id="24" name="CuadroTexto 23">
            <a:extLst>
              <a:ext uri="{FF2B5EF4-FFF2-40B4-BE49-F238E27FC236}">
                <a16:creationId xmlns:a16="http://schemas.microsoft.com/office/drawing/2014/main" id="{7443DB65-EBB6-2567-ABE2-97A5EEE94162}"/>
              </a:ext>
            </a:extLst>
          </p:cNvPr>
          <p:cNvSpPr txBox="1"/>
          <p:nvPr/>
        </p:nvSpPr>
        <p:spPr>
          <a:xfrm>
            <a:off x="8864866" y="1209438"/>
            <a:ext cx="1313737" cy="369332"/>
          </a:xfrm>
          <a:prstGeom prst="rect">
            <a:avLst/>
          </a:prstGeom>
          <a:noFill/>
        </p:spPr>
        <p:txBody>
          <a:bodyPr wrap="square">
            <a:spAutoFit/>
          </a:bodyPr>
          <a:lstStyle/>
          <a:p>
            <a:r>
              <a:rPr lang="es-MX" b="1">
                <a:solidFill>
                  <a:schemeClr val="bg1">
                    <a:lumMod val="85000"/>
                  </a:schemeClr>
                </a:solidFill>
              </a:rPr>
              <a:t>WhatsApp</a:t>
            </a:r>
            <a:endParaRPr lang="es-CO" b="1">
              <a:solidFill>
                <a:schemeClr val="bg1">
                  <a:lumMod val="85000"/>
                </a:schemeClr>
              </a:solidFill>
            </a:endParaRPr>
          </a:p>
        </p:txBody>
      </p:sp>
      <p:sp>
        <p:nvSpPr>
          <p:cNvPr id="25" name="Título 1">
            <a:extLst>
              <a:ext uri="{FF2B5EF4-FFF2-40B4-BE49-F238E27FC236}">
                <a16:creationId xmlns:a16="http://schemas.microsoft.com/office/drawing/2014/main" id="{A47E2E90-B0CB-69CB-BECB-7C5D6FFBF07D}"/>
              </a:ext>
            </a:extLst>
          </p:cNvPr>
          <p:cNvSpPr txBox="1">
            <a:spLocks/>
          </p:cNvSpPr>
          <p:nvPr/>
        </p:nvSpPr>
        <p:spPr>
          <a:xfrm>
            <a:off x="8419040" y="1274408"/>
            <a:ext cx="562483" cy="372861"/>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fontScale="75000" lnSpcReduction="20000"/>
          </a:bodyPr>
          <a:lstStyle>
            <a:lvl1pPr algn="ctr"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bg1">
                    <a:lumMod val="85000"/>
                  </a:schemeClr>
                </a:solidFill>
              </a:rPr>
              <a:t>28</a:t>
            </a:r>
          </a:p>
        </p:txBody>
      </p:sp>
      <p:sp>
        <p:nvSpPr>
          <p:cNvPr id="26" name="CuadroTexto 25">
            <a:extLst>
              <a:ext uri="{FF2B5EF4-FFF2-40B4-BE49-F238E27FC236}">
                <a16:creationId xmlns:a16="http://schemas.microsoft.com/office/drawing/2014/main" id="{4867F015-F0CE-3C41-ECF6-14400813B8F1}"/>
              </a:ext>
            </a:extLst>
          </p:cNvPr>
          <p:cNvSpPr txBox="1"/>
          <p:nvPr/>
        </p:nvSpPr>
        <p:spPr>
          <a:xfrm>
            <a:off x="8864867" y="952681"/>
            <a:ext cx="1601284" cy="383709"/>
          </a:xfrm>
          <a:prstGeom prst="rect">
            <a:avLst/>
          </a:prstGeom>
          <a:noFill/>
        </p:spPr>
        <p:txBody>
          <a:bodyPr wrap="square">
            <a:spAutoFit/>
          </a:bodyPr>
          <a:lstStyle/>
          <a:p>
            <a:r>
              <a:rPr lang="es-MX" b="1">
                <a:solidFill>
                  <a:schemeClr val="bg1">
                    <a:lumMod val="85000"/>
                  </a:schemeClr>
                </a:solidFill>
              </a:rPr>
              <a:t>Por correo </a:t>
            </a:r>
            <a:endParaRPr lang="es-CO" b="1">
              <a:solidFill>
                <a:schemeClr val="bg1">
                  <a:lumMod val="85000"/>
                </a:schemeClr>
              </a:solidFill>
            </a:endParaRPr>
          </a:p>
        </p:txBody>
      </p:sp>
      <p:graphicFrame>
        <p:nvGraphicFramePr>
          <p:cNvPr id="2" name="Gráfico 1">
            <a:extLst>
              <a:ext uri="{FF2B5EF4-FFF2-40B4-BE49-F238E27FC236}">
                <a16:creationId xmlns:a16="http://schemas.microsoft.com/office/drawing/2014/main" id="{D6672CB7-6A0B-FC03-AD8C-7807FD76BC9C}"/>
              </a:ext>
            </a:extLst>
          </p:cNvPr>
          <p:cNvGraphicFramePr>
            <a:graphicFrameLocks/>
          </p:cNvGraphicFramePr>
          <p:nvPr/>
        </p:nvGraphicFramePr>
        <p:xfrm>
          <a:off x="187145" y="94639"/>
          <a:ext cx="5988678" cy="236843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Gráfico 2">
            <a:extLst>
              <a:ext uri="{FF2B5EF4-FFF2-40B4-BE49-F238E27FC236}">
                <a16:creationId xmlns:a16="http://schemas.microsoft.com/office/drawing/2014/main" id="{D962245E-8EFC-FA39-F6FA-972B1ACC6428}"/>
              </a:ext>
            </a:extLst>
          </p:cNvPr>
          <p:cNvGraphicFramePr>
            <a:graphicFrameLocks/>
          </p:cNvGraphicFramePr>
          <p:nvPr/>
        </p:nvGraphicFramePr>
        <p:xfrm>
          <a:off x="3127160" y="2422580"/>
          <a:ext cx="3059079" cy="156613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Gráfico 3">
            <a:extLst>
              <a:ext uri="{FF2B5EF4-FFF2-40B4-BE49-F238E27FC236}">
                <a16:creationId xmlns:a16="http://schemas.microsoft.com/office/drawing/2014/main" id="{C3F4CF64-018D-1B5C-944B-9EAA6AA19DF1}"/>
              </a:ext>
            </a:extLst>
          </p:cNvPr>
          <p:cNvGraphicFramePr>
            <a:graphicFrameLocks/>
          </p:cNvGraphicFramePr>
          <p:nvPr/>
        </p:nvGraphicFramePr>
        <p:xfrm>
          <a:off x="137213" y="2463071"/>
          <a:ext cx="3054412" cy="156800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 name="Tabla 8">
            <a:extLst>
              <a:ext uri="{FF2B5EF4-FFF2-40B4-BE49-F238E27FC236}">
                <a16:creationId xmlns:a16="http://schemas.microsoft.com/office/drawing/2014/main" id="{55AF2272-0D3E-21DE-A229-3671AF342D19}"/>
              </a:ext>
            </a:extLst>
          </p:cNvPr>
          <p:cNvGraphicFramePr>
            <a:graphicFrameLocks noGrp="1"/>
          </p:cNvGraphicFramePr>
          <p:nvPr/>
        </p:nvGraphicFramePr>
        <p:xfrm>
          <a:off x="297545" y="4162108"/>
          <a:ext cx="5764129" cy="1851540"/>
        </p:xfrm>
        <a:graphic>
          <a:graphicData uri="http://schemas.openxmlformats.org/drawingml/2006/table">
            <a:tbl>
              <a:tblPr/>
              <a:tblGrid>
                <a:gridCol w="1216025">
                  <a:extLst>
                    <a:ext uri="{9D8B030D-6E8A-4147-A177-3AD203B41FA5}">
                      <a16:colId xmlns:a16="http://schemas.microsoft.com/office/drawing/2014/main" val="2555411616"/>
                    </a:ext>
                  </a:extLst>
                </a:gridCol>
                <a:gridCol w="490006">
                  <a:extLst>
                    <a:ext uri="{9D8B030D-6E8A-4147-A177-3AD203B41FA5}">
                      <a16:colId xmlns:a16="http://schemas.microsoft.com/office/drawing/2014/main" val="219232077"/>
                    </a:ext>
                  </a:extLst>
                </a:gridCol>
                <a:gridCol w="470688">
                  <a:extLst>
                    <a:ext uri="{9D8B030D-6E8A-4147-A177-3AD203B41FA5}">
                      <a16:colId xmlns:a16="http://schemas.microsoft.com/office/drawing/2014/main" val="944073089"/>
                    </a:ext>
                  </a:extLst>
                </a:gridCol>
                <a:gridCol w="405704">
                  <a:extLst>
                    <a:ext uri="{9D8B030D-6E8A-4147-A177-3AD203B41FA5}">
                      <a16:colId xmlns:a16="http://schemas.microsoft.com/office/drawing/2014/main" val="307408589"/>
                    </a:ext>
                  </a:extLst>
                </a:gridCol>
                <a:gridCol w="389898">
                  <a:extLst>
                    <a:ext uri="{9D8B030D-6E8A-4147-A177-3AD203B41FA5}">
                      <a16:colId xmlns:a16="http://schemas.microsoft.com/office/drawing/2014/main" val="695448660"/>
                    </a:ext>
                  </a:extLst>
                </a:gridCol>
                <a:gridCol w="389898">
                  <a:extLst>
                    <a:ext uri="{9D8B030D-6E8A-4147-A177-3AD203B41FA5}">
                      <a16:colId xmlns:a16="http://schemas.microsoft.com/office/drawing/2014/main" val="3790427514"/>
                    </a:ext>
                  </a:extLst>
                </a:gridCol>
                <a:gridCol w="389898">
                  <a:extLst>
                    <a:ext uri="{9D8B030D-6E8A-4147-A177-3AD203B41FA5}">
                      <a16:colId xmlns:a16="http://schemas.microsoft.com/office/drawing/2014/main" val="1167929103"/>
                    </a:ext>
                  </a:extLst>
                </a:gridCol>
                <a:gridCol w="389898">
                  <a:extLst>
                    <a:ext uri="{9D8B030D-6E8A-4147-A177-3AD203B41FA5}">
                      <a16:colId xmlns:a16="http://schemas.microsoft.com/office/drawing/2014/main" val="2568100384"/>
                    </a:ext>
                  </a:extLst>
                </a:gridCol>
                <a:gridCol w="446099">
                  <a:extLst>
                    <a:ext uri="{9D8B030D-6E8A-4147-A177-3AD203B41FA5}">
                      <a16:colId xmlns:a16="http://schemas.microsoft.com/office/drawing/2014/main" val="653596368"/>
                    </a:ext>
                  </a:extLst>
                </a:gridCol>
                <a:gridCol w="632267">
                  <a:extLst>
                    <a:ext uri="{9D8B030D-6E8A-4147-A177-3AD203B41FA5}">
                      <a16:colId xmlns:a16="http://schemas.microsoft.com/office/drawing/2014/main" val="2330124970"/>
                    </a:ext>
                  </a:extLst>
                </a:gridCol>
                <a:gridCol w="543748">
                  <a:extLst>
                    <a:ext uri="{9D8B030D-6E8A-4147-A177-3AD203B41FA5}">
                      <a16:colId xmlns:a16="http://schemas.microsoft.com/office/drawing/2014/main" val="940353275"/>
                    </a:ext>
                  </a:extLst>
                </a:gridCol>
              </a:tblGrid>
              <a:tr h="154295">
                <a:tc>
                  <a:txBody>
                    <a:bodyPr/>
                    <a:lstStyle/>
                    <a:p>
                      <a:pPr algn="ctr" rtl="0" fontAlgn="ctr">
                        <a:buNone/>
                      </a:pPr>
                      <a:r>
                        <a:rPr lang="es-CO" sz="800" b="1" i="0" u="none" strike="noStrike">
                          <a:solidFill>
                            <a:srgbClr val="FFFFFF"/>
                          </a:solidFill>
                          <a:effectLst/>
                          <a:latin typeface="Calibri" panose="020F0502020204030204" pitchFamily="34" charset="0"/>
                        </a:rPr>
                        <a:t>INDICADORES 2026</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800" b="1" i="0" u="none" strike="noStrike">
                          <a:solidFill>
                            <a:srgbClr val="FFFFFF"/>
                          </a:solidFill>
                          <a:effectLst/>
                          <a:latin typeface="Calibri" panose="020F0502020204030204" pitchFamily="34" charset="0"/>
                        </a:rPr>
                        <a:t>ENERO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800" b="1" i="0" u="none" strike="noStrike">
                          <a:solidFill>
                            <a:srgbClr val="FFFFFF"/>
                          </a:solidFill>
                          <a:effectLst/>
                          <a:latin typeface="Calibri" panose="020F0502020204030204" pitchFamily="34" charset="0"/>
                        </a:rPr>
                        <a:t>FEBRERO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800" b="1" i="0" u="none" strike="noStrike">
                          <a:solidFill>
                            <a:srgbClr val="FFFFFF"/>
                          </a:solidFill>
                          <a:effectLst/>
                          <a:latin typeface="Calibri" panose="020F0502020204030204" pitchFamily="34" charset="0"/>
                        </a:rPr>
                        <a:t>MARZO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800" b="1" i="0" u="none" strike="noStrike">
                          <a:solidFill>
                            <a:srgbClr val="FFFFFF"/>
                          </a:solidFill>
                          <a:effectLst/>
                          <a:latin typeface="Calibri" panose="020F0502020204030204" pitchFamily="34" charset="0"/>
                        </a:rPr>
                        <a:t>ABRIL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800" b="1" i="0" u="none" strike="noStrike">
                          <a:solidFill>
                            <a:srgbClr val="FFFFFF"/>
                          </a:solidFill>
                          <a:effectLst/>
                          <a:latin typeface="Calibri" panose="020F0502020204030204" pitchFamily="34" charset="0"/>
                        </a:rPr>
                        <a:t>MAYO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800" b="1" i="0" u="none" strike="noStrike">
                          <a:solidFill>
                            <a:srgbClr val="FFFFFF"/>
                          </a:solidFill>
                          <a:effectLst/>
                          <a:latin typeface="Calibri" panose="020F0502020204030204" pitchFamily="34" charset="0"/>
                        </a:rPr>
                        <a:t>JUNIO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800" b="1" i="0" u="none" strike="noStrike">
                          <a:solidFill>
                            <a:srgbClr val="FFFFFF"/>
                          </a:solidFill>
                          <a:effectLst/>
                          <a:latin typeface="Calibri" panose="020F0502020204030204" pitchFamily="34" charset="0"/>
                        </a:rPr>
                        <a:t>JULIO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800" b="1" i="0" u="none" strike="noStrike">
                          <a:solidFill>
                            <a:srgbClr val="FFFFFF"/>
                          </a:solidFill>
                          <a:effectLst/>
                          <a:latin typeface="Calibri" panose="020F0502020204030204" pitchFamily="34" charset="0"/>
                        </a:rPr>
                        <a:t>AGOSTO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800" b="1" i="0" u="none" strike="noStrike">
                          <a:solidFill>
                            <a:srgbClr val="FFFFFF"/>
                          </a:solidFill>
                          <a:effectLst/>
                          <a:latin typeface="Calibri" panose="020F0502020204030204" pitchFamily="34" charset="0"/>
                        </a:rPr>
                        <a:t>SEPTIEMBRE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800" b="1" i="0" u="none" strike="noStrike">
                          <a:solidFill>
                            <a:srgbClr val="FFFFFF"/>
                          </a:solidFill>
                          <a:effectLst/>
                          <a:latin typeface="Calibri" panose="020F0502020204030204" pitchFamily="34" charset="0"/>
                        </a:rPr>
                        <a:t>TOTAL</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7A9A1"/>
                    </a:solidFill>
                  </a:tcPr>
                </a:tc>
                <a:extLst>
                  <a:ext uri="{0D108BD9-81ED-4DB2-BD59-A6C34878D82A}">
                    <a16:rowId xmlns:a16="http://schemas.microsoft.com/office/drawing/2014/main" val="3777139569"/>
                  </a:ext>
                </a:extLst>
              </a:tr>
              <a:tr h="154295">
                <a:tc>
                  <a:txBody>
                    <a:bodyPr/>
                    <a:lstStyle/>
                    <a:p>
                      <a:pPr algn="ctr" rtl="0" fontAlgn="b">
                        <a:buNone/>
                      </a:pPr>
                      <a:r>
                        <a:rPr lang="es-CO" sz="800" b="1" i="0" u="none" strike="noStrike">
                          <a:solidFill>
                            <a:srgbClr val="00A19C"/>
                          </a:solidFill>
                          <a:effectLst/>
                          <a:latin typeface="Calibri" panose="020F0502020204030204" pitchFamily="34" charset="0"/>
                        </a:rPr>
                        <a:t>LLAMADAS INGRESADAS</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2.717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2.507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1.909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2.197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2.435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2.330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2.474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2.462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2.499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21.530</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67709775"/>
                  </a:ext>
                </a:extLst>
              </a:tr>
              <a:tr h="154295">
                <a:tc>
                  <a:txBody>
                    <a:bodyPr/>
                    <a:lstStyle/>
                    <a:p>
                      <a:pPr algn="ctr" rtl="0" fontAlgn="b">
                        <a:buNone/>
                      </a:pPr>
                      <a:r>
                        <a:rPr lang="es-CO" sz="800" b="1" i="0" u="none" strike="noStrike">
                          <a:solidFill>
                            <a:srgbClr val="00A19C"/>
                          </a:solidFill>
                          <a:effectLst/>
                          <a:latin typeface="Calibri" panose="020F0502020204030204" pitchFamily="34" charset="0"/>
                        </a:rPr>
                        <a:t>LLAMADAS ATENDIDAS</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2.651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2.479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1.886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2.131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2.369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2.302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2.445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2.408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2.521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21.192</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16603736"/>
                  </a:ext>
                </a:extLst>
              </a:tr>
              <a:tr h="154295">
                <a:tc>
                  <a:txBody>
                    <a:bodyPr/>
                    <a:lstStyle/>
                    <a:p>
                      <a:pPr algn="ctr" rtl="0" fontAlgn="b">
                        <a:buNone/>
                      </a:pPr>
                      <a:r>
                        <a:rPr lang="es-CO" sz="800" b="1" i="0" u="none" strike="noStrike">
                          <a:solidFill>
                            <a:srgbClr val="00A19C"/>
                          </a:solidFill>
                          <a:effectLst/>
                          <a:latin typeface="Calibri" panose="020F0502020204030204" pitchFamily="34" charset="0"/>
                        </a:rPr>
                        <a:t>LLAMADAS ABANDONADAS</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3640529"/>
                  </a:ext>
                </a:extLst>
              </a:tr>
              <a:tr h="154295">
                <a:tc>
                  <a:txBody>
                    <a:bodyPr/>
                    <a:lstStyle/>
                    <a:p>
                      <a:pPr algn="ctr" rtl="0" fontAlgn="b">
                        <a:buNone/>
                      </a:pPr>
                      <a:r>
                        <a:rPr lang="es-CO" sz="800" b="1" i="0" u="none" strike="noStrike">
                          <a:solidFill>
                            <a:srgbClr val="00A19C"/>
                          </a:solidFill>
                          <a:effectLst/>
                          <a:latin typeface="Calibri" panose="020F0502020204030204" pitchFamily="34" charset="0"/>
                        </a:rPr>
                        <a:t>NDS</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98%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99%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93%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93%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92%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98%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98%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98%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98%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96%</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53921357"/>
                  </a:ext>
                </a:extLst>
              </a:tr>
              <a:tr h="154295">
                <a:tc>
                  <a:txBody>
                    <a:bodyPr/>
                    <a:lstStyle/>
                    <a:p>
                      <a:pPr algn="ctr" rtl="0" fontAlgn="b">
                        <a:buNone/>
                      </a:pPr>
                      <a:r>
                        <a:rPr lang="es-CO" sz="800" b="1" i="0" u="none" strike="noStrike">
                          <a:solidFill>
                            <a:srgbClr val="00A19C"/>
                          </a:solidFill>
                          <a:effectLst/>
                          <a:latin typeface="Calibri" panose="020F0502020204030204" pitchFamily="34" charset="0"/>
                        </a:rPr>
                        <a:t>NDA</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98%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96%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99%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97%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97%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99%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99%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98%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99%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98%</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57430372"/>
                  </a:ext>
                </a:extLst>
              </a:tr>
              <a:tr h="154295">
                <a:tc>
                  <a:txBody>
                    <a:bodyPr/>
                    <a:lstStyle/>
                    <a:p>
                      <a:pPr algn="ctr" rtl="0" fontAlgn="b">
                        <a:buNone/>
                      </a:pPr>
                      <a:r>
                        <a:rPr lang="es-CO" sz="800" b="1" i="0" u="none" strike="noStrike">
                          <a:solidFill>
                            <a:srgbClr val="00A19C"/>
                          </a:solidFill>
                          <a:effectLst/>
                          <a:latin typeface="Calibri" panose="020F0502020204030204" pitchFamily="34" charset="0"/>
                        </a:rPr>
                        <a:t>TMO</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0:02:56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0:02:57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0:02:17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0:02:19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0:02:20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0:02:31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0:02:32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0:02:13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0:02:39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0:02:32</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33809901"/>
                  </a:ext>
                </a:extLst>
              </a:tr>
              <a:tr h="154295">
                <a:tc>
                  <a:txBody>
                    <a:bodyPr/>
                    <a:lstStyle/>
                    <a:p>
                      <a:pPr algn="ctr" rtl="0" fontAlgn="b">
                        <a:buNone/>
                      </a:pPr>
                      <a:r>
                        <a:rPr lang="es-CO" sz="800" b="1" i="0" u="none" strike="noStrike">
                          <a:solidFill>
                            <a:srgbClr val="00A19C"/>
                          </a:solidFill>
                          <a:effectLst/>
                          <a:latin typeface="Calibri" panose="020F0502020204030204" pitchFamily="34" charset="0"/>
                        </a:rPr>
                        <a:t>TPE</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0:00:15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0:00:05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0:00:05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0:00:08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0:00:09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0:00:03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0:00:02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0:00:02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0:00:06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0:00:06</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48633208"/>
                  </a:ext>
                </a:extLst>
              </a:tr>
              <a:tr h="154295">
                <a:tc>
                  <a:txBody>
                    <a:bodyPr/>
                    <a:lstStyle/>
                    <a:p>
                      <a:pPr algn="ctr" rtl="0" fontAlgn="b">
                        <a:buNone/>
                      </a:pPr>
                      <a:r>
                        <a:rPr lang="es-CO" sz="800" b="1" i="0" u="none" strike="noStrike">
                          <a:solidFill>
                            <a:srgbClr val="00A19C"/>
                          </a:solidFill>
                          <a:effectLst/>
                          <a:latin typeface="Calibri" panose="020F0502020204030204" pitchFamily="34" charset="0"/>
                        </a:rPr>
                        <a:t>LLAMADAS EMITIDAS</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13.656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12.625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15.161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9.562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8.597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10.123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9.688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12.837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11.921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104.170</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1753427"/>
                  </a:ext>
                </a:extLst>
              </a:tr>
              <a:tr h="154295">
                <a:tc>
                  <a:txBody>
                    <a:bodyPr/>
                    <a:lstStyle/>
                    <a:p>
                      <a:pPr algn="ctr" rtl="0" fontAlgn="b">
                        <a:buNone/>
                      </a:pPr>
                      <a:r>
                        <a:rPr lang="es-CO" sz="800" b="1" i="0" u="none" strike="noStrike">
                          <a:solidFill>
                            <a:srgbClr val="00A19C"/>
                          </a:solidFill>
                          <a:effectLst/>
                          <a:latin typeface="Calibri" panose="020F0502020204030204" pitchFamily="34" charset="0"/>
                        </a:rPr>
                        <a:t>LLAMADAS ATENDIDA S</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8.822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8.553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10.070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6.554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6.121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6.907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6.579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8.805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7.860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70.271</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11481971"/>
                  </a:ext>
                </a:extLst>
              </a:tr>
              <a:tr h="154295">
                <a:tc>
                  <a:txBody>
                    <a:bodyPr/>
                    <a:lstStyle/>
                    <a:p>
                      <a:pPr algn="ctr" rtl="0" fontAlgn="b">
                        <a:buNone/>
                      </a:pPr>
                      <a:r>
                        <a:rPr lang="es-CO" sz="800" b="1" i="0" u="none" strike="noStrike">
                          <a:solidFill>
                            <a:srgbClr val="00A19C"/>
                          </a:solidFill>
                          <a:effectLst/>
                          <a:latin typeface="Calibri" panose="020F0502020204030204" pitchFamily="34" charset="0"/>
                        </a:rPr>
                        <a:t>% CONTACTO</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65%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68%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66%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69%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71%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68%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68%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69%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66%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68%</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31802707"/>
                  </a:ext>
                </a:extLst>
              </a:tr>
              <a:tr h="154295">
                <a:tc>
                  <a:txBody>
                    <a:bodyPr/>
                    <a:lstStyle/>
                    <a:p>
                      <a:pPr algn="ctr" rtl="0" fontAlgn="b">
                        <a:buNone/>
                      </a:pPr>
                      <a:r>
                        <a:rPr lang="es-CO" sz="800" b="1" i="0" u="none" strike="noStrike">
                          <a:solidFill>
                            <a:srgbClr val="00A19C"/>
                          </a:solidFill>
                          <a:effectLst/>
                          <a:latin typeface="Calibri" panose="020F0502020204030204" pitchFamily="34" charset="0"/>
                        </a:rPr>
                        <a:t>LLAMADAS GESTIONADAS</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11.473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11.032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11.956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8.685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8.490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9.209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9.024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11.213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10.359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91.441</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92340387"/>
                  </a:ext>
                </a:extLst>
              </a:tr>
            </a:tbl>
          </a:graphicData>
        </a:graphic>
      </p:graphicFrame>
      <p:graphicFrame>
        <p:nvGraphicFramePr>
          <p:cNvPr id="11" name="Gráfico 10">
            <a:extLst>
              <a:ext uri="{FF2B5EF4-FFF2-40B4-BE49-F238E27FC236}">
                <a16:creationId xmlns:a16="http://schemas.microsoft.com/office/drawing/2014/main" id="{894766D6-AD32-012E-305C-E75F19D78C88}"/>
              </a:ext>
            </a:extLst>
          </p:cNvPr>
          <p:cNvGraphicFramePr>
            <a:graphicFrameLocks/>
          </p:cNvGraphicFramePr>
          <p:nvPr/>
        </p:nvGraphicFramePr>
        <p:xfrm>
          <a:off x="6342852" y="2201004"/>
          <a:ext cx="5841036" cy="2354841"/>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4" name="Gráfico 13">
            <a:extLst>
              <a:ext uri="{FF2B5EF4-FFF2-40B4-BE49-F238E27FC236}">
                <a16:creationId xmlns:a16="http://schemas.microsoft.com/office/drawing/2014/main" id="{09F0C54D-BD61-DD63-BD96-A431DD009D7D}"/>
              </a:ext>
            </a:extLst>
          </p:cNvPr>
          <p:cNvGraphicFramePr>
            <a:graphicFrameLocks/>
          </p:cNvGraphicFramePr>
          <p:nvPr/>
        </p:nvGraphicFramePr>
        <p:xfrm>
          <a:off x="6476297" y="4509255"/>
          <a:ext cx="5838825" cy="1985963"/>
        </p:xfrm>
        <a:graphic>
          <a:graphicData uri="http://schemas.openxmlformats.org/drawingml/2006/chart">
            <c:chart xmlns:c="http://schemas.openxmlformats.org/drawingml/2006/chart" xmlns:r="http://schemas.openxmlformats.org/officeDocument/2006/relationships" r:id="rId6"/>
          </a:graphicData>
        </a:graphic>
      </p:graphicFrame>
      <p:sp>
        <p:nvSpPr>
          <p:cNvPr id="6" name="CuadroTexto 5">
            <a:extLst>
              <a:ext uri="{FF2B5EF4-FFF2-40B4-BE49-F238E27FC236}">
                <a16:creationId xmlns:a16="http://schemas.microsoft.com/office/drawing/2014/main" id="{1E1D4C60-4424-4CB1-6E8C-A77CEC1A4252}"/>
              </a:ext>
            </a:extLst>
          </p:cNvPr>
          <p:cNvSpPr txBox="1"/>
          <p:nvPr/>
        </p:nvSpPr>
        <p:spPr>
          <a:xfrm>
            <a:off x="6935822" y="6575253"/>
            <a:ext cx="3638394" cy="276999"/>
          </a:xfrm>
          <a:prstGeom prst="rect">
            <a:avLst/>
          </a:prstGeom>
          <a:noFill/>
        </p:spPr>
        <p:txBody>
          <a:bodyPr wrap="square" lIns="91440" tIns="45720" rIns="91440" bIns="45720" anchor="t">
            <a:spAutoFit/>
          </a:bodyPr>
          <a:lstStyle/>
          <a:p>
            <a:r>
              <a:rPr lang="es-CO" sz="1200" b="1" i="1" noProof="0">
                <a:solidFill>
                  <a:schemeClr val="tx2"/>
                </a:solidFill>
              </a:rPr>
              <a:t>Fuente: </a:t>
            </a:r>
            <a:r>
              <a:rPr lang="es-CO" sz="1200" i="1" noProof="0" err="1">
                <a:solidFill>
                  <a:schemeClr val="tx2"/>
                </a:solidFill>
              </a:rPr>
              <a:t>kerberus</a:t>
            </a:r>
            <a:r>
              <a:rPr lang="es-CO" sz="1200" i="1" noProof="0">
                <a:solidFill>
                  <a:schemeClr val="tx2"/>
                </a:solidFill>
              </a:rPr>
              <a:t> INOOS </a:t>
            </a:r>
            <a:r>
              <a:rPr lang="es-CO" sz="1200" i="1">
                <a:solidFill>
                  <a:schemeClr val="tx2"/>
                </a:solidFill>
              </a:rPr>
              <a:t>Septiembre</a:t>
            </a:r>
            <a:r>
              <a:rPr lang="es-CO" sz="1200" i="1" noProof="0">
                <a:solidFill>
                  <a:schemeClr val="tx2"/>
                </a:solidFill>
              </a:rPr>
              <a:t> 2026</a:t>
            </a:r>
          </a:p>
        </p:txBody>
      </p:sp>
    </p:spTree>
    <p:extLst>
      <p:ext uri="{BB962C8B-B14F-4D97-AF65-F5344CB8AC3E}">
        <p14:creationId xmlns:p14="http://schemas.microsoft.com/office/powerpoint/2010/main" val="219203797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838E39E5-0BED-6F05-0306-678DD00B6B88}"/>
              </a:ext>
            </a:extLst>
          </p:cNvPr>
          <p:cNvSpPr/>
          <p:nvPr/>
        </p:nvSpPr>
        <p:spPr>
          <a:xfrm>
            <a:off x="6067971" y="594396"/>
            <a:ext cx="5883930" cy="5817111"/>
          </a:xfrm>
          <a:prstGeom prst="rect">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Rectángulo 5">
            <a:extLst>
              <a:ext uri="{FF2B5EF4-FFF2-40B4-BE49-F238E27FC236}">
                <a16:creationId xmlns:a16="http://schemas.microsoft.com/office/drawing/2014/main" id="{A1EAFF01-E075-30BA-A526-9211D3E8F8CE}"/>
              </a:ext>
            </a:extLst>
          </p:cNvPr>
          <p:cNvSpPr/>
          <p:nvPr/>
        </p:nvSpPr>
        <p:spPr>
          <a:xfrm>
            <a:off x="184040" y="598386"/>
            <a:ext cx="5658357" cy="5817111"/>
          </a:xfrm>
          <a:prstGeom prst="rect">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Título 1">
            <a:extLst>
              <a:ext uri="{FF2B5EF4-FFF2-40B4-BE49-F238E27FC236}">
                <a16:creationId xmlns:a16="http://schemas.microsoft.com/office/drawing/2014/main" id="{2C138494-802A-83CA-723D-F00F4F383277}"/>
              </a:ext>
            </a:extLst>
          </p:cNvPr>
          <p:cNvSpPr txBox="1">
            <a:spLocks/>
          </p:cNvSpPr>
          <p:nvPr/>
        </p:nvSpPr>
        <p:spPr>
          <a:xfrm>
            <a:off x="-13727" y="-310098"/>
            <a:ext cx="12192000" cy="1149875"/>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fontScale="97500"/>
          </a:bodyPr>
          <a:lstStyle>
            <a:defPPr>
              <a:defRPr lang="es-CO"/>
            </a:defPPr>
            <a:lvl1pPr algn="ctr">
              <a:lnSpc>
                <a:spcPct val="90000"/>
              </a:lnSpc>
              <a:spcBef>
                <a:spcPct val="0"/>
              </a:spcBef>
              <a:buNone/>
              <a:defRPr sz="3200" b="1">
                <a:solidFill>
                  <a:srgbClr val="00A19C"/>
                </a:solidFill>
                <a:latin typeface="+mj-lt"/>
                <a:ea typeface="+mj-ea"/>
                <a:cs typeface="+mj-cs"/>
              </a:defRPr>
            </a:lvl1pPr>
          </a:lstStyle>
          <a:p>
            <a:r>
              <a:rPr lang="es-CO" sz="2800"/>
              <a:t>AGENDAMIENTO DE CITAS</a:t>
            </a:r>
          </a:p>
        </p:txBody>
      </p:sp>
      <p:sp>
        <p:nvSpPr>
          <p:cNvPr id="24" name="Título 1">
            <a:extLst>
              <a:ext uri="{FF2B5EF4-FFF2-40B4-BE49-F238E27FC236}">
                <a16:creationId xmlns:a16="http://schemas.microsoft.com/office/drawing/2014/main" id="{D81D95E5-84B9-37A6-1A11-C022AF252E60}"/>
              </a:ext>
            </a:extLst>
          </p:cNvPr>
          <p:cNvSpPr txBox="1">
            <a:spLocks/>
          </p:cNvSpPr>
          <p:nvPr/>
        </p:nvSpPr>
        <p:spPr>
          <a:xfrm>
            <a:off x="6463381" y="632716"/>
            <a:ext cx="5093110" cy="618254"/>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2400">
                <a:solidFill>
                  <a:srgbClr val="00A19C"/>
                </a:solidFill>
              </a:rPr>
              <a:t>ESTADOS DE CITA POR SEDE</a:t>
            </a:r>
          </a:p>
        </p:txBody>
      </p:sp>
      <p:graphicFrame>
        <p:nvGraphicFramePr>
          <p:cNvPr id="2" name="Gráfico 1">
            <a:extLst>
              <a:ext uri="{FF2B5EF4-FFF2-40B4-BE49-F238E27FC236}">
                <a16:creationId xmlns:a16="http://schemas.microsoft.com/office/drawing/2014/main" id="{7C6379DA-4BB0-A34E-0EA4-72390CB5112D}"/>
              </a:ext>
            </a:extLst>
          </p:cNvPr>
          <p:cNvGraphicFramePr>
            <a:graphicFrameLocks/>
          </p:cNvGraphicFramePr>
          <p:nvPr/>
        </p:nvGraphicFramePr>
        <p:xfrm>
          <a:off x="226740" y="619712"/>
          <a:ext cx="5698548" cy="162356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Gráfico 2">
            <a:extLst>
              <a:ext uri="{FF2B5EF4-FFF2-40B4-BE49-F238E27FC236}">
                <a16:creationId xmlns:a16="http://schemas.microsoft.com/office/drawing/2014/main" id="{686A9C5F-4292-AB23-C984-076BB560F50D}"/>
              </a:ext>
            </a:extLst>
          </p:cNvPr>
          <p:cNvGraphicFramePr>
            <a:graphicFrameLocks/>
          </p:cNvGraphicFramePr>
          <p:nvPr/>
        </p:nvGraphicFramePr>
        <p:xfrm>
          <a:off x="348833" y="2213511"/>
          <a:ext cx="5576455" cy="188604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Gráfico 3">
            <a:extLst>
              <a:ext uri="{FF2B5EF4-FFF2-40B4-BE49-F238E27FC236}">
                <a16:creationId xmlns:a16="http://schemas.microsoft.com/office/drawing/2014/main" id="{9C917043-A7A2-DE9B-D80C-4F3AB1123CA7}"/>
              </a:ext>
            </a:extLst>
          </p:cNvPr>
          <p:cNvGraphicFramePr>
            <a:graphicFrameLocks/>
          </p:cNvGraphicFramePr>
          <p:nvPr/>
        </p:nvGraphicFramePr>
        <p:xfrm>
          <a:off x="296812" y="3957177"/>
          <a:ext cx="2656504" cy="245432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Gráfico 4">
            <a:extLst>
              <a:ext uri="{FF2B5EF4-FFF2-40B4-BE49-F238E27FC236}">
                <a16:creationId xmlns:a16="http://schemas.microsoft.com/office/drawing/2014/main" id="{F471C320-F171-1C1A-A530-FEB605FE8E35}"/>
              </a:ext>
            </a:extLst>
          </p:cNvPr>
          <p:cNvGraphicFramePr>
            <a:graphicFrameLocks/>
          </p:cNvGraphicFramePr>
          <p:nvPr/>
        </p:nvGraphicFramePr>
        <p:xfrm>
          <a:off x="3027448" y="3957177"/>
          <a:ext cx="2814949" cy="2454329"/>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7" name="Tabla 6">
            <a:extLst>
              <a:ext uri="{FF2B5EF4-FFF2-40B4-BE49-F238E27FC236}">
                <a16:creationId xmlns:a16="http://schemas.microsoft.com/office/drawing/2014/main" id="{818820B3-0C66-0D2F-106D-2F3E5D68D33D}"/>
              </a:ext>
            </a:extLst>
          </p:cNvPr>
          <p:cNvGraphicFramePr>
            <a:graphicFrameLocks noGrp="1"/>
          </p:cNvGraphicFramePr>
          <p:nvPr/>
        </p:nvGraphicFramePr>
        <p:xfrm>
          <a:off x="6341131" y="1116703"/>
          <a:ext cx="5337609" cy="809625"/>
        </p:xfrm>
        <a:graphic>
          <a:graphicData uri="http://schemas.openxmlformats.org/drawingml/2006/table">
            <a:tbl>
              <a:tblPr/>
              <a:tblGrid>
                <a:gridCol w="757682">
                  <a:extLst>
                    <a:ext uri="{9D8B030D-6E8A-4147-A177-3AD203B41FA5}">
                      <a16:colId xmlns:a16="http://schemas.microsoft.com/office/drawing/2014/main" val="1701222069"/>
                    </a:ext>
                  </a:extLst>
                </a:gridCol>
                <a:gridCol w="419143">
                  <a:extLst>
                    <a:ext uri="{9D8B030D-6E8A-4147-A177-3AD203B41FA5}">
                      <a16:colId xmlns:a16="http://schemas.microsoft.com/office/drawing/2014/main" val="1356853760"/>
                    </a:ext>
                  </a:extLst>
                </a:gridCol>
                <a:gridCol w="538438">
                  <a:extLst>
                    <a:ext uri="{9D8B030D-6E8A-4147-A177-3AD203B41FA5}">
                      <a16:colId xmlns:a16="http://schemas.microsoft.com/office/drawing/2014/main" val="1308875400"/>
                    </a:ext>
                  </a:extLst>
                </a:gridCol>
                <a:gridCol w="459446">
                  <a:extLst>
                    <a:ext uri="{9D8B030D-6E8A-4147-A177-3AD203B41FA5}">
                      <a16:colId xmlns:a16="http://schemas.microsoft.com/office/drawing/2014/main" val="2925048669"/>
                    </a:ext>
                  </a:extLst>
                </a:gridCol>
                <a:gridCol w="359495">
                  <a:extLst>
                    <a:ext uri="{9D8B030D-6E8A-4147-A177-3AD203B41FA5}">
                      <a16:colId xmlns:a16="http://schemas.microsoft.com/office/drawing/2014/main" val="693271740"/>
                    </a:ext>
                  </a:extLst>
                </a:gridCol>
                <a:gridCol w="393350">
                  <a:extLst>
                    <a:ext uri="{9D8B030D-6E8A-4147-A177-3AD203B41FA5}">
                      <a16:colId xmlns:a16="http://schemas.microsoft.com/office/drawing/2014/main" val="190789520"/>
                    </a:ext>
                  </a:extLst>
                </a:gridCol>
                <a:gridCol w="380453">
                  <a:extLst>
                    <a:ext uri="{9D8B030D-6E8A-4147-A177-3AD203B41FA5}">
                      <a16:colId xmlns:a16="http://schemas.microsoft.com/office/drawing/2014/main" val="3215362210"/>
                    </a:ext>
                  </a:extLst>
                </a:gridCol>
                <a:gridCol w="349824">
                  <a:extLst>
                    <a:ext uri="{9D8B030D-6E8A-4147-A177-3AD203B41FA5}">
                      <a16:colId xmlns:a16="http://schemas.microsoft.com/office/drawing/2014/main" val="4146505198"/>
                    </a:ext>
                  </a:extLst>
                </a:gridCol>
                <a:gridCol w="507808">
                  <a:extLst>
                    <a:ext uri="{9D8B030D-6E8A-4147-A177-3AD203B41FA5}">
                      <a16:colId xmlns:a16="http://schemas.microsoft.com/office/drawing/2014/main" val="1694370837"/>
                    </a:ext>
                  </a:extLst>
                </a:gridCol>
                <a:gridCol w="723829">
                  <a:extLst>
                    <a:ext uri="{9D8B030D-6E8A-4147-A177-3AD203B41FA5}">
                      <a16:colId xmlns:a16="http://schemas.microsoft.com/office/drawing/2014/main" val="2688897040"/>
                    </a:ext>
                  </a:extLst>
                </a:gridCol>
                <a:gridCol w="448141">
                  <a:extLst>
                    <a:ext uri="{9D8B030D-6E8A-4147-A177-3AD203B41FA5}">
                      <a16:colId xmlns:a16="http://schemas.microsoft.com/office/drawing/2014/main" val="3925176214"/>
                    </a:ext>
                  </a:extLst>
                </a:gridCol>
              </a:tblGrid>
              <a:tr h="103790">
                <a:tc>
                  <a:txBody>
                    <a:bodyPr/>
                    <a:lstStyle/>
                    <a:p>
                      <a:pPr algn="ctr" rtl="0" fontAlgn="ctr">
                        <a:buNone/>
                      </a:pPr>
                      <a:r>
                        <a:rPr lang="es-CO" sz="1000" b="1" i="0" u="none" strike="noStrike">
                          <a:solidFill>
                            <a:srgbClr val="FFFFFF"/>
                          </a:solidFill>
                          <a:effectLst/>
                          <a:latin typeface="Calibri" panose="020F0502020204030204" pitchFamily="34" charset="0"/>
                        </a:rPr>
                        <a:t>INOOS VALLE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000" b="1" i="0" u="none" strike="noStrike">
                          <a:solidFill>
                            <a:srgbClr val="FFFFFF"/>
                          </a:solidFill>
                          <a:effectLst/>
                          <a:latin typeface="Calibri" panose="020F0502020204030204" pitchFamily="34" charset="0"/>
                        </a:rPr>
                        <a:t>ENERO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000" b="1" i="0" u="none" strike="noStrike">
                          <a:solidFill>
                            <a:srgbClr val="FFFFFF"/>
                          </a:solidFill>
                          <a:effectLst/>
                          <a:latin typeface="Calibri" panose="020F0502020204030204" pitchFamily="34" charset="0"/>
                        </a:rPr>
                        <a:t>FEBRERO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000" b="1" i="0" u="none" strike="noStrike">
                          <a:solidFill>
                            <a:srgbClr val="FFFFFF"/>
                          </a:solidFill>
                          <a:effectLst/>
                          <a:latin typeface="Calibri" panose="020F0502020204030204" pitchFamily="34" charset="0"/>
                        </a:rPr>
                        <a:t>MARZO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000" b="1" i="0" u="none" strike="noStrike">
                          <a:solidFill>
                            <a:srgbClr val="FFFFFF"/>
                          </a:solidFill>
                          <a:effectLst/>
                          <a:latin typeface="Calibri" panose="020F0502020204030204" pitchFamily="34" charset="0"/>
                        </a:rPr>
                        <a:t>ABRIL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000" b="1" i="0" u="none" strike="noStrike">
                          <a:solidFill>
                            <a:srgbClr val="FFFFFF"/>
                          </a:solidFill>
                          <a:effectLst/>
                          <a:latin typeface="Calibri" panose="020F0502020204030204" pitchFamily="34" charset="0"/>
                        </a:rPr>
                        <a:t>MAYO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000" b="1" i="0" u="none" strike="noStrike">
                          <a:solidFill>
                            <a:srgbClr val="FFFFFF"/>
                          </a:solidFill>
                          <a:effectLst/>
                          <a:latin typeface="Calibri" panose="020F0502020204030204" pitchFamily="34" charset="0"/>
                        </a:rPr>
                        <a:t>JUNIO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000" b="1" i="0" u="none" strike="noStrike">
                          <a:solidFill>
                            <a:srgbClr val="FFFFFF"/>
                          </a:solidFill>
                          <a:effectLst/>
                          <a:latin typeface="Calibri" panose="020F0502020204030204" pitchFamily="34" charset="0"/>
                        </a:rPr>
                        <a:t>JULIO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000" b="1" i="0" u="none" strike="noStrike">
                          <a:solidFill>
                            <a:srgbClr val="FFFFFF"/>
                          </a:solidFill>
                          <a:effectLst/>
                          <a:latin typeface="Calibri" panose="020F0502020204030204" pitchFamily="34" charset="0"/>
                        </a:rPr>
                        <a:t>AGOSTO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000" b="1" i="0" u="none" strike="noStrike">
                          <a:solidFill>
                            <a:srgbClr val="FFFFFF"/>
                          </a:solidFill>
                          <a:effectLst/>
                          <a:latin typeface="Calibri" panose="020F0502020204030204" pitchFamily="34" charset="0"/>
                        </a:rPr>
                        <a:t>SEPTIEMBRE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000" b="1" i="0" u="none" strike="noStrike">
                          <a:solidFill>
                            <a:srgbClr val="FFFFFF"/>
                          </a:solidFill>
                          <a:effectLst/>
                          <a:latin typeface="Calibri" panose="020F0502020204030204" pitchFamily="34" charset="0"/>
                        </a:rPr>
                        <a:t>TOTAL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extLst>
                  <a:ext uri="{0D108BD9-81ED-4DB2-BD59-A6C34878D82A}">
                    <a16:rowId xmlns:a16="http://schemas.microsoft.com/office/drawing/2014/main" val="1955322498"/>
                  </a:ext>
                </a:extLst>
              </a:tr>
              <a:tr h="103790">
                <a:tc>
                  <a:txBody>
                    <a:bodyPr/>
                    <a:lstStyle/>
                    <a:p>
                      <a:pPr algn="ctr" rtl="0" fontAlgn="ctr">
                        <a:buNone/>
                      </a:pPr>
                      <a:r>
                        <a:rPr lang="es-CO" sz="1000" b="1" i="0" u="none" strike="noStrike">
                          <a:solidFill>
                            <a:srgbClr val="FFFFFF"/>
                          </a:solidFill>
                          <a:effectLst/>
                          <a:latin typeface="Calibri" panose="020F0502020204030204" pitchFamily="34" charset="0"/>
                        </a:rPr>
                        <a:t>FACTURADA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00A19C"/>
                          </a:solidFill>
                          <a:effectLst/>
                          <a:latin typeface="Calibri" panose="020F0502020204030204" pitchFamily="34" charset="0"/>
                        </a:rPr>
                        <a:t>4.047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4.320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4.429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3.976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3.758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3.363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1.453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3.035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4.020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32.401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15906683"/>
                  </a:ext>
                </a:extLst>
              </a:tr>
              <a:tr h="103790">
                <a:tc>
                  <a:txBody>
                    <a:bodyPr/>
                    <a:lstStyle/>
                    <a:p>
                      <a:pPr algn="ctr" rtl="0" fontAlgn="ctr">
                        <a:buNone/>
                      </a:pPr>
                      <a:r>
                        <a:rPr lang="es-CO" sz="1000" b="1" i="0" u="none" strike="noStrike">
                          <a:solidFill>
                            <a:srgbClr val="FFFFFF"/>
                          </a:solidFill>
                          <a:effectLst/>
                          <a:latin typeface="Calibri" panose="020F0502020204030204" pitchFamily="34" charset="0"/>
                        </a:rPr>
                        <a:t>CANCELADA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00A19C"/>
                          </a:solidFill>
                          <a:effectLst/>
                          <a:latin typeface="Calibri" panose="020F0502020204030204" pitchFamily="34" charset="0"/>
                        </a:rPr>
                        <a:t>535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667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481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536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576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814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217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790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613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5.229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85648807"/>
                  </a:ext>
                </a:extLst>
              </a:tr>
              <a:tr h="103790">
                <a:tc>
                  <a:txBody>
                    <a:bodyPr/>
                    <a:lstStyle/>
                    <a:p>
                      <a:pPr algn="ctr" rtl="0" fontAlgn="ctr">
                        <a:buNone/>
                      </a:pPr>
                      <a:r>
                        <a:rPr lang="es-CO" sz="1000" b="1" i="0" u="none" strike="noStrike">
                          <a:solidFill>
                            <a:srgbClr val="FFFFFF"/>
                          </a:solidFill>
                          <a:effectLst/>
                          <a:latin typeface="Calibri" panose="020F0502020204030204" pitchFamily="34" charset="0"/>
                        </a:rPr>
                        <a:t>INCUMPLIDA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00A19C"/>
                          </a:solidFill>
                          <a:effectLst/>
                          <a:latin typeface="Calibri" panose="020F0502020204030204" pitchFamily="34" charset="0"/>
                        </a:rPr>
                        <a:t>409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388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421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433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396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359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133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545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514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3.598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85646363"/>
                  </a:ext>
                </a:extLst>
              </a:tr>
              <a:tr h="103790">
                <a:tc>
                  <a:txBody>
                    <a:bodyPr/>
                    <a:lstStyle/>
                    <a:p>
                      <a:pPr algn="ctr" rtl="0" fontAlgn="ctr">
                        <a:buNone/>
                      </a:pPr>
                      <a:r>
                        <a:rPr lang="es-CO" sz="1000" b="1" i="0" u="none" strike="noStrike">
                          <a:solidFill>
                            <a:srgbClr val="FFFFFF"/>
                          </a:solidFill>
                          <a:effectLst/>
                          <a:latin typeface="Calibri" panose="020F0502020204030204" pitchFamily="34" charset="0"/>
                        </a:rPr>
                        <a:t>TOTAL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00A19C"/>
                          </a:solidFill>
                          <a:effectLst/>
                          <a:latin typeface="Calibri" panose="020F0502020204030204" pitchFamily="34" charset="0"/>
                        </a:rPr>
                        <a:t>4.991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5.375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5.331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4.945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4.730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4.536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1.803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4.370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5.147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41.228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41613254"/>
                  </a:ext>
                </a:extLst>
              </a:tr>
            </a:tbl>
          </a:graphicData>
        </a:graphic>
      </p:graphicFrame>
      <p:graphicFrame>
        <p:nvGraphicFramePr>
          <p:cNvPr id="8" name="Tabla 7">
            <a:extLst>
              <a:ext uri="{FF2B5EF4-FFF2-40B4-BE49-F238E27FC236}">
                <a16:creationId xmlns:a16="http://schemas.microsoft.com/office/drawing/2014/main" id="{D762913A-B5CA-6982-0C5B-38D469CFBB2C}"/>
              </a:ext>
            </a:extLst>
          </p:cNvPr>
          <p:cNvGraphicFramePr>
            <a:graphicFrameLocks noGrp="1"/>
          </p:cNvGraphicFramePr>
          <p:nvPr/>
        </p:nvGraphicFramePr>
        <p:xfrm>
          <a:off x="6341131" y="2079244"/>
          <a:ext cx="5337609" cy="809625"/>
        </p:xfrm>
        <a:graphic>
          <a:graphicData uri="http://schemas.openxmlformats.org/drawingml/2006/table">
            <a:tbl>
              <a:tblPr/>
              <a:tblGrid>
                <a:gridCol w="746125">
                  <a:extLst>
                    <a:ext uri="{9D8B030D-6E8A-4147-A177-3AD203B41FA5}">
                      <a16:colId xmlns:a16="http://schemas.microsoft.com/office/drawing/2014/main" val="832607820"/>
                    </a:ext>
                  </a:extLst>
                </a:gridCol>
                <a:gridCol w="412750">
                  <a:extLst>
                    <a:ext uri="{9D8B030D-6E8A-4147-A177-3AD203B41FA5}">
                      <a16:colId xmlns:a16="http://schemas.microsoft.com/office/drawing/2014/main" val="1128378700"/>
                    </a:ext>
                  </a:extLst>
                </a:gridCol>
                <a:gridCol w="530225">
                  <a:extLst>
                    <a:ext uri="{9D8B030D-6E8A-4147-A177-3AD203B41FA5}">
                      <a16:colId xmlns:a16="http://schemas.microsoft.com/office/drawing/2014/main" val="2283775974"/>
                    </a:ext>
                  </a:extLst>
                </a:gridCol>
                <a:gridCol w="452438">
                  <a:extLst>
                    <a:ext uri="{9D8B030D-6E8A-4147-A177-3AD203B41FA5}">
                      <a16:colId xmlns:a16="http://schemas.microsoft.com/office/drawing/2014/main" val="2281379930"/>
                    </a:ext>
                  </a:extLst>
                </a:gridCol>
                <a:gridCol w="354012">
                  <a:extLst>
                    <a:ext uri="{9D8B030D-6E8A-4147-A177-3AD203B41FA5}">
                      <a16:colId xmlns:a16="http://schemas.microsoft.com/office/drawing/2014/main" val="845674795"/>
                    </a:ext>
                  </a:extLst>
                </a:gridCol>
                <a:gridCol w="387350">
                  <a:extLst>
                    <a:ext uri="{9D8B030D-6E8A-4147-A177-3AD203B41FA5}">
                      <a16:colId xmlns:a16="http://schemas.microsoft.com/office/drawing/2014/main" val="1318851161"/>
                    </a:ext>
                  </a:extLst>
                </a:gridCol>
                <a:gridCol w="374650">
                  <a:extLst>
                    <a:ext uri="{9D8B030D-6E8A-4147-A177-3AD203B41FA5}">
                      <a16:colId xmlns:a16="http://schemas.microsoft.com/office/drawing/2014/main" val="1340456215"/>
                    </a:ext>
                  </a:extLst>
                </a:gridCol>
                <a:gridCol w="344488">
                  <a:extLst>
                    <a:ext uri="{9D8B030D-6E8A-4147-A177-3AD203B41FA5}">
                      <a16:colId xmlns:a16="http://schemas.microsoft.com/office/drawing/2014/main" val="1886855169"/>
                    </a:ext>
                  </a:extLst>
                </a:gridCol>
                <a:gridCol w="500062">
                  <a:extLst>
                    <a:ext uri="{9D8B030D-6E8A-4147-A177-3AD203B41FA5}">
                      <a16:colId xmlns:a16="http://schemas.microsoft.com/office/drawing/2014/main" val="3416796147"/>
                    </a:ext>
                  </a:extLst>
                </a:gridCol>
                <a:gridCol w="712788">
                  <a:extLst>
                    <a:ext uri="{9D8B030D-6E8A-4147-A177-3AD203B41FA5}">
                      <a16:colId xmlns:a16="http://schemas.microsoft.com/office/drawing/2014/main" val="3231071415"/>
                    </a:ext>
                  </a:extLst>
                </a:gridCol>
                <a:gridCol w="522721">
                  <a:extLst>
                    <a:ext uri="{9D8B030D-6E8A-4147-A177-3AD203B41FA5}">
                      <a16:colId xmlns:a16="http://schemas.microsoft.com/office/drawing/2014/main" val="2066378601"/>
                    </a:ext>
                  </a:extLst>
                </a:gridCol>
              </a:tblGrid>
              <a:tr h="63908">
                <a:tc>
                  <a:txBody>
                    <a:bodyPr/>
                    <a:lstStyle/>
                    <a:p>
                      <a:pPr algn="ctr" rtl="0" fontAlgn="ctr">
                        <a:buNone/>
                      </a:pPr>
                      <a:r>
                        <a:rPr lang="es-CO" sz="1000" b="1" i="0" u="none" strike="noStrike">
                          <a:solidFill>
                            <a:srgbClr val="FFFFFF"/>
                          </a:solidFill>
                          <a:effectLst/>
                          <a:latin typeface="Calibri" panose="020F0502020204030204" pitchFamily="34" charset="0"/>
                        </a:rPr>
                        <a:t>INOOS VALLE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000" b="1" i="0" u="none" strike="noStrike">
                          <a:solidFill>
                            <a:srgbClr val="FFFFFF"/>
                          </a:solidFill>
                          <a:effectLst/>
                          <a:latin typeface="Calibri" panose="020F0502020204030204" pitchFamily="34" charset="0"/>
                        </a:rPr>
                        <a:t>ENERO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000" b="1" i="0" u="none" strike="noStrike">
                          <a:solidFill>
                            <a:srgbClr val="FFFFFF"/>
                          </a:solidFill>
                          <a:effectLst/>
                          <a:latin typeface="Calibri" panose="020F0502020204030204" pitchFamily="34" charset="0"/>
                        </a:rPr>
                        <a:t>FEBRERO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000" b="1" i="0" u="none" strike="noStrike">
                          <a:solidFill>
                            <a:srgbClr val="FFFFFF"/>
                          </a:solidFill>
                          <a:effectLst/>
                          <a:latin typeface="Calibri" panose="020F0502020204030204" pitchFamily="34" charset="0"/>
                        </a:rPr>
                        <a:t>MARZO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000" b="1" i="0" u="none" strike="noStrike">
                          <a:solidFill>
                            <a:srgbClr val="FFFFFF"/>
                          </a:solidFill>
                          <a:effectLst/>
                          <a:latin typeface="Calibri" panose="020F0502020204030204" pitchFamily="34" charset="0"/>
                        </a:rPr>
                        <a:t>ABRIL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000" b="1" i="0" u="none" strike="noStrike">
                          <a:solidFill>
                            <a:srgbClr val="FFFFFF"/>
                          </a:solidFill>
                          <a:effectLst/>
                          <a:latin typeface="Calibri" panose="020F0502020204030204" pitchFamily="34" charset="0"/>
                        </a:rPr>
                        <a:t>MAYO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000" b="1" i="0" u="none" strike="noStrike">
                          <a:solidFill>
                            <a:srgbClr val="FFFFFF"/>
                          </a:solidFill>
                          <a:effectLst/>
                          <a:latin typeface="Calibri" panose="020F0502020204030204" pitchFamily="34" charset="0"/>
                        </a:rPr>
                        <a:t>JUNIO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000" b="1" i="0" u="none" strike="noStrike">
                          <a:solidFill>
                            <a:srgbClr val="FFFFFF"/>
                          </a:solidFill>
                          <a:effectLst/>
                          <a:latin typeface="Calibri" panose="020F0502020204030204" pitchFamily="34" charset="0"/>
                        </a:rPr>
                        <a:t>JULIO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000" b="1" i="0" u="none" strike="noStrike">
                          <a:solidFill>
                            <a:srgbClr val="FFFFFF"/>
                          </a:solidFill>
                          <a:effectLst/>
                          <a:latin typeface="Calibri" panose="020F0502020204030204" pitchFamily="34" charset="0"/>
                        </a:rPr>
                        <a:t>AGOSTO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000" b="1" i="0" u="none" strike="noStrike">
                          <a:solidFill>
                            <a:srgbClr val="FFFFFF"/>
                          </a:solidFill>
                          <a:effectLst/>
                          <a:latin typeface="Calibri" panose="020F0502020204030204" pitchFamily="34" charset="0"/>
                        </a:rPr>
                        <a:t>SEPTIEMBRE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000" b="1" i="0" u="none" strike="noStrike">
                          <a:solidFill>
                            <a:srgbClr val="FFFFFF"/>
                          </a:solidFill>
                          <a:effectLst/>
                          <a:latin typeface="Calibri" panose="020F0502020204030204" pitchFamily="34" charset="0"/>
                        </a:rPr>
                        <a:t>TOTAL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extLst>
                  <a:ext uri="{0D108BD9-81ED-4DB2-BD59-A6C34878D82A}">
                    <a16:rowId xmlns:a16="http://schemas.microsoft.com/office/drawing/2014/main" val="3397402860"/>
                  </a:ext>
                </a:extLst>
              </a:tr>
              <a:tr h="63908">
                <a:tc>
                  <a:txBody>
                    <a:bodyPr/>
                    <a:lstStyle/>
                    <a:p>
                      <a:pPr algn="ctr" rtl="0" fontAlgn="ctr">
                        <a:buNone/>
                      </a:pPr>
                      <a:r>
                        <a:rPr lang="es-CO" sz="1000" b="1" i="0" u="none" strike="noStrike">
                          <a:solidFill>
                            <a:srgbClr val="FFFFFF"/>
                          </a:solidFill>
                          <a:effectLst/>
                          <a:latin typeface="Calibri" panose="020F0502020204030204" pitchFamily="34" charset="0"/>
                        </a:rPr>
                        <a:t>FACTURADA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00A19C"/>
                          </a:solidFill>
                          <a:effectLst/>
                          <a:latin typeface="Calibri" panose="020F0502020204030204" pitchFamily="34" charset="0"/>
                        </a:rPr>
                        <a:t>2.137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2.575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2.992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2.687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2.401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2.778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1.674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2.499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2.881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22.624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60036183"/>
                  </a:ext>
                </a:extLst>
              </a:tr>
              <a:tr h="63908">
                <a:tc>
                  <a:txBody>
                    <a:bodyPr/>
                    <a:lstStyle/>
                    <a:p>
                      <a:pPr algn="ctr" rtl="0" fontAlgn="ctr">
                        <a:buNone/>
                      </a:pPr>
                      <a:r>
                        <a:rPr lang="es-CO" sz="1000" b="1" i="0" u="none" strike="noStrike">
                          <a:solidFill>
                            <a:srgbClr val="FFFFFF"/>
                          </a:solidFill>
                          <a:effectLst/>
                          <a:latin typeface="Calibri" panose="020F0502020204030204" pitchFamily="34" charset="0"/>
                        </a:rPr>
                        <a:t>CANCELADA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00A19C"/>
                          </a:solidFill>
                          <a:effectLst/>
                          <a:latin typeface="Calibri" panose="020F0502020204030204" pitchFamily="34" charset="0"/>
                        </a:rPr>
                        <a:t>303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445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417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402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352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414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164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534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318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3.349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09136280"/>
                  </a:ext>
                </a:extLst>
              </a:tr>
              <a:tr h="63908">
                <a:tc>
                  <a:txBody>
                    <a:bodyPr/>
                    <a:lstStyle/>
                    <a:p>
                      <a:pPr algn="ctr" rtl="0" fontAlgn="ctr">
                        <a:buNone/>
                      </a:pPr>
                      <a:r>
                        <a:rPr lang="es-CO" sz="1000" b="1" i="0" u="none" strike="noStrike">
                          <a:solidFill>
                            <a:srgbClr val="FFFFFF"/>
                          </a:solidFill>
                          <a:effectLst/>
                          <a:latin typeface="Calibri" panose="020F0502020204030204" pitchFamily="34" charset="0"/>
                        </a:rPr>
                        <a:t>INCUMPLIDA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00A19C"/>
                          </a:solidFill>
                          <a:effectLst/>
                          <a:latin typeface="Calibri" panose="020F0502020204030204" pitchFamily="34" charset="0"/>
                        </a:rPr>
                        <a:t>229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229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271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216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237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279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155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239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287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2.142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95278567"/>
                  </a:ext>
                </a:extLst>
              </a:tr>
              <a:tr h="63908">
                <a:tc>
                  <a:txBody>
                    <a:bodyPr/>
                    <a:lstStyle/>
                    <a:p>
                      <a:pPr algn="ctr" rtl="0" fontAlgn="ctr">
                        <a:buNone/>
                      </a:pPr>
                      <a:r>
                        <a:rPr lang="es-CO" sz="1000" b="1" i="0" u="none" strike="noStrike">
                          <a:solidFill>
                            <a:srgbClr val="FFFFFF"/>
                          </a:solidFill>
                          <a:effectLst/>
                          <a:latin typeface="Calibri" panose="020F0502020204030204" pitchFamily="34" charset="0"/>
                        </a:rPr>
                        <a:t>TOTAL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00A19C"/>
                          </a:solidFill>
                          <a:effectLst/>
                          <a:latin typeface="Calibri" panose="020F0502020204030204" pitchFamily="34" charset="0"/>
                        </a:rPr>
                        <a:t>2.669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3.249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3.680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3.305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2.990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3.471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1.993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3.272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3.486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00A19C"/>
                          </a:solidFill>
                          <a:effectLst/>
                          <a:latin typeface="Calibri" panose="020F0502020204030204" pitchFamily="34" charset="0"/>
                        </a:rPr>
                        <a:t>28.115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49465694"/>
                  </a:ext>
                </a:extLst>
              </a:tr>
            </a:tbl>
          </a:graphicData>
        </a:graphic>
      </p:graphicFrame>
      <p:graphicFrame>
        <p:nvGraphicFramePr>
          <p:cNvPr id="9" name="Gráfico 8">
            <a:extLst>
              <a:ext uri="{FF2B5EF4-FFF2-40B4-BE49-F238E27FC236}">
                <a16:creationId xmlns:a16="http://schemas.microsoft.com/office/drawing/2014/main" id="{A5A83C47-94DE-CD40-A442-329AE6294231}"/>
              </a:ext>
            </a:extLst>
          </p:cNvPr>
          <p:cNvGraphicFramePr>
            <a:graphicFrameLocks/>
          </p:cNvGraphicFramePr>
          <p:nvPr/>
        </p:nvGraphicFramePr>
        <p:xfrm>
          <a:off x="6150861" y="2914614"/>
          <a:ext cx="5772355" cy="1761326"/>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0" name="Gráfico 9">
            <a:extLst>
              <a:ext uri="{FF2B5EF4-FFF2-40B4-BE49-F238E27FC236}">
                <a16:creationId xmlns:a16="http://schemas.microsoft.com/office/drawing/2014/main" id="{8E50133E-EF39-ECB6-8ADB-26805F9A247E}"/>
              </a:ext>
            </a:extLst>
          </p:cNvPr>
          <p:cNvGraphicFramePr>
            <a:graphicFrameLocks/>
          </p:cNvGraphicFramePr>
          <p:nvPr/>
        </p:nvGraphicFramePr>
        <p:xfrm>
          <a:off x="6096000" y="4553783"/>
          <a:ext cx="5799188" cy="1896043"/>
        </p:xfrm>
        <a:graphic>
          <a:graphicData uri="http://schemas.openxmlformats.org/drawingml/2006/chart">
            <c:chart xmlns:c="http://schemas.openxmlformats.org/drawingml/2006/chart" xmlns:r="http://schemas.openxmlformats.org/officeDocument/2006/relationships" r:id="rId7"/>
          </a:graphicData>
        </a:graphic>
      </p:graphicFrame>
      <p:sp>
        <p:nvSpPr>
          <p:cNvPr id="14" name="CuadroTexto 13">
            <a:extLst>
              <a:ext uri="{FF2B5EF4-FFF2-40B4-BE49-F238E27FC236}">
                <a16:creationId xmlns:a16="http://schemas.microsoft.com/office/drawing/2014/main" id="{AE74F86D-EC08-EA35-0109-3AED8D626650}"/>
              </a:ext>
            </a:extLst>
          </p:cNvPr>
          <p:cNvSpPr txBox="1"/>
          <p:nvPr/>
        </p:nvSpPr>
        <p:spPr>
          <a:xfrm>
            <a:off x="6935822" y="6575253"/>
            <a:ext cx="3638394" cy="276999"/>
          </a:xfrm>
          <a:prstGeom prst="rect">
            <a:avLst/>
          </a:prstGeom>
          <a:noFill/>
        </p:spPr>
        <p:txBody>
          <a:bodyPr wrap="square" lIns="91440" tIns="45720" rIns="91440" bIns="45720" anchor="t">
            <a:spAutoFit/>
          </a:bodyPr>
          <a:lstStyle/>
          <a:p>
            <a:r>
              <a:rPr lang="es-CO" sz="1200" b="1" i="1" noProof="0">
                <a:solidFill>
                  <a:schemeClr val="tx2"/>
                </a:solidFill>
              </a:rPr>
              <a:t>Fuente: </a:t>
            </a:r>
            <a:r>
              <a:rPr lang="es-CO" sz="1200" i="1" noProof="0" err="1">
                <a:solidFill>
                  <a:schemeClr val="tx2"/>
                </a:solidFill>
              </a:rPr>
              <a:t>kerberus</a:t>
            </a:r>
            <a:r>
              <a:rPr lang="es-CO" sz="1200" i="1" noProof="0">
                <a:solidFill>
                  <a:schemeClr val="tx2"/>
                </a:solidFill>
              </a:rPr>
              <a:t> INOOS </a:t>
            </a:r>
            <a:r>
              <a:rPr lang="es-CO" sz="1200" i="1">
                <a:solidFill>
                  <a:schemeClr val="tx2"/>
                </a:solidFill>
              </a:rPr>
              <a:t>Septiembre</a:t>
            </a:r>
            <a:r>
              <a:rPr lang="es-CO" sz="1200" i="1" noProof="0">
                <a:solidFill>
                  <a:schemeClr val="tx2"/>
                </a:solidFill>
              </a:rPr>
              <a:t> 2026</a:t>
            </a:r>
          </a:p>
        </p:txBody>
      </p:sp>
    </p:spTree>
    <p:extLst>
      <p:ext uri="{BB962C8B-B14F-4D97-AF65-F5344CB8AC3E}">
        <p14:creationId xmlns:p14="http://schemas.microsoft.com/office/powerpoint/2010/main" val="325694222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ángulo 16">
            <a:extLst>
              <a:ext uri="{FF2B5EF4-FFF2-40B4-BE49-F238E27FC236}">
                <a16:creationId xmlns:a16="http://schemas.microsoft.com/office/drawing/2014/main" id="{FD823D97-8E89-0235-1D79-4AA402B2F5FD}"/>
              </a:ext>
            </a:extLst>
          </p:cNvPr>
          <p:cNvSpPr/>
          <p:nvPr/>
        </p:nvSpPr>
        <p:spPr>
          <a:xfrm>
            <a:off x="5558560" y="810364"/>
            <a:ext cx="6518761" cy="5237271"/>
          </a:xfrm>
          <a:prstGeom prst="rect">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 name="Rectángulo 4">
            <a:extLst>
              <a:ext uri="{FF2B5EF4-FFF2-40B4-BE49-F238E27FC236}">
                <a16:creationId xmlns:a16="http://schemas.microsoft.com/office/drawing/2014/main" id="{6580822B-47EA-E443-D33D-46EA5F8B842F}"/>
              </a:ext>
            </a:extLst>
          </p:cNvPr>
          <p:cNvSpPr/>
          <p:nvPr/>
        </p:nvSpPr>
        <p:spPr>
          <a:xfrm>
            <a:off x="85651" y="2008236"/>
            <a:ext cx="5307486" cy="3245936"/>
          </a:xfrm>
          <a:prstGeom prst="rect">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Título 1">
            <a:extLst>
              <a:ext uri="{FF2B5EF4-FFF2-40B4-BE49-F238E27FC236}">
                <a16:creationId xmlns:a16="http://schemas.microsoft.com/office/drawing/2014/main" id="{B685E77F-54D7-FB7C-0724-F66899518645}"/>
              </a:ext>
            </a:extLst>
          </p:cNvPr>
          <p:cNvSpPr txBox="1">
            <a:spLocks/>
          </p:cNvSpPr>
          <p:nvPr/>
        </p:nvSpPr>
        <p:spPr>
          <a:xfrm>
            <a:off x="539806" y="1528977"/>
            <a:ext cx="4395020" cy="369120"/>
          </a:xfrm>
          <a:prstGeom prst="rect">
            <a:avLst/>
          </a:prstGeom>
        </p:spPr>
        <p:txBody>
          <a:bodyPr vert="horz" lIns="91440" tIns="45720" rIns="91440" bIns="45720" rtlCol="0" anchor="ctr">
            <a:normAutofit fontScale="90000" lnSpcReduction="10000"/>
          </a:bodyPr>
          <a:lstStyle>
            <a:lvl1pPr algn="ctr"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2400">
                <a:solidFill>
                  <a:srgbClr val="00A19C"/>
                </a:solidFill>
              </a:rPr>
              <a:t>DETALLE ESPECIALIDAD POR MES</a:t>
            </a:r>
          </a:p>
        </p:txBody>
      </p:sp>
      <p:sp>
        <p:nvSpPr>
          <p:cNvPr id="18" name="Título 1">
            <a:extLst>
              <a:ext uri="{FF2B5EF4-FFF2-40B4-BE49-F238E27FC236}">
                <a16:creationId xmlns:a16="http://schemas.microsoft.com/office/drawing/2014/main" id="{B26C3B6C-7E0D-DC70-0D6A-5D538D2A9CB9}"/>
              </a:ext>
            </a:extLst>
          </p:cNvPr>
          <p:cNvSpPr txBox="1">
            <a:spLocks/>
          </p:cNvSpPr>
          <p:nvPr/>
        </p:nvSpPr>
        <p:spPr>
          <a:xfrm>
            <a:off x="539806" y="1159857"/>
            <a:ext cx="4395020" cy="369120"/>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fontScale="75000" lnSpcReduction="20000"/>
          </a:bodyPr>
          <a:lstStyle>
            <a:defPPr>
              <a:defRPr lang="es-CO"/>
            </a:defPPr>
            <a:lvl1pPr algn="ctr">
              <a:lnSpc>
                <a:spcPct val="90000"/>
              </a:lnSpc>
              <a:spcBef>
                <a:spcPct val="0"/>
              </a:spcBef>
              <a:buNone/>
              <a:defRPr sz="3200" b="1">
                <a:solidFill>
                  <a:srgbClr val="00A19C"/>
                </a:solidFill>
                <a:latin typeface="+mj-lt"/>
                <a:ea typeface="+mj-ea"/>
                <a:cs typeface="+mj-cs"/>
              </a:defRPr>
            </a:lvl1pPr>
          </a:lstStyle>
          <a:p>
            <a:r>
              <a:rPr lang="es-CO"/>
              <a:t>INDICADORES CALL CENTER</a:t>
            </a:r>
          </a:p>
        </p:txBody>
      </p:sp>
      <p:sp>
        <p:nvSpPr>
          <p:cNvPr id="6" name="Título 1">
            <a:extLst>
              <a:ext uri="{FF2B5EF4-FFF2-40B4-BE49-F238E27FC236}">
                <a16:creationId xmlns:a16="http://schemas.microsoft.com/office/drawing/2014/main" id="{F4EF7E78-0F32-703D-4B77-19100FF03898}"/>
              </a:ext>
            </a:extLst>
          </p:cNvPr>
          <p:cNvSpPr txBox="1">
            <a:spLocks/>
          </p:cNvSpPr>
          <p:nvPr/>
        </p:nvSpPr>
        <p:spPr>
          <a:xfrm>
            <a:off x="6620430" y="866315"/>
            <a:ext cx="4395020" cy="369120"/>
          </a:xfrm>
          <a:prstGeom prst="rect">
            <a:avLst/>
          </a:prstGeom>
        </p:spPr>
        <p:txBody>
          <a:bodyPr vert="horz" lIns="91440" tIns="45720" rIns="91440" bIns="45720" rtlCol="0" anchor="ctr">
            <a:normAutofit fontScale="90000" lnSpcReduction="10000"/>
          </a:bodyPr>
          <a:lstStyle>
            <a:lvl1pPr algn="ctr"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2400">
                <a:solidFill>
                  <a:srgbClr val="00A19C"/>
                </a:solidFill>
              </a:rPr>
              <a:t>DETALLE ESPECIALIDAD POR EAPB</a:t>
            </a:r>
          </a:p>
        </p:txBody>
      </p:sp>
      <p:graphicFrame>
        <p:nvGraphicFramePr>
          <p:cNvPr id="2" name="Tabla 1">
            <a:extLst>
              <a:ext uri="{FF2B5EF4-FFF2-40B4-BE49-F238E27FC236}">
                <a16:creationId xmlns:a16="http://schemas.microsoft.com/office/drawing/2014/main" id="{F3A41D5E-053E-17EE-BE59-4775EBC96FCF}"/>
              </a:ext>
            </a:extLst>
          </p:cNvPr>
          <p:cNvGraphicFramePr>
            <a:graphicFrameLocks noGrp="1"/>
          </p:cNvGraphicFramePr>
          <p:nvPr/>
        </p:nvGraphicFramePr>
        <p:xfrm>
          <a:off x="259806" y="2157077"/>
          <a:ext cx="4986887" cy="2969953"/>
        </p:xfrm>
        <a:graphic>
          <a:graphicData uri="http://schemas.openxmlformats.org/drawingml/2006/table">
            <a:tbl>
              <a:tblPr/>
              <a:tblGrid>
                <a:gridCol w="1523755">
                  <a:extLst>
                    <a:ext uri="{9D8B030D-6E8A-4147-A177-3AD203B41FA5}">
                      <a16:colId xmlns:a16="http://schemas.microsoft.com/office/drawing/2014/main" val="1983454605"/>
                    </a:ext>
                  </a:extLst>
                </a:gridCol>
                <a:gridCol w="291967">
                  <a:extLst>
                    <a:ext uri="{9D8B030D-6E8A-4147-A177-3AD203B41FA5}">
                      <a16:colId xmlns:a16="http://schemas.microsoft.com/office/drawing/2014/main" val="3512046811"/>
                    </a:ext>
                  </a:extLst>
                </a:gridCol>
                <a:gridCol w="374517">
                  <a:extLst>
                    <a:ext uri="{9D8B030D-6E8A-4147-A177-3AD203B41FA5}">
                      <a16:colId xmlns:a16="http://schemas.microsoft.com/office/drawing/2014/main" val="2588401313"/>
                    </a:ext>
                  </a:extLst>
                </a:gridCol>
                <a:gridCol w="322129">
                  <a:extLst>
                    <a:ext uri="{9D8B030D-6E8A-4147-A177-3AD203B41FA5}">
                      <a16:colId xmlns:a16="http://schemas.microsoft.com/office/drawing/2014/main" val="3984403747"/>
                    </a:ext>
                  </a:extLst>
                </a:gridCol>
                <a:gridCol w="268155">
                  <a:extLst>
                    <a:ext uri="{9D8B030D-6E8A-4147-A177-3AD203B41FA5}">
                      <a16:colId xmlns:a16="http://schemas.microsoft.com/office/drawing/2014/main" val="1408365600"/>
                    </a:ext>
                  </a:extLst>
                </a:gridCol>
                <a:gridCol w="274505">
                  <a:extLst>
                    <a:ext uri="{9D8B030D-6E8A-4147-A177-3AD203B41FA5}">
                      <a16:colId xmlns:a16="http://schemas.microsoft.com/office/drawing/2014/main" val="4102529130"/>
                    </a:ext>
                  </a:extLst>
                </a:gridCol>
                <a:gridCol w="268155">
                  <a:extLst>
                    <a:ext uri="{9D8B030D-6E8A-4147-A177-3AD203B41FA5}">
                      <a16:colId xmlns:a16="http://schemas.microsoft.com/office/drawing/2014/main" val="2153226377"/>
                    </a:ext>
                  </a:extLst>
                </a:gridCol>
                <a:gridCol w="268155">
                  <a:extLst>
                    <a:ext uri="{9D8B030D-6E8A-4147-A177-3AD203B41FA5}">
                      <a16:colId xmlns:a16="http://schemas.microsoft.com/office/drawing/2014/main" val="2593506515"/>
                    </a:ext>
                  </a:extLst>
                </a:gridCol>
                <a:gridCol w="353879">
                  <a:extLst>
                    <a:ext uri="{9D8B030D-6E8A-4147-A177-3AD203B41FA5}">
                      <a16:colId xmlns:a16="http://schemas.microsoft.com/office/drawing/2014/main" val="1927076514"/>
                    </a:ext>
                  </a:extLst>
                </a:gridCol>
                <a:gridCol w="499929">
                  <a:extLst>
                    <a:ext uri="{9D8B030D-6E8A-4147-A177-3AD203B41FA5}">
                      <a16:colId xmlns:a16="http://schemas.microsoft.com/office/drawing/2014/main" val="1537575635"/>
                    </a:ext>
                  </a:extLst>
                </a:gridCol>
                <a:gridCol w="541741">
                  <a:extLst>
                    <a:ext uri="{9D8B030D-6E8A-4147-A177-3AD203B41FA5}">
                      <a16:colId xmlns:a16="http://schemas.microsoft.com/office/drawing/2014/main" val="3341323660"/>
                    </a:ext>
                  </a:extLst>
                </a:gridCol>
              </a:tblGrid>
              <a:tr h="82439">
                <a:tc>
                  <a:txBody>
                    <a:bodyPr/>
                    <a:lstStyle/>
                    <a:p>
                      <a:pPr algn="ctr" rtl="0" fontAlgn="ctr">
                        <a:buNone/>
                      </a:pPr>
                      <a:r>
                        <a:rPr lang="es-CO" sz="700" b="1" i="0" u="none" strike="noStrike">
                          <a:solidFill>
                            <a:srgbClr val="FFFFFF"/>
                          </a:solidFill>
                          <a:effectLst/>
                          <a:latin typeface="Calibri" panose="020F0502020204030204" pitchFamily="34" charset="0"/>
                        </a:rPr>
                        <a:t>ESPECIALIDAD</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700" b="1" i="0" u="none" strike="noStrike">
                          <a:solidFill>
                            <a:srgbClr val="FFFFFF"/>
                          </a:solidFill>
                          <a:effectLst/>
                          <a:latin typeface="Calibri" panose="020F0502020204030204" pitchFamily="34" charset="0"/>
                        </a:rPr>
                        <a:t>ENERO</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700" b="1" i="0" u="none" strike="noStrike">
                          <a:solidFill>
                            <a:srgbClr val="FFFFFF"/>
                          </a:solidFill>
                          <a:effectLst/>
                          <a:latin typeface="Calibri" panose="020F0502020204030204" pitchFamily="34" charset="0"/>
                        </a:rPr>
                        <a:t>FEBRERO</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700" b="1" i="0" u="none" strike="noStrike">
                          <a:solidFill>
                            <a:srgbClr val="FFFFFF"/>
                          </a:solidFill>
                          <a:effectLst/>
                          <a:latin typeface="Calibri" panose="020F0502020204030204" pitchFamily="34" charset="0"/>
                        </a:rPr>
                        <a:t>MARZO</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700" b="1" i="0" u="none" strike="noStrike">
                          <a:solidFill>
                            <a:srgbClr val="FFFFFF"/>
                          </a:solidFill>
                          <a:effectLst/>
                          <a:latin typeface="Calibri" panose="020F0502020204030204" pitchFamily="34" charset="0"/>
                        </a:rPr>
                        <a:t>ABRIL</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700" b="1" i="0" u="none" strike="noStrike">
                          <a:solidFill>
                            <a:srgbClr val="FFFFFF"/>
                          </a:solidFill>
                          <a:effectLst/>
                          <a:latin typeface="Calibri" panose="020F0502020204030204" pitchFamily="34" charset="0"/>
                        </a:rPr>
                        <a:t>MAYO</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700" b="1" i="0" u="none" strike="noStrike">
                          <a:solidFill>
                            <a:srgbClr val="FFFFFF"/>
                          </a:solidFill>
                          <a:effectLst/>
                          <a:latin typeface="Calibri" panose="020F0502020204030204" pitchFamily="34" charset="0"/>
                        </a:rPr>
                        <a:t>JUNIO</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700" b="1" i="0" u="none" strike="noStrike">
                          <a:solidFill>
                            <a:srgbClr val="FFFFFF"/>
                          </a:solidFill>
                          <a:effectLst/>
                          <a:latin typeface="Calibri" panose="020F0502020204030204" pitchFamily="34" charset="0"/>
                        </a:rPr>
                        <a:t>JULIO</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700" b="1" i="0" u="none" strike="noStrike">
                          <a:solidFill>
                            <a:srgbClr val="FFFFFF"/>
                          </a:solidFill>
                          <a:effectLst/>
                          <a:latin typeface="Calibri" panose="020F0502020204030204" pitchFamily="34" charset="0"/>
                        </a:rPr>
                        <a:t>AGOSTO</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700" b="1" i="0" u="none" strike="noStrike">
                          <a:solidFill>
                            <a:srgbClr val="FFFFFF"/>
                          </a:solidFill>
                          <a:effectLst/>
                          <a:latin typeface="Calibri" panose="020F0502020204030204" pitchFamily="34" charset="0"/>
                        </a:rPr>
                        <a:t>SEPTIEMBRE</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700" b="1" i="0" u="none" strike="noStrike">
                          <a:solidFill>
                            <a:srgbClr val="FFFFFF"/>
                          </a:solidFill>
                          <a:effectLst/>
                          <a:latin typeface="Calibri" panose="020F0502020204030204" pitchFamily="34" charset="0"/>
                        </a:rPr>
                        <a:t>TOTAL</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extLst>
                  <a:ext uri="{0D108BD9-81ED-4DB2-BD59-A6C34878D82A}">
                    <a16:rowId xmlns:a16="http://schemas.microsoft.com/office/drawing/2014/main" val="3130386038"/>
                  </a:ext>
                </a:extLst>
              </a:tr>
              <a:tr h="82439">
                <a:tc>
                  <a:txBody>
                    <a:bodyPr/>
                    <a:lstStyle/>
                    <a:p>
                      <a:pPr algn="l" rtl="0" fontAlgn="b">
                        <a:buNone/>
                      </a:pPr>
                      <a:r>
                        <a:rPr lang="es-CO" sz="800" b="1" i="0" u="none" strike="noStrike">
                          <a:solidFill>
                            <a:srgbClr val="00A19C"/>
                          </a:solidFill>
                          <a:effectLst/>
                          <a:latin typeface="Calibri" panose="020F0502020204030204" pitchFamily="34" charset="0"/>
                        </a:rPr>
                        <a:t>TRABAJO SOCIAL                                                        </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1.452</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1.610</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1.857</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1.781</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1.469</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1.506</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880</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1.403</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1.833</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13.791</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86778971"/>
                  </a:ext>
                </a:extLst>
              </a:tr>
              <a:tr h="82439">
                <a:tc>
                  <a:txBody>
                    <a:bodyPr/>
                    <a:lstStyle/>
                    <a:p>
                      <a:pPr algn="l" rtl="0" fontAlgn="b">
                        <a:buNone/>
                      </a:pPr>
                      <a:r>
                        <a:rPr lang="es-CO" sz="800" b="1" i="0" u="none" strike="noStrike">
                          <a:solidFill>
                            <a:srgbClr val="00A19C"/>
                          </a:solidFill>
                          <a:effectLst/>
                          <a:latin typeface="Calibri" panose="020F0502020204030204" pitchFamily="34" charset="0"/>
                        </a:rPr>
                        <a:t>PSICOLOGIA                                                            </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1.314</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1.505</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1.691</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1.299</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1.293</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1.490</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729</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1.472</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1.648</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12.441</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18040756"/>
                  </a:ext>
                </a:extLst>
              </a:tr>
              <a:tr h="82439">
                <a:tc>
                  <a:txBody>
                    <a:bodyPr/>
                    <a:lstStyle/>
                    <a:p>
                      <a:pPr algn="l" rtl="0" fontAlgn="b">
                        <a:buNone/>
                      </a:pPr>
                      <a:r>
                        <a:rPr lang="es-CO" sz="800" b="1" i="0" u="none" strike="noStrike">
                          <a:solidFill>
                            <a:srgbClr val="00A19C"/>
                          </a:solidFill>
                          <a:effectLst/>
                          <a:latin typeface="Calibri" panose="020F0502020204030204" pitchFamily="34" charset="0"/>
                        </a:rPr>
                        <a:t>NUTRICION Y DIETETICA                                                 </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1.178</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1.476</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1.652</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1.486</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1.215</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1.227</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721</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1.357</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1.480</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11.792</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98144626"/>
                  </a:ext>
                </a:extLst>
              </a:tr>
              <a:tr h="82439">
                <a:tc>
                  <a:txBody>
                    <a:bodyPr/>
                    <a:lstStyle/>
                    <a:p>
                      <a:pPr algn="l" rtl="0" fontAlgn="b">
                        <a:buNone/>
                      </a:pPr>
                      <a:r>
                        <a:rPr lang="es-CO" sz="800" b="1" i="0" u="none" strike="noStrike">
                          <a:solidFill>
                            <a:srgbClr val="00A19C"/>
                          </a:solidFill>
                          <a:effectLst/>
                          <a:latin typeface="Calibri" panose="020F0502020204030204" pitchFamily="34" charset="0"/>
                        </a:rPr>
                        <a:t>ONCOLOGIA                                                             </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967</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1.029</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909</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790</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757</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956</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319</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695</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816</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7.238</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93475569"/>
                  </a:ext>
                </a:extLst>
              </a:tr>
              <a:tr h="82439">
                <a:tc>
                  <a:txBody>
                    <a:bodyPr/>
                    <a:lstStyle/>
                    <a:p>
                      <a:pPr algn="l" rtl="0" fontAlgn="b">
                        <a:buNone/>
                      </a:pPr>
                      <a:r>
                        <a:rPr lang="es-CO" sz="800" b="1" i="0" u="none" strike="noStrike">
                          <a:solidFill>
                            <a:srgbClr val="00A19C"/>
                          </a:solidFill>
                          <a:effectLst/>
                          <a:latin typeface="Calibri" panose="020F0502020204030204" pitchFamily="34" charset="0"/>
                        </a:rPr>
                        <a:t>HEMATO ONCOLOGIA                                                      </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696</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721</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721</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636</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657</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771</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311</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782</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579</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5.874</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96123288"/>
                  </a:ext>
                </a:extLst>
              </a:tr>
              <a:tr h="82439">
                <a:tc>
                  <a:txBody>
                    <a:bodyPr/>
                    <a:lstStyle/>
                    <a:p>
                      <a:pPr algn="l" rtl="0" fontAlgn="b">
                        <a:buNone/>
                      </a:pPr>
                      <a:r>
                        <a:rPr lang="es-CO" sz="800" b="1" i="0" u="none" strike="noStrike">
                          <a:solidFill>
                            <a:srgbClr val="00A19C"/>
                          </a:solidFill>
                          <a:effectLst/>
                          <a:latin typeface="Calibri" panose="020F0502020204030204" pitchFamily="34" charset="0"/>
                        </a:rPr>
                        <a:t>DOLOR Y CUIDADOS PALIATIVOS                                           </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337</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422</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398</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334</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438</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448</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158</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342</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510</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3.387</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99121739"/>
                  </a:ext>
                </a:extLst>
              </a:tr>
              <a:tr h="82439">
                <a:tc>
                  <a:txBody>
                    <a:bodyPr/>
                    <a:lstStyle/>
                    <a:p>
                      <a:pPr algn="l" rtl="0" fontAlgn="b">
                        <a:buNone/>
                      </a:pPr>
                      <a:r>
                        <a:rPr lang="es-CO" sz="800" b="1" i="0" u="none" strike="noStrike">
                          <a:solidFill>
                            <a:srgbClr val="00A19C"/>
                          </a:solidFill>
                          <a:effectLst/>
                          <a:latin typeface="Calibri" panose="020F0502020204030204" pitchFamily="34" charset="0"/>
                        </a:rPr>
                        <a:t>DERMATOLOGIA ONCOLOGICA                                               </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248</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208</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267</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225</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328</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169</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98</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226</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260</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2.029</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7740692"/>
                  </a:ext>
                </a:extLst>
              </a:tr>
              <a:tr h="82439">
                <a:tc>
                  <a:txBody>
                    <a:bodyPr/>
                    <a:lstStyle/>
                    <a:p>
                      <a:pPr algn="l" rtl="0" fontAlgn="b">
                        <a:buNone/>
                      </a:pPr>
                      <a:r>
                        <a:rPr lang="es-CO" sz="800" b="1" i="0" u="none" strike="noStrike">
                          <a:solidFill>
                            <a:srgbClr val="00A19C"/>
                          </a:solidFill>
                          <a:effectLst/>
                          <a:latin typeface="Calibri" panose="020F0502020204030204" pitchFamily="34" charset="0"/>
                        </a:rPr>
                        <a:t>ENFERMERIA                                                            </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174</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297</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173</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346</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181</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201</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154</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107</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236</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1.869</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79058042"/>
                  </a:ext>
                </a:extLst>
              </a:tr>
              <a:tr h="82439">
                <a:tc>
                  <a:txBody>
                    <a:bodyPr/>
                    <a:lstStyle/>
                    <a:p>
                      <a:pPr algn="l" rtl="0" fontAlgn="b">
                        <a:buNone/>
                      </a:pPr>
                      <a:r>
                        <a:rPr lang="es-CO" sz="800" b="1" i="0" u="none" strike="noStrike">
                          <a:solidFill>
                            <a:srgbClr val="00A19C"/>
                          </a:solidFill>
                          <a:effectLst/>
                          <a:latin typeface="Calibri" panose="020F0502020204030204" pitchFamily="34" charset="0"/>
                        </a:rPr>
                        <a:t>MASTOLOGIA                                                            </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278</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202</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217</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227</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211</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161</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102</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184</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168</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1.750</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61119180"/>
                  </a:ext>
                </a:extLst>
              </a:tr>
              <a:tr h="82439">
                <a:tc>
                  <a:txBody>
                    <a:bodyPr/>
                    <a:lstStyle/>
                    <a:p>
                      <a:pPr algn="l" rtl="0" fontAlgn="b">
                        <a:buNone/>
                      </a:pPr>
                      <a:r>
                        <a:rPr lang="es-CO" sz="800" b="1" i="0" u="none" strike="noStrike">
                          <a:solidFill>
                            <a:srgbClr val="00A19C"/>
                          </a:solidFill>
                          <a:effectLst/>
                          <a:latin typeface="Calibri" panose="020F0502020204030204" pitchFamily="34" charset="0"/>
                        </a:rPr>
                        <a:t>GINECOLOGIA ONCOLOGICA                                                </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216</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244</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241</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204</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173</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199</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116</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184</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125</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1.702</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45311784"/>
                  </a:ext>
                </a:extLst>
              </a:tr>
              <a:tr h="82439">
                <a:tc>
                  <a:txBody>
                    <a:bodyPr/>
                    <a:lstStyle/>
                    <a:p>
                      <a:pPr algn="l" rtl="0" fontAlgn="b">
                        <a:buNone/>
                      </a:pPr>
                      <a:r>
                        <a:rPr lang="es-CO" sz="800" b="1" i="0" u="none" strike="noStrike">
                          <a:solidFill>
                            <a:srgbClr val="00A19C"/>
                          </a:solidFill>
                          <a:effectLst/>
                          <a:latin typeface="Calibri" panose="020F0502020204030204" pitchFamily="34" charset="0"/>
                        </a:rPr>
                        <a:t>CIRUGIA ONCOLOGICA                                                    </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150</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210</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169</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221</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219</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186</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61</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247</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219</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1.682</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66178548"/>
                  </a:ext>
                </a:extLst>
              </a:tr>
              <a:tr h="82439">
                <a:tc>
                  <a:txBody>
                    <a:bodyPr/>
                    <a:lstStyle/>
                    <a:p>
                      <a:pPr algn="l" rtl="0" fontAlgn="b">
                        <a:buNone/>
                      </a:pPr>
                      <a:r>
                        <a:rPr lang="es-CO" sz="800" b="1" i="0" u="none" strike="noStrike">
                          <a:solidFill>
                            <a:srgbClr val="00A19C"/>
                          </a:solidFill>
                          <a:effectLst/>
                          <a:latin typeface="Calibri" panose="020F0502020204030204" pitchFamily="34" charset="0"/>
                        </a:rPr>
                        <a:t>MEDICINA GENERAL                                                      </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147</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184</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180</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201</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249</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179</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3</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199</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307</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1.649</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45419868"/>
                  </a:ext>
                </a:extLst>
              </a:tr>
              <a:tr h="82439">
                <a:tc>
                  <a:txBody>
                    <a:bodyPr/>
                    <a:lstStyle/>
                    <a:p>
                      <a:pPr algn="l" rtl="0" fontAlgn="b">
                        <a:buNone/>
                      </a:pPr>
                      <a:r>
                        <a:rPr lang="es-CO" sz="800" b="1" i="0" u="none" strike="noStrike">
                          <a:solidFill>
                            <a:srgbClr val="00A19C"/>
                          </a:solidFill>
                          <a:effectLst/>
                          <a:latin typeface="Calibri" panose="020F0502020204030204" pitchFamily="34" charset="0"/>
                        </a:rPr>
                        <a:t>UROLOGIA ONCOLOGICA                                                   </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153</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180</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202</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171</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184</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248</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52</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153</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196</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1.539</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14834197"/>
                  </a:ext>
                </a:extLst>
              </a:tr>
              <a:tr h="82439">
                <a:tc>
                  <a:txBody>
                    <a:bodyPr/>
                    <a:lstStyle/>
                    <a:p>
                      <a:pPr algn="l" rtl="0" fontAlgn="b">
                        <a:buNone/>
                      </a:pPr>
                      <a:r>
                        <a:rPr lang="es-CO" sz="800" b="1" i="0" u="none" strike="noStrike">
                          <a:solidFill>
                            <a:srgbClr val="00A19C"/>
                          </a:solidFill>
                          <a:effectLst/>
                          <a:latin typeface="Calibri" panose="020F0502020204030204" pitchFamily="34" charset="0"/>
                        </a:rPr>
                        <a:t>HEMATOLOGIA                                                           </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104</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129</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117</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125</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111</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56</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42</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98</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102</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884</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55927217"/>
                  </a:ext>
                </a:extLst>
              </a:tr>
              <a:tr h="82439">
                <a:tc>
                  <a:txBody>
                    <a:bodyPr/>
                    <a:lstStyle/>
                    <a:p>
                      <a:pPr algn="l" rtl="0" fontAlgn="b">
                        <a:buNone/>
                      </a:pPr>
                      <a:r>
                        <a:rPr lang="es-CO" sz="800" b="1" i="0" u="none" strike="noStrike">
                          <a:solidFill>
                            <a:srgbClr val="00A19C"/>
                          </a:solidFill>
                          <a:effectLst/>
                          <a:latin typeface="Calibri" panose="020F0502020204030204" pitchFamily="34" charset="0"/>
                        </a:rPr>
                        <a:t>ANESTESIOLOGIA                                                        </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81</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70</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96</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87</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102</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99</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101</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57</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694</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89910639"/>
                  </a:ext>
                </a:extLst>
              </a:tr>
              <a:tr h="82439">
                <a:tc>
                  <a:txBody>
                    <a:bodyPr/>
                    <a:lstStyle/>
                    <a:p>
                      <a:pPr algn="l" rtl="0" fontAlgn="b">
                        <a:buNone/>
                      </a:pPr>
                      <a:r>
                        <a:rPr lang="es-CO" sz="800" b="1" i="0" u="none" strike="noStrike">
                          <a:solidFill>
                            <a:srgbClr val="00A19C"/>
                          </a:solidFill>
                          <a:effectLst/>
                          <a:latin typeface="Calibri" panose="020F0502020204030204" pitchFamily="34" charset="0"/>
                        </a:rPr>
                        <a:t>CIRUGIA PLASTICA                                                      </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50</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58</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57</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58</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53</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54</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25</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70</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54</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479</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59572407"/>
                  </a:ext>
                </a:extLst>
              </a:tr>
              <a:tr h="82439">
                <a:tc>
                  <a:txBody>
                    <a:bodyPr/>
                    <a:lstStyle/>
                    <a:p>
                      <a:pPr algn="l" rtl="0" fontAlgn="b">
                        <a:buNone/>
                      </a:pPr>
                      <a:r>
                        <a:rPr lang="es-CO" sz="800" b="1" i="0" u="none" strike="noStrike">
                          <a:solidFill>
                            <a:srgbClr val="00A19C"/>
                          </a:solidFill>
                          <a:effectLst/>
                          <a:latin typeface="Calibri" panose="020F0502020204030204" pitchFamily="34" charset="0"/>
                        </a:rPr>
                        <a:t>ORTOPEDIA ONCOLOGICA                                                  </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36</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16</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22</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23</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56</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30</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20</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21</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30</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254</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79932730"/>
                  </a:ext>
                </a:extLst>
              </a:tr>
              <a:tr h="82439">
                <a:tc>
                  <a:txBody>
                    <a:bodyPr/>
                    <a:lstStyle/>
                    <a:p>
                      <a:pPr algn="l" rtl="0" fontAlgn="b">
                        <a:buNone/>
                      </a:pPr>
                      <a:r>
                        <a:rPr lang="es-CO" sz="800" b="1" i="0" u="none" strike="noStrike">
                          <a:solidFill>
                            <a:srgbClr val="00A19C"/>
                          </a:solidFill>
                          <a:effectLst/>
                          <a:latin typeface="Calibri" panose="020F0502020204030204" pitchFamily="34" charset="0"/>
                        </a:rPr>
                        <a:t>GUIA ESPIRITUAL</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62</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40</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20</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23</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6</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27</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4</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7</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190</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64413658"/>
                  </a:ext>
                </a:extLst>
              </a:tr>
              <a:tr h="82439">
                <a:tc>
                  <a:txBody>
                    <a:bodyPr/>
                    <a:lstStyle/>
                    <a:p>
                      <a:pPr algn="l" rtl="0" fontAlgn="b">
                        <a:buNone/>
                      </a:pPr>
                      <a:r>
                        <a:rPr lang="es-CO" sz="800" b="1" i="0" u="none" strike="noStrike">
                          <a:solidFill>
                            <a:srgbClr val="00A19C"/>
                          </a:solidFill>
                          <a:effectLst/>
                          <a:latin typeface="Calibri" panose="020F0502020204030204" pitchFamily="34" charset="0"/>
                        </a:rPr>
                        <a:t>GENETICA HUMANA                                                       </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9</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12</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12</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4</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11</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 </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 </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 </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 </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48</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46255971"/>
                  </a:ext>
                </a:extLst>
              </a:tr>
              <a:tr h="82439">
                <a:tc>
                  <a:txBody>
                    <a:bodyPr/>
                    <a:lstStyle/>
                    <a:p>
                      <a:pPr algn="l" rtl="0" fontAlgn="b">
                        <a:buNone/>
                      </a:pPr>
                      <a:r>
                        <a:rPr lang="es-CO" sz="800" b="1" i="0" u="none" strike="noStrike">
                          <a:solidFill>
                            <a:srgbClr val="00A19C"/>
                          </a:solidFill>
                          <a:effectLst/>
                          <a:latin typeface="Calibri" panose="020F0502020204030204" pitchFamily="34" charset="0"/>
                        </a:rPr>
                        <a:t>CIRUGIA DE CABEZA Y CUELLO                                            </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3</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6</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4</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8</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7</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 </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 </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 </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 </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28</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56173771"/>
                  </a:ext>
                </a:extLst>
              </a:tr>
              <a:tr h="82439">
                <a:tc>
                  <a:txBody>
                    <a:bodyPr/>
                    <a:lstStyle/>
                    <a:p>
                      <a:pPr algn="l" rtl="0" fontAlgn="b">
                        <a:buNone/>
                      </a:pPr>
                      <a:r>
                        <a:rPr lang="es-CO" sz="800" b="1" i="0" u="none" strike="noStrike">
                          <a:solidFill>
                            <a:srgbClr val="00A19C"/>
                          </a:solidFill>
                          <a:effectLst/>
                          <a:latin typeface="Calibri" panose="020F0502020204030204" pitchFamily="34" charset="0"/>
                        </a:rPr>
                        <a:t>MEDICINA INTERNA                                                      </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5</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5</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6</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 </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 </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 </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 </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 </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17</a:t>
                      </a:r>
                    </a:p>
                  </a:txBody>
                  <a:tcPr marL="7871" marR="7871" marT="787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26543747"/>
                  </a:ext>
                </a:extLst>
              </a:tr>
              <a:tr h="82439">
                <a:tc>
                  <a:txBody>
                    <a:bodyPr/>
                    <a:lstStyle/>
                    <a:p>
                      <a:pPr algn="ctr" rtl="0" fontAlgn="ctr">
                        <a:buNone/>
                      </a:pPr>
                      <a:r>
                        <a:rPr lang="es-CO" sz="700" b="1" i="0" u="none" strike="noStrike">
                          <a:solidFill>
                            <a:srgbClr val="FFFFFF"/>
                          </a:solidFill>
                          <a:effectLst/>
                          <a:latin typeface="Calibri" panose="020F0502020204030204" pitchFamily="34" charset="0"/>
                        </a:rPr>
                        <a:t>TOTAL</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800" b="1" i="0" u="none" strike="noStrike">
                          <a:solidFill>
                            <a:srgbClr val="FFFFFF"/>
                          </a:solidFill>
                          <a:effectLst/>
                          <a:latin typeface="Calibri" panose="020F0502020204030204" pitchFamily="34" charset="0"/>
                        </a:rPr>
                        <a:t>7.660</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800" b="1" i="0" u="none" strike="noStrike">
                          <a:solidFill>
                            <a:srgbClr val="FFFFFF"/>
                          </a:solidFill>
                          <a:effectLst/>
                          <a:latin typeface="Calibri" panose="020F0502020204030204" pitchFamily="34" charset="0"/>
                        </a:rPr>
                        <a:t>8.624</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800" b="1" i="0" u="none" strike="noStrike">
                          <a:solidFill>
                            <a:srgbClr val="FFFFFF"/>
                          </a:solidFill>
                          <a:effectLst/>
                          <a:latin typeface="Calibri" panose="020F0502020204030204" pitchFamily="34" charset="0"/>
                        </a:rPr>
                        <a:t>9.011</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800" b="1" i="0" u="none" strike="noStrike">
                          <a:solidFill>
                            <a:srgbClr val="FFFFFF"/>
                          </a:solidFill>
                          <a:effectLst/>
                          <a:latin typeface="Calibri" panose="020F0502020204030204" pitchFamily="34" charset="0"/>
                        </a:rPr>
                        <a:t>8.250</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800" b="1" i="0" u="none" strike="noStrike">
                          <a:solidFill>
                            <a:srgbClr val="FFFFFF"/>
                          </a:solidFill>
                          <a:effectLst/>
                          <a:latin typeface="Calibri" panose="020F0502020204030204" pitchFamily="34" charset="0"/>
                        </a:rPr>
                        <a:t>7.720</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800" b="1" i="0" u="none" strike="noStrike">
                          <a:solidFill>
                            <a:srgbClr val="FFFFFF"/>
                          </a:solidFill>
                          <a:effectLst/>
                          <a:latin typeface="Calibri" panose="020F0502020204030204" pitchFamily="34" charset="0"/>
                        </a:rPr>
                        <a:t>8.007</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800" b="1" i="0" u="none" strike="noStrike">
                          <a:solidFill>
                            <a:srgbClr val="FFFFFF"/>
                          </a:solidFill>
                          <a:effectLst/>
                          <a:latin typeface="Calibri" panose="020F0502020204030204" pitchFamily="34" charset="0"/>
                        </a:rPr>
                        <a:t>3.796</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800" b="1" i="0" u="none" strike="noStrike">
                          <a:solidFill>
                            <a:srgbClr val="FFFFFF"/>
                          </a:solidFill>
                          <a:effectLst/>
                          <a:latin typeface="Calibri" panose="020F0502020204030204" pitchFamily="34" charset="0"/>
                        </a:rPr>
                        <a:t>7.642</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800" b="1" i="0" u="none" strike="noStrike">
                          <a:solidFill>
                            <a:srgbClr val="FFFFFF"/>
                          </a:solidFill>
                          <a:effectLst/>
                          <a:latin typeface="Calibri" panose="020F0502020204030204" pitchFamily="34" charset="0"/>
                        </a:rPr>
                        <a:t>8.627</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800" b="1" i="0" u="none" strike="noStrike">
                          <a:solidFill>
                            <a:srgbClr val="FFFFFF"/>
                          </a:solidFill>
                          <a:effectLst/>
                          <a:latin typeface="Calibri" panose="020F0502020204030204" pitchFamily="34" charset="0"/>
                        </a:rPr>
                        <a:t>69.337</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extLst>
                  <a:ext uri="{0D108BD9-81ED-4DB2-BD59-A6C34878D82A}">
                    <a16:rowId xmlns:a16="http://schemas.microsoft.com/office/drawing/2014/main" val="3386588370"/>
                  </a:ext>
                </a:extLst>
              </a:tr>
            </a:tbl>
          </a:graphicData>
        </a:graphic>
      </p:graphicFrame>
      <p:graphicFrame>
        <p:nvGraphicFramePr>
          <p:cNvPr id="3" name="Tabla 2">
            <a:extLst>
              <a:ext uri="{FF2B5EF4-FFF2-40B4-BE49-F238E27FC236}">
                <a16:creationId xmlns:a16="http://schemas.microsoft.com/office/drawing/2014/main" id="{70E7480A-4007-A331-266C-F0D9FEAB86B1}"/>
              </a:ext>
            </a:extLst>
          </p:cNvPr>
          <p:cNvGraphicFramePr>
            <a:graphicFrameLocks noGrp="1"/>
          </p:cNvGraphicFramePr>
          <p:nvPr/>
        </p:nvGraphicFramePr>
        <p:xfrm>
          <a:off x="5626447" y="1291386"/>
          <a:ext cx="4442985" cy="1295397"/>
        </p:xfrm>
        <a:graphic>
          <a:graphicData uri="http://schemas.openxmlformats.org/drawingml/2006/table">
            <a:tbl>
              <a:tblPr/>
              <a:tblGrid>
                <a:gridCol w="739187">
                  <a:extLst>
                    <a:ext uri="{9D8B030D-6E8A-4147-A177-3AD203B41FA5}">
                      <a16:colId xmlns:a16="http://schemas.microsoft.com/office/drawing/2014/main" val="3834701763"/>
                    </a:ext>
                  </a:extLst>
                </a:gridCol>
                <a:gridCol w="330601">
                  <a:extLst>
                    <a:ext uri="{9D8B030D-6E8A-4147-A177-3AD203B41FA5}">
                      <a16:colId xmlns:a16="http://schemas.microsoft.com/office/drawing/2014/main" val="4174795190"/>
                    </a:ext>
                  </a:extLst>
                </a:gridCol>
                <a:gridCol w="424997">
                  <a:extLst>
                    <a:ext uri="{9D8B030D-6E8A-4147-A177-3AD203B41FA5}">
                      <a16:colId xmlns:a16="http://schemas.microsoft.com/office/drawing/2014/main" val="1043425851"/>
                    </a:ext>
                  </a:extLst>
                </a:gridCol>
                <a:gridCol w="364415">
                  <a:extLst>
                    <a:ext uri="{9D8B030D-6E8A-4147-A177-3AD203B41FA5}">
                      <a16:colId xmlns:a16="http://schemas.microsoft.com/office/drawing/2014/main" val="2208985235"/>
                    </a:ext>
                  </a:extLst>
                </a:gridCol>
                <a:gridCol w="302422">
                  <a:extLst>
                    <a:ext uri="{9D8B030D-6E8A-4147-A177-3AD203B41FA5}">
                      <a16:colId xmlns:a16="http://schemas.microsoft.com/office/drawing/2014/main" val="1848507975"/>
                    </a:ext>
                  </a:extLst>
                </a:gridCol>
                <a:gridCol w="310875">
                  <a:extLst>
                    <a:ext uri="{9D8B030D-6E8A-4147-A177-3AD203B41FA5}">
                      <a16:colId xmlns:a16="http://schemas.microsoft.com/office/drawing/2014/main" val="714117176"/>
                    </a:ext>
                  </a:extLst>
                </a:gridCol>
                <a:gridCol w="302422">
                  <a:extLst>
                    <a:ext uri="{9D8B030D-6E8A-4147-A177-3AD203B41FA5}">
                      <a16:colId xmlns:a16="http://schemas.microsoft.com/office/drawing/2014/main" val="1094484450"/>
                    </a:ext>
                  </a:extLst>
                </a:gridCol>
                <a:gridCol w="302422">
                  <a:extLst>
                    <a:ext uri="{9D8B030D-6E8A-4147-A177-3AD203B41FA5}">
                      <a16:colId xmlns:a16="http://schemas.microsoft.com/office/drawing/2014/main" val="1693873986"/>
                    </a:ext>
                  </a:extLst>
                </a:gridCol>
                <a:gridCol w="402455">
                  <a:extLst>
                    <a:ext uri="{9D8B030D-6E8A-4147-A177-3AD203B41FA5}">
                      <a16:colId xmlns:a16="http://schemas.microsoft.com/office/drawing/2014/main" val="347281716"/>
                    </a:ext>
                  </a:extLst>
                </a:gridCol>
                <a:gridCol w="594107">
                  <a:extLst>
                    <a:ext uri="{9D8B030D-6E8A-4147-A177-3AD203B41FA5}">
                      <a16:colId xmlns:a16="http://schemas.microsoft.com/office/drawing/2014/main" val="3003190544"/>
                    </a:ext>
                  </a:extLst>
                </a:gridCol>
                <a:gridCol w="369082">
                  <a:extLst>
                    <a:ext uri="{9D8B030D-6E8A-4147-A177-3AD203B41FA5}">
                      <a16:colId xmlns:a16="http://schemas.microsoft.com/office/drawing/2014/main" val="3826423983"/>
                    </a:ext>
                  </a:extLst>
                </a:gridCol>
              </a:tblGrid>
              <a:tr h="143933">
                <a:tc>
                  <a:txBody>
                    <a:bodyPr/>
                    <a:lstStyle/>
                    <a:p>
                      <a:pPr algn="ctr" rtl="0" fontAlgn="ctr">
                        <a:buNone/>
                      </a:pPr>
                      <a:r>
                        <a:rPr lang="es-CO" sz="800" b="1" i="0" u="none" strike="noStrike">
                          <a:solidFill>
                            <a:srgbClr val="FFFFFF"/>
                          </a:solidFill>
                          <a:effectLst/>
                          <a:latin typeface="Calibri" panose="020F0502020204030204" pitchFamily="34" charset="0"/>
                        </a:rPr>
                        <a:t>EAPB</a:t>
                      </a:r>
                    </a:p>
                  </a:txBody>
                  <a:tcPr marL="9246" marR="9246" marT="92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800" b="1" i="0" u="none" strike="noStrike">
                          <a:solidFill>
                            <a:srgbClr val="FFFFFF"/>
                          </a:solidFill>
                          <a:effectLst/>
                          <a:latin typeface="Calibri" panose="020F0502020204030204" pitchFamily="34" charset="0"/>
                        </a:rPr>
                        <a:t>ENERO</a:t>
                      </a:r>
                    </a:p>
                  </a:txBody>
                  <a:tcPr marL="9246" marR="9246" marT="92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800" b="1" i="0" u="none" strike="noStrike">
                          <a:solidFill>
                            <a:srgbClr val="FFFFFF"/>
                          </a:solidFill>
                          <a:effectLst/>
                          <a:latin typeface="Calibri" panose="020F0502020204030204" pitchFamily="34" charset="0"/>
                        </a:rPr>
                        <a:t>FEBRERO</a:t>
                      </a:r>
                    </a:p>
                  </a:txBody>
                  <a:tcPr marL="9246" marR="9246" marT="92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800" b="1" i="0" u="none" strike="noStrike">
                          <a:solidFill>
                            <a:srgbClr val="FFFFFF"/>
                          </a:solidFill>
                          <a:effectLst/>
                          <a:latin typeface="Calibri" panose="020F0502020204030204" pitchFamily="34" charset="0"/>
                        </a:rPr>
                        <a:t>MARZO</a:t>
                      </a:r>
                    </a:p>
                  </a:txBody>
                  <a:tcPr marL="9246" marR="9246" marT="92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800" b="1" i="0" u="none" strike="noStrike">
                          <a:solidFill>
                            <a:srgbClr val="FFFFFF"/>
                          </a:solidFill>
                          <a:effectLst/>
                          <a:latin typeface="Calibri" panose="020F0502020204030204" pitchFamily="34" charset="0"/>
                        </a:rPr>
                        <a:t>ABRIL</a:t>
                      </a:r>
                    </a:p>
                  </a:txBody>
                  <a:tcPr marL="9246" marR="9246" marT="92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800" b="1" i="0" u="none" strike="noStrike">
                          <a:solidFill>
                            <a:srgbClr val="FFFFFF"/>
                          </a:solidFill>
                          <a:effectLst/>
                          <a:latin typeface="Calibri" panose="020F0502020204030204" pitchFamily="34" charset="0"/>
                        </a:rPr>
                        <a:t>MAYO</a:t>
                      </a:r>
                    </a:p>
                  </a:txBody>
                  <a:tcPr marL="9246" marR="9246" marT="92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800" b="1" i="0" u="none" strike="noStrike">
                          <a:solidFill>
                            <a:srgbClr val="FFFFFF"/>
                          </a:solidFill>
                          <a:effectLst/>
                          <a:latin typeface="Calibri" panose="020F0502020204030204" pitchFamily="34" charset="0"/>
                        </a:rPr>
                        <a:t>JUNIO</a:t>
                      </a:r>
                    </a:p>
                  </a:txBody>
                  <a:tcPr marL="9246" marR="9246" marT="92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800" b="1" i="0" u="none" strike="noStrike">
                          <a:solidFill>
                            <a:srgbClr val="FFFFFF"/>
                          </a:solidFill>
                          <a:effectLst/>
                          <a:latin typeface="Calibri" panose="020F0502020204030204" pitchFamily="34" charset="0"/>
                        </a:rPr>
                        <a:t>JULIO</a:t>
                      </a:r>
                    </a:p>
                  </a:txBody>
                  <a:tcPr marL="9246" marR="9246" marT="92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800" b="1" i="0" u="none" strike="noStrike">
                          <a:solidFill>
                            <a:srgbClr val="FFFFFF"/>
                          </a:solidFill>
                          <a:effectLst/>
                          <a:latin typeface="Calibri" panose="020F0502020204030204" pitchFamily="34" charset="0"/>
                        </a:rPr>
                        <a:t>AGOSTO</a:t>
                      </a:r>
                    </a:p>
                  </a:txBody>
                  <a:tcPr marL="9246" marR="9246" marT="92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800" b="1" i="0" u="none" strike="noStrike">
                          <a:solidFill>
                            <a:srgbClr val="FFFFFF"/>
                          </a:solidFill>
                          <a:effectLst/>
                          <a:latin typeface="Calibri" panose="020F0502020204030204" pitchFamily="34" charset="0"/>
                        </a:rPr>
                        <a:t>SEPTIEMBRE</a:t>
                      </a:r>
                    </a:p>
                  </a:txBody>
                  <a:tcPr marL="9246" marR="9246" marT="92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800" b="1" i="0" u="none" strike="noStrike">
                          <a:solidFill>
                            <a:srgbClr val="FFFFFF"/>
                          </a:solidFill>
                          <a:effectLst/>
                          <a:latin typeface="Calibri" panose="020F0502020204030204" pitchFamily="34" charset="0"/>
                        </a:rPr>
                        <a:t>TOTAL</a:t>
                      </a:r>
                    </a:p>
                  </a:txBody>
                  <a:tcPr marL="9246" marR="9246" marT="92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extLst>
                  <a:ext uri="{0D108BD9-81ED-4DB2-BD59-A6C34878D82A}">
                    <a16:rowId xmlns:a16="http://schemas.microsoft.com/office/drawing/2014/main" val="2171841851"/>
                  </a:ext>
                </a:extLst>
              </a:tr>
              <a:tr h="143933">
                <a:tc>
                  <a:txBody>
                    <a:bodyPr/>
                    <a:lstStyle/>
                    <a:p>
                      <a:pPr algn="ctr" rtl="0" fontAlgn="b">
                        <a:buNone/>
                      </a:pPr>
                      <a:r>
                        <a:rPr lang="es-CO" sz="800" b="1" i="0" u="none" strike="noStrike">
                          <a:solidFill>
                            <a:srgbClr val="00A19C"/>
                          </a:solidFill>
                          <a:effectLst/>
                          <a:latin typeface="Calibri" panose="020F0502020204030204" pitchFamily="34" charset="0"/>
                        </a:rPr>
                        <a:t>EMSSANAR</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3.061</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3.378</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3.504</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2.840</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2.856</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2.146</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1.138</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2.318</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2.340</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23.581</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67428360"/>
                  </a:ext>
                </a:extLst>
              </a:tr>
              <a:tr h="143933">
                <a:tc>
                  <a:txBody>
                    <a:bodyPr/>
                    <a:lstStyle/>
                    <a:p>
                      <a:pPr algn="ctr" rtl="0" fontAlgn="b">
                        <a:buNone/>
                      </a:pPr>
                      <a:r>
                        <a:rPr lang="es-CO" sz="800" b="1" i="0" u="none" strike="noStrike">
                          <a:solidFill>
                            <a:srgbClr val="00A19C"/>
                          </a:solidFill>
                          <a:effectLst/>
                          <a:latin typeface="Calibri" panose="020F0502020204030204" pitchFamily="34" charset="0"/>
                        </a:rPr>
                        <a:t>SALUD TOTAL</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2.741</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2.857</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2.703</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2.743</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2.540</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2.917</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1.080</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2.619</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3.206</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23.406</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19459405"/>
                  </a:ext>
                </a:extLst>
              </a:tr>
              <a:tr h="143933">
                <a:tc>
                  <a:txBody>
                    <a:bodyPr/>
                    <a:lstStyle/>
                    <a:p>
                      <a:pPr algn="ctr" rtl="0" fontAlgn="b">
                        <a:buNone/>
                      </a:pPr>
                      <a:r>
                        <a:rPr lang="es-CO" sz="800" b="1" i="0" u="none" strike="noStrike">
                          <a:solidFill>
                            <a:srgbClr val="00A19C"/>
                          </a:solidFill>
                          <a:effectLst/>
                          <a:latin typeface="Calibri" panose="020F0502020204030204" pitchFamily="34" charset="0"/>
                        </a:rPr>
                        <a:t>SANITAS</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1.777</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2.298</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2.686</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2.579</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2.212</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2.849</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1.538</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2.590</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2.995</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21.524</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00136681"/>
                  </a:ext>
                </a:extLst>
              </a:tr>
              <a:tr h="143933">
                <a:tc>
                  <a:txBody>
                    <a:bodyPr/>
                    <a:lstStyle/>
                    <a:p>
                      <a:pPr algn="ctr" rtl="0" fontAlgn="b">
                        <a:buNone/>
                      </a:pPr>
                      <a:r>
                        <a:rPr lang="es-CO" sz="800" b="1" i="0" u="none" strike="noStrike">
                          <a:solidFill>
                            <a:srgbClr val="00A19C"/>
                          </a:solidFill>
                          <a:effectLst/>
                          <a:latin typeface="Calibri" panose="020F0502020204030204" pitchFamily="34" charset="0"/>
                        </a:rPr>
                        <a:t>FOMAG</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41</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47</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44</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24</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44</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45</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14</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31</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21</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311</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99001630"/>
                  </a:ext>
                </a:extLst>
              </a:tr>
              <a:tr h="143933">
                <a:tc>
                  <a:txBody>
                    <a:bodyPr/>
                    <a:lstStyle/>
                    <a:p>
                      <a:pPr algn="ctr" rtl="0" fontAlgn="b">
                        <a:buNone/>
                      </a:pPr>
                      <a:r>
                        <a:rPr lang="es-CO" sz="800" b="1" i="0" u="none" strike="noStrike">
                          <a:solidFill>
                            <a:srgbClr val="00A19C"/>
                          </a:solidFill>
                          <a:effectLst/>
                          <a:latin typeface="Calibri" panose="020F0502020204030204" pitchFamily="34" charset="0"/>
                        </a:rPr>
                        <a:t>EPS FAMILIAR</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22</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34</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44</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32</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34</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21</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13</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43</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40</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283</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92773536"/>
                  </a:ext>
                </a:extLst>
              </a:tr>
              <a:tr h="143933">
                <a:tc>
                  <a:txBody>
                    <a:bodyPr/>
                    <a:lstStyle/>
                    <a:p>
                      <a:pPr algn="ctr" rtl="0" fontAlgn="b">
                        <a:buNone/>
                      </a:pPr>
                      <a:r>
                        <a:rPr lang="es-CO" sz="800" b="1" i="0" u="none" strike="noStrike">
                          <a:solidFill>
                            <a:srgbClr val="00A19C"/>
                          </a:solidFill>
                          <a:effectLst/>
                          <a:latin typeface="Calibri" panose="020F0502020204030204" pitchFamily="34" charset="0"/>
                        </a:rPr>
                        <a:t>PARTICULARES</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18</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10</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18</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31</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34</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28</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13</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37</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21</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210</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09481139"/>
                  </a:ext>
                </a:extLst>
              </a:tr>
              <a:tr h="143933">
                <a:tc>
                  <a:txBody>
                    <a:bodyPr/>
                    <a:lstStyle/>
                    <a:p>
                      <a:pPr algn="ctr" rtl="0" fontAlgn="b">
                        <a:buNone/>
                      </a:pPr>
                      <a:r>
                        <a:rPr lang="es-CO" sz="800" b="1" i="0" u="none" strike="noStrike">
                          <a:solidFill>
                            <a:srgbClr val="00A19C"/>
                          </a:solidFill>
                          <a:effectLst/>
                          <a:latin typeface="Calibri" panose="020F0502020204030204" pitchFamily="34" charset="0"/>
                        </a:rPr>
                        <a:t>UNICAUCA</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 </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 </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12</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 </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1</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 </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4</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4</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1" i="0" u="none" strike="noStrike">
                          <a:solidFill>
                            <a:srgbClr val="00A19C"/>
                          </a:solidFill>
                          <a:effectLst/>
                          <a:latin typeface="Calibri" panose="020F0502020204030204" pitchFamily="34" charset="0"/>
                        </a:rPr>
                        <a:t>22</a:t>
                      </a:r>
                    </a:p>
                  </a:txBody>
                  <a:tcPr marL="9246" marR="9246" marT="92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38173525"/>
                  </a:ext>
                </a:extLst>
              </a:tr>
              <a:tr h="143933">
                <a:tc>
                  <a:txBody>
                    <a:bodyPr/>
                    <a:lstStyle/>
                    <a:p>
                      <a:pPr algn="ctr" rtl="0" fontAlgn="ctr">
                        <a:buNone/>
                      </a:pPr>
                      <a:r>
                        <a:rPr lang="es-CO" sz="800" b="1" i="0" u="none" strike="noStrike">
                          <a:solidFill>
                            <a:srgbClr val="FFFFFF"/>
                          </a:solidFill>
                          <a:effectLst/>
                          <a:latin typeface="Calibri" panose="020F0502020204030204" pitchFamily="34" charset="0"/>
                        </a:rPr>
                        <a:t>TOTAL</a:t>
                      </a:r>
                    </a:p>
                  </a:txBody>
                  <a:tcPr marL="9246" marR="9246" marT="92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800" b="1" i="0" u="none" strike="noStrike">
                          <a:solidFill>
                            <a:srgbClr val="FFFFFF"/>
                          </a:solidFill>
                          <a:effectLst/>
                          <a:latin typeface="Calibri" panose="020F0502020204030204" pitchFamily="34" charset="0"/>
                        </a:rPr>
                        <a:t>7.660</a:t>
                      </a:r>
                    </a:p>
                  </a:txBody>
                  <a:tcPr marL="9246" marR="9246" marT="92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800" b="1" i="0" u="none" strike="noStrike">
                          <a:solidFill>
                            <a:srgbClr val="FFFFFF"/>
                          </a:solidFill>
                          <a:effectLst/>
                          <a:latin typeface="Calibri" panose="020F0502020204030204" pitchFamily="34" charset="0"/>
                        </a:rPr>
                        <a:t>8.624</a:t>
                      </a:r>
                    </a:p>
                  </a:txBody>
                  <a:tcPr marL="9246" marR="9246" marT="92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800" b="1" i="0" u="none" strike="noStrike">
                          <a:solidFill>
                            <a:srgbClr val="FFFFFF"/>
                          </a:solidFill>
                          <a:effectLst/>
                          <a:latin typeface="Calibri" panose="020F0502020204030204" pitchFamily="34" charset="0"/>
                        </a:rPr>
                        <a:t>9.011</a:t>
                      </a:r>
                    </a:p>
                  </a:txBody>
                  <a:tcPr marL="9246" marR="9246" marT="92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800" b="1" i="0" u="none" strike="noStrike">
                          <a:solidFill>
                            <a:srgbClr val="FFFFFF"/>
                          </a:solidFill>
                          <a:effectLst/>
                          <a:latin typeface="Calibri" panose="020F0502020204030204" pitchFamily="34" charset="0"/>
                        </a:rPr>
                        <a:t>8.250</a:t>
                      </a:r>
                    </a:p>
                  </a:txBody>
                  <a:tcPr marL="9246" marR="9246" marT="92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800" b="1" i="0" u="none" strike="noStrike">
                          <a:solidFill>
                            <a:srgbClr val="FFFFFF"/>
                          </a:solidFill>
                          <a:effectLst/>
                          <a:latin typeface="Calibri" panose="020F0502020204030204" pitchFamily="34" charset="0"/>
                        </a:rPr>
                        <a:t>7.720</a:t>
                      </a:r>
                    </a:p>
                  </a:txBody>
                  <a:tcPr marL="9246" marR="9246" marT="92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800" b="1" i="0" u="none" strike="noStrike">
                          <a:solidFill>
                            <a:srgbClr val="FFFFFF"/>
                          </a:solidFill>
                          <a:effectLst/>
                          <a:latin typeface="Calibri" panose="020F0502020204030204" pitchFamily="34" charset="0"/>
                        </a:rPr>
                        <a:t>8.007</a:t>
                      </a:r>
                    </a:p>
                  </a:txBody>
                  <a:tcPr marL="9246" marR="9246" marT="92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800" b="1" i="0" u="none" strike="noStrike">
                          <a:solidFill>
                            <a:srgbClr val="FFFFFF"/>
                          </a:solidFill>
                          <a:effectLst/>
                          <a:latin typeface="Calibri" panose="020F0502020204030204" pitchFamily="34" charset="0"/>
                        </a:rPr>
                        <a:t>3.796</a:t>
                      </a:r>
                    </a:p>
                  </a:txBody>
                  <a:tcPr marL="9246" marR="9246" marT="92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800" b="1" i="0" u="none" strike="noStrike">
                          <a:solidFill>
                            <a:srgbClr val="FFFFFF"/>
                          </a:solidFill>
                          <a:effectLst/>
                          <a:latin typeface="Calibri" panose="020F0502020204030204" pitchFamily="34" charset="0"/>
                        </a:rPr>
                        <a:t>7.642</a:t>
                      </a:r>
                    </a:p>
                  </a:txBody>
                  <a:tcPr marL="9246" marR="9246" marT="92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800" b="1" i="0" u="none" strike="noStrike">
                          <a:solidFill>
                            <a:srgbClr val="FFFFFF"/>
                          </a:solidFill>
                          <a:effectLst/>
                          <a:latin typeface="Calibri" panose="020F0502020204030204" pitchFamily="34" charset="0"/>
                        </a:rPr>
                        <a:t>8.627</a:t>
                      </a:r>
                    </a:p>
                  </a:txBody>
                  <a:tcPr marL="9246" marR="9246" marT="92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800" b="1" i="0" u="none" strike="noStrike">
                          <a:solidFill>
                            <a:srgbClr val="FFFFFF"/>
                          </a:solidFill>
                          <a:effectLst/>
                          <a:latin typeface="Calibri" panose="020F0502020204030204" pitchFamily="34" charset="0"/>
                        </a:rPr>
                        <a:t>69.337</a:t>
                      </a:r>
                    </a:p>
                  </a:txBody>
                  <a:tcPr marL="9246" marR="9246" marT="92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extLst>
                  <a:ext uri="{0D108BD9-81ED-4DB2-BD59-A6C34878D82A}">
                    <a16:rowId xmlns:a16="http://schemas.microsoft.com/office/drawing/2014/main" val="540919881"/>
                  </a:ext>
                </a:extLst>
              </a:tr>
            </a:tbl>
          </a:graphicData>
        </a:graphic>
      </p:graphicFrame>
      <p:graphicFrame>
        <p:nvGraphicFramePr>
          <p:cNvPr id="4" name="Tabla 3">
            <a:extLst>
              <a:ext uri="{FF2B5EF4-FFF2-40B4-BE49-F238E27FC236}">
                <a16:creationId xmlns:a16="http://schemas.microsoft.com/office/drawing/2014/main" id="{E11E6D1D-8A05-246D-DBAE-11C20D5EF821}"/>
              </a:ext>
            </a:extLst>
          </p:cNvPr>
          <p:cNvGraphicFramePr>
            <a:graphicFrameLocks noGrp="1"/>
          </p:cNvGraphicFramePr>
          <p:nvPr/>
        </p:nvGraphicFramePr>
        <p:xfrm>
          <a:off x="10172938" y="1291386"/>
          <a:ext cx="1800877" cy="1295400"/>
        </p:xfrm>
        <a:graphic>
          <a:graphicData uri="http://schemas.openxmlformats.org/drawingml/2006/table">
            <a:tbl>
              <a:tblPr/>
              <a:tblGrid>
                <a:gridCol w="1133856">
                  <a:extLst>
                    <a:ext uri="{9D8B030D-6E8A-4147-A177-3AD203B41FA5}">
                      <a16:colId xmlns:a16="http://schemas.microsoft.com/office/drawing/2014/main" val="1793798010"/>
                    </a:ext>
                  </a:extLst>
                </a:gridCol>
                <a:gridCol w="667021">
                  <a:extLst>
                    <a:ext uri="{9D8B030D-6E8A-4147-A177-3AD203B41FA5}">
                      <a16:colId xmlns:a16="http://schemas.microsoft.com/office/drawing/2014/main" val="2662819245"/>
                    </a:ext>
                  </a:extLst>
                </a:gridCol>
              </a:tblGrid>
              <a:tr h="147562">
                <a:tc gridSpan="2">
                  <a:txBody>
                    <a:bodyPr/>
                    <a:lstStyle/>
                    <a:p>
                      <a:pPr algn="ctr" rtl="0" fontAlgn="ctr">
                        <a:buNone/>
                      </a:pPr>
                      <a:r>
                        <a:rPr lang="es-CO" sz="1000" b="1" i="0" u="none" strike="noStrike">
                          <a:solidFill>
                            <a:srgbClr val="FFFFFF"/>
                          </a:solidFill>
                          <a:effectLst/>
                          <a:latin typeface="Calibri" panose="020F0502020204030204" pitchFamily="34" charset="0"/>
                        </a:rPr>
                        <a:t>PARTICIPACION EAPB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hMerge="1">
                  <a:txBody>
                    <a:bodyPr/>
                    <a:lstStyle/>
                    <a:p>
                      <a:endParaRPr lang="es-CO"/>
                    </a:p>
                  </a:txBody>
                  <a:tcPr/>
                </a:tc>
                <a:extLst>
                  <a:ext uri="{0D108BD9-81ED-4DB2-BD59-A6C34878D82A}">
                    <a16:rowId xmlns:a16="http://schemas.microsoft.com/office/drawing/2014/main" val="67099134"/>
                  </a:ext>
                </a:extLst>
              </a:tr>
              <a:tr h="147562">
                <a:tc>
                  <a:txBody>
                    <a:bodyPr/>
                    <a:lstStyle/>
                    <a:p>
                      <a:pPr algn="ctr" rtl="0" fontAlgn="ctr">
                        <a:buNone/>
                      </a:pPr>
                      <a:r>
                        <a:rPr lang="es-CO" sz="1000" b="1" i="0" u="none" strike="noStrike">
                          <a:solidFill>
                            <a:srgbClr val="FFFFFF"/>
                          </a:solidFill>
                          <a:effectLst/>
                          <a:latin typeface="Calibri" panose="020F0502020204030204" pitchFamily="34" charset="0"/>
                        </a:rPr>
                        <a:t>EMSSANAR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00A19C"/>
                          </a:solidFill>
                          <a:effectLst/>
                          <a:latin typeface="Calibri" panose="020F0502020204030204" pitchFamily="34" charset="0"/>
                        </a:rPr>
                        <a:t>34%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7378332"/>
                  </a:ext>
                </a:extLst>
              </a:tr>
              <a:tr h="147562">
                <a:tc>
                  <a:txBody>
                    <a:bodyPr/>
                    <a:lstStyle/>
                    <a:p>
                      <a:pPr algn="ctr" rtl="0" fontAlgn="ctr">
                        <a:buNone/>
                      </a:pPr>
                      <a:r>
                        <a:rPr lang="es-CO" sz="1000" b="1" i="0" u="none" strike="noStrike">
                          <a:solidFill>
                            <a:srgbClr val="FFFFFF"/>
                          </a:solidFill>
                          <a:effectLst/>
                          <a:latin typeface="Calibri" panose="020F0502020204030204" pitchFamily="34" charset="0"/>
                        </a:rPr>
                        <a:t>SALUD TOTAL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00A19C"/>
                          </a:solidFill>
                          <a:effectLst/>
                          <a:latin typeface="Calibri" panose="020F0502020204030204" pitchFamily="34" charset="0"/>
                        </a:rPr>
                        <a:t>34%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57373579"/>
                  </a:ext>
                </a:extLst>
              </a:tr>
              <a:tr h="147562">
                <a:tc>
                  <a:txBody>
                    <a:bodyPr/>
                    <a:lstStyle/>
                    <a:p>
                      <a:pPr algn="ctr" rtl="0" fontAlgn="ctr">
                        <a:buNone/>
                      </a:pPr>
                      <a:r>
                        <a:rPr lang="es-CO" sz="1000" b="1" i="0" u="none" strike="noStrike">
                          <a:solidFill>
                            <a:srgbClr val="FFFFFF"/>
                          </a:solidFill>
                          <a:effectLst/>
                          <a:latin typeface="Calibri" panose="020F0502020204030204" pitchFamily="34" charset="0"/>
                        </a:rPr>
                        <a:t>SANITAS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00A19C"/>
                          </a:solidFill>
                          <a:effectLst/>
                          <a:latin typeface="Calibri" panose="020F0502020204030204" pitchFamily="34" charset="0"/>
                        </a:rPr>
                        <a:t>31%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31212610"/>
                  </a:ext>
                </a:extLst>
              </a:tr>
              <a:tr h="147562">
                <a:tc>
                  <a:txBody>
                    <a:bodyPr/>
                    <a:lstStyle/>
                    <a:p>
                      <a:pPr algn="ctr" rtl="0" fontAlgn="ctr">
                        <a:buNone/>
                      </a:pPr>
                      <a:r>
                        <a:rPr lang="es-CO" sz="1000" b="1" i="0" u="none" strike="noStrike">
                          <a:solidFill>
                            <a:srgbClr val="FFFFFF"/>
                          </a:solidFill>
                          <a:effectLst/>
                          <a:latin typeface="Calibri" panose="020F0502020204030204" pitchFamily="34" charset="0"/>
                        </a:rPr>
                        <a:t>FOMAG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00A19C"/>
                          </a:solidFill>
                          <a:effectLst/>
                          <a:latin typeface="Calibri" panose="020F0502020204030204" pitchFamily="34" charset="0"/>
                        </a:rPr>
                        <a:t>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28263391"/>
                  </a:ext>
                </a:extLst>
              </a:tr>
              <a:tr h="147562">
                <a:tc>
                  <a:txBody>
                    <a:bodyPr/>
                    <a:lstStyle/>
                    <a:p>
                      <a:pPr algn="ctr" rtl="0" fontAlgn="ctr">
                        <a:buNone/>
                      </a:pPr>
                      <a:r>
                        <a:rPr lang="es-CO" sz="1000" b="1" i="0" u="none" strike="noStrike">
                          <a:solidFill>
                            <a:srgbClr val="FFFFFF"/>
                          </a:solidFill>
                          <a:effectLst/>
                          <a:latin typeface="Calibri" panose="020F0502020204030204" pitchFamily="34" charset="0"/>
                        </a:rPr>
                        <a:t>EPS FAMILIAR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00A19C"/>
                          </a:solidFill>
                          <a:effectLst/>
                          <a:latin typeface="Calibri" panose="020F0502020204030204" pitchFamily="34" charset="0"/>
                        </a:rPr>
                        <a:t>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26432610"/>
                  </a:ext>
                </a:extLst>
              </a:tr>
              <a:tr h="147562">
                <a:tc>
                  <a:txBody>
                    <a:bodyPr/>
                    <a:lstStyle/>
                    <a:p>
                      <a:pPr algn="ctr" rtl="0" fontAlgn="ctr">
                        <a:buNone/>
                      </a:pPr>
                      <a:r>
                        <a:rPr lang="es-CO" sz="1000" b="1" i="0" u="none" strike="noStrike">
                          <a:solidFill>
                            <a:srgbClr val="FFFFFF"/>
                          </a:solidFill>
                          <a:effectLst/>
                          <a:latin typeface="Calibri" panose="020F0502020204030204" pitchFamily="34" charset="0"/>
                        </a:rPr>
                        <a:t>PARTICULARES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00A19C"/>
                          </a:solidFill>
                          <a:effectLst/>
                          <a:latin typeface="Calibri" panose="020F0502020204030204" pitchFamily="34" charset="0"/>
                        </a:rPr>
                        <a:t>0,3%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43444116"/>
                  </a:ext>
                </a:extLst>
              </a:tr>
              <a:tr h="147562">
                <a:tc>
                  <a:txBody>
                    <a:bodyPr/>
                    <a:lstStyle/>
                    <a:p>
                      <a:pPr algn="ctr" rtl="0" fontAlgn="ctr">
                        <a:buNone/>
                      </a:pPr>
                      <a:r>
                        <a:rPr lang="es-CO" sz="1000" b="1" i="0" u="none" strike="noStrike">
                          <a:solidFill>
                            <a:srgbClr val="FFFFFF"/>
                          </a:solidFill>
                          <a:effectLst/>
                          <a:latin typeface="Calibri" panose="020F0502020204030204" pitchFamily="34" charset="0"/>
                        </a:rPr>
                        <a:t>UNICAUCA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00A19C"/>
                          </a:solidFill>
                          <a:effectLst/>
                          <a:latin typeface="Calibri" panose="020F0502020204030204" pitchFamily="34" charset="0"/>
                        </a:rPr>
                        <a:t>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499681"/>
                  </a:ext>
                </a:extLst>
              </a:tr>
            </a:tbl>
          </a:graphicData>
        </a:graphic>
      </p:graphicFrame>
      <p:graphicFrame>
        <p:nvGraphicFramePr>
          <p:cNvPr id="7" name="Tabla 6">
            <a:extLst>
              <a:ext uri="{FF2B5EF4-FFF2-40B4-BE49-F238E27FC236}">
                <a16:creationId xmlns:a16="http://schemas.microsoft.com/office/drawing/2014/main" id="{7F8184B3-90BD-1076-6670-20CFA0182A41}"/>
              </a:ext>
            </a:extLst>
          </p:cNvPr>
          <p:cNvGraphicFramePr>
            <a:graphicFrameLocks noGrp="1"/>
          </p:cNvGraphicFramePr>
          <p:nvPr/>
        </p:nvGraphicFramePr>
        <p:xfrm>
          <a:off x="5651429" y="2731501"/>
          <a:ext cx="6333021" cy="3124867"/>
        </p:xfrm>
        <a:graphic>
          <a:graphicData uri="http://schemas.openxmlformats.org/drawingml/2006/table">
            <a:tbl>
              <a:tblPr/>
              <a:tblGrid>
                <a:gridCol w="1721061">
                  <a:extLst>
                    <a:ext uri="{9D8B030D-6E8A-4147-A177-3AD203B41FA5}">
                      <a16:colId xmlns:a16="http://schemas.microsoft.com/office/drawing/2014/main" val="3599306279"/>
                    </a:ext>
                  </a:extLst>
                </a:gridCol>
                <a:gridCol w="528445">
                  <a:extLst>
                    <a:ext uri="{9D8B030D-6E8A-4147-A177-3AD203B41FA5}">
                      <a16:colId xmlns:a16="http://schemas.microsoft.com/office/drawing/2014/main" val="4101415114"/>
                    </a:ext>
                  </a:extLst>
                </a:gridCol>
                <a:gridCol w="680999">
                  <a:extLst>
                    <a:ext uri="{9D8B030D-6E8A-4147-A177-3AD203B41FA5}">
                      <a16:colId xmlns:a16="http://schemas.microsoft.com/office/drawing/2014/main" val="759758119"/>
                    </a:ext>
                  </a:extLst>
                </a:gridCol>
                <a:gridCol w="440757">
                  <a:extLst>
                    <a:ext uri="{9D8B030D-6E8A-4147-A177-3AD203B41FA5}">
                      <a16:colId xmlns:a16="http://schemas.microsoft.com/office/drawing/2014/main" val="1390328386"/>
                    </a:ext>
                  </a:extLst>
                </a:gridCol>
                <a:gridCol w="407004">
                  <a:extLst>
                    <a:ext uri="{9D8B030D-6E8A-4147-A177-3AD203B41FA5}">
                      <a16:colId xmlns:a16="http://schemas.microsoft.com/office/drawing/2014/main" val="1663755838"/>
                    </a:ext>
                  </a:extLst>
                </a:gridCol>
                <a:gridCol w="688941">
                  <a:extLst>
                    <a:ext uri="{9D8B030D-6E8A-4147-A177-3AD203B41FA5}">
                      <a16:colId xmlns:a16="http://schemas.microsoft.com/office/drawing/2014/main" val="2813015793"/>
                    </a:ext>
                  </a:extLst>
                </a:gridCol>
                <a:gridCol w="736592">
                  <a:extLst>
                    <a:ext uri="{9D8B030D-6E8A-4147-A177-3AD203B41FA5}">
                      <a16:colId xmlns:a16="http://schemas.microsoft.com/office/drawing/2014/main" val="2685749411"/>
                    </a:ext>
                  </a:extLst>
                </a:gridCol>
                <a:gridCol w="547974">
                  <a:extLst>
                    <a:ext uri="{9D8B030D-6E8A-4147-A177-3AD203B41FA5}">
                      <a16:colId xmlns:a16="http://schemas.microsoft.com/office/drawing/2014/main" val="3187634732"/>
                    </a:ext>
                  </a:extLst>
                </a:gridCol>
                <a:gridCol w="581248">
                  <a:extLst>
                    <a:ext uri="{9D8B030D-6E8A-4147-A177-3AD203B41FA5}">
                      <a16:colId xmlns:a16="http://schemas.microsoft.com/office/drawing/2014/main" val="2722223105"/>
                    </a:ext>
                  </a:extLst>
                </a:gridCol>
              </a:tblGrid>
              <a:tr h="140765">
                <a:tc>
                  <a:txBody>
                    <a:bodyPr/>
                    <a:lstStyle/>
                    <a:p>
                      <a:pPr algn="ctr" rtl="0" fontAlgn="ctr">
                        <a:buNone/>
                      </a:pPr>
                      <a:r>
                        <a:rPr lang="es-CO" sz="700" b="1" i="0" u="none" strike="noStrike">
                          <a:solidFill>
                            <a:srgbClr val="FFFFFF"/>
                          </a:solidFill>
                          <a:effectLst/>
                          <a:latin typeface="Calibri" panose="020F0502020204030204" pitchFamily="34" charset="0"/>
                        </a:rPr>
                        <a:t>ESPECIALIDAD</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700" b="1" i="0" u="none" strike="noStrike">
                          <a:solidFill>
                            <a:srgbClr val="FFFFFF"/>
                          </a:solidFill>
                          <a:effectLst/>
                          <a:latin typeface="Calibri" panose="020F0502020204030204" pitchFamily="34" charset="0"/>
                        </a:rPr>
                        <a:t>EMSSANAR</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700" b="1" i="0" u="none" strike="noStrike">
                          <a:solidFill>
                            <a:srgbClr val="FFFFFF"/>
                          </a:solidFill>
                          <a:effectLst/>
                          <a:latin typeface="Calibri" panose="020F0502020204030204" pitchFamily="34" charset="0"/>
                        </a:rPr>
                        <a:t>SALUD TOTAL</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700" b="1" i="0" u="none" strike="noStrike">
                          <a:solidFill>
                            <a:srgbClr val="FFFFFF"/>
                          </a:solidFill>
                          <a:effectLst/>
                          <a:latin typeface="Calibri" panose="020F0502020204030204" pitchFamily="34" charset="0"/>
                        </a:rPr>
                        <a:t>SANITAS</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700" b="1" i="0" u="none" strike="noStrike">
                          <a:solidFill>
                            <a:srgbClr val="FFFFFF"/>
                          </a:solidFill>
                          <a:effectLst/>
                          <a:latin typeface="Calibri" panose="020F0502020204030204" pitchFamily="34" charset="0"/>
                        </a:rPr>
                        <a:t>FOMAG</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700" b="1" i="0" u="none" strike="noStrike">
                          <a:solidFill>
                            <a:srgbClr val="FFFFFF"/>
                          </a:solidFill>
                          <a:effectLst/>
                          <a:latin typeface="Calibri" panose="020F0502020204030204" pitchFamily="34" charset="0"/>
                        </a:rPr>
                        <a:t>EPS FAMILIAR</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700" b="1" i="0" u="none" strike="noStrike">
                          <a:solidFill>
                            <a:srgbClr val="FFFFFF"/>
                          </a:solidFill>
                          <a:effectLst/>
                          <a:latin typeface="Calibri" panose="020F0502020204030204" pitchFamily="34" charset="0"/>
                        </a:rPr>
                        <a:t>PARTICULARES</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700" b="1" i="0" u="none" strike="noStrike">
                          <a:solidFill>
                            <a:srgbClr val="FFFFFF"/>
                          </a:solidFill>
                          <a:effectLst/>
                          <a:latin typeface="Calibri" panose="020F0502020204030204" pitchFamily="34" charset="0"/>
                        </a:rPr>
                        <a:t>UNICAUCA</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700" b="1" i="0" u="none" strike="noStrike">
                          <a:solidFill>
                            <a:srgbClr val="FFFFFF"/>
                          </a:solidFill>
                          <a:effectLst/>
                          <a:latin typeface="Calibri" panose="020F0502020204030204" pitchFamily="34" charset="0"/>
                        </a:rPr>
                        <a:t>TOTAL</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extLst>
                  <a:ext uri="{0D108BD9-81ED-4DB2-BD59-A6C34878D82A}">
                    <a16:rowId xmlns:a16="http://schemas.microsoft.com/office/drawing/2014/main" val="592902884"/>
                  </a:ext>
                </a:extLst>
              </a:tr>
              <a:tr h="135641">
                <a:tc>
                  <a:txBody>
                    <a:bodyPr/>
                    <a:lstStyle/>
                    <a:p>
                      <a:pPr algn="l" rtl="0" fontAlgn="b">
                        <a:buNone/>
                      </a:pPr>
                      <a:r>
                        <a:rPr lang="es-CO" sz="700" b="1" i="0" u="none" strike="noStrike">
                          <a:solidFill>
                            <a:srgbClr val="00A19C"/>
                          </a:solidFill>
                          <a:effectLst/>
                          <a:latin typeface="Calibri" panose="020F0502020204030204" pitchFamily="34" charset="0"/>
                        </a:rPr>
                        <a:t>TRABAJO SOCIAL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4.426</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3.917</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5.425</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1</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10</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11</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1</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13.791</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97027844"/>
                  </a:ext>
                </a:extLst>
              </a:tr>
              <a:tr h="135641">
                <a:tc>
                  <a:txBody>
                    <a:bodyPr/>
                    <a:lstStyle/>
                    <a:p>
                      <a:pPr algn="l" rtl="0" fontAlgn="b">
                        <a:buNone/>
                      </a:pPr>
                      <a:r>
                        <a:rPr lang="es-CO" sz="700" b="1" i="0" u="none" strike="noStrike">
                          <a:solidFill>
                            <a:srgbClr val="00A19C"/>
                          </a:solidFill>
                          <a:effectLst/>
                          <a:latin typeface="Calibri" panose="020F0502020204030204" pitchFamily="34" charset="0"/>
                        </a:rPr>
                        <a:t>PSICOLOGIA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4.080</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2.913</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5.425</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3</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8</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11</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1</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12.441</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23236621"/>
                  </a:ext>
                </a:extLst>
              </a:tr>
              <a:tr h="135641">
                <a:tc>
                  <a:txBody>
                    <a:bodyPr/>
                    <a:lstStyle/>
                    <a:p>
                      <a:pPr algn="l" rtl="0" fontAlgn="b">
                        <a:buNone/>
                      </a:pPr>
                      <a:r>
                        <a:rPr lang="es-CO" sz="700" b="1" i="0" u="none" strike="noStrike">
                          <a:solidFill>
                            <a:srgbClr val="00A19C"/>
                          </a:solidFill>
                          <a:effectLst/>
                          <a:latin typeface="Calibri" panose="020F0502020204030204" pitchFamily="34" charset="0"/>
                        </a:rPr>
                        <a:t>NUTRICION Y DIETETICA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3.900</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3.550</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4.312</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6</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14</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7</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3</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11.792</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0653625"/>
                  </a:ext>
                </a:extLst>
              </a:tr>
              <a:tr h="135641">
                <a:tc>
                  <a:txBody>
                    <a:bodyPr/>
                    <a:lstStyle/>
                    <a:p>
                      <a:pPr algn="l" rtl="0" fontAlgn="b">
                        <a:buNone/>
                      </a:pPr>
                      <a:r>
                        <a:rPr lang="es-CO" sz="700" b="1" i="0" u="none" strike="noStrike">
                          <a:solidFill>
                            <a:srgbClr val="00A19C"/>
                          </a:solidFill>
                          <a:effectLst/>
                          <a:latin typeface="Calibri" panose="020F0502020204030204" pitchFamily="34" charset="0"/>
                        </a:rPr>
                        <a:t>ONCOLOGIA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2.801</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2.072</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2.176</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67</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72</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42</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8</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7.238</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15288838"/>
                  </a:ext>
                </a:extLst>
              </a:tr>
              <a:tr h="135641">
                <a:tc>
                  <a:txBody>
                    <a:bodyPr/>
                    <a:lstStyle/>
                    <a:p>
                      <a:pPr algn="l" rtl="0" fontAlgn="b">
                        <a:buNone/>
                      </a:pPr>
                      <a:r>
                        <a:rPr lang="es-CO" sz="700" b="1" i="0" u="none" strike="noStrike">
                          <a:solidFill>
                            <a:srgbClr val="00A19C"/>
                          </a:solidFill>
                          <a:effectLst/>
                          <a:latin typeface="Calibri" panose="020F0502020204030204" pitchFamily="34" charset="0"/>
                        </a:rPr>
                        <a:t>HEMATO ONCOLOGIA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2.137</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3.433</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252</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6</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14</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32</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5.874</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16486205"/>
                  </a:ext>
                </a:extLst>
              </a:tr>
              <a:tr h="135641">
                <a:tc>
                  <a:txBody>
                    <a:bodyPr/>
                    <a:lstStyle/>
                    <a:p>
                      <a:pPr algn="l" rtl="0" fontAlgn="b">
                        <a:buNone/>
                      </a:pPr>
                      <a:r>
                        <a:rPr lang="es-CO" sz="700" b="1" i="0" u="none" strike="noStrike">
                          <a:solidFill>
                            <a:srgbClr val="00A19C"/>
                          </a:solidFill>
                          <a:effectLst/>
                          <a:latin typeface="Calibri" panose="020F0502020204030204" pitchFamily="34" charset="0"/>
                        </a:rPr>
                        <a:t>DOLOR Y CUIDADOS PALIATIVOS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1.325</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1.273</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673</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92</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19</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3</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2</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3.387</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7461429"/>
                  </a:ext>
                </a:extLst>
              </a:tr>
              <a:tr h="135641">
                <a:tc>
                  <a:txBody>
                    <a:bodyPr/>
                    <a:lstStyle/>
                    <a:p>
                      <a:pPr algn="l" rtl="0" fontAlgn="b">
                        <a:buNone/>
                      </a:pPr>
                      <a:r>
                        <a:rPr lang="es-CO" sz="700" b="1" i="0" u="none" strike="noStrike">
                          <a:solidFill>
                            <a:srgbClr val="00A19C"/>
                          </a:solidFill>
                          <a:effectLst/>
                          <a:latin typeface="Calibri" panose="020F0502020204030204" pitchFamily="34" charset="0"/>
                        </a:rPr>
                        <a:t>DERMATOLOGIA ONCOLOGICA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572</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768</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598</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40</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30</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21</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2.029</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46754730"/>
                  </a:ext>
                </a:extLst>
              </a:tr>
              <a:tr h="135641">
                <a:tc>
                  <a:txBody>
                    <a:bodyPr/>
                    <a:lstStyle/>
                    <a:p>
                      <a:pPr algn="l" rtl="0" fontAlgn="b">
                        <a:buNone/>
                      </a:pPr>
                      <a:r>
                        <a:rPr lang="es-CO" sz="700" b="1" i="0" u="none" strike="noStrike">
                          <a:solidFill>
                            <a:srgbClr val="00A19C"/>
                          </a:solidFill>
                          <a:effectLst/>
                          <a:latin typeface="Calibri" panose="020F0502020204030204" pitchFamily="34" charset="0"/>
                        </a:rPr>
                        <a:t>ENFERMERIA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823</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997</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47</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2</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1.869</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11733621"/>
                  </a:ext>
                </a:extLst>
              </a:tr>
              <a:tr h="135641">
                <a:tc>
                  <a:txBody>
                    <a:bodyPr/>
                    <a:lstStyle/>
                    <a:p>
                      <a:pPr algn="l" rtl="0" fontAlgn="b">
                        <a:buNone/>
                      </a:pPr>
                      <a:r>
                        <a:rPr lang="es-CO" sz="700" b="1" i="0" u="none" strike="noStrike">
                          <a:solidFill>
                            <a:srgbClr val="00A19C"/>
                          </a:solidFill>
                          <a:effectLst/>
                          <a:latin typeface="Calibri" panose="020F0502020204030204" pitchFamily="34" charset="0"/>
                        </a:rPr>
                        <a:t>MASTOLOGIA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453</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923</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332</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14</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19</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9</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1.750</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48161216"/>
                  </a:ext>
                </a:extLst>
              </a:tr>
              <a:tr h="135641">
                <a:tc>
                  <a:txBody>
                    <a:bodyPr/>
                    <a:lstStyle/>
                    <a:p>
                      <a:pPr algn="l" rtl="0" fontAlgn="b">
                        <a:buNone/>
                      </a:pPr>
                      <a:r>
                        <a:rPr lang="es-CO" sz="700" b="1" i="0" u="none" strike="noStrike">
                          <a:solidFill>
                            <a:srgbClr val="00A19C"/>
                          </a:solidFill>
                          <a:effectLst/>
                          <a:latin typeface="Calibri" panose="020F0502020204030204" pitchFamily="34" charset="0"/>
                        </a:rPr>
                        <a:t>GINECOLOGIA ONCOLOGICA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555</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614</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449</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26</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45</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13</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1.702</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51579981"/>
                  </a:ext>
                </a:extLst>
              </a:tr>
              <a:tr h="135641">
                <a:tc>
                  <a:txBody>
                    <a:bodyPr/>
                    <a:lstStyle/>
                    <a:p>
                      <a:pPr algn="l" rtl="0" fontAlgn="b">
                        <a:buNone/>
                      </a:pPr>
                      <a:r>
                        <a:rPr lang="es-CO" sz="700" b="1" i="0" u="none" strike="noStrike">
                          <a:solidFill>
                            <a:srgbClr val="00A19C"/>
                          </a:solidFill>
                          <a:effectLst/>
                          <a:latin typeface="Calibri" panose="020F0502020204030204" pitchFamily="34" charset="0"/>
                        </a:rPr>
                        <a:t>CIRUGIA ONCOLOGICA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546</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568</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521</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12</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14</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16</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5</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1.682</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25372006"/>
                  </a:ext>
                </a:extLst>
              </a:tr>
              <a:tr h="135641">
                <a:tc>
                  <a:txBody>
                    <a:bodyPr/>
                    <a:lstStyle/>
                    <a:p>
                      <a:pPr algn="l" rtl="0" fontAlgn="b">
                        <a:buNone/>
                      </a:pPr>
                      <a:r>
                        <a:rPr lang="es-CO" sz="700" b="1" i="0" u="none" strike="noStrike">
                          <a:solidFill>
                            <a:srgbClr val="00A19C"/>
                          </a:solidFill>
                          <a:effectLst/>
                          <a:latin typeface="Calibri" panose="020F0502020204030204" pitchFamily="34" charset="0"/>
                        </a:rPr>
                        <a:t>MEDICINA GENERAL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699</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472</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465</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2</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3</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8</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1.649</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86152576"/>
                  </a:ext>
                </a:extLst>
              </a:tr>
              <a:tr h="135641">
                <a:tc>
                  <a:txBody>
                    <a:bodyPr/>
                    <a:lstStyle/>
                    <a:p>
                      <a:pPr algn="l" rtl="0" fontAlgn="b">
                        <a:buNone/>
                      </a:pPr>
                      <a:r>
                        <a:rPr lang="es-CO" sz="700" b="1" i="0" u="none" strike="noStrike">
                          <a:solidFill>
                            <a:srgbClr val="00A19C"/>
                          </a:solidFill>
                          <a:effectLst/>
                          <a:latin typeface="Calibri" panose="020F0502020204030204" pitchFamily="34" charset="0"/>
                        </a:rPr>
                        <a:t>UROLOGIA ONCOLOGICA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348</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644</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490</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23</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12</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20</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2</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1.539</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98174115"/>
                  </a:ext>
                </a:extLst>
              </a:tr>
              <a:tr h="135641">
                <a:tc>
                  <a:txBody>
                    <a:bodyPr/>
                    <a:lstStyle/>
                    <a:p>
                      <a:pPr algn="l" rtl="0" fontAlgn="b">
                        <a:buNone/>
                      </a:pPr>
                      <a:r>
                        <a:rPr lang="es-CO" sz="700" b="1" i="0" u="none" strike="noStrike">
                          <a:solidFill>
                            <a:srgbClr val="00A19C"/>
                          </a:solidFill>
                          <a:effectLst/>
                          <a:latin typeface="Calibri" panose="020F0502020204030204" pitchFamily="34" charset="0"/>
                        </a:rPr>
                        <a:t>HEMATOLOGIA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235</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468</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139</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15</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17</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10</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884</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25863928"/>
                  </a:ext>
                </a:extLst>
              </a:tr>
              <a:tr h="135641">
                <a:tc>
                  <a:txBody>
                    <a:bodyPr/>
                    <a:lstStyle/>
                    <a:p>
                      <a:pPr algn="l" rtl="0" fontAlgn="b">
                        <a:buNone/>
                      </a:pPr>
                      <a:r>
                        <a:rPr lang="es-CO" sz="700" b="1" i="0" u="none" strike="noStrike">
                          <a:solidFill>
                            <a:srgbClr val="00A19C"/>
                          </a:solidFill>
                          <a:effectLst/>
                          <a:latin typeface="Calibri" panose="020F0502020204030204" pitchFamily="34" charset="0"/>
                        </a:rPr>
                        <a:t>ANESTESIOLOGIA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323</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354</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10</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4</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3</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694</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26869266"/>
                  </a:ext>
                </a:extLst>
              </a:tr>
              <a:tr h="135641">
                <a:tc>
                  <a:txBody>
                    <a:bodyPr/>
                    <a:lstStyle/>
                    <a:p>
                      <a:pPr algn="l" rtl="0" fontAlgn="b">
                        <a:buNone/>
                      </a:pPr>
                      <a:r>
                        <a:rPr lang="es-CO" sz="700" b="1" i="0" u="none" strike="noStrike">
                          <a:solidFill>
                            <a:srgbClr val="00A19C"/>
                          </a:solidFill>
                          <a:effectLst/>
                          <a:latin typeface="Calibri" panose="020F0502020204030204" pitchFamily="34" charset="0"/>
                        </a:rPr>
                        <a:t>CIRUGIA PLASTICA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130</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279</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68</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2</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479</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71550845"/>
                  </a:ext>
                </a:extLst>
              </a:tr>
              <a:tr h="135641">
                <a:tc>
                  <a:txBody>
                    <a:bodyPr/>
                    <a:lstStyle/>
                    <a:p>
                      <a:pPr algn="l" rtl="0" fontAlgn="b">
                        <a:buNone/>
                      </a:pPr>
                      <a:r>
                        <a:rPr lang="es-CO" sz="700" b="1" i="0" u="none" strike="noStrike">
                          <a:solidFill>
                            <a:srgbClr val="00A19C"/>
                          </a:solidFill>
                          <a:effectLst/>
                          <a:latin typeface="Calibri" panose="020F0502020204030204" pitchFamily="34" charset="0"/>
                        </a:rPr>
                        <a:t>ORTOPEDIA ONCOLOGICA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54</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151</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44</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1</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2</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2</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254</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33820342"/>
                  </a:ext>
                </a:extLst>
              </a:tr>
              <a:tr h="135641">
                <a:tc>
                  <a:txBody>
                    <a:bodyPr/>
                    <a:lstStyle/>
                    <a:p>
                      <a:pPr algn="l" rtl="0" fontAlgn="b">
                        <a:buNone/>
                      </a:pPr>
                      <a:r>
                        <a:rPr lang="es-CO" sz="700" b="1" i="0" u="none" strike="noStrike">
                          <a:solidFill>
                            <a:srgbClr val="00A19C"/>
                          </a:solidFill>
                          <a:effectLst/>
                          <a:latin typeface="Calibri" panose="020F0502020204030204" pitchFamily="34" charset="0"/>
                        </a:rPr>
                        <a:t>GUIA ESPIRITUAL</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81</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10</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98</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1</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190</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89198515"/>
                  </a:ext>
                </a:extLst>
              </a:tr>
              <a:tr h="135641">
                <a:tc>
                  <a:txBody>
                    <a:bodyPr/>
                    <a:lstStyle/>
                    <a:p>
                      <a:pPr algn="l" rtl="0" fontAlgn="b">
                        <a:buNone/>
                      </a:pPr>
                      <a:r>
                        <a:rPr lang="es-CO" sz="700" b="1" i="0" u="none" strike="noStrike">
                          <a:solidFill>
                            <a:srgbClr val="00A19C"/>
                          </a:solidFill>
                          <a:effectLst/>
                          <a:latin typeface="Calibri" panose="020F0502020204030204" pitchFamily="34" charset="0"/>
                        </a:rPr>
                        <a:t>GENETICA HUMANA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48</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48</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69830854"/>
                  </a:ext>
                </a:extLst>
              </a:tr>
              <a:tr h="135641">
                <a:tc>
                  <a:txBody>
                    <a:bodyPr/>
                    <a:lstStyle/>
                    <a:p>
                      <a:pPr algn="l" rtl="0" fontAlgn="b">
                        <a:buNone/>
                      </a:pPr>
                      <a:r>
                        <a:rPr lang="es-CO" sz="700" b="1" i="0" u="none" strike="noStrike">
                          <a:solidFill>
                            <a:srgbClr val="00A19C"/>
                          </a:solidFill>
                          <a:effectLst/>
                          <a:latin typeface="Calibri" panose="020F0502020204030204" pitchFamily="34" charset="0"/>
                        </a:rPr>
                        <a:t>CIRUGIA DE CABEZA Y CUELLO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28</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28</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01113166"/>
                  </a:ext>
                </a:extLst>
              </a:tr>
              <a:tr h="135641">
                <a:tc>
                  <a:txBody>
                    <a:bodyPr/>
                    <a:lstStyle/>
                    <a:p>
                      <a:pPr algn="l" rtl="0" fontAlgn="b">
                        <a:buNone/>
                      </a:pPr>
                      <a:r>
                        <a:rPr lang="es-CO" sz="700" b="1" i="0" u="none" strike="noStrike">
                          <a:solidFill>
                            <a:srgbClr val="00A19C"/>
                          </a:solidFill>
                          <a:effectLst/>
                          <a:latin typeface="Calibri" panose="020F0502020204030204" pitchFamily="34" charset="0"/>
                        </a:rPr>
                        <a:t>MEDICINA INTERNA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17</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 </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700" b="1" i="0" u="none" strike="noStrike">
                          <a:solidFill>
                            <a:srgbClr val="00A19C"/>
                          </a:solidFill>
                          <a:effectLst/>
                          <a:latin typeface="Calibri" panose="020F0502020204030204" pitchFamily="34" charset="0"/>
                        </a:rPr>
                        <a:t>17</a:t>
                      </a:r>
                    </a:p>
                  </a:txBody>
                  <a:tcPr marL="7137" marR="7137" marT="713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0326405"/>
                  </a:ext>
                </a:extLst>
              </a:tr>
              <a:tr h="135641">
                <a:tc>
                  <a:txBody>
                    <a:bodyPr/>
                    <a:lstStyle/>
                    <a:p>
                      <a:pPr algn="ctr" rtl="0" fontAlgn="ctr">
                        <a:buNone/>
                      </a:pPr>
                      <a:r>
                        <a:rPr lang="es-CO" sz="700" b="1" i="0" u="none" strike="noStrike">
                          <a:solidFill>
                            <a:srgbClr val="FFFFFF"/>
                          </a:solidFill>
                          <a:effectLst/>
                          <a:latin typeface="Calibri" panose="020F0502020204030204" pitchFamily="34" charset="0"/>
                        </a:rPr>
                        <a:t>TOTAL</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700" b="1" i="0" u="none" strike="noStrike">
                          <a:solidFill>
                            <a:srgbClr val="FFFFFF"/>
                          </a:solidFill>
                          <a:effectLst/>
                          <a:latin typeface="Calibri" panose="020F0502020204030204" pitchFamily="34" charset="0"/>
                        </a:rPr>
                        <a:t>23.581</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700" b="1" i="0" u="none" strike="noStrike">
                          <a:solidFill>
                            <a:srgbClr val="FFFFFF"/>
                          </a:solidFill>
                          <a:effectLst/>
                          <a:latin typeface="Calibri" panose="020F0502020204030204" pitchFamily="34" charset="0"/>
                        </a:rPr>
                        <a:t>23.406</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700" b="1" i="0" u="none" strike="noStrike">
                          <a:solidFill>
                            <a:srgbClr val="FFFFFF"/>
                          </a:solidFill>
                          <a:effectLst/>
                          <a:latin typeface="Calibri" panose="020F0502020204030204" pitchFamily="34" charset="0"/>
                        </a:rPr>
                        <a:t>21.524</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700" b="1" i="0" u="none" strike="noStrike">
                          <a:solidFill>
                            <a:srgbClr val="FFFFFF"/>
                          </a:solidFill>
                          <a:effectLst/>
                          <a:latin typeface="Calibri" panose="020F0502020204030204" pitchFamily="34" charset="0"/>
                        </a:rPr>
                        <a:t>311</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700" b="1" i="0" u="none" strike="noStrike">
                          <a:solidFill>
                            <a:srgbClr val="FFFFFF"/>
                          </a:solidFill>
                          <a:effectLst/>
                          <a:latin typeface="Calibri" panose="020F0502020204030204" pitchFamily="34" charset="0"/>
                        </a:rPr>
                        <a:t>283</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700" b="1" i="0" u="none" strike="noStrike">
                          <a:solidFill>
                            <a:srgbClr val="FFFFFF"/>
                          </a:solidFill>
                          <a:effectLst/>
                          <a:latin typeface="Calibri" panose="020F0502020204030204" pitchFamily="34" charset="0"/>
                        </a:rPr>
                        <a:t>210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700" b="1" i="0" u="none" strike="noStrike">
                          <a:solidFill>
                            <a:srgbClr val="FFFFFF"/>
                          </a:solidFill>
                          <a:effectLst/>
                          <a:latin typeface="Calibri" panose="020F0502020204030204" pitchFamily="34" charset="0"/>
                        </a:rPr>
                        <a:t>22</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700" b="1" i="0" u="none" strike="noStrike">
                          <a:solidFill>
                            <a:srgbClr val="FFFFFF"/>
                          </a:solidFill>
                          <a:effectLst/>
                          <a:latin typeface="Calibri" panose="020F0502020204030204" pitchFamily="34" charset="0"/>
                        </a:rPr>
                        <a:t>69.337</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extLst>
                  <a:ext uri="{0D108BD9-81ED-4DB2-BD59-A6C34878D82A}">
                    <a16:rowId xmlns:a16="http://schemas.microsoft.com/office/drawing/2014/main" val="1452297381"/>
                  </a:ext>
                </a:extLst>
              </a:tr>
            </a:tbl>
          </a:graphicData>
        </a:graphic>
      </p:graphicFrame>
      <p:sp>
        <p:nvSpPr>
          <p:cNvPr id="12" name="CuadroTexto 11">
            <a:extLst>
              <a:ext uri="{FF2B5EF4-FFF2-40B4-BE49-F238E27FC236}">
                <a16:creationId xmlns:a16="http://schemas.microsoft.com/office/drawing/2014/main" id="{17BDE822-6DF9-B868-BA81-185C2C0DFB56}"/>
              </a:ext>
            </a:extLst>
          </p:cNvPr>
          <p:cNvSpPr txBox="1"/>
          <p:nvPr/>
        </p:nvSpPr>
        <p:spPr>
          <a:xfrm>
            <a:off x="6998742" y="6528657"/>
            <a:ext cx="3638394" cy="276999"/>
          </a:xfrm>
          <a:prstGeom prst="rect">
            <a:avLst/>
          </a:prstGeom>
          <a:noFill/>
        </p:spPr>
        <p:txBody>
          <a:bodyPr wrap="square" lIns="91440" tIns="45720" rIns="91440" bIns="45720" anchor="t">
            <a:spAutoFit/>
          </a:bodyPr>
          <a:lstStyle/>
          <a:p>
            <a:r>
              <a:rPr lang="es-CO" sz="1200" b="1" i="1" noProof="0">
                <a:solidFill>
                  <a:schemeClr val="tx2"/>
                </a:solidFill>
              </a:rPr>
              <a:t>Fuente: </a:t>
            </a:r>
            <a:r>
              <a:rPr lang="es-CO" sz="1200" i="1" noProof="0" err="1">
                <a:solidFill>
                  <a:schemeClr val="tx2"/>
                </a:solidFill>
              </a:rPr>
              <a:t>kerberus</a:t>
            </a:r>
            <a:r>
              <a:rPr lang="es-CO" sz="1200" i="1" noProof="0">
                <a:solidFill>
                  <a:schemeClr val="tx2"/>
                </a:solidFill>
              </a:rPr>
              <a:t> INOOS </a:t>
            </a:r>
            <a:r>
              <a:rPr lang="es-CO" sz="1200" i="1">
                <a:solidFill>
                  <a:schemeClr val="tx2"/>
                </a:solidFill>
              </a:rPr>
              <a:t>Septiembre</a:t>
            </a:r>
            <a:r>
              <a:rPr lang="es-CO" sz="1200" i="1" noProof="0">
                <a:solidFill>
                  <a:schemeClr val="tx2"/>
                </a:solidFill>
              </a:rPr>
              <a:t> 2026</a:t>
            </a:r>
          </a:p>
        </p:txBody>
      </p:sp>
    </p:spTree>
    <p:extLst>
      <p:ext uri="{BB962C8B-B14F-4D97-AF65-F5344CB8AC3E}">
        <p14:creationId xmlns:p14="http://schemas.microsoft.com/office/powerpoint/2010/main" val="4075743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CuadroTexto 20">
            <a:extLst>
              <a:ext uri="{FF2B5EF4-FFF2-40B4-BE49-F238E27FC236}">
                <a16:creationId xmlns:a16="http://schemas.microsoft.com/office/drawing/2014/main" id="{8746713C-AB84-82E4-5731-FDE38CE90112}"/>
              </a:ext>
            </a:extLst>
          </p:cNvPr>
          <p:cNvSpPr txBox="1"/>
          <p:nvPr/>
        </p:nvSpPr>
        <p:spPr>
          <a:xfrm>
            <a:off x="7877136" y="954402"/>
            <a:ext cx="3872677" cy="1195568"/>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fontScale="97500"/>
          </a:bodyPr>
          <a:lstStyle>
            <a:defPPr>
              <a:defRPr lang="es-CO"/>
            </a:defPPr>
            <a:lvl1pPr algn="ctr">
              <a:lnSpc>
                <a:spcPct val="90000"/>
              </a:lnSpc>
              <a:spcBef>
                <a:spcPct val="0"/>
              </a:spcBef>
              <a:buNone/>
              <a:defRPr sz="3200" b="1">
                <a:solidFill>
                  <a:srgbClr val="00A19C"/>
                </a:solidFill>
                <a:latin typeface="+mj-lt"/>
                <a:ea typeface="+mj-ea"/>
                <a:cs typeface="+mj-cs"/>
              </a:defRPr>
            </a:lvl1pPr>
          </a:lstStyle>
          <a:p>
            <a:r>
              <a:rPr lang="es-MX" sz="2400"/>
              <a:t>DISPONIBILIDAD SEDE VALLE</a:t>
            </a:r>
            <a:endParaRPr lang="es-CO" sz="2400"/>
          </a:p>
        </p:txBody>
      </p:sp>
      <p:sp>
        <p:nvSpPr>
          <p:cNvPr id="22" name="CuadroTexto 21">
            <a:extLst>
              <a:ext uri="{FF2B5EF4-FFF2-40B4-BE49-F238E27FC236}">
                <a16:creationId xmlns:a16="http://schemas.microsoft.com/office/drawing/2014/main" id="{13C58063-775B-DB57-A72B-2CDB6D512CF7}"/>
              </a:ext>
            </a:extLst>
          </p:cNvPr>
          <p:cNvSpPr txBox="1"/>
          <p:nvPr/>
        </p:nvSpPr>
        <p:spPr>
          <a:xfrm>
            <a:off x="9893964" y="6169292"/>
            <a:ext cx="4596072" cy="313932"/>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fontScale="97500"/>
          </a:bodyPr>
          <a:lstStyle>
            <a:defPPr>
              <a:defRPr lang="es-CO"/>
            </a:defPPr>
            <a:lvl1pPr algn="ctr">
              <a:lnSpc>
                <a:spcPct val="90000"/>
              </a:lnSpc>
              <a:spcBef>
                <a:spcPct val="0"/>
              </a:spcBef>
              <a:buNone/>
              <a:defRPr sz="1600" b="1">
                <a:solidFill>
                  <a:srgbClr val="00A19C"/>
                </a:solidFill>
                <a:latin typeface="+mj-lt"/>
                <a:ea typeface="+mj-ea"/>
                <a:cs typeface="+mj-cs"/>
              </a:defRPr>
            </a:lvl1pPr>
          </a:lstStyle>
          <a:p>
            <a:r>
              <a:rPr lang="es-MX"/>
              <a:t>DISPONIBILIDAD SEDE CAUCA</a:t>
            </a:r>
            <a:endParaRPr lang="es-CO"/>
          </a:p>
        </p:txBody>
      </p:sp>
      <p:sp>
        <p:nvSpPr>
          <p:cNvPr id="14" name="Título 1">
            <a:extLst>
              <a:ext uri="{FF2B5EF4-FFF2-40B4-BE49-F238E27FC236}">
                <a16:creationId xmlns:a16="http://schemas.microsoft.com/office/drawing/2014/main" id="{9FB7CA89-D1DE-A7CC-CB10-1D22FEDBD56B}"/>
              </a:ext>
            </a:extLst>
          </p:cNvPr>
          <p:cNvSpPr txBox="1">
            <a:spLocks/>
          </p:cNvSpPr>
          <p:nvPr/>
        </p:nvSpPr>
        <p:spPr>
          <a:xfrm>
            <a:off x="240992" y="12143"/>
            <a:ext cx="4395020" cy="369120"/>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fontScale="75000" lnSpcReduction="20000"/>
          </a:bodyPr>
          <a:lstStyle>
            <a:defPPr>
              <a:defRPr lang="es-CO"/>
            </a:defPPr>
            <a:lvl1pPr algn="ctr">
              <a:lnSpc>
                <a:spcPct val="90000"/>
              </a:lnSpc>
              <a:spcBef>
                <a:spcPct val="0"/>
              </a:spcBef>
              <a:buNone/>
              <a:defRPr sz="3200" b="1">
                <a:solidFill>
                  <a:srgbClr val="00A19C"/>
                </a:solidFill>
                <a:latin typeface="+mj-lt"/>
                <a:ea typeface="+mj-ea"/>
                <a:cs typeface="+mj-cs"/>
              </a:defRPr>
            </a:lvl1pPr>
          </a:lstStyle>
          <a:p>
            <a:r>
              <a:rPr lang="es-CO"/>
              <a:t>INDICADORES CALL CENTER</a:t>
            </a:r>
          </a:p>
        </p:txBody>
      </p:sp>
      <p:sp>
        <p:nvSpPr>
          <p:cNvPr id="15" name="Título 1">
            <a:extLst>
              <a:ext uri="{FF2B5EF4-FFF2-40B4-BE49-F238E27FC236}">
                <a16:creationId xmlns:a16="http://schemas.microsoft.com/office/drawing/2014/main" id="{D32C3F7D-6E5D-14D1-5614-E8FF5005757C}"/>
              </a:ext>
            </a:extLst>
          </p:cNvPr>
          <p:cNvSpPr txBox="1">
            <a:spLocks/>
          </p:cNvSpPr>
          <p:nvPr/>
        </p:nvSpPr>
        <p:spPr>
          <a:xfrm>
            <a:off x="1226873" y="228125"/>
            <a:ext cx="4395020" cy="369120"/>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1800">
                <a:solidFill>
                  <a:schemeClr val="bg1">
                    <a:lumMod val="50000"/>
                  </a:schemeClr>
                </a:solidFill>
              </a:rPr>
              <a:t>DISPONIBILIDAD POR ESPECIALISTA</a:t>
            </a:r>
          </a:p>
        </p:txBody>
      </p:sp>
      <p:sp>
        <p:nvSpPr>
          <p:cNvPr id="6" name="CuadroTexto 5">
            <a:extLst>
              <a:ext uri="{FF2B5EF4-FFF2-40B4-BE49-F238E27FC236}">
                <a16:creationId xmlns:a16="http://schemas.microsoft.com/office/drawing/2014/main" id="{EA21148D-9A03-35F4-F683-BAFD55742DBB}"/>
              </a:ext>
            </a:extLst>
          </p:cNvPr>
          <p:cNvSpPr txBox="1"/>
          <p:nvPr/>
        </p:nvSpPr>
        <p:spPr>
          <a:xfrm>
            <a:off x="7877136" y="1695938"/>
            <a:ext cx="3872677" cy="1384995"/>
          </a:xfrm>
          <a:prstGeom prst="rect">
            <a:avLst/>
          </a:prstGeom>
          <a:noFill/>
        </p:spPr>
        <p:txBody>
          <a:bodyPr wrap="square">
            <a:spAutoFit/>
          </a:bodyPr>
          <a:lstStyle/>
          <a:p>
            <a:pPr algn="just"/>
            <a:r>
              <a:rPr lang="es-MX" sz="1400"/>
              <a:t>Durante el mes de Septiembre se dispuso de </a:t>
            </a:r>
            <a:r>
              <a:rPr lang="es-MX" sz="1400" b="1"/>
              <a:t>26 días hábiles laborables</a:t>
            </a:r>
            <a:r>
              <a:rPr lang="es-MX" sz="1400"/>
              <a:t>, periodo sobre el cual se evaluó el </a:t>
            </a:r>
            <a:r>
              <a:rPr lang="es-MX" sz="1400" b="1"/>
              <a:t>porcentaje de disponibilidad por especialista</a:t>
            </a:r>
            <a:r>
              <a:rPr lang="es-MX" sz="1400"/>
              <a:t>, considerando los días efectivos de atención registrados por cada uno</a:t>
            </a:r>
          </a:p>
          <a:p>
            <a:endParaRPr lang="es-CO" sz="1400"/>
          </a:p>
        </p:txBody>
      </p:sp>
      <p:graphicFrame>
        <p:nvGraphicFramePr>
          <p:cNvPr id="3" name="Tabla 2">
            <a:extLst>
              <a:ext uri="{FF2B5EF4-FFF2-40B4-BE49-F238E27FC236}">
                <a16:creationId xmlns:a16="http://schemas.microsoft.com/office/drawing/2014/main" id="{7A954719-3702-1298-A104-82E522558E8D}"/>
              </a:ext>
            </a:extLst>
          </p:cNvPr>
          <p:cNvGraphicFramePr>
            <a:graphicFrameLocks noGrp="1"/>
          </p:cNvGraphicFramePr>
          <p:nvPr/>
        </p:nvGraphicFramePr>
        <p:xfrm>
          <a:off x="1226873" y="873760"/>
          <a:ext cx="6111952" cy="5110480"/>
        </p:xfrm>
        <a:graphic>
          <a:graphicData uri="http://schemas.openxmlformats.org/drawingml/2006/table">
            <a:tbl>
              <a:tblPr/>
              <a:tblGrid>
                <a:gridCol w="2034159">
                  <a:extLst>
                    <a:ext uri="{9D8B030D-6E8A-4147-A177-3AD203B41FA5}">
                      <a16:colId xmlns:a16="http://schemas.microsoft.com/office/drawing/2014/main" val="3421929250"/>
                    </a:ext>
                  </a:extLst>
                </a:gridCol>
                <a:gridCol w="2207197">
                  <a:extLst>
                    <a:ext uri="{9D8B030D-6E8A-4147-A177-3AD203B41FA5}">
                      <a16:colId xmlns:a16="http://schemas.microsoft.com/office/drawing/2014/main" val="3614693292"/>
                    </a:ext>
                  </a:extLst>
                </a:gridCol>
                <a:gridCol w="805434">
                  <a:extLst>
                    <a:ext uri="{9D8B030D-6E8A-4147-A177-3AD203B41FA5}">
                      <a16:colId xmlns:a16="http://schemas.microsoft.com/office/drawing/2014/main" val="3488840197"/>
                    </a:ext>
                  </a:extLst>
                </a:gridCol>
                <a:gridCol w="1065162">
                  <a:extLst>
                    <a:ext uri="{9D8B030D-6E8A-4147-A177-3AD203B41FA5}">
                      <a16:colId xmlns:a16="http://schemas.microsoft.com/office/drawing/2014/main" val="2973345197"/>
                    </a:ext>
                  </a:extLst>
                </a:gridCol>
              </a:tblGrid>
              <a:tr h="116840">
                <a:tc>
                  <a:txBody>
                    <a:bodyPr/>
                    <a:lstStyle/>
                    <a:p>
                      <a:pPr algn="ctr" rtl="0" fontAlgn="ctr">
                        <a:buNone/>
                      </a:pPr>
                      <a:r>
                        <a:rPr lang="es-CO" sz="800" b="0" i="0" u="none" strike="noStrike">
                          <a:solidFill>
                            <a:srgbClr val="000000"/>
                          </a:solidFill>
                          <a:effectLst/>
                          <a:latin typeface="Aptos" panose="020B0004020202020204" pitchFamily="34" charset="0"/>
                        </a:rPr>
                        <a:t>ESPECIALISTA </a:t>
                      </a:r>
                    </a:p>
                  </a:txBody>
                  <a:tcPr marL="5842" marR="5842" marT="58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Narrow" panose="020B0004020202020204" pitchFamily="34" charset="0"/>
                        </a:rPr>
                        <a:t>ESPECIALIDAD</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Narrow" panose="020B0004020202020204" pitchFamily="34" charset="0"/>
                        </a:rPr>
                        <a:t>DIAS DISPONIBLES</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CO" sz="800" b="0" i="0" u="none" strike="noStrike">
                          <a:solidFill>
                            <a:srgbClr val="000000"/>
                          </a:solidFill>
                          <a:effectLst/>
                          <a:latin typeface="Aptos" panose="020B0004020202020204" pitchFamily="34" charset="0"/>
                        </a:rPr>
                        <a:t>% DISPONIBILIDAD</a:t>
                      </a:r>
                    </a:p>
                  </a:txBody>
                  <a:tcPr marL="5842" marR="5842" marT="58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12670251"/>
                  </a:ext>
                </a:extLst>
              </a:tr>
              <a:tr h="116840">
                <a:tc>
                  <a:txBody>
                    <a:bodyPr/>
                    <a:lstStyle/>
                    <a:p>
                      <a:pPr algn="l" rtl="0" fontAlgn="b">
                        <a:buNone/>
                      </a:pPr>
                      <a:r>
                        <a:rPr lang="es-CO" sz="800" b="0" i="0" u="none" strike="noStrike">
                          <a:solidFill>
                            <a:srgbClr val="000000"/>
                          </a:solidFill>
                          <a:effectLst/>
                          <a:latin typeface="Aptos Narrow" panose="020B0004020202020204" pitchFamily="34" charset="0"/>
                        </a:rPr>
                        <a:t>LUZ KARIME PEREA GONZALEZ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PSICOLOGIA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22</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85%</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48535117"/>
                  </a:ext>
                </a:extLst>
              </a:tr>
              <a:tr h="116840">
                <a:tc>
                  <a:txBody>
                    <a:bodyPr/>
                    <a:lstStyle/>
                    <a:p>
                      <a:pPr algn="l" rtl="0" fontAlgn="b">
                        <a:buNone/>
                      </a:pPr>
                      <a:r>
                        <a:rPr lang="es-CO" sz="800" b="0" i="0" u="none" strike="noStrike">
                          <a:solidFill>
                            <a:srgbClr val="000000"/>
                          </a:solidFill>
                          <a:effectLst/>
                          <a:latin typeface="Aptos Narrow" panose="020B0004020202020204" pitchFamily="34" charset="0"/>
                        </a:rPr>
                        <a:t>DAYANNA STEPHANY SOLER RIOS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TRABAJO SOCIAL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22</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85%</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18658073"/>
                  </a:ext>
                </a:extLst>
              </a:tr>
              <a:tr h="116840">
                <a:tc>
                  <a:txBody>
                    <a:bodyPr/>
                    <a:lstStyle/>
                    <a:p>
                      <a:pPr algn="l" rtl="0" fontAlgn="b">
                        <a:buNone/>
                      </a:pPr>
                      <a:r>
                        <a:rPr lang="es-CO" sz="800" b="0" i="0" u="none" strike="noStrike">
                          <a:solidFill>
                            <a:srgbClr val="000000"/>
                          </a:solidFill>
                          <a:effectLst/>
                          <a:latin typeface="Aptos Narrow" panose="020B0004020202020204" pitchFamily="34" charset="0"/>
                        </a:rPr>
                        <a:t>MARIA ISABEL BILBAO PARRA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NUTRICION Y DIETETICA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22</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85%</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39583976"/>
                  </a:ext>
                </a:extLst>
              </a:tr>
              <a:tr h="116840">
                <a:tc>
                  <a:txBody>
                    <a:bodyPr/>
                    <a:lstStyle/>
                    <a:p>
                      <a:pPr algn="l" rtl="0" fontAlgn="b">
                        <a:buNone/>
                      </a:pPr>
                      <a:r>
                        <a:rPr lang="es-CO" sz="800" b="0" i="0" u="none" strike="noStrike">
                          <a:solidFill>
                            <a:srgbClr val="000000"/>
                          </a:solidFill>
                          <a:effectLst/>
                          <a:latin typeface="Aptos Narrow" panose="020B0004020202020204" pitchFamily="34" charset="0"/>
                        </a:rPr>
                        <a:t>MIGUEL ANGEL SAAVEDRA HURTADO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HEMATO ONCOLOGIA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15</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58%</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60538497"/>
                  </a:ext>
                </a:extLst>
              </a:tr>
              <a:tr h="116840">
                <a:tc>
                  <a:txBody>
                    <a:bodyPr/>
                    <a:lstStyle/>
                    <a:p>
                      <a:pPr algn="l" rtl="0" fontAlgn="b">
                        <a:buNone/>
                      </a:pPr>
                      <a:r>
                        <a:rPr lang="es-CO" sz="800" b="0" i="0" u="none" strike="noStrike">
                          <a:solidFill>
                            <a:srgbClr val="000000"/>
                          </a:solidFill>
                          <a:effectLst/>
                          <a:latin typeface="Aptos Narrow" panose="020B0004020202020204" pitchFamily="34" charset="0"/>
                        </a:rPr>
                        <a:t>NATALIA  CORREA GONZALEZ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TRABAJO SOCIAL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18</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69%</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13245344"/>
                  </a:ext>
                </a:extLst>
              </a:tr>
              <a:tr h="116840">
                <a:tc>
                  <a:txBody>
                    <a:bodyPr/>
                    <a:lstStyle/>
                    <a:p>
                      <a:pPr algn="l" rtl="0" fontAlgn="b">
                        <a:buNone/>
                      </a:pPr>
                      <a:r>
                        <a:rPr lang="es-CO" sz="800" b="0" i="0" u="none" strike="noStrike">
                          <a:solidFill>
                            <a:srgbClr val="000000"/>
                          </a:solidFill>
                          <a:effectLst/>
                          <a:latin typeface="Aptos Narrow" panose="020B0004020202020204" pitchFamily="34" charset="0"/>
                        </a:rPr>
                        <a:t>ALEJANDRO  HIJUELOS REYES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ONCOLOGIA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14</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54%</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75973902"/>
                  </a:ext>
                </a:extLst>
              </a:tr>
              <a:tr h="116840">
                <a:tc>
                  <a:txBody>
                    <a:bodyPr/>
                    <a:lstStyle/>
                    <a:p>
                      <a:pPr algn="l" rtl="0" fontAlgn="b">
                        <a:buNone/>
                      </a:pPr>
                      <a:r>
                        <a:rPr lang="es-CO" sz="800" b="0" i="0" u="none" strike="noStrike">
                          <a:solidFill>
                            <a:srgbClr val="000000"/>
                          </a:solidFill>
                          <a:effectLst/>
                          <a:latin typeface="Aptos Narrow" panose="020B0004020202020204" pitchFamily="34" charset="0"/>
                        </a:rPr>
                        <a:t>JENNY KATERINE CERON GIL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ENFERMERIA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14</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54%</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48438881"/>
                  </a:ext>
                </a:extLst>
              </a:tr>
              <a:tr h="116840">
                <a:tc>
                  <a:txBody>
                    <a:bodyPr/>
                    <a:lstStyle/>
                    <a:p>
                      <a:pPr algn="l" rtl="0" fontAlgn="b">
                        <a:buNone/>
                      </a:pPr>
                      <a:r>
                        <a:rPr lang="es-CO" sz="800" b="0" i="0" u="none" strike="noStrike">
                          <a:solidFill>
                            <a:srgbClr val="000000"/>
                          </a:solidFill>
                          <a:effectLst/>
                          <a:latin typeface="Aptos Narrow" panose="020B0004020202020204" pitchFamily="34" charset="0"/>
                        </a:rPr>
                        <a:t>HERNANDO  GALEANO GONZALEZ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PSICOLOGIA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20</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77%</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31790741"/>
                  </a:ext>
                </a:extLst>
              </a:tr>
              <a:tr h="116840">
                <a:tc>
                  <a:txBody>
                    <a:bodyPr/>
                    <a:lstStyle/>
                    <a:p>
                      <a:pPr algn="l" rtl="0" fontAlgn="b">
                        <a:buNone/>
                      </a:pPr>
                      <a:r>
                        <a:rPr lang="es-CO" sz="800" b="0" i="0" u="none" strike="noStrike">
                          <a:solidFill>
                            <a:srgbClr val="000000"/>
                          </a:solidFill>
                          <a:effectLst/>
                          <a:latin typeface="Aptos Narrow" panose="020B0004020202020204" pitchFamily="34" charset="0"/>
                        </a:rPr>
                        <a:t>LUISA FERNANDA AMAYA HURTADO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NUTRICION Y DIETETICA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12</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46%</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94153322"/>
                  </a:ext>
                </a:extLst>
              </a:tr>
              <a:tr h="116840">
                <a:tc>
                  <a:txBody>
                    <a:bodyPr/>
                    <a:lstStyle/>
                    <a:p>
                      <a:pPr algn="l" rtl="0" fontAlgn="b">
                        <a:buNone/>
                      </a:pPr>
                      <a:r>
                        <a:rPr lang="es-CO" sz="800" b="0" i="0" u="none" strike="noStrike">
                          <a:solidFill>
                            <a:srgbClr val="000000"/>
                          </a:solidFill>
                          <a:effectLst/>
                          <a:latin typeface="Aptos Narrow" panose="020B0004020202020204" pitchFamily="34" charset="0"/>
                        </a:rPr>
                        <a:t>JULIAN ALBERTO AGUDELO JIMENEZ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DOLOR Y CUIDADOS PALIATIVOS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11</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42%</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46151900"/>
                  </a:ext>
                </a:extLst>
              </a:tr>
              <a:tr h="116840">
                <a:tc>
                  <a:txBody>
                    <a:bodyPr/>
                    <a:lstStyle/>
                    <a:p>
                      <a:pPr algn="l" rtl="0" fontAlgn="b">
                        <a:buNone/>
                      </a:pPr>
                      <a:r>
                        <a:rPr lang="es-CO" sz="800" b="0" i="0" u="none" strike="noStrike">
                          <a:solidFill>
                            <a:srgbClr val="000000"/>
                          </a:solidFill>
                          <a:effectLst/>
                          <a:latin typeface="Aptos Narrow" panose="020B0004020202020204" pitchFamily="34" charset="0"/>
                        </a:rPr>
                        <a:t>ANDRES MAURICIO LOPEZ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DERMATOLOGIA ONCOLOGICA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4</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15%</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12732208"/>
                  </a:ext>
                </a:extLst>
              </a:tr>
              <a:tr h="116840">
                <a:tc>
                  <a:txBody>
                    <a:bodyPr/>
                    <a:lstStyle/>
                    <a:p>
                      <a:pPr algn="l" rtl="0" fontAlgn="b">
                        <a:buNone/>
                      </a:pPr>
                      <a:r>
                        <a:rPr lang="es-CO" sz="800" b="0" i="0" u="none" strike="noStrike">
                          <a:solidFill>
                            <a:srgbClr val="000000"/>
                          </a:solidFill>
                          <a:effectLst/>
                          <a:latin typeface="Aptos Narrow" panose="020B0004020202020204" pitchFamily="34" charset="0"/>
                        </a:rPr>
                        <a:t>JUAN CARLOS QUESADA OCAMPO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HEMATO ONCOLOGIA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6</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23%</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68685823"/>
                  </a:ext>
                </a:extLst>
              </a:tr>
              <a:tr h="116840">
                <a:tc>
                  <a:txBody>
                    <a:bodyPr/>
                    <a:lstStyle/>
                    <a:p>
                      <a:pPr algn="l" rtl="0" fontAlgn="b">
                        <a:buNone/>
                      </a:pPr>
                      <a:r>
                        <a:rPr lang="es-CO" sz="800" b="0" i="0" u="none" strike="noStrike">
                          <a:solidFill>
                            <a:srgbClr val="000000"/>
                          </a:solidFill>
                          <a:effectLst/>
                          <a:latin typeface="Aptos Narrow" panose="020B0004020202020204" pitchFamily="34" charset="0"/>
                        </a:rPr>
                        <a:t>HERNEY ANDRES GARCIA PERDOMO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UROLOGIA ONCOLOGICA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4</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15%</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98398593"/>
                  </a:ext>
                </a:extLst>
              </a:tr>
              <a:tr h="116840">
                <a:tc>
                  <a:txBody>
                    <a:bodyPr/>
                    <a:lstStyle/>
                    <a:p>
                      <a:pPr algn="l" rtl="0" fontAlgn="b">
                        <a:buNone/>
                      </a:pPr>
                      <a:r>
                        <a:rPr lang="es-CO" sz="800" b="0" i="0" u="none" strike="noStrike">
                          <a:solidFill>
                            <a:srgbClr val="000000"/>
                          </a:solidFill>
                          <a:effectLst/>
                          <a:latin typeface="Aptos Narrow" panose="020B0004020202020204" pitchFamily="34" charset="0"/>
                        </a:rPr>
                        <a:t>VIVIANA EUGENIA BARRERA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DOLOR Y CUIDADOS PALIATIVOS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3</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12%</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45383406"/>
                  </a:ext>
                </a:extLst>
              </a:tr>
              <a:tr h="116840">
                <a:tc>
                  <a:txBody>
                    <a:bodyPr/>
                    <a:lstStyle/>
                    <a:p>
                      <a:pPr algn="l" rtl="0" fontAlgn="b">
                        <a:buNone/>
                      </a:pPr>
                      <a:r>
                        <a:rPr lang="es-CO" sz="800" b="0" i="0" u="none" strike="noStrike">
                          <a:solidFill>
                            <a:srgbClr val="000000"/>
                          </a:solidFill>
                          <a:effectLst/>
                          <a:latin typeface="Aptos Narrow" panose="020B0004020202020204" pitchFamily="34" charset="0"/>
                        </a:rPr>
                        <a:t>LAZARO DAMIAN CORTINA ROSALES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HEMATOLOGIA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8</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31%</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79012507"/>
                  </a:ext>
                </a:extLst>
              </a:tr>
              <a:tr h="116840">
                <a:tc>
                  <a:txBody>
                    <a:bodyPr/>
                    <a:lstStyle/>
                    <a:p>
                      <a:pPr algn="l" rtl="0" fontAlgn="b">
                        <a:buNone/>
                      </a:pPr>
                      <a:r>
                        <a:rPr lang="es-CO" sz="800" b="0" i="0" u="none" strike="noStrike">
                          <a:solidFill>
                            <a:srgbClr val="000000"/>
                          </a:solidFill>
                          <a:effectLst/>
                          <a:latin typeface="Aptos Narrow" panose="020B0004020202020204" pitchFamily="34" charset="0"/>
                        </a:rPr>
                        <a:t>CARLOS ANDRES GUEVARA NARVAEZ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DOLOR Y CUIDADOS PALIATIVOS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5</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19%</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55254494"/>
                  </a:ext>
                </a:extLst>
              </a:tr>
              <a:tr h="116840">
                <a:tc>
                  <a:txBody>
                    <a:bodyPr/>
                    <a:lstStyle/>
                    <a:p>
                      <a:pPr algn="l" rtl="0" fontAlgn="b">
                        <a:buNone/>
                      </a:pPr>
                      <a:r>
                        <a:rPr lang="es-CO" sz="800" b="0" i="0" u="none" strike="noStrike">
                          <a:solidFill>
                            <a:srgbClr val="000000"/>
                          </a:solidFill>
                          <a:effectLst/>
                          <a:latin typeface="Aptos Narrow" panose="020B0004020202020204" pitchFamily="34" charset="0"/>
                        </a:rPr>
                        <a:t>FERNANDA XIMENA BRAVO MUÑOZ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MASTOLOGIA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4</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15%</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52826067"/>
                  </a:ext>
                </a:extLst>
              </a:tr>
              <a:tr h="116840">
                <a:tc>
                  <a:txBody>
                    <a:bodyPr/>
                    <a:lstStyle/>
                    <a:p>
                      <a:pPr algn="l" rtl="0" fontAlgn="b">
                        <a:buNone/>
                      </a:pPr>
                      <a:r>
                        <a:rPr lang="es-CO" sz="800" b="0" i="0" u="none" strike="noStrike">
                          <a:solidFill>
                            <a:srgbClr val="000000"/>
                          </a:solidFill>
                          <a:effectLst/>
                          <a:latin typeface="Aptos Narrow" panose="020B0004020202020204" pitchFamily="34" charset="0"/>
                        </a:rPr>
                        <a:t>NELSON FERNANDO SOTELO MUÑOZ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ANESTESIOLOGIA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4</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15%</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68985939"/>
                  </a:ext>
                </a:extLst>
              </a:tr>
              <a:tr h="116840">
                <a:tc>
                  <a:txBody>
                    <a:bodyPr/>
                    <a:lstStyle/>
                    <a:p>
                      <a:pPr algn="l" rtl="0" fontAlgn="b">
                        <a:buNone/>
                      </a:pPr>
                      <a:r>
                        <a:rPr lang="es-CO" sz="800" b="0" i="0" u="none" strike="noStrike">
                          <a:solidFill>
                            <a:srgbClr val="000000"/>
                          </a:solidFill>
                          <a:effectLst/>
                          <a:latin typeface="Aptos Narrow" panose="020B0004020202020204" pitchFamily="34" charset="0"/>
                        </a:rPr>
                        <a:t>ALBA LUZ MARIN ORDOÑEZ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ONCOLOGIA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2</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8%</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89158659"/>
                  </a:ext>
                </a:extLst>
              </a:tr>
              <a:tr h="116840">
                <a:tc>
                  <a:txBody>
                    <a:bodyPr/>
                    <a:lstStyle/>
                    <a:p>
                      <a:pPr algn="l" rtl="0" fontAlgn="b">
                        <a:buNone/>
                      </a:pPr>
                      <a:r>
                        <a:rPr lang="es-CO" sz="800" b="0" i="0" u="none" strike="noStrike">
                          <a:solidFill>
                            <a:srgbClr val="000000"/>
                          </a:solidFill>
                          <a:effectLst/>
                          <a:latin typeface="Aptos Narrow" panose="020B0004020202020204" pitchFamily="34" charset="0"/>
                        </a:rPr>
                        <a:t>ANGEL OMAR JAIMES RAMIREZ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DERMATOLOGIA ONCOLOGICA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1</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4%</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31015825"/>
                  </a:ext>
                </a:extLst>
              </a:tr>
              <a:tr h="116840">
                <a:tc>
                  <a:txBody>
                    <a:bodyPr/>
                    <a:lstStyle/>
                    <a:p>
                      <a:pPr algn="l" rtl="0" fontAlgn="b">
                        <a:buNone/>
                      </a:pPr>
                      <a:r>
                        <a:rPr lang="es-CO" sz="800" b="0" i="0" u="none" strike="noStrike">
                          <a:solidFill>
                            <a:srgbClr val="000000"/>
                          </a:solidFill>
                          <a:effectLst/>
                          <a:latin typeface="Aptos Narrow" panose="020B0004020202020204" pitchFamily="34" charset="0"/>
                        </a:rPr>
                        <a:t>DARIO  SALAZAR SALAZAR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CIRUGIA PLASTICA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3</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12%</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71016313"/>
                  </a:ext>
                </a:extLst>
              </a:tr>
              <a:tr h="116840">
                <a:tc>
                  <a:txBody>
                    <a:bodyPr/>
                    <a:lstStyle/>
                    <a:p>
                      <a:pPr algn="l" rtl="0" fontAlgn="b">
                        <a:buNone/>
                      </a:pPr>
                      <a:r>
                        <a:rPr lang="es-CO" sz="800" b="0" i="0" u="none" strike="noStrike">
                          <a:solidFill>
                            <a:srgbClr val="000000"/>
                          </a:solidFill>
                          <a:effectLst/>
                          <a:latin typeface="Aptos Narrow" panose="020B0004020202020204" pitchFamily="34" charset="0"/>
                        </a:rPr>
                        <a:t>ALI JOSUE GODOY BRICEÑO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CIRUGIA ONCOLOGICA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3</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12%</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16806544"/>
                  </a:ext>
                </a:extLst>
              </a:tr>
              <a:tr h="116840">
                <a:tc>
                  <a:txBody>
                    <a:bodyPr/>
                    <a:lstStyle/>
                    <a:p>
                      <a:pPr algn="l" rtl="0" fontAlgn="b">
                        <a:buNone/>
                      </a:pPr>
                      <a:r>
                        <a:rPr lang="es-CO" sz="800" b="0" i="0" u="none" strike="noStrike">
                          <a:solidFill>
                            <a:srgbClr val="000000"/>
                          </a:solidFill>
                          <a:effectLst/>
                          <a:latin typeface="Aptos Narrow" panose="020B0004020202020204" pitchFamily="34" charset="0"/>
                        </a:rPr>
                        <a:t>LUIS ALBERTO OLAVE ASPRILLA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CIRUGIA ONCOLOGICA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3</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12%</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11106743"/>
                  </a:ext>
                </a:extLst>
              </a:tr>
              <a:tr h="116840">
                <a:tc>
                  <a:txBody>
                    <a:bodyPr/>
                    <a:lstStyle/>
                    <a:p>
                      <a:pPr algn="l" rtl="0" fontAlgn="b">
                        <a:buNone/>
                      </a:pPr>
                      <a:r>
                        <a:rPr lang="es-CO" sz="800" b="0" i="0" u="none" strike="noStrike">
                          <a:solidFill>
                            <a:srgbClr val="000000"/>
                          </a:solidFill>
                          <a:effectLst/>
                          <a:latin typeface="Aptos Narrow" panose="020B0004020202020204" pitchFamily="34" charset="0"/>
                        </a:rPr>
                        <a:t>MIGUEL ANTONIO QUINTERO SALAZAR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MEDICINA GENERAL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6</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23%</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10990088"/>
                  </a:ext>
                </a:extLst>
              </a:tr>
              <a:tr h="116840">
                <a:tc>
                  <a:txBody>
                    <a:bodyPr/>
                    <a:lstStyle/>
                    <a:p>
                      <a:pPr algn="l" rtl="0" fontAlgn="b">
                        <a:buNone/>
                      </a:pPr>
                      <a:r>
                        <a:rPr lang="es-CO" sz="800" b="0" i="0" u="none" strike="noStrike">
                          <a:solidFill>
                            <a:srgbClr val="000000"/>
                          </a:solidFill>
                          <a:effectLst/>
                          <a:latin typeface="Aptos Narrow" panose="020B0004020202020204" pitchFamily="34" charset="0"/>
                        </a:rPr>
                        <a:t>ANDRES FELIPE GARCES PALACIO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MEDICINA GENERAL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7</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27%</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25281241"/>
                  </a:ext>
                </a:extLst>
              </a:tr>
              <a:tr h="116840">
                <a:tc>
                  <a:txBody>
                    <a:bodyPr/>
                    <a:lstStyle/>
                    <a:p>
                      <a:pPr algn="l" rtl="0" fontAlgn="b">
                        <a:buNone/>
                      </a:pPr>
                      <a:r>
                        <a:rPr lang="es-CO" sz="800" b="0" i="0" u="none" strike="noStrike">
                          <a:solidFill>
                            <a:srgbClr val="000000"/>
                          </a:solidFill>
                          <a:effectLst/>
                          <a:latin typeface="Aptos Narrow" panose="020B0004020202020204" pitchFamily="34" charset="0"/>
                        </a:rPr>
                        <a:t>WILLIAM ANDRES PIÑEROS CASTILLO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GINECOLOGIA ONCOLOGICA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2</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8%</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96487347"/>
                  </a:ext>
                </a:extLst>
              </a:tr>
              <a:tr h="116840">
                <a:tc>
                  <a:txBody>
                    <a:bodyPr/>
                    <a:lstStyle/>
                    <a:p>
                      <a:pPr algn="l" rtl="0" fontAlgn="b">
                        <a:buNone/>
                      </a:pPr>
                      <a:r>
                        <a:rPr lang="es-CO" sz="800" b="0" i="0" u="none" strike="noStrike">
                          <a:solidFill>
                            <a:srgbClr val="000000"/>
                          </a:solidFill>
                          <a:effectLst/>
                          <a:latin typeface="Aptos Narrow" panose="020B0004020202020204" pitchFamily="34" charset="0"/>
                        </a:rPr>
                        <a:t>MARIA PAULA TRUJILLO GARCIA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MEDICINA GENERAL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5</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19%</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55126741"/>
                  </a:ext>
                </a:extLst>
              </a:tr>
              <a:tr h="116840">
                <a:tc>
                  <a:txBody>
                    <a:bodyPr/>
                    <a:lstStyle/>
                    <a:p>
                      <a:pPr algn="l" rtl="0" fontAlgn="b">
                        <a:buNone/>
                      </a:pPr>
                      <a:r>
                        <a:rPr lang="es-CO" sz="800" b="0" i="0" u="none" strike="noStrike">
                          <a:solidFill>
                            <a:srgbClr val="000000"/>
                          </a:solidFill>
                          <a:effectLst/>
                          <a:latin typeface="Aptos Narrow" panose="020B0004020202020204" pitchFamily="34" charset="0"/>
                        </a:rPr>
                        <a:t>EDUARDO  LEON LLANOS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MASTOLOGIA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3</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12%</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35573443"/>
                  </a:ext>
                </a:extLst>
              </a:tr>
              <a:tr h="116840">
                <a:tc>
                  <a:txBody>
                    <a:bodyPr/>
                    <a:lstStyle/>
                    <a:p>
                      <a:pPr algn="l" rtl="0" fontAlgn="b">
                        <a:buNone/>
                      </a:pPr>
                      <a:r>
                        <a:rPr lang="es-CO" sz="800" b="0" i="0" u="none" strike="noStrike">
                          <a:solidFill>
                            <a:srgbClr val="000000"/>
                          </a:solidFill>
                          <a:effectLst/>
                          <a:latin typeface="Aptos Narrow" panose="020B0004020202020204" pitchFamily="34" charset="0"/>
                        </a:rPr>
                        <a:t>MARIA CHARITY KATHERINE BETANCOURT GALLE</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MEDICINA GENERAL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7</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27%</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95323970"/>
                  </a:ext>
                </a:extLst>
              </a:tr>
              <a:tr h="116840">
                <a:tc>
                  <a:txBody>
                    <a:bodyPr/>
                    <a:lstStyle/>
                    <a:p>
                      <a:pPr algn="l" rtl="0" fontAlgn="b">
                        <a:buNone/>
                      </a:pPr>
                      <a:r>
                        <a:rPr lang="es-CO" sz="800" b="0" i="0" u="none" strike="noStrike">
                          <a:solidFill>
                            <a:srgbClr val="000000"/>
                          </a:solidFill>
                          <a:effectLst/>
                          <a:latin typeface="Aptos Narrow" panose="020B0004020202020204" pitchFamily="34" charset="0"/>
                        </a:rPr>
                        <a:t>CARLOS ANDRES QUINTERO ROMERO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MEDICINA GENERAL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7</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27%</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67882113"/>
                  </a:ext>
                </a:extLst>
              </a:tr>
              <a:tr h="116840">
                <a:tc>
                  <a:txBody>
                    <a:bodyPr/>
                    <a:lstStyle/>
                    <a:p>
                      <a:pPr algn="l" rtl="0" fontAlgn="b">
                        <a:buNone/>
                      </a:pPr>
                      <a:r>
                        <a:rPr lang="es-CO" sz="800" b="0" i="0" u="none" strike="noStrike">
                          <a:solidFill>
                            <a:srgbClr val="000000"/>
                          </a:solidFill>
                          <a:effectLst/>
                          <a:latin typeface="Aptos Narrow" panose="020B0004020202020204" pitchFamily="34" charset="0"/>
                        </a:rPr>
                        <a:t>JAIME ALONSO PATIÑO ASTUDILLO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MEDICINA GENERAL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5</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19%</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7570608"/>
                  </a:ext>
                </a:extLst>
              </a:tr>
              <a:tr h="116840">
                <a:tc>
                  <a:txBody>
                    <a:bodyPr/>
                    <a:lstStyle/>
                    <a:p>
                      <a:pPr algn="l" rtl="0" fontAlgn="b">
                        <a:buNone/>
                      </a:pPr>
                      <a:r>
                        <a:rPr lang="es-CO" sz="800" b="0" i="0" u="none" strike="noStrike">
                          <a:solidFill>
                            <a:srgbClr val="000000"/>
                          </a:solidFill>
                          <a:effectLst/>
                          <a:latin typeface="Aptos Narrow" panose="020B0004020202020204" pitchFamily="34" charset="0"/>
                        </a:rPr>
                        <a:t>ANDRES FELIPE VARELA OSORIO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ORTOPEDIA ONCOLOGICA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1</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4%</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3659429"/>
                  </a:ext>
                </a:extLst>
              </a:tr>
              <a:tr h="116840">
                <a:tc>
                  <a:txBody>
                    <a:bodyPr/>
                    <a:lstStyle/>
                    <a:p>
                      <a:pPr algn="l" rtl="0" fontAlgn="b">
                        <a:buNone/>
                      </a:pPr>
                      <a:r>
                        <a:rPr lang="es-CO" sz="800" b="0" i="0" u="none" strike="noStrike">
                          <a:solidFill>
                            <a:srgbClr val="000000"/>
                          </a:solidFill>
                          <a:effectLst/>
                          <a:latin typeface="Aptos Narrow" panose="020B0004020202020204" pitchFamily="34" charset="0"/>
                        </a:rPr>
                        <a:t>ANGIE MIREYA FAJARDO CABRERA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MEDICINA GENERAL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3</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12%</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80182294"/>
                  </a:ext>
                </a:extLst>
              </a:tr>
              <a:tr h="116840">
                <a:tc>
                  <a:txBody>
                    <a:bodyPr/>
                    <a:lstStyle/>
                    <a:p>
                      <a:pPr algn="l" rtl="0" fontAlgn="b">
                        <a:buNone/>
                      </a:pPr>
                      <a:r>
                        <a:rPr lang="es-CO" sz="800" b="0" i="0" u="none" strike="noStrike">
                          <a:solidFill>
                            <a:srgbClr val="000000"/>
                          </a:solidFill>
                          <a:effectLst/>
                          <a:latin typeface="Aptos Narrow" panose="020B0004020202020204" pitchFamily="34" charset="0"/>
                        </a:rPr>
                        <a:t>DANIELA  VILLOTA BURBANO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GINECOLOGIA ONCOLOGICA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1</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4%</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2544832"/>
                  </a:ext>
                </a:extLst>
              </a:tr>
              <a:tr h="116840">
                <a:tc>
                  <a:txBody>
                    <a:bodyPr/>
                    <a:lstStyle/>
                    <a:p>
                      <a:pPr algn="l" rtl="0" fontAlgn="b">
                        <a:buNone/>
                      </a:pPr>
                      <a:r>
                        <a:rPr lang="es-CO" sz="800" b="0" i="0" u="none" strike="noStrike">
                          <a:solidFill>
                            <a:srgbClr val="000000"/>
                          </a:solidFill>
                          <a:effectLst/>
                          <a:latin typeface="Aptos Narrow" panose="020B0004020202020204" pitchFamily="34" charset="0"/>
                        </a:rPr>
                        <a:t>MIGUEL ANTONIO QUINTERO MORALES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GINECOLOGIA ONCOLOGICA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1</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4%</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27188139"/>
                  </a:ext>
                </a:extLst>
              </a:tr>
              <a:tr h="116840">
                <a:tc>
                  <a:txBody>
                    <a:bodyPr/>
                    <a:lstStyle/>
                    <a:p>
                      <a:pPr algn="l" rtl="0" fontAlgn="b">
                        <a:buNone/>
                      </a:pPr>
                      <a:r>
                        <a:rPr lang="es-CO" sz="800" b="0" i="0" u="none" strike="noStrike">
                          <a:solidFill>
                            <a:srgbClr val="000000"/>
                          </a:solidFill>
                          <a:effectLst/>
                          <a:latin typeface="Aptos Narrow" panose="020B0004020202020204" pitchFamily="34" charset="0"/>
                        </a:rPr>
                        <a:t>JAIME ALBERTO OROZCO GUTIERREZ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MEDICINA GENERAL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4</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15%</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43552063"/>
                  </a:ext>
                </a:extLst>
              </a:tr>
              <a:tr h="116840">
                <a:tc>
                  <a:txBody>
                    <a:bodyPr/>
                    <a:lstStyle/>
                    <a:p>
                      <a:pPr algn="l" rtl="0" fontAlgn="b">
                        <a:buNone/>
                      </a:pPr>
                      <a:r>
                        <a:rPr lang="es-CO" sz="800" b="0" i="0" u="none" strike="noStrike">
                          <a:solidFill>
                            <a:srgbClr val="000000"/>
                          </a:solidFill>
                          <a:effectLst/>
                          <a:latin typeface="Aptos Narrow" panose="020B0004020202020204" pitchFamily="34" charset="0"/>
                        </a:rPr>
                        <a:t>ALDEN POOL GOMEZ ALFEREZ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CIRUGIA ONCOLOGICA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2</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8%</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65076736"/>
                  </a:ext>
                </a:extLst>
              </a:tr>
              <a:tr h="116840">
                <a:tc>
                  <a:txBody>
                    <a:bodyPr/>
                    <a:lstStyle/>
                    <a:p>
                      <a:pPr algn="l" rtl="0" fontAlgn="b">
                        <a:buNone/>
                      </a:pPr>
                      <a:r>
                        <a:rPr lang="es-CO" sz="800" b="0" i="0" u="none" strike="noStrike">
                          <a:solidFill>
                            <a:srgbClr val="000000"/>
                          </a:solidFill>
                          <a:effectLst/>
                          <a:latin typeface="Aptos Narrow" panose="020B0004020202020204" pitchFamily="34" charset="0"/>
                        </a:rPr>
                        <a:t>JUAN ESTEBAN OCHOA PIERUCCINI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MEDICINA GENERAL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2</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8%</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08036495"/>
                  </a:ext>
                </a:extLst>
              </a:tr>
              <a:tr h="116840">
                <a:tc>
                  <a:txBody>
                    <a:bodyPr/>
                    <a:lstStyle/>
                    <a:p>
                      <a:pPr algn="l" rtl="0" fontAlgn="b">
                        <a:buNone/>
                      </a:pPr>
                      <a:r>
                        <a:rPr lang="es-CO" sz="800" b="0" i="0" u="none" strike="noStrike">
                          <a:solidFill>
                            <a:srgbClr val="000000"/>
                          </a:solidFill>
                          <a:effectLst/>
                          <a:latin typeface="Aptos Narrow" panose="020B0004020202020204" pitchFamily="34" charset="0"/>
                        </a:rPr>
                        <a:t>MARIA MIGDALIA ALVAREZ                  </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GUIA ESPIRITUAL</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1</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4%</a:t>
                      </a:r>
                    </a:p>
                  </a:txBody>
                  <a:tcPr marL="5842" marR="5842" marT="584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70907243"/>
                  </a:ext>
                </a:extLst>
              </a:tr>
            </a:tbl>
          </a:graphicData>
        </a:graphic>
      </p:graphicFrame>
      <p:sp>
        <p:nvSpPr>
          <p:cNvPr id="4" name="CuadroTexto 3">
            <a:extLst>
              <a:ext uri="{FF2B5EF4-FFF2-40B4-BE49-F238E27FC236}">
                <a16:creationId xmlns:a16="http://schemas.microsoft.com/office/drawing/2014/main" id="{5721CBB4-8D27-ADA2-9A61-59D11C8C6ADE}"/>
              </a:ext>
            </a:extLst>
          </p:cNvPr>
          <p:cNvSpPr txBox="1"/>
          <p:nvPr/>
        </p:nvSpPr>
        <p:spPr>
          <a:xfrm>
            <a:off x="6998742" y="6528657"/>
            <a:ext cx="3638394" cy="276999"/>
          </a:xfrm>
          <a:prstGeom prst="rect">
            <a:avLst/>
          </a:prstGeom>
          <a:noFill/>
        </p:spPr>
        <p:txBody>
          <a:bodyPr wrap="square" lIns="91440" tIns="45720" rIns="91440" bIns="45720" anchor="t">
            <a:spAutoFit/>
          </a:bodyPr>
          <a:lstStyle/>
          <a:p>
            <a:r>
              <a:rPr lang="es-CO" sz="1200" b="1" i="1" noProof="0">
                <a:solidFill>
                  <a:schemeClr val="tx2"/>
                </a:solidFill>
              </a:rPr>
              <a:t>Fuente: </a:t>
            </a:r>
            <a:r>
              <a:rPr lang="es-CO" sz="1200" i="1" noProof="0" err="1">
                <a:solidFill>
                  <a:schemeClr val="tx2"/>
                </a:solidFill>
              </a:rPr>
              <a:t>kerberus</a:t>
            </a:r>
            <a:r>
              <a:rPr lang="es-CO" sz="1200" i="1" noProof="0">
                <a:solidFill>
                  <a:schemeClr val="tx2"/>
                </a:solidFill>
              </a:rPr>
              <a:t> INOOS </a:t>
            </a:r>
            <a:r>
              <a:rPr lang="es-CO" sz="1200" i="1">
                <a:solidFill>
                  <a:schemeClr val="tx2"/>
                </a:solidFill>
              </a:rPr>
              <a:t>Septiembre</a:t>
            </a:r>
            <a:r>
              <a:rPr lang="es-CO" sz="1200" i="1" noProof="0">
                <a:solidFill>
                  <a:schemeClr val="tx2"/>
                </a:solidFill>
              </a:rPr>
              <a:t> 2026</a:t>
            </a:r>
          </a:p>
        </p:txBody>
      </p:sp>
    </p:spTree>
    <p:extLst>
      <p:ext uri="{BB962C8B-B14F-4D97-AF65-F5344CB8AC3E}">
        <p14:creationId xmlns:p14="http://schemas.microsoft.com/office/powerpoint/2010/main" val="343534939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4115D-133A-C7BC-8300-0CC1317F0DEB}"/>
            </a:ext>
          </a:extLst>
        </p:cNvPr>
        <p:cNvGrpSpPr/>
        <p:nvPr/>
      </p:nvGrpSpPr>
      <p:grpSpPr>
        <a:xfrm>
          <a:off x="0" y="0"/>
          <a:ext cx="0" cy="0"/>
          <a:chOff x="0" y="0"/>
          <a:chExt cx="0" cy="0"/>
        </a:xfrm>
      </p:grpSpPr>
      <p:sp>
        <p:nvSpPr>
          <p:cNvPr id="22" name="CuadroTexto 21">
            <a:extLst>
              <a:ext uri="{FF2B5EF4-FFF2-40B4-BE49-F238E27FC236}">
                <a16:creationId xmlns:a16="http://schemas.microsoft.com/office/drawing/2014/main" id="{36EC4591-9E47-F53B-DAE6-2DBD480FBA36}"/>
              </a:ext>
            </a:extLst>
          </p:cNvPr>
          <p:cNvSpPr txBox="1"/>
          <p:nvPr/>
        </p:nvSpPr>
        <p:spPr>
          <a:xfrm>
            <a:off x="7141028" y="1343957"/>
            <a:ext cx="4659086" cy="827678"/>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fontScale="97500"/>
          </a:bodyPr>
          <a:lstStyle>
            <a:defPPr>
              <a:defRPr lang="es-CO"/>
            </a:defPPr>
            <a:lvl1pPr algn="ctr">
              <a:lnSpc>
                <a:spcPct val="90000"/>
              </a:lnSpc>
              <a:spcBef>
                <a:spcPct val="0"/>
              </a:spcBef>
              <a:buNone/>
              <a:defRPr sz="2400" b="1">
                <a:solidFill>
                  <a:srgbClr val="00A19C"/>
                </a:solidFill>
                <a:latin typeface="+mj-lt"/>
                <a:ea typeface="+mj-ea"/>
                <a:cs typeface="+mj-cs"/>
              </a:defRPr>
            </a:lvl1pPr>
          </a:lstStyle>
          <a:p>
            <a:r>
              <a:rPr lang="es-MX"/>
              <a:t>DISPONIBILIDAD SEDE CAUCA</a:t>
            </a:r>
            <a:endParaRPr lang="es-CO"/>
          </a:p>
        </p:txBody>
      </p:sp>
      <p:sp>
        <p:nvSpPr>
          <p:cNvPr id="8" name="CuadroTexto 7">
            <a:extLst>
              <a:ext uri="{FF2B5EF4-FFF2-40B4-BE49-F238E27FC236}">
                <a16:creationId xmlns:a16="http://schemas.microsoft.com/office/drawing/2014/main" id="{0D9B7D3D-9AD3-6F56-CFCA-CA84CC0CF9E9}"/>
              </a:ext>
            </a:extLst>
          </p:cNvPr>
          <p:cNvSpPr txBox="1"/>
          <p:nvPr/>
        </p:nvSpPr>
        <p:spPr>
          <a:xfrm>
            <a:off x="7506551" y="1930921"/>
            <a:ext cx="3928039" cy="1384995"/>
          </a:xfrm>
          <a:prstGeom prst="rect">
            <a:avLst/>
          </a:prstGeom>
          <a:noFill/>
        </p:spPr>
        <p:txBody>
          <a:bodyPr wrap="square">
            <a:spAutoFit/>
          </a:bodyPr>
          <a:lstStyle/>
          <a:p>
            <a:pPr algn="just"/>
            <a:r>
              <a:rPr lang="es-MX" sz="1400"/>
              <a:t>Durante el mes de Septiembre se dispuso de </a:t>
            </a:r>
            <a:r>
              <a:rPr lang="es-MX" sz="1400" b="1"/>
              <a:t>26 hábiles laborables</a:t>
            </a:r>
            <a:r>
              <a:rPr lang="es-MX" sz="1400"/>
              <a:t>, periodo sobre el cual se evaluó el </a:t>
            </a:r>
            <a:r>
              <a:rPr lang="es-MX" sz="1400" b="1"/>
              <a:t>porcentaje de disponibilidad por especialista</a:t>
            </a:r>
            <a:r>
              <a:rPr lang="es-MX" sz="1400"/>
              <a:t>, considerando los días efectivos de atención registrados por cada uno</a:t>
            </a:r>
          </a:p>
          <a:p>
            <a:endParaRPr lang="es-CO" sz="1400"/>
          </a:p>
        </p:txBody>
      </p:sp>
      <p:sp>
        <p:nvSpPr>
          <p:cNvPr id="7" name="Título 1">
            <a:extLst>
              <a:ext uri="{FF2B5EF4-FFF2-40B4-BE49-F238E27FC236}">
                <a16:creationId xmlns:a16="http://schemas.microsoft.com/office/drawing/2014/main" id="{69857A89-CC61-438A-93A0-C39CEC8552F4}"/>
              </a:ext>
            </a:extLst>
          </p:cNvPr>
          <p:cNvSpPr txBox="1">
            <a:spLocks/>
          </p:cNvSpPr>
          <p:nvPr/>
        </p:nvSpPr>
        <p:spPr>
          <a:xfrm>
            <a:off x="415163" y="401901"/>
            <a:ext cx="4395020" cy="369120"/>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fontScale="75000" lnSpcReduction="20000"/>
          </a:bodyPr>
          <a:lstStyle>
            <a:defPPr>
              <a:defRPr lang="es-CO"/>
            </a:defPPr>
            <a:lvl1pPr algn="ctr">
              <a:lnSpc>
                <a:spcPct val="90000"/>
              </a:lnSpc>
              <a:spcBef>
                <a:spcPct val="0"/>
              </a:spcBef>
              <a:buNone/>
              <a:defRPr sz="3200" b="1">
                <a:solidFill>
                  <a:srgbClr val="00A19C"/>
                </a:solidFill>
                <a:latin typeface="+mj-lt"/>
                <a:ea typeface="+mj-ea"/>
                <a:cs typeface="+mj-cs"/>
              </a:defRPr>
            </a:lvl1pPr>
          </a:lstStyle>
          <a:p>
            <a:r>
              <a:rPr lang="es-CO"/>
              <a:t>INDICADORES CALL CENTER</a:t>
            </a:r>
          </a:p>
        </p:txBody>
      </p:sp>
      <p:sp>
        <p:nvSpPr>
          <p:cNvPr id="11" name="Título 1">
            <a:extLst>
              <a:ext uri="{FF2B5EF4-FFF2-40B4-BE49-F238E27FC236}">
                <a16:creationId xmlns:a16="http://schemas.microsoft.com/office/drawing/2014/main" id="{429E8DAC-A7CC-DCCC-BD35-0B17993C2CE1}"/>
              </a:ext>
            </a:extLst>
          </p:cNvPr>
          <p:cNvSpPr txBox="1">
            <a:spLocks/>
          </p:cNvSpPr>
          <p:nvPr/>
        </p:nvSpPr>
        <p:spPr>
          <a:xfrm>
            <a:off x="1212358" y="636501"/>
            <a:ext cx="4395020" cy="369120"/>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1800">
                <a:solidFill>
                  <a:schemeClr val="bg1">
                    <a:lumMod val="50000"/>
                  </a:schemeClr>
                </a:solidFill>
              </a:rPr>
              <a:t>DISPONIBILIDAD POR ESPECIALISTA</a:t>
            </a:r>
          </a:p>
        </p:txBody>
      </p:sp>
      <p:graphicFrame>
        <p:nvGraphicFramePr>
          <p:cNvPr id="2" name="Tabla 1">
            <a:extLst>
              <a:ext uri="{FF2B5EF4-FFF2-40B4-BE49-F238E27FC236}">
                <a16:creationId xmlns:a16="http://schemas.microsoft.com/office/drawing/2014/main" id="{AF76A435-B970-5DAA-F1EE-B5A4888B65FD}"/>
              </a:ext>
            </a:extLst>
          </p:cNvPr>
          <p:cNvGraphicFramePr>
            <a:graphicFrameLocks noGrp="1"/>
          </p:cNvGraphicFramePr>
          <p:nvPr/>
        </p:nvGraphicFramePr>
        <p:xfrm>
          <a:off x="1163628" y="1101349"/>
          <a:ext cx="6160161" cy="4673604"/>
        </p:xfrm>
        <a:graphic>
          <a:graphicData uri="http://schemas.openxmlformats.org/drawingml/2006/table">
            <a:tbl>
              <a:tblPr/>
              <a:tblGrid>
                <a:gridCol w="2040451">
                  <a:extLst>
                    <a:ext uri="{9D8B030D-6E8A-4147-A177-3AD203B41FA5}">
                      <a16:colId xmlns:a16="http://schemas.microsoft.com/office/drawing/2014/main" val="554985682"/>
                    </a:ext>
                  </a:extLst>
                </a:gridCol>
                <a:gridCol w="2213489">
                  <a:extLst>
                    <a:ext uri="{9D8B030D-6E8A-4147-A177-3AD203B41FA5}">
                      <a16:colId xmlns:a16="http://schemas.microsoft.com/office/drawing/2014/main" val="268989037"/>
                    </a:ext>
                  </a:extLst>
                </a:gridCol>
                <a:gridCol w="811726">
                  <a:extLst>
                    <a:ext uri="{9D8B030D-6E8A-4147-A177-3AD203B41FA5}">
                      <a16:colId xmlns:a16="http://schemas.microsoft.com/office/drawing/2014/main" val="3002095180"/>
                    </a:ext>
                  </a:extLst>
                </a:gridCol>
                <a:gridCol w="1094495">
                  <a:extLst>
                    <a:ext uri="{9D8B030D-6E8A-4147-A177-3AD203B41FA5}">
                      <a16:colId xmlns:a16="http://schemas.microsoft.com/office/drawing/2014/main" val="3041084490"/>
                    </a:ext>
                  </a:extLst>
                </a:gridCol>
              </a:tblGrid>
              <a:tr h="179754">
                <a:tc>
                  <a:txBody>
                    <a:bodyPr/>
                    <a:lstStyle/>
                    <a:p>
                      <a:pPr algn="ctr" rtl="0" fontAlgn="ctr">
                        <a:buNone/>
                      </a:pPr>
                      <a:r>
                        <a:rPr lang="es-CO" sz="800" b="0" i="0" u="none" strike="noStrike">
                          <a:solidFill>
                            <a:srgbClr val="000000"/>
                          </a:solidFill>
                          <a:effectLst/>
                          <a:latin typeface="Aptos" panose="020B0004020202020204" pitchFamily="34" charset="0"/>
                        </a:rPr>
                        <a:t>ESPECIALISTA </a:t>
                      </a:r>
                    </a:p>
                  </a:txBody>
                  <a:tcPr marL="8988" marR="8988" marT="89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Narrow" panose="020B0004020202020204" pitchFamily="34" charset="0"/>
                        </a:rPr>
                        <a:t>ESPECIALIDAD</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Narrow" panose="020B0004020202020204" pitchFamily="34" charset="0"/>
                        </a:rPr>
                        <a:t>DIAS DISPONIBLES</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CO" sz="800" b="0" i="0" u="none" strike="noStrike">
                          <a:solidFill>
                            <a:srgbClr val="000000"/>
                          </a:solidFill>
                          <a:effectLst/>
                          <a:latin typeface="Aptos" panose="020B0004020202020204" pitchFamily="34" charset="0"/>
                        </a:rPr>
                        <a:t>% DISPONIBILIDAD</a:t>
                      </a:r>
                    </a:p>
                  </a:txBody>
                  <a:tcPr marL="8988" marR="8988" marT="89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29847918"/>
                  </a:ext>
                </a:extLst>
              </a:tr>
              <a:tr h="179754">
                <a:tc>
                  <a:txBody>
                    <a:bodyPr/>
                    <a:lstStyle/>
                    <a:p>
                      <a:pPr algn="l" rtl="0" fontAlgn="b">
                        <a:buNone/>
                      </a:pPr>
                      <a:r>
                        <a:rPr lang="es-CO" sz="800" b="0" i="0" u="none" strike="noStrike">
                          <a:solidFill>
                            <a:srgbClr val="000000"/>
                          </a:solidFill>
                          <a:effectLst/>
                          <a:latin typeface="Aptos Narrow" panose="020B0004020202020204" pitchFamily="34" charset="0"/>
                        </a:rPr>
                        <a:t>EMELY ANDREA HURTADO CERON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TRABAJO SOCIAL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22</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85%</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09933724"/>
                  </a:ext>
                </a:extLst>
              </a:tr>
              <a:tr h="179754">
                <a:tc>
                  <a:txBody>
                    <a:bodyPr/>
                    <a:lstStyle/>
                    <a:p>
                      <a:pPr algn="l" rtl="0" fontAlgn="b">
                        <a:buNone/>
                      </a:pPr>
                      <a:r>
                        <a:rPr lang="es-CO" sz="800" b="0" i="0" u="none" strike="noStrike">
                          <a:solidFill>
                            <a:srgbClr val="000000"/>
                          </a:solidFill>
                          <a:effectLst/>
                          <a:latin typeface="Aptos Narrow" panose="020B0004020202020204" pitchFamily="34" charset="0"/>
                        </a:rPr>
                        <a:t>YULI ALEXANDRA ROJAS NARVAEZ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PSICOLOGIA</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22</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85%</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47567154"/>
                  </a:ext>
                </a:extLst>
              </a:tr>
              <a:tr h="179754">
                <a:tc>
                  <a:txBody>
                    <a:bodyPr/>
                    <a:lstStyle/>
                    <a:p>
                      <a:pPr algn="l" rtl="0" fontAlgn="b">
                        <a:buNone/>
                      </a:pPr>
                      <a:r>
                        <a:rPr lang="es-CO" sz="800" b="0" i="0" u="none" strike="noStrike">
                          <a:solidFill>
                            <a:srgbClr val="000000"/>
                          </a:solidFill>
                          <a:effectLst/>
                          <a:latin typeface="Aptos Narrow" panose="020B0004020202020204" pitchFamily="34" charset="0"/>
                        </a:rPr>
                        <a:t>GENNY FERNANDA LEDEZMA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PSICOLOGIA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22</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85%</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28766400"/>
                  </a:ext>
                </a:extLst>
              </a:tr>
              <a:tr h="179754">
                <a:tc>
                  <a:txBody>
                    <a:bodyPr/>
                    <a:lstStyle/>
                    <a:p>
                      <a:pPr algn="l" rtl="0" fontAlgn="b">
                        <a:buNone/>
                      </a:pPr>
                      <a:r>
                        <a:rPr lang="es-CO" sz="800" b="0" i="0" u="none" strike="noStrike">
                          <a:solidFill>
                            <a:srgbClr val="000000"/>
                          </a:solidFill>
                          <a:effectLst/>
                          <a:latin typeface="Aptos Narrow" panose="020B0004020202020204" pitchFamily="34" charset="0"/>
                        </a:rPr>
                        <a:t>JULIETH VALENTINA CORDOBA MORILLO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NUTRICION Y DIETETICA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22</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85%</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22534564"/>
                  </a:ext>
                </a:extLst>
              </a:tr>
              <a:tr h="179754">
                <a:tc>
                  <a:txBody>
                    <a:bodyPr/>
                    <a:lstStyle/>
                    <a:p>
                      <a:pPr algn="l" rtl="0" fontAlgn="b">
                        <a:buNone/>
                      </a:pPr>
                      <a:r>
                        <a:rPr lang="es-CO" sz="800" b="0" i="0" u="none" strike="noStrike">
                          <a:solidFill>
                            <a:srgbClr val="000000"/>
                          </a:solidFill>
                          <a:effectLst/>
                          <a:latin typeface="Aptos Narrow" panose="020B0004020202020204" pitchFamily="34" charset="0"/>
                        </a:rPr>
                        <a:t>KATHERIN DAYANA MELO ARCE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TRABAJO SOCIAL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20</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77%</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31296537"/>
                  </a:ext>
                </a:extLst>
              </a:tr>
              <a:tr h="179754">
                <a:tc>
                  <a:txBody>
                    <a:bodyPr/>
                    <a:lstStyle/>
                    <a:p>
                      <a:pPr algn="l" rtl="0" fontAlgn="b">
                        <a:buNone/>
                      </a:pPr>
                      <a:r>
                        <a:rPr lang="es-CO" sz="800" b="0" i="0" u="none" strike="noStrike">
                          <a:solidFill>
                            <a:srgbClr val="000000"/>
                          </a:solidFill>
                          <a:effectLst/>
                          <a:latin typeface="Aptos Narrow" panose="020B0004020202020204" pitchFamily="34" charset="0"/>
                        </a:rPr>
                        <a:t>DAYANA  ERAZO BOLAÑOS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NUTRICION Y DIETETICA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22</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85%</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79650632"/>
                  </a:ext>
                </a:extLst>
              </a:tr>
              <a:tr h="179754">
                <a:tc>
                  <a:txBody>
                    <a:bodyPr/>
                    <a:lstStyle/>
                    <a:p>
                      <a:pPr algn="l" rtl="0" fontAlgn="b">
                        <a:buNone/>
                      </a:pPr>
                      <a:r>
                        <a:rPr lang="es-CO" sz="800" b="0" i="0" u="none" strike="noStrike">
                          <a:solidFill>
                            <a:srgbClr val="000000"/>
                          </a:solidFill>
                          <a:effectLst/>
                          <a:latin typeface="Aptos Narrow" panose="020B0004020202020204" pitchFamily="34" charset="0"/>
                        </a:rPr>
                        <a:t>ALBA LUZ MARIN ORDOÑEZ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ONCOLOGIA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5</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19%</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54742672"/>
                  </a:ext>
                </a:extLst>
              </a:tr>
              <a:tr h="179754">
                <a:tc>
                  <a:txBody>
                    <a:bodyPr/>
                    <a:lstStyle/>
                    <a:p>
                      <a:pPr algn="l" rtl="0" fontAlgn="b">
                        <a:buNone/>
                      </a:pPr>
                      <a:r>
                        <a:rPr lang="es-CO" sz="800" b="0" i="0" u="none" strike="noStrike">
                          <a:solidFill>
                            <a:srgbClr val="000000"/>
                          </a:solidFill>
                          <a:effectLst/>
                          <a:latin typeface="Aptos Narrow" panose="020B0004020202020204" pitchFamily="34" charset="0"/>
                        </a:rPr>
                        <a:t>OSCAR EDUARDO ROA ACOSTA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ONCOLOGIA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5</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19%</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78139470"/>
                  </a:ext>
                </a:extLst>
              </a:tr>
              <a:tr h="179754">
                <a:tc>
                  <a:txBody>
                    <a:bodyPr/>
                    <a:lstStyle/>
                    <a:p>
                      <a:pPr algn="l" rtl="0" fontAlgn="b">
                        <a:buNone/>
                      </a:pPr>
                      <a:r>
                        <a:rPr lang="es-CO" sz="800" b="0" i="0" u="none" strike="noStrike">
                          <a:solidFill>
                            <a:srgbClr val="000000"/>
                          </a:solidFill>
                          <a:effectLst/>
                          <a:latin typeface="Aptos Narrow" panose="020B0004020202020204" pitchFamily="34" charset="0"/>
                        </a:rPr>
                        <a:t>MARIA MONICA REY ATEHORTUA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DOLOR Y CUIDADOS PALIATIVOS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5</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19%</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83348395"/>
                  </a:ext>
                </a:extLst>
              </a:tr>
              <a:tr h="179754">
                <a:tc>
                  <a:txBody>
                    <a:bodyPr/>
                    <a:lstStyle/>
                    <a:p>
                      <a:pPr algn="l" rtl="0" fontAlgn="b">
                        <a:buNone/>
                      </a:pPr>
                      <a:r>
                        <a:rPr lang="es-CO" sz="800" b="0" i="0" u="none" strike="noStrike">
                          <a:solidFill>
                            <a:srgbClr val="000000"/>
                          </a:solidFill>
                          <a:effectLst/>
                          <a:latin typeface="Aptos Narrow" panose="020B0004020202020204" pitchFamily="34" charset="0"/>
                        </a:rPr>
                        <a:t>FABIO ERNESTO OTERO ANDRADE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UROLOGIA ONCOLOGICA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7</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27%</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61633111"/>
                  </a:ext>
                </a:extLst>
              </a:tr>
              <a:tr h="179754">
                <a:tc>
                  <a:txBody>
                    <a:bodyPr/>
                    <a:lstStyle/>
                    <a:p>
                      <a:pPr algn="l" rtl="0" fontAlgn="b">
                        <a:buNone/>
                      </a:pPr>
                      <a:r>
                        <a:rPr lang="es-CO" sz="800" b="0" i="0" u="none" strike="noStrike">
                          <a:solidFill>
                            <a:srgbClr val="000000"/>
                          </a:solidFill>
                          <a:effectLst/>
                          <a:latin typeface="Aptos Narrow" panose="020B0004020202020204" pitchFamily="34" charset="0"/>
                        </a:rPr>
                        <a:t>JULIAN ANDRES MEZA RODRIGUEZ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CIRUGIA ONCOLOGICA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2</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8%</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3788934"/>
                  </a:ext>
                </a:extLst>
              </a:tr>
              <a:tr h="179754">
                <a:tc>
                  <a:txBody>
                    <a:bodyPr/>
                    <a:lstStyle/>
                    <a:p>
                      <a:pPr algn="l" rtl="0" fontAlgn="b">
                        <a:buNone/>
                      </a:pPr>
                      <a:r>
                        <a:rPr lang="es-CO" sz="800" b="0" i="0" u="none" strike="noStrike">
                          <a:solidFill>
                            <a:srgbClr val="000000"/>
                          </a:solidFill>
                          <a:effectLst/>
                          <a:latin typeface="Aptos Narrow" panose="020B0004020202020204" pitchFamily="34" charset="0"/>
                        </a:rPr>
                        <a:t>MIGUEL ANGEL SAAVEDRA HURTADO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HEMATO ONCOLOGIA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7</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27%</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00060392"/>
                  </a:ext>
                </a:extLst>
              </a:tr>
              <a:tr h="179754">
                <a:tc>
                  <a:txBody>
                    <a:bodyPr/>
                    <a:lstStyle/>
                    <a:p>
                      <a:pPr algn="l" rtl="0" fontAlgn="b">
                        <a:buNone/>
                      </a:pPr>
                      <a:r>
                        <a:rPr lang="es-CO" sz="800" b="0" i="0" u="none" strike="noStrike">
                          <a:solidFill>
                            <a:srgbClr val="000000"/>
                          </a:solidFill>
                          <a:effectLst/>
                          <a:latin typeface="Aptos Narrow" panose="020B0004020202020204" pitchFamily="34" charset="0"/>
                        </a:rPr>
                        <a:t>ANGEL OMAR JAIMES RAMIREZ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DERMATOLOGIA ONCOLOGICA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1</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4%</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2311035"/>
                  </a:ext>
                </a:extLst>
              </a:tr>
              <a:tr h="179754">
                <a:tc>
                  <a:txBody>
                    <a:bodyPr/>
                    <a:lstStyle/>
                    <a:p>
                      <a:pPr algn="l" rtl="0" fontAlgn="b">
                        <a:buNone/>
                      </a:pPr>
                      <a:r>
                        <a:rPr lang="es-CO" sz="800" b="0" i="0" u="none" strike="noStrike">
                          <a:solidFill>
                            <a:srgbClr val="000000"/>
                          </a:solidFill>
                          <a:effectLst/>
                          <a:latin typeface="Aptos Narrow" panose="020B0004020202020204" pitchFamily="34" charset="0"/>
                        </a:rPr>
                        <a:t>ANGIE VALENTINA PINO INSUASTI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PSICOLOGIA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8</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31%</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24985633"/>
                  </a:ext>
                </a:extLst>
              </a:tr>
              <a:tr h="179754">
                <a:tc>
                  <a:txBody>
                    <a:bodyPr/>
                    <a:lstStyle/>
                    <a:p>
                      <a:pPr algn="l" rtl="0" fontAlgn="b">
                        <a:buNone/>
                      </a:pPr>
                      <a:r>
                        <a:rPr lang="es-CO" sz="800" b="0" i="0" u="none" strike="noStrike">
                          <a:solidFill>
                            <a:srgbClr val="000000"/>
                          </a:solidFill>
                          <a:effectLst/>
                          <a:latin typeface="Aptos Narrow" panose="020B0004020202020204" pitchFamily="34" charset="0"/>
                        </a:rPr>
                        <a:t>FERNANDA XIMENA BRAVO MUÑOZ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MASTOLOGIA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3</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12%</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71587532"/>
                  </a:ext>
                </a:extLst>
              </a:tr>
              <a:tr h="179754">
                <a:tc>
                  <a:txBody>
                    <a:bodyPr/>
                    <a:lstStyle/>
                    <a:p>
                      <a:pPr algn="l" rtl="0" fontAlgn="b">
                        <a:buNone/>
                      </a:pPr>
                      <a:r>
                        <a:rPr lang="es-CO" sz="800" b="0" i="0" u="none" strike="noStrike">
                          <a:solidFill>
                            <a:srgbClr val="000000"/>
                          </a:solidFill>
                          <a:effectLst/>
                          <a:latin typeface="Aptos Narrow" panose="020B0004020202020204" pitchFamily="34" charset="0"/>
                        </a:rPr>
                        <a:t>OTTO GABRIEL MONZON BRAVO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GINECOLOGIA ONCOLOGICA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2</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8%</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77601771"/>
                  </a:ext>
                </a:extLst>
              </a:tr>
              <a:tr h="179754">
                <a:tc>
                  <a:txBody>
                    <a:bodyPr/>
                    <a:lstStyle/>
                    <a:p>
                      <a:pPr algn="l" rtl="0" fontAlgn="b">
                        <a:buNone/>
                      </a:pPr>
                      <a:r>
                        <a:rPr lang="es-CO" sz="800" b="0" i="0" u="none" strike="noStrike">
                          <a:solidFill>
                            <a:srgbClr val="000000"/>
                          </a:solidFill>
                          <a:effectLst/>
                          <a:latin typeface="Aptos Narrow" panose="020B0004020202020204" pitchFamily="34" charset="0"/>
                        </a:rPr>
                        <a:t>GABRIELA ALEJANDRA ORTEGA SANTANDER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MEDICINA GENERAL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6</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23%</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34119417"/>
                  </a:ext>
                </a:extLst>
              </a:tr>
              <a:tr h="179754">
                <a:tc>
                  <a:txBody>
                    <a:bodyPr/>
                    <a:lstStyle/>
                    <a:p>
                      <a:pPr algn="l" rtl="0" fontAlgn="b">
                        <a:buNone/>
                      </a:pPr>
                      <a:r>
                        <a:rPr lang="es-CO" sz="800" b="0" i="0" u="none" strike="noStrike">
                          <a:solidFill>
                            <a:srgbClr val="000000"/>
                          </a:solidFill>
                          <a:effectLst/>
                          <a:latin typeface="Aptos Narrow" panose="020B0004020202020204" pitchFamily="34" charset="0"/>
                        </a:rPr>
                        <a:t>EDISON GILBERTO ARDILA TRUJILLO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GINECOLOGIA ONCOLOGICA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2</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8%</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76872034"/>
                  </a:ext>
                </a:extLst>
              </a:tr>
              <a:tr h="179754">
                <a:tc>
                  <a:txBody>
                    <a:bodyPr/>
                    <a:lstStyle/>
                    <a:p>
                      <a:pPr algn="l" rtl="0" fontAlgn="b">
                        <a:buNone/>
                      </a:pPr>
                      <a:r>
                        <a:rPr lang="es-CO" sz="800" b="0" i="0" u="none" strike="noStrike">
                          <a:solidFill>
                            <a:srgbClr val="000000"/>
                          </a:solidFill>
                          <a:effectLst/>
                          <a:latin typeface="Aptos Narrow" panose="020B0004020202020204" pitchFamily="34" charset="0"/>
                        </a:rPr>
                        <a:t>LAURA NATALY GARCIA GUEVARA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MEDICINA GENERAL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3</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12%</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75025901"/>
                  </a:ext>
                </a:extLst>
              </a:tr>
              <a:tr h="179754">
                <a:tc>
                  <a:txBody>
                    <a:bodyPr/>
                    <a:lstStyle/>
                    <a:p>
                      <a:pPr algn="l" rtl="0" fontAlgn="b">
                        <a:buNone/>
                      </a:pPr>
                      <a:r>
                        <a:rPr lang="es-CO" sz="800" b="0" i="0" u="none" strike="noStrike">
                          <a:solidFill>
                            <a:srgbClr val="000000"/>
                          </a:solidFill>
                          <a:effectLst/>
                          <a:latin typeface="Aptos Narrow" panose="020B0004020202020204" pitchFamily="34" charset="0"/>
                        </a:rPr>
                        <a:t>JOHAN EDUARDO COLIMBA CADENA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MEDICINA GENERAL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2</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8%</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57790867"/>
                  </a:ext>
                </a:extLst>
              </a:tr>
              <a:tr h="179754">
                <a:tc>
                  <a:txBody>
                    <a:bodyPr/>
                    <a:lstStyle/>
                    <a:p>
                      <a:pPr algn="l" rtl="0" fontAlgn="b">
                        <a:buNone/>
                      </a:pPr>
                      <a:r>
                        <a:rPr lang="es-CO" sz="800" b="0" i="0" u="none" strike="noStrike">
                          <a:solidFill>
                            <a:srgbClr val="000000"/>
                          </a:solidFill>
                          <a:effectLst/>
                          <a:latin typeface="Aptos Narrow" panose="020B0004020202020204" pitchFamily="34" charset="0"/>
                        </a:rPr>
                        <a:t>ANDRES FELIPE VARELA OSORIO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ORTOPEDIA ONCOLOGICA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1</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4%</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5625972"/>
                  </a:ext>
                </a:extLst>
              </a:tr>
              <a:tr h="179754">
                <a:tc>
                  <a:txBody>
                    <a:bodyPr/>
                    <a:lstStyle/>
                    <a:p>
                      <a:pPr algn="l" rtl="0" fontAlgn="b">
                        <a:buNone/>
                      </a:pPr>
                      <a:r>
                        <a:rPr lang="es-CO" sz="800" b="0" i="0" u="none" strike="noStrike">
                          <a:solidFill>
                            <a:srgbClr val="000000"/>
                          </a:solidFill>
                          <a:effectLst/>
                          <a:latin typeface="Aptos Narrow" panose="020B0004020202020204" pitchFamily="34" charset="0"/>
                        </a:rPr>
                        <a:t>MARIA PAULA TRUJILLO GARCIA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MEDICINA GENERAL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2</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8%</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89052424"/>
                  </a:ext>
                </a:extLst>
              </a:tr>
              <a:tr h="179754">
                <a:tc>
                  <a:txBody>
                    <a:bodyPr/>
                    <a:lstStyle/>
                    <a:p>
                      <a:pPr algn="l" rtl="0" fontAlgn="b">
                        <a:buNone/>
                      </a:pPr>
                      <a:r>
                        <a:rPr lang="es-CO" sz="800" b="0" i="0" u="none" strike="noStrike">
                          <a:solidFill>
                            <a:srgbClr val="000000"/>
                          </a:solidFill>
                          <a:effectLst/>
                          <a:latin typeface="Aptos Narrow" panose="020B0004020202020204" pitchFamily="34" charset="0"/>
                        </a:rPr>
                        <a:t>CATHERINE LISBETH TAPIA CAIPE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MEDICINA GENERAL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1</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4%</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47317428"/>
                  </a:ext>
                </a:extLst>
              </a:tr>
              <a:tr h="179754">
                <a:tc>
                  <a:txBody>
                    <a:bodyPr/>
                    <a:lstStyle/>
                    <a:p>
                      <a:pPr algn="l" rtl="0" fontAlgn="b">
                        <a:buNone/>
                      </a:pPr>
                      <a:r>
                        <a:rPr lang="es-CO" sz="800" b="0" i="0" u="none" strike="noStrike">
                          <a:solidFill>
                            <a:srgbClr val="000000"/>
                          </a:solidFill>
                          <a:effectLst/>
                          <a:latin typeface="Aptos Narrow" panose="020B0004020202020204" pitchFamily="34" charset="0"/>
                        </a:rPr>
                        <a:t>JAIME ALBERTO OROZCO GUTIERREZ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MEDICINA GENERAL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1</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4%</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66172075"/>
                  </a:ext>
                </a:extLst>
              </a:tr>
              <a:tr h="179754">
                <a:tc>
                  <a:txBody>
                    <a:bodyPr/>
                    <a:lstStyle/>
                    <a:p>
                      <a:pPr algn="l" rtl="0" fontAlgn="b">
                        <a:buNone/>
                      </a:pPr>
                      <a:r>
                        <a:rPr lang="es-CO" sz="800" b="0" i="0" u="none" strike="noStrike">
                          <a:solidFill>
                            <a:srgbClr val="000000"/>
                          </a:solidFill>
                          <a:effectLst/>
                          <a:latin typeface="Aptos Narrow" panose="020B0004020202020204" pitchFamily="34" charset="0"/>
                        </a:rPr>
                        <a:t>MARIA CHARITY KATHERINE BETANCOURT GALLE</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O" sz="800" b="0" i="0" u="none" strike="noStrike">
                          <a:solidFill>
                            <a:srgbClr val="000000"/>
                          </a:solidFill>
                          <a:effectLst/>
                          <a:latin typeface="Aptos Narrow" panose="020B0004020202020204" pitchFamily="34" charset="0"/>
                        </a:rPr>
                        <a:t>MEDICINA GENERAL                                                      </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800" b="0" i="0" u="none" strike="noStrike">
                          <a:solidFill>
                            <a:srgbClr val="000000"/>
                          </a:solidFill>
                          <a:effectLst/>
                          <a:latin typeface="Aptos" panose="020B0004020202020204" pitchFamily="34" charset="0"/>
                        </a:rPr>
                        <a:t>1</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buNone/>
                      </a:pPr>
                      <a:r>
                        <a:rPr lang="es-CO" sz="800" b="1" i="0" u="none" strike="noStrike">
                          <a:solidFill>
                            <a:srgbClr val="00A19C"/>
                          </a:solidFill>
                          <a:effectLst/>
                          <a:latin typeface="Calibri" panose="020F0502020204030204" pitchFamily="34" charset="0"/>
                        </a:rPr>
                        <a:t>4%</a:t>
                      </a:r>
                    </a:p>
                  </a:txBody>
                  <a:tcPr marL="8988" marR="8988" marT="89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17116979"/>
                  </a:ext>
                </a:extLst>
              </a:tr>
            </a:tbl>
          </a:graphicData>
        </a:graphic>
      </p:graphicFrame>
      <p:sp>
        <p:nvSpPr>
          <p:cNvPr id="4" name="CuadroTexto 3">
            <a:extLst>
              <a:ext uri="{FF2B5EF4-FFF2-40B4-BE49-F238E27FC236}">
                <a16:creationId xmlns:a16="http://schemas.microsoft.com/office/drawing/2014/main" id="{C1E7F525-20F7-2049-0611-1994F1E9C9A6}"/>
              </a:ext>
            </a:extLst>
          </p:cNvPr>
          <p:cNvSpPr txBox="1"/>
          <p:nvPr/>
        </p:nvSpPr>
        <p:spPr>
          <a:xfrm>
            <a:off x="6998742" y="6528657"/>
            <a:ext cx="3638394" cy="276999"/>
          </a:xfrm>
          <a:prstGeom prst="rect">
            <a:avLst/>
          </a:prstGeom>
          <a:noFill/>
        </p:spPr>
        <p:txBody>
          <a:bodyPr wrap="square" lIns="91440" tIns="45720" rIns="91440" bIns="45720" anchor="t">
            <a:spAutoFit/>
          </a:bodyPr>
          <a:lstStyle/>
          <a:p>
            <a:r>
              <a:rPr lang="es-CO" sz="1200" b="1" i="1" noProof="0">
                <a:solidFill>
                  <a:schemeClr val="tx2"/>
                </a:solidFill>
              </a:rPr>
              <a:t>Fuente: </a:t>
            </a:r>
            <a:r>
              <a:rPr lang="es-CO" sz="1200" i="1" noProof="0" err="1">
                <a:solidFill>
                  <a:schemeClr val="tx2"/>
                </a:solidFill>
              </a:rPr>
              <a:t>kerberus</a:t>
            </a:r>
            <a:r>
              <a:rPr lang="es-CO" sz="1200" i="1" noProof="0">
                <a:solidFill>
                  <a:schemeClr val="tx2"/>
                </a:solidFill>
              </a:rPr>
              <a:t> INOOS </a:t>
            </a:r>
            <a:r>
              <a:rPr lang="es-CO" sz="1200" i="1">
                <a:solidFill>
                  <a:schemeClr val="tx2"/>
                </a:solidFill>
              </a:rPr>
              <a:t>Septiembre</a:t>
            </a:r>
            <a:r>
              <a:rPr lang="es-CO" sz="1200" i="1" noProof="0">
                <a:solidFill>
                  <a:schemeClr val="tx2"/>
                </a:solidFill>
              </a:rPr>
              <a:t> 2026</a:t>
            </a:r>
          </a:p>
        </p:txBody>
      </p:sp>
    </p:spTree>
    <p:extLst>
      <p:ext uri="{BB962C8B-B14F-4D97-AF65-F5344CB8AC3E}">
        <p14:creationId xmlns:p14="http://schemas.microsoft.com/office/powerpoint/2010/main" val="311732328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DA0E91E7-311E-2F4D-E00A-C54F8B938AD6}"/>
              </a:ext>
            </a:extLst>
          </p:cNvPr>
          <p:cNvSpPr/>
          <p:nvPr/>
        </p:nvSpPr>
        <p:spPr>
          <a:xfrm>
            <a:off x="118092" y="604324"/>
            <a:ext cx="11912854" cy="2423781"/>
          </a:xfrm>
          <a:prstGeom prst="rect">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graphicFrame>
        <p:nvGraphicFramePr>
          <p:cNvPr id="24" name="Gráfico 23">
            <a:extLst>
              <a:ext uri="{FF2B5EF4-FFF2-40B4-BE49-F238E27FC236}">
                <a16:creationId xmlns:a16="http://schemas.microsoft.com/office/drawing/2014/main" id="{5FDE6BBA-2DF9-3D7E-CB86-65523CE13D4C}"/>
              </a:ext>
            </a:extLst>
          </p:cNvPr>
          <p:cNvGraphicFramePr>
            <a:graphicFrameLocks/>
          </p:cNvGraphicFramePr>
          <p:nvPr/>
        </p:nvGraphicFramePr>
        <p:xfrm>
          <a:off x="0" y="4777249"/>
          <a:ext cx="4255980" cy="173068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6" name="Gráfico 25">
            <a:extLst>
              <a:ext uri="{FF2B5EF4-FFF2-40B4-BE49-F238E27FC236}">
                <a16:creationId xmlns:a16="http://schemas.microsoft.com/office/drawing/2014/main" id="{0D955BE2-271F-9382-BADA-7A72B9549199}"/>
              </a:ext>
            </a:extLst>
          </p:cNvPr>
          <p:cNvGraphicFramePr>
            <a:graphicFrameLocks/>
          </p:cNvGraphicFramePr>
          <p:nvPr/>
        </p:nvGraphicFramePr>
        <p:xfrm>
          <a:off x="0" y="3232153"/>
          <a:ext cx="4268299" cy="1545096"/>
        </p:xfrm>
        <a:graphic>
          <a:graphicData uri="http://schemas.openxmlformats.org/drawingml/2006/chart">
            <c:chart xmlns:c="http://schemas.openxmlformats.org/drawingml/2006/chart" xmlns:r="http://schemas.openxmlformats.org/officeDocument/2006/relationships" r:id="rId3"/>
          </a:graphicData>
        </a:graphic>
      </p:graphicFrame>
      <p:sp>
        <p:nvSpPr>
          <p:cNvPr id="28" name="Título 1">
            <a:extLst>
              <a:ext uri="{FF2B5EF4-FFF2-40B4-BE49-F238E27FC236}">
                <a16:creationId xmlns:a16="http://schemas.microsoft.com/office/drawing/2014/main" id="{973D9524-BBD2-3B8A-C1A2-D18B54B223F4}"/>
              </a:ext>
            </a:extLst>
          </p:cNvPr>
          <p:cNvSpPr txBox="1">
            <a:spLocks/>
          </p:cNvSpPr>
          <p:nvPr/>
        </p:nvSpPr>
        <p:spPr>
          <a:xfrm>
            <a:off x="-12318" y="-46634"/>
            <a:ext cx="12192000" cy="604684"/>
          </a:xfrm>
          <a:prstGeom prst="rect">
            <a:avLst/>
          </a:prstGeom>
        </p:spPr>
        <p:txBody>
          <a:bodyPr vert="horz" lIns="91440" tIns="45720" rIns="91440" bIns="45720" rtlCol="0" anchor="ctr">
            <a:normAutofit fontScale="97500"/>
          </a:bodyPr>
          <a:lstStyle>
            <a:defPPr>
              <a:defRPr lang="es-CO"/>
            </a:defPPr>
            <a:lvl1pPr algn="ctr">
              <a:lnSpc>
                <a:spcPct val="90000"/>
              </a:lnSpc>
              <a:spcBef>
                <a:spcPct val="0"/>
              </a:spcBef>
              <a:buNone/>
              <a:defRPr b="1">
                <a:solidFill>
                  <a:srgbClr val="00A19C"/>
                </a:solidFill>
                <a:latin typeface="+mj-lt"/>
                <a:ea typeface="+mj-ea"/>
                <a:cs typeface="+mj-cs"/>
              </a:defRPr>
            </a:lvl1pPr>
          </a:lstStyle>
          <a:p>
            <a:r>
              <a:rPr lang="es-CO" sz="2400"/>
              <a:t>INDICADORES CENTRAL DE REFERENCIA &amp; CONTRA REFERENCIA</a:t>
            </a:r>
          </a:p>
        </p:txBody>
      </p:sp>
      <p:sp>
        <p:nvSpPr>
          <p:cNvPr id="22" name="CuadroTexto 21">
            <a:extLst>
              <a:ext uri="{FF2B5EF4-FFF2-40B4-BE49-F238E27FC236}">
                <a16:creationId xmlns:a16="http://schemas.microsoft.com/office/drawing/2014/main" id="{B0EA92C8-ACA5-4E71-ED88-458E3E1152BE}"/>
              </a:ext>
            </a:extLst>
          </p:cNvPr>
          <p:cNvSpPr txBox="1"/>
          <p:nvPr/>
        </p:nvSpPr>
        <p:spPr>
          <a:xfrm>
            <a:off x="4268299" y="3429354"/>
            <a:ext cx="5510701" cy="338554"/>
          </a:xfrm>
          <a:prstGeom prst="rect">
            <a:avLst/>
          </a:prstGeom>
          <a:noFill/>
        </p:spPr>
        <p:txBody>
          <a:bodyPr wrap="square">
            <a:spAutoFit/>
          </a:bodyPr>
          <a:lstStyle>
            <a:defPPr>
              <a:defRPr lang="es-CO"/>
            </a:defPPr>
            <a:lvl1pPr algn="ctr">
              <a:defRPr sz="2000" b="1"/>
            </a:lvl1pPr>
          </a:lstStyle>
          <a:p>
            <a:r>
              <a:rPr lang="es-MX" sz="1600">
                <a:solidFill>
                  <a:srgbClr val="00A19C"/>
                </a:solidFill>
              </a:rPr>
              <a:t>3.953 TRAMITES</a:t>
            </a:r>
            <a:endParaRPr lang="es-CO" sz="1600">
              <a:solidFill>
                <a:srgbClr val="00A19C"/>
              </a:solidFill>
            </a:endParaRPr>
          </a:p>
        </p:txBody>
      </p:sp>
      <p:sp>
        <p:nvSpPr>
          <p:cNvPr id="3" name="CuadroTexto 2">
            <a:extLst>
              <a:ext uri="{FF2B5EF4-FFF2-40B4-BE49-F238E27FC236}">
                <a16:creationId xmlns:a16="http://schemas.microsoft.com/office/drawing/2014/main" id="{E4BE0ACB-AD4C-DE84-3EEA-30E7C8B0166B}"/>
              </a:ext>
            </a:extLst>
          </p:cNvPr>
          <p:cNvSpPr txBox="1"/>
          <p:nvPr/>
        </p:nvSpPr>
        <p:spPr>
          <a:xfrm>
            <a:off x="9475299" y="3161254"/>
            <a:ext cx="2551810" cy="307777"/>
          </a:xfrm>
          <a:prstGeom prst="rect">
            <a:avLst/>
          </a:prstGeom>
          <a:noFill/>
        </p:spPr>
        <p:txBody>
          <a:bodyPr wrap="square">
            <a:spAutoFit/>
          </a:bodyPr>
          <a:lstStyle/>
          <a:p>
            <a:pPr algn="ctr"/>
            <a:r>
              <a:rPr lang="es-MX" sz="1400" b="1" u="sng">
                <a:solidFill>
                  <a:schemeClr val="bg1">
                    <a:lumMod val="75000"/>
                  </a:schemeClr>
                </a:solidFill>
              </a:rPr>
              <a:t>237 SEPTIEMBRE 2026</a:t>
            </a:r>
            <a:endParaRPr lang="es-CO" sz="1400" b="1" u="sng">
              <a:solidFill>
                <a:schemeClr val="bg1">
                  <a:lumMod val="75000"/>
                </a:schemeClr>
              </a:solidFill>
            </a:endParaRPr>
          </a:p>
        </p:txBody>
      </p:sp>
      <p:sp>
        <p:nvSpPr>
          <p:cNvPr id="14" name="CuadroTexto 13">
            <a:extLst>
              <a:ext uri="{FF2B5EF4-FFF2-40B4-BE49-F238E27FC236}">
                <a16:creationId xmlns:a16="http://schemas.microsoft.com/office/drawing/2014/main" id="{481A6F2D-0E27-D106-DEB4-3C1C1248A91D}"/>
              </a:ext>
            </a:extLst>
          </p:cNvPr>
          <p:cNvSpPr txBox="1"/>
          <p:nvPr/>
        </p:nvSpPr>
        <p:spPr>
          <a:xfrm>
            <a:off x="5056120" y="3141204"/>
            <a:ext cx="3947529" cy="400110"/>
          </a:xfrm>
          <a:prstGeom prst="rect">
            <a:avLst/>
          </a:prstGeom>
          <a:noFill/>
        </p:spPr>
        <p:txBody>
          <a:bodyPr wrap="square">
            <a:spAutoFit/>
          </a:bodyPr>
          <a:lstStyle/>
          <a:p>
            <a:pPr algn="ctr"/>
            <a:r>
              <a:rPr lang="es-MX" sz="2000" b="1" u="sng"/>
              <a:t>AÑO 2026</a:t>
            </a:r>
            <a:endParaRPr lang="es-CO" sz="2000" b="1" u="sng">
              <a:solidFill>
                <a:schemeClr val="bg1">
                  <a:lumMod val="50000"/>
                </a:schemeClr>
              </a:solidFill>
            </a:endParaRPr>
          </a:p>
        </p:txBody>
      </p:sp>
      <p:graphicFrame>
        <p:nvGraphicFramePr>
          <p:cNvPr id="7" name="Gráfico 6">
            <a:extLst>
              <a:ext uri="{FF2B5EF4-FFF2-40B4-BE49-F238E27FC236}">
                <a16:creationId xmlns:a16="http://schemas.microsoft.com/office/drawing/2014/main" id="{B3009FC6-70D1-822D-96C7-EF116F7DC0BF}"/>
              </a:ext>
            </a:extLst>
          </p:cNvPr>
          <p:cNvGraphicFramePr>
            <a:graphicFrameLocks/>
          </p:cNvGraphicFramePr>
          <p:nvPr/>
        </p:nvGraphicFramePr>
        <p:xfrm>
          <a:off x="7736874" y="657933"/>
          <a:ext cx="4215838" cy="222016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Gráfico 7">
            <a:extLst>
              <a:ext uri="{FF2B5EF4-FFF2-40B4-BE49-F238E27FC236}">
                <a16:creationId xmlns:a16="http://schemas.microsoft.com/office/drawing/2014/main" id="{22AFFB12-41D5-A654-1B40-C267DF916797}"/>
              </a:ext>
            </a:extLst>
          </p:cNvPr>
          <p:cNvGraphicFramePr>
            <a:graphicFrameLocks/>
          </p:cNvGraphicFramePr>
          <p:nvPr/>
        </p:nvGraphicFramePr>
        <p:xfrm>
          <a:off x="4164168" y="3654413"/>
          <a:ext cx="5311131" cy="2638278"/>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4" name="Tabla 3">
            <a:extLst>
              <a:ext uri="{FF2B5EF4-FFF2-40B4-BE49-F238E27FC236}">
                <a16:creationId xmlns:a16="http://schemas.microsoft.com/office/drawing/2014/main" id="{2F89D065-7CF7-DC49-98A1-2B7A6997349B}"/>
              </a:ext>
            </a:extLst>
          </p:cNvPr>
          <p:cNvGraphicFramePr>
            <a:graphicFrameLocks noGrp="1"/>
          </p:cNvGraphicFramePr>
          <p:nvPr/>
        </p:nvGraphicFramePr>
        <p:xfrm>
          <a:off x="339476" y="717423"/>
          <a:ext cx="7176014" cy="2139180"/>
        </p:xfrm>
        <a:graphic>
          <a:graphicData uri="http://schemas.openxmlformats.org/drawingml/2006/table">
            <a:tbl>
              <a:tblPr/>
              <a:tblGrid>
                <a:gridCol w="1760086">
                  <a:extLst>
                    <a:ext uri="{9D8B030D-6E8A-4147-A177-3AD203B41FA5}">
                      <a16:colId xmlns:a16="http://schemas.microsoft.com/office/drawing/2014/main" val="515499634"/>
                    </a:ext>
                  </a:extLst>
                </a:gridCol>
                <a:gridCol w="557360">
                  <a:extLst>
                    <a:ext uri="{9D8B030D-6E8A-4147-A177-3AD203B41FA5}">
                      <a16:colId xmlns:a16="http://schemas.microsoft.com/office/drawing/2014/main" val="699090897"/>
                    </a:ext>
                  </a:extLst>
                </a:gridCol>
                <a:gridCol w="605029">
                  <a:extLst>
                    <a:ext uri="{9D8B030D-6E8A-4147-A177-3AD203B41FA5}">
                      <a16:colId xmlns:a16="http://schemas.microsoft.com/office/drawing/2014/main" val="1345736351"/>
                    </a:ext>
                  </a:extLst>
                </a:gridCol>
                <a:gridCol w="557360">
                  <a:extLst>
                    <a:ext uri="{9D8B030D-6E8A-4147-A177-3AD203B41FA5}">
                      <a16:colId xmlns:a16="http://schemas.microsoft.com/office/drawing/2014/main" val="1650030061"/>
                    </a:ext>
                  </a:extLst>
                </a:gridCol>
                <a:gridCol w="557360">
                  <a:extLst>
                    <a:ext uri="{9D8B030D-6E8A-4147-A177-3AD203B41FA5}">
                      <a16:colId xmlns:a16="http://schemas.microsoft.com/office/drawing/2014/main" val="4099619320"/>
                    </a:ext>
                  </a:extLst>
                </a:gridCol>
                <a:gridCol w="557360">
                  <a:extLst>
                    <a:ext uri="{9D8B030D-6E8A-4147-A177-3AD203B41FA5}">
                      <a16:colId xmlns:a16="http://schemas.microsoft.com/office/drawing/2014/main" val="728785265"/>
                    </a:ext>
                  </a:extLst>
                </a:gridCol>
                <a:gridCol w="557360">
                  <a:extLst>
                    <a:ext uri="{9D8B030D-6E8A-4147-A177-3AD203B41FA5}">
                      <a16:colId xmlns:a16="http://schemas.microsoft.com/office/drawing/2014/main" val="3658617414"/>
                    </a:ext>
                  </a:extLst>
                </a:gridCol>
                <a:gridCol w="557360">
                  <a:extLst>
                    <a:ext uri="{9D8B030D-6E8A-4147-A177-3AD203B41FA5}">
                      <a16:colId xmlns:a16="http://schemas.microsoft.com/office/drawing/2014/main" val="922505794"/>
                    </a:ext>
                  </a:extLst>
                </a:gridCol>
                <a:gridCol w="586695">
                  <a:extLst>
                    <a:ext uri="{9D8B030D-6E8A-4147-A177-3AD203B41FA5}">
                      <a16:colId xmlns:a16="http://schemas.microsoft.com/office/drawing/2014/main" val="27020005"/>
                    </a:ext>
                  </a:extLst>
                </a:gridCol>
                <a:gridCol w="880044">
                  <a:extLst>
                    <a:ext uri="{9D8B030D-6E8A-4147-A177-3AD203B41FA5}">
                      <a16:colId xmlns:a16="http://schemas.microsoft.com/office/drawing/2014/main" val="1524381425"/>
                    </a:ext>
                  </a:extLst>
                </a:gridCol>
              </a:tblGrid>
              <a:tr h="213918">
                <a:tc>
                  <a:txBody>
                    <a:bodyPr/>
                    <a:lstStyle/>
                    <a:p>
                      <a:pPr algn="ctr" rtl="0" fontAlgn="ctr">
                        <a:buNone/>
                      </a:pPr>
                      <a:r>
                        <a:rPr lang="es-CO" sz="1100" b="1" i="0" u="none" strike="noStrike">
                          <a:solidFill>
                            <a:srgbClr val="FFFFFF"/>
                          </a:solidFill>
                          <a:effectLst/>
                          <a:latin typeface="Calibri" panose="020F0502020204030204" pitchFamily="34" charset="0"/>
                        </a:rPr>
                        <a:t>R&amp;C 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100" b="1" i="0" u="none" strike="noStrike">
                          <a:solidFill>
                            <a:srgbClr val="FFFFFF"/>
                          </a:solidFill>
                          <a:effectLst/>
                          <a:latin typeface="Calibri" panose="020F0502020204030204" pitchFamily="34" charset="0"/>
                        </a:rPr>
                        <a:t>ENERO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100" b="1" i="0" u="none" strike="noStrike">
                          <a:solidFill>
                            <a:srgbClr val="FFFFFF"/>
                          </a:solidFill>
                          <a:effectLst/>
                          <a:latin typeface="Calibri" panose="020F0502020204030204" pitchFamily="34" charset="0"/>
                        </a:rPr>
                        <a:t>FEBRERO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100" b="1" i="0" u="none" strike="noStrike">
                          <a:solidFill>
                            <a:srgbClr val="FFFFFF"/>
                          </a:solidFill>
                          <a:effectLst/>
                          <a:latin typeface="Calibri" panose="020F0502020204030204" pitchFamily="34" charset="0"/>
                        </a:rPr>
                        <a:t>MARZO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100" b="1" i="0" u="none" strike="noStrike">
                          <a:solidFill>
                            <a:srgbClr val="FFFFFF"/>
                          </a:solidFill>
                          <a:effectLst/>
                          <a:latin typeface="Calibri" panose="020F0502020204030204" pitchFamily="34" charset="0"/>
                        </a:rPr>
                        <a:t>ABRIL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100" b="1" i="0" u="none" strike="noStrike">
                          <a:solidFill>
                            <a:srgbClr val="FFFFFF"/>
                          </a:solidFill>
                          <a:effectLst/>
                          <a:latin typeface="Calibri" panose="020F0502020204030204" pitchFamily="34" charset="0"/>
                        </a:rPr>
                        <a:t>MAYO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100" b="1" i="0" u="none" strike="noStrike">
                          <a:solidFill>
                            <a:srgbClr val="FFFFFF"/>
                          </a:solidFill>
                          <a:effectLst/>
                          <a:latin typeface="Calibri" panose="020F0502020204030204" pitchFamily="34" charset="0"/>
                        </a:rPr>
                        <a:t>JUNIO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100" b="1" i="0" u="none" strike="noStrike">
                          <a:solidFill>
                            <a:srgbClr val="FFFFFF"/>
                          </a:solidFill>
                          <a:effectLst/>
                          <a:latin typeface="Calibri" panose="020F0502020204030204" pitchFamily="34" charset="0"/>
                        </a:rPr>
                        <a:t>JULIO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100" b="1" i="0" u="none" strike="noStrike">
                          <a:solidFill>
                            <a:srgbClr val="FFFFFF"/>
                          </a:solidFill>
                          <a:effectLst/>
                          <a:latin typeface="Calibri" panose="020F0502020204030204" pitchFamily="34" charset="0"/>
                        </a:rPr>
                        <a:t>AGOSTO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100" b="1" i="0" u="none" strike="noStrike">
                          <a:solidFill>
                            <a:srgbClr val="FFFFFF"/>
                          </a:solidFill>
                          <a:effectLst/>
                          <a:latin typeface="Calibri" panose="020F0502020204030204" pitchFamily="34" charset="0"/>
                        </a:rPr>
                        <a:t>SEPTIEMBRE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extLst>
                  <a:ext uri="{0D108BD9-81ED-4DB2-BD59-A6C34878D82A}">
                    <a16:rowId xmlns:a16="http://schemas.microsoft.com/office/drawing/2014/main" val="1650881010"/>
                  </a:ext>
                </a:extLst>
              </a:tr>
              <a:tr h="213918">
                <a:tc>
                  <a:txBody>
                    <a:bodyPr/>
                    <a:lstStyle/>
                    <a:p>
                      <a:pPr algn="ctr" rtl="0" fontAlgn="b">
                        <a:buNone/>
                      </a:pPr>
                      <a:r>
                        <a:rPr lang="es-CO" sz="1100" b="1" i="0" u="none" strike="noStrike">
                          <a:solidFill>
                            <a:srgbClr val="00A19C"/>
                          </a:solidFill>
                          <a:effectLst/>
                          <a:latin typeface="Calibri" panose="020F0502020204030204" pitchFamily="34" charset="0"/>
                        </a:rPr>
                        <a:t>USUARIOS COMENTADOS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282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339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287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264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278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230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355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277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264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11586088"/>
                  </a:ext>
                </a:extLst>
              </a:tr>
              <a:tr h="213918">
                <a:tc>
                  <a:txBody>
                    <a:bodyPr/>
                    <a:lstStyle/>
                    <a:p>
                      <a:pPr algn="ctr" rtl="0" fontAlgn="b">
                        <a:buNone/>
                      </a:pPr>
                      <a:r>
                        <a:rPr lang="es-CO" sz="1100" b="1" i="0" u="none" strike="noStrike">
                          <a:solidFill>
                            <a:srgbClr val="00A19C"/>
                          </a:solidFill>
                          <a:effectLst/>
                          <a:latin typeface="Calibri" panose="020F0502020204030204" pitchFamily="34" charset="0"/>
                        </a:rPr>
                        <a:t>TRAMITES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430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573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433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413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465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487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488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359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305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93431118"/>
                  </a:ext>
                </a:extLst>
              </a:tr>
              <a:tr h="213918">
                <a:tc>
                  <a:txBody>
                    <a:bodyPr/>
                    <a:lstStyle/>
                    <a:p>
                      <a:pPr algn="ctr" rtl="0" fontAlgn="b">
                        <a:buNone/>
                      </a:pPr>
                      <a:r>
                        <a:rPr lang="es-CO" sz="1100" b="1" i="0" u="none" strike="noStrike">
                          <a:solidFill>
                            <a:srgbClr val="00A19C"/>
                          </a:solidFill>
                          <a:effectLst/>
                          <a:latin typeface="Calibri" panose="020F0502020204030204" pitchFamily="34" charset="0"/>
                        </a:rPr>
                        <a:t>SALUD TOTAL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133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126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104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100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125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38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89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41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14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81551749"/>
                  </a:ext>
                </a:extLst>
              </a:tr>
              <a:tr h="213918">
                <a:tc>
                  <a:txBody>
                    <a:bodyPr/>
                    <a:lstStyle/>
                    <a:p>
                      <a:pPr algn="ctr" rtl="0" fontAlgn="b">
                        <a:buNone/>
                      </a:pPr>
                      <a:r>
                        <a:rPr lang="es-CO" sz="1100" b="1" i="0" u="none" strike="noStrike">
                          <a:solidFill>
                            <a:srgbClr val="00A19C"/>
                          </a:solidFill>
                          <a:effectLst/>
                          <a:latin typeface="Calibri" panose="020F0502020204030204" pitchFamily="34" charset="0"/>
                        </a:rPr>
                        <a:t>SANITAS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69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92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62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75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85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47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42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51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65257218"/>
                  </a:ext>
                </a:extLst>
              </a:tr>
              <a:tr h="213918">
                <a:tc>
                  <a:txBody>
                    <a:bodyPr/>
                    <a:lstStyle/>
                    <a:p>
                      <a:pPr algn="ctr" rtl="0" fontAlgn="b">
                        <a:buNone/>
                      </a:pPr>
                      <a:r>
                        <a:rPr lang="es-CO" sz="1100" b="1" i="0" u="none" strike="noStrike">
                          <a:solidFill>
                            <a:srgbClr val="00A19C"/>
                          </a:solidFill>
                          <a:effectLst/>
                          <a:latin typeface="Calibri" panose="020F0502020204030204" pitchFamily="34" charset="0"/>
                        </a:rPr>
                        <a:t>EPS FAMILIAR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43742349"/>
                  </a:ext>
                </a:extLst>
              </a:tr>
              <a:tr h="213918">
                <a:tc>
                  <a:txBody>
                    <a:bodyPr/>
                    <a:lstStyle/>
                    <a:p>
                      <a:pPr algn="ctr" rtl="0" fontAlgn="b">
                        <a:buNone/>
                      </a:pPr>
                      <a:r>
                        <a:rPr lang="es-CO" sz="1100" b="1" i="0" u="none" strike="noStrike">
                          <a:solidFill>
                            <a:srgbClr val="00A19C"/>
                          </a:solidFill>
                          <a:effectLst/>
                          <a:latin typeface="Calibri" panose="020F0502020204030204" pitchFamily="34" charset="0"/>
                        </a:rPr>
                        <a:t>EMSSANAR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214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329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243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222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243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147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179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165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164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92369881"/>
                  </a:ext>
                </a:extLst>
              </a:tr>
              <a:tr h="213918">
                <a:tc>
                  <a:txBody>
                    <a:bodyPr/>
                    <a:lstStyle/>
                    <a:p>
                      <a:pPr algn="ctr" rtl="0" fontAlgn="b">
                        <a:buNone/>
                      </a:pPr>
                      <a:r>
                        <a:rPr lang="es-CO" sz="1100" b="1" i="0" u="none" strike="noStrike">
                          <a:solidFill>
                            <a:srgbClr val="00A19C"/>
                          </a:solidFill>
                          <a:effectLst/>
                          <a:latin typeface="Calibri" panose="020F0502020204030204" pitchFamily="34" charset="0"/>
                        </a:rPr>
                        <a:t>OTRAS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12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23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23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12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15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34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20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30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26081863"/>
                  </a:ext>
                </a:extLst>
              </a:tr>
              <a:tr h="213918">
                <a:tc>
                  <a:txBody>
                    <a:bodyPr/>
                    <a:lstStyle/>
                    <a:p>
                      <a:pPr algn="ctr" rtl="0" fontAlgn="b">
                        <a:buNone/>
                      </a:pPr>
                      <a:r>
                        <a:rPr lang="es-CO" sz="1100" b="1" i="0" u="none" strike="noStrike">
                          <a:solidFill>
                            <a:srgbClr val="00A19C"/>
                          </a:solidFill>
                          <a:effectLst/>
                          <a:latin typeface="Calibri" panose="020F0502020204030204" pitchFamily="34" charset="0"/>
                        </a:rPr>
                        <a:t>% CONTESTACION &lt;2HORAS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97%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98%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98%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99%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97%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95%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99%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98%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96%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34276786"/>
                  </a:ext>
                </a:extLst>
              </a:tr>
              <a:tr h="213918">
                <a:tc>
                  <a:txBody>
                    <a:bodyPr/>
                    <a:lstStyle/>
                    <a:p>
                      <a:pPr algn="ctr" rtl="0" fontAlgn="b">
                        <a:buNone/>
                      </a:pPr>
                      <a:r>
                        <a:rPr lang="es-CO" sz="1100" b="1" i="0" u="none" strike="noStrike">
                          <a:solidFill>
                            <a:srgbClr val="00A19C"/>
                          </a:solidFill>
                          <a:effectLst/>
                          <a:latin typeface="Calibri" panose="020F0502020204030204" pitchFamily="34" charset="0"/>
                        </a:rPr>
                        <a:t>TIEMPO DE RESPUESTA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0:50:21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0:30:40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0:52:58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1:07:00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0:36:56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0:29:38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0:26:18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0:28:03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100" b="1" i="0" u="none" strike="noStrike">
                          <a:solidFill>
                            <a:srgbClr val="00A19C"/>
                          </a:solidFill>
                          <a:effectLst/>
                          <a:latin typeface="Calibri" panose="020F0502020204030204" pitchFamily="34" charset="0"/>
                        </a:rPr>
                        <a:t>0:33:37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19841565"/>
                  </a:ext>
                </a:extLst>
              </a:tr>
            </a:tbl>
          </a:graphicData>
        </a:graphic>
      </p:graphicFrame>
      <p:graphicFrame>
        <p:nvGraphicFramePr>
          <p:cNvPr id="6" name="Gráfico 5">
            <a:extLst>
              <a:ext uri="{FF2B5EF4-FFF2-40B4-BE49-F238E27FC236}">
                <a16:creationId xmlns:a16="http://schemas.microsoft.com/office/drawing/2014/main" id="{AD50C188-071A-DD01-A4CC-412628E4783D}"/>
              </a:ext>
            </a:extLst>
          </p:cNvPr>
          <p:cNvGraphicFramePr>
            <a:graphicFrameLocks/>
          </p:cNvGraphicFramePr>
          <p:nvPr/>
        </p:nvGraphicFramePr>
        <p:xfrm>
          <a:off x="9475299" y="3335832"/>
          <a:ext cx="2555647" cy="2917844"/>
        </p:xfrm>
        <a:graphic>
          <a:graphicData uri="http://schemas.openxmlformats.org/drawingml/2006/chart">
            <c:chart xmlns:c="http://schemas.openxmlformats.org/drawingml/2006/chart" xmlns:r="http://schemas.openxmlformats.org/officeDocument/2006/relationships" r:id="rId6"/>
          </a:graphicData>
        </a:graphic>
      </p:graphicFrame>
      <p:sp>
        <p:nvSpPr>
          <p:cNvPr id="10" name="CuadroTexto 9">
            <a:extLst>
              <a:ext uri="{FF2B5EF4-FFF2-40B4-BE49-F238E27FC236}">
                <a16:creationId xmlns:a16="http://schemas.microsoft.com/office/drawing/2014/main" id="{DCE39D79-9CB9-E04A-86CB-24C870617E2F}"/>
              </a:ext>
            </a:extLst>
          </p:cNvPr>
          <p:cNvSpPr txBox="1"/>
          <p:nvPr/>
        </p:nvSpPr>
        <p:spPr>
          <a:xfrm>
            <a:off x="6490800" y="6507936"/>
            <a:ext cx="4008539" cy="276999"/>
          </a:xfrm>
          <a:prstGeom prst="rect">
            <a:avLst/>
          </a:prstGeom>
          <a:noFill/>
        </p:spPr>
        <p:txBody>
          <a:bodyPr wrap="square" lIns="91440" tIns="45720" rIns="91440" bIns="45720" anchor="t">
            <a:spAutoFit/>
          </a:bodyPr>
          <a:lstStyle/>
          <a:p>
            <a:r>
              <a:rPr lang="es-CO" sz="1200" b="1" i="1" noProof="0">
                <a:solidFill>
                  <a:schemeClr val="tx2"/>
                </a:solidFill>
              </a:rPr>
              <a:t>Fuente: </a:t>
            </a:r>
            <a:r>
              <a:rPr lang="es-CO" sz="1200" i="1" noProof="0" err="1">
                <a:solidFill>
                  <a:schemeClr val="tx2"/>
                </a:solidFill>
              </a:rPr>
              <a:t>kerberus</a:t>
            </a:r>
            <a:r>
              <a:rPr lang="es-CO" sz="1200" i="1" noProof="0">
                <a:solidFill>
                  <a:schemeClr val="tx2"/>
                </a:solidFill>
              </a:rPr>
              <a:t> y app de Referencia INOOS </a:t>
            </a:r>
            <a:r>
              <a:rPr lang="es-CO" sz="1200" i="1">
                <a:solidFill>
                  <a:schemeClr val="tx2"/>
                </a:solidFill>
              </a:rPr>
              <a:t>Septiembre</a:t>
            </a:r>
            <a:r>
              <a:rPr lang="es-CO" sz="1200" i="1" noProof="0">
                <a:solidFill>
                  <a:schemeClr val="tx2"/>
                </a:solidFill>
              </a:rPr>
              <a:t> 2026</a:t>
            </a:r>
          </a:p>
        </p:txBody>
      </p:sp>
    </p:spTree>
    <p:extLst>
      <p:ext uri="{BB962C8B-B14F-4D97-AF65-F5344CB8AC3E}">
        <p14:creationId xmlns:p14="http://schemas.microsoft.com/office/powerpoint/2010/main" val="247997996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C3177-954F-A46A-8B85-62967A61D10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D5C0F32-7F4B-47A4-B15D-9E0EB498262B}"/>
              </a:ext>
            </a:extLst>
          </p:cNvPr>
          <p:cNvSpPr>
            <a:spLocks noGrp="1"/>
          </p:cNvSpPr>
          <p:nvPr>
            <p:ph type="title"/>
          </p:nvPr>
        </p:nvSpPr>
        <p:spPr>
          <a:xfrm>
            <a:off x="1261945" y="1349830"/>
            <a:ext cx="7664341" cy="2484566"/>
          </a:xfrm>
        </p:spPr>
        <p:txBody>
          <a:bodyPr>
            <a:normAutofit/>
          </a:bodyPr>
          <a:lstStyle/>
          <a:p>
            <a:r>
              <a:rPr lang="es-CO" sz="8000" b="1" noProof="0"/>
              <a:t>Salud Total</a:t>
            </a:r>
          </a:p>
        </p:txBody>
      </p:sp>
      <p:sp>
        <p:nvSpPr>
          <p:cNvPr id="3" name="Marcador de texto 2">
            <a:extLst>
              <a:ext uri="{FF2B5EF4-FFF2-40B4-BE49-F238E27FC236}">
                <a16:creationId xmlns:a16="http://schemas.microsoft.com/office/drawing/2014/main" id="{77234A24-B756-58AC-4B4C-73467031EE41}"/>
              </a:ext>
            </a:extLst>
          </p:cNvPr>
          <p:cNvSpPr>
            <a:spLocks noGrp="1"/>
          </p:cNvSpPr>
          <p:nvPr>
            <p:ph type="body" idx="1"/>
          </p:nvPr>
        </p:nvSpPr>
        <p:spPr>
          <a:xfrm>
            <a:off x="1261945" y="3694695"/>
            <a:ext cx="3700346" cy="481128"/>
          </a:xfrm>
        </p:spPr>
        <p:txBody>
          <a:bodyPr vert="horz" lIns="91440" tIns="45720" rIns="91440" bIns="45720" rtlCol="0" anchor="t">
            <a:normAutofit/>
          </a:bodyPr>
          <a:lstStyle/>
          <a:p>
            <a:r>
              <a:rPr lang="es-CO" sz="2000" b="1" noProof="0"/>
              <a:t>Septiembre 2026</a:t>
            </a:r>
          </a:p>
          <a:p>
            <a:endParaRPr lang="es-CO" sz="2000" b="1" noProof="0"/>
          </a:p>
        </p:txBody>
      </p:sp>
    </p:spTree>
    <p:extLst>
      <p:ext uri="{BB962C8B-B14F-4D97-AF65-F5344CB8AC3E}">
        <p14:creationId xmlns:p14="http://schemas.microsoft.com/office/powerpoint/2010/main" val="1685655248"/>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38C1E5-29D1-FA4A-A8E3-023ABC381466}"/>
              </a:ext>
            </a:extLst>
          </p:cNvPr>
          <p:cNvSpPr>
            <a:spLocks noGrp="1"/>
          </p:cNvSpPr>
          <p:nvPr>
            <p:ph type="ctrTitle"/>
          </p:nvPr>
        </p:nvSpPr>
        <p:spPr>
          <a:xfrm>
            <a:off x="273120" y="26883"/>
            <a:ext cx="11645759" cy="482784"/>
          </a:xfrm>
        </p:spPr>
        <p:txBody>
          <a:bodyPr>
            <a:normAutofit fontScale="90000"/>
          </a:bodyPr>
          <a:lstStyle/>
          <a:p>
            <a:r>
              <a:rPr lang="es-CO" sz="3200" noProof="0"/>
              <a:t>Histórico de población Salud Total</a:t>
            </a:r>
          </a:p>
        </p:txBody>
      </p:sp>
      <p:graphicFrame>
        <p:nvGraphicFramePr>
          <p:cNvPr id="5" name="Gráfico 4">
            <a:extLst>
              <a:ext uri="{FF2B5EF4-FFF2-40B4-BE49-F238E27FC236}">
                <a16:creationId xmlns:a16="http://schemas.microsoft.com/office/drawing/2014/main" id="{367A8FA5-EDED-C4D5-FC03-7BB7F8B39337}"/>
              </a:ext>
            </a:extLst>
          </p:cNvPr>
          <p:cNvGraphicFramePr/>
          <p:nvPr>
            <p:extLst>
              <p:ext uri="{D42A27DB-BD31-4B8C-83A1-F6EECF244321}">
                <p14:modId xmlns:p14="http://schemas.microsoft.com/office/powerpoint/2010/main" val="3583059587"/>
              </p:ext>
            </p:extLst>
          </p:nvPr>
        </p:nvGraphicFramePr>
        <p:xfrm>
          <a:off x="705755" y="1538634"/>
          <a:ext cx="11213124" cy="3707923"/>
        </p:xfrm>
        <a:graphic>
          <a:graphicData uri="http://schemas.openxmlformats.org/drawingml/2006/chart">
            <c:chart xmlns:c="http://schemas.openxmlformats.org/drawingml/2006/chart" xmlns:r="http://schemas.openxmlformats.org/officeDocument/2006/relationships" r:id="rId2"/>
          </a:graphicData>
        </a:graphic>
      </p:graphicFrame>
      <p:sp>
        <p:nvSpPr>
          <p:cNvPr id="9" name="CuadroTexto 8">
            <a:extLst>
              <a:ext uri="{FF2B5EF4-FFF2-40B4-BE49-F238E27FC236}">
                <a16:creationId xmlns:a16="http://schemas.microsoft.com/office/drawing/2014/main" id="{8E1B006C-B84C-2D5F-80A2-71D44296E8EC}"/>
              </a:ext>
            </a:extLst>
          </p:cNvPr>
          <p:cNvSpPr txBox="1"/>
          <p:nvPr/>
        </p:nvSpPr>
        <p:spPr>
          <a:xfrm>
            <a:off x="639533" y="5380672"/>
            <a:ext cx="11345568" cy="1477328"/>
          </a:xfrm>
          <a:prstGeom prst="rect">
            <a:avLst/>
          </a:prstGeom>
          <a:solidFill>
            <a:schemeClr val="bg1"/>
          </a:solidFill>
        </p:spPr>
        <p:txBody>
          <a:bodyPr wrap="square" lIns="91440" tIns="45720" rIns="91440" bIns="45720" anchor="t">
            <a:spAutoFit/>
          </a:bodyPr>
          <a:lstStyle/>
          <a:p>
            <a:pPr algn="just"/>
            <a:r>
              <a:rPr lang="es-CO" noProof="0"/>
              <a:t>Del total de ingresos recibidos entre ene-</a:t>
            </a:r>
            <a:r>
              <a:rPr lang="es-CO" noProof="0" err="1"/>
              <a:t>sep</a:t>
            </a:r>
            <a:r>
              <a:rPr lang="es-CO" noProof="0"/>
              <a:t> de 2026 (n=</a:t>
            </a:r>
            <a:r>
              <a:rPr lang="es-CO"/>
              <a:t>482</a:t>
            </a:r>
            <a:r>
              <a:rPr lang="es-CO" noProof="0"/>
              <a:t>), </a:t>
            </a:r>
            <a:r>
              <a:rPr lang="es-MX" noProof="0"/>
              <a:t>en promedio, el 37,4% de los incidentes ingresan a la cohorte en el mismo mes de su diagnóstico; el 30,8% ingresan en el mes siguiente a su diagnóstico y el 12,1% ingresan a la cohorte dos meses después de su diagnóstico. </a:t>
            </a:r>
            <a:r>
              <a:rPr lang="es-CO" noProof="0"/>
              <a:t>Continúa siendo un reto para la EPS el ingreso de los pacientes el mismo mes del diagnostico para su cumplimiento de indicadores de oportunidad en la CAC, además el ingreso de nuevos afiliados con DX oncológicos confirmados. </a:t>
            </a:r>
          </a:p>
        </p:txBody>
      </p:sp>
      <p:graphicFrame>
        <p:nvGraphicFramePr>
          <p:cNvPr id="3" name="Diagrama 2">
            <a:extLst>
              <a:ext uri="{FF2B5EF4-FFF2-40B4-BE49-F238E27FC236}">
                <a16:creationId xmlns:a16="http://schemas.microsoft.com/office/drawing/2014/main" id="{EADE6810-495D-EBE0-877A-7674C59F83E2}"/>
              </a:ext>
            </a:extLst>
          </p:cNvPr>
          <p:cNvGraphicFramePr/>
          <p:nvPr>
            <p:extLst>
              <p:ext uri="{D42A27DB-BD31-4B8C-83A1-F6EECF244321}">
                <p14:modId xmlns:p14="http://schemas.microsoft.com/office/powerpoint/2010/main" val="1324216333"/>
              </p:ext>
            </p:extLst>
          </p:nvPr>
        </p:nvGraphicFramePr>
        <p:xfrm>
          <a:off x="1660773" y="392366"/>
          <a:ext cx="8276295" cy="26510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CuadroTexto 6">
            <a:extLst>
              <a:ext uri="{FF2B5EF4-FFF2-40B4-BE49-F238E27FC236}">
                <a16:creationId xmlns:a16="http://schemas.microsoft.com/office/drawing/2014/main" id="{1E56918E-F064-5341-4B30-2A4136838ACA}"/>
              </a:ext>
            </a:extLst>
          </p:cNvPr>
          <p:cNvSpPr txBox="1"/>
          <p:nvPr/>
        </p:nvSpPr>
        <p:spPr>
          <a:xfrm>
            <a:off x="9708263" y="309613"/>
            <a:ext cx="2134348" cy="769441"/>
          </a:xfrm>
          <a:prstGeom prst="rect">
            <a:avLst/>
          </a:prstGeom>
          <a:noFill/>
        </p:spPr>
        <p:txBody>
          <a:bodyPr wrap="square" rtlCol="0">
            <a:spAutoFit/>
          </a:bodyPr>
          <a:lstStyle/>
          <a:p>
            <a:r>
              <a:rPr lang="es-CO" sz="1100" noProof="0"/>
              <a:t>Población ST  </a:t>
            </a:r>
          </a:p>
          <a:p>
            <a:r>
              <a:rPr lang="es-CO" sz="1100" noProof="0"/>
              <a:t>Enero – agosto 2024:  177.649</a:t>
            </a:r>
          </a:p>
          <a:p>
            <a:r>
              <a:rPr lang="es-CO" sz="1100" noProof="0"/>
              <a:t>Septiembre 2024 a la fecha: </a:t>
            </a:r>
            <a:r>
              <a:rPr lang="es-CO" sz="1100" noProof="0" err="1"/>
              <a:t>prom</a:t>
            </a:r>
            <a:r>
              <a:rPr lang="es-CO" sz="1100" noProof="0"/>
              <a:t> 205,650</a:t>
            </a:r>
          </a:p>
        </p:txBody>
      </p:sp>
      <p:sp>
        <p:nvSpPr>
          <p:cNvPr id="6" name="CuadroTexto 5">
            <a:extLst>
              <a:ext uri="{FF2B5EF4-FFF2-40B4-BE49-F238E27FC236}">
                <a16:creationId xmlns:a16="http://schemas.microsoft.com/office/drawing/2014/main" id="{1D68937D-DFD3-3AF0-0C11-E471118ABFBC}"/>
              </a:ext>
            </a:extLst>
          </p:cNvPr>
          <p:cNvSpPr txBox="1"/>
          <p:nvPr/>
        </p:nvSpPr>
        <p:spPr>
          <a:xfrm>
            <a:off x="8553300" y="6583232"/>
            <a:ext cx="3638394" cy="276999"/>
          </a:xfrm>
          <a:prstGeom prst="rect">
            <a:avLst/>
          </a:prstGeom>
          <a:noFill/>
        </p:spPr>
        <p:txBody>
          <a:bodyPr wrap="square" lIns="91440" tIns="45720" rIns="91440" bIns="45720" anchor="t">
            <a:spAutoFit/>
          </a:bodyPr>
          <a:lstStyle/>
          <a:p>
            <a:r>
              <a:rPr lang="es-CO" sz="1200" b="1" i="1" noProof="0">
                <a:solidFill>
                  <a:schemeClr val="tx2"/>
                </a:solidFill>
              </a:rPr>
              <a:t>Fuente: </a:t>
            </a:r>
            <a:r>
              <a:rPr lang="es-CO" sz="1200" i="1" noProof="0">
                <a:solidFill>
                  <a:schemeClr val="tx2"/>
                </a:solidFill>
              </a:rPr>
              <a:t>Cohorte oncológica INOOS Septiembre 2026</a:t>
            </a:r>
          </a:p>
        </p:txBody>
      </p:sp>
    </p:spTree>
    <p:extLst>
      <p:ext uri="{BB962C8B-B14F-4D97-AF65-F5344CB8AC3E}">
        <p14:creationId xmlns:p14="http://schemas.microsoft.com/office/powerpoint/2010/main" val="147960978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AA739-7C46-6214-EF84-0BCEA694D9E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BFBB0D2-A6C0-ACCE-2B4E-434FB35456DE}"/>
              </a:ext>
            </a:extLst>
          </p:cNvPr>
          <p:cNvSpPr>
            <a:spLocks noGrp="1"/>
          </p:cNvSpPr>
          <p:nvPr>
            <p:ph type="ctrTitle"/>
          </p:nvPr>
        </p:nvSpPr>
        <p:spPr>
          <a:xfrm>
            <a:off x="384835" y="586491"/>
            <a:ext cx="11645759" cy="482784"/>
          </a:xfrm>
        </p:spPr>
        <p:txBody>
          <a:bodyPr>
            <a:normAutofit fontScale="90000"/>
          </a:bodyPr>
          <a:lstStyle/>
          <a:p>
            <a:r>
              <a:rPr lang="es-CO" sz="3200" noProof="0"/>
              <a:t>Población total de Salud Total 2026</a:t>
            </a:r>
            <a:br>
              <a:rPr lang="es-CO" sz="3200" noProof="0"/>
            </a:br>
            <a:endParaRPr lang="es-CO" sz="3200" noProof="0"/>
          </a:p>
        </p:txBody>
      </p:sp>
      <p:sp>
        <p:nvSpPr>
          <p:cNvPr id="9" name="CuadroTexto 8">
            <a:extLst>
              <a:ext uri="{FF2B5EF4-FFF2-40B4-BE49-F238E27FC236}">
                <a16:creationId xmlns:a16="http://schemas.microsoft.com/office/drawing/2014/main" id="{BCB5FCA5-ED70-D2BA-3CE3-1024BC185694}"/>
              </a:ext>
            </a:extLst>
          </p:cNvPr>
          <p:cNvSpPr txBox="1"/>
          <p:nvPr/>
        </p:nvSpPr>
        <p:spPr>
          <a:xfrm>
            <a:off x="218364" y="4800600"/>
            <a:ext cx="11812230" cy="1908215"/>
          </a:xfrm>
          <a:prstGeom prst="rect">
            <a:avLst/>
          </a:prstGeom>
          <a:noFill/>
        </p:spPr>
        <p:txBody>
          <a:bodyPr wrap="square">
            <a:spAutoFit/>
          </a:bodyPr>
          <a:lstStyle/>
          <a:p>
            <a:pPr lvl="0" algn="just" eaLnBrk="0" fontAlgn="base" hangingPunct="0">
              <a:spcBef>
                <a:spcPct val="0"/>
              </a:spcBef>
              <a:spcAft>
                <a:spcPct val="0"/>
              </a:spcAft>
            </a:pPr>
            <a:r>
              <a:rPr lang="es-CO" sz="1000" noProof="0">
                <a:solidFill>
                  <a:srgbClr val="FF0000"/>
                </a:solidFill>
              </a:rPr>
              <a:t>*Prevalencia : casos nuevos y antiguos</a:t>
            </a:r>
          </a:p>
          <a:p>
            <a:pPr lvl="0" algn="just" eaLnBrk="0" fontAlgn="base" hangingPunct="0">
              <a:spcBef>
                <a:spcPct val="0"/>
              </a:spcBef>
              <a:spcAft>
                <a:spcPct val="0"/>
              </a:spcAft>
            </a:pPr>
            <a:r>
              <a:rPr lang="es-CO" noProof="0"/>
              <a:t>El total de casos pasa de 2.191 en enero a 2.905 en diciembre 2025, lo que representa un incremento absoluto de 1,052 casos en el periodo analizado, este crecimiento corresponde a un aumento aproximado del 33 % anual, con un promedio mensual de incremento cercano a 59 casos.</a:t>
            </a:r>
          </a:p>
          <a:p>
            <a:pPr lvl="0" algn="just" eaLnBrk="0" fontAlgn="base" hangingPunct="0">
              <a:spcBef>
                <a:spcPct val="0"/>
              </a:spcBef>
              <a:spcAft>
                <a:spcPct val="0"/>
              </a:spcAft>
            </a:pPr>
            <a:r>
              <a:rPr lang="es-CO" noProof="0"/>
              <a:t>2026 se observa una </a:t>
            </a:r>
            <a:r>
              <a:rPr lang="es-CO" b="1" noProof="0"/>
              <a:t>pendiente constante</a:t>
            </a:r>
            <a:r>
              <a:rPr lang="es-CO" noProof="0"/>
              <a:t>, indicando estabilidad en la captura, diagnóstico y seguimiento de los usuarios, durante el mes de abril bajo el numero de usuarios debido a que se realizó depuración de fallecidos y desafiliados.</a:t>
            </a:r>
          </a:p>
          <a:p>
            <a:pPr algn="just"/>
            <a:r>
              <a:rPr lang="es-CO" sz="1800" noProof="0"/>
              <a:t> </a:t>
            </a:r>
          </a:p>
        </p:txBody>
      </p:sp>
      <p:sp>
        <p:nvSpPr>
          <p:cNvPr id="3" name="CuadroTexto 2">
            <a:extLst>
              <a:ext uri="{FF2B5EF4-FFF2-40B4-BE49-F238E27FC236}">
                <a16:creationId xmlns:a16="http://schemas.microsoft.com/office/drawing/2014/main" id="{57D28EA8-72EB-A2E9-197F-B4EADA6AA0B4}"/>
              </a:ext>
            </a:extLst>
          </p:cNvPr>
          <p:cNvSpPr txBox="1"/>
          <p:nvPr/>
        </p:nvSpPr>
        <p:spPr>
          <a:xfrm>
            <a:off x="8934138" y="527801"/>
            <a:ext cx="2984741" cy="600164"/>
          </a:xfrm>
          <a:prstGeom prst="rect">
            <a:avLst/>
          </a:prstGeom>
          <a:noFill/>
        </p:spPr>
        <p:txBody>
          <a:bodyPr wrap="square" rtlCol="0">
            <a:spAutoFit/>
          </a:bodyPr>
          <a:lstStyle/>
          <a:p>
            <a:r>
              <a:rPr lang="es-CO" sz="1100" noProof="0"/>
              <a:t>Población ST  </a:t>
            </a:r>
          </a:p>
          <a:p>
            <a:r>
              <a:rPr lang="es-CO" sz="1100" noProof="0"/>
              <a:t>Enero – Octubre 2024:  177.649</a:t>
            </a:r>
          </a:p>
          <a:p>
            <a:r>
              <a:rPr lang="es-CO" sz="1100" noProof="0"/>
              <a:t>Octubre 2024 a la fecha: </a:t>
            </a:r>
            <a:r>
              <a:rPr lang="es-CO" sz="1100" noProof="0" err="1"/>
              <a:t>prom</a:t>
            </a:r>
            <a:r>
              <a:rPr lang="es-CO" sz="1100" noProof="0"/>
              <a:t> 205,650</a:t>
            </a:r>
          </a:p>
        </p:txBody>
      </p:sp>
      <p:graphicFrame>
        <p:nvGraphicFramePr>
          <p:cNvPr id="6" name="Gráfico 5">
            <a:extLst>
              <a:ext uri="{FF2B5EF4-FFF2-40B4-BE49-F238E27FC236}">
                <a16:creationId xmlns:a16="http://schemas.microsoft.com/office/drawing/2014/main" id="{A0BE2A98-0309-FFFC-69F6-4FCB9B441957}"/>
              </a:ext>
            </a:extLst>
          </p:cNvPr>
          <p:cNvGraphicFramePr>
            <a:graphicFrameLocks/>
          </p:cNvGraphicFramePr>
          <p:nvPr>
            <p:extLst>
              <p:ext uri="{D42A27DB-BD31-4B8C-83A1-F6EECF244321}">
                <p14:modId xmlns:p14="http://schemas.microsoft.com/office/powerpoint/2010/main" val="208892684"/>
              </p:ext>
            </p:extLst>
          </p:nvPr>
        </p:nvGraphicFramePr>
        <p:xfrm>
          <a:off x="937846" y="1186655"/>
          <a:ext cx="10117016" cy="3613945"/>
        </p:xfrm>
        <a:graphic>
          <a:graphicData uri="http://schemas.openxmlformats.org/drawingml/2006/chart">
            <c:chart xmlns:c="http://schemas.openxmlformats.org/drawingml/2006/chart" xmlns:r="http://schemas.openxmlformats.org/officeDocument/2006/relationships" r:id="rId2"/>
          </a:graphicData>
        </a:graphic>
      </p:graphicFrame>
      <p:sp>
        <p:nvSpPr>
          <p:cNvPr id="5" name="CuadroTexto 4">
            <a:extLst>
              <a:ext uri="{FF2B5EF4-FFF2-40B4-BE49-F238E27FC236}">
                <a16:creationId xmlns:a16="http://schemas.microsoft.com/office/drawing/2014/main" id="{A0DE04EE-E365-15D2-14B2-019D727C0FEA}"/>
              </a:ext>
            </a:extLst>
          </p:cNvPr>
          <p:cNvSpPr txBox="1"/>
          <p:nvPr/>
        </p:nvSpPr>
        <p:spPr>
          <a:xfrm>
            <a:off x="7416468" y="6431816"/>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a:t>
            </a:r>
            <a:r>
              <a:rPr lang="es-CO" sz="1200" i="1">
                <a:solidFill>
                  <a:schemeClr val="tx2"/>
                </a:solidFill>
              </a:rPr>
              <a:t>Septiembre</a:t>
            </a:r>
            <a:r>
              <a:rPr lang="es-CO" sz="1200" i="1" noProof="0">
                <a:solidFill>
                  <a:schemeClr val="tx2"/>
                </a:solidFill>
              </a:rPr>
              <a:t> 2026</a:t>
            </a:r>
          </a:p>
        </p:txBody>
      </p:sp>
    </p:spTree>
    <p:extLst>
      <p:ext uri="{BB962C8B-B14F-4D97-AF65-F5344CB8AC3E}">
        <p14:creationId xmlns:p14="http://schemas.microsoft.com/office/powerpoint/2010/main" val="79432178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343A0-E4F5-27CB-76E0-1CE65A3C812E}"/>
            </a:ext>
          </a:extLst>
        </p:cNvPr>
        <p:cNvGrpSpPr/>
        <p:nvPr/>
      </p:nvGrpSpPr>
      <p:grpSpPr>
        <a:xfrm>
          <a:off x="0" y="0"/>
          <a:ext cx="0" cy="0"/>
          <a:chOff x="0" y="0"/>
          <a:chExt cx="0" cy="0"/>
        </a:xfrm>
      </p:grpSpPr>
      <p:graphicFrame>
        <p:nvGraphicFramePr>
          <p:cNvPr id="5" name="Gráfico 4">
            <a:extLst>
              <a:ext uri="{FF2B5EF4-FFF2-40B4-BE49-F238E27FC236}">
                <a16:creationId xmlns:a16="http://schemas.microsoft.com/office/drawing/2014/main" id="{2704D963-7D5B-A3F9-3D25-DF2A941A63EB}"/>
              </a:ext>
            </a:extLst>
          </p:cNvPr>
          <p:cNvGraphicFramePr/>
          <p:nvPr>
            <p:extLst>
              <p:ext uri="{D42A27DB-BD31-4B8C-83A1-F6EECF244321}">
                <p14:modId xmlns:p14="http://schemas.microsoft.com/office/powerpoint/2010/main" val="843165717"/>
              </p:ext>
            </p:extLst>
          </p:nvPr>
        </p:nvGraphicFramePr>
        <p:xfrm>
          <a:off x="705755" y="1087576"/>
          <a:ext cx="11213124" cy="4232457"/>
        </p:xfrm>
        <a:graphic>
          <a:graphicData uri="http://schemas.openxmlformats.org/drawingml/2006/chart">
            <c:chart xmlns:c="http://schemas.openxmlformats.org/drawingml/2006/chart" xmlns:r="http://schemas.openxmlformats.org/officeDocument/2006/relationships" r:id="rId2"/>
          </a:graphicData>
        </a:graphic>
      </p:graphicFrame>
      <p:sp>
        <p:nvSpPr>
          <p:cNvPr id="7" name="CuadroTexto 6">
            <a:extLst>
              <a:ext uri="{FF2B5EF4-FFF2-40B4-BE49-F238E27FC236}">
                <a16:creationId xmlns:a16="http://schemas.microsoft.com/office/drawing/2014/main" id="{2EFAB9E9-FC73-C1CD-88CF-2B5AC6025662}"/>
              </a:ext>
            </a:extLst>
          </p:cNvPr>
          <p:cNvSpPr txBox="1"/>
          <p:nvPr/>
        </p:nvSpPr>
        <p:spPr>
          <a:xfrm>
            <a:off x="9395117" y="381418"/>
            <a:ext cx="2134348" cy="769441"/>
          </a:xfrm>
          <a:prstGeom prst="rect">
            <a:avLst/>
          </a:prstGeom>
          <a:noFill/>
        </p:spPr>
        <p:txBody>
          <a:bodyPr wrap="square" rtlCol="0">
            <a:spAutoFit/>
          </a:bodyPr>
          <a:lstStyle/>
          <a:p>
            <a:r>
              <a:rPr lang="es-CO" sz="1100" noProof="0"/>
              <a:t>Población ST  </a:t>
            </a:r>
          </a:p>
          <a:p>
            <a:r>
              <a:rPr lang="es-CO" sz="1100" noProof="0"/>
              <a:t>Enero – agosto 2024:  205</a:t>
            </a:r>
          </a:p>
          <a:p>
            <a:r>
              <a:rPr lang="es-CO" sz="1100" noProof="0"/>
              <a:t>Septiembre 2024 a la fecha: </a:t>
            </a:r>
            <a:r>
              <a:rPr lang="es-CO" sz="1100" noProof="0" err="1"/>
              <a:t>prom</a:t>
            </a:r>
            <a:r>
              <a:rPr lang="es-CO" sz="1100" noProof="0"/>
              <a:t> 205,650</a:t>
            </a:r>
          </a:p>
        </p:txBody>
      </p:sp>
      <p:sp>
        <p:nvSpPr>
          <p:cNvPr id="8" name="CuadroTexto 7">
            <a:extLst>
              <a:ext uri="{FF2B5EF4-FFF2-40B4-BE49-F238E27FC236}">
                <a16:creationId xmlns:a16="http://schemas.microsoft.com/office/drawing/2014/main" id="{C6179EC8-8A64-2BE7-6546-661120A1BD47}"/>
              </a:ext>
            </a:extLst>
          </p:cNvPr>
          <p:cNvSpPr txBox="1"/>
          <p:nvPr/>
        </p:nvSpPr>
        <p:spPr>
          <a:xfrm>
            <a:off x="705755" y="5320033"/>
            <a:ext cx="3371570" cy="246221"/>
          </a:xfrm>
          <a:prstGeom prst="rect">
            <a:avLst/>
          </a:prstGeom>
          <a:noFill/>
        </p:spPr>
        <p:txBody>
          <a:bodyPr wrap="square" rtlCol="0">
            <a:spAutoFit/>
          </a:bodyPr>
          <a:lstStyle/>
          <a:p>
            <a:r>
              <a:rPr lang="es-CO" sz="1000" noProof="0">
                <a:solidFill>
                  <a:srgbClr val="FF0000"/>
                </a:solidFill>
              </a:rPr>
              <a:t>Tasa de incidencia por fecha de diagnostico</a:t>
            </a:r>
          </a:p>
        </p:txBody>
      </p:sp>
      <p:sp>
        <p:nvSpPr>
          <p:cNvPr id="4" name="CuadroTexto 3">
            <a:extLst>
              <a:ext uri="{FF2B5EF4-FFF2-40B4-BE49-F238E27FC236}">
                <a16:creationId xmlns:a16="http://schemas.microsoft.com/office/drawing/2014/main" id="{2193EB8B-339E-56BF-7E9A-1346254A5FF5}"/>
              </a:ext>
            </a:extLst>
          </p:cNvPr>
          <p:cNvSpPr txBox="1"/>
          <p:nvPr/>
        </p:nvSpPr>
        <p:spPr>
          <a:xfrm>
            <a:off x="386862" y="5493672"/>
            <a:ext cx="11532017" cy="646331"/>
          </a:xfrm>
          <a:prstGeom prst="rect">
            <a:avLst/>
          </a:prstGeom>
          <a:noFill/>
        </p:spPr>
        <p:txBody>
          <a:bodyPr wrap="square">
            <a:spAutoFit/>
          </a:bodyPr>
          <a:lstStyle/>
          <a:p>
            <a:r>
              <a:rPr lang="es-CO" noProof="0"/>
              <a:t>Para ene –</a:t>
            </a:r>
            <a:r>
              <a:rPr lang="es-CO"/>
              <a:t> Sept </a:t>
            </a:r>
            <a:r>
              <a:rPr lang="es-CO" noProof="0"/>
              <a:t>de 2026 ingresaron </a:t>
            </a:r>
            <a:r>
              <a:rPr lang="es-CO"/>
              <a:t>354</a:t>
            </a:r>
            <a:r>
              <a:rPr lang="es-CO" noProof="0"/>
              <a:t> usuarios con diagnóstico de </a:t>
            </a:r>
            <a:r>
              <a:rPr lang="es-CO" noProof="0" err="1"/>
              <a:t>novo</a:t>
            </a:r>
            <a:r>
              <a:rPr lang="es-CO" noProof="0"/>
              <a:t>, distribuidos de la siguiente manera: Tumores de piel 37% (n=</a:t>
            </a:r>
            <a:r>
              <a:rPr lang="es-CO"/>
              <a:t>129</a:t>
            </a:r>
            <a:r>
              <a:rPr lang="es-CO" noProof="0"/>
              <a:t>), Próstata 13% (n=</a:t>
            </a:r>
            <a:r>
              <a:rPr lang="es-CO"/>
              <a:t>´46</a:t>
            </a:r>
            <a:r>
              <a:rPr lang="es-CO" noProof="0"/>
              <a:t>), colorrectal 6% (n=</a:t>
            </a:r>
            <a:r>
              <a:rPr lang="es-CO"/>
              <a:t>21</a:t>
            </a:r>
            <a:r>
              <a:rPr lang="es-CO" noProof="0"/>
              <a:t>) , mama 12% (n=</a:t>
            </a:r>
            <a:r>
              <a:rPr lang="es-CO"/>
              <a:t>43</a:t>
            </a:r>
            <a:r>
              <a:rPr lang="es-CO" noProof="0"/>
              <a:t>), y cérvix 4% (n=</a:t>
            </a:r>
            <a:r>
              <a:rPr lang="es-CO"/>
              <a:t>14</a:t>
            </a:r>
            <a:r>
              <a:rPr lang="es-CO" noProof="0"/>
              <a:t>).</a:t>
            </a:r>
          </a:p>
        </p:txBody>
      </p:sp>
      <p:sp>
        <p:nvSpPr>
          <p:cNvPr id="6" name="CuadroTexto 5">
            <a:extLst>
              <a:ext uri="{FF2B5EF4-FFF2-40B4-BE49-F238E27FC236}">
                <a16:creationId xmlns:a16="http://schemas.microsoft.com/office/drawing/2014/main" id="{CE92484D-2F15-D00A-7A25-5CC98B2C065A}"/>
              </a:ext>
            </a:extLst>
          </p:cNvPr>
          <p:cNvSpPr txBox="1"/>
          <p:nvPr/>
        </p:nvSpPr>
        <p:spPr>
          <a:xfrm>
            <a:off x="7575920" y="6581001"/>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Septiembre 2026</a:t>
            </a:r>
          </a:p>
        </p:txBody>
      </p:sp>
      <p:sp>
        <p:nvSpPr>
          <p:cNvPr id="9" name="Título 8">
            <a:extLst>
              <a:ext uri="{FF2B5EF4-FFF2-40B4-BE49-F238E27FC236}">
                <a16:creationId xmlns:a16="http://schemas.microsoft.com/office/drawing/2014/main" id="{97C9F0C6-4462-771A-0073-BE6769C5327F}"/>
              </a:ext>
            </a:extLst>
          </p:cNvPr>
          <p:cNvSpPr>
            <a:spLocks noGrp="1"/>
          </p:cNvSpPr>
          <p:nvPr>
            <p:ph type="ctrTitle"/>
          </p:nvPr>
        </p:nvSpPr>
        <p:spPr/>
        <p:txBody>
          <a:bodyPr/>
          <a:lstStyle/>
          <a:p>
            <a:r>
              <a:rPr lang="es-MX"/>
              <a:t>Incidencia 2025/2026 Salud Total</a:t>
            </a:r>
            <a:endParaRPr lang="es-CO"/>
          </a:p>
        </p:txBody>
      </p:sp>
    </p:spTree>
    <p:extLst>
      <p:ext uri="{BB962C8B-B14F-4D97-AF65-F5344CB8AC3E}">
        <p14:creationId xmlns:p14="http://schemas.microsoft.com/office/powerpoint/2010/main" val="6303294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FF446-5B46-CA70-DBCE-674979B03CB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B782EE5-7A7A-1B3D-002A-D762F41D9C02}"/>
              </a:ext>
            </a:extLst>
          </p:cNvPr>
          <p:cNvSpPr>
            <a:spLocks noGrp="1"/>
          </p:cNvSpPr>
          <p:nvPr>
            <p:ph type="ctrTitle"/>
          </p:nvPr>
        </p:nvSpPr>
        <p:spPr>
          <a:xfrm>
            <a:off x="324545" y="371462"/>
            <a:ext cx="11645759" cy="482784"/>
          </a:xfrm>
        </p:spPr>
        <p:txBody>
          <a:bodyPr>
            <a:noAutofit/>
          </a:bodyPr>
          <a:lstStyle/>
          <a:p>
            <a:r>
              <a:rPr lang="es-CO" noProof="0"/>
              <a:t>Pirámide Poblacional</a:t>
            </a:r>
          </a:p>
        </p:txBody>
      </p:sp>
      <p:sp>
        <p:nvSpPr>
          <p:cNvPr id="4" name="CuadroTexto 3">
            <a:extLst>
              <a:ext uri="{FF2B5EF4-FFF2-40B4-BE49-F238E27FC236}">
                <a16:creationId xmlns:a16="http://schemas.microsoft.com/office/drawing/2014/main" id="{52CFFFBC-39A8-25EB-40B7-EAAB20F5FC74}"/>
              </a:ext>
            </a:extLst>
          </p:cNvPr>
          <p:cNvSpPr txBox="1"/>
          <p:nvPr/>
        </p:nvSpPr>
        <p:spPr>
          <a:xfrm>
            <a:off x="8755019" y="1446969"/>
            <a:ext cx="3215285" cy="3477875"/>
          </a:xfrm>
          <a:prstGeom prst="rect">
            <a:avLst/>
          </a:prstGeom>
          <a:noFill/>
        </p:spPr>
        <p:txBody>
          <a:bodyPr wrap="square" lIns="91440" tIns="45720" rIns="91440" bIns="45720" rtlCol="0" anchor="t">
            <a:spAutoFit/>
          </a:bodyPr>
          <a:lstStyle/>
          <a:p>
            <a:r>
              <a:rPr lang="es-CO" sz="2000" noProof="0">
                <a:ea typeface="+mn-lt"/>
                <a:cs typeface="+mn-lt"/>
              </a:rPr>
              <a:t>La distribución poblacional se concentra en el 62% de los usuarios con edades entre 56 a 80 años.</a:t>
            </a:r>
          </a:p>
          <a:p>
            <a:r>
              <a:rPr lang="es-CO" sz="2000" noProof="0">
                <a:ea typeface="+mn-lt"/>
                <a:cs typeface="+mn-lt"/>
              </a:rPr>
              <a:t>Siendo una población concentrada en el genero masculino entre 66 a 80 años y femenino entre los 56 a 70 años</a:t>
            </a:r>
          </a:p>
          <a:p>
            <a:endParaRPr lang="es-CO" sz="2000" noProof="0">
              <a:ea typeface="+mn-lt"/>
              <a:cs typeface="+mn-lt"/>
            </a:endParaRPr>
          </a:p>
          <a:p>
            <a:endParaRPr lang="es-CO" sz="2000" noProof="0"/>
          </a:p>
        </p:txBody>
      </p:sp>
      <p:graphicFrame>
        <p:nvGraphicFramePr>
          <p:cNvPr id="3" name="Gráfico 2">
            <a:extLst>
              <a:ext uri="{FF2B5EF4-FFF2-40B4-BE49-F238E27FC236}">
                <a16:creationId xmlns:a16="http://schemas.microsoft.com/office/drawing/2014/main" id="{E3324005-CF98-58A2-53A7-4CFE82FD03A8}"/>
              </a:ext>
            </a:extLst>
          </p:cNvPr>
          <p:cNvGraphicFramePr>
            <a:graphicFrameLocks/>
          </p:cNvGraphicFramePr>
          <p:nvPr>
            <p:extLst>
              <p:ext uri="{D42A27DB-BD31-4B8C-83A1-F6EECF244321}">
                <p14:modId xmlns:p14="http://schemas.microsoft.com/office/powerpoint/2010/main" val="2356121988"/>
              </p:ext>
            </p:extLst>
          </p:nvPr>
        </p:nvGraphicFramePr>
        <p:xfrm>
          <a:off x="656492" y="1342291"/>
          <a:ext cx="7268308" cy="4788877"/>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ángulo 5">
            <a:extLst>
              <a:ext uri="{FF2B5EF4-FFF2-40B4-BE49-F238E27FC236}">
                <a16:creationId xmlns:a16="http://schemas.microsoft.com/office/drawing/2014/main" id="{8931DDE9-0658-1E5F-5006-974D9C3F0F45}"/>
              </a:ext>
            </a:extLst>
          </p:cNvPr>
          <p:cNvSpPr/>
          <p:nvPr/>
        </p:nvSpPr>
        <p:spPr>
          <a:xfrm>
            <a:off x="1395046" y="2468880"/>
            <a:ext cx="5638800" cy="960120"/>
          </a:xfrm>
          <a:prstGeom prst="rect">
            <a:avLst/>
          </a:prstGeom>
          <a:noFill/>
          <a:ln>
            <a:solidFill>
              <a:srgbClr val="FF0000"/>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es-CO" noProof="0"/>
          </a:p>
        </p:txBody>
      </p:sp>
      <p:sp>
        <p:nvSpPr>
          <p:cNvPr id="7" name="CuadroTexto 6">
            <a:extLst>
              <a:ext uri="{FF2B5EF4-FFF2-40B4-BE49-F238E27FC236}">
                <a16:creationId xmlns:a16="http://schemas.microsoft.com/office/drawing/2014/main" id="{F9310753-971C-702E-8E05-743ABF2FD8CA}"/>
              </a:ext>
            </a:extLst>
          </p:cNvPr>
          <p:cNvSpPr txBox="1"/>
          <p:nvPr/>
        </p:nvSpPr>
        <p:spPr>
          <a:xfrm>
            <a:off x="7458303" y="6486538"/>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a:t>
            </a:r>
            <a:r>
              <a:rPr lang="es-CO" sz="1200" i="1">
                <a:solidFill>
                  <a:schemeClr val="tx2"/>
                </a:solidFill>
              </a:rPr>
              <a:t>agosto </a:t>
            </a:r>
            <a:r>
              <a:rPr lang="es-CO" sz="1200" i="1" noProof="0">
                <a:solidFill>
                  <a:schemeClr val="tx2"/>
                </a:solidFill>
              </a:rPr>
              <a:t>2026</a:t>
            </a:r>
          </a:p>
        </p:txBody>
      </p:sp>
      <p:graphicFrame>
        <p:nvGraphicFramePr>
          <p:cNvPr id="9" name="Gráfico 8">
            <a:extLst>
              <a:ext uri="{FF2B5EF4-FFF2-40B4-BE49-F238E27FC236}">
                <a16:creationId xmlns:a16="http://schemas.microsoft.com/office/drawing/2014/main" id="{E3324005-CF98-58A2-53A7-4CFE82FD03A8}"/>
              </a:ext>
            </a:extLst>
          </p:cNvPr>
          <p:cNvGraphicFramePr>
            <a:graphicFrameLocks/>
          </p:cNvGraphicFramePr>
          <p:nvPr>
            <p:extLst>
              <p:ext uri="{D42A27DB-BD31-4B8C-83A1-F6EECF244321}">
                <p14:modId xmlns:p14="http://schemas.microsoft.com/office/powerpoint/2010/main" val="2523908667"/>
              </p:ext>
            </p:extLst>
          </p:nvPr>
        </p:nvGraphicFramePr>
        <p:xfrm>
          <a:off x="1178549" y="1912143"/>
          <a:ext cx="5638800" cy="360356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49163163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3FB86-4E6A-8238-CE5F-86803C18B77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A186517-4C4E-AB37-41E7-65DE6E292EDF}"/>
              </a:ext>
            </a:extLst>
          </p:cNvPr>
          <p:cNvSpPr>
            <a:spLocks noGrp="1"/>
          </p:cNvSpPr>
          <p:nvPr>
            <p:ph type="ctrTitle"/>
          </p:nvPr>
        </p:nvSpPr>
        <p:spPr>
          <a:xfrm>
            <a:off x="324545" y="371462"/>
            <a:ext cx="11645759" cy="482784"/>
          </a:xfrm>
        </p:spPr>
        <p:txBody>
          <a:bodyPr>
            <a:noAutofit/>
          </a:bodyPr>
          <a:lstStyle/>
          <a:p>
            <a:r>
              <a:rPr lang="es-CO" noProof="0"/>
              <a:t>Georeferenciación</a:t>
            </a:r>
          </a:p>
        </p:txBody>
      </p:sp>
      <p:sp>
        <p:nvSpPr>
          <p:cNvPr id="6" name="CuadroTexto 5">
            <a:extLst>
              <a:ext uri="{FF2B5EF4-FFF2-40B4-BE49-F238E27FC236}">
                <a16:creationId xmlns:a16="http://schemas.microsoft.com/office/drawing/2014/main" id="{692584A0-4470-5AC5-7B76-E624D3F64CA0}"/>
              </a:ext>
            </a:extLst>
          </p:cNvPr>
          <p:cNvSpPr txBox="1"/>
          <p:nvPr/>
        </p:nvSpPr>
        <p:spPr>
          <a:xfrm>
            <a:off x="8907177" y="5630650"/>
            <a:ext cx="2381651" cy="769441"/>
          </a:xfrm>
          <a:prstGeom prst="rect">
            <a:avLst/>
          </a:prstGeom>
          <a:noFill/>
        </p:spPr>
        <p:txBody>
          <a:bodyPr wrap="square" rtlCol="0">
            <a:spAutoFit/>
          </a:bodyPr>
          <a:lstStyle/>
          <a:p>
            <a:r>
              <a:rPr lang="es-CO" sz="1100" noProof="0"/>
              <a:t>Población  </a:t>
            </a:r>
          </a:p>
          <a:p>
            <a:r>
              <a:rPr lang="es-CO" sz="1100" noProof="0"/>
              <a:t>Enero – agosto 2024:  177.649</a:t>
            </a:r>
          </a:p>
          <a:p>
            <a:r>
              <a:rPr lang="es-CO" sz="1100" noProof="0"/>
              <a:t>Septiembre 2024 a la fecha: </a:t>
            </a:r>
            <a:r>
              <a:rPr lang="es-CO" sz="1100" noProof="0" err="1"/>
              <a:t>prom</a:t>
            </a:r>
            <a:r>
              <a:rPr lang="es-CO" sz="1100" noProof="0"/>
              <a:t> 205,650</a:t>
            </a:r>
          </a:p>
        </p:txBody>
      </p:sp>
      <p:sp>
        <p:nvSpPr>
          <p:cNvPr id="14" name="CuadroTexto 13">
            <a:extLst>
              <a:ext uri="{FF2B5EF4-FFF2-40B4-BE49-F238E27FC236}">
                <a16:creationId xmlns:a16="http://schemas.microsoft.com/office/drawing/2014/main" id="{7DC99029-DD2D-0EB3-386F-EB93A43ABC17}"/>
              </a:ext>
            </a:extLst>
          </p:cNvPr>
          <p:cNvSpPr txBox="1"/>
          <p:nvPr/>
        </p:nvSpPr>
        <p:spPr>
          <a:xfrm>
            <a:off x="8694702" y="1001271"/>
            <a:ext cx="3178285" cy="2862322"/>
          </a:xfrm>
          <a:prstGeom prst="rect">
            <a:avLst/>
          </a:prstGeom>
          <a:noFill/>
        </p:spPr>
        <p:txBody>
          <a:bodyPr wrap="square" lIns="91440" tIns="45720" rIns="91440" bIns="45720" rtlCol="0" anchor="t">
            <a:spAutoFit/>
          </a:bodyPr>
          <a:lstStyle/>
          <a:p>
            <a:r>
              <a:rPr lang="es-CO" sz="2000" b="1" noProof="0">
                <a:ea typeface="+mn-lt"/>
                <a:cs typeface="+mn-lt"/>
              </a:rPr>
              <a:t>Población 3.145</a:t>
            </a:r>
          </a:p>
          <a:p>
            <a:endParaRPr lang="es-CO" sz="2000" noProof="0"/>
          </a:p>
          <a:p>
            <a:r>
              <a:rPr lang="es-CO" sz="2000" noProof="0"/>
              <a:t>La distribución demográfica del PGP son los ubicados al sur del Valle del Cauca con concentración en área urbana de Cali en el 83,6% del total de usuarios en la Cohorte</a:t>
            </a:r>
          </a:p>
        </p:txBody>
      </p:sp>
      <p:sp>
        <p:nvSpPr>
          <p:cNvPr id="17" name="CuadroTexto 16">
            <a:extLst>
              <a:ext uri="{FF2B5EF4-FFF2-40B4-BE49-F238E27FC236}">
                <a16:creationId xmlns:a16="http://schemas.microsoft.com/office/drawing/2014/main" id="{8A98615F-9B87-D929-DA4D-A76AF3E3D48F}"/>
              </a:ext>
            </a:extLst>
          </p:cNvPr>
          <p:cNvSpPr txBox="1"/>
          <p:nvPr/>
        </p:nvSpPr>
        <p:spPr>
          <a:xfrm>
            <a:off x="6629400" y="1562100"/>
            <a:ext cx="749300" cy="215444"/>
          </a:xfrm>
          <a:prstGeom prst="rect">
            <a:avLst/>
          </a:prstGeom>
          <a:noFill/>
        </p:spPr>
        <p:txBody>
          <a:bodyPr wrap="square" rtlCol="0">
            <a:spAutoFit/>
          </a:bodyPr>
          <a:lstStyle/>
          <a:p>
            <a:r>
              <a:rPr lang="es-CO" sz="800" b="1" noProof="0">
                <a:solidFill>
                  <a:srgbClr val="009999"/>
                </a:solidFill>
              </a:rPr>
              <a:t>CARTAGO   3</a:t>
            </a:r>
          </a:p>
        </p:txBody>
      </p:sp>
      <p:grpSp>
        <p:nvGrpSpPr>
          <p:cNvPr id="28" name="Grupo 27">
            <a:extLst>
              <a:ext uri="{FF2B5EF4-FFF2-40B4-BE49-F238E27FC236}">
                <a16:creationId xmlns:a16="http://schemas.microsoft.com/office/drawing/2014/main" id="{1A48B3AD-72AA-51C3-B7B3-A40F852E04AA}"/>
              </a:ext>
            </a:extLst>
          </p:cNvPr>
          <p:cNvGrpSpPr/>
          <p:nvPr/>
        </p:nvGrpSpPr>
        <p:grpSpPr>
          <a:xfrm>
            <a:off x="942339" y="726203"/>
            <a:ext cx="6927055" cy="5580811"/>
            <a:chOff x="942339" y="726203"/>
            <a:chExt cx="6927055" cy="5580811"/>
          </a:xfrm>
        </p:grpSpPr>
        <p:pic>
          <p:nvPicPr>
            <p:cNvPr id="8" name="Imagen 7">
              <a:extLst>
                <a:ext uri="{FF2B5EF4-FFF2-40B4-BE49-F238E27FC236}">
                  <a16:creationId xmlns:a16="http://schemas.microsoft.com/office/drawing/2014/main" id="{3D2370B0-BFE4-F2EE-29C2-E718BD42CBB9}"/>
                </a:ext>
              </a:extLst>
            </p:cNvPr>
            <p:cNvPicPr>
              <a:picLocks noChangeAspect="1"/>
            </p:cNvPicPr>
            <p:nvPr/>
          </p:nvPicPr>
          <p:blipFill>
            <a:blip r:embed="rId3"/>
            <a:stretch>
              <a:fillRect/>
            </a:stretch>
          </p:blipFill>
          <p:spPr>
            <a:xfrm>
              <a:off x="942339" y="726203"/>
              <a:ext cx="6927055" cy="5580811"/>
            </a:xfrm>
            <a:prstGeom prst="rect">
              <a:avLst/>
            </a:prstGeom>
          </p:spPr>
        </p:pic>
        <p:sp>
          <p:nvSpPr>
            <p:cNvPr id="9" name="CuadroTexto 8">
              <a:extLst>
                <a:ext uri="{FF2B5EF4-FFF2-40B4-BE49-F238E27FC236}">
                  <a16:creationId xmlns:a16="http://schemas.microsoft.com/office/drawing/2014/main" id="{A31EC0EA-203C-4217-F88E-B5FB6EEB7BD9}"/>
                </a:ext>
              </a:extLst>
            </p:cNvPr>
            <p:cNvSpPr txBox="1"/>
            <p:nvPr/>
          </p:nvSpPr>
          <p:spPr>
            <a:xfrm>
              <a:off x="2463800" y="5067300"/>
              <a:ext cx="1028700" cy="215444"/>
            </a:xfrm>
            <a:prstGeom prst="rect">
              <a:avLst/>
            </a:prstGeom>
            <a:noFill/>
          </p:spPr>
          <p:txBody>
            <a:bodyPr wrap="square" rtlCol="0">
              <a:spAutoFit/>
            </a:bodyPr>
            <a:lstStyle/>
            <a:p>
              <a:r>
                <a:rPr lang="es-CO" sz="800" b="1" noProof="0">
                  <a:solidFill>
                    <a:srgbClr val="009999"/>
                  </a:solidFill>
                </a:rPr>
                <a:t>BUENAVENTURA 1</a:t>
              </a:r>
            </a:p>
          </p:txBody>
        </p:sp>
        <p:sp>
          <p:nvSpPr>
            <p:cNvPr id="11" name="CuadroTexto 10">
              <a:extLst>
                <a:ext uri="{FF2B5EF4-FFF2-40B4-BE49-F238E27FC236}">
                  <a16:creationId xmlns:a16="http://schemas.microsoft.com/office/drawing/2014/main" id="{55B01C75-AEA7-028D-BC63-56C5A19163B5}"/>
                </a:ext>
              </a:extLst>
            </p:cNvPr>
            <p:cNvSpPr txBox="1"/>
            <p:nvPr/>
          </p:nvSpPr>
          <p:spPr>
            <a:xfrm>
              <a:off x="6451600" y="3962400"/>
              <a:ext cx="635000" cy="215444"/>
            </a:xfrm>
            <a:prstGeom prst="rect">
              <a:avLst/>
            </a:prstGeom>
            <a:noFill/>
          </p:spPr>
          <p:txBody>
            <a:bodyPr wrap="square" rtlCol="0">
              <a:spAutoFit/>
            </a:bodyPr>
            <a:lstStyle/>
            <a:p>
              <a:r>
                <a:rPr lang="es-CO" sz="800" b="1" noProof="0">
                  <a:solidFill>
                    <a:srgbClr val="009999"/>
                  </a:solidFill>
                </a:rPr>
                <a:t>BUGA  9</a:t>
              </a:r>
            </a:p>
          </p:txBody>
        </p:sp>
        <p:sp>
          <p:nvSpPr>
            <p:cNvPr id="12" name="CuadroTexto 11">
              <a:extLst>
                <a:ext uri="{FF2B5EF4-FFF2-40B4-BE49-F238E27FC236}">
                  <a16:creationId xmlns:a16="http://schemas.microsoft.com/office/drawing/2014/main" id="{A5921E32-B9E8-8604-22E0-346224D2EBE1}"/>
                </a:ext>
              </a:extLst>
            </p:cNvPr>
            <p:cNvSpPr txBox="1"/>
            <p:nvPr/>
          </p:nvSpPr>
          <p:spPr>
            <a:xfrm>
              <a:off x="4349674" y="5086122"/>
              <a:ext cx="776683" cy="215444"/>
            </a:xfrm>
            <a:prstGeom prst="rect">
              <a:avLst/>
            </a:prstGeom>
            <a:noFill/>
          </p:spPr>
          <p:txBody>
            <a:bodyPr wrap="square" rtlCol="0">
              <a:spAutoFit/>
            </a:bodyPr>
            <a:lstStyle/>
            <a:p>
              <a:r>
                <a:rPr lang="es-CO" sz="800" b="1" noProof="0">
                  <a:solidFill>
                    <a:srgbClr val="009999"/>
                  </a:solidFill>
                </a:rPr>
                <a:t>CALI   2483</a:t>
              </a:r>
            </a:p>
          </p:txBody>
        </p:sp>
        <p:sp>
          <p:nvSpPr>
            <p:cNvPr id="13" name="CuadroTexto 12">
              <a:extLst>
                <a:ext uri="{FF2B5EF4-FFF2-40B4-BE49-F238E27FC236}">
                  <a16:creationId xmlns:a16="http://schemas.microsoft.com/office/drawing/2014/main" id="{BC2D10EF-F136-8663-26EC-BC35A373ED4F}"/>
                </a:ext>
              </a:extLst>
            </p:cNvPr>
            <p:cNvSpPr txBox="1"/>
            <p:nvPr/>
          </p:nvSpPr>
          <p:spPr>
            <a:xfrm>
              <a:off x="4224578" y="3607027"/>
              <a:ext cx="776683" cy="215444"/>
            </a:xfrm>
            <a:prstGeom prst="rect">
              <a:avLst/>
            </a:prstGeom>
            <a:noFill/>
          </p:spPr>
          <p:txBody>
            <a:bodyPr wrap="square" rtlCol="0">
              <a:spAutoFit/>
            </a:bodyPr>
            <a:lstStyle/>
            <a:p>
              <a:r>
                <a:rPr lang="es-CO" sz="800" b="1" noProof="0">
                  <a:solidFill>
                    <a:srgbClr val="009999"/>
                  </a:solidFill>
                </a:rPr>
                <a:t>CALIMA   1</a:t>
              </a:r>
            </a:p>
          </p:txBody>
        </p:sp>
        <p:sp>
          <p:nvSpPr>
            <p:cNvPr id="15" name="CuadroTexto 14">
              <a:extLst>
                <a:ext uri="{FF2B5EF4-FFF2-40B4-BE49-F238E27FC236}">
                  <a16:creationId xmlns:a16="http://schemas.microsoft.com/office/drawing/2014/main" id="{00DB0180-C208-9960-ED5D-2F2816788347}"/>
                </a:ext>
              </a:extLst>
            </p:cNvPr>
            <p:cNvSpPr txBox="1"/>
            <p:nvPr/>
          </p:nvSpPr>
          <p:spPr>
            <a:xfrm>
              <a:off x="5001261" y="5086122"/>
              <a:ext cx="776683" cy="338554"/>
            </a:xfrm>
            <a:prstGeom prst="rect">
              <a:avLst/>
            </a:prstGeom>
            <a:noFill/>
          </p:spPr>
          <p:txBody>
            <a:bodyPr wrap="square" rtlCol="0">
              <a:spAutoFit/>
            </a:bodyPr>
            <a:lstStyle/>
            <a:p>
              <a:r>
                <a:rPr lang="es-CO" sz="800" b="1" noProof="0">
                  <a:solidFill>
                    <a:srgbClr val="009999"/>
                  </a:solidFill>
                </a:rPr>
                <a:t>CANDELARIA 22</a:t>
              </a:r>
            </a:p>
          </p:txBody>
        </p:sp>
        <p:sp>
          <p:nvSpPr>
            <p:cNvPr id="18" name="CuadroTexto 17">
              <a:extLst>
                <a:ext uri="{FF2B5EF4-FFF2-40B4-BE49-F238E27FC236}">
                  <a16:creationId xmlns:a16="http://schemas.microsoft.com/office/drawing/2014/main" id="{1EB989F4-B798-DA20-70DC-E4023A25358F}"/>
                </a:ext>
              </a:extLst>
            </p:cNvPr>
            <p:cNvSpPr txBox="1"/>
            <p:nvPr/>
          </p:nvSpPr>
          <p:spPr>
            <a:xfrm>
              <a:off x="3821666" y="4591708"/>
              <a:ext cx="635000" cy="215444"/>
            </a:xfrm>
            <a:prstGeom prst="rect">
              <a:avLst/>
            </a:prstGeom>
            <a:noFill/>
          </p:spPr>
          <p:txBody>
            <a:bodyPr wrap="square" rtlCol="0">
              <a:spAutoFit/>
            </a:bodyPr>
            <a:lstStyle/>
            <a:p>
              <a:r>
                <a:rPr lang="es-CO" sz="800" b="1" noProof="0">
                  <a:solidFill>
                    <a:srgbClr val="009999"/>
                  </a:solidFill>
                </a:rPr>
                <a:t>DAGUA  1</a:t>
              </a:r>
            </a:p>
          </p:txBody>
        </p:sp>
        <p:sp>
          <p:nvSpPr>
            <p:cNvPr id="19" name="CuadroTexto 18">
              <a:extLst>
                <a:ext uri="{FF2B5EF4-FFF2-40B4-BE49-F238E27FC236}">
                  <a16:creationId xmlns:a16="http://schemas.microsoft.com/office/drawing/2014/main" id="{6941A215-FF64-AF9C-FBE6-F53C1731B166}"/>
                </a:ext>
              </a:extLst>
            </p:cNvPr>
            <p:cNvSpPr txBox="1"/>
            <p:nvPr/>
          </p:nvSpPr>
          <p:spPr>
            <a:xfrm>
              <a:off x="5553429" y="4460419"/>
              <a:ext cx="885471" cy="215444"/>
            </a:xfrm>
            <a:prstGeom prst="rect">
              <a:avLst/>
            </a:prstGeom>
            <a:noFill/>
          </p:spPr>
          <p:txBody>
            <a:bodyPr wrap="square" rtlCol="0">
              <a:spAutoFit/>
            </a:bodyPr>
            <a:lstStyle/>
            <a:p>
              <a:r>
                <a:rPr lang="es-CO" sz="800" b="1" noProof="0">
                  <a:solidFill>
                    <a:srgbClr val="009999"/>
                  </a:solidFill>
                </a:rPr>
                <a:t>EL CERRITO  10</a:t>
              </a:r>
            </a:p>
          </p:txBody>
        </p:sp>
        <p:sp>
          <p:nvSpPr>
            <p:cNvPr id="20" name="CuadroTexto 19">
              <a:extLst>
                <a:ext uri="{FF2B5EF4-FFF2-40B4-BE49-F238E27FC236}">
                  <a16:creationId xmlns:a16="http://schemas.microsoft.com/office/drawing/2014/main" id="{04D9FEB5-5894-7818-57B7-5D7BF2EDAAA0}"/>
                </a:ext>
              </a:extLst>
            </p:cNvPr>
            <p:cNvSpPr txBox="1"/>
            <p:nvPr/>
          </p:nvSpPr>
          <p:spPr>
            <a:xfrm>
              <a:off x="5816600" y="5383716"/>
              <a:ext cx="812800" cy="215444"/>
            </a:xfrm>
            <a:prstGeom prst="rect">
              <a:avLst/>
            </a:prstGeom>
            <a:noFill/>
          </p:spPr>
          <p:txBody>
            <a:bodyPr wrap="square" rtlCol="0">
              <a:spAutoFit/>
            </a:bodyPr>
            <a:lstStyle/>
            <a:p>
              <a:r>
                <a:rPr lang="es-CO" sz="800" b="1" noProof="0">
                  <a:solidFill>
                    <a:srgbClr val="009999"/>
                  </a:solidFill>
                </a:rPr>
                <a:t>FLORIDA  8</a:t>
              </a:r>
            </a:p>
          </p:txBody>
        </p:sp>
        <p:sp>
          <p:nvSpPr>
            <p:cNvPr id="21" name="CuadroTexto 20">
              <a:extLst>
                <a:ext uri="{FF2B5EF4-FFF2-40B4-BE49-F238E27FC236}">
                  <a16:creationId xmlns:a16="http://schemas.microsoft.com/office/drawing/2014/main" id="{CA1E02B7-F4D3-6A0F-7E10-B9433F07713D}"/>
                </a:ext>
              </a:extLst>
            </p:cNvPr>
            <p:cNvSpPr txBox="1"/>
            <p:nvPr/>
          </p:nvSpPr>
          <p:spPr>
            <a:xfrm>
              <a:off x="4088365" y="5706850"/>
              <a:ext cx="776683" cy="215444"/>
            </a:xfrm>
            <a:prstGeom prst="rect">
              <a:avLst/>
            </a:prstGeom>
            <a:noFill/>
          </p:spPr>
          <p:txBody>
            <a:bodyPr wrap="square" rtlCol="0">
              <a:spAutoFit/>
            </a:bodyPr>
            <a:lstStyle/>
            <a:p>
              <a:r>
                <a:rPr lang="es-CO" sz="800" b="1" noProof="0">
                  <a:solidFill>
                    <a:srgbClr val="009999"/>
                  </a:solidFill>
                </a:rPr>
                <a:t>JAMUNDI  68</a:t>
              </a:r>
            </a:p>
          </p:txBody>
        </p:sp>
        <p:sp>
          <p:nvSpPr>
            <p:cNvPr id="22" name="CuadroTexto 21">
              <a:extLst>
                <a:ext uri="{FF2B5EF4-FFF2-40B4-BE49-F238E27FC236}">
                  <a16:creationId xmlns:a16="http://schemas.microsoft.com/office/drawing/2014/main" id="{D956F492-8AB6-E988-3D5F-E692E07742A3}"/>
                </a:ext>
              </a:extLst>
            </p:cNvPr>
            <p:cNvSpPr txBox="1"/>
            <p:nvPr/>
          </p:nvSpPr>
          <p:spPr>
            <a:xfrm>
              <a:off x="5553429" y="4734723"/>
              <a:ext cx="776683" cy="215444"/>
            </a:xfrm>
            <a:prstGeom prst="rect">
              <a:avLst/>
            </a:prstGeom>
            <a:noFill/>
          </p:spPr>
          <p:txBody>
            <a:bodyPr wrap="square" rtlCol="0">
              <a:spAutoFit/>
            </a:bodyPr>
            <a:lstStyle/>
            <a:p>
              <a:r>
                <a:rPr lang="es-CO" sz="800" b="1" noProof="0">
                  <a:solidFill>
                    <a:srgbClr val="009999"/>
                  </a:solidFill>
                </a:rPr>
                <a:t>PALMIRA  233</a:t>
              </a:r>
            </a:p>
          </p:txBody>
        </p:sp>
        <p:sp>
          <p:nvSpPr>
            <p:cNvPr id="23" name="CuadroTexto 22">
              <a:extLst>
                <a:ext uri="{FF2B5EF4-FFF2-40B4-BE49-F238E27FC236}">
                  <a16:creationId xmlns:a16="http://schemas.microsoft.com/office/drawing/2014/main" id="{A9B6B791-3F42-859A-B03A-2179396D768A}"/>
                </a:ext>
              </a:extLst>
            </p:cNvPr>
            <p:cNvSpPr txBox="1"/>
            <p:nvPr/>
          </p:nvSpPr>
          <p:spPr>
            <a:xfrm>
              <a:off x="5741024" y="5067300"/>
              <a:ext cx="812800" cy="215444"/>
            </a:xfrm>
            <a:prstGeom prst="rect">
              <a:avLst/>
            </a:prstGeom>
            <a:noFill/>
          </p:spPr>
          <p:txBody>
            <a:bodyPr wrap="square" rtlCol="0">
              <a:spAutoFit/>
            </a:bodyPr>
            <a:lstStyle/>
            <a:p>
              <a:r>
                <a:rPr lang="es-CO" sz="800" b="1" noProof="0">
                  <a:solidFill>
                    <a:srgbClr val="009999"/>
                  </a:solidFill>
                </a:rPr>
                <a:t>PRADERA  13</a:t>
              </a:r>
            </a:p>
          </p:txBody>
        </p:sp>
        <p:sp>
          <p:nvSpPr>
            <p:cNvPr id="24" name="CuadroTexto 23">
              <a:extLst>
                <a:ext uri="{FF2B5EF4-FFF2-40B4-BE49-F238E27FC236}">
                  <a16:creationId xmlns:a16="http://schemas.microsoft.com/office/drawing/2014/main" id="{F8263CDF-236F-B358-0812-BAADF9710D2D}"/>
                </a:ext>
              </a:extLst>
            </p:cNvPr>
            <p:cNvSpPr txBox="1"/>
            <p:nvPr/>
          </p:nvSpPr>
          <p:spPr>
            <a:xfrm>
              <a:off x="4635780" y="4620384"/>
              <a:ext cx="669571" cy="215444"/>
            </a:xfrm>
            <a:prstGeom prst="rect">
              <a:avLst/>
            </a:prstGeom>
            <a:noFill/>
          </p:spPr>
          <p:txBody>
            <a:bodyPr wrap="square" rtlCol="0">
              <a:spAutoFit/>
            </a:bodyPr>
            <a:lstStyle/>
            <a:p>
              <a:r>
                <a:rPr lang="es-CO" sz="800" b="1" noProof="0">
                  <a:solidFill>
                    <a:srgbClr val="009999"/>
                  </a:solidFill>
                </a:rPr>
                <a:t>YUMBO  51</a:t>
              </a:r>
            </a:p>
          </p:txBody>
        </p:sp>
        <p:sp>
          <p:nvSpPr>
            <p:cNvPr id="25" name="CuadroTexto 24">
              <a:extLst>
                <a:ext uri="{FF2B5EF4-FFF2-40B4-BE49-F238E27FC236}">
                  <a16:creationId xmlns:a16="http://schemas.microsoft.com/office/drawing/2014/main" id="{3526C308-8889-9655-473F-EA04CFA12B29}"/>
                </a:ext>
              </a:extLst>
            </p:cNvPr>
            <p:cNvSpPr txBox="1"/>
            <p:nvPr/>
          </p:nvSpPr>
          <p:spPr>
            <a:xfrm>
              <a:off x="6451600" y="3410405"/>
              <a:ext cx="776683" cy="215444"/>
            </a:xfrm>
            <a:prstGeom prst="rect">
              <a:avLst/>
            </a:prstGeom>
            <a:noFill/>
          </p:spPr>
          <p:txBody>
            <a:bodyPr wrap="square" rtlCol="0">
              <a:spAutoFit/>
            </a:bodyPr>
            <a:lstStyle/>
            <a:p>
              <a:r>
                <a:rPr lang="es-CO" sz="800" b="1" noProof="0">
                  <a:solidFill>
                    <a:srgbClr val="009999"/>
                  </a:solidFill>
                </a:rPr>
                <a:t>TULUA  32</a:t>
              </a:r>
            </a:p>
          </p:txBody>
        </p:sp>
        <p:sp>
          <p:nvSpPr>
            <p:cNvPr id="26" name="CuadroTexto 25">
              <a:extLst>
                <a:ext uri="{FF2B5EF4-FFF2-40B4-BE49-F238E27FC236}">
                  <a16:creationId xmlns:a16="http://schemas.microsoft.com/office/drawing/2014/main" id="{3F19D539-2003-CB9C-0CF7-26DFC34347AF}"/>
                </a:ext>
              </a:extLst>
            </p:cNvPr>
            <p:cNvSpPr txBox="1"/>
            <p:nvPr/>
          </p:nvSpPr>
          <p:spPr>
            <a:xfrm>
              <a:off x="4335476" y="4242128"/>
              <a:ext cx="669571" cy="338554"/>
            </a:xfrm>
            <a:prstGeom prst="rect">
              <a:avLst/>
            </a:prstGeom>
            <a:noFill/>
          </p:spPr>
          <p:txBody>
            <a:bodyPr wrap="square" rtlCol="0">
              <a:spAutoFit/>
            </a:bodyPr>
            <a:lstStyle/>
            <a:p>
              <a:r>
                <a:rPr lang="es-CO" sz="800" b="1" noProof="0">
                  <a:solidFill>
                    <a:srgbClr val="009999"/>
                  </a:solidFill>
                </a:rPr>
                <a:t>LA CUMBRE  2</a:t>
              </a:r>
            </a:p>
          </p:txBody>
        </p:sp>
      </p:grpSp>
      <p:sp>
        <p:nvSpPr>
          <p:cNvPr id="4" name="CuadroTexto 3">
            <a:extLst>
              <a:ext uri="{FF2B5EF4-FFF2-40B4-BE49-F238E27FC236}">
                <a16:creationId xmlns:a16="http://schemas.microsoft.com/office/drawing/2014/main" id="{AC686C4C-8EF3-9E17-E831-C40CCC0B675C}"/>
              </a:ext>
            </a:extLst>
          </p:cNvPr>
          <p:cNvSpPr txBox="1"/>
          <p:nvPr/>
        </p:nvSpPr>
        <p:spPr>
          <a:xfrm>
            <a:off x="7533255" y="6486538"/>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a:t>
            </a:r>
            <a:r>
              <a:rPr lang="es-CO" sz="1200" i="1">
                <a:solidFill>
                  <a:schemeClr val="tx2"/>
                </a:solidFill>
              </a:rPr>
              <a:t> Agosto </a:t>
            </a:r>
            <a:r>
              <a:rPr lang="es-CO" sz="1200" i="1" noProof="0">
                <a:solidFill>
                  <a:schemeClr val="tx2"/>
                </a:solidFill>
              </a:rPr>
              <a:t>2026</a:t>
            </a:r>
          </a:p>
        </p:txBody>
      </p:sp>
    </p:spTree>
    <p:extLst>
      <p:ext uri="{BB962C8B-B14F-4D97-AF65-F5344CB8AC3E}">
        <p14:creationId xmlns:p14="http://schemas.microsoft.com/office/powerpoint/2010/main" val="259329528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4E968-E707-FE69-B16C-7A0D271113C1}"/>
            </a:ext>
          </a:extLst>
        </p:cNvPr>
        <p:cNvGrpSpPr/>
        <p:nvPr/>
      </p:nvGrpSpPr>
      <p:grpSpPr>
        <a:xfrm>
          <a:off x="0" y="0"/>
          <a:ext cx="0" cy="0"/>
          <a:chOff x="0" y="0"/>
          <a:chExt cx="0" cy="0"/>
        </a:xfrm>
      </p:grpSpPr>
      <p:sp>
        <p:nvSpPr>
          <p:cNvPr id="7" name="Título 1">
            <a:extLst>
              <a:ext uri="{FF2B5EF4-FFF2-40B4-BE49-F238E27FC236}">
                <a16:creationId xmlns:a16="http://schemas.microsoft.com/office/drawing/2014/main" id="{B6C94F23-9FC9-2615-8C98-9884C584F09E}"/>
              </a:ext>
            </a:extLst>
          </p:cNvPr>
          <p:cNvSpPr>
            <a:spLocks noGrp="1"/>
          </p:cNvSpPr>
          <p:nvPr/>
        </p:nvSpPr>
        <p:spPr>
          <a:xfrm>
            <a:off x="461735" y="0"/>
            <a:ext cx="11268529" cy="831358"/>
          </a:xfrm>
          <a:prstGeom prst="rect">
            <a:avLst/>
          </a:prstGeom>
        </p:spPr>
        <p:txBody>
          <a:bodyPr vert="horz" lIns="91440" tIns="45720" rIns="91440" bIns="45720" rtlCol="0" anchor="b">
            <a:normAutofit/>
          </a:bodyPr>
          <a:lstStyle>
            <a:lvl1pPr marL="0" indent="0" algn="ctr" defTabSz="914400" rtl="0" eaLnBrk="1" latinLnBrk="0" hangingPunct="1">
              <a:lnSpc>
                <a:spcPct val="90000"/>
              </a:lnSpc>
              <a:spcBef>
                <a:spcPct val="0"/>
              </a:spcBef>
              <a:buNone/>
              <a:defRPr lang="es-CO" sz="4400" b="1" kern="1200" dirty="0">
                <a:solidFill>
                  <a:schemeClr val="tx1"/>
                </a:solidFill>
                <a:latin typeface="+mj-lt"/>
                <a:ea typeface="+mj-ea"/>
                <a:cs typeface="+mj-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s-CO" noProof="0"/>
              <a:t>Distribución por tipo de Cáncer 2026</a:t>
            </a:r>
          </a:p>
        </p:txBody>
      </p:sp>
      <p:sp>
        <p:nvSpPr>
          <p:cNvPr id="6" name="CuadroTexto 5">
            <a:extLst>
              <a:ext uri="{FF2B5EF4-FFF2-40B4-BE49-F238E27FC236}">
                <a16:creationId xmlns:a16="http://schemas.microsoft.com/office/drawing/2014/main" id="{FAC0DBFE-7FE4-4E6C-9840-FF165A9CE8B9}"/>
              </a:ext>
            </a:extLst>
          </p:cNvPr>
          <p:cNvSpPr txBox="1"/>
          <p:nvPr/>
        </p:nvSpPr>
        <p:spPr>
          <a:xfrm>
            <a:off x="7518265" y="6579625"/>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a:t>
            </a:r>
            <a:r>
              <a:rPr lang="es-CO" sz="1200" i="1" noProof="0" err="1">
                <a:solidFill>
                  <a:schemeClr val="tx2"/>
                </a:solidFill>
              </a:rPr>
              <a:t>Sep</a:t>
            </a:r>
            <a:r>
              <a:rPr lang="es-CO" sz="1200" i="1" err="1">
                <a:solidFill>
                  <a:schemeClr val="tx2"/>
                </a:solidFill>
              </a:rPr>
              <a:t>tiembre</a:t>
            </a:r>
            <a:r>
              <a:rPr lang="es-CO" sz="1200" i="1" noProof="0">
                <a:solidFill>
                  <a:schemeClr val="tx2"/>
                </a:solidFill>
              </a:rPr>
              <a:t> 2026</a:t>
            </a:r>
          </a:p>
        </p:txBody>
      </p:sp>
      <p:graphicFrame>
        <p:nvGraphicFramePr>
          <p:cNvPr id="2" name="Gráfico 1">
            <a:extLst>
              <a:ext uri="{FF2B5EF4-FFF2-40B4-BE49-F238E27FC236}">
                <a16:creationId xmlns:a16="http://schemas.microsoft.com/office/drawing/2014/main" id="{5040FFA2-E555-CC87-C74E-08BAB73042D9}"/>
              </a:ext>
            </a:extLst>
          </p:cNvPr>
          <p:cNvGraphicFramePr>
            <a:graphicFrameLocks/>
          </p:cNvGraphicFramePr>
          <p:nvPr>
            <p:extLst>
              <p:ext uri="{D42A27DB-BD31-4B8C-83A1-F6EECF244321}">
                <p14:modId xmlns:p14="http://schemas.microsoft.com/office/powerpoint/2010/main" val="3900593991"/>
              </p:ext>
            </p:extLst>
          </p:nvPr>
        </p:nvGraphicFramePr>
        <p:xfrm>
          <a:off x="461735" y="1184031"/>
          <a:ext cx="11425465" cy="50995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36331615"/>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AEE7BF9D-DE93-CE01-349C-5F04D5D54229}"/>
              </a:ext>
            </a:extLst>
          </p:cNvPr>
          <p:cNvSpPr>
            <a:spLocks noGrp="1"/>
          </p:cNvSpPr>
          <p:nvPr>
            <p:ph type="ctrTitle"/>
          </p:nvPr>
        </p:nvSpPr>
        <p:spPr>
          <a:xfrm>
            <a:off x="250052" y="131720"/>
            <a:ext cx="11645759" cy="598709"/>
          </a:xfrm>
        </p:spPr>
        <p:txBody>
          <a:bodyPr>
            <a:noAutofit/>
          </a:bodyPr>
          <a:lstStyle/>
          <a:p>
            <a:r>
              <a:rPr lang="es-CO" sz="3600" noProof="0"/>
              <a:t>Distribución por tipo de cáncer </a:t>
            </a:r>
            <a:r>
              <a:rPr lang="es-CO" sz="3600" u="sng" noProof="0"/>
              <a:t>priorizado</a:t>
            </a:r>
            <a:r>
              <a:rPr lang="es-CO" sz="3600" noProof="0"/>
              <a:t> Salud Total</a:t>
            </a:r>
          </a:p>
        </p:txBody>
      </p:sp>
      <p:sp>
        <p:nvSpPr>
          <p:cNvPr id="7" name="CuadroTexto 6">
            <a:extLst>
              <a:ext uri="{FF2B5EF4-FFF2-40B4-BE49-F238E27FC236}">
                <a16:creationId xmlns:a16="http://schemas.microsoft.com/office/drawing/2014/main" id="{35DD3601-4936-7BF5-D98E-D9AAE6FD9110}"/>
              </a:ext>
            </a:extLst>
          </p:cNvPr>
          <p:cNvSpPr txBox="1"/>
          <p:nvPr/>
        </p:nvSpPr>
        <p:spPr>
          <a:xfrm>
            <a:off x="7458304" y="6581001"/>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Septiembre</a:t>
            </a:r>
            <a:r>
              <a:rPr lang="es-CO" sz="1200" i="1">
                <a:solidFill>
                  <a:schemeClr val="tx2"/>
                </a:solidFill>
              </a:rPr>
              <a:t> </a:t>
            </a:r>
            <a:r>
              <a:rPr lang="es-CO" sz="1200" i="1" noProof="0">
                <a:solidFill>
                  <a:schemeClr val="tx2"/>
                </a:solidFill>
              </a:rPr>
              <a:t>2026</a:t>
            </a:r>
          </a:p>
        </p:txBody>
      </p:sp>
      <p:graphicFrame>
        <p:nvGraphicFramePr>
          <p:cNvPr id="2" name="Gráfico 1">
            <a:extLst>
              <a:ext uri="{FF2B5EF4-FFF2-40B4-BE49-F238E27FC236}">
                <a16:creationId xmlns:a16="http://schemas.microsoft.com/office/drawing/2014/main" id="{A4733913-57C4-8CC3-D561-450A44A4937B}"/>
              </a:ext>
              <a:ext uri="{147F2762-F138-4A5C-976F-8EAC2B608ADB}">
                <a16:predDERef xmlns:a16="http://schemas.microsoft.com/office/drawing/2014/main" pred="{A0BE2A98-0309-FFFC-69F6-4FCB9B441957}"/>
              </a:ext>
            </a:extLst>
          </p:cNvPr>
          <p:cNvGraphicFramePr>
            <a:graphicFrameLocks/>
          </p:cNvGraphicFramePr>
          <p:nvPr>
            <p:extLst>
              <p:ext uri="{D42A27DB-BD31-4B8C-83A1-F6EECF244321}">
                <p14:modId xmlns:p14="http://schemas.microsoft.com/office/powerpoint/2010/main" val="2950331333"/>
              </p:ext>
            </p:extLst>
          </p:nvPr>
        </p:nvGraphicFramePr>
        <p:xfrm>
          <a:off x="656492" y="869504"/>
          <a:ext cx="1116043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Gráfico 5">
            <a:extLst>
              <a:ext uri="{FF2B5EF4-FFF2-40B4-BE49-F238E27FC236}">
                <a16:creationId xmlns:a16="http://schemas.microsoft.com/office/drawing/2014/main" id="{1311ABE9-EAA9-9E8C-7331-17E8ED490967}"/>
              </a:ext>
              <a:ext uri="{147F2762-F138-4A5C-976F-8EAC2B608ADB}">
                <a16:predDERef xmlns:a16="http://schemas.microsoft.com/office/drawing/2014/main" pred="{A4733913-57C4-8CC3-D561-450A44A4937B}"/>
              </a:ext>
            </a:extLst>
          </p:cNvPr>
          <p:cNvGraphicFramePr>
            <a:graphicFrameLocks/>
          </p:cNvGraphicFramePr>
          <p:nvPr>
            <p:extLst>
              <p:ext uri="{D42A27DB-BD31-4B8C-83A1-F6EECF244321}">
                <p14:modId xmlns:p14="http://schemas.microsoft.com/office/powerpoint/2010/main" val="1240192776"/>
              </p:ext>
            </p:extLst>
          </p:nvPr>
        </p:nvGraphicFramePr>
        <p:xfrm>
          <a:off x="656492" y="3612704"/>
          <a:ext cx="11239319"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166650709"/>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30529D67-E062-AADA-076F-ABD59CF4E37E}"/>
              </a:ext>
            </a:extLst>
          </p:cNvPr>
          <p:cNvSpPr>
            <a:spLocks noGrp="1"/>
          </p:cNvSpPr>
          <p:nvPr>
            <p:ph type="ctrTitle"/>
          </p:nvPr>
        </p:nvSpPr>
        <p:spPr>
          <a:xfrm>
            <a:off x="273117" y="182814"/>
            <a:ext cx="11645759" cy="598709"/>
          </a:xfrm>
        </p:spPr>
        <p:txBody>
          <a:bodyPr>
            <a:noAutofit/>
          </a:bodyPr>
          <a:lstStyle/>
          <a:p>
            <a:r>
              <a:rPr lang="es-CO" sz="3600" noProof="0"/>
              <a:t>Distribución por tipo de cáncer NO </a:t>
            </a:r>
            <a:r>
              <a:rPr lang="es-CO" sz="3600" u="sng" noProof="0"/>
              <a:t>priorizado</a:t>
            </a:r>
            <a:r>
              <a:rPr lang="es-CO" sz="3600" noProof="0"/>
              <a:t> Salud Total</a:t>
            </a:r>
          </a:p>
        </p:txBody>
      </p:sp>
      <p:sp>
        <p:nvSpPr>
          <p:cNvPr id="3" name="CuadroTexto 2">
            <a:extLst>
              <a:ext uri="{FF2B5EF4-FFF2-40B4-BE49-F238E27FC236}">
                <a16:creationId xmlns:a16="http://schemas.microsoft.com/office/drawing/2014/main" id="{4FCC36E1-07C8-DF6C-B48C-2084FF8778C2}"/>
              </a:ext>
            </a:extLst>
          </p:cNvPr>
          <p:cNvSpPr txBox="1"/>
          <p:nvPr/>
        </p:nvSpPr>
        <p:spPr>
          <a:xfrm>
            <a:off x="7458304" y="6581001"/>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a:t>
            </a:r>
            <a:r>
              <a:rPr lang="es-CO" sz="1200" i="1">
                <a:solidFill>
                  <a:schemeClr val="tx2"/>
                </a:solidFill>
              </a:rPr>
              <a:t>Septiembre</a:t>
            </a:r>
            <a:r>
              <a:rPr lang="es-CO" sz="1200" i="1" noProof="0">
                <a:solidFill>
                  <a:schemeClr val="tx2"/>
                </a:solidFill>
              </a:rPr>
              <a:t> 2026</a:t>
            </a:r>
          </a:p>
        </p:txBody>
      </p:sp>
      <p:graphicFrame>
        <p:nvGraphicFramePr>
          <p:cNvPr id="5" name="Gráfico 4">
            <a:extLst>
              <a:ext uri="{FF2B5EF4-FFF2-40B4-BE49-F238E27FC236}">
                <a16:creationId xmlns:a16="http://schemas.microsoft.com/office/drawing/2014/main" id="{582FD8CD-621B-E26F-DF03-A1E5041E2B4B}"/>
              </a:ext>
              <a:ext uri="{147F2762-F138-4A5C-976F-8EAC2B608ADB}">
                <a16:predDERef xmlns:a16="http://schemas.microsoft.com/office/drawing/2014/main" pred="{1311ABE9-EAA9-9E8C-7331-17E8ED490967}"/>
              </a:ext>
            </a:extLst>
          </p:cNvPr>
          <p:cNvGraphicFramePr>
            <a:graphicFrameLocks/>
          </p:cNvGraphicFramePr>
          <p:nvPr>
            <p:extLst>
              <p:ext uri="{D42A27DB-BD31-4B8C-83A1-F6EECF244321}">
                <p14:modId xmlns:p14="http://schemas.microsoft.com/office/powerpoint/2010/main" val="868579090"/>
              </p:ext>
            </p:extLst>
          </p:nvPr>
        </p:nvGraphicFramePr>
        <p:xfrm>
          <a:off x="539262" y="935188"/>
          <a:ext cx="11265875"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Gráfico 7">
            <a:extLst>
              <a:ext uri="{FF2B5EF4-FFF2-40B4-BE49-F238E27FC236}">
                <a16:creationId xmlns:a16="http://schemas.microsoft.com/office/drawing/2014/main" id="{F4DD3CEB-8E71-077F-B9FD-054EA78A125A}"/>
              </a:ext>
            </a:extLst>
          </p:cNvPr>
          <p:cNvGraphicFramePr>
            <a:graphicFrameLocks/>
          </p:cNvGraphicFramePr>
          <p:nvPr>
            <p:extLst>
              <p:ext uri="{D42A27DB-BD31-4B8C-83A1-F6EECF244321}">
                <p14:modId xmlns:p14="http://schemas.microsoft.com/office/powerpoint/2010/main" val="3573261545"/>
              </p:ext>
            </p:extLst>
          </p:nvPr>
        </p:nvGraphicFramePr>
        <p:xfrm>
          <a:off x="697832" y="3678388"/>
          <a:ext cx="10954906"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067491499"/>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57357-0F0F-4091-2463-CEE2500BA28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4E3FB18-9566-E953-D2E4-94DEB630638C}"/>
              </a:ext>
            </a:extLst>
          </p:cNvPr>
          <p:cNvSpPr>
            <a:spLocks noGrp="1"/>
          </p:cNvSpPr>
          <p:nvPr>
            <p:ph type="ctrTitle"/>
          </p:nvPr>
        </p:nvSpPr>
        <p:spPr>
          <a:xfrm>
            <a:off x="112755" y="101617"/>
            <a:ext cx="11645759" cy="482784"/>
          </a:xfrm>
        </p:spPr>
        <p:txBody>
          <a:bodyPr>
            <a:noAutofit/>
          </a:bodyPr>
          <a:lstStyle/>
          <a:p>
            <a:r>
              <a:rPr lang="es-CO" noProof="0"/>
              <a:t>Oportunidad Ingreso</a:t>
            </a:r>
          </a:p>
        </p:txBody>
      </p:sp>
      <p:sp>
        <p:nvSpPr>
          <p:cNvPr id="8" name="CuadroTexto 7">
            <a:extLst>
              <a:ext uri="{FF2B5EF4-FFF2-40B4-BE49-F238E27FC236}">
                <a16:creationId xmlns:a16="http://schemas.microsoft.com/office/drawing/2014/main" id="{645CF7D5-7A05-91B1-3EAB-D07511ED4CA2}"/>
              </a:ext>
            </a:extLst>
          </p:cNvPr>
          <p:cNvSpPr txBox="1"/>
          <p:nvPr/>
        </p:nvSpPr>
        <p:spPr>
          <a:xfrm>
            <a:off x="762000" y="5378346"/>
            <a:ext cx="11101137" cy="923330"/>
          </a:xfrm>
          <a:prstGeom prst="rect">
            <a:avLst/>
          </a:prstGeom>
          <a:noFill/>
        </p:spPr>
        <p:txBody>
          <a:bodyPr wrap="square" lIns="91440" tIns="45720" rIns="91440" bIns="45720" rtlCol="0" anchor="t">
            <a:spAutoFit/>
          </a:bodyPr>
          <a:lstStyle/>
          <a:p>
            <a:pPr algn="just"/>
            <a:r>
              <a:rPr lang="es-CO" noProof="0"/>
              <a:t>Del total de ingresos mensuales, en promedio, el </a:t>
            </a:r>
            <a:r>
              <a:rPr lang="es-CO"/>
              <a:t>31.7</a:t>
            </a:r>
            <a:r>
              <a:rPr lang="es-CO" noProof="0"/>
              <a:t>% de los incidentes ingresan a la cohorte en el mismo mes de su diagnóstico; el 37,2% ingresan en el mes siguiente a su diagnóstico. El 10,6% ingresan a la cohorte dos meses después de su diagnóstico. </a:t>
            </a:r>
          </a:p>
        </p:txBody>
      </p:sp>
      <p:sp>
        <p:nvSpPr>
          <p:cNvPr id="9" name="CuadroTexto 8">
            <a:extLst>
              <a:ext uri="{FF2B5EF4-FFF2-40B4-BE49-F238E27FC236}">
                <a16:creationId xmlns:a16="http://schemas.microsoft.com/office/drawing/2014/main" id="{B704E841-9C53-EC03-C1C6-A551AAFC72AB}"/>
              </a:ext>
            </a:extLst>
          </p:cNvPr>
          <p:cNvSpPr txBox="1"/>
          <p:nvPr/>
        </p:nvSpPr>
        <p:spPr>
          <a:xfrm>
            <a:off x="7008599" y="6581001"/>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a:t>
            </a:r>
            <a:r>
              <a:rPr lang="es-CO" sz="1200" i="1">
                <a:solidFill>
                  <a:schemeClr val="tx2"/>
                </a:solidFill>
              </a:rPr>
              <a:t>Septiembre</a:t>
            </a:r>
            <a:r>
              <a:rPr lang="es-CO" sz="1200" i="1" noProof="0">
                <a:solidFill>
                  <a:schemeClr val="tx2"/>
                </a:solidFill>
              </a:rPr>
              <a:t> 2026</a:t>
            </a:r>
          </a:p>
        </p:txBody>
      </p:sp>
      <p:graphicFrame>
        <p:nvGraphicFramePr>
          <p:cNvPr id="4" name="Tabla 3">
            <a:extLst>
              <a:ext uri="{FF2B5EF4-FFF2-40B4-BE49-F238E27FC236}">
                <a16:creationId xmlns:a16="http://schemas.microsoft.com/office/drawing/2014/main" id="{876754D5-14BD-1AAA-E5B1-4D09F235EF94}"/>
              </a:ext>
            </a:extLst>
          </p:cNvPr>
          <p:cNvGraphicFramePr>
            <a:graphicFrameLocks noGrp="1"/>
          </p:cNvGraphicFramePr>
          <p:nvPr>
            <p:extLst>
              <p:ext uri="{D42A27DB-BD31-4B8C-83A1-F6EECF244321}">
                <p14:modId xmlns:p14="http://schemas.microsoft.com/office/powerpoint/2010/main" val="2063055920"/>
              </p:ext>
            </p:extLst>
          </p:nvPr>
        </p:nvGraphicFramePr>
        <p:xfrm>
          <a:off x="1123945" y="747685"/>
          <a:ext cx="9923810" cy="4351336"/>
        </p:xfrm>
        <a:graphic>
          <a:graphicData uri="http://schemas.openxmlformats.org/drawingml/2006/table">
            <a:tbl>
              <a:tblPr/>
              <a:tblGrid>
                <a:gridCol w="763370">
                  <a:extLst>
                    <a:ext uri="{9D8B030D-6E8A-4147-A177-3AD203B41FA5}">
                      <a16:colId xmlns:a16="http://schemas.microsoft.com/office/drawing/2014/main" val="4171918858"/>
                    </a:ext>
                  </a:extLst>
                </a:gridCol>
                <a:gridCol w="763370">
                  <a:extLst>
                    <a:ext uri="{9D8B030D-6E8A-4147-A177-3AD203B41FA5}">
                      <a16:colId xmlns:a16="http://schemas.microsoft.com/office/drawing/2014/main" val="202126689"/>
                    </a:ext>
                  </a:extLst>
                </a:gridCol>
                <a:gridCol w="763370">
                  <a:extLst>
                    <a:ext uri="{9D8B030D-6E8A-4147-A177-3AD203B41FA5}">
                      <a16:colId xmlns:a16="http://schemas.microsoft.com/office/drawing/2014/main" val="437090303"/>
                    </a:ext>
                  </a:extLst>
                </a:gridCol>
                <a:gridCol w="763370">
                  <a:extLst>
                    <a:ext uri="{9D8B030D-6E8A-4147-A177-3AD203B41FA5}">
                      <a16:colId xmlns:a16="http://schemas.microsoft.com/office/drawing/2014/main" val="4179629685"/>
                    </a:ext>
                  </a:extLst>
                </a:gridCol>
                <a:gridCol w="763370">
                  <a:extLst>
                    <a:ext uri="{9D8B030D-6E8A-4147-A177-3AD203B41FA5}">
                      <a16:colId xmlns:a16="http://schemas.microsoft.com/office/drawing/2014/main" val="1200779170"/>
                    </a:ext>
                  </a:extLst>
                </a:gridCol>
                <a:gridCol w="763370">
                  <a:extLst>
                    <a:ext uri="{9D8B030D-6E8A-4147-A177-3AD203B41FA5}">
                      <a16:colId xmlns:a16="http://schemas.microsoft.com/office/drawing/2014/main" val="3548923840"/>
                    </a:ext>
                  </a:extLst>
                </a:gridCol>
                <a:gridCol w="763370">
                  <a:extLst>
                    <a:ext uri="{9D8B030D-6E8A-4147-A177-3AD203B41FA5}">
                      <a16:colId xmlns:a16="http://schemas.microsoft.com/office/drawing/2014/main" val="1311265345"/>
                    </a:ext>
                  </a:extLst>
                </a:gridCol>
                <a:gridCol w="763370">
                  <a:extLst>
                    <a:ext uri="{9D8B030D-6E8A-4147-A177-3AD203B41FA5}">
                      <a16:colId xmlns:a16="http://schemas.microsoft.com/office/drawing/2014/main" val="786849606"/>
                    </a:ext>
                  </a:extLst>
                </a:gridCol>
                <a:gridCol w="763370">
                  <a:extLst>
                    <a:ext uri="{9D8B030D-6E8A-4147-A177-3AD203B41FA5}">
                      <a16:colId xmlns:a16="http://schemas.microsoft.com/office/drawing/2014/main" val="2567546023"/>
                    </a:ext>
                  </a:extLst>
                </a:gridCol>
                <a:gridCol w="763370">
                  <a:extLst>
                    <a:ext uri="{9D8B030D-6E8A-4147-A177-3AD203B41FA5}">
                      <a16:colId xmlns:a16="http://schemas.microsoft.com/office/drawing/2014/main" val="3389808118"/>
                    </a:ext>
                  </a:extLst>
                </a:gridCol>
                <a:gridCol w="763370">
                  <a:extLst>
                    <a:ext uri="{9D8B030D-6E8A-4147-A177-3AD203B41FA5}">
                      <a16:colId xmlns:a16="http://schemas.microsoft.com/office/drawing/2014/main" val="401379482"/>
                    </a:ext>
                  </a:extLst>
                </a:gridCol>
                <a:gridCol w="763370">
                  <a:extLst>
                    <a:ext uri="{9D8B030D-6E8A-4147-A177-3AD203B41FA5}">
                      <a16:colId xmlns:a16="http://schemas.microsoft.com/office/drawing/2014/main" val="2319778832"/>
                    </a:ext>
                  </a:extLst>
                </a:gridCol>
                <a:gridCol w="763370">
                  <a:extLst>
                    <a:ext uri="{9D8B030D-6E8A-4147-A177-3AD203B41FA5}">
                      <a16:colId xmlns:a16="http://schemas.microsoft.com/office/drawing/2014/main" val="2888556174"/>
                    </a:ext>
                  </a:extLst>
                </a:gridCol>
              </a:tblGrid>
              <a:tr h="182028">
                <a:tc gridSpan="13">
                  <a:txBody>
                    <a:bodyPr/>
                    <a:lstStyle/>
                    <a:p>
                      <a:pPr algn="ctr" fontAlgn="ctr">
                        <a:buNone/>
                      </a:pPr>
                      <a:r>
                        <a:rPr lang="es-CO" sz="1100" b="1" i="0" u="none" strike="noStrike">
                          <a:solidFill>
                            <a:srgbClr val="FFFFFF"/>
                          </a:solidFill>
                          <a:effectLst/>
                          <a:latin typeface="Calibri" panose="020F0502020204030204" pitchFamily="34" charset="0"/>
                        </a:rPr>
                        <a:t>Salud Total</a:t>
                      </a:r>
                    </a:p>
                  </a:txBody>
                  <a:tcPr marL="0" marR="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1041089595"/>
                  </a:ext>
                </a:extLst>
              </a:tr>
              <a:tr h="182028">
                <a:tc rowSpan="24">
                  <a:txBody>
                    <a:bodyPr/>
                    <a:lstStyle/>
                    <a:p>
                      <a:pPr algn="ctr" fontAlgn="ctr">
                        <a:buNone/>
                      </a:pPr>
                      <a:r>
                        <a:rPr lang="es-CO" sz="1300" b="1" i="0" u="none" strike="noStrike">
                          <a:solidFill>
                            <a:srgbClr val="FFFFFF"/>
                          </a:solidFill>
                          <a:effectLst/>
                          <a:latin typeface="Calibri" panose="020F0502020204030204" pitchFamily="34" charset="0"/>
                        </a:rPr>
                        <a:t>Mes / año de diagnóstico</a:t>
                      </a:r>
                    </a:p>
                  </a:txBody>
                  <a:tcPr marL="0" marR="0" marT="0" marB="0" vert="vert27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1CA6A0"/>
                    </a:solidFill>
                  </a:tcPr>
                </a:tc>
                <a:tc>
                  <a:txBody>
                    <a:bodyPr/>
                    <a:lstStyle/>
                    <a:p>
                      <a:pPr algn="ctr" fontAlgn="ctr">
                        <a:buNone/>
                      </a:pPr>
                      <a:r>
                        <a:rPr lang="es-CO" sz="1100" b="1" i="0" u="none" strike="noStrike">
                          <a:solidFill>
                            <a:srgbClr val="FFFFFF"/>
                          </a:solidFill>
                          <a:effectLst/>
                          <a:latin typeface="Calibri" panose="020F0502020204030204" pitchFamily="34" charset="0"/>
                        </a:rPr>
                        <a:t>Mes /año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100" b="1" i="0" u="none" strike="noStrike">
                          <a:solidFill>
                            <a:srgbClr val="FFFFFF"/>
                          </a:solidFill>
                          <a:effectLst/>
                          <a:latin typeface="Calibri" panose="020F0502020204030204" pitchFamily="34" charset="0"/>
                        </a:rPr>
                        <a:t>2025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100" b="1" i="0" u="none" strike="noStrike">
                          <a:solidFill>
                            <a:srgbClr val="FFFFFF"/>
                          </a:solidFill>
                          <a:effectLst/>
                          <a:latin typeface="Calibri" panose="020F0502020204030204" pitchFamily="34" charset="0"/>
                        </a:rPr>
                        <a:t>ene-26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100" b="1" i="0" u="none" strike="noStrike">
                          <a:solidFill>
                            <a:srgbClr val="FFFFFF"/>
                          </a:solidFill>
                          <a:effectLst/>
                          <a:latin typeface="Calibri" panose="020F0502020204030204" pitchFamily="34" charset="0"/>
                        </a:rPr>
                        <a:t>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100" b="1" i="0" u="none" strike="noStrike">
                          <a:solidFill>
                            <a:srgbClr val="FFFFFF"/>
                          </a:solidFill>
                          <a:effectLst/>
                          <a:latin typeface="Calibri" panose="020F0502020204030204" pitchFamily="34" charset="0"/>
                        </a:rPr>
                        <a:t>mar-26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100" b="1" i="0" u="none" strike="noStrike">
                          <a:solidFill>
                            <a:srgbClr val="FFFFFF"/>
                          </a:solidFill>
                          <a:effectLst/>
                          <a:latin typeface="Calibri" panose="020F0502020204030204" pitchFamily="34" charset="0"/>
                        </a:rPr>
                        <a:t>abr-26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100" b="1" i="0" u="none" strike="noStrike">
                          <a:solidFill>
                            <a:srgbClr val="FFFFFF"/>
                          </a:solidFill>
                          <a:effectLst/>
                          <a:latin typeface="Calibri" panose="020F0502020204030204" pitchFamily="34" charset="0"/>
                        </a:rPr>
                        <a:t>may-26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100" b="1" i="0" u="none" strike="noStrike">
                          <a:solidFill>
                            <a:srgbClr val="FFFFFF"/>
                          </a:solidFill>
                          <a:effectLst/>
                          <a:latin typeface="Calibri" panose="020F0502020204030204" pitchFamily="34" charset="0"/>
                        </a:rPr>
                        <a:t>jun-26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100" b="1" i="0" u="none" strike="noStrike">
                          <a:solidFill>
                            <a:srgbClr val="FFFFFF"/>
                          </a:solidFill>
                          <a:effectLst/>
                          <a:latin typeface="Calibri" panose="020F0502020204030204" pitchFamily="34" charset="0"/>
                        </a:rPr>
                        <a:t>jul-26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100" b="1" i="0" u="none" strike="noStrike">
                          <a:solidFill>
                            <a:srgbClr val="FFFFFF"/>
                          </a:solidFill>
                          <a:effectLst/>
                          <a:latin typeface="Calibri" panose="020F0502020204030204" pitchFamily="34" charset="0"/>
                        </a:rPr>
                        <a:t>ago-26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100" b="1" i="0" u="none" strike="noStrike">
                          <a:solidFill>
                            <a:srgbClr val="FFFFFF"/>
                          </a:solidFill>
                          <a:effectLst/>
                          <a:latin typeface="Calibri" panose="020F0502020204030204" pitchFamily="34" charset="0"/>
                        </a:rPr>
                        <a:t>sep-26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100" b="1" i="0" u="none" strike="noStrike">
                          <a:solidFill>
                            <a:srgbClr val="FFFFFF"/>
                          </a:solidFill>
                          <a:effectLst/>
                          <a:latin typeface="Calibri" panose="020F0502020204030204" pitchFamily="34" charset="0"/>
                        </a:rPr>
                        <a:t>TOTAL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extLst>
                  <a:ext uri="{0D108BD9-81ED-4DB2-BD59-A6C34878D82A}">
                    <a16:rowId xmlns:a16="http://schemas.microsoft.com/office/drawing/2014/main" val="3767463919"/>
                  </a:ext>
                </a:extLst>
              </a:tr>
              <a:tr h="173360">
                <a:tc vMerge="1">
                  <a:txBody>
                    <a:bodyPr/>
                    <a:lstStyle/>
                    <a:p>
                      <a:endParaRPr lang="es-CO"/>
                    </a:p>
                  </a:txBody>
                  <a:tcPr/>
                </a:tc>
                <a:tc>
                  <a:txBody>
                    <a:bodyPr/>
                    <a:lstStyle/>
                    <a:p>
                      <a:pPr algn="r" fontAlgn="b">
                        <a:buNone/>
                      </a:pPr>
                      <a:r>
                        <a:rPr lang="es-CO" sz="1000" b="1" i="0" u="none" strike="noStrike">
                          <a:solidFill>
                            <a:srgbClr val="FFFFFF"/>
                          </a:solidFill>
                          <a:effectLst/>
                          <a:latin typeface="Calibri" panose="020F0502020204030204" pitchFamily="34" charset="0"/>
                        </a:rPr>
                        <a:t>2024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000" b="1" i="0" u="none" strike="noStrike">
                          <a:solidFill>
                            <a:srgbClr val="000000"/>
                          </a:solidFill>
                          <a:effectLst/>
                          <a:latin typeface="Calibri" panose="020F0502020204030204" pitchFamily="34" charset="0"/>
                        </a:rPr>
                        <a:t>2217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1" i="0" u="none" strike="noStrike">
                          <a:solidFill>
                            <a:srgbClr val="000000"/>
                          </a:solidFill>
                          <a:effectLst/>
                          <a:latin typeface="Calibri" panose="020F0502020204030204" pitchFamily="34" charset="0"/>
                        </a:rPr>
                        <a:t>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1" i="0" u="none" strike="noStrike">
                          <a:solidFill>
                            <a:srgbClr val="000000"/>
                          </a:solidFill>
                          <a:effectLst/>
                          <a:latin typeface="Calibri" panose="020F0502020204030204" pitchFamily="34" charset="0"/>
                        </a:rPr>
                        <a:t>10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1" i="0" u="none" strike="noStrike">
                          <a:solidFill>
                            <a:srgbClr val="000000"/>
                          </a:solidFill>
                          <a:effectLst/>
                          <a:latin typeface="Calibri" panose="020F0502020204030204" pitchFamily="34" charset="0"/>
                        </a:rPr>
                        <a:t>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1" i="0" u="none" strike="noStrike">
                          <a:solidFill>
                            <a:srgbClr val="000000"/>
                          </a:solidFill>
                          <a:effectLst/>
                          <a:latin typeface="Calibri" panose="020F0502020204030204" pitchFamily="34" charset="0"/>
                        </a:rPr>
                        <a:t>12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1" i="0" u="none" strike="noStrike">
                          <a:solidFill>
                            <a:srgbClr val="000000"/>
                          </a:solidFill>
                          <a:effectLst/>
                          <a:latin typeface="Calibri" panose="020F0502020204030204" pitchFamily="34" charset="0"/>
                        </a:rPr>
                        <a:t>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1" i="0" u="none" strike="noStrike">
                          <a:solidFill>
                            <a:srgbClr val="000000"/>
                          </a:solidFill>
                          <a:effectLst/>
                          <a:latin typeface="Calibri" panose="020F0502020204030204" pitchFamily="34" charset="0"/>
                        </a:rPr>
                        <a:t>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1" i="0" u="none" strike="noStrike">
                          <a:solidFill>
                            <a:srgbClr val="000000"/>
                          </a:solidFill>
                          <a:effectLst/>
                          <a:latin typeface="Calibri" panose="020F0502020204030204" pitchFamily="34" charset="0"/>
                        </a:rPr>
                        <a:t>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1" i="0" u="none" strike="noStrike">
                          <a:solidFill>
                            <a:srgbClr val="000000"/>
                          </a:solidFill>
                          <a:effectLst/>
                          <a:latin typeface="Calibri" panose="020F0502020204030204" pitchFamily="34" charset="0"/>
                        </a:rPr>
                        <a:t>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1" i="0" u="none" strike="noStrike">
                          <a:solidFill>
                            <a:srgbClr val="000000"/>
                          </a:solidFill>
                          <a:effectLst/>
                          <a:latin typeface="Calibri" panose="020F0502020204030204" pitchFamily="34" charset="0"/>
                        </a:rPr>
                        <a:t>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2284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84220090"/>
                  </a:ext>
                </a:extLst>
              </a:tr>
              <a:tr h="173360">
                <a:tc vMerge="1">
                  <a:txBody>
                    <a:bodyPr/>
                    <a:lstStyle/>
                    <a:p>
                      <a:endParaRPr lang="es-CO"/>
                    </a:p>
                  </a:txBody>
                  <a:tcPr/>
                </a:tc>
                <a:tc>
                  <a:txBody>
                    <a:bodyPr/>
                    <a:lstStyle/>
                    <a:p>
                      <a:pPr algn="r" fontAlgn="b">
                        <a:buNone/>
                      </a:pPr>
                      <a:r>
                        <a:rPr lang="es-CO" sz="1000" b="1" i="0" u="none" strike="noStrike">
                          <a:solidFill>
                            <a:srgbClr val="FFFFFF"/>
                          </a:solidFill>
                          <a:effectLst/>
                          <a:latin typeface="Calibri" panose="020F0502020204030204" pitchFamily="34" charset="0"/>
                        </a:rPr>
                        <a:t>2025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000" b="0" i="0" u="none" strike="noStrike">
                          <a:solidFill>
                            <a:srgbClr val="000000"/>
                          </a:solidFill>
                          <a:effectLst/>
                          <a:latin typeface="Calibri" panose="020F0502020204030204" pitchFamily="34" charset="0"/>
                        </a:rPr>
                        <a:t>474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536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53363564"/>
                  </a:ext>
                </a:extLst>
              </a:tr>
              <a:tr h="173360">
                <a:tc vMerge="1">
                  <a:txBody>
                    <a:bodyPr/>
                    <a:lstStyle/>
                    <a:p>
                      <a:endParaRPr lang="es-CO"/>
                    </a:p>
                  </a:txBody>
                  <a:tcPr/>
                </a:tc>
                <a:tc>
                  <a:txBody>
                    <a:bodyPr/>
                    <a:lstStyle/>
                    <a:p>
                      <a:pPr algn="r" fontAlgn="b">
                        <a:buNone/>
                      </a:pPr>
                      <a:r>
                        <a:rPr lang="es-CO" sz="1000" b="1" i="0" u="none" strike="noStrike">
                          <a:solidFill>
                            <a:srgbClr val="FFFFFF"/>
                          </a:solidFill>
                          <a:effectLst/>
                          <a:latin typeface="Calibri" panose="020F0502020204030204" pitchFamily="34" charset="0"/>
                        </a:rPr>
                        <a:t>ene-26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27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52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07538730"/>
                  </a:ext>
                </a:extLst>
              </a:tr>
              <a:tr h="173360">
                <a:tc vMerge="1">
                  <a:txBody>
                    <a:bodyPr/>
                    <a:lstStyle/>
                    <a:p>
                      <a:endParaRPr lang="es-CO"/>
                    </a:p>
                  </a:txBody>
                  <a:tcPr/>
                </a:tc>
                <a:tc>
                  <a:txBody>
                    <a:bodyPr/>
                    <a:lstStyle/>
                    <a:p>
                      <a:pPr algn="r" fontAlgn="b">
                        <a:buNone/>
                      </a:pPr>
                      <a:r>
                        <a:rPr lang="es-CO" sz="1000" b="1" i="0" u="none" strike="noStrike">
                          <a:solidFill>
                            <a:srgbClr val="FFFFFF"/>
                          </a:solidFill>
                          <a:effectLst/>
                          <a:latin typeface="Calibri" panose="020F0502020204030204" pitchFamily="34" charset="0"/>
                        </a:rPr>
                        <a:t>feb-26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30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48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14209838"/>
                  </a:ext>
                </a:extLst>
              </a:tr>
              <a:tr h="173360">
                <a:tc vMerge="1">
                  <a:txBody>
                    <a:bodyPr/>
                    <a:lstStyle/>
                    <a:p>
                      <a:endParaRPr lang="es-CO"/>
                    </a:p>
                  </a:txBody>
                  <a:tcPr/>
                </a:tc>
                <a:tc>
                  <a:txBody>
                    <a:bodyPr/>
                    <a:lstStyle/>
                    <a:p>
                      <a:pPr algn="r" fontAlgn="b">
                        <a:buNone/>
                      </a:pPr>
                      <a:r>
                        <a:rPr lang="es-CO" sz="1000" b="1" i="0" u="none" strike="noStrike">
                          <a:solidFill>
                            <a:srgbClr val="FFFFFF"/>
                          </a:solidFill>
                          <a:effectLst/>
                          <a:latin typeface="Calibri" panose="020F0502020204030204" pitchFamily="34" charset="0"/>
                        </a:rPr>
                        <a:t>mar-26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39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99225547"/>
                  </a:ext>
                </a:extLst>
              </a:tr>
              <a:tr h="173360">
                <a:tc vMerge="1">
                  <a:txBody>
                    <a:bodyPr/>
                    <a:lstStyle/>
                    <a:p>
                      <a:endParaRPr lang="es-CO"/>
                    </a:p>
                  </a:txBody>
                  <a:tcPr/>
                </a:tc>
                <a:tc>
                  <a:txBody>
                    <a:bodyPr/>
                    <a:lstStyle/>
                    <a:p>
                      <a:pPr algn="r" fontAlgn="b">
                        <a:buNone/>
                      </a:pPr>
                      <a:r>
                        <a:rPr lang="es-CO" sz="1000" b="1" i="0" u="none" strike="noStrike">
                          <a:solidFill>
                            <a:srgbClr val="FFFFFF"/>
                          </a:solidFill>
                          <a:effectLst/>
                          <a:latin typeface="Calibri" panose="020F0502020204030204" pitchFamily="34" charset="0"/>
                        </a:rPr>
                        <a:t>abr-26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25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59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07112302"/>
                  </a:ext>
                </a:extLst>
              </a:tr>
              <a:tr h="173360">
                <a:tc vMerge="1">
                  <a:txBody>
                    <a:bodyPr/>
                    <a:lstStyle/>
                    <a:p>
                      <a:endParaRPr lang="es-CO"/>
                    </a:p>
                  </a:txBody>
                  <a:tcPr/>
                </a:tc>
                <a:tc>
                  <a:txBody>
                    <a:bodyPr/>
                    <a:lstStyle/>
                    <a:p>
                      <a:pPr algn="r" fontAlgn="b">
                        <a:buNone/>
                      </a:pPr>
                      <a:r>
                        <a:rPr lang="es-CO" sz="1000" b="1" i="0" u="none" strike="noStrike">
                          <a:solidFill>
                            <a:srgbClr val="FFFFFF"/>
                          </a:solidFill>
                          <a:effectLst/>
                          <a:latin typeface="Calibri" panose="020F0502020204030204" pitchFamily="34" charset="0"/>
                        </a:rPr>
                        <a:t>may-26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20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44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83390104"/>
                  </a:ext>
                </a:extLst>
              </a:tr>
              <a:tr h="173360">
                <a:tc vMerge="1">
                  <a:txBody>
                    <a:bodyPr/>
                    <a:lstStyle/>
                    <a:p>
                      <a:endParaRPr lang="es-CO"/>
                    </a:p>
                  </a:txBody>
                  <a:tcPr/>
                </a:tc>
                <a:tc>
                  <a:txBody>
                    <a:bodyPr/>
                    <a:lstStyle/>
                    <a:p>
                      <a:pPr algn="r" fontAlgn="b">
                        <a:buNone/>
                      </a:pPr>
                      <a:r>
                        <a:rPr lang="es-CO" sz="1000" b="1" i="0" u="none" strike="noStrike">
                          <a:solidFill>
                            <a:srgbClr val="FFFFFF"/>
                          </a:solidFill>
                          <a:effectLst/>
                          <a:latin typeface="Calibri" panose="020F0502020204030204" pitchFamily="34" charset="0"/>
                        </a:rPr>
                        <a:t>jun-26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22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42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12051198"/>
                  </a:ext>
                </a:extLst>
              </a:tr>
              <a:tr h="173360">
                <a:tc vMerge="1">
                  <a:txBody>
                    <a:bodyPr/>
                    <a:lstStyle/>
                    <a:p>
                      <a:endParaRPr lang="es-CO"/>
                    </a:p>
                  </a:txBody>
                  <a:tcPr/>
                </a:tc>
                <a:tc>
                  <a:txBody>
                    <a:bodyPr/>
                    <a:lstStyle/>
                    <a:p>
                      <a:pPr algn="r" fontAlgn="b">
                        <a:buNone/>
                      </a:pPr>
                      <a:r>
                        <a:rPr lang="es-CO" sz="1000" b="1" i="0" u="none" strike="noStrike">
                          <a:solidFill>
                            <a:srgbClr val="FFFFFF"/>
                          </a:solidFill>
                          <a:effectLst/>
                          <a:latin typeface="Calibri" panose="020F0502020204030204" pitchFamily="34" charset="0"/>
                        </a:rPr>
                        <a:t>jul-26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42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80252396"/>
                  </a:ext>
                </a:extLst>
              </a:tr>
              <a:tr h="173360">
                <a:tc vMerge="1">
                  <a:txBody>
                    <a:bodyPr/>
                    <a:lstStyle/>
                    <a:p>
                      <a:endParaRPr lang="es-CO"/>
                    </a:p>
                  </a:txBody>
                  <a:tcPr/>
                </a:tc>
                <a:tc>
                  <a:txBody>
                    <a:bodyPr/>
                    <a:lstStyle/>
                    <a:p>
                      <a:pPr algn="r" fontAlgn="b">
                        <a:buNone/>
                      </a:pPr>
                      <a:r>
                        <a:rPr lang="es-CO" sz="1000" b="1" i="0" u="none" strike="noStrike">
                          <a:solidFill>
                            <a:srgbClr val="FFFFFF"/>
                          </a:solidFill>
                          <a:effectLst/>
                          <a:latin typeface="Calibri" panose="020F0502020204030204" pitchFamily="34" charset="0"/>
                        </a:rPr>
                        <a:t>ago-26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53972571"/>
                  </a:ext>
                </a:extLst>
              </a:tr>
              <a:tr h="173360">
                <a:tc vMerge="1">
                  <a:txBody>
                    <a:bodyPr/>
                    <a:lstStyle/>
                    <a:p>
                      <a:endParaRPr lang="es-CO"/>
                    </a:p>
                  </a:txBody>
                  <a:tcPr/>
                </a:tc>
                <a:tc>
                  <a:txBody>
                    <a:bodyPr/>
                    <a:lstStyle/>
                    <a:p>
                      <a:pPr algn="r" fontAlgn="b">
                        <a:buNone/>
                      </a:pPr>
                      <a:r>
                        <a:rPr lang="es-CO" sz="1000" b="1" i="0" u="none" strike="noStrike">
                          <a:solidFill>
                            <a:srgbClr val="FFFFFF"/>
                          </a:solidFill>
                          <a:effectLst/>
                          <a:latin typeface="Calibri" panose="020F0502020204030204" pitchFamily="34" charset="0"/>
                        </a:rPr>
                        <a:t>sep-26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92501374"/>
                  </a:ext>
                </a:extLst>
              </a:tr>
              <a:tr h="173360">
                <a:tc vMerge="1">
                  <a:txBody>
                    <a:bodyPr/>
                    <a:lstStyle/>
                    <a:p>
                      <a:endParaRPr lang="es-CO"/>
                    </a:p>
                  </a:txBody>
                  <a:tcPr/>
                </a:tc>
                <a:tc>
                  <a:txBody>
                    <a:bodyPr/>
                    <a:lstStyle/>
                    <a:p>
                      <a:pPr algn="l" fontAlgn="b">
                        <a:buNone/>
                      </a:pPr>
                      <a:r>
                        <a:rPr lang="es-CO" sz="1000" b="1" i="0" u="none" strike="noStrike">
                          <a:solidFill>
                            <a:srgbClr val="000000"/>
                          </a:solidFill>
                          <a:effectLst/>
                          <a:latin typeface="Calibri" panose="020F0502020204030204" pitchFamily="34" charset="0"/>
                        </a:rPr>
                        <a:t>Total general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000" b="1" i="0" u="none" strike="noStrike">
                          <a:solidFill>
                            <a:srgbClr val="000000"/>
                          </a:solidFill>
                          <a:effectLst/>
                          <a:latin typeface="Calibri" panose="020F0502020204030204" pitchFamily="34" charset="0"/>
                        </a:rPr>
                        <a:t>2691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tc>
                  <a:txBody>
                    <a:bodyPr/>
                    <a:lstStyle/>
                    <a:p>
                      <a:pPr algn="ctr" fontAlgn="b">
                        <a:buNone/>
                      </a:pPr>
                      <a:r>
                        <a:rPr lang="es-CO" sz="1000" b="1" i="0" u="none" strike="noStrike">
                          <a:solidFill>
                            <a:srgbClr val="000000"/>
                          </a:solidFill>
                          <a:effectLst/>
                          <a:latin typeface="Calibri" panose="020F0502020204030204" pitchFamily="34" charset="0"/>
                        </a:rPr>
                        <a:t>54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tc>
                  <a:txBody>
                    <a:bodyPr/>
                    <a:lstStyle/>
                    <a:p>
                      <a:pPr algn="ctr" fontAlgn="b">
                        <a:buNone/>
                      </a:pPr>
                      <a:r>
                        <a:rPr lang="es-CO" sz="1000" b="1" i="0" u="none" strike="noStrike">
                          <a:solidFill>
                            <a:srgbClr val="000000"/>
                          </a:solidFill>
                          <a:effectLst/>
                          <a:latin typeface="Calibri" panose="020F0502020204030204" pitchFamily="34" charset="0"/>
                        </a:rPr>
                        <a:t>67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tc>
                  <a:txBody>
                    <a:bodyPr/>
                    <a:lstStyle/>
                    <a:p>
                      <a:pPr algn="ctr" fontAlgn="b">
                        <a:buNone/>
                      </a:pPr>
                      <a:r>
                        <a:rPr lang="es-CO" sz="1000" b="1" i="0" u="none" strike="noStrike">
                          <a:solidFill>
                            <a:srgbClr val="000000"/>
                          </a:solidFill>
                          <a:effectLst/>
                          <a:latin typeface="Calibri" panose="020F0502020204030204" pitchFamily="34" charset="0"/>
                        </a:rPr>
                        <a:t>60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tc>
                  <a:txBody>
                    <a:bodyPr/>
                    <a:lstStyle/>
                    <a:p>
                      <a:pPr algn="ctr" fontAlgn="b">
                        <a:buNone/>
                      </a:pPr>
                      <a:r>
                        <a:rPr lang="es-CO" sz="1000" b="1" i="0" u="none" strike="noStrike">
                          <a:solidFill>
                            <a:srgbClr val="000000"/>
                          </a:solidFill>
                          <a:effectLst/>
                          <a:latin typeface="Calibri" panose="020F0502020204030204" pitchFamily="34" charset="0"/>
                        </a:rPr>
                        <a:t>64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tc>
                  <a:txBody>
                    <a:bodyPr/>
                    <a:lstStyle/>
                    <a:p>
                      <a:pPr algn="ctr" fontAlgn="b">
                        <a:buNone/>
                      </a:pPr>
                      <a:r>
                        <a:rPr lang="es-CO" sz="1000" b="1" i="0" u="none" strike="noStrike">
                          <a:solidFill>
                            <a:srgbClr val="000000"/>
                          </a:solidFill>
                          <a:effectLst/>
                          <a:latin typeface="Calibri" panose="020F0502020204030204" pitchFamily="34" charset="0"/>
                        </a:rPr>
                        <a:t>60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tc>
                  <a:txBody>
                    <a:bodyPr/>
                    <a:lstStyle/>
                    <a:p>
                      <a:pPr algn="ctr" fontAlgn="b">
                        <a:buNone/>
                      </a:pPr>
                      <a:r>
                        <a:rPr lang="es-CO" sz="1000" b="1" i="0" u="none" strike="noStrike">
                          <a:solidFill>
                            <a:srgbClr val="000000"/>
                          </a:solidFill>
                          <a:effectLst/>
                          <a:latin typeface="Calibri" panose="020F0502020204030204" pitchFamily="34" charset="0"/>
                        </a:rPr>
                        <a:t>60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tc>
                  <a:txBody>
                    <a:bodyPr/>
                    <a:lstStyle/>
                    <a:p>
                      <a:pPr algn="ctr" fontAlgn="b">
                        <a:buNone/>
                      </a:pPr>
                      <a:r>
                        <a:rPr lang="es-CO" sz="1000" b="1" i="0" u="none" strike="noStrike">
                          <a:solidFill>
                            <a:srgbClr val="000000"/>
                          </a:solidFill>
                          <a:effectLst/>
                          <a:latin typeface="Calibri" panose="020F0502020204030204" pitchFamily="34" charset="0"/>
                        </a:rPr>
                        <a:t>55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tc>
                  <a:txBody>
                    <a:bodyPr/>
                    <a:lstStyle/>
                    <a:p>
                      <a:pPr algn="ctr" fontAlgn="b">
                        <a:buNone/>
                      </a:pPr>
                      <a:r>
                        <a:rPr lang="es-CO" sz="1000" b="1" i="0" u="none" strike="noStrike">
                          <a:solidFill>
                            <a:srgbClr val="000000"/>
                          </a:solidFill>
                          <a:effectLst/>
                          <a:latin typeface="Calibri" panose="020F0502020204030204" pitchFamily="34" charset="0"/>
                        </a:rPr>
                        <a:t>31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tc>
                  <a:txBody>
                    <a:bodyPr/>
                    <a:lstStyle/>
                    <a:p>
                      <a:pPr algn="ctr" fontAlgn="b">
                        <a:buNone/>
                      </a:pPr>
                      <a:r>
                        <a:rPr lang="es-CO" sz="1000" b="1" i="0" u="none" strike="noStrike">
                          <a:solidFill>
                            <a:srgbClr val="000000"/>
                          </a:solidFill>
                          <a:effectLst/>
                          <a:latin typeface="Calibri" panose="020F0502020204030204" pitchFamily="34" charset="0"/>
                        </a:rPr>
                        <a:t>31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tc>
                  <a:txBody>
                    <a:bodyPr/>
                    <a:lstStyle/>
                    <a:p>
                      <a:pPr algn="ctr" fontAlgn="b">
                        <a:buNone/>
                      </a:pPr>
                      <a:r>
                        <a:rPr lang="es-CO" sz="1000" b="1" i="0" u="none" strike="noStrike">
                          <a:solidFill>
                            <a:srgbClr val="000000"/>
                          </a:solidFill>
                          <a:effectLst/>
                          <a:latin typeface="Calibri" panose="020F0502020204030204" pitchFamily="34" charset="0"/>
                        </a:rPr>
                        <a:t>3173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extLst>
                  <a:ext uri="{0D108BD9-81ED-4DB2-BD59-A6C34878D82A}">
                    <a16:rowId xmlns:a16="http://schemas.microsoft.com/office/drawing/2014/main" val="405176830"/>
                  </a:ext>
                </a:extLst>
              </a:tr>
              <a:tr h="173360">
                <a:tc vMerge="1">
                  <a:txBody>
                    <a:bodyPr/>
                    <a:lstStyle/>
                    <a:p>
                      <a:endParaRPr lang="es-CO"/>
                    </a:p>
                  </a:txBody>
                  <a:tcPr/>
                </a:tc>
                <a:tc>
                  <a:txBody>
                    <a:bodyPr/>
                    <a:lstStyle/>
                    <a:p>
                      <a:pPr algn="r" fontAlgn="b">
                        <a:buNone/>
                      </a:pPr>
                      <a:r>
                        <a:rPr lang="es-CO" sz="1000" b="1" i="0" u="none" strike="noStrike">
                          <a:solidFill>
                            <a:srgbClr val="FFFFFF"/>
                          </a:solidFill>
                          <a:effectLst/>
                          <a:latin typeface="Calibri" panose="020F0502020204030204" pitchFamily="34" charset="0"/>
                        </a:rPr>
                        <a:t>2024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000" b="0" i="0" u="none" strike="noStrike">
                          <a:solidFill>
                            <a:srgbClr val="000000"/>
                          </a:solidFill>
                          <a:effectLst/>
                          <a:latin typeface="Calibri" panose="020F0502020204030204" pitchFamily="34" charset="0"/>
                        </a:rPr>
                        <a:t>82,4%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14,8%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14,9%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15,0%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18,8%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5,0%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13,3%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10,9%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25,8%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9,7%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72,0%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62357866"/>
                  </a:ext>
                </a:extLst>
              </a:tr>
              <a:tr h="173360">
                <a:tc vMerge="1">
                  <a:txBody>
                    <a:bodyPr/>
                    <a:lstStyle/>
                    <a:p>
                      <a:endParaRPr lang="es-CO"/>
                    </a:p>
                  </a:txBody>
                  <a:tcPr/>
                </a:tc>
                <a:tc>
                  <a:txBody>
                    <a:bodyPr/>
                    <a:lstStyle/>
                    <a:p>
                      <a:pPr algn="r" fontAlgn="b">
                        <a:buNone/>
                      </a:pPr>
                      <a:r>
                        <a:rPr lang="es-CO" sz="1000" b="1" i="0" u="none" strike="noStrike">
                          <a:solidFill>
                            <a:srgbClr val="FFFFFF"/>
                          </a:solidFill>
                          <a:effectLst/>
                          <a:latin typeface="Calibri" panose="020F0502020204030204" pitchFamily="34" charset="0"/>
                        </a:rPr>
                        <a:t>2025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000" b="0" i="0" u="none" strike="noStrike">
                          <a:solidFill>
                            <a:srgbClr val="000000"/>
                          </a:solidFill>
                          <a:effectLst/>
                          <a:latin typeface="Calibri" panose="020F0502020204030204" pitchFamily="34" charset="0"/>
                        </a:rPr>
                        <a:t>17,6%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35,2%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s-CO" sz="1000" b="0" i="0" u="none" strike="noStrike">
                          <a:solidFill>
                            <a:srgbClr val="000000"/>
                          </a:solidFill>
                          <a:effectLst/>
                          <a:latin typeface="Calibri" panose="020F0502020204030204" pitchFamily="34" charset="0"/>
                        </a:rPr>
                        <a:t>19,4%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21,7%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6,3%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8,3%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5,0%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5,5%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3,2%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3,2%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16,9%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3483561"/>
                  </a:ext>
                </a:extLst>
              </a:tr>
              <a:tr h="173360">
                <a:tc vMerge="1">
                  <a:txBody>
                    <a:bodyPr/>
                    <a:lstStyle/>
                    <a:p>
                      <a:endParaRPr lang="es-CO"/>
                    </a:p>
                  </a:txBody>
                  <a:tcPr/>
                </a:tc>
                <a:tc>
                  <a:txBody>
                    <a:bodyPr/>
                    <a:lstStyle/>
                    <a:p>
                      <a:pPr algn="r" fontAlgn="b">
                        <a:buNone/>
                      </a:pPr>
                      <a:r>
                        <a:rPr lang="es-CO" sz="1000" b="1" i="0" u="none" strike="noStrike">
                          <a:solidFill>
                            <a:srgbClr val="FFFFFF"/>
                          </a:solidFill>
                          <a:effectLst/>
                          <a:latin typeface="Calibri" panose="020F0502020204030204" pitchFamily="34" charset="0"/>
                        </a:rPr>
                        <a:t>ene-26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1" i="0" u="none" strike="noStrike">
                          <a:solidFill>
                            <a:srgbClr val="000000"/>
                          </a:solidFill>
                          <a:effectLst/>
                          <a:latin typeface="Calibri" panose="020F0502020204030204" pitchFamily="34" charset="0"/>
                        </a:rPr>
                        <a:t>50,0%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buNone/>
                      </a:pPr>
                      <a:r>
                        <a:rPr lang="es-CO" sz="1000" b="0" i="0" u="none" strike="noStrike">
                          <a:solidFill>
                            <a:srgbClr val="000000"/>
                          </a:solidFill>
                          <a:effectLst/>
                          <a:latin typeface="Calibri" panose="020F0502020204030204" pitchFamily="34" charset="0"/>
                        </a:rPr>
                        <a:t>20,9%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s-CO" sz="1000" b="0" i="0" u="none" strike="noStrike">
                          <a:solidFill>
                            <a:srgbClr val="000000"/>
                          </a:solidFill>
                          <a:effectLst/>
                          <a:latin typeface="Calibri" panose="020F0502020204030204" pitchFamily="34" charset="0"/>
                        </a:rPr>
                        <a:t>13,3%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3,1%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1,6%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38754729"/>
                  </a:ext>
                </a:extLst>
              </a:tr>
              <a:tr h="173360">
                <a:tc vMerge="1">
                  <a:txBody>
                    <a:bodyPr/>
                    <a:lstStyle/>
                    <a:p>
                      <a:endParaRPr lang="es-CO"/>
                    </a:p>
                  </a:txBody>
                  <a:tcPr/>
                </a:tc>
                <a:tc>
                  <a:txBody>
                    <a:bodyPr/>
                    <a:lstStyle/>
                    <a:p>
                      <a:pPr algn="r" fontAlgn="b">
                        <a:buNone/>
                      </a:pPr>
                      <a:r>
                        <a:rPr lang="es-CO" sz="1000" b="1" i="0" u="none" strike="noStrike">
                          <a:solidFill>
                            <a:srgbClr val="FFFFFF"/>
                          </a:solidFill>
                          <a:effectLst/>
                          <a:latin typeface="Calibri" panose="020F0502020204030204" pitchFamily="34" charset="0"/>
                        </a:rPr>
                        <a:t>feb-26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1"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1" i="0" u="none" strike="noStrike">
                          <a:solidFill>
                            <a:srgbClr val="000000"/>
                          </a:solidFill>
                          <a:effectLst/>
                          <a:latin typeface="Calibri" panose="020F0502020204030204" pitchFamily="34" charset="0"/>
                        </a:rPr>
                        <a:t>44,8%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buNone/>
                      </a:pPr>
                      <a:r>
                        <a:rPr lang="es-CO" sz="1000" b="0" i="0" u="none" strike="noStrike">
                          <a:solidFill>
                            <a:srgbClr val="000000"/>
                          </a:solidFill>
                          <a:effectLst/>
                          <a:latin typeface="Calibri" panose="020F0502020204030204" pitchFamily="34" charset="0"/>
                        </a:rPr>
                        <a:t>20,0%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s-CO" sz="1000" b="0" i="0" u="none" strike="noStrike">
                          <a:solidFill>
                            <a:srgbClr val="000000"/>
                          </a:solidFill>
                          <a:effectLst/>
                          <a:latin typeface="Calibri" panose="020F0502020204030204" pitchFamily="34" charset="0"/>
                        </a:rPr>
                        <a:t>7,8%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1,7%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1,5%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83575586"/>
                  </a:ext>
                </a:extLst>
              </a:tr>
              <a:tr h="173360">
                <a:tc vMerge="1">
                  <a:txBody>
                    <a:bodyPr/>
                    <a:lstStyle/>
                    <a:p>
                      <a:endParaRPr lang="es-CO"/>
                    </a:p>
                  </a:txBody>
                  <a:tcPr/>
                </a:tc>
                <a:tc>
                  <a:txBody>
                    <a:bodyPr/>
                    <a:lstStyle/>
                    <a:p>
                      <a:pPr algn="r" fontAlgn="b">
                        <a:buNone/>
                      </a:pPr>
                      <a:r>
                        <a:rPr lang="es-CO" sz="1000" b="1" i="0" u="none" strike="noStrike">
                          <a:solidFill>
                            <a:srgbClr val="FFFFFF"/>
                          </a:solidFill>
                          <a:effectLst/>
                          <a:latin typeface="Calibri" panose="020F0502020204030204" pitchFamily="34" charset="0"/>
                        </a:rPr>
                        <a:t>mar-26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1"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1" i="0" u="none" strike="noStrike">
                          <a:solidFill>
                            <a:srgbClr val="000000"/>
                          </a:solidFill>
                          <a:effectLst/>
                          <a:latin typeface="Calibri" panose="020F0502020204030204" pitchFamily="34" charset="0"/>
                        </a:rPr>
                        <a:t>30,0%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buNone/>
                      </a:pPr>
                      <a:r>
                        <a:rPr lang="es-CO" sz="1000" b="0" i="0" u="none" strike="noStrike">
                          <a:solidFill>
                            <a:srgbClr val="000000"/>
                          </a:solidFill>
                          <a:effectLst/>
                          <a:latin typeface="Calibri" panose="020F0502020204030204" pitchFamily="34" charset="0"/>
                        </a:rPr>
                        <a:t>23,4%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s-CO" sz="1000" b="0" i="0" u="none" strike="noStrike">
                          <a:solidFill>
                            <a:srgbClr val="000000"/>
                          </a:solidFill>
                          <a:effectLst/>
                          <a:latin typeface="Calibri" panose="020F0502020204030204" pitchFamily="34" charset="0"/>
                        </a:rPr>
                        <a:t>10,0%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1,2%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53568002"/>
                  </a:ext>
                </a:extLst>
              </a:tr>
              <a:tr h="173360">
                <a:tc vMerge="1">
                  <a:txBody>
                    <a:bodyPr/>
                    <a:lstStyle/>
                    <a:p>
                      <a:endParaRPr lang="es-CO"/>
                    </a:p>
                  </a:txBody>
                  <a:tcPr/>
                </a:tc>
                <a:tc>
                  <a:txBody>
                    <a:bodyPr/>
                    <a:lstStyle/>
                    <a:p>
                      <a:pPr algn="r" fontAlgn="b">
                        <a:buNone/>
                      </a:pPr>
                      <a:r>
                        <a:rPr lang="es-CO" sz="1000" b="1" i="0" u="none" strike="noStrike">
                          <a:solidFill>
                            <a:srgbClr val="FFFFFF"/>
                          </a:solidFill>
                          <a:effectLst/>
                          <a:latin typeface="Calibri" panose="020F0502020204030204" pitchFamily="34" charset="0"/>
                        </a:rPr>
                        <a:t>abr-26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1" i="0" u="none" strike="noStrike">
                          <a:solidFill>
                            <a:srgbClr val="000000"/>
                          </a:solidFill>
                          <a:effectLst/>
                          <a:latin typeface="Calibri" panose="020F0502020204030204" pitchFamily="34" charset="0"/>
                        </a:rPr>
                        <a:t>40,6%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buNone/>
                      </a:pPr>
                      <a:r>
                        <a:rPr lang="es-CO" sz="1000" b="0" i="0" u="none" strike="noStrike">
                          <a:solidFill>
                            <a:srgbClr val="000000"/>
                          </a:solidFill>
                          <a:effectLst/>
                          <a:latin typeface="Calibri" panose="020F0502020204030204" pitchFamily="34" charset="0"/>
                        </a:rPr>
                        <a:t>41,7%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s-CO" sz="1000" b="0" i="0" u="none" strike="noStrike">
                          <a:solidFill>
                            <a:srgbClr val="000000"/>
                          </a:solidFill>
                          <a:effectLst/>
                          <a:latin typeface="Calibri" panose="020F0502020204030204" pitchFamily="34" charset="0"/>
                        </a:rPr>
                        <a:t>13,3%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1,9%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49186782"/>
                  </a:ext>
                </a:extLst>
              </a:tr>
              <a:tr h="173360">
                <a:tc vMerge="1">
                  <a:txBody>
                    <a:bodyPr/>
                    <a:lstStyle/>
                    <a:p>
                      <a:endParaRPr lang="es-CO"/>
                    </a:p>
                  </a:txBody>
                  <a:tcPr/>
                </a:tc>
                <a:tc>
                  <a:txBody>
                    <a:bodyPr/>
                    <a:lstStyle/>
                    <a:p>
                      <a:pPr algn="r" fontAlgn="b">
                        <a:buNone/>
                      </a:pPr>
                      <a:r>
                        <a:rPr lang="es-CO" sz="1000" b="1" i="0" u="none" strike="noStrike">
                          <a:solidFill>
                            <a:srgbClr val="FFFFFF"/>
                          </a:solidFill>
                          <a:effectLst/>
                          <a:latin typeface="Calibri" panose="020F0502020204030204" pitchFamily="34" charset="0"/>
                        </a:rPr>
                        <a:t>may-26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1" i="0" u="none" strike="noStrike">
                          <a:solidFill>
                            <a:srgbClr val="000000"/>
                          </a:solidFill>
                          <a:effectLst/>
                          <a:latin typeface="Calibri" panose="020F0502020204030204" pitchFamily="34" charset="0"/>
                        </a:rPr>
                        <a:t>33,3%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buNone/>
                      </a:pPr>
                      <a:r>
                        <a:rPr lang="es-CO" sz="1000" b="0" i="0" u="none" strike="noStrike">
                          <a:solidFill>
                            <a:srgbClr val="000000"/>
                          </a:solidFill>
                          <a:effectLst/>
                          <a:latin typeface="Calibri" panose="020F0502020204030204" pitchFamily="34" charset="0"/>
                        </a:rPr>
                        <a:t>30,0%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s-CO" sz="1000" b="0" i="0" u="none" strike="noStrike">
                          <a:solidFill>
                            <a:srgbClr val="000000"/>
                          </a:solidFill>
                          <a:effectLst/>
                          <a:latin typeface="Calibri" panose="020F0502020204030204" pitchFamily="34" charset="0"/>
                        </a:rPr>
                        <a:t>9,1%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3,2%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1,4%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05224613"/>
                  </a:ext>
                </a:extLst>
              </a:tr>
              <a:tr h="173360">
                <a:tc vMerge="1">
                  <a:txBody>
                    <a:bodyPr/>
                    <a:lstStyle/>
                    <a:p>
                      <a:endParaRPr lang="es-CO"/>
                    </a:p>
                  </a:txBody>
                  <a:tcPr/>
                </a:tc>
                <a:tc>
                  <a:txBody>
                    <a:bodyPr/>
                    <a:lstStyle/>
                    <a:p>
                      <a:pPr algn="r" fontAlgn="b">
                        <a:buNone/>
                      </a:pPr>
                      <a:r>
                        <a:rPr lang="es-CO" sz="1000" b="1" i="0" u="none" strike="noStrike">
                          <a:solidFill>
                            <a:srgbClr val="FFFFFF"/>
                          </a:solidFill>
                          <a:effectLst/>
                          <a:latin typeface="Calibri" panose="020F0502020204030204" pitchFamily="34" charset="0"/>
                        </a:rPr>
                        <a:t>jun-26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1" i="0" u="none" strike="noStrike">
                          <a:solidFill>
                            <a:srgbClr val="000000"/>
                          </a:solidFill>
                          <a:effectLst/>
                          <a:latin typeface="Calibri" panose="020F0502020204030204" pitchFamily="34" charset="0"/>
                        </a:rPr>
                        <a:t>36,7%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buNone/>
                      </a:pPr>
                      <a:r>
                        <a:rPr lang="es-CO" sz="1000" b="0" i="0" u="none" strike="noStrike">
                          <a:solidFill>
                            <a:srgbClr val="000000"/>
                          </a:solidFill>
                          <a:effectLst/>
                          <a:latin typeface="Calibri" panose="020F0502020204030204" pitchFamily="34" charset="0"/>
                        </a:rPr>
                        <a:t>30,9%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s-CO" sz="1000" b="0" i="0" u="none" strike="noStrike">
                          <a:solidFill>
                            <a:srgbClr val="000000"/>
                          </a:solidFill>
                          <a:effectLst/>
                          <a:latin typeface="Calibri" panose="020F0502020204030204" pitchFamily="34" charset="0"/>
                        </a:rPr>
                        <a:t>9,7%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69926029"/>
                  </a:ext>
                </a:extLst>
              </a:tr>
              <a:tr h="173360">
                <a:tc vMerge="1">
                  <a:txBody>
                    <a:bodyPr/>
                    <a:lstStyle/>
                    <a:p>
                      <a:endParaRPr lang="es-CO"/>
                    </a:p>
                  </a:txBody>
                  <a:tcPr/>
                </a:tc>
                <a:tc>
                  <a:txBody>
                    <a:bodyPr/>
                    <a:lstStyle/>
                    <a:p>
                      <a:pPr algn="r" fontAlgn="b">
                        <a:buNone/>
                      </a:pPr>
                      <a:r>
                        <a:rPr lang="es-CO" sz="1000" b="1" i="0" u="none" strike="noStrike">
                          <a:solidFill>
                            <a:srgbClr val="FFFFFF"/>
                          </a:solidFill>
                          <a:effectLst/>
                          <a:latin typeface="Calibri" panose="020F0502020204030204" pitchFamily="34" charset="0"/>
                        </a:rPr>
                        <a:t>jul-26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1" i="0" u="none" strike="noStrike">
                          <a:solidFill>
                            <a:srgbClr val="000000"/>
                          </a:solidFill>
                          <a:effectLst/>
                          <a:latin typeface="Calibri" panose="020F0502020204030204" pitchFamily="34" charset="0"/>
                        </a:rPr>
                        <a:t>43,6%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buNone/>
                      </a:pPr>
                      <a:r>
                        <a:rPr lang="es-CO" sz="1000" b="0" i="0" u="none" strike="noStrike">
                          <a:solidFill>
                            <a:srgbClr val="000000"/>
                          </a:solidFill>
                          <a:effectLst/>
                          <a:latin typeface="Calibri" panose="020F0502020204030204" pitchFamily="34" charset="0"/>
                        </a:rPr>
                        <a:t>45,2%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s-CO" sz="1000" b="0" i="0" u="none" strike="noStrike">
                          <a:solidFill>
                            <a:srgbClr val="000000"/>
                          </a:solidFill>
                          <a:effectLst/>
                          <a:latin typeface="Calibri" panose="020F0502020204030204" pitchFamily="34" charset="0"/>
                        </a:rPr>
                        <a:t>12,9%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787590543"/>
                  </a:ext>
                </a:extLst>
              </a:tr>
              <a:tr h="173360">
                <a:tc vMerge="1">
                  <a:txBody>
                    <a:bodyPr/>
                    <a:lstStyle/>
                    <a:p>
                      <a:endParaRPr lang="es-CO"/>
                    </a:p>
                  </a:txBody>
                  <a:tcPr/>
                </a:tc>
                <a:tc>
                  <a:txBody>
                    <a:bodyPr/>
                    <a:lstStyle/>
                    <a:p>
                      <a:pPr algn="r" fontAlgn="b">
                        <a:buNone/>
                      </a:pPr>
                      <a:r>
                        <a:rPr lang="es-CO" sz="1000" b="1" i="0" u="none" strike="noStrike">
                          <a:solidFill>
                            <a:srgbClr val="FFFFFF"/>
                          </a:solidFill>
                          <a:effectLst/>
                          <a:latin typeface="Calibri" panose="020F0502020204030204" pitchFamily="34" charset="0"/>
                        </a:rPr>
                        <a:t>ago-26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1" i="0" u="none" strike="noStrike">
                          <a:solidFill>
                            <a:srgbClr val="000000"/>
                          </a:solidFill>
                          <a:effectLst/>
                          <a:latin typeface="Calibri" panose="020F0502020204030204" pitchFamily="34" charset="0"/>
                        </a:rPr>
                        <a:t>12,9%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buNone/>
                      </a:pPr>
                      <a:r>
                        <a:rPr lang="es-CO" sz="1000" b="0" i="0" u="none" strike="noStrike">
                          <a:solidFill>
                            <a:srgbClr val="000000"/>
                          </a:solidFill>
                          <a:effectLst/>
                          <a:latin typeface="Calibri" panose="020F0502020204030204" pitchFamily="34" charset="0"/>
                        </a:rPr>
                        <a:t>35,5%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s-CO" sz="1000" b="0" i="0" u="none" strike="noStrike">
                          <a:solidFill>
                            <a:srgbClr val="000000"/>
                          </a:solidFill>
                          <a:effectLst/>
                          <a:latin typeface="Calibri" panose="020F0502020204030204" pitchFamily="34" charset="0"/>
                        </a:rPr>
                        <a:t>0,5%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942693018"/>
                  </a:ext>
                </a:extLst>
              </a:tr>
              <a:tr h="173360">
                <a:tc vMerge="1">
                  <a:txBody>
                    <a:bodyPr/>
                    <a:lstStyle/>
                    <a:p>
                      <a:endParaRPr lang="es-CO"/>
                    </a:p>
                  </a:txBody>
                  <a:tcPr/>
                </a:tc>
                <a:tc>
                  <a:txBody>
                    <a:bodyPr/>
                    <a:lstStyle/>
                    <a:p>
                      <a:pPr algn="r" fontAlgn="b">
                        <a:buNone/>
                      </a:pPr>
                      <a:r>
                        <a:rPr lang="es-CO" sz="1000" b="1" i="0" u="none" strike="noStrike">
                          <a:solidFill>
                            <a:srgbClr val="FFFFFF"/>
                          </a:solidFill>
                          <a:effectLst/>
                          <a:latin typeface="Calibri" panose="020F0502020204030204" pitchFamily="34" charset="0"/>
                        </a:rPr>
                        <a:t>sep-26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1" i="0" u="none" strike="noStrike">
                          <a:solidFill>
                            <a:srgbClr val="000000"/>
                          </a:solidFill>
                          <a:effectLst/>
                          <a:latin typeface="Calibri" panose="020F0502020204030204" pitchFamily="34" charset="0"/>
                        </a:rPr>
                        <a:t>38,7%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buNone/>
                      </a:pPr>
                      <a:r>
                        <a:rPr lang="es-CO" sz="1000" b="1" i="0" u="none" strike="noStrike">
                          <a:solidFill>
                            <a:srgbClr val="000000"/>
                          </a:solidFill>
                          <a:effectLst/>
                          <a:latin typeface="Calibri" panose="020F0502020204030204" pitchFamily="34" charset="0"/>
                        </a:rPr>
                        <a:t>0,4%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extLst>
                  <a:ext uri="{0D108BD9-81ED-4DB2-BD59-A6C34878D82A}">
                    <a16:rowId xmlns:a16="http://schemas.microsoft.com/office/drawing/2014/main" val="1679966123"/>
                  </a:ext>
                </a:extLst>
              </a:tr>
            </a:tbl>
          </a:graphicData>
        </a:graphic>
      </p:graphicFrame>
    </p:spTree>
    <p:extLst>
      <p:ext uri="{BB962C8B-B14F-4D97-AF65-F5344CB8AC3E}">
        <p14:creationId xmlns:p14="http://schemas.microsoft.com/office/powerpoint/2010/main" val="324617324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8BA84-2A0E-B3D8-C9E9-B68B5978DFEB}"/>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64514B85-4C95-950E-0606-F2A87A1007DC}"/>
              </a:ext>
            </a:extLst>
          </p:cNvPr>
          <p:cNvSpPr>
            <a:spLocks noGrp="1"/>
          </p:cNvSpPr>
          <p:nvPr>
            <p:ph type="ctrTitle"/>
          </p:nvPr>
        </p:nvSpPr>
        <p:spPr>
          <a:xfrm>
            <a:off x="273120" y="0"/>
            <a:ext cx="11645759" cy="786278"/>
          </a:xfrm>
        </p:spPr>
        <p:txBody>
          <a:bodyPr/>
          <a:lstStyle/>
          <a:p>
            <a:r>
              <a:rPr lang="es-CO" noProof="0"/>
              <a:t>Oportunidades 2025/2026</a:t>
            </a:r>
          </a:p>
        </p:txBody>
      </p:sp>
      <p:graphicFrame>
        <p:nvGraphicFramePr>
          <p:cNvPr id="7" name="Gráfico 6">
            <a:extLst>
              <a:ext uri="{FF2B5EF4-FFF2-40B4-BE49-F238E27FC236}">
                <a16:creationId xmlns:a16="http://schemas.microsoft.com/office/drawing/2014/main" id="{EC32E5CE-C4C6-A4B8-5A98-9D8265E6D5D6}"/>
              </a:ext>
            </a:extLst>
          </p:cNvPr>
          <p:cNvGraphicFramePr/>
          <p:nvPr>
            <p:extLst>
              <p:ext uri="{D42A27DB-BD31-4B8C-83A1-F6EECF244321}">
                <p14:modId xmlns:p14="http://schemas.microsoft.com/office/powerpoint/2010/main" val="3765986829"/>
              </p:ext>
            </p:extLst>
          </p:nvPr>
        </p:nvGraphicFramePr>
        <p:xfrm>
          <a:off x="6221759" y="716928"/>
          <a:ext cx="5760000" cy="28427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Gráfico 8">
            <a:extLst>
              <a:ext uri="{FF2B5EF4-FFF2-40B4-BE49-F238E27FC236}">
                <a16:creationId xmlns:a16="http://schemas.microsoft.com/office/drawing/2014/main" id="{CE0AF6E5-54D5-77FA-6A2F-64F9F3B739E0}"/>
              </a:ext>
            </a:extLst>
          </p:cNvPr>
          <p:cNvGraphicFramePr/>
          <p:nvPr>
            <p:extLst>
              <p:ext uri="{D42A27DB-BD31-4B8C-83A1-F6EECF244321}">
                <p14:modId xmlns:p14="http://schemas.microsoft.com/office/powerpoint/2010/main" val="1852197573"/>
              </p:ext>
            </p:extLst>
          </p:nvPr>
        </p:nvGraphicFramePr>
        <p:xfrm>
          <a:off x="284231" y="3718747"/>
          <a:ext cx="5760000" cy="264939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Gráfico 9">
            <a:extLst>
              <a:ext uri="{FF2B5EF4-FFF2-40B4-BE49-F238E27FC236}">
                <a16:creationId xmlns:a16="http://schemas.microsoft.com/office/drawing/2014/main" id="{A267F9D8-25E5-615A-6F16-953855B824D7}"/>
              </a:ext>
            </a:extLst>
          </p:cNvPr>
          <p:cNvGraphicFramePr/>
          <p:nvPr>
            <p:extLst>
              <p:ext uri="{D42A27DB-BD31-4B8C-83A1-F6EECF244321}">
                <p14:modId xmlns:p14="http://schemas.microsoft.com/office/powerpoint/2010/main" val="2733739341"/>
              </p:ext>
            </p:extLst>
          </p:nvPr>
        </p:nvGraphicFramePr>
        <p:xfrm>
          <a:off x="6221759" y="3718747"/>
          <a:ext cx="5760000" cy="2649396"/>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 name="Gráfico 1">
            <a:extLst>
              <a:ext uri="{FF2B5EF4-FFF2-40B4-BE49-F238E27FC236}">
                <a16:creationId xmlns:a16="http://schemas.microsoft.com/office/drawing/2014/main" id="{7AD85FD1-A366-5F1D-9EE7-900900569C23}"/>
              </a:ext>
            </a:extLst>
          </p:cNvPr>
          <p:cNvGraphicFramePr/>
          <p:nvPr>
            <p:extLst>
              <p:ext uri="{D42A27DB-BD31-4B8C-83A1-F6EECF244321}">
                <p14:modId xmlns:p14="http://schemas.microsoft.com/office/powerpoint/2010/main" val="3224407040"/>
              </p:ext>
            </p:extLst>
          </p:nvPr>
        </p:nvGraphicFramePr>
        <p:xfrm>
          <a:off x="273120" y="704217"/>
          <a:ext cx="5760000" cy="2855411"/>
        </p:xfrm>
        <a:graphic>
          <a:graphicData uri="http://schemas.openxmlformats.org/drawingml/2006/chart">
            <c:chart xmlns:c="http://schemas.openxmlformats.org/drawingml/2006/chart" xmlns:r="http://schemas.openxmlformats.org/officeDocument/2006/relationships" r:id="rId6"/>
          </a:graphicData>
        </a:graphic>
      </p:graphicFrame>
      <p:sp>
        <p:nvSpPr>
          <p:cNvPr id="5" name="CuadroTexto 4">
            <a:extLst>
              <a:ext uri="{FF2B5EF4-FFF2-40B4-BE49-F238E27FC236}">
                <a16:creationId xmlns:a16="http://schemas.microsoft.com/office/drawing/2014/main" id="{C09F4CF8-5C90-FCDB-DD62-D4C2478E6068}"/>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Septiembre 2026</a:t>
            </a:r>
          </a:p>
        </p:txBody>
      </p:sp>
    </p:spTree>
    <p:extLst>
      <p:ext uri="{BB962C8B-B14F-4D97-AF65-F5344CB8AC3E}">
        <p14:creationId xmlns:p14="http://schemas.microsoft.com/office/powerpoint/2010/main" val="357560723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DAA16-245A-CDF7-1871-0960E712025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73E15B8-E6C8-B481-5409-6A6DDDA9DFFC}"/>
              </a:ext>
            </a:extLst>
          </p:cNvPr>
          <p:cNvSpPr>
            <a:spLocks noGrp="1"/>
          </p:cNvSpPr>
          <p:nvPr>
            <p:ph type="ctrTitle"/>
          </p:nvPr>
        </p:nvSpPr>
        <p:spPr>
          <a:xfrm>
            <a:off x="273120" y="0"/>
            <a:ext cx="11645759" cy="786278"/>
          </a:xfrm>
        </p:spPr>
        <p:txBody>
          <a:bodyPr/>
          <a:lstStyle/>
          <a:p>
            <a:r>
              <a:rPr lang="es-CO" noProof="0"/>
              <a:t>Oportunidades inicio de tratamientos 2025/2026</a:t>
            </a:r>
          </a:p>
        </p:txBody>
      </p:sp>
      <p:graphicFrame>
        <p:nvGraphicFramePr>
          <p:cNvPr id="6" name="Gráfico 5">
            <a:extLst>
              <a:ext uri="{FF2B5EF4-FFF2-40B4-BE49-F238E27FC236}">
                <a16:creationId xmlns:a16="http://schemas.microsoft.com/office/drawing/2014/main" id="{CFD926FE-3C71-18D5-E5BF-9572E0F93C5E}"/>
              </a:ext>
            </a:extLst>
          </p:cNvPr>
          <p:cNvGraphicFramePr/>
          <p:nvPr>
            <p:extLst>
              <p:ext uri="{D42A27DB-BD31-4B8C-83A1-F6EECF244321}">
                <p14:modId xmlns:p14="http://schemas.microsoft.com/office/powerpoint/2010/main" val="2461415521"/>
              </p:ext>
            </p:extLst>
          </p:nvPr>
        </p:nvGraphicFramePr>
        <p:xfrm>
          <a:off x="120720" y="764604"/>
          <a:ext cx="5940000" cy="270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Gráfico 6">
            <a:extLst>
              <a:ext uri="{FF2B5EF4-FFF2-40B4-BE49-F238E27FC236}">
                <a16:creationId xmlns:a16="http://schemas.microsoft.com/office/drawing/2014/main" id="{C817591C-09B3-6760-3318-117AA7111F40}"/>
              </a:ext>
            </a:extLst>
          </p:cNvPr>
          <p:cNvGraphicFramePr/>
          <p:nvPr>
            <p:extLst>
              <p:ext uri="{D42A27DB-BD31-4B8C-83A1-F6EECF244321}">
                <p14:modId xmlns:p14="http://schemas.microsoft.com/office/powerpoint/2010/main" val="4230274213"/>
              </p:ext>
            </p:extLst>
          </p:nvPr>
        </p:nvGraphicFramePr>
        <p:xfrm>
          <a:off x="120720" y="3558066"/>
          <a:ext cx="5940000" cy="270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Gráfico 7">
            <a:extLst>
              <a:ext uri="{FF2B5EF4-FFF2-40B4-BE49-F238E27FC236}">
                <a16:creationId xmlns:a16="http://schemas.microsoft.com/office/drawing/2014/main" id="{08196070-7915-A194-72D5-409D6D8BCD31}"/>
              </a:ext>
            </a:extLst>
          </p:cNvPr>
          <p:cNvGraphicFramePr/>
          <p:nvPr>
            <p:extLst>
              <p:ext uri="{D42A27DB-BD31-4B8C-83A1-F6EECF244321}">
                <p14:modId xmlns:p14="http://schemas.microsoft.com/office/powerpoint/2010/main" val="3907823490"/>
              </p:ext>
            </p:extLst>
          </p:nvPr>
        </p:nvGraphicFramePr>
        <p:xfrm>
          <a:off x="6137528" y="3558066"/>
          <a:ext cx="5940000" cy="2700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 name="Gráfico 8">
            <a:extLst>
              <a:ext uri="{FF2B5EF4-FFF2-40B4-BE49-F238E27FC236}">
                <a16:creationId xmlns:a16="http://schemas.microsoft.com/office/drawing/2014/main" id="{91999C40-B1B7-A6A6-0621-6D5D11441861}"/>
              </a:ext>
            </a:extLst>
          </p:cNvPr>
          <p:cNvGraphicFramePr/>
          <p:nvPr>
            <p:extLst>
              <p:ext uri="{D42A27DB-BD31-4B8C-83A1-F6EECF244321}">
                <p14:modId xmlns:p14="http://schemas.microsoft.com/office/powerpoint/2010/main" val="3118592600"/>
              </p:ext>
            </p:extLst>
          </p:nvPr>
        </p:nvGraphicFramePr>
        <p:xfrm>
          <a:off x="6152042" y="779118"/>
          <a:ext cx="5940000" cy="2700000"/>
        </p:xfrm>
        <a:graphic>
          <a:graphicData uri="http://schemas.openxmlformats.org/drawingml/2006/chart">
            <c:chart xmlns:c="http://schemas.openxmlformats.org/drawingml/2006/chart" xmlns:r="http://schemas.openxmlformats.org/officeDocument/2006/relationships" r:id="rId5"/>
          </a:graphicData>
        </a:graphic>
      </p:graphicFrame>
      <p:sp>
        <p:nvSpPr>
          <p:cNvPr id="3" name="CuadroTexto 2">
            <a:extLst>
              <a:ext uri="{FF2B5EF4-FFF2-40B4-BE49-F238E27FC236}">
                <a16:creationId xmlns:a16="http://schemas.microsoft.com/office/drawing/2014/main" id="{C53BDFF0-A8B4-4E6D-B10B-F65E02CA0E20}"/>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Septiembre</a:t>
            </a:r>
            <a:r>
              <a:rPr lang="es-CO" sz="1200" i="1">
                <a:solidFill>
                  <a:schemeClr val="tx2"/>
                </a:solidFill>
              </a:rPr>
              <a:t> </a:t>
            </a:r>
            <a:r>
              <a:rPr lang="es-CO" sz="1200" i="1" noProof="0">
                <a:solidFill>
                  <a:schemeClr val="tx2"/>
                </a:solidFill>
              </a:rPr>
              <a:t>2026</a:t>
            </a:r>
          </a:p>
        </p:txBody>
      </p:sp>
    </p:spTree>
    <p:extLst>
      <p:ext uri="{BB962C8B-B14F-4D97-AF65-F5344CB8AC3E}">
        <p14:creationId xmlns:p14="http://schemas.microsoft.com/office/powerpoint/2010/main" val="299816901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58278-9D88-CF94-9CC5-E6D38BC4AA1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9A7C9D5-388F-62C8-C71C-535D4AC8EE39}"/>
              </a:ext>
            </a:extLst>
          </p:cNvPr>
          <p:cNvSpPr>
            <a:spLocks noGrp="1"/>
          </p:cNvSpPr>
          <p:nvPr>
            <p:ph type="ctrTitle"/>
          </p:nvPr>
        </p:nvSpPr>
        <p:spPr>
          <a:xfrm>
            <a:off x="273120" y="206276"/>
            <a:ext cx="11645759" cy="657324"/>
          </a:xfrm>
        </p:spPr>
        <p:txBody>
          <a:bodyPr>
            <a:noAutofit/>
          </a:bodyPr>
          <a:lstStyle/>
          <a:p>
            <a:r>
              <a:rPr lang="es-CO" noProof="0"/>
              <a:t>Porcentaje de pacientes en tratamiento 2026</a:t>
            </a:r>
          </a:p>
        </p:txBody>
      </p:sp>
      <p:sp>
        <p:nvSpPr>
          <p:cNvPr id="7" name="CuadroTexto 6">
            <a:extLst>
              <a:ext uri="{FF2B5EF4-FFF2-40B4-BE49-F238E27FC236}">
                <a16:creationId xmlns:a16="http://schemas.microsoft.com/office/drawing/2014/main" id="{951F8446-3466-B37B-17E1-EB5CE79AAB1C}"/>
              </a:ext>
            </a:extLst>
          </p:cNvPr>
          <p:cNvSpPr txBox="1"/>
          <p:nvPr/>
        </p:nvSpPr>
        <p:spPr>
          <a:xfrm>
            <a:off x="1475874" y="5989403"/>
            <a:ext cx="9753599" cy="646331"/>
          </a:xfrm>
          <a:prstGeom prst="rect">
            <a:avLst/>
          </a:prstGeom>
          <a:noFill/>
        </p:spPr>
        <p:txBody>
          <a:bodyPr wrap="square">
            <a:spAutoFit/>
          </a:bodyPr>
          <a:lstStyle/>
          <a:p>
            <a:r>
              <a:rPr lang="es-CO" sz="1800" noProof="0"/>
              <a:t>* La terapia sistémica incluye Quimioterapia, Inmunoterapia, terapia hormonal y terapia dirigida- aplicaciones</a:t>
            </a:r>
          </a:p>
        </p:txBody>
      </p:sp>
      <p:graphicFrame>
        <p:nvGraphicFramePr>
          <p:cNvPr id="9" name="Gráfico 8">
            <a:extLst>
              <a:ext uri="{FF2B5EF4-FFF2-40B4-BE49-F238E27FC236}">
                <a16:creationId xmlns:a16="http://schemas.microsoft.com/office/drawing/2014/main" id="{641AED65-F429-A945-2880-B2189C2B7CDF}"/>
              </a:ext>
            </a:extLst>
          </p:cNvPr>
          <p:cNvGraphicFramePr/>
          <p:nvPr>
            <p:extLst>
              <p:ext uri="{D42A27DB-BD31-4B8C-83A1-F6EECF244321}">
                <p14:modId xmlns:p14="http://schemas.microsoft.com/office/powerpoint/2010/main" val="3018088999"/>
              </p:ext>
            </p:extLst>
          </p:nvPr>
        </p:nvGraphicFramePr>
        <p:xfrm>
          <a:off x="588316" y="1085866"/>
          <a:ext cx="11225632" cy="3362889"/>
        </p:xfrm>
        <a:graphic>
          <a:graphicData uri="http://schemas.openxmlformats.org/drawingml/2006/chart">
            <c:chart xmlns:c="http://schemas.openxmlformats.org/drawingml/2006/chart" xmlns:r="http://schemas.openxmlformats.org/officeDocument/2006/relationships" r:id="rId3"/>
          </a:graphicData>
        </a:graphic>
      </p:graphicFrame>
      <p:sp>
        <p:nvSpPr>
          <p:cNvPr id="4" name="CuadroTexto 3">
            <a:extLst>
              <a:ext uri="{FF2B5EF4-FFF2-40B4-BE49-F238E27FC236}">
                <a16:creationId xmlns:a16="http://schemas.microsoft.com/office/drawing/2014/main" id="{ED8DDAF5-ABEF-7E90-3D5C-D913D82856F3}"/>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Septiembre 2026</a:t>
            </a:r>
          </a:p>
        </p:txBody>
      </p:sp>
      <p:graphicFrame>
        <p:nvGraphicFramePr>
          <p:cNvPr id="6" name="Tabla 5">
            <a:extLst>
              <a:ext uri="{FF2B5EF4-FFF2-40B4-BE49-F238E27FC236}">
                <a16:creationId xmlns:a16="http://schemas.microsoft.com/office/drawing/2014/main" id="{80ABF5AB-FF12-A733-23F5-6739F246ADB9}"/>
              </a:ext>
            </a:extLst>
          </p:cNvPr>
          <p:cNvGraphicFramePr>
            <a:graphicFrameLocks noGrp="1"/>
          </p:cNvGraphicFramePr>
          <p:nvPr>
            <p:extLst>
              <p:ext uri="{D42A27DB-BD31-4B8C-83A1-F6EECF244321}">
                <p14:modId xmlns:p14="http://schemas.microsoft.com/office/powerpoint/2010/main" val="3820055498"/>
              </p:ext>
            </p:extLst>
          </p:nvPr>
        </p:nvGraphicFramePr>
        <p:xfrm>
          <a:off x="588316" y="4569558"/>
          <a:ext cx="10969095" cy="1167931"/>
        </p:xfrm>
        <a:graphic>
          <a:graphicData uri="http://schemas.openxmlformats.org/drawingml/2006/table">
            <a:tbl>
              <a:tblPr/>
              <a:tblGrid>
                <a:gridCol w="880720">
                  <a:extLst>
                    <a:ext uri="{9D8B030D-6E8A-4147-A177-3AD203B41FA5}">
                      <a16:colId xmlns:a16="http://schemas.microsoft.com/office/drawing/2014/main" val="1709190032"/>
                    </a:ext>
                  </a:extLst>
                </a:gridCol>
                <a:gridCol w="316128">
                  <a:extLst>
                    <a:ext uri="{9D8B030D-6E8A-4147-A177-3AD203B41FA5}">
                      <a16:colId xmlns:a16="http://schemas.microsoft.com/office/drawing/2014/main" val="3950217596"/>
                    </a:ext>
                  </a:extLst>
                </a:gridCol>
                <a:gridCol w="483575">
                  <a:extLst>
                    <a:ext uri="{9D8B030D-6E8A-4147-A177-3AD203B41FA5}">
                      <a16:colId xmlns:a16="http://schemas.microsoft.com/office/drawing/2014/main" val="3961349747"/>
                    </a:ext>
                  </a:extLst>
                </a:gridCol>
                <a:gridCol w="483575">
                  <a:extLst>
                    <a:ext uri="{9D8B030D-6E8A-4147-A177-3AD203B41FA5}">
                      <a16:colId xmlns:a16="http://schemas.microsoft.com/office/drawing/2014/main" val="232745776"/>
                    </a:ext>
                  </a:extLst>
                </a:gridCol>
                <a:gridCol w="483575">
                  <a:extLst>
                    <a:ext uri="{9D8B030D-6E8A-4147-A177-3AD203B41FA5}">
                      <a16:colId xmlns:a16="http://schemas.microsoft.com/office/drawing/2014/main" val="1871700135"/>
                    </a:ext>
                  </a:extLst>
                </a:gridCol>
                <a:gridCol w="695139">
                  <a:extLst>
                    <a:ext uri="{9D8B030D-6E8A-4147-A177-3AD203B41FA5}">
                      <a16:colId xmlns:a16="http://schemas.microsoft.com/office/drawing/2014/main" val="232824829"/>
                    </a:ext>
                  </a:extLst>
                </a:gridCol>
                <a:gridCol w="572231">
                  <a:extLst>
                    <a:ext uri="{9D8B030D-6E8A-4147-A177-3AD203B41FA5}">
                      <a16:colId xmlns:a16="http://schemas.microsoft.com/office/drawing/2014/main" val="2457915683"/>
                    </a:ext>
                  </a:extLst>
                </a:gridCol>
                <a:gridCol w="483575">
                  <a:extLst>
                    <a:ext uri="{9D8B030D-6E8A-4147-A177-3AD203B41FA5}">
                      <a16:colId xmlns:a16="http://schemas.microsoft.com/office/drawing/2014/main" val="3951604721"/>
                    </a:ext>
                  </a:extLst>
                </a:gridCol>
                <a:gridCol w="483575">
                  <a:extLst>
                    <a:ext uri="{9D8B030D-6E8A-4147-A177-3AD203B41FA5}">
                      <a16:colId xmlns:a16="http://schemas.microsoft.com/office/drawing/2014/main" val="2466253932"/>
                    </a:ext>
                  </a:extLst>
                </a:gridCol>
                <a:gridCol w="483575">
                  <a:extLst>
                    <a:ext uri="{9D8B030D-6E8A-4147-A177-3AD203B41FA5}">
                      <a16:colId xmlns:a16="http://schemas.microsoft.com/office/drawing/2014/main" val="4050212355"/>
                    </a:ext>
                  </a:extLst>
                </a:gridCol>
                <a:gridCol w="483575">
                  <a:extLst>
                    <a:ext uri="{9D8B030D-6E8A-4147-A177-3AD203B41FA5}">
                      <a16:colId xmlns:a16="http://schemas.microsoft.com/office/drawing/2014/main" val="140848286"/>
                    </a:ext>
                  </a:extLst>
                </a:gridCol>
                <a:gridCol w="483575">
                  <a:extLst>
                    <a:ext uri="{9D8B030D-6E8A-4147-A177-3AD203B41FA5}">
                      <a16:colId xmlns:a16="http://schemas.microsoft.com/office/drawing/2014/main" val="870853914"/>
                    </a:ext>
                  </a:extLst>
                </a:gridCol>
                <a:gridCol w="483575">
                  <a:extLst>
                    <a:ext uri="{9D8B030D-6E8A-4147-A177-3AD203B41FA5}">
                      <a16:colId xmlns:a16="http://schemas.microsoft.com/office/drawing/2014/main" val="1525682766"/>
                    </a:ext>
                  </a:extLst>
                </a:gridCol>
                <a:gridCol w="483575">
                  <a:extLst>
                    <a:ext uri="{9D8B030D-6E8A-4147-A177-3AD203B41FA5}">
                      <a16:colId xmlns:a16="http://schemas.microsoft.com/office/drawing/2014/main" val="2452600937"/>
                    </a:ext>
                  </a:extLst>
                </a:gridCol>
                <a:gridCol w="483575">
                  <a:extLst>
                    <a:ext uri="{9D8B030D-6E8A-4147-A177-3AD203B41FA5}">
                      <a16:colId xmlns:a16="http://schemas.microsoft.com/office/drawing/2014/main" val="1112835390"/>
                    </a:ext>
                  </a:extLst>
                </a:gridCol>
                <a:gridCol w="483575">
                  <a:extLst>
                    <a:ext uri="{9D8B030D-6E8A-4147-A177-3AD203B41FA5}">
                      <a16:colId xmlns:a16="http://schemas.microsoft.com/office/drawing/2014/main" val="3597821736"/>
                    </a:ext>
                  </a:extLst>
                </a:gridCol>
                <a:gridCol w="435217">
                  <a:extLst>
                    <a:ext uri="{9D8B030D-6E8A-4147-A177-3AD203B41FA5}">
                      <a16:colId xmlns:a16="http://schemas.microsoft.com/office/drawing/2014/main" val="2743042626"/>
                    </a:ext>
                  </a:extLst>
                </a:gridCol>
                <a:gridCol w="453352">
                  <a:extLst>
                    <a:ext uri="{9D8B030D-6E8A-4147-A177-3AD203B41FA5}">
                      <a16:colId xmlns:a16="http://schemas.microsoft.com/office/drawing/2014/main" val="3964266409"/>
                    </a:ext>
                  </a:extLst>
                </a:gridCol>
                <a:gridCol w="453352">
                  <a:extLst>
                    <a:ext uri="{9D8B030D-6E8A-4147-A177-3AD203B41FA5}">
                      <a16:colId xmlns:a16="http://schemas.microsoft.com/office/drawing/2014/main" val="1092425251"/>
                    </a:ext>
                  </a:extLst>
                </a:gridCol>
                <a:gridCol w="453352">
                  <a:extLst>
                    <a:ext uri="{9D8B030D-6E8A-4147-A177-3AD203B41FA5}">
                      <a16:colId xmlns:a16="http://schemas.microsoft.com/office/drawing/2014/main" val="1937168484"/>
                    </a:ext>
                  </a:extLst>
                </a:gridCol>
                <a:gridCol w="453352">
                  <a:extLst>
                    <a:ext uri="{9D8B030D-6E8A-4147-A177-3AD203B41FA5}">
                      <a16:colId xmlns:a16="http://schemas.microsoft.com/office/drawing/2014/main" val="3850330650"/>
                    </a:ext>
                  </a:extLst>
                </a:gridCol>
                <a:gridCol w="453352">
                  <a:extLst>
                    <a:ext uri="{9D8B030D-6E8A-4147-A177-3AD203B41FA5}">
                      <a16:colId xmlns:a16="http://schemas.microsoft.com/office/drawing/2014/main" val="4102986975"/>
                    </a:ext>
                  </a:extLst>
                </a:gridCol>
              </a:tblGrid>
              <a:tr h="367669">
                <a:tc>
                  <a:txBody>
                    <a:bodyPr/>
                    <a:lstStyle/>
                    <a:p>
                      <a:pPr algn="l" rtl="0" fontAlgn="ctr">
                        <a:buNone/>
                      </a:pPr>
                      <a:r>
                        <a:rPr lang="es-CO" sz="1050" b="1" i="0" u="none" strike="noStrike">
                          <a:solidFill>
                            <a:srgbClr val="FFFFFF"/>
                          </a:solidFill>
                          <a:effectLst/>
                          <a:latin typeface="Muli"/>
                        </a:rPr>
                        <a:t>Tipo de tratamiento</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050" b="1" i="0" u="none" strike="noStrike">
                          <a:solidFill>
                            <a:srgbClr val="FFFFFF"/>
                          </a:solidFill>
                          <a:effectLst/>
                          <a:latin typeface="Muli"/>
                        </a:rPr>
                        <a:t>ene-25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050" b="1" i="0" u="none" strike="noStrike">
                          <a:solidFill>
                            <a:srgbClr val="FFFFFF"/>
                          </a:solidFill>
                          <a:effectLst/>
                          <a:latin typeface="Muli"/>
                        </a:rPr>
                        <a:t>feb-25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050" b="1" i="0" u="none" strike="noStrike">
                          <a:solidFill>
                            <a:srgbClr val="FFFFFF"/>
                          </a:solidFill>
                          <a:effectLst/>
                          <a:latin typeface="Muli"/>
                        </a:rPr>
                        <a:t>mar-25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050" b="1" i="0" u="none" strike="noStrike">
                          <a:solidFill>
                            <a:srgbClr val="FFFFFF"/>
                          </a:solidFill>
                          <a:effectLst/>
                          <a:latin typeface="Muli"/>
                        </a:rPr>
                        <a:t>abr-25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050" b="1" i="0" u="none" strike="noStrike">
                          <a:solidFill>
                            <a:srgbClr val="FFFFFF"/>
                          </a:solidFill>
                          <a:effectLst/>
                          <a:latin typeface="Muli"/>
                        </a:rPr>
                        <a:t>may-25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050" b="1" i="0" u="none" strike="noStrike">
                          <a:solidFill>
                            <a:srgbClr val="FFFFFF"/>
                          </a:solidFill>
                          <a:effectLst/>
                          <a:latin typeface="Muli"/>
                        </a:rPr>
                        <a:t>jun-25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050" b="1" i="0" u="none" strike="noStrike">
                          <a:solidFill>
                            <a:srgbClr val="FFFFFF"/>
                          </a:solidFill>
                          <a:effectLst/>
                          <a:latin typeface="Muli"/>
                        </a:rPr>
                        <a:t>jul-25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050" b="1" i="0" u="none" strike="noStrike">
                          <a:solidFill>
                            <a:srgbClr val="FFFFFF"/>
                          </a:solidFill>
                          <a:effectLst/>
                          <a:latin typeface="Muli"/>
                        </a:rPr>
                        <a:t>ago-25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050" b="1" i="0" u="none" strike="noStrike">
                          <a:solidFill>
                            <a:srgbClr val="FFFFFF"/>
                          </a:solidFill>
                          <a:effectLst/>
                          <a:latin typeface="Muli"/>
                        </a:rPr>
                        <a:t>sep-25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050" b="1" i="0" u="none" strike="noStrike">
                          <a:solidFill>
                            <a:srgbClr val="FFFFFF"/>
                          </a:solidFill>
                          <a:effectLst/>
                          <a:latin typeface="Muli"/>
                        </a:rPr>
                        <a:t>oct-25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050" b="1" i="0" u="none" strike="noStrike">
                          <a:solidFill>
                            <a:srgbClr val="FFFFFF"/>
                          </a:solidFill>
                          <a:effectLst/>
                          <a:latin typeface="Muli"/>
                        </a:rPr>
                        <a:t>nov-25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050" b="1" i="0" u="none" strike="noStrike">
                          <a:solidFill>
                            <a:srgbClr val="FFFFFF"/>
                          </a:solidFill>
                          <a:effectLst/>
                          <a:latin typeface="Muli"/>
                        </a:rPr>
                        <a:t>dic-25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050" b="1" i="0" u="none" strike="noStrike">
                          <a:solidFill>
                            <a:srgbClr val="FFFFFF"/>
                          </a:solidFill>
                          <a:effectLst/>
                          <a:latin typeface="Muli"/>
                        </a:rPr>
                        <a:t>ene-26</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050" b="1" i="0" u="none" strike="noStrike">
                          <a:solidFill>
                            <a:srgbClr val="FFFFFF"/>
                          </a:solidFill>
                          <a:effectLst/>
                          <a:latin typeface="Muli"/>
                        </a:rPr>
                        <a:t>feb-26</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050" b="1" i="0" u="none" strike="noStrike">
                          <a:solidFill>
                            <a:srgbClr val="FFFFFF"/>
                          </a:solidFill>
                          <a:effectLst/>
                          <a:latin typeface="Muli"/>
                        </a:rPr>
                        <a:t>mar-26</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050" b="1" i="0" u="none" strike="noStrike">
                          <a:solidFill>
                            <a:srgbClr val="FFFFFF"/>
                          </a:solidFill>
                          <a:effectLst/>
                          <a:latin typeface="Muli"/>
                        </a:rPr>
                        <a:t>abr-26</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050" b="1" i="0" u="none" strike="noStrike">
                          <a:solidFill>
                            <a:srgbClr val="FFFFFF"/>
                          </a:solidFill>
                          <a:effectLst/>
                          <a:latin typeface="Muli"/>
                        </a:rPr>
                        <a:t>may-26</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050" b="1" i="0" u="none" strike="noStrike">
                          <a:solidFill>
                            <a:srgbClr val="FFFFFF"/>
                          </a:solidFill>
                          <a:effectLst/>
                          <a:latin typeface="Muli"/>
                        </a:rPr>
                        <a:t>jun-26</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050" b="1" i="0" u="none" strike="noStrike">
                          <a:solidFill>
                            <a:srgbClr val="FFFFFF"/>
                          </a:solidFill>
                          <a:effectLst/>
                          <a:latin typeface="Muli"/>
                        </a:rPr>
                        <a:t>jul-26</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050" b="1" i="0" u="none" strike="noStrike">
                          <a:solidFill>
                            <a:srgbClr val="FFFFFF"/>
                          </a:solidFill>
                          <a:effectLst/>
                          <a:latin typeface="Muli"/>
                        </a:rPr>
                        <a:t>ago-26</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050" b="1" i="0" u="none" strike="noStrike">
                          <a:solidFill>
                            <a:srgbClr val="FFFFFF"/>
                          </a:solidFill>
                          <a:effectLst/>
                          <a:latin typeface="Muli"/>
                        </a:rPr>
                        <a:t>sep-26</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extLst>
                  <a:ext uri="{0D108BD9-81ED-4DB2-BD59-A6C34878D82A}">
                    <a16:rowId xmlns:a16="http://schemas.microsoft.com/office/drawing/2014/main" val="3258082356"/>
                  </a:ext>
                </a:extLst>
              </a:tr>
              <a:tr h="204399">
                <a:tc>
                  <a:txBody>
                    <a:bodyPr/>
                    <a:lstStyle/>
                    <a:p>
                      <a:pPr algn="l" rtl="0" fontAlgn="t">
                        <a:buNone/>
                      </a:pPr>
                      <a:r>
                        <a:rPr lang="es-CO" sz="1050" b="0" i="0" u="none" strike="noStrike">
                          <a:solidFill>
                            <a:srgbClr val="80589F"/>
                          </a:solidFill>
                          <a:effectLst/>
                          <a:latin typeface="Muli"/>
                        </a:rPr>
                        <a:t>Terapia sistémica</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317</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416</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413</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386</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402</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370</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399</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415</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416</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445</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443</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472</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467</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521</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461</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472</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409</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359</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300</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250</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285</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D1DF"/>
                    </a:solidFill>
                  </a:tcPr>
                </a:tc>
                <a:extLst>
                  <a:ext uri="{0D108BD9-81ED-4DB2-BD59-A6C34878D82A}">
                    <a16:rowId xmlns:a16="http://schemas.microsoft.com/office/drawing/2014/main" val="65149195"/>
                  </a:ext>
                </a:extLst>
              </a:tr>
              <a:tr h="240111">
                <a:tc>
                  <a:txBody>
                    <a:bodyPr/>
                    <a:lstStyle/>
                    <a:p>
                      <a:pPr algn="l" rtl="0" fontAlgn="t">
                        <a:buNone/>
                      </a:pPr>
                      <a:r>
                        <a:rPr lang="es-CO" sz="1050" b="0" i="0" u="none" strike="noStrike">
                          <a:solidFill>
                            <a:srgbClr val="80589F"/>
                          </a:solidFill>
                          <a:effectLst/>
                          <a:latin typeface="Muli"/>
                        </a:rPr>
                        <a:t>Radioterapia</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t">
                        <a:buNone/>
                      </a:pPr>
                      <a:r>
                        <a:rPr lang="es-CO" sz="1050" b="0" i="0" u="none" strike="noStrike">
                          <a:solidFill>
                            <a:srgbClr val="80589F"/>
                          </a:solidFill>
                          <a:effectLst/>
                          <a:latin typeface="Muli"/>
                        </a:rPr>
                        <a:t>18</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t">
                        <a:buNone/>
                      </a:pPr>
                      <a:r>
                        <a:rPr lang="es-CO" sz="1050" b="0" i="0" u="none" strike="noStrike">
                          <a:solidFill>
                            <a:srgbClr val="80589F"/>
                          </a:solidFill>
                          <a:effectLst/>
                          <a:latin typeface="Muli"/>
                        </a:rPr>
                        <a:t>28</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t">
                        <a:buNone/>
                      </a:pPr>
                      <a:r>
                        <a:rPr lang="es-CO" sz="1050" b="0" i="0" u="none" strike="noStrike">
                          <a:solidFill>
                            <a:srgbClr val="80589F"/>
                          </a:solidFill>
                          <a:effectLst/>
                          <a:latin typeface="Muli"/>
                        </a:rPr>
                        <a:t>16</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t">
                        <a:buNone/>
                      </a:pPr>
                      <a:r>
                        <a:rPr lang="es-CO" sz="1050" b="0" i="0" u="none" strike="noStrike">
                          <a:solidFill>
                            <a:srgbClr val="80589F"/>
                          </a:solidFill>
                          <a:effectLst/>
                          <a:latin typeface="Muli"/>
                        </a:rPr>
                        <a:t>24</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t">
                        <a:buNone/>
                      </a:pPr>
                      <a:r>
                        <a:rPr lang="es-CO" sz="1050" b="0" i="0" u="none" strike="noStrike">
                          <a:solidFill>
                            <a:srgbClr val="80589F"/>
                          </a:solidFill>
                          <a:effectLst/>
                          <a:latin typeface="Muli"/>
                        </a:rPr>
                        <a:t>16</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t">
                        <a:buNone/>
                      </a:pPr>
                      <a:r>
                        <a:rPr lang="es-CO" sz="1050" b="0" i="0" u="none" strike="noStrike">
                          <a:solidFill>
                            <a:srgbClr val="80589F"/>
                          </a:solidFill>
                          <a:effectLst/>
                          <a:latin typeface="Muli"/>
                        </a:rPr>
                        <a:t>20</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t">
                        <a:buNone/>
                      </a:pPr>
                      <a:r>
                        <a:rPr lang="es-CO" sz="1050" b="0" i="0" u="none" strike="noStrike">
                          <a:solidFill>
                            <a:srgbClr val="80589F"/>
                          </a:solidFill>
                          <a:effectLst/>
                          <a:latin typeface="Muli"/>
                        </a:rPr>
                        <a:t>25</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t">
                        <a:buNone/>
                      </a:pPr>
                      <a:r>
                        <a:rPr lang="es-CO" sz="1050" b="0" i="0" u="none" strike="noStrike">
                          <a:solidFill>
                            <a:srgbClr val="80589F"/>
                          </a:solidFill>
                          <a:effectLst/>
                          <a:latin typeface="Muli"/>
                        </a:rPr>
                        <a:t>33</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t">
                        <a:buNone/>
                      </a:pPr>
                      <a:r>
                        <a:rPr lang="es-CO" sz="1050" b="0" i="0" u="none" strike="noStrike">
                          <a:solidFill>
                            <a:srgbClr val="80589F"/>
                          </a:solidFill>
                          <a:effectLst/>
                          <a:latin typeface="Muli"/>
                        </a:rPr>
                        <a:t>16</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t">
                        <a:buNone/>
                      </a:pPr>
                      <a:r>
                        <a:rPr lang="es-CO" sz="1050" b="0" i="0" u="none" strike="noStrike">
                          <a:solidFill>
                            <a:srgbClr val="80589F"/>
                          </a:solidFill>
                          <a:effectLst/>
                          <a:latin typeface="Muli"/>
                        </a:rPr>
                        <a:t>8</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t">
                        <a:buNone/>
                      </a:pPr>
                      <a:r>
                        <a:rPr lang="es-CO" sz="1050" b="0" i="0" u="none" strike="noStrike">
                          <a:solidFill>
                            <a:srgbClr val="80589F"/>
                          </a:solidFill>
                          <a:effectLst/>
                          <a:latin typeface="Muli"/>
                        </a:rPr>
                        <a:t>17</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t">
                        <a:buNone/>
                      </a:pPr>
                      <a:r>
                        <a:rPr lang="es-CO" sz="1050" b="0" i="0" u="none" strike="noStrike">
                          <a:solidFill>
                            <a:srgbClr val="80589F"/>
                          </a:solidFill>
                          <a:effectLst/>
                          <a:latin typeface="Muli"/>
                        </a:rPr>
                        <a:t>18</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t">
                        <a:buNone/>
                      </a:pPr>
                      <a:r>
                        <a:rPr lang="es-CO" sz="1050" b="0" i="0" u="none" strike="noStrike">
                          <a:solidFill>
                            <a:srgbClr val="80589F"/>
                          </a:solidFill>
                          <a:effectLst/>
                          <a:latin typeface="Muli"/>
                        </a:rPr>
                        <a:t>13</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t">
                        <a:buNone/>
                      </a:pPr>
                      <a:r>
                        <a:rPr lang="es-CO" sz="1050" b="0" i="0" u="none" strike="noStrike">
                          <a:solidFill>
                            <a:srgbClr val="80589F"/>
                          </a:solidFill>
                          <a:effectLst/>
                          <a:latin typeface="Muli"/>
                        </a:rPr>
                        <a:t>23</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t">
                        <a:buNone/>
                      </a:pPr>
                      <a:r>
                        <a:rPr lang="es-CO" sz="1050" b="0" i="0" u="none" strike="noStrike">
                          <a:solidFill>
                            <a:srgbClr val="80589F"/>
                          </a:solidFill>
                          <a:effectLst/>
                          <a:latin typeface="Muli"/>
                        </a:rPr>
                        <a:t>25</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t">
                        <a:buNone/>
                      </a:pPr>
                      <a:r>
                        <a:rPr lang="es-CO" sz="1050" b="0" i="0" u="none" strike="noStrike">
                          <a:solidFill>
                            <a:srgbClr val="80589F"/>
                          </a:solidFill>
                          <a:effectLst/>
                          <a:latin typeface="Muli"/>
                        </a:rPr>
                        <a:t>25</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t">
                        <a:buNone/>
                      </a:pPr>
                      <a:r>
                        <a:rPr lang="es-CO" sz="1050" b="0" i="0" u="none" strike="noStrike">
                          <a:solidFill>
                            <a:srgbClr val="80589F"/>
                          </a:solidFill>
                          <a:effectLst/>
                          <a:latin typeface="Muli"/>
                        </a:rPr>
                        <a:t>19</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28</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22</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13</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15</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D1DF"/>
                    </a:solidFill>
                  </a:tcPr>
                </a:tc>
                <a:extLst>
                  <a:ext uri="{0D108BD9-81ED-4DB2-BD59-A6C34878D82A}">
                    <a16:rowId xmlns:a16="http://schemas.microsoft.com/office/drawing/2014/main" val="593347032"/>
                  </a:ext>
                </a:extLst>
              </a:tr>
              <a:tr h="240111">
                <a:tc>
                  <a:txBody>
                    <a:bodyPr/>
                    <a:lstStyle/>
                    <a:p>
                      <a:pPr algn="l" rtl="0" fontAlgn="t">
                        <a:buNone/>
                      </a:pPr>
                      <a:r>
                        <a:rPr lang="es-CO" sz="1050" b="0" i="0" u="none" strike="noStrike">
                          <a:solidFill>
                            <a:srgbClr val="80589F"/>
                          </a:solidFill>
                          <a:effectLst/>
                          <a:latin typeface="Muli"/>
                        </a:rPr>
                        <a:t>Cirugía</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67</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43</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59</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58</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67</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60</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72</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57</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59</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57</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54</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45</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77</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120</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103</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108</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135</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118</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68</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50</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50" b="0" i="0" u="none" strike="noStrike">
                          <a:solidFill>
                            <a:srgbClr val="80589F"/>
                          </a:solidFill>
                          <a:effectLst/>
                          <a:latin typeface="Muli"/>
                        </a:rPr>
                        <a:t>68</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extLst>
                  <a:ext uri="{0D108BD9-81ED-4DB2-BD59-A6C34878D82A}">
                    <a16:rowId xmlns:a16="http://schemas.microsoft.com/office/drawing/2014/main" val="485997886"/>
                  </a:ext>
                </a:extLst>
              </a:tr>
            </a:tbl>
          </a:graphicData>
        </a:graphic>
      </p:graphicFrame>
    </p:spTree>
    <p:extLst>
      <p:ext uri="{BB962C8B-B14F-4D97-AF65-F5344CB8AC3E}">
        <p14:creationId xmlns:p14="http://schemas.microsoft.com/office/powerpoint/2010/main" val="32638453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73466F-082C-4993-D3D9-36BC55760332}"/>
              </a:ext>
            </a:extLst>
          </p:cNvPr>
          <p:cNvSpPr>
            <a:spLocks noGrp="1"/>
          </p:cNvSpPr>
          <p:nvPr>
            <p:ph type="ctrTitle"/>
          </p:nvPr>
        </p:nvSpPr>
        <p:spPr/>
        <p:txBody>
          <a:bodyPr/>
          <a:lstStyle/>
          <a:p>
            <a:r>
              <a:rPr lang="es-CO" noProof="0"/>
              <a:t>Clasificación según intención de tratamiento</a:t>
            </a:r>
          </a:p>
        </p:txBody>
      </p:sp>
      <p:sp>
        <p:nvSpPr>
          <p:cNvPr id="4" name="CuadroTexto 4">
            <a:extLst>
              <a:ext uri="{FF2B5EF4-FFF2-40B4-BE49-F238E27FC236}">
                <a16:creationId xmlns:a16="http://schemas.microsoft.com/office/drawing/2014/main" id="{17954185-4D35-5D1A-D941-4D80422C4D0A}"/>
              </a:ext>
            </a:extLst>
          </p:cNvPr>
          <p:cNvSpPr txBox="1"/>
          <p:nvPr/>
        </p:nvSpPr>
        <p:spPr>
          <a:xfrm>
            <a:off x="749508" y="4068889"/>
            <a:ext cx="10766235" cy="1754326"/>
          </a:xfrm>
          <a:prstGeom prst="rect">
            <a:avLst/>
          </a:prstGeom>
          <a:noFill/>
        </p:spPr>
        <p:txBody>
          <a:bodyPr wrap="square">
            <a:spAutoFit/>
          </a:bodyPr>
          <a:ls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eaLnBrk="0" fontAlgn="base" hangingPunct="0">
              <a:spcBef>
                <a:spcPct val="0"/>
              </a:spcBef>
              <a:spcAft>
                <a:spcPct val="0"/>
              </a:spcAft>
            </a:pPr>
            <a:r>
              <a:rPr lang="es-CO" noProof="0"/>
              <a:t>El perfil global refleja un </a:t>
            </a:r>
            <a:r>
              <a:rPr lang="es-CO" b="1" noProof="0"/>
              <a:t>modelo de atención eficiente y oportuno</a:t>
            </a:r>
            <a:r>
              <a:rPr lang="es-CO" noProof="0"/>
              <a:t>, orientado a curación.</a:t>
            </a:r>
          </a:p>
          <a:p>
            <a:pPr lvl="0" eaLnBrk="0" fontAlgn="base" hangingPunct="0">
              <a:spcBef>
                <a:spcPct val="0"/>
              </a:spcBef>
              <a:spcAft>
                <a:spcPct val="0"/>
              </a:spcAft>
            </a:pPr>
            <a:r>
              <a:rPr lang="es-CO" b="1" noProof="0">
                <a:latin typeface="Arial" panose="020B0604020202020204" pitchFamily="34" charset="0"/>
              </a:rPr>
              <a:t>El total de casos analizados: 3,173</a:t>
            </a:r>
            <a:endParaRPr lang="es-CO" noProof="0">
              <a:latin typeface="Arial" panose="020B0604020202020204" pitchFamily="34" charset="0"/>
            </a:endParaRPr>
          </a:p>
          <a:p>
            <a:pPr lvl="0" eaLnBrk="0" fontAlgn="base" hangingPunct="0">
              <a:spcBef>
                <a:spcPct val="0"/>
              </a:spcBef>
              <a:spcAft>
                <a:spcPct val="0"/>
              </a:spcAft>
            </a:pPr>
            <a:r>
              <a:rPr lang="es-CO" noProof="0">
                <a:latin typeface="Arial" panose="020B0604020202020204" pitchFamily="34" charset="0"/>
              </a:rPr>
              <a:t>Distribución por intención de tratamiento:</a:t>
            </a:r>
          </a:p>
          <a:p>
            <a:pPr lvl="0" eaLnBrk="0" fontAlgn="base" hangingPunct="0">
              <a:spcBef>
                <a:spcPct val="0"/>
              </a:spcBef>
              <a:spcAft>
                <a:spcPct val="0"/>
              </a:spcAft>
            </a:pPr>
            <a:r>
              <a:rPr lang="es-CO" b="1" noProof="0">
                <a:latin typeface="Arial" panose="020B0604020202020204" pitchFamily="34" charset="0"/>
              </a:rPr>
              <a:t>Curación:</a:t>
            </a:r>
            <a:r>
              <a:rPr lang="es-CO" noProof="0">
                <a:latin typeface="Arial" panose="020B0604020202020204" pitchFamily="34" charset="0"/>
              </a:rPr>
              <a:t> 2.801 casos (</a:t>
            </a:r>
            <a:r>
              <a:rPr lang="es-CO" b="1">
                <a:latin typeface="Arial" panose="020B0604020202020204" pitchFamily="34" charset="0"/>
              </a:rPr>
              <a:t>88,2</a:t>
            </a:r>
            <a:r>
              <a:rPr lang="es-CO" b="1" noProof="0">
                <a:latin typeface="Arial" panose="020B0604020202020204" pitchFamily="34" charset="0"/>
              </a:rPr>
              <a:t>%</a:t>
            </a:r>
            <a:r>
              <a:rPr lang="es-CO" noProof="0">
                <a:latin typeface="Arial" panose="020B0604020202020204" pitchFamily="34" charset="0"/>
              </a:rPr>
              <a:t>)</a:t>
            </a:r>
          </a:p>
          <a:p>
            <a:pPr lvl="0" eaLnBrk="0" fontAlgn="base" hangingPunct="0">
              <a:spcBef>
                <a:spcPct val="0"/>
              </a:spcBef>
              <a:spcAft>
                <a:spcPct val="0"/>
              </a:spcAft>
            </a:pPr>
            <a:r>
              <a:rPr lang="es-CO" b="1" noProof="0">
                <a:latin typeface="Arial" panose="020B0604020202020204" pitchFamily="34" charset="0"/>
              </a:rPr>
              <a:t>Observación:</a:t>
            </a:r>
            <a:r>
              <a:rPr lang="es-CO" noProof="0">
                <a:latin typeface="Arial" panose="020B0604020202020204" pitchFamily="34" charset="0"/>
              </a:rPr>
              <a:t> </a:t>
            </a:r>
            <a:r>
              <a:rPr lang="es-CO">
                <a:latin typeface="Arial" panose="020B0604020202020204" pitchFamily="34" charset="0"/>
              </a:rPr>
              <a:t>342</a:t>
            </a:r>
            <a:r>
              <a:rPr lang="es-CO" noProof="0">
                <a:latin typeface="Arial" panose="020B0604020202020204" pitchFamily="34" charset="0"/>
              </a:rPr>
              <a:t> casos	 (</a:t>
            </a:r>
            <a:r>
              <a:rPr lang="es-CO" b="1">
                <a:latin typeface="Arial" panose="020B0604020202020204" pitchFamily="34" charset="0"/>
              </a:rPr>
              <a:t>10,8</a:t>
            </a:r>
            <a:r>
              <a:rPr lang="es-CO" b="1" noProof="0">
                <a:latin typeface="Arial" panose="020B0604020202020204" pitchFamily="34" charset="0"/>
              </a:rPr>
              <a:t>%</a:t>
            </a:r>
            <a:r>
              <a:rPr lang="es-CO" noProof="0">
                <a:latin typeface="Arial" panose="020B0604020202020204" pitchFamily="34" charset="0"/>
              </a:rPr>
              <a:t>)</a:t>
            </a:r>
          </a:p>
          <a:p>
            <a:pPr lvl="0" eaLnBrk="0" fontAlgn="base" hangingPunct="0">
              <a:spcBef>
                <a:spcPct val="0"/>
              </a:spcBef>
              <a:spcAft>
                <a:spcPct val="0"/>
              </a:spcAft>
            </a:pPr>
            <a:r>
              <a:rPr lang="es-CO" b="1" noProof="0">
                <a:latin typeface="Arial" panose="020B0604020202020204" pitchFamily="34" charset="0"/>
              </a:rPr>
              <a:t>Paliación:</a:t>
            </a:r>
            <a:r>
              <a:rPr lang="es-CO" noProof="0">
                <a:latin typeface="Arial" panose="020B0604020202020204" pitchFamily="34" charset="0"/>
              </a:rPr>
              <a:t> </a:t>
            </a:r>
            <a:r>
              <a:rPr lang="es-CO">
                <a:latin typeface="Arial" panose="020B0604020202020204" pitchFamily="34" charset="0"/>
              </a:rPr>
              <a:t>30</a:t>
            </a:r>
            <a:r>
              <a:rPr lang="es-CO" noProof="0">
                <a:latin typeface="Arial" panose="020B0604020202020204" pitchFamily="34" charset="0"/>
              </a:rPr>
              <a:t> casos (</a:t>
            </a:r>
            <a:r>
              <a:rPr lang="es-CO" b="1" noProof="0">
                <a:latin typeface="Arial" panose="020B0604020202020204" pitchFamily="34" charset="0"/>
              </a:rPr>
              <a:t>1%</a:t>
            </a:r>
            <a:r>
              <a:rPr lang="es-CO" noProof="0">
                <a:latin typeface="Arial" panose="020B0604020202020204" pitchFamily="34" charset="0"/>
              </a:rPr>
              <a:t>)</a:t>
            </a:r>
            <a:endParaRPr lang="es-CO" noProof="0"/>
          </a:p>
        </p:txBody>
      </p:sp>
      <p:sp>
        <p:nvSpPr>
          <p:cNvPr id="3" name="CuadroTexto 2">
            <a:extLst>
              <a:ext uri="{FF2B5EF4-FFF2-40B4-BE49-F238E27FC236}">
                <a16:creationId xmlns:a16="http://schemas.microsoft.com/office/drawing/2014/main" id="{374753A9-8DA8-3F1A-A69E-9746A764BAD8}"/>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a:t>
            </a:r>
            <a:r>
              <a:rPr lang="es-CO" sz="1200" i="1">
                <a:solidFill>
                  <a:schemeClr val="tx2"/>
                </a:solidFill>
              </a:rPr>
              <a:t>Septiembre </a:t>
            </a:r>
            <a:r>
              <a:rPr lang="es-CO" sz="1200" i="1" noProof="0">
                <a:solidFill>
                  <a:schemeClr val="tx2"/>
                </a:solidFill>
              </a:rPr>
              <a:t>2026</a:t>
            </a:r>
          </a:p>
        </p:txBody>
      </p:sp>
      <p:graphicFrame>
        <p:nvGraphicFramePr>
          <p:cNvPr id="7" name="Tabla 6">
            <a:extLst>
              <a:ext uri="{FF2B5EF4-FFF2-40B4-BE49-F238E27FC236}">
                <a16:creationId xmlns:a16="http://schemas.microsoft.com/office/drawing/2014/main" id="{26CF9428-EF4F-831F-9EC4-7C4754C8A958}"/>
              </a:ext>
            </a:extLst>
          </p:cNvPr>
          <p:cNvGraphicFramePr>
            <a:graphicFrameLocks noGrp="1"/>
          </p:cNvGraphicFramePr>
          <p:nvPr>
            <p:extLst>
              <p:ext uri="{D42A27DB-BD31-4B8C-83A1-F6EECF244321}">
                <p14:modId xmlns:p14="http://schemas.microsoft.com/office/powerpoint/2010/main" val="1679823516"/>
              </p:ext>
            </p:extLst>
          </p:nvPr>
        </p:nvGraphicFramePr>
        <p:xfrm>
          <a:off x="950495" y="1142809"/>
          <a:ext cx="10936705" cy="2438400"/>
        </p:xfrm>
        <a:graphic>
          <a:graphicData uri="http://schemas.openxmlformats.org/drawingml/2006/table">
            <a:tbl>
              <a:tblPr firstRow="1" lastRow="1">
                <a:tableStyleId>{5C22544A-7EE6-4342-B048-85BDC9FD1C3A}</a:tableStyleId>
              </a:tblPr>
              <a:tblGrid>
                <a:gridCol w="8650705">
                  <a:extLst>
                    <a:ext uri="{9D8B030D-6E8A-4147-A177-3AD203B41FA5}">
                      <a16:colId xmlns:a16="http://schemas.microsoft.com/office/drawing/2014/main" val="3849328094"/>
                    </a:ext>
                  </a:extLst>
                </a:gridCol>
                <a:gridCol w="1203158">
                  <a:extLst>
                    <a:ext uri="{9D8B030D-6E8A-4147-A177-3AD203B41FA5}">
                      <a16:colId xmlns:a16="http://schemas.microsoft.com/office/drawing/2014/main" val="456172382"/>
                    </a:ext>
                  </a:extLst>
                </a:gridCol>
                <a:gridCol w="1082842">
                  <a:extLst>
                    <a:ext uri="{9D8B030D-6E8A-4147-A177-3AD203B41FA5}">
                      <a16:colId xmlns:a16="http://schemas.microsoft.com/office/drawing/2014/main" val="3030545668"/>
                    </a:ext>
                  </a:extLst>
                </a:gridCol>
              </a:tblGrid>
              <a:tr h="190500">
                <a:tc>
                  <a:txBody>
                    <a:bodyPr/>
                    <a:lstStyle/>
                    <a:p>
                      <a:pPr algn="l" fontAlgn="b">
                        <a:buNone/>
                      </a:pPr>
                      <a:r>
                        <a:rPr lang="es-CO" sz="1600" u="none" strike="noStrike">
                          <a:effectLst/>
                        </a:rPr>
                        <a:t>Objetivo del Plan de tratamiento</a:t>
                      </a:r>
                      <a:endParaRPr lang="es-CO" sz="1600" b="1" i="0" u="none" strike="noStrike">
                        <a:solidFill>
                          <a:srgbClr val="000000"/>
                        </a:solidFill>
                        <a:effectLst/>
                        <a:latin typeface="Calibri" panose="020F0502020204030204" pitchFamily="34" charset="0"/>
                      </a:endParaRPr>
                    </a:p>
                  </a:txBody>
                  <a:tcPr marL="0" marR="0" marT="0" marB="0" anchor="b"/>
                </a:tc>
                <a:tc>
                  <a:txBody>
                    <a:bodyPr/>
                    <a:lstStyle/>
                    <a:p>
                      <a:pPr algn="ctr" fontAlgn="b">
                        <a:buNone/>
                      </a:pPr>
                      <a:r>
                        <a:rPr lang="es-CO" sz="1600" u="none" strike="noStrike">
                          <a:effectLst/>
                        </a:rPr>
                        <a:t>Casos</a:t>
                      </a:r>
                      <a:endParaRPr lang="es-CO" sz="1600" b="1" i="0" u="none" strike="noStrike">
                        <a:solidFill>
                          <a:srgbClr val="000000"/>
                        </a:solidFill>
                        <a:effectLst/>
                        <a:latin typeface="Calibri" panose="020F0502020204030204" pitchFamily="34" charset="0"/>
                      </a:endParaRPr>
                    </a:p>
                  </a:txBody>
                  <a:tcPr marL="0" marR="0" marT="0" marB="0" anchor="b"/>
                </a:tc>
                <a:tc>
                  <a:txBody>
                    <a:bodyPr/>
                    <a:lstStyle/>
                    <a:p>
                      <a:pPr algn="ctr" fontAlgn="b">
                        <a:buNone/>
                      </a:pPr>
                      <a:r>
                        <a:rPr lang="es-CO" sz="1600" u="none" strike="noStrike">
                          <a:effectLst/>
                        </a:rPr>
                        <a:t>%</a:t>
                      </a:r>
                      <a:endParaRPr lang="es-CO" sz="1600" b="1"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400832846"/>
                  </a:ext>
                </a:extLst>
              </a:tr>
              <a:tr h="190500">
                <a:tc>
                  <a:txBody>
                    <a:bodyPr/>
                    <a:lstStyle/>
                    <a:p>
                      <a:pPr algn="l" fontAlgn="b">
                        <a:buNone/>
                      </a:pPr>
                      <a:r>
                        <a:rPr lang="es-CO" sz="1600" u="none" strike="noStrike">
                          <a:effectLst/>
                        </a:rPr>
                        <a:t>3= Observación o seguimiento luego de tratamiento</a:t>
                      </a:r>
                      <a:endParaRPr lang="es-CO" sz="1600" b="0" i="0" u="none" strike="noStrike">
                        <a:solidFill>
                          <a:srgbClr val="000000"/>
                        </a:solidFill>
                        <a:effectLst/>
                        <a:latin typeface="Calibri" panose="020F0502020204030204" pitchFamily="34" charset="0"/>
                      </a:endParaRPr>
                    </a:p>
                  </a:txBody>
                  <a:tcPr marL="0" marR="0" marT="0" marB="0" anchor="b"/>
                </a:tc>
                <a:tc>
                  <a:txBody>
                    <a:bodyPr/>
                    <a:lstStyle/>
                    <a:p>
                      <a:pPr algn="ctr" fontAlgn="b">
                        <a:buNone/>
                      </a:pPr>
                      <a:r>
                        <a:rPr lang="es-CO" sz="1600" u="none" strike="noStrike">
                          <a:effectLst/>
                        </a:rPr>
                        <a:t>1590</a:t>
                      </a:r>
                      <a:endParaRPr lang="es-CO" sz="1600" b="0" i="0" u="none" strike="noStrike">
                        <a:solidFill>
                          <a:srgbClr val="000000"/>
                        </a:solidFill>
                        <a:effectLst/>
                        <a:latin typeface="Calibri" panose="020F0502020204030204" pitchFamily="34" charset="0"/>
                      </a:endParaRPr>
                    </a:p>
                  </a:txBody>
                  <a:tcPr marL="0" marR="0" marT="0" marB="0" anchor="b"/>
                </a:tc>
                <a:tc>
                  <a:txBody>
                    <a:bodyPr/>
                    <a:lstStyle/>
                    <a:p>
                      <a:pPr algn="ctr" fontAlgn="b">
                        <a:buNone/>
                      </a:pPr>
                      <a:r>
                        <a:rPr lang="es-CO" sz="1600" u="none" strike="noStrike">
                          <a:effectLst/>
                        </a:rPr>
                        <a:t>50.1%</a:t>
                      </a:r>
                      <a:endParaRPr lang="es-CO" sz="16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09422557"/>
                  </a:ext>
                </a:extLst>
              </a:tr>
              <a:tr h="190500">
                <a:tc>
                  <a:txBody>
                    <a:bodyPr/>
                    <a:lstStyle/>
                    <a:p>
                      <a:pPr algn="l" fontAlgn="b">
                        <a:buNone/>
                      </a:pPr>
                      <a:r>
                        <a:rPr lang="es-CO" sz="1600" u="none" strike="noStrike">
                          <a:effectLst/>
                        </a:rPr>
                        <a:t>2= Ofrecer tratamiento curativo (quimioterapia, hormonoterapia, radioterapia, cirugía, terapia</a:t>
                      </a:r>
                      <a:br>
                        <a:rPr lang="es-CO" sz="1600" u="none" strike="noStrike">
                          <a:effectLst/>
                        </a:rPr>
                      </a:br>
                      <a:r>
                        <a:rPr lang="es-CO" sz="1600" u="none" strike="noStrike">
                          <a:effectLst/>
                        </a:rPr>
                        <a:t>biológica) o paliativo dirigido al cáncer inicial o por recaída</a:t>
                      </a:r>
                      <a:endParaRPr lang="es-CO" sz="1600" b="0" i="0" u="none" strike="noStrike">
                        <a:solidFill>
                          <a:srgbClr val="000000"/>
                        </a:solidFill>
                        <a:effectLst/>
                        <a:latin typeface="Calibri" panose="020F0502020204030204" pitchFamily="34" charset="0"/>
                      </a:endParaRPr>
                    </a:p>
                  </a:txBody>
                  <a:tcPr marL="0" marR="0" marT="0" marB="0" anchor="b"/>
                </a:tc>
                <a:tc>
                  <a:txBody>
                    <a:bodyPr/>
                    <a:lstStyle/>
                    <a:p>
                      <a:pPr algn="ctr" fontAlgn="b">
                        <a:buNone/>
                      </a:pPr>
                      <a:r>
                        <a:rPr lang="es-CO" sz="1600" u="none" strike="noStrike">
                          <a:effectLst/>
                        </a:rPr>
                        <a:t>739</a:t>
                      </a:r>
                      <a:endParaRPr lang="es-CO" sz="1600" b="0" i="0" u="none" strike="noStrike">
                        <a:solidFill>
                          <a:srgbClr val="000000"/>
                        </a:solidFill>
                        <a:effectLst/>
                        <a:latin typeface="Calibri" panose="020F0502020204030204" pitchFamily="34" charset="0"/>
                      </a:endParaRPr>
                    </a:p>
                  </a:txBody>
                  <a:tcPr marL="0" marR="0" marT="0" marB="0" anchor="b"/>
                </a:tc>
                <a:tc>
                  <a:txBody>
                    <a:bodyPr/>
                    <a:lstStyle/>
                    <a:p>
                      <a:pPr algn="ctr" fontAlgn="b">
                        <a:buNone/>
                      </a:pPr>
                      <a:r>
                        <a:rPr lang="es-CO" sz="1600" u="none" strike="noStrike">
                          <a:effectLst/>
                        </a:rPr>
                        <a:t>23,3%</a:t>
                      </a:r>
                      <a:endParaRPr lang="es-CO" sz="16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33412393"/>
                  </a:ext>
                </a:extLst>
              </a:tr>
              <a:tr h="190500">
                <a:tc>
                  <a:txBody>
                    <a:bodyPr/>
                    <a:lstStyle/>
                    <a:p>
                      <a:pPr algn="l" fontAlgn="b">
                        <a:buNone/>
                      </a:pPr>
                      <a:r>
                        <a:rPr lang="es-CO" sz="1600" u="none" strike="noStrike">
                          <a:effectLst/>
                        </a:rPr>
                        <a:t>1= Observación previa a tratamiento</a:t>
                      </a:r>
                      <a:endParaRPr lang="es-CO" sz="1600" b="0" i="0" u="none" strike="noStrike">
                        <a:solidFill>
                          <a:srgbClr val="000000"/>
                        </a:solidFill>
                        <a:effectLst/>
                        <a:latin typeface="Calibri" panose="020F0502020204030204" pitchFamily="34" charset="0"/>
                      </a:endParaRPr>
                    </a:p>
                  </a:txBody>
                  <a:tcPr marL="0" marR="0" marT="0" marB="0" anchor="b"/>
                </a:tc>
                <a:tc>
                  <a:txBody>
                    <a:bodyPr/>
                    <a:lstStyle/>
                    <a:p>
                      <a:pPr algn="ctr" fontAlgn="b">
                        <a:buNone/>
                      </a:pPr>
                      <a:r>
                        <a:rPr lang="es-CO" sz="1600" u="none" strike="noStrike">
                          <a:effectLst/>
                        </a:rPr>
                        <a:t>724</a:t>
                      </a:r>
                      <a:endParaRPr lang="es-CO" sz="1600" b="0" i="0" u="none" strike="noStrike">
                        <a:solidFill>
                          <a:srgbClr val="000000"/>
                        </a:solidFill>
                        <a:effectLst/>
                        <a:latin typeface="Calibri" panose="020F0502020204030204" pitchFamily="34" charset="0"/>
                      </a:endParaRPr>
                    </a:p>
                  </a:txBody>
                  <a:tcPr marL="0" marR="0" marT="0" marB="0" anchor="b"/>
                </a:tc>
                <a:tc>
                  <a:txBody>
                    <a:bodyPr/>
                    <a:lstStyle/>
                    <a:p>
                      <a:pPr algn="ctr" fontAlgn="b">
                        <a:buNone/>
                      </a:pPr>
                      <a:r>
                        <a:rPr lang="es-CO" sz="1600" u="none" strike="noStrike">
                          <a:effectLst/>
                        </a:rPr>
                        <a:t>22.77%</a:t>
                      </a:r>
                      <a:endParaRPr lang="es-CO" sz="16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646628179"/>
                  </a:ext>
                </a:extLst>
              </a:tr>
              <a:tr h="190500">
                <a:tc>
                  <a:txBody>
                    <a:bodyPr/>
                    <a:lstStyle/>
                    <a:p>
                      <a:pPr algn="l" fontAlgn="b">
                        <a:buNone/>
                      </a:pPr>
                      <a:r>
                        <a:rPr lang="es-CO" sz="1600" u="none" strike="noStrike">
                          <a:effectLst/>
                        </a:rPr>
                        <a:t>5= 2 y 3 únicamente</a:t>
                      </a:r>
                      <a:endParaRPr lang="es-CO" sz="1600" b="0" i="0" u="none" strike="noStrike">
                        <a:solidFill>
                          <a:srgbClr val="000000"/>
                        </a:solidFill>
                        <a:effectLst/>
                        <a:latin typeface="Calibri" panose="020F0502020204030204" pitchFamily="34" charset="0"/>
                      </a:endParaRPr>
                    </a:p>
                  </a:txBody>
                  <a:tcPr marL="0" marR="0" marT="0" marB="0" anchor="b"/>
                </a:tc>
                <a:tc>
                  <a:txBody>
                    <a:bodyPr/>
                    <a:lstStyle/>
                    <a:p>
                      <a:pPr algn="ctr" fontAlgn="b">
                        <a:buNone/>
                      </a:pPr>
                      <a:r>
                        <a:rPr lang="es-CO" sz="1600" u="none" strike="noStrike">
                          <a:effectLst/>
                        </a:rPr>
                        <a:t>95</a:t>
                      </a:r>
                      <a:endParaRPr lang="es-CO" sz="1600" b="0" i="0" u="none" strike="noStrike">
                        <a:solidFill>
                          <a:srgbClr val="000000"/>
                        </a:solidFill>
                        <a:effectLst/>
                        <a:latin typeface="Calibri" panose="020F0502020204030204" pitchFamily="34" charset="0"/>
                      </a:endParaRPr>
                    </a:p>
                  </a:txBody>
                  <a:tcPr marL="0" marR="0" marT="0" marB="0" anchor="b"/>
                </a:tc>
                <a:tc>
                  <a:txBody>
                    <a:bodyPr/>
                    <a:lstStyle/>
                    <a:p>
                      <a:pPr algn="ctr" fontAlgn="b">
                        <a:buNone/>
                      </a:pPr>
                      <a:r>
                        <a:rPr lang="es-CO" sz="1600" u="none" strike="noStrike">
                          <a:effectLst/>
                        </a:rPr>
                        <a:t>3.02%</a:t>
                      </a:r>
                      <a:endParaRPr lang="es-CO" sz="16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28435653"/>
                  </a:ext>
                </a:extLst>
              </a:tr>
              <a:tr h="190500">
                <a:tc>
                  <a:txBody>
                    <a:bodyPr/>
                    <a:lstStyle/>
                    <a:p>
                      <a:pPr algn="l" fontAlgn="b">
                        <a:buNone/>
                      </a:pPr>
                      <a:r>
                        <a:rPr lang="es-CO" sz="1600" u="none" strike="noStrike">
                          <a:effectLst/>
                        </a:rPr>
                        <a:t>6= 1, 2 y 3</a:t>
                      </a:r>
                      <a:endParaRPr lang="es-CO" sz="1600" b="0" i="0" u="none" strike="noStrike">
                        <a:solidFill>
                          <a:srgbClr val="000000"/>
                        </a:solidFill>
                        <a:effectLst/>
                        <a:latin typeface="Calibri" panose="020F0502020204030204" pitchFamily="34" charset="0"/>
                      </a:endParaRPr>
                    </a:p>
                  </a:txBody>
                  <a:tcPr marL="0" marR="0" marT="0" marB="0" anchor="b"/>
                </a:tc>
                <a:tc>
                  <a:txBody>
                    <a:bodyPr/>
                    <a:lstStyle/>
                    <a:p>
                      <a:pPr algn="ctr" fontAlgn="b">
                        <a:buNone/>
                      </a:pPr>
                      <a:r>
                        <a:rPr lang="es-CO" sz="1600" u="none" strike="noStrike">
                          <a:effectLst/>
                        </a:rPr>
                        <a:t>17</a:t>
                      </a:r>
                      <a:endParaRPr lang="es-CO" sz="1600" b="0" i="0" u="none" strike="noStrike">
                        <a:solidFill>
                          <a:srgbClr val="000000"/>
                        </a:solidFill>
                        <a:effectLst/>
                        <a:latin typeface="Calibri" panose="020F0502020204030204" pitchFamily="34" charset="0"/>
                      </a:endParaRPr>
                    </a:p>
                  </a:txBody>
                  <a:tcPr marL="0" marR="0" marT="0" marB="0" anchor="b"/>
                </a:tc>
                <a:tc>
                  <a:txBody>
                    <a:bodyPr/>
                    <a:lstStyle/>
                    <a:p>
                      <a:pPr algn="ctr" fontAlgn="b">
                        <a:buNone/>
                      </a:pPr>
                      <a:r>
                        <a:rPr lang="es-CO" sz="1600" u="none" strike="noStrike">
                          <a:effectLst/>
                        </a:rPr>
                        <a:t>0.54%</a:t>
                      </a:r>
                      <a:endParaRPr lang="es-CO" sz="16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609754143"/>
                  </a:ext>
                </a:extLst>
              </a:tr>
              <a:tr h="190500">
                <a:tc>
                  <a:txBody>
                    <a:bodyPr/>
                    <a:lstStyle/>
                    <a:p>
                      <a:pPr algn="l" fontAlgn="b">
                        <a:buNone/>
                      </a:pPr>
                      <a:r>
                        <a:rPr lang="es-CO" sz="1600" u="none" strike="noStrike">
                          <a:effectLst/>
                        </a:rPr>
                        <a:t>4= 1 y 2 únicamente</a:t>
                      </a:r>
                      <a:endParaRPr lang="es-CO" sz="1600" b="0" i="0" u="none" strike="noStrike">
                        <a:solidFill>
                          <a:srgbClr val="000000"/>
                        </a:solidFill>
                        <a:effectLst/>
                        <a:latin typeface="Calibri" panose="020F0502020204030204" pitchFamily="34" charset="0"/>
                      </a:endParaRPr>
                    </a:p>
                  </a:txBody>
                  <a:tcPr marL="0" marR="0" marT="0" marB="0" anchor="b"/>
                </a:tc>
                <a:tc>
                  <a:txBody>
                    <a:bodyPr/>
                    <a:lstStyle/>
                    <a:p>
                      <a:pPr algn="ctr" fontAlgn="b">
                        <a:buNone/>
                      </a:pPr>
                      <a:r>
                        <a:rPr lang="es-CO" sz="1600" u="none" strike="noStrike">
                          <a:effectLst/>
                        </a:rPr>
                        <a:t>5</a:t>
                      </a:r>
                      <a:endParaRPr lang="es-CO" sz="1600" b="0" i="0" u="none" strike="noStrike">
                        <a:solidFill>
                          <a:srgbClr val="000000"/>
                        </a:solidFill>
                        <a:effectLst/>
                        <a:latin typeface="Calibri" panose="020F0502020204030204" pitchFamily="34" charset="0"/>
                      </a:endParaRPr>
                    </a:p>
                  </a:txBody>
                  <a:tcPr marL="0" marR="0" marT="0" marB="0" anchor="b"/>
                </a:tc>
                <a:tc>
                  <a:txBody>
                    <a:bodyPr/>
                    <a:lstStyle/>
                    <a:p>
                      <a:pPr algn="ctr" fontAlgn="b">
                        <a:buNone/>
                      </a:pPr>
                      <a:r>
                        <a:rPr lang="es-CO" sz="1600" u="none" strike="noStrike">
                          <a:effectLst/>
                        </a:rPr>
                        <a:t>0.16%</a:t>
                      </a:r>
                      <a:endParaRPr lang="es-CO" sz="16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503406952"/>
                  </a:ext>
                </a:extLst>
              </a:tr>
              <a:tr h="190500">
                <a:tc>
                  <a:txBody>
                    <a:bodyPr/>
                    <a:lstStyle/>
                    <a:p>
                      <a:pPr algn="l" fontAlgn="b">
                        <a:buNone/>
                      </a:pPr>
                      <a:r>
                        <a:rPr lang="es-CO" sz="1600" u="none" strike="noStrike">
                          <a:effectLst/>
                        </a:rPr>
                        <a:t>99: No hay intervención en el periodo (abandono de terapia, alta oncológica ó alta voluntaria)</a:t>
                      </a:r>
                      <a:endParaRPr lang="es-CO" sz="1600" b="0" i="0" u="none" strike="noStrike">
                        <a:solidFill>
                          <a:srgbClr val="000000"/>
                        </a:solidFill>
                        <a:effectLst/>
                        <a:latin typeface="Calibri" panose="020F0502020204030204" pitchFamily="34" charset="0"/>
                      </a:endParaRPr>
                    </a:p>
                  </a:txBody>
                  <a:tcPr marL="0" marR="0" marT="0" marB="0" anchor="b"/>
                </a:tc>
                <a:tc>
                  <a:txBody>
                    <a:bodyPr/>
                    <a:lstStyle/>
                    <a:p>
                      <a:pPr algn="ctr" fontAlgn="b">
                        <a:buNone/>
                      </a:pPr>
                      <a:r>
                        <a:rPr lang="es-CO" sz="1600" u="none" strike="noStrike">
                          <a:effectLst/>
                        </a:rPr>
                        <a:t>3</a:t>
                      </a:r>
                      <a:endParaRPr lang="es-CO" sz="1600" b="0" i="0" u="none" strike="noStrike">
                        <a:solidFill>
                          <a:srgbClr val="000000"/>
                        </a:solidFill>
                        <a:effectLst/>
                        <a:latin typeface="Calibri" panose="020F0502020204030204" pitchFamily="34" charset="0"/>
                      </a:endParaRPr>
                    </a:p>
                  </a:txBody>
                  <a:tcPr marL="0" marR="0" marT="0" marB="0" anchor="b"/>
                </a:tc>
                <a:tc>
                  <a:txBody>
                    <a:bodyPr/>
                    <a:lstStyle/>
                    <a:p>
                      <a:pPr algn="ctr" fontAlgn="b">
                        <a:buNone/>
                      </a:pPr>
                      <a:r>
                        <a:rPr lang="es-CO" sz="1600" u="none" strike="noStrike">
                          <a:effectLst/>
                        </a:rPr>
                        <a:t>0.10%</a:t>
                      </a:r>
                      <a:endParaRPr lang="es-CO" sz="16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696635790"/>
                  </a:ext>
                </a:extLst>
              </a:tr>
              <a:tr h="190500">
                <a:tc>
                  <a:txBody>
                    <a:bodyPr/>
                    <a:lstStyle/>
                    <a:p>
                      <a:pPr algn="l" fontAlgn="b">
                        <a:buNone/>
                      </a:pPr>
                      <a:r>
                        <a:rPr lang="es-CO" sz="1600" u="none" strike="noStrike">
                          <a:effectLst/>
                        </a:rPr>
                        <a:t>Total general</a:t>
                      </a:r>
                      <a:endParaRPr lang="es-CO" sz="1600" b="1" i="0" u="none" strike="noStrike">
                        <a:solidFill>
                          <a:srgbClr val="000000"/>
                        </a:solidFill>
                        <a:effectLst/>
                        <a:latin typeface="Calibri" panose="020F0502020204030204" pitchFamily="34" charset="0"/>
                      </a:endParaRPr>
                    </a:p>
                  </a:txBody>
                  <a:tcPr marL="0" marR="0" marT="0" marB="0" anchor="b"/>
                </a:tc>
                <a:tc>
                  <a:txBody>
                    <a:bodyPr/>
                    <a:lstStyle/>
                    <a:p>
                      <a:pPr algn="ctr" fontAlgn="b">
                        <a:buNone/>
                      </a:pPr>
                      <a:r>
                        <a:rPr lang="es-CO" sz="1600" u="none" strike="noStrike">
                          <a:effectLst/>
                        </a:rPr>
                        <a:t>3173</a:t>
                      </a:r>
                      <a:endParaRPr lang="es-CO" sz="1600" b="1" i="0" u="none" strike="noStrike">
                        <a:solidFill>
                          <a:srgbClr val="000000"/>
                        </a:solidFill>
                        <a:effectLst/>
                        <a:latin typeface="Calibri" panose="020F0502020204030204" pitchFamily="34" charset="0"/>
                      </a:endParaRPr>
                    </a:p>
                  </a:txBody>
                  <a:tcPr marL="0" marR="0" marT="0" marB="0" anchor="b"/>
                </a:tc>
                <a:tc>
                  <a:txBody>
                    <a:bodyPr/>
                    <a:lstStyle/>
                    <a:p>
                      <a:pPr algn="ctr" fontAlgn="b">
                        <a:buNone/>
                      </a:pPr>
                      <a:r>
                        <a:rPr lang="es-CO" sz="1600" u="none" strike="noStrike">
                          <a:effectLst/>
                        </a:rPr>
                        <a:t>100.00%</a:t>
                      </a:r>
                      <a:endParaRPr lang="es-CO" sz="1600" b="1"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161466780"/>
                  </a:ext>
                </a:extLst>
              </a:tr>
            </a:tbl>
          </a:graphicData>
        </a:graphic>
      </p:graphicFrame>
    </p:spTree>
    <p:extLst>
      <p:ext uri="{BB962C8B-B14F-4D97-AF65-F5344CB8AC3E}">
        <p14:creationId xmlns:p14="http://schemas.microsoft.com/office/powerpoint/2010/main" val="1531514891"/>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D10BE-E0FF-A13A-6F69-90254B614D9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19BC394-9DB4-892D-770D-B734B0D1FCA4}"/>
              </a:ext>
            </a:extLst>
          </p:cNvPr>
          <p:cNvSpPr>
            <a:spLocks noGrp="1"/>
          </p:cNvSpPr>
          <p:nvPr>
            <p:ph type="ctrTitle"/>
          </p:nvPr>
        </p:nvSpPr>
        <p:spPr/>
        <p:txBody>
          <a:bodyPr>
            <a:normAutofit/>
          </a:bodyPr>
          <a:lstStyle/>
          <a:p>
            <a:pPr algn="ctr"/>
            <a:r>
              <a:rPr lang="es-CO" noProof="0"/>
              <a:t>Cuidados Paliativos Salud Total-2026</a:t>
            </a:r>
          </a:p>
        </p:txBody>
      </p:sp>
      <p:sp>
        <p:nvSpPr>
          <p:cNvPr id="11" name="CuadroTexto 10">
            <a:extLst>
              <a:ext uri="{FF2B5EF4-FFF2-40B4-BE49-F238E27FC236}">
                <a16:creationId xmlns:a16="http://schemas.microsoft.com/office/drawing/2014/main" id="{B25750E7-BB5C-C84A-62B7-B91FE92B5925}"/>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Septiembre</a:t>
            </a:r>
            <a:r>
              <a:rPr lang="es-CO" sz="1200" i="1">
                <a:solidFill>
                  <a:schemeClr val="tx2"/>
                </a:solidFill>
              </a:rPr>
              <a:t> </a:t>
            </a:r>
            <a:r>
              <a:rPr lang="es-CO" sz="1200" i="1" noProof="0">
                <a:solidFill>
                  <a:schemeClr val="tx2"/>
                </a:solidFill>
              </a:rPr>
              <a:t>2026</a:t>
            </a:r>
          </a:p>
        </p:txBody>
      </p:sp>
      <p:graphicFrame>
        <p:nvGraphicFramePr>
          <p:cNvPr id="6" name="Tabla 5">
            <a:extLst>
              <a:ext uri="{FF2B5EF4-FFF2-40B4-BE49-F238E27FC236}">
                <a16:creationId xmlns:a16="http://schemas.microsoft.com/office/drawing/2014/main" id="{6209B521-973A-7C92-83D1-68092B5D2EF1}"/>
              </a:ext>
            </a:extLst>
          </p:cNvPr>
          <p:cNvGraphicFramePr>
            <a:graphicFrameLocks noGrp="1"/>
          </p:cNvGraphicFramePr>
          <p:nvPr>
            <p:extLst>
              <p:ext uri="{D42A27DB-BD31-4B8C-83A1-F6EECF244321}">
                <p14:modId xmlns:p14="http://schemas.microsoft.com/office/powerpoint/2010/main" val="2354522461"/>
              </p:ext>
            </p:extLst>
          </p:nvPr>
        </p:nvGraphicFramePr>
        <p:xfrm>
          <a:off x="590341" y="831357"/>
          <a:ext cx="10787192" cy="3540636"/>
        </p:xfrm>
        <a:graphic>
          <a:graphicData uri="http://schemas.openxmlformats.org/drawingml/2006/table">
            <a:tbl>
              <a:tblPr/>
              <a:tblGrid>
                <a:gridCol w="2668884">
                  <a:extLst>
                    <a:ext uri="{9D8B030D-6E8A-4147-A177-3AD203B41FA5}">
                      <a16:colId xmlns:a16="http://schemas.microsoft.com/office/drawing/2014/main" val="833664156"/>
                    </a:ext>
                  </a:extLst>
                </a:gridCol>
                <a:gridCol w="1934131">
                  <a:extLst>
                    <a:ext uri="{9D8B030D-6E8A-4147-A177-3AD203B41FA5}">
                      <a16:colId xmlns:a16="http://schemas.microsoft.com/office/drawing/2014/main" val="1497354892"/>
                    </a:ext>
                  </a:extLst>
                </a:gridCol>
                <a:gridCol w="2150235">
                  <a:extLst>
                    <a:ext uri="{9D8B030D-6E8A-4147-A177-3AD203B41FA5}">
                      <a16:colId xmlns:a16="http://schemas.microsoft.com/office/drawing/2014/main" val="4136374729"/>
                    </a:ext>
                  </a:extLst>
                </a:gridCol>
                <a:gridCol w="1988157">
                  <a:extLst>
                    <a:ext uri="{9D8B030D-6E8A-4147-A177-3AD203B41FA5}">
                      <a16:colId xmlns:a16="http://schemas.microsoft.com/office/drawing/2014/main" val="1413734795"/>
                    </a:ext>
                  </a:extLst>
                </a:gridCol>
                <a:gridCol w="2045785">
                  <a:extLst>
                    <a:ext uri="{9D8B030D-6E8A-4147-A177-3AD203B41FA5}">
                      <a16:colId xmlns:a16="http://schemas.microsoft.com/office/drawing/2014/main" val="178605672"/>
                    </a:ext>
                  </a:extLst>
                </a:gridCol>
              </a:tblGrid>
              <a:tr h="489418">
                <a:tc>
                  <a:txBody>
                    <a:bodyPr/>
                    <a:lstStyle/>
                    <a:p>
                      <a:pPr algn="ctr" rtl="0" fontAlgn="ctr">
                        <a:buNone/>
                      </a:pPr>
                      <a:r>
                        <a:rPr lang="es-CO" sz="1600" b="1" i="0" u="none" strike="noStrike">
                          <a:solidFill>
                            <a:srgbClr val="FFFFFF"/>
                          </a:solidFill>
                          <a:effectLst/>
                          <a:latin typeface="Muli"/>
                        </a:rPr>
                        <a:t>PREVALENCIA</a:t>
                      </a:r>
                    </a:p>
                  </a:txBody>
                  <a:tcPr marL="9525" marR="9525" marT="9525" marB="0" anchor="ctr">
                    <a:lnL w="12700" cap="flat" cmpd="sng" algn="ctr">
                      <a:solidFill>
                        <a:srgbClr val="80589F"/>
                      </a:solidFill>
                      <a:prstDash val="solid"/>
                      <a:round/>
                      <a:headEnd type="none" w="med" len="med"/>
                      <a:tailEnd type="none" w="med" len="med"/>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7030A0"/>
                    </a:solidFill>
                  </a:tcPr>
                </a:tc>
                <a:tc>
                  <a:txBody>
                    <a:bodyPr/>
                    <a:lstStyle/>
                    <a:p>
                      <a:pPr algn="ctr" rtl="0" fontAlgn="ctr">
                        <a:buNone/>
                      </a:pPr>
                      <a:r>
                        <a:rPr lang="es-CO" sz="1600" b="1" i="0" u="none" strike="noStrike">
                          <a:solidFill>
                            <a:srgbClr val="FFFFFF"/>
                          </a:solidFill>
                          <a:effectLst/>
                          <a:latin typeface="Muli"/>
                        </a:rPr>
                        <a:t>PSICOLOGÍA</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7030A0"/>
                    </a:solidFill>
                  </a:tcPr>
                </a:tc>
                <a:tc>
                  <a:txBody>
                    <a:bodyPr/>
                    <a:lstStyle/>
                    <a:p>
                      <a:pPr algn="ctr" rtl="0" fontAlgn="ctr">
                        <a:buNone/>
                      </a:pPr>
                      <a:r>
                        <a:rPr lang="es-CO" sz="1600" b="1" i="0" u="none" strike="noStrike">
                          <a:solidFill>
                            <a:srgbClr val="FFFFFF"/>
                          </a:solidFill>
                          <a:effectLst/>
                          <a:latin typeface="Muli"/>
                        </a:rPr>
                        <a:t>TRABAJO SOCIAL</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7030A0"/>
                    </a:solidFill>
                  </a:tcPr>
                </a:tc>
                <a:tc>
                  <a:txBody>
                    <a:bodyPr/>
                    <a:lstStyle/>
                    <a:p>
                      <a:pPr algn="ctr" rtl="0" fontAlgn="ctr">
                        <a:buNone/>
                      </a:pPr>
                      <a:r>
                        <a:rPr lang="es-CO" sz="1600" b="1" i="0" u="none" strike="noStrike">
                          <a:solidFill>
                            <a:srgbClr val="FFFFFF"/>
                          </a:solidFill>
                          <a:effectLst/>
                          <a:latin typeface="Muli"/>
                        </a:rPr>
                        <a:t>DOLOR Y CP</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7030A0"/>
                    </a:solidFill>
                  </a:tcPr>
                </a:tc>
                <a:tc>
                  <a:txBody>
                    <a:bodyPr/>
                    <a:lstStyle/>
                    <a:p>
                      <a:pPr algn="ctr" rtl="0" fontAlgn="ctr">
                        <a:buNone/>
                      </a:pPr>
                      <a:r>
                        <a:rPr lang="es-CO" sz="1600" b="1" i="0" u="none" strike="noStrike">
                          <a:solidFill>
                            <a:srgbClr val="FFFFFF"/>
                          </a:solidFill>
                          <a:effectLst/>
                          <a:latin typeface="Muli"/>
                        </a:rPr>
                        <a:t>NUTRICIÓN</a:t>
                      </a:r>
                    </a:p>
                  </a:txBody>
                  <a:tcPr marL="9525" marR="9525" marT="9525" marB="0" anchor="ctr">
                    <a:lnL>
                      <a:noFill/>
                    </a:lnL>
                    <a:lnR w="12700" cap="flat" cmpd="sng" algn="ctr">
                      <a:solidFill>
                        <a:srgbClr val="80589F"/>
                      </a:solidFill>
                      <a:prstDash val="solid"/>
                      <a:round/>
                      <a:headEnd type="none" w="med" len="med"/>
                      <a:tailEnd type="none" w="med" len="med"/>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7030A0"/>
                    </a:solidFill>
                  </a:tcPr>
                </a:tc>
                <a:extLst>
                  <a:ext uri="{0D108BD9-81ED-4DB2-BD59-A6C34878D82A}">
                    <a16:rowId xmlns:a16="http://schemas.microsoft.com/office/drawing/2014/main" val="2728931295"/>
                  </a:ext>
                </a:extLst>
              </a:tr>
              <a:tr h="249158">
                <a:tc>
                  <a:txBody>
                    <a:bodyPr/>
                    <a:lstStyle/>
                    <a:p>
                      <a:pPr algn="ctr" rtl="0" fontAlgn="ctr">
                        <a:buNone/>
                      </a:pPr>
                      <a:r>
                        <a:rPr lang="es-CO" sz="1600" b="0" i="0" u="none" strike="noStrike">
                          <a:solidFill>
                            <a:srgbClr val="80589F"/>
                          </a:solidFill>
                          <a:effectLst/>
                          <a:latin typeface="Muli"/>
                        </a:rPr>
                        <a:t>Cobertura enero 2026</a:t>
                      </a:r>
                    </a:p>
                  </a:txBody>
                  <a:tcPr marL="9525" marR="9525" marT="9525" marB="0" anchor="ctr">
                    <a:lnL w="12700" cap="flat" cmpd="sng" algn="ctr">
                      <a:solidFill>
                        <a:srgbClr val="80589F"/>
                      </a:solidFill>
                      <a:prstDash val="solid"/>
                      <a:round/>
                      <a:headEnd type="none" w="med" len="med"/>
                      <a:tailEnd type="none" w="med" len="med"/>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600" b="0" i="0" u="none" strike="noStrike">
                          <a:solidFill>
                            <a:srgbClr val="80589F"/>
                          </a:solidFill>
                          <a:effectLst/>
                          <a:latin typeface="Muli"/>
                        </a:rPr>
                        <a:t>9%</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600" b="0" i="0" u="none" strike="noStrike">
                          <a:solidFill>
                            <a:srgbClr val="80589F"/>
                          </a:solidFill>
                          <a:effectLst/>
                          <a:latin typeface="Muli"/>
                        </a:rPr>
                        <a:t>24%</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600" b="0" i="0" u="none" strike="noStrike">
                          <a:solidFill>
                            <a:srgbClr val="80589F"/>
                          </a:solidFill>
                          <a:effectLst/>
                          <a:latin typeface="Muli"/>
                        </a:rPr>
                        <a:t>3%</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600" b="0" i="0" u="none" strike="noStrike">
                          <a:solidFill>
                            <a:srgbClr val="80589F"/>
                          </a:solidFill>
                          <a:effectLst/>
                          <a:latin typeface="Muli"/>
                        </a:rPr>
                        <a:t>21%</a:t>
                      </a:r>
                    </a:p>
                  </a:txBody>
                  <a:tcPr marL="9525" marR="9525" marT="9525" marB="0" anchor="ctr">
                    <a:lnL>
                      <a:noFill/>
                    </a:lnL>
                    <a:lnR w="12700" cap="flat" cmpd="sng" algn="ctr">
                      <a:solidFill>
                        <a:srgbClr val="80589F"/>
                      </a:solidFill>
                      <a:prstDash val="solid"/>
                      <a:round/>
                      <a:headEnd type="none" w="med" len="med"/>
                      <a:tailEnd type="none" w="med" len="med"/>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extLst>
                  <a:ext uri="{0D108BD9-81ED-4DB2-BD59-A6C34878D82A}">
                    <a16:rowId xmlns:a16="http://schemas.microsoft.com/office/drawing/2014/main" val="3797790602"/>
                  </a:ext>
                </a:extLst>
              </a:tr>
              <a:tr h="489418">
                <a:tc>
                  <a:txBody>
                    <a:bodyPr/>
                    <a:lstStyle/>
                    <a:p>
                      <a:pPr algn="ctr" rtl="0" fontAlgn="ctr">
                        <a:buNone/>
                      </a:pPr>
                      <a:r>
                        <a:rPr lang="es-CO" sz="1600" b="0" i="0" u="none" strike="noStrike">
                          <a:solidFill>
                            <a:srgbClr val="80589F"/>
                          </a:solidFill>
                          <a:effectLst/>
                          <a:latin typeface="Muli"/>
                        </a:rPr>
                        <a:t>Cobertura Septiembre 2026</a:t>
                      </a:r>
                    </a:p>
                  </a:txBody>
                  <a:tcPr marL="9525" marR="9525" marT="9525" marB="0" anchor="ctr">
                    <a:lnL w="12700" cap="flat" cmpd="sng" algn="ctr">
                      <a:solidFill>
                        <a:srgbClr val="80589F"/>
                      </a:solidFill>
                      <a:prstDash val="solid"/>
                      <a:round/>
                      <a:headEnd type="none" w="med" len="med"/>
                      <a:tailEnd type="none" w="med" len="med"/>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600" b="0" i="0" u="none" strike="noStrike">
                          <a:solidFill>
                            <a:srgbClr val="80589F"/>
                          </a:solidFill>
                          <a:effectLst/>
                          <a:latin typeface="Muli"/>
                        </a:rPr>
                        <a:t>50%</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600" b="0" i="0" u="none" strike="noStrike">
                          <a:solidFill>
                            <a:srgbClr val="80589F"/>
                          </a:solidFill>
                          <a:effectLst/>
                          <a:latin typeface="Muli"/>
                        </a:rPr>
                        <a:t>64%</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600" b="0" i="0" u="none" strike="noStrike">
                          <a:solidFill>
                            <a:srgbClr val="80589F"/>
                          </a:solidFill>
                          <a:effectLst/>
                          <a:latin typeface="Muli"/>
                        </a:rPr>
                        <a:t>12%</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600" b="0" i="0" u="none" strike="noStrike">
                          <a:solidFill>
                            <a:srgbClr val="80589F"/>
                          </a:solidFill>
                          <a:effectLst/>
                          <a:latin typeface="Muli"/>
                        </a:rPr>
                        <a:t>58%</a:t>
                      </a:r>
                    </a:p>
                  </a:txBody>
                  <a:tcPr marL="9525" marR="9525" marT="9525" marB="0" anchor="ctr">
                    <a:lnL>
                      <a:noFill/>
                    </a:lnL>
                    <a:lnR w="12700" cap="flat" cmpd="sng" algn="ctr">
                      <a:solidFill>
                        <a:srgbClr val="80589F"/>
                      </a:solidFill>
                      <a:prstDash val="solid"/>
                      <a:round/>
                      <a:headEnd type="none" w="med" len="med"/>
                      <a:tailEnd type="none" w="med" len="med"/>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extLst>
                  <a:ext uri="{0D108BD9-81ED-4DB2-BD59-A6C34878D82A}">
                    <a16:rowId xmlns:a16="http://schemas.microsoft.com/office/drawing/2014/main" val="178335803"/>
                  </a:ext>
                </a:extLst>
              </a:tr>
              <a:tr h="284752">
                <a:tc>
                  <a:txBody>
                    <a:bodyPr/>
                    <a:lstStyle/>
                    <a:p>
                      <a:pPr algn="ctr" rtl="0" fontAlgn="ctr">
                        <a:buNone/>
                      </a:pPr>
                      <a:r>
                        <a:rPr lang="es-CO" sz="1800" b="0" i="0" u="none" strike="noStrike">
                          <a:solidFill>
                            <a:srgbClr val="80589F"/>
                          </a:solidFill>
                          <a:effectLst/>
                          <a:latin typeface="Muli"/>
                        </a:rPr>
                        <a:t> </a:t>
                      </a:r>
                    </a:p>
                  </a:txBody>
                  <a:tcPr marL="9525" marR="9525" marT="9525" marB="0" anchor="ctr">
                    <a:lnL w="12700" cap="flat" cmpd="sng" algn="ctr">
                      <a:solidFill>
                        <a:srgbClr val="80589F"/>
                      </a:solidFill>
                      <a:prstDash val="solid"/>
                      <a:round/>
                      <a:headEnd type="none" w="med" len="med"/>
                      <a:tailEnd type="none" w="med" len="med"/>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800" b="0" i="0" u="none" strike="noStrike">
                          <a:solidFill>
                            <a:srgbClr val="80589F"/>
                          </a:solidFill>
                          <a:effectLst/>
                          <a:latin typeface="Muli"/>
                        </a:rPr>
                        <a:t> </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800" b="0" i="0" u="none" strike="noStrike">
                          <a:solidFill>
                            <a:srgbClr val="80589F"/>
                          </a:solidFill>
                          <a:effectLst/>
                          <a:latin typeface="Muli"/>
                        </a:rPr>
                        <a:t> </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800" b="0" i="0" u="none" strike="noStrike">
                          <a:solidFill>
                            <a:srgbClr val="80589F"/>
                          </a:solidFill>
                          <a:effectLst/>
                          <a:latin typeface="Muli"/>
                        </a:rPr>
                        <a:t> </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800" b="0" i="0" u="none" strike="noStrike">
                          <a:solidFill>
                            <a:srgbClr val="80589F"/>
                          </a:solidFill>
                          <a:effectLst/>
                          <a:latin typeface="Muli"/>
                        </a:rPr>
                        <a:t> </a:t>
                      </a:r>
                    </a:p>
                  </a:txBody>
                  <a:tcPr marL="9525" marR="9525" marT="9525" marB="0" anchor="ctr">
                    <a:lnL>
                      <a:noFill/>
                    </a:lnL>
                    <a:lnR w="12700" cap="flat" cmpd="sng" algn="ctr">
                      <a:solidFill>
                        <a:srgbClr val="80589F"/>
                      </a:solidFill>
                      <a:prstDash val="solid"/>
                      <a:round/>
                      <a:headEnd type="none" w="med" len="med"/>
                      <a:tailEnd type="none" w="med" len="med"/>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extLst>
                  <a:ext uri="{0D108BD9-81ED-4DB2-BD59-A6C34878D82A}">
                    <a16:rowId xmlns:a16="http://schemas.microsoft.com/office/drawing/2014/main" val="3650321614"/>
                  </a:ext>
                </a:extLst>
              </a:tr>
              <a:tr h="249158">
                <a:tc>
                  <a:txBody>
                    <a:bodyPr/>
                    <a:lstStyle/>
                    <a:p>
                      <a:pPr algn="ctr" rtl="0" fontAlgn="ctr">
                        <a:buNone/>
                      </a:pPr>
                      <a:r>
                        <a:rPr lang="es-CO" sz="1600" b="0" i="0" u="none" strike="noStrike">
                          <a:solidFill>
                            <a:srgbClr val="FFFFFF"/>
                          </a:solidFill>
                          <a:effectLst/>
                          <a:latin typeface="Muli"/>
                        </a:rPr>
                        <a:t>INCIDENCIA</a:t>
                      </a:r>
                    </a:p>
                  </a:txBody>
                  <a:tcPr marL="9525" marR="9525" marT="9525" marB="0" anchor="ctr">
                    <a:lnL w="12700" cap="flat" cmpd="sng" algn="ctr">
                      <a:solidFill>
                        <a:srgbClr val="80589F"/>
                      </a:solidFill>
                      <a:prstDash val="solid"/>
                      <a:round/>
                      <a:headEnd type="none" w="med" len="med"/>
                      <a:tailEnd type="none" w="med" len="med"/>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7030A0"/>
                    </a:solidFill>
                  </a:tcPr>
                </a:tc>
                <a:tc>
                  <a:txBody>
                    <a:bodyPr/>
                    <a:lstStyle/>
                    <a:p>
                      <a:pPr algn="ctr" rtl="0" fontAlgn="ctr">
                        <a:buNone/>
                      </a:pPr>
                      <a:r>
                        <a:rPr lang="es-CO" sz="1600" b="0" i="0" u="none" strike="noStrike">
                          <a:solidFill>
                            <a:srgbClr val="FFFFFF"/>
                          </a:solidFill>
                          <a:effectLst/>
                          <a:latin typeface="Muli"/>
                        </a:rPr>
                        <a:t>PSICOLOGÍA</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7030A0"/>
                    </a:solidFill>
                  </a:tcPr>
                </a:tc>
                <a:tc>
                  <a:txBody>
                    <a:bodyPr/>
                    <a:lstStyle/>
                    <a:p>
                      <a:pPr algn="ctr" rtl="0" fontAlgn="ctr">
                        <a:buNone/>
                      </a:pPr>
                      <a:r>
                        <a:rPr lang="es-CO" sz="1600" b="0" i="0" u="none" strike="noStrike">
                          <a:solidFill>
                            <a:srgbClr val="FFFFFF"/>
                          </a:solidFill>
                          <a:effectLst/>
                          <a:latin typeface="Muli"/>
                        </a:rPr>
                        <a:t>TRABAJO SOCIAL</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7030A0"/>
                    </a:solidFill>
                  </a:tcPr>
                </a:tc>
                <a:tc>
                  <a:txBody>
                    <a:bodyPr/>
                    <a:lstStyle/>
                    <a:p>
                      <a:pPr algn="ctr" rtl="0" fontAlgn="ctr">
                        <a:buNone/>
                      </a:pPr>
                      <a:r>
                        <a:rPr lang="es-CO" sz="1600" b="0" i="0" u="none" strike="noStrike">
                          <a:solidFill>
                            <a:srgbClr val="FFFFFF"/>
                          </a:solidFill>
                          <a:effectLst/>
                          <a:latin typeface="Muli"/>
                        </a:rPr>
                        <a:t>DOLOR Y CP</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7030A0"/>
                    </a:solidFill>
                  </a:tcPr>
                </a:tc>
                <a:tc>
                  <a:txBody>
                    <a:bodyPr/>
                    <a:lstStyle/>
                    <a:p>
                      <a:pPr algn="ctr" rtl="0" fontAlgn="ctr">
                        <a:buNone/>
                      </a:pPr>
                      <a:r>
                        <a:rPr lang="es-CO" sz="1600" b="0" i="0" u="none" strike="noStrike">
                          <a:solidFill>
                            <a:srgbClr val="FFFFFF"/>
                          </a:solidFill>
                          <a:effectLst/>
                          <a:latin typeface="Muli"/>
                        </a:rPr>
                        <a:t>NUTRICIÓN</a:t>
                      </a:r>
                    </a:p>
                  </a:txBody>
                  <a:tcPr marL="9525" marR="9525" marT="9525" marB="0" anchor="ctr">
                    <a:lnL>
                      <a:noFill/>
                    </a:lnL>
                    <a:lnR w="12700" cap="flat" cmpd="sng" algn="ctr">
                      <a:solidFill>
                        <a:srgbClr val="80589F"/>
                      </a:solidFill>
                      <a:prstDash val="solid"/>
                      <a:round/>
                      <a:headEnd type="none" w="med" len="med"/>
                      <a:tailEnd type="none" w="med" len="med"/>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7030A0"/>
                    </a:solidFill>
                  </a:tcPr>
                </a:tc>
                <a:extLst>
                  <a:ext uri="{0D108BD9-81ED-4DB2-BD59-A6C34878D82A}">
                    <a16:rowId xmlns:a16="http://schemas.microsoft.com/office/drawing/2014/main" val="4032064924"/>
                  </a:ext>
                </a:extLst>
              </a:tr>
              <a:tr h="249158">
                <a:tc>
                  <a:txBody>
                    <a:bodyPr/>
                    <a:lstStyle/>
                    <a:p>
                      <a:pPr algn="ctr" rtl="0" fontAlgn="ctr">
                        <a:buNone/>
                      </a:pPr>
                      <a:r>
                        <a:rPr lang="es-CO" sz="1600" b="0" i="0" u="none" strike="noStrike">
                          <a:solidFill>
                            <a:srgbClr val="80589F"/>
                          </a:solidFill>
                          <a:effectLst/>
                          <a:latin typeface="Muli"/>
                        </a:rPr>
                        <a:t>Cobertura enero 2026</a:t>
                      </a:r>
                    </a:p>
                  </a:txBody>
                  <a:tcPr marL="9525" marR="9525" marT="9525" marB="0" anchor="ctr">
                    <a:lnL w="12700" cap="flat" cmpd="sng" algn="ctr">
                      <a:solidFill>
                        <a:srgbClr val="80589F"/>
                      </a:solidFill>
                      <a:prstDash val="solid"/>
                      <a:round/>
                      <a:headEnd type="none" w="med" len="med"/>
                      <a:tailEnd type="none" w="med" len="med"/>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600" b="0" i="0" u="none" strike="noStrike">
                          <a:solidFill>
                            <a:srgbClr val="80589F"/>
                          </a:solidFill>
                          <a:effectLst/>
                          <a:latin typeface="Muli"/>
                        </a:rPr>
                        <a:t>19%</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600" b="0" i="0" u="none" strike="noStrike">
                          <a:solidFill>
                            <a:srgbClr val="80589F"/>
                          </a:solidFill>
                          <a:effectLst/>
                          <a:latin typeface="Muli"/>
                        </a:rPr>
                        <a:t>13%</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600" b="0" i="0" u="none" strike="noStrike">
                          <a:solidFill>
                            <a:srgbClr val="80589F"/>
                          </a:solidFill>
                          <a:effectLst/>
                          <a:latin typeface="Muli"/>
                        </a:rPr>
                        <a:t>5%</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600" b="0" i="0" u="none" strike="noStrike">
                          <a:solidFill>
                            <a:srgbClr val="80589F"/>
                          </a:solidFill>
                          <a:effectLst/>
                          <a:latin typeface="Muli"/>
                        </a:rPr>
                        <a:t>12%</a:t>
                      </a:r>
                    </a:p>
                  </a:txBody>
                  <a:tcPr marL="9525" marR="9525" marT="9525" marB="0" anchor="ctr">
                    <a:lnL>
                      <a:noFill/>
                    </a:lnL>
                    <a:lnR w="12700" cap="flat" cmpd="sng" algn="ctr">
                      <a:solidFill>
                        <a:srgbClr val="80589F"/>
                      </a:solidFill>
                      <a:prstDash val="solid"/>
                      <a:round/>
                      <a:headEnd type="none" w="med" len="med"/>
                      <a:tailEnd type="none" w="med" len="med"/>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extLst>
                  <a:ext uri="{0D108BD9-81ED-4DB2-BD59-A6C34878D82A}">
                    <a16:rowId xmlns:a16="http://schemas.microsoft.com/office/drawing/2014/main" val="3707157166"/>
                  </a:ext>
                </a:extLst>
              </a:tr>
              <a:tr h="489418">
                <a:tc>
                  <a:txBody>
                    <a:bodyPr/>
                    <a:lstStyle/>
                    <a:p>
                      <a:pPr algn="ctr" rtl="0" fontAlgn="ctr">
                        <a:buNone/>
                      </a:pPr>
                      <a:r>
                        <a:rPr lang="es-CO" sz="1600" b="0" i="0" u="none" strike="noStrike">
                          <a:solidFill>
                            <a:srgbClr val="80589F"/>
                          </a:solidFill>
                          <a:effectLst/>
                          <a:latin typeface="Muli"/>
                        </a:rPr>
                        <a:t>Cobertura Septiembre 2026</a:t>
                      </a:r>
                    </a:p>
                  </a:txBody>
                  <a:tcPr marL="9525" marR="9525" marT="9525" marB="0" anchor="ctr">
                    <a:lnL w="12700" cap="flat" cmpd="sng" algn="ctr">
                      <a:solidFill>
                        <a:srgbClr val="80589F"/>
                      </a:solidFill>
                      <a:prstDash val="solid"/>
                      <a:round/>
                      <a:headEnd type="none" w="med" len="med"/>
                      <a:tailEnd type="none" w="med" len="med"/>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600" b="0" i="0" u="none" strike="noStrike">
                          <a:solidFill>
                            <a:srgbClr val="80589F"/>
                          </a:solidFill>
                          <a:effectLst/>
                          <a:latin typeface="Muli"/>
                        </a:rPr>
                        <a:t>74%</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600" b="0" i="0" u="none" strike="noStrike">
                          <a:solidFill>
                            <a:srgbClr val="80589F"/>
                          </a:solidFill>
                          <a:effectLst/>
                          <a:latin typeface="Muli"/>
                        </a:rPr>
                        <a:t>82%</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600" b="0" i="0" u="none" strike="noStrike">
                          <a:solidFill>
                            <a:srgbClr val="80589F"/>
                          </a:solidFill>
                          <a:effectLst/>
                          <a:latin typeface="Muli"/>
                        </a:rPr>
                        <a:t>33%</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600" b="0" i="0" u="none" strike="noStrike">
                          <a:solidFill>
                            <a:srgbClr val="80589F"/>
                          </a:solidFill>
                          <a:effectLst/>
                          <a:latin typeface="Muli"/>
                        </a:rPr>
                        <a:t>75%</a:t>
                      </a:r>
                    </a:p>
                  </a:txBody>
                  <a:tcPr marL="9525" marR="9525" marT="9525" marB="0" anchor="ctr">
                    <a:lnL>
                      <a:noFill/>
                    </a:lnL>
                    <a:lnR w="12700" cap="flat" cmpd="sng" algn="ctr">
                      <a:solidFill>
                        <a:srgbClr val="80589F"/>
                      </a:solidFill>
                      <a:prstDash val="solid"/>
                      <a:round/>
                      <a:headEnd type="none" w="med" len="med"/>
                      <a:tailEnd type="none" w="med" len="med"/>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extLst>
                  <a:ext uri="{0D108BD9-81ED-4DB2-BD59-A6C34878D82A}">
                    <a16:rowId xmlns:a16="http://schemas.microsoft.com/office/drawing/2014/main" val="175718405"/>
                  </a:ext>
                </a:extLst>
              </a:tr>
              <a:tr h="284752">
                <a:tc>
                  <a:txBody>
                    <a:bodyPr/>
                    <a:lstStyle/>
                    <a:p>
                      <a:pPr algn="ctr" rtl="0" fontAlgn="ctr">
                        <a:buNone/>
                      </a:pPr>
                      <a:r>
                        <a:rPr lang="es-CO" sz="1800" b="0" i="0" u="none" strike="noStrike">
                          <a:solidFill>
                            <a:srgbClr val="80589F"/>
                          </a:solidFill>
                          <a:effectLst/>
                          <a:latin typeface="Muli"/>
                        </a:rPr>
                        <a:t> </a:t>
                      </a:r>
                    </a:p>
                  </a:txBody>
                  <a:tcPr marL="9525" marR="9525" marT="9525" marB="0" anchor="ctr">
                    <a:lnL w="12700" cap="flat" cmpd="sng" algn="ctr">
                      <a:solidFill>
                        <a:srgbClr val="80589F"/>
                      </a:solidFill>
                      <a:prstDash val="solid"/>
                      <a:round/>
                      <a:headEnd type="none" w="med" len="med"/>
                      <a:tailEnd type="none" w="med" len="med"/>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800" b="0" i="0" u="none" strike="noStrike">
                          <a:solidFill>
                            <a:srgbClr val="80589F"/>
                          </a:solidFill>
                          <a:effectLst/>
                          <a:latin typeface="Muli"/>
                        </a:rPr>
                        <a:t> </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800" b="0" i="0" u="none" strike="noStrike">
                          <a:solidFill>
                            <a:srgbClr val="80589F"/>
                          </a:solidFill>
                          <a:effectLst/>
                          <a:latin typeface="Muli"/>
                        </a:rPr>
                        <a:t> </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800" b="0" i="0" u="none" strike="noStrike">
                          <a:solidFill>
                            <a:srgbClr val="80589F"/>
                          </a:solidFill>
                          <a:effectLst/>
                          <a:latin typeface="Muli"/>
                        </a:rPr>
                        <a:t> </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800" b="0" i="0" u="none" strike="noStrike">
                          <a:solidFill>
                            <a:srgbClr val="80589F"/>
                          </a:solidFill>
                          <a:effectLst/>
                          <a:latin typeface="Muli"/>
                        </a:rPr>
                        <a:t> </a:t>
                      </a:r>
                    </a:p>
                  </a:txBody>
                  <a:tcPr marL="9525" marR="9525" marT="9525" marB="0" anchor="ctr">
                    <a:lnL>
                      <a:noFill/>
                    </a:lnL>
                    <a:lnR w="12700" cap="flat" cmpd="sng" algn="ctr">
                      <a:solidFill>
                        <a:srgbClr val="80589F"/>
                      </a:solidFill>
                      <a:prstDash val="solid"/>
                      <a:round/>
                      <a:headEnd type="none" w="med" len="med"/>
                      <a:tailEnd type="none" w="med" len="med"/>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extLst>
                  <a:ext uri="{0D108BD9-81ED-4DB2-BD59-A6C34878D82A}">
                    <a16:rowId xmlns:a16="http://schemas.microsoft.com/office/drawing/2014/main" val="1221345742"/>
                  </a:ext>
                </a:extLst>
              </a:tr>
              <a:tr h="249158">
                <a:tc>
                  <a:txBody>
                    <a:bodyPr/>
                    <a:lstStyle/>
                    <a:p>
                      <a:pPr algn="ctr" rtl="0" fontAlgn="ctr">
                        <a:buNone/>
                      </a:pPr>
                      <a:r>
                        <a:rPr lang="es-CO" sz="1600" b="0" i="0" u="none" strike="noStrike">
                          <a:solidFill>
                            <a:srgbClr val="FFFFFF"/>
                          </a:solidFill>
                          <a:effectLst/>
                          <a:latin typeface="Muli"/>
                        </a:rPr>
                        <a:t>TOTAL</a:t>
                      </a:r>
                    </a:p>
                  </a:txBody>
                  <a:tcPr marL="9525" marR="9525" marT="9525" marB="0" anchor="ctr">
                    <a:lnL w="12700" cap="flat" cmpd="sng" algn="ctr">
                      <a:solidFill>
                        <a:srgbClr val="80589F"/>
                      </a:solidFill>
                      <a:prstDash val="solid"/>
                      <a:round/>
                      <a:headEnd type="none" w="med" len="med"/>
                      <a:tailEnd type="none" w="med" len="med"/>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80589F"/>
                    </a:solidFill>
                  </a:tcPr>
                </a:tc>
                <a:tc>
                  <a:txBody>
                    <a:bodyPr/>
                    <a:lstStyle/>
                    <a:p>
                      <a:pPr algn="ctr" rtl="0" fontAlgn="ctr">
                        <a:buNone/>
                      </a:pPr>
                      <a:r>
                        <a:rPr lang="es-CO" sz="1600" b="0" i="0" u="none" strike="noStrike">
                          <a:solidFill>
                            <a:srgbClr val="FFFFFF"/>
                          </a:solidFill>
                          <a:effectLst/>
                          <a:latin typeface="Muli"/>
                        </a:rPr>
                        <a:t>PSICOLOGÍA</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80589F"/>
                    </a:solidFill>
                  </a:tcPr>
                </a:tc>
                <a:tc>
                  <a:txBody>
                    <a:bodyPr/>
                    <a:lstStyle/>
                    <a:p>
                      <a:pPr algn="ctr" rtl="0" fontAlgn="ctr">
                        <a:buNone/>
                      </a:pPr>
                      <a:r>
                        <a:rPr lang="es-CO" sz="1600" b="0" i="0" u="none" strike="noStrike">
                          <a:solidFill>
                            <a:srgbClr val="FFFFFF"/>
                          </a:solidFill>
                          <a:effectLst/>
                          <a:latin typeface="Muli"/>
                        </a:rPr>
                        <a:t>TRABAJO SOCIAL</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80589F"/>
                    </a:solidFill>
                  </a:tcPr>
                </a:tc>
                <a:tc>
                  <a:txBody>
                    <a:bodyPr/>
                    <a:lstStyle/>
                    <a:p>
                      <a:pPr algn="ctr" rtl="0" fontAlgn="ctr">
                        <a:buNone/>
                      </a:pPr>
                      <a:r>
                        <a:rPr lang="es-CO" sz="1600" b="0" i="0" u="none" strike="noStrike">
                          <a:solidFill>
                            <a:srgbClr val="FFFFFF"/>
                          </a:solidFill>
                          <a:effectLst/>
                          <a:latin typeface="Muli"/>
                        </a:rPr>
                        <a:t>DOLOR Y CP</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80589F"/>
                    </a:solidFill>
                  </a:tcPr>
                </a:tc>
                <a:tc>
                  <a:txBody>
                    <a:bodyPr/>
                    <a:lstStyle/>
                    <a:p>
                      <a:pPr algn="ctr" rtl="0" fontAlgn="ctr">
                        <a:buNone/>
                      </a:pPr>
                      <a:r>
                        <a:rPr lang="es-CO" sz="1600" b="0" i="0" u="none" strike="noStrike">
                          <a:solidFill>
                            <a:srgbClr val="FFFFFF"/>
                          </a:solidFill>
                          <a:effectLst/>
                          <a:latin typeface="Muli"/>
                        </a:rPr>
                        <a:t>NUTRICIÓN</a:t>
                      </a:r>
                    </a:p>
                  </a:txBody>
                  <a:tcPr marL="9525" marR="9525" marT="9525" marB="0" anchor="ctr">
                    <a:lnL>
                      <a:noFill/>
                    </a:lnL>
                    <a:lnR w="12700" cap="flat" cmpd="sng" algn="ctr">
                      <a:solidFill>
                        <a:srgbClr val="80589F"/>
                      </a:solidFill>
                      <a:prstDash val="solid"/>
                      <a:round/>
                      <a:headEnd type="none" w="med" len="med"/>
                      <a:tailEnd type="none" w="med" len="med"/>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80589F"/>
                    </a:solidFill>
                  </a:tcPr>
                </a:tc>
                <a:extLst>
                  <a:ext uri="{0D108BD9-81ED-4DB2-BD59-A6C34878D82A}">
                    <a16:rowId xmlns:a16="http://schemas.microsoft.com/office/drawing/2014/main" val="1962506763"/>
                  </a:ext>
                </a:extLst>
              </a:tr>
              <a:tr h="489418">
                <a:tc>
                  <a:txBody>
                    <a:bodyPr/>
                    <a:lstStyle/>
                    <a:p>
                      <a:pPr algn="ctr" rtl="0" fontAlgn="ctr">
                        <a:buNone/>
                      </a:pPr>
                      <a:r>
                        <a:rPr lang="es-CO" sz="1600" b="0" i="0" u="none" strike="noStrike">
                          <a:solidFill>
                            <a:srgbClr val="80589F"/>
                          </a:solidFill>
                          <a:effectLst/>
                          <a:latin typeface="Muli"/>
                        </a:rPr>
                        <a:t>Cobertura Septiembre 2026</a:t>
                      </a:r>
                    </a:p>
                  </a:txBody>
                  <a:tcPr marL="9525" marR="9525" marT="9525" marB="0" anchor="ctr">
                    <a:lnL w="12700" cap="flat" cmpd="sng" algn="ctr">
                      <a:solidFill>
                        <a:srgbClr val="80589F"/>
                      </a:solidFill>
                      <a:prstDash val="solid"/>
                      <a:round/>
                      <a:headEnd type="none" w="med" len="med"/>
                      <a:tailEnd type="none" w="med" len="med"/>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600" b="0" i="0" u="none" strike="noStrike">
                          <a:solidFill>
                            <a:srgbClr val="80589F"/>
                          </a:solidFill>
                          <a:effectLst/>
                          <a:latin typeface="Muli"/>
                        </a:rPr>
                        <a:t>56%</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600" b="0" i="0" u="none" strike="noStrike">
                          <a:solidFill>
                            <a:srgbClr val="80589F"/>
                          </a:solidFill>
                          <a:effectLst/>
                          <a:latin typeface="Muli"/>
                        </a:rPr>
                        <a:t>69%</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600" b="0" i="0" u="none" strike="noStrike">
                          <a:solidFill>
                            <a:srgbClr val="80589F"/>
                          </a:solidFill>
                          <a:effectLst/>
                          <a:latin typeface="Muli"/>
                        </a:rPr>
                        <a:t>18%</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600" b="0" i="0" u="none" strike="noStrike">
                          <a:solidFill>
                            <a:srgbClr val="80589F"/>
                          </a:solidFill>
                          <a:effectLst/>
                          <a:latin typeface="Muli"/>
                        </a:rPr>
                        <a:t>63%</a:t>
                      </a:r>
                    </a:p>
                  </a:txBody>
                  <a:tcPr marL="9525" marR="9525" marT="9525" marB="0" anchor="ctr">
                    <a:lnL>
                      <a:noFill/>
                    </a:lnL>
                    <a:lnR w="12700" cap="flat" cmpd="sng" algn="ctr">
                      <a:solidFill>
                        <a:srgbClr val="80589F"/>
                      </a:solidFill>
                      <a:prstDash val="solid"/>
                      <a:round/>
                      <a:headEnd type="none" w="med" len="med"/>
                      <a:tailEnd type="none" w="med" len="med"/>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extLst>
                  <a:ext uri="{0D108BD9-81ED-4DB2-BD59-A6C34878D82A}">
                    <a16:rowId xmlns:a16="http://schemas.microsoft.com/office/drawing/2014/main" val="798298833"/>
                  </a:ext>
                </a:extLst>
              </a:tr>
            </a:tbl>
          </a:graphicData>
        </a:graphic>
      </p:graphicFrame>
      <p:graphicFrame>
        <p:nvGraphicFramePr>
          <p:cNvPr id="8" name="Tabla 7">
            <a:extLst>
              <a:ext uri="{FF2B5EF4-FFF2-40B4-BE49-F238E27FC236}">
                <a16:creationId xmlns:a16="http://schemas.microsoft.com/office/drawing/2014/main" id="{AE856257-6023-4DC2-4B49-38DC9C642492}"/>
              </a:ext>
            </a:extLst>
          </p:cNvPr>
          <p:cNvGraphicFramePr>
            <a:graphicFrameLocks noGrp="1"/>
          </p:cNvGraphicFramePr>
          <p:nvPr>
            <p:extLst>
              <p:ext uri="{D42A27DB-BD31-4B8C-83A1-F6EECF244321}">
                <p14:modId xmlns:p14="http://schemas.microsoft.com/office/powerpoint/2010/main" val="1340717713"/>
              </p:ext>
            </p:extLst>
          </p:nvPr>
        </p:nvGraphicFramePr>
        <p:xfrm>
          <a:off x="590341" y="4371993"/>
          <a:ext cx="10787192" cy="1824440"/>
        </p:xfrm>
        <a:graphic>
          <a:graphicData uri="http://schemas.openxmlformats.org/drawingml/2006/table">
            <a:tbl>
              <a:tblPr/>
              <a:tblGrid>
                <a:gridCol w="2485820">
                  <a:extLst>
                    <a:ext uri="{9D8B030D-6E8A-4147-A177-3AD203B41FA5}">
                      <a16:colId xmlns:a16="http://schemas.microsoft.com/office/drawing/2014/main" val="4256070158"/>
                    </a:ext>
                  </a:extLst>
                </a:gridCol>
                <a:gridCol w="1121570">
                  <a:extLst>
                    <a:ext uri="{9D8B030D-6E8A-4147-A177-3AD203B41FA5}">
                      <a16:colId xmlns:a16="http://schemas.microsoft.com/office/drawing/2014/main" val="3888430674"/>
                    </a:ext>
                  </a:extLst>
                </a:gridCol>
                <a:gridCol w="1278984">
                  <a:extLst>
                    <a:ext uri="{9D8B030D-6E8A-4147-A177-3AD203B41FA5}">
                      <a16:colId xmlns:a16="http://schemas.microsoft.com/office/drawing/2014/main" val="2865999712"/>
                    </a:ext>
                  </a:extLst>
                </a:gridCol>
                <a:gridCol w="1278984">
                  <a:extLst>
                    <a:ext uri="{9D8B030D-6E8A-4147-A177-3AD203B41FA5}">
                      <a16:colId xmlns:a16="http://schemas.microsoft.com/office/drawing/2014/main" val="2612239277"/>
                    </a:ext>
                  </a:extLst>
                </a:gridCol>
                <a:gridCol w="1278984">
                  <a:extLst>
                    <a:ext uri="{9D8B030D-6E8A-4147-A177-3AD203B41FA5}">
                      <a16:colId xmlns:a16="http://schemas.microsoft.com/office/drawing/2014/main" val="557054122"/>
                    </a:ext>
                  </a:extLst>
                </a:gridCol>
                <a:gridCol w="859216">
                  <a:extLst>
                    <a:ext uri="{9D8B030D-6E8A-4147-A177-3AD203B41FA5}">
                      <a16:colId xmlns:a16="http://schemas.microsoft.com/office/drawing/2014/main" val="3453539801"/>
                    </a:ext>
                  </a:extLst>
                </a:gridCol>
                <a:gridCol w="1241817">
                  <a:extLst>
                    <a:ext uri="{9D8B030D-6E8A-4147-A177-3AD203B41FA5}">
                      <a16:colId xmlns:a16="http://schemas.microsoft.com/office/drawing/2014/main" val="4176640474"/>
                    </a:ext>
                  </a:extLst>
                </a:gridCol>
                <a:gridCol w="1241817">
                  <a:extLst>
                    <a:ext uri="{9D8B030D-6E8A-4147-A177-3AD203B41FA5}">
                      <a16:colId xmlns:a16="http://schemas.microsoft.com/office/drawing/2014/main" val="1973114490"/>
                    </a:ext>
                  </a:extLst>
                </a:gridCol>
              </a:tblGrid>
              <a:tr h="364888">
                <a:tc>
                  <a:txBody>
                    <a:bodyPr/>
                    <a:lstStyle/>
                    <a:p>
                      <a:pPr algn="ctr" rtl="0" fontAlgn="ctr">
                        <a:buNone/>
                      </a:pPr>
                      <a:r>
                        <a:rPr lang="es-CO" sz="1100" b="1" i="0" u="none" strike="noStrike">
                          <a:solidFill>
                            <a:srgbClr val="FFFFFF"/>
                          </a:solidFill>
                          <a:effectLst/>
                          <a:latin typeface="Muli"/>
                        </a:rPr>
                        <a:t>SALUD TOTAL</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100" b="1" i="0" u="none" strike="noStrike">
                          <a:solidFill>
                            <a:srgbClr val="FFFFFF"/>
                          </a:solidFill>
                          <a:effectLst/>
                          <a:latin typeface="Muli"/>
                        </a:rPr>
                        <a:t>PACIENTES</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100" b="1" i="0" u="none" strike="noStrike">
                          <a:solidFill>
                            <a:srgbClr val="FFFFFF"/>
                          </a:solidFill>
                          <a:effectLst/>
                          <a:latin typeface="Muli"/>
                        </a:rPr>
                        <a:t>EFECTIVAS</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100" b="1" i="0" u="none" strike="noStrike">
                          <a:solidFill>
                            <a:srgbClr val="FFFFFF"/>
                          </a:solidFill>
                          <a:effectLst/>
                          <a:latin typeface="Muli"/>
                        </a:rPr>
                        <a:t>%</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100" b="1" i="0" u="none" strike="noStrike">
                          <a:solidFill>
                            <a:srgbClr val="FFFFFF"/>
                          </a:solidFill>
                          <a:effectLst/>
                          <a:latin typeface="Muli"/>
                        </a:rPr>
                        <a:t>CANCELADAS</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100" b="1" i="0" u="none" strike="noStrike">
                          <a:solidFill>
                            <a:srgbClr val="FFFFFF"/>
                          </a:solidFill>
                          <a:effectLst/>
                          <a:latin typeface="Muli"/>
                        </a:rPr>
                        <a:t>%</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100" b="1" i="0" u="none" strike="noStrike">
                          <a:solidFill>
                            <a:srgbClr val="FFFFFF"/>
                          </a:solidFill>
                          <a:effectLst/>
                          <a:latin typeface="Muli"/>
                        </a:rPr>
                        <a:t>IMCUMPLIDAS</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100" b="1" i="0" u="none" strike="noStrike">
                          <a:solidFill>
                            <a:srgbClr val="FFFFFF"/>
                          </a:solidFill>
                          <a:effectLst/>
                          <a:latin typeface="Muli"/>
                        </a:rPr>
                        <a:t>%</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extLst>
                  <a:ext uri="{0D108BD9-81ED-4DB2-BD59-A6C34878D82A}">
                    <a16:rowId xmlns:a16="http://schemas.microsoft.com/office/drawing/2014/main" val="1308726055"/>
                  </a:ext>
                </a:extLst>
              </a:tr>
              <a:tr h="364888">
                <a:tc>
                  <a:txBody>
                    <a:bodyPr/>
                    <a:lstStyle/>
                    <a:p>
                      <a:pPr algn="ctr" rtl="0" fontAlgn="ctr">
                        <a:buNone/>
                      </a:pPr>
                      <a:r>
                        <a:rPr lang="es-CO" sz="1100" b="1" i="0" u="none" strike="noStrike">
                          <a:solidFill>
                            <a:srgbClr val="FFFFFF"/>
                          </a:solidFill>
                          <a:effectLst/>
                          <a:latin typeface="Muli"/>
                        </a:rPr>
                        <a:t>DOLOR Y CUIDADOS PALIATIVOS</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100" b="0" i="0" u="none" strike="noStrike">
                          <a:solidFill>
                            <a:srgbClr val="80589F"/>
                          </a:solidFill>
                          <a:effectLst/>
                          <a:latin typeface="Muli"/>
                        </a:rPr>
                        <a:t>522</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ctr">
                        <a:buNone/>
                      </a:pPr>
                      <a:r>
                        <a:rPr lang="es-CO" sz="1100" b="0" i="0" u="none" strike="noStrike">
                          <a:solidFill>
                            <a:srgbClr val="80589F"/>
                          </a:solidFill>
                          <a:effectLst/>
                          <a:latin typeface="Muli"/>
                        </a:rPr>
                        <a:t>987</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ctr">
                        <a:buNone/>
                      </a:pPr>
                      <a:r>
                        <a:rPr lang="es-CO" sz="1100" b="0" i="0" u="none" strike="noStrike">
                          <a:solidFill>
                            <a:srgbClr val="80589F"/>
                          </a:solidFill>
                          <a:effectLst/>
                          <a:latin typeface="Muli"/>
                        </a:rPr>
                        <a:t>73%</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ctr">
                        <a:buNone/>
                      </a:pPr>
                      <a:r>
                        <a:rPr lang="es-CO" sz="1100" b="0" i="0" u="none" strike="noStrike">
                          <a:solidFill>
                            <a:srgbClr val="80589F"/>
                          </a:solidFill>
                          <a:effectLst/>
                          <a:latin typeface="Calibri" panose="020F0502020204030204" pitchFamily="34" charset="0"/>
                        </a:rPr>
                        <a:t>167</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ctr">
                        <a:buNone/>
                      </a:pPr>
                      <a:r>
                        <a:rPr lang="es-CO" sz="1100" b="0" i="0" u="none" strike="noStrike">
                          <a:solidFill>
                            <a:srgbClr val="80589F"/>
                          </a:solidFill>
                          <a:effectLst/>
                          <a:latin typeface="Muli"/>
                        </a:rPr>
                        <a:t>12%</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ctr">
                        <a:buNone/>
                      </a:pPr>
                      <a:r>
                        <a:rPr lang="es-CO" sz="1100" b="0" i="0" u="none" strike="noStrike">
                          <a:solidFill>
                            <a:srgbClr val="80589F"/>
                          </a:solidFill>
                          <a:effectLst/>
                          <a:latin typeface="Muli"/>
                        </a:rPr>
                        <a:t>198</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ctr">
                        <a:buNone/>
                      </a:pPr>
                      <a:r>
                        <a:rPr lang="es-CO" sz="1100" b="0" i="0" u="none" strike="noStrike">
                          <a:solidFill>
                            <a:srgbClr val="80589F"/>
                          </a:solidFill>
                          <a:effectLst/>
                          <a:latin typeface="Muli"/>
                        </a:rPr>
                        <a:t>15%</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extLst>
                  <a:ext uri="{0D108BD9-81ED-4DB2-BD59-A6C34878D82A}">
                    <a16:rowId xmlns:a16="http://schemas.microsoft.com/office/drawing/2014/main" val="1853811769"/>
                  </a:ext>
                </a:extLst>
              </a:tr>
              <a:tr h="364888">
                <a:tc>
                  <a:txBody>
                    <a:bodyPr/>
                    <a:lstStyle/>
                    <a:p>
                      <a:pPr algn="ctr" rtl="0" fontAlgn="ctr">
                        <a:buNone/>
                      </a:pPr>
                      <a:r>
                        <a:rPr lang="es-CO" sz="1100" b="1" i="0" u="none" strike="noStrike">
                          <a:solidFill>
                            <a:srgbClr val="FFFFFF"/>
                          </a:solidFill>
                          <a:effectLst/>
                          <a:latin typeface="Muli"/>
                        </a:rPr>
                        <a:t>NUTRICION Y DIETETICA</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100" b="0" i="0" u="none" strike="noStrike">
                          <a:solidFill>
                            <a:srgbClr val="80589F"/>
                          </a:solidFill>
                          <a:effectLst/>
                          <a:latin typeface="Muli"/>
                        </a:rPr>
                        <a:t>1985</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ctr">
                        <a:buNone/>
                      </a:pPr>
                      <a:r>
                        <a:rPr lang="es-CO" sz="1100" b="0" i="0" u="none" strike="noStrike">
                          <a:solidFill>
                            <a:srgbClr val="80589F"/>
                          </a:solidFill>
                          <a:effectLst/>
                          <a:latin typeface="Calibri" panose="020F0502020204030204" pitchFamily="34" charset="0"/>
                        </a:rPr>
                        <a:t>3166</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ctr">
                        <a:buNone/>
                      </a:pPr>
                      <a:r>
                        <a:rPr lang="es-CO" sz="1100" b="0" i="0" u="none" strike="noStrike">
                          <a:solidFill>
                            <a:srgbClr val="80589F"/>
                          </a:solidFill>
                          <a:effectLst/>
                          <a:latin typeface="Muli"/>
                        </a:rPr>
                        <a:t>83%</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ctr">
                        <a:buNone/>
                      </a:pPr>
                      <a:r>
                        <a:rPr lang="es-CO" sz="1100" b="0" i="0" u="none" strike="noStrike">
                          <a:solidFill>
                            <a:srgbClr val="80589F"/>
                          </a:solidFill>
                          <a:effectLst/>
                          <a:latin typeface="Muli"/>
                        </a:rPr>
                        <a:t>346</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ctr">
                        <a:buNone/>
                      </a:pPr>
                      <a:r>
                        <a:rPr lang="es-CO" sz="1100" b="0" i="0" u="none" strike="noStrike">
                          <a:solidFill>
                            <a:srgbClr val="80589F"/>
                          </a:solidFill>
                          <a:effectLst/>
                          <a:latin typeface="Muli"/>
                        </a:rPr>
                        <a:t>9%</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ctr">
                        <a:buNone/>
                      </a:pPr>
                      <a:r>
                        <a:rPr lang="es-CO" sz="1100" b="0" i="0" u="none" strike="noStrike">
                          <a:solidFill>
                            <a:srgbClr val="80589F"/>
                          </a:solidFill>
                          <a:effectLst/>
                          <a:latin typeface="Calibri" panose="020F0502020204030204" pitchFamily="34" charset="0"/>
                        </a:rPr>
                        <a:t>302</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ctr">
                        <a:buNone/>
                      </a:pPr>
                      <a:r>
                        <a:rPr lang="es-CO" sz="1100" b="0" i="0" u="none" strike="noStrike">
                          <a:solidFill>
                            <a:srgbClr val="80589F"/>
                          </a:solidFill>
                          <a:effectLst/>
                          <a:latin typeface="Muli"/>
                        </a:rPr>
                        <a:t>8%</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extLst>
                  <a:ext uri="{0D108BD9-81ED-4DB2-BD59-A6C34878D82A}">
                    <a16:rowId xmlns:a16="http://schemas.microsoft.com/office/drawing/2014/main" val="3955367842"/>
                  </a:ext>
                </a:extLst>
              </a:tr>
              <a:tr h="364888">
                <a:tc>
                  <a:txBody>
                    <a:bodyPr/>
                    <a:lstStyle/>
                    <a:p>
                      <a:pPr algn="ctr" rtl="0" fontAlgn="ctr">
                        <a:buNone/>
                      </a:pPr>
                      <a:r>
                        <a:rPr lang="es-CO" sz="1100" b="1" i="0" u="none" strike="noStrike">
                          <a:solidFill>
                            <a:srgbClr val="FFFFFF"/>
                          </a:solidFill>
                          <a:effectLst/>
                          <a:latin typeface="Muli"/>
                        </a:rPr>
                        <a:t>PSICOLOGIA</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100" b="0" i="0" u="none" strike="noStrike">
                          <a:solidFill>
                            <a:srgbClr val="80589F"/>
                          </a:solidFill>
                          <a:effectLst/>
                          <a:latin typeface="Muli"/>
                        </a:rPr>
                        <a:t>1713</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ctr">
                        <a:buNone/>
                      </a:pPr>
                      <a:r>
                        <a:rPr lang="es-CO" sz="1100" b="0" i="0" u="none" strike="noStrike">
                          <a:solidFill>
                            <a:srgbClr val="80589F"/>
                          </a:solidFill>
                          <a:effectLst/>
                          <a:latin typeface="Calibri" panose="020F0502020204030204" pitchFamily="34" charset="0"/>
                        </a:rPr>
                        <a:t>2550</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ctr">
                        <a:buNone/>
                      </a:pPr>
                      <a:r>
                        <a:rPr lang="es-CO" sz="1100" b="0" i="0" u="none" strike="noStrike">
                          <a:solidFill>
                            <a:srgbClr val="80589F"/>
                          </a:solidFill>
                          <a:effectLst/>
                          <a:latin typeface="Muli"/>
                        </a:rPr>
                        <a:t>84%</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ctr">
                        <a:buNone/>
                      </a:pPr>
                      <a:r>
                        <a:rPr lang="es-CO" sz="1100" b="0" i="0" u="none" strike="noStrike">
                          <a:solidFill>
                            <a:srgbClr val="80589F"/>
                          </a:solidFill>
                          <a:effectLst/>
                          <a:latin typeface="Calibri" panose="020F0502020204030204" pitchFamily="34" charset="0"/>
                        </a:rPr>
                        <a:t>254</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ctr">
                        <a:buNone/>
                      </a:pPr>
                      <a:r>
                        <a:rPr lang="es-CO" sz="1100" b="0" i="0" u="none" strike="noStrike">
                          <a:solidFill>
                            <a:srgbClr val="80589F"/>
                          </a:solidFill>
                          <a:effectLst/>
                          <a:latin typeface="Muli"/>
                        </a:rPr>
                        <a:t>8%</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ctr">
                        <a:buNone/>
                      </a:pPr>
                      <a:r>
                        <a:rPr lang="es-CO" sz="1100" b="0" i="0" u="none" strike="noStrike">
                          <a:solidFill>
                            <a:srgbClr val="80589F"/>
                          </a:solidFill>
                          <a:effectLst/>
                          <a:latin typeface="Calibri" panose="020F0502020204030204" pitchFamily="34" charset="0"/>
                        </a:rPr>
                        <a:t>246</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ctr">
                        <a:buNone/>
                      </a:pPr>
                      <a:r>
                        <a:rPr lang="es-CO" sz="1100" b="0" i="0" u="none" strike="noStrike">
                          <a:solidFill>
                            <a:srgbClr val="80589F"/>
                          </a:solidFill>
                          <a:effectLst/>
                          <a:latin typeface="Muli"/>
                        </a:rPr>
                        <a:t>8%</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extLst>
                  <a:ext uri="{0D108BD9-81ED-4DB2-BD59-A6C34878D82A}">
                    <a16:rowId xmlns:a16="http://schemas.microsoft.com/office/drawing/2014/main" val="1067161348"/>
                  </a:ext>
                </a:extLst>
              </a:tr>
              <a:tr h="364888">
                <a:tc>
                  <a:txBody>
                    <a:bodyPr/>
                    <a:lstStyle/>
                    <a:p>
                      <a:pPr algn="ctr" rtl="0" fontAlgn="ctr">
                        <a:buNone/>
                      </a:pPr>
                      <a:r>
                        <a:rPr lang="es-CO" sz="1100" b="1" i="0" u="none" strike="noStrike">
                          <a:solidFill>
                            <a:srgbClr val="FFFFFF"/>
                          </a:solidFill>
                          <a:effectLst/>
                          <a:latin typeface="Muli"/>
                        </a:rPr>
                        <a:t>TRABAJO SOCIAL</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100" b="0" i="0" u="none" strike="noStrike">
                          <a:solidFill>
                            <a:srgbClr val="80589F"/>
                          </a:solidFill>
                          <a:effectLst/>
                          <a:latin typeface="Muli"/>
                        </a:rPr>
                        <a:t>2149</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ctr">
                        <a:buNone/>
                      </a:pPr>
                      <a:r>
                        <a:rPr lang="es-CO" sz="1100" b="0" i="0" u="none" strike="noStrike">
                          <a:solidFill>
                            <a:srgbClr val="80589F"/>
                          </a:solidFill>
                          <a:effectLst/>
                          <a:latin typeface="Calibri" panose="020F0502020204030204" pitchFamily="34" charset="0"/>
                        </a:rPr>
                        <a:t>3363</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ctr">
                        <a:buNone/>
                      </a:pPr>
                      <a:r>
                        <a:rPr lang="es-CO" sz="1100" b="0" i="0" u="none" strike="noStrike">
                          <a:solidFill>
                            <a:srgbClr val="80589F"/>
                          </a:solidFill>
                          <a:effectLst/>
                          <a:latin typeface="Muli"/>
                        </a:rPr>
                        <a:t>80%</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ctr">
                        <a:buNone/>
                      </a:pPr>
                      <a:r>
                        <a:rPr lang="es-CO" sz="1100" b="0" i="0" u="none" strike="noStrike">
                          <a:solidFill>
                            <a:srgbClr val="80589F"/>
                          </a:solidFill>
                          <a:effectLst/>
                          <a:latin typeface="Calibri" panose="020F0502020204030204" pitchFamily="34" charset="0"/>
                        </a:rPr>
                        <a:t>341</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ctr">
                        <a:buNone/>
                      </a:pPr>
                      <a:r>
                        <a:rPr lang="es-CO" sz="1100" b="0" i="0" u="none" strike="noStrike">
                          <a:solidFill>
                            <a:srgbClr val="80589F"/>
                          </a:solidFill>
                          <a:effectLst/>
                          <a:latin typeface="Muli"/>
                        </a:rPr>
                        <a:t>8%</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ctr">
                        <a:buNone/>
                      </a:pPr>
                      <a:r>
                        <a:rPr lang="es-CO" sz="1100" b="0" i="0" u="none" strike="noStrike">
                          <a:solidFill>
                            <a:srgbClr val="80589F"/>
                          </a:solidFill>
                          <a:effectLst/>
                          <a:latin typeface="Calibri" panose="020F0502020204030204" pitchFamily="34" charset="0"/>
                        </a:rPr>
                        <a:t>489</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ctr">
                        <a:buNone/>
                      </a:pPr>
                      <a:r>
                        <a:rPr lang="es-CO" sz="1100" b="0" i="0" u="none" strike="noStrike">
                          <a:solidFill>
                            <a:srgbClr val="80589F"/>
                          </a:solidFill>
                          <a:effectLst/>
                          <a:latin typeface="Muli"/>
                        </a:rPr>
                        <a:t>12%</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extLst>
                  <a:ext uri="{0D108BD9-81ED-4DB2-BD59-A6C34878D82A}">
                    <a16:rowId xmlns:a16="http://schemas.microsoft.com/office/drawing/2014/main" val="1437421711"/>
                  </a:ext>
                </a:extLst>
              </a:tr>
            </a:tbl>
          </a:graphicData>
        </a:graphic>
      </p:graphicFrame>
    </p:spTree>
    <p:extLst>
      <p:ext uri="{BB962C8B-B14F-4D97-AF65-F5344CB8AC3E}">
        <p14:creationId xmlns:p14="http://schemas.microsoft.com/office/powerpoint/2010/main" val="98181282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86A64-3BAB-57B4-FE72-3D023D3C659D}"/>
            </a:ext>
          </a:extLst>
        </p:cNvPr>
        <p:cNvGrpSpPr/>
        <p:nvPr/>
      </p:nvGrpSpPr>
      <p:grpSpPr>
        <a:xfrm>
          <a:off x="0" y="0"/>
          <a:ext cx="0" cy="0"/>
          <a:chOff x="0" y="0"/>
          <a:chExt cx="0" cy="0"/>
        </a:xfrm>
      </p:grpSpPr>
      <p:sp>
        <p:nvSpPr>
          <p:cNvPr id="6" name="Título 1">
            <a:extLst>
              <a:ext uri="{FF2B5EF4-FFF2-40B4-BE49-F238E27FC236}">
                <a16:creationId xmlns:a16="http://schemas.microsoft.com/office/drawing/2014/main" id="{7540963F-0B31-5EBA-5759-626A84359F76}"/>
              </a:ext>
            </a:extLst>
          </p:cNvPr>
          <p:cNvSpPr txBox="1">
            <a:spLocks/>
          </p:cNvSpPr>
          <p:nvPr/>
        </p:nvSpPr>
        <p:spPr>
          <a:xfrm>
            <a:off x="1068049" y="165719"/>
            <a:ext cx="10515600" cy="81207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400" b="1" kern="1200">
                <a:solidFill>
                  <a:srgbClr val="00A19C"/>
                </a:solidFill>
                <a:latin typeface="+mj-lt"/>
                <a:ea typeface="+mj-ea"/>
                <a:cs typeface="+mj-cs"/>
              </a:defRPr>
            </a:lvl1pPr>
          </a:lstStyle>
          <a:p>
            <a:r>
              <a:rPr lang="es-CO">
                <a:solidFill>
                  <a:schemeClr val="tx1"/>
                </a:solidFill>
                <a:latin typeface="Century Gothic"/>
              </a:rPr>
              <a:t>Encuestas de satisfacción</a:t>
            </a:r>
            <a:endParaRPr lang="es-ES"/>
          </a:p>
        </p:txBody>
      </p:sp>
      <p:graphicFrame>
        <p:nvGraphicFramePr>
          <p:cNvPr id="3" name="Gráfico 2">
            <a:extLst>
              <a:ext uri="{FF2B5EF4-FFF2-40B4-BE49-F238E27FC236}">
                <a16:creationId xmlns:a16="http://schemas.microsoft.com/office/drawing/2014/main" id="{BCFC593D-8B38-F657-4CF5-561264047A1A}"/>
              </a:ext>
              <a:ext uri="{147F2762-F138-4A5C-976F-8EAC2B608ADB}">
                <a16:predDERef xmlns:a16="http://schemas.microsoft.com/office/drawing/2014/main" pred="{0F5435FA-308C-4D56-983D-1A831AAB2F3D}"/>
              </a:ext>
            </a:extLst>
          </p:cNvPr>
          <p:cNvGraphicFramePr>
            <a:graphicFrameLocks/>
          </p:cNvGraphicFramePr>
          <p:nvPr/>
        </p:nvGraphicFramePr>
        <p:xfrm>
          <a:off x="1371600" y="1097280"/>
          <a:ext cx="9067799" cy="4861559"/>
        </p:xfrm>
        <a:graphic>
          <a:graphicData uri="http://schemas.openxmlformats.org/drawingml/2006/chart">
            <c:chart xmlns:c="http://schemas.openxmlformats.org/drawingml/2006/chart" xmlns:r="http://schemas.openxmlformats.org/officeDocument/2006/relationships" r:id="rId3"/>
          </a:graphicData>
        </a:graphic>
      </p:graphicFrame>
      <p:sp>
        <p:nvSpPr>
          <p:cNvPr id="4" name="CuadroTexto 3">
            <a:extLst>
              <a:ext uri="{FF2B5EF4-FFF2-40B4-BE49-F238E27FC236}">
                <a16:creationId xmlns:a16="http://schemas.microsoft.com/office/drawing/2014/main" id="{D6393B90-A38A-35D9-7700-5E0CCBB30C94}"/>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SAU INOOS Julio 2026</a:t>
            </a:r>
          </a:p>
        </p:txBody>
      </p:sp>
    </p:spTree>
    <p:extLst>
      <p:ext uri="{BB962C8B-B14F-4D97-AF65-F5344CB8AC3E}">
        <p14:creationId xmlns:p14="http://schemas.microsoft.com/office/powerpoint/2010/main" val="136790521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2391802D-B59C-06AD-2346-342670788B21}"/>
              </a:ext>
            </a:extLst>
          </p:cNvPr>
          <p:cNvSpPr txBox="1">
            <a:spLocks/>
          </p:cNvSpPr>
          <p:nvPr/>
        </p:nvSpPr>
        <p:spPr>
          <a:xfrm>
            <a:off x="969938" y="0"/>
            <a:ext cx="10515600" cy="81207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400" b="1" kern="1200">
                <a:solidFill>
                  <a:srgbClr val="00A19C"/>
                </a:solidFill>
                <a:latin typeface="+mj-lt"/>
                <a:ea typeface="+mj-ea"/>
                <a:cs typeface="+mj-cs"/>
              </a:defRPr>
            </a:lvl1pPr>
          </a:lstStyle>
          <a:p>
            <a:r>
              <a:rPr lang="es-CO">
                <a:solidFill>
                  <a:schemeClr val="tx1"/>
                </a:solidFill>
                <a:latin typeface="Century Gothic"/>
              </a:rPr>
              <a:t>QSE</a:t>
            </a:r>
            <a:endParaRPr lang="es-ES"/>
          </a:p>
        </p:txBody>
      </p:sp>
      <p:graphicFrame>
        <p:nvGraphicFramePr>
          <p:cNvPr id="7" name="Gráfico 6">
            <a:extLst>
              <a:ext uri="{FF2B5EF4-FFF2-40B4-BE49-F238E27FC236}">
                <a16:creationId xmlns:a16="http://schemas.microsoft.com/office/drawing/2014/main" id="{2AF071EE-C787-61FA-0031-9610F1CE3844}"/>
              </a:ext>
            </a:extLst>
          </p:cNvPr>
          <p:cNvGraphicFramePr>
            <a:graphicFrameLocks/>
          </p:cNvGraphicFramePr>
          <p:nvPr/>
        </p:nvGraphicFramePr>
        <p:xfrm>
          <a:off x="7143750" y="3687570"/>
          <a:ext cx="5048250" cy="286464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Gráfico 7">
            <a:extLst>
              <a:ext uri="{FF2B5EF4-FFF2-40B4-BE49-F238E27FC236}">
                <a16:creationId xmlns:a16="http://schemas.microsoft.com/office/drawing/2014/main" id="{8F9A4F5D-A38D-804F-2FFF-6FC8130A9DB9}"/>
              </a:ext>
              <a:ext uri="{147F2762-F138-4A5C-976F-8EAC2B608ADB}">
                <a16:predDERef xmlns:a16="http://schemas.microsoft.com/office/drawing/2014/main" pred="{2AF071EE-C787-61FA-0031-9610F1CE3844}"/>
              </a:ext>
            </a:extLst>
          </p:cNvPr>
          <p:cNvGraphicFramePr>
            <a:graphicFrameLocks/>
          </p:cNvGraphicFramePr>
          <p:nvPr/>
        </p:nvGraphicFramePr>
        <p:xfrm>
          <a:off x="1188720" y="812078"/>
          <a:ext cx="4572000" cy="287549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Gráfico 8">
            <a:extLst>
              <a:ext uri="{FF2B5EF4-FFF2-40B4-BE49-F238E27FC236}">
                <a16:creationId xmlns:a16="http://schemas.microsoft.com/office/drawing/2014/main" id="{6BD3C55A-9094-B888-7AA2-9FAF692678E5}"/>
              </a:ext>
              <a:ext uri="{147F2762-F138-4A5C-976F-8EAC2B608ADB}">
                <a16:predDERef xmlns:a16="http://schemas.microsoft.com/office/drawing/2014/main" pred="{8F9A4F5D-A38D-804F-2FFF-6FC8130A9DB9}"/>
              </a:ext>
            </a:extLst>
          </p:cNvPr>
          <p:cNvGraphicFramePr>
            <a:graphicFrameLocks/>
          </p:cNvGraphicFramePr>
          <p:nvPr/>
        </p:nvGraphicFramePr>
        <p:xfrm>
          <a:off x="7143750" y="649360"/>
          <a:ext cx="4572000" cy="303821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Gráfico 9">
            <a:extLst>
              <a:ext uri="{FF2B5EF4-FFF2-40B4-BE49-F238E27FC236}">
                <a16:creationId xmlns:a16="http://schemas.microsoft.com/office/drawing/2014/main" id="{B39C116B-FFA9-23DC-ABD0-1544A0C0E25C}"/>
              </a:ext>
              <a:ext uri="{147F2762-F138-4A5C-976F-8EAC2B608ADB}">
                <a16:predDERef xmlns:a16="http://schemas.microsoft.com/office/drawing/2014/main" pred="{6BD3C55A-9094-B888-7AA2-9FAF692678E5}"/>
              </a:ext>
            </a:extLst>
          </p:cNvPr>
          <p:cNvGraphicFramePr>
            <a:graphicFrameLocks/>
          </p:cNvGraphicFramePr>
          <p:nvPr/>
        </p:nvGraphicFramePr>
        <p:xfrm>
          <a:off x="1147709" y="3687570"/>
          <a:ext cx="4654021" cy="3038210"/>
        </p:xfrm>
        <a:graphic>
          <a:graphicData uri="http://schemas.openxmlformats.org/drawingml/2006/chart">
            <c:chart xmlns:c="http://schemas.openxmlformats.org/drawingml/2006/chart" xmlns:r="http://schemas.openxmlformats.org/officeDocument/2006/relationships" r:id="rId5"/>
          </a:graphicData>
        </a:graphic>
      </p:graphicFrame>
      <p:sp>
        <p:nvSpPr>
          <p:cNvPr id="3" name="CuadroTexto 2">
            <a:extLst>
              <a:ext uri="{FF2B5EF4-FFF2-40B4-BE49-F238E27FC236}">
                <a16:creationId xmlns:a16="http://schemas.microsoft.com/office/drawing/2014/main" id="{D55D0C41-B925-960A-B070-4DDC186D1DEB}"/>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SAU INOOS Julio 2026</a:t>
            </a:r>
          </a:p>
        </p:txBody>
      </p:sp>
    </p:spTree>
    <p:extLst>
      <p:ext uri="{BB962C8B-B14F-4D97-AF65-F5344CB8AC3E}">
        <p14:creationId xmlns:p14="http://schemas.microsoft.com/office/powerpoint/2010/main" val="193272597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DD340C55-4716-8BCB-4456-C3B0D91FED62}"/>
              </a:ext>
            </a:extLst>
          </p:cNvPr>
          <p:cNvSpPr txBox="1">
            <a:spLocks/>
          </p:cNvSpPr>
          <p:nvPr/>
        </p:nvSpPr>
        <p:spPr>
          <a:xfrm>
            <a:off x="1068049" y="165719"/>
            <a:ext cx="10515600" cy="81207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400" b="1" kern="1200">
                <a:solidFill>
                  <a:srgbClr val="00A19C"/>
                </a:solidFill>
                <a:latin typeface="+mj-lt"/>
                <a:ea typeface="+mj-ea"/>
                <a:cs typeface="+mj-cs"/>
              </a:defRPr>
            </a:lvl1pPr>
          </a:lstStyle>
          <a:p>
            <a:r>
              <a:rPr lang="es-CO">
                <a:solidFill>
                  <a:schemeClr val="tx1"/>
                </a:solidFill>
                <a:latin typeface="Century Gothic"/>
              </a:rPr>
              <a:t>PQRSF</a:t>
            </a:r>
            <a:endParaRPr lang="es-ES"/>
          </a:p>
        </p:txBody>
      </p:sp>
      <p:graphicFrame>
        <p:nvGraphicFramePr>
          <p:cNvPr id="2" name="Gráfico 1">
            <a:extLst>
              <a:ext uri="{FF2B5EF4-FFF2-40B4-BE49-F238E27FC236}">
                <a16:creationId xmlns:a16="http://schemas.microsoft.com/office/drawing/2014/main" id="{BA5A2AA0-8839-54C5-9556-D55C0E60E844}"/>
              </a:ext>
              <a:ext uri="{147F2762-F138-4A5C-976F-8EAC2B608ADB}">
                <a16:predDERef xmlns:a16="http://schemas.microsoft.com/office/drawing/2014/main" pred="{7B547B4B-EAA9-A4EB-5C89-D12A50C094CE}"/>
              </a:ext>
            </a:extLst>
          </p:cNvPr>
          <p:cNvGraphicFramePr>
            <a:graphicFrameLocks/>
          </p:cNvGraphicFramePr>
          <p:nvPr/>
        </p:nvGraphicFramePr>
        <p:xfrm>
          <a:off x="854689" y="1233906"/>
          <a:ext cx="7115831" cy="4390187"/>
        </p:xfrm>
        <a:graphic>
          <a:graphicData uri="http://schemas.openxmlformats.org/drawingml/2006/chart">
            <c:chart xmlns:c="http://schemas.openxmlformats.org/drawingml/2006/chart" xmlns:r="http://schemas.openxmlformats.org/officeDocument/2006/relationships" r:id="rId2"/>
          </a:graphicData>
        </a:graphic>
      </p:graphicFrame>
      <p:sp>
        <p:nvSpPr>
          <p:cNvPr id="4" name="CuadroTexto 3">
            <a:extLst>
              <a:ext uri="{FF2B5EF4-FFF2-40B4-BE49-F238E27FC236}">
                <a16:creationId xmlns:a16="http://schemas.microsoft.com/office/drawing/2014/main" id="{320D2B38-DF1E-789D-EADD-B6184A72C538}"/>
              </a:ext>
            </a:extLst>
          </p:cNvPr>
          <p:cNvSpPr txBox="1"/>
          <p:nvPr/>
        </p:nvSpPr>
        <p:spPr>
          <a:xfrm>
            <a:off x="8122920" y="1660626"/>
            <a:ext cx="3766924" cy="3539430"/>
          </a:xfrm>
          <a:prstGeom prst="rect">
            <a:avLst/>
          </a:prstGeom>
          <a:noFill/>
        </p:spPr>
        <p:txBody>
          <a:bodyPr wrap="square" lIns="91440" tIns="45720" rIns="91440" bIns="45720" anchor="t">
            <a:spAutoFit/>
          </a:bodyPr>
          <a:lstStyle>
            <a:defPPr>
              <a:defRPr lang="es-CO"/>
            </a:defPPr>
            <a:lvl1pPr algn="just">
              <a:defRPr sz="1600">
                <a:solidFill>
                  <a:schemeClr val="tx1">
                    <a:lumMod val="50000"/>
                  </a:schemeClr>
                </a:solidFill>
                <a:latin typeface="Aptos" panose="020B0004020202020204" pitchFamily="34" charset="0"/>
              </a:defRPr>
            </a:lvl1pPr>
          </a:lstStyle>
          <a:p>
            <a:r>
              <a:rPr lang="es-CO"/>
              <a:t>De las 83 manifestaciones recibidas 44 fueron notificadas a través del aplicativo Citrix/Enlace con una oportunidad de respuesta de dos días. </a:t>
            </a:r>
          </a:p>
          <a:p>
            <a:endParaRPr lang="es-CO"/>
          </a:p>
          <a:p>
            <a:r>
              <a:rPr lang="es-CO"/>
              <a:t>Del total de reclamos 31 fueron recibidos a través de la Supersalud. </a:t>
            </a:r>
          </a:p>
          <a:p>
            <a:endParaRPr lang="es-CO"/>
          </a:p>
          <a:p>
            <a:r>
              <a:rPr lang="es-CO"/>
              <a:t>Entre las principales causa de inconformidad se encuentran, la continuidad del tratamiento médico propuesto, la oportunidad de cirugía y oportunidad en la programación de consulta. </a:t>
            </a:r>
          </a:p>
        </p:txBody>
      </p:sp>
      <p:sp>
        <p:nvSpPr>
          <p:cNvPr id="6" name="CuadroTexto 5">
            <a:extLst>
              <a:ext uri="{FF2B5EF4-FFF2-40B4-BE49-F238E27FC236}">
                <a16:creationId xmlns:a16="http://schemas.microsoft.com/office/drawing/2014/main" id="{CEA6BDD1-B321-5F0E-05AB-14E40B11E087}"/>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SAU INOOS Julio 2026</a:t>
            </a:r>
          </a:p>
        </p:txBody>
      </p:sp>
    </p:spTree>
    <p:extLst>
      <p:ext uri="{BB962C8B-B14F-4D97-AF65-F5344CB8AC3E}">
        <p14:creationId xmlns:p14="http://schemas.microsoft.com/office/powerpoint/2010/main" val="115366117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85226-EF94-31E5-0605-B256EC72CA3B}"/>
            </a:ext>
          </a:extLst>
        </p:cNvPr>
        <p:cNvGrpSpPr/>
        <p:nvPr/>
      </p:nvGrpSpPr>
      <p:grpSpPr>
        <a:xfrm>
          <a:off x="0" y="0"/>
          <a:ext cx="0" cy="0"/>
          <a:chOff x="0" y="0"/>
          <a:chExt cx="0" cy="0"/>
        </a:xfrm>
      </p:grpSpPr>
      <p:pic>
        <p:nvPicPr>
          <p:cNvPr id="10" name="Imagen 9">
            <a:extLst>
              <a:ext uri="{FF2B5EF4-FFF2-40B4-BE49-F238E27FC236}">
                <a16:creationId xmlns:a16="http://schemas.microsoft.com/office/drawing/2014/main" id="{27534D57-959D-E4BC-D8FC-9E092DE220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CuadroTexto 11">
            <a:extLst>
              <a:ext uri="{FF2B5EF4-FFF2-40B4-BE49-F238E27FC236}">
                <a16:creationId xmlns:a16="http://schemas.microsoft.com/office/drawing/2014/main" id="{5F599F06-4041-1E92-B0E6-DB8C119E26D4}"/>
              </a:ext>
            </a:extLst>
          </p:cNvPr>
          <p:cNvSpPr txBox="1"/>
          <p:nvPr/>
        </p:nvSpPr>
        <p:spPr>
          <a:xfrm>
            <a:off x="3081336" y="1270022"/>
            <a:ext cx="7080885" cy="646331"/>
          </a:xfrm>
          <a:prstGeom prst="rect">
            <a:avLst/>
          </a:prstGeom>
          <a:noFill/>
        </p:spPr>
        <p:txBody>
          <a:bodyPr wrap="square">
            <a:spAutoFit/>
          </a:bodyPr>
          <a:lstStyle/>
          <a:p>
            <a:pPr algn="ctr"/>
            <a:r>
              <a:rPr lang="es-CO" b="0" i="0">
                <a:solidFill>
                  <a:srgbClr val="242424"/>
                </a:solidFill>
                <a:effectLst/>
                <a:latin typeface="Calibri" panose="020F0502020204030204" pitchFamily="34" charset="0"/>
                <a:ea typeface="Calibri" panose="020F0502020204030204" pitchFamily="34" charset="0"/>
                <a:cs typeface="Calibri" panose="020F0502020204030204" pitchFamily="34" charset="0"/>
              </a:rPr>
              <a:t>Excelente atención y calidad humana de todo el personal muy educados y entregados al servicio y a los pacientes</a:t>
            </a:r>
            <a:endParaRPr lang="es-CO" sz="3200">
              <a:latin typeface="Calibri" panose="020F0502020204030204" pitchFamily="34" charset="0"/>
              <a:ea typeface="Calibri" panose="020F0502020204030204" pitchFamily="34" charset="0"/>
              <a:cs typeface="Calibri" panose="020F0502020204030204" pitchFamily="34" charset="0"/>
            </a:endParaRPr>
          </a:p>
        </p:txBody>
      </p:sp>
      <p:sp>
        <p:nvSpPr>
          <p:cNvPr id="28" name="CuadroTexto 27">
            <a:extLst>
              <a:ext uri="{FF2B5EF4-FFF2-40B4-BE49-F238E27FC236}">
                <a16:creationId xmlns:a16="http://schemas.microsoft.com/office/drawing/2014/main" id="{04791F1E-309E-EF31-4F81-FC1CC627832B}"/>
              </a:ext>
            </a:extLst>
          </p:cNvPr>
          <p:cNvSpPr txBox="1"/>
          <p:nvPr/>
        </p:nvSpPr>
        <p:spPr>
          <a:xfrm>
            <a:off x="6949440" y="462906"/>
            <a:ext cx="4556761" cy="646331"/>
          </a:xfrm>
          <a:prstGeom prst="rect">
            <a:avLst/>
          </a:prstGeom>
          <a:noFill/>
        </p:spPr>
        <p:txBody>
          <a:bodyPr wrap="square">
            <a:spAutoFit/>
          </a:bodyPr>
          <a:lstStyle>
            <a:defPPr>
              <a:defRPr lang="es-CO"/>
            </a:defPPr>
            <a:lvl1pPr algn="just">
              <a:defRPr b="0" i="0">
                <a:solidFill>
                  <a:srgbClr val="242424"/>
                </a:solidFill>
                <a:effectLst/>
                <a:latin typeface="Calibri" panose="020F0502020204030204" pitchFamily="34" charset="0"/>
                <a:ea typeface="Calibri" panose="020F0502020204030204" pitchFamily="34" charset="0"/>
                <a:cs typeface="Calibri" panose="020F0502020204030204" pitchFamily="34" charset="0"/>
              </a:defRPr>
            </a:lvl1pPr>
          </a:lstStyle>
          <a:p>
            <a:pPr algn="ctr"/>
            <a:r>
              <a:rPr lang="es-CO">
                <a:latin typeface="Comic Sans MS" panose="030F0702030302020204" pitchFamily="66" charset="0"/>
              </a:rPr>
              <a:t>Excelente atención, con una gran disposición para brindar un buen servicio</a:t>
            </a:r>
          </a:p>
        </p:txBody>
      </p:sp>
      <p:sp>
        <p:nvSpPr>
          <p:cNvPr id="3" name="CuadroTexto 2">
            <a:extLst>
              <a:ext uri="{FF2B5EF4-FFF2-40B4-BE49-F238E27FC236}">
                <a16:creationId xmlns:a16="http://schemas.microsoft.com/office/drawing/2014/main" id="{853E7BCF-8AB1-FFD2-B45B-B45EA85327B9}"/>
              </a:ext>
            </a:extLst>
          </p:cNvPr>
          <p:cNvSpPr txBox="1"/>
          <p:nvPr/>
        </p:nvSpPr>
        <p:spPr>
          <a:xfrm>
            <a:off x="3619499" y="2299338"/>
            <a:ext cx="4000500" cy="1169551"/>
          </a:xfrm>
          <a:prstGeom prst="rect">
            <a:avLst/>
          </a:prstGeom>
          <a:noFill/>
        </p:spPr>
        <p:txBody>
          <a:bodyPr wrap="square">
            <a:spAutoFit/>
          </a:bodyPr>
          <a:lstStyle/>
          <a:p>
            <a:pPr algn="ctr"/>
            <a:r>
              <a:rPr lang="es-CO" sz="1400" b="0" i="0">
                <a:solidFill>
                  <a:srgbClr val="242424"/>
                </a:solidFill>
                <a:effectLst/>
                <a:latin typeface="Lao UI" panose="020B0502040204020203" pitchFamily="34" charset="0"/>
                <a:cs typeface="Lao UI" panose="020B0502040204020203" pitchFamily="34" charset="0"/>
              </a:rPr>
              <a:t>Agradezco enormemente la atención obtenida con la doctora ya que es una persona muy idónea y muy profesional en su trabajo también tiene mucha calidad humana y muy buen trato con el paciente </a:t>
            </a:r>
            <a:endParaRPr lang="es-CO" sz="2400">
              <a:latin typeface="Lao UI" panose="020B0502040204020203" pitchFamily="34" charset="0"/>
              <a:cs typeface="Lao UI" panose="020B0502040204020203" pitchFamily="34" charset="0"/>
            </a:endParaRPr>
          </a:p>
        </p:txBody>
      </p:sp>
      <p:sp>
        <p:nvSpPr>
          <p:cNvPr id="5" name="CuadroTexto 4">
            <a:extLst>
              <a:ext uri="{FF2B5EF4-FFF2-40B4-BE49-F238E27FC236}">
                <a16:creationId xmlns:a16="http://schemas.microsoft.com/office/drawing/2014/main" id="{CF8F4A09-3AC6-9530-D300-EF7931CE1F42}"/>
              </a:ext>
            </a:extLst>
          </p:cNvPr>
          <p:cNvSpPr txBox="1"/>
          <p:nvPr/>
        </p:nvSpPr>
        <p:spPr>
          <a:xfrm>
            <a:off x="7528559" y="2145449"/>
            <a:ext cx="4663441" cy="738664"/>
          </a:xfrm>
          <a:prstGeom prst="rect">
            <a:avLst/>
          </a:prstGeom>
          <a:noFill/>
        </p:spPr>
        <p:txBody>
          <a:bodyPr wrap="square">
            <a:spAutoFit/>
          </a:bodyPr>
          <a:lstStyle/>
          <a:p>
            <a:pPr algn="ctr"/>
            <a:r>
              <a:rPr lang="es-CO" sz="1400" b="0" i="0">
                <a:solidFill>
                  <a:srgbClr val="242424"/>
                </a:solidFill>
                <a:effectLst/>
                <a:latin typeface="Trebuchet MS" panose="020B0603020202020204" pitchFamily="34" charset="0"/>
              </a:rPr>
              <a:t>Muy buena atención ,mucha calidad humana están pendientes todo el tiempo de mi durante la quimioterapia excelente atención</a:t>
            </a:r>
            <a:endParaRPr lang="es-CO" sz="2400">
              <a:latin typeface="Trebuchet MS" panose="020B0603020202020204" pitchFamily="34" charset="0"/>
            </a:endParaRPr>
          </a:p>
        </p:txBody>
      </p:sp>
      <p:sp>
        <p:nvSpPr>
          <p:cNvPr id="7" name="CuadroTexto 6">
            <a:extLst>
              <a:ext uri="{FF2B5EF4-FFF2-40B4-BE49-F238E27FC236}">
                <a16:creationId xmlns:a16="http://schemas.microsoft.com/office/drawing/2014/main" id="{BF575196-2909-E665-24DB-43EE9F4FE274}"/>
              </a:ext>
            </a:extLst>
          </p:cNvPr>
          <p:cNvSpPr txBox="1"/>
          <p:nvPr/>
        </p:nvSpPr>
        <p:spPr>
          <a:xfrm>
            <a:off x="3657598" y="3622778"/>
            <a:ext cx="8321041" cy="646331"/>
          </a:xfrm>
          <a:prstGeom prst="rect">
            <a:avLst/>
          </a:prstGeom>
          <a:noFill/>
        </p:spPr>
        <p:txBody>
          <a:bodyPr wrap="square">
            <a:spAutoFit/>
          </a:bodyPr>
          <a:lstStyle>
            <a:defPPr>
              <a:defRPr lang="es-CO"/>
            </a:defPPr>
            <a:lvl1pPr algn="ctr">
              <a:defRPr b="0" i="0">
                <a:solidFill>
                  <a:srgbClr val="242424"/>
                </a:solidFill>
                <a:effectLst/>
                <a:latin typeface="Comic Sans MS" panose="030F0702030302020204" pitchFamily="66" charset="0"/>
                <a:ea typeface="Calibri" panose="020F0502020204030204" pitchFamily="34" charset="0"/>
                <a:cs typeface="Calibri" panose="020F0502020204030204" pitchFamily="34" charset="0"/>
              </a:defRPr>
            </a:lvl1pPr>
          </a:lstStyle>
          <a:p>
            <a:r>
              <a:rPr lang="es-CO"/>
              <a:t>Satisfecha con la atención, enfermeros, enfermeras dispuestos a los pacientes gracias </a:t>
            </a:r>
          </a:p>
        </p:txBody>
      </p:sp>
      <p:sp>
        <p:nvSpPr>
          <p:cNvPr id="9" name="CuadroTexto 8">
            <a:extLst>
              <a:ext uri="{FF2B5EF4-FFF2-40B4-BE49-F238E27FC236}">
                <a16:creationId xmlns:a16="http://schemas.microsoft.com/office/drawing/2014/main" id="{825D1582-B3C1-2DE5-9CBA-11E377C97623}"/>
              </a:ext>
            </a:extLst>
          </p:cNvPr>
          <p:cNvSpPr txBox="1"/>
          <p:nvPr/>
        </p:nvSpPr>
        <p:spPr>
          <a:xfrm>
            <a:off x="3657599" y="4422998"/>
            <a:ext cx="6202680" cy="307777"/>
          </a:xfrm>
          <a:prstGeom prst="rect">
            <a:avLst/>
          </a:prstGeom>
          <a:noFill/>
        </p:spPr>
        <p:txBody>
          <a:bodyPr wrap="square">
            <a:spAutoFit/>
          </a:bodyPr>
          <a:lstStyle>
            <a:defPPr>
              <a:defRPr lang="es-CO"/>
            </a:defPPr>
            <a:lvl1pPr algn="ctr">
              <a:defRPr sz="1400" b="0" i="0">
                <a:solidFill>
                  <a:srgbClr val="242424"/>
                </a:solidFill>
                <a:effectLst/>
                <a:latin typeface="Lao UI" panose="020B0502040204020203" pitchFamily="34" charset="0"/>
                <a:cs typeface="Lao UI" panose="020B0502040204020203" pitchFamily="34" charset="0"/>
              </a:defRPr>
            </a:lvl1pPr>
          </a:lstStyle>
          <a:p>
            <a:pPr algn="l"/>
            <a:r>
              <a:rPr lang="es-CO"/>
              <a:t>Muy buena atención ,mucha empatía y cuidado al paciente</a:t>
            </a:r>
          </a:p>
        </p:txBody>
      </p:sp>
      <p:sp>
        <p:nvSpPr>
          <p:cNvPr id="13" name="CuadroTexto 12">
            <a:extLst>
              <a:ext uri="{FF2B5EF4-FFF2-40B4-BE49-F238E27FC236}">
                <a16:creationId xmlns:a16="http://schemas.microsoft.com/office/drawing/2014/main" id="{22BB6CC4-4767-3C9F-CB39-9BBF0B6D78F7}"/>
              </a:ext>
            </a:extLst>
          </p:cNvPr>
          <p:cNvSpPr txBox="1"/>
          <p:nvPr/>
        </p:nvSpPr>
        <p:spPr>
          <a:xfrm>
            <a:off x="3811903" y="5007774"/>
            <a:ext cx="8012429" cy="523220"/>
          </a:xfrm>
          <a:prstGeom prst="rect">
            <a:avLst/>
          </a:prstGeom>
          <a:noFill/>
        </p:spPr>
        <p:txBody>
          <a:bodyPr wrap="square">
            <a:spAutoFit/>
          </a:bodyPr>
          <a:lstStyle>
            <a:defPPr>
              <a:defRPr lang="es-CO"/>
            </a:defPPr>
            <a:lvl1pPr algn="ctr">
              <a:defRPr sz="1400" b="0" i="0">
                <a:solidFill>
                  <a:srgbClr val="242424"/>
                </a:solidFill>
                <a:effectLst/>
                <a:latin typeface="Trebuchet MS" panose="020B0603020202020204" pitchFamily="34" charset="0"/>
              </a:defRPr>
            </a:lvl1pPr>
          </a:lstStyle>
          <a:p>
            <a:r>
              <a:rPr lang="es-CO"/>
              <a:t>Agradezco el calor humano que se recibe cada vez que venimos, muchas gracias por tan hermosa labor que realizan ,hacen de este duro proceso un poco mas llevadero </a:t>
            </a:r>
          </a:p>
        </p:txBody>
      </p:sp>
    </p:spTree>
    <p:extLst>
      <p:ext uri="{BB962C8B-B14F-4D97-AF65-F5344CB8AC3E}">
        <p14:creationId xmlns:p14="http://schemas.microsoft.com/office/powerpoint/2010/main" val="227538269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1">
            <a:extLst>
              <a:ext uri="{FF2B5EF4-FFF2-40B4-BE49-F238E27FC236}">
                <a16:creationId xmlns:a16="http://schemas.microsoft.com/office/drawing/2014/main" id="{57598938-C467-AE37-1B1A-B6913453F2A2}"/>
              </a:ext>
            </a:extLst>
          </p:cNvPr>
          <p:cNvSpPr txBox="1">
            <a:spLocks/>
          </p:cNvSpPr>
          <p:nvPr/>
        </p:nvSpPr>
        <p:spPr>
          <a:xfrm>
            <a:off x="361426" y="1688887"/>
            <a:ext cx="5173628" cy="369120"/>
          </a:xfrm>
          <a:prstGeom prst="rect">
            <a:avLst/>
          </a:prstGeom>
        </p:spPr>
        <p:txBody>
          <a:bodyPr vert="horz" lIns="91440" tIns="45720" rIns="91440" bIns="45720" rtlCol="0" anchor="ctr">
            <a:normAutofit fontScale="90000" lnSpcReduction="10000"/>
          </a:bodyPr>
          <a:lstStyle>
            <a:lvl1pPr algn="ctr"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2400">
                <a:solidFill>
                  <a:srgbClr val="00A19C"/>
                </a:solidFill>
              </a:rPr>
              <a:t>SALUD TOTAL</a:t>
            </a:r>
          </a:p>
        </p:txBody>
      </p:sp>
      <p:sp>
        <p:nvSpPr>
          <p:cNvPr id="9" name="Título 1">
            <a:extLst>
              <a:ext uri="{FF2B5EF4-FFF2-40B4-BE49-F238E27FC236}">
                <a16:creationId xmlns:a16="http://schemas.microsoft.com/office/drawing/2014/main" id="{DFDC2A1A-1B47-F5FB-373C-7687C7CF94EF}"/>
              </a:ext>
            </a:extLst>
          </p:cNvPr>
          <p:cNvSpPr txBox="1">
            <a:spLocks/>
          </p:cNvSpPr>
          <p:nvPr/>
        </p:nvSpPr>
        <p:spPr>
          <a:xfrm>
            <a:off x="361426" y="1405351"/>
            <a:ext cx="5173628" cy="369120"/>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fontScale="75000" lnSpcReduction="20000"/>
          </a:bodyPr>
          <a:lstStyle>
            <a:defPPr>
              <a:defRPr lang="es-CO"/>
            </a:defPPr>
            <a:lvl1pPr algn="ctr">
              <a:lnSpc>
                <a:spcPct val="90000"/>
              </a:lnSpc>
              <a:spcBef>
                <a:spcPct val="0"/>
              </a:spcBef>
              <a:buNone/>
              <a:defRPr sz="3200" b="1">
                <a:solidFill>
                  <a:srgbClr val="00A19C"/>
                </a:solidFill>
                <a:latin typeface="+mj-lt"/>
                <a:ea typeface="+mj-ea"/>
                <a:cs typeface="+mj-cs"/>
              </a:defRPr>
            </a:lvl1pPr>
          </a:lstStyle>
          <a:p>
            <a:r>
              <a:rPr lang="es-CO"/>
              <a:t>INDICADORES CALL CENTER</a:t>
            </a:r>
          </a:p>
        </p:txBody>
      </p:sp>
      <p:graphicFrame>
        <p:nvGraphicFramePr>
          <p:cNvPr id="2" name="Gráfico 1">
            <a:extLst>
              <a:ext uri="{FF2B5EF4-FFF2-40B4-BE49-F238E27FC236}">
                <a16:creationId xmlns:a16="http://schemas.microsoft.com/office/drawing/2014/main" id="{FF5DBBC6-3A94-F6FC-2925-3900C502EA54}"/>
              </a:ext>
            </a:extLst>
          </p:cNvPr>
          <p:cNvGraphicFramePr>
            <a:graphicFrameLocks/>
          </p:cNvGraphicFramePr>
          <p:nvPr>
            <p:extLst>
              <p:ext uri="{D42A27DB-BD31-4B8C-83A1-F6EECF244321}">
                <p14:modId xmlns:p14="http://schemas.microsoft.com/office/powerpoint/2010/main" val="1874699678"/>
              </p:ext>
            </p:extLst>
          </p:nvPr>
        </p:nvGraphicFramePr>
        <p:xfrm>
          <a:off x="5933767" y="202436"/>
          <a:ext cx="6121659" cy="185557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Gráfico 4">
            <a:extLst>
              <a:ext uri="{FF2B5EF4-FFF2-40B4-BE49-F238E27FC236}">
                <a16:creationId xmlns:a16="http://schemas.microsoft.com/office/drawing/2014/main" id="{DF76039B-1174-F827-CC1D-2BE1E72E86EE}"/>
              </a:ext>
            </a:extLst>
          </p:cNvPr>
          <p:cNvGraphicFramePr>
            <a:graphicFrameLocks/>
          </p:cNvGraphicFramePr>
          <p:nvPr>
            <p:extLst>
              <p:ext uri="{D42A27DB-BD31-4B8C-83A1-F6EECF244321}">
                <p14:modId xmlns:p14="http://schemas.microsoft.com/office/powerpoint/2010/main" val="2259927885"/>
              </p:ext>
            </p:extLst>
          </p:nvPr>
        </p:nvGraphicFramePr>
        <p:xfrm>
          <a:off x="6596239" y="4035865"/>
          <a:ext cx="4558393" cy="277721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Gráfico 5">
            <a:extLst>
              <a:ext uri="{FF2B5EF4-FFF2-40B4-BE49-F238E27FC236}">
                <a16:creationId xmlns:a16="http://schemas.microsoft.com/office/drawing/2014/main" id="{5CF71C59-72A6-A7B9-254B-BC6EE411011D}"/>
              </a:ext>
            </a:extLst>
          </p:cNvPr>
          <p:cNvGraphicFramePr>
            <a:graphicFrameLocks/>
          </p:cNvGraphicFramePr>
          <p:nvPr>
            <p:extLst>
              <p:ext uri="{D42A27DB-BD31-4B8C-83A1-F6EECF244321}">
                <p14:modId xmlns:p14="http://schemas.microsoft.com/office/powerpoint/2010/main" val="3207539580"/>
              </p:ext>
            </p:extLst>
          </p:nvPr>
        </p:nvGraphicFramePr>
        <p:xfrm>
          <a:off x="5933767" y="2058007"/>
          <a:ext cx="6121658" cy="197785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 name="Tabla 6">
            <a:extLst>
              <a:ext uri="{FF2B5EF4-FFF2-40B4-BE49-F238E27FC236}">
                <a16:creationId xmlns:a16="http://schemas.microsoft.com/office/drawing/2014/main" id="{23A6FBD3-C07C-95F4-1CE9-B0C22EF14FAC}"/>
              </a:ext>
            </a:extLst>
          </p:cNvPr>
          <p:cNvGraphicFramePr>
            <a:graphicFrameLocks noGrp="1"/>
          </p:cNvGraphicFramePr>
          <p:nvPr/>
        </p:nvGraphicFramePr>
        <p:xfrm>
          <a:off x="361424" y="2130865"/>
          <a:ext cx="5410742" cy="3810000"/>
        </p:xfrm>
        <a:graphic>
          <a:graphicData uri="http://schemas.openxmlformats.org/drawingml/2006/table">
            <a:tbl>
              <a:tblPr/>
              <a:tblGrid>
                <a:gridCol w="2377528">
                  <a:extLst>
                    <a:ext uri="{9D8B030D-6E8A-4147-A177-3AD203B41FA5}">
                      <a16:colId xmlns:a16="http://schemas.microsoft.com/office/drawing/2014/main" val="2551197526"/>
                    </a:ext>
                  </a:extLst>
                </a:gridCol>
                <a:gridCol w="601662">
                  <a:extLst>
                    <a:ext uri="{9D8B030D-6E8A-4147-A177-3AD203B41FA5}">
                      <a16:colId xmlns:a16="http://schemas.microsoft.com/office/drawing/2014/main" val="689789942"/>
                    </a:ext>
                  </a:extLst>
                </a:gridCol>
                <a:gridCol w="688975">
                  <a:extLst>
                    <a:ext uri="{9D8B030D-6E8A-4147-A177-3AD203B41FA5}">
                      <a16:colId xmlns:a16="http://schemas.microsoft.com/office/drawing/2014/main" val="3071522771"/>
                    </a:ext>
                  </a:extLst>
                </a:gridCol>
                <a:gridCol w="736600">
                  <a:extLst>
                    <a:ext uri="{9D8B030D-6E8A-4147-A177-3AD203B41FA5}">
                      <a16:colId xmlns:a16="http://schemas.microsoft.com/office/drawing/2014/main" val="1910452743"/>
                    </a:ext>
                  </a:extLst>
                </a:gridCol>
                <a:gridCol w="406400">
                  <a:extLst>
                    <a:ext uri="{9D8B030D-6E8A-4147-A177-3AD203B41FA5}">
                      <a16:colId xmlns:a16="http://schemas.microsoft.com/office/drawing/2014/main" val="2702463174"/>
                    </a:ext>
                  </a:extLst>
                </a:gridCol>
                <a:gridCol w="599577">
                  <a:extLst>
                    <a:ext uri="{9D8B030D-6E8A-4147-A177-3AD203B41FA5}">
                      <a16:colId xmlns:a16="http://schemas.microsoft.com/office/drawing/2014/main" val="1265568660"/>
                    </a:ext>
                  </a:extLst>
                </a:gridCol>
              </a:tblGrid>
              <a:tr h="190500">
                <a:tc>
                  <a:txBody>
                    <a:bodyPr/>
                    <a:lstStyle/>
                    <a:p>
                      <a:pPr algn="l" rtl="0" fontAlgn="ctr">
                        <a:buNone/>
                      </a:pPr>
                      <a:r>
                        <a:rPr lang="es-CO" sz="1000" b="1" i="0" u="none" strike="noStrike">
                          <a:solidFill>
                            <a:srgbClr val="FFFFFF"/>
                          </a:solidFill>
                          <a:effectLst/>
                          <a:latin typeface="Calibri" panose="020F0502020204030204" pitchFamily="34" charset="0"/>
                        </a:rPr>
                        <a:t>DETALLE DE AGENDAMIENTO SALUD TOTAL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000" b="1" i="0" u="none" strike="noStrike">
                          <a:solidFill>
                            <a:srgbClr val="FFFFFF"/>
                          </a:solidFill>
                          <a:effectLst/>
                          <a:latin typeface="Calibri" panose="020F0502020204030204" pitchFamily="34" charset="0"/>
                        </a:rPr>
                        <a:t>ATENDIDA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000" b="1" i="0" u="none" strike="noStrike">
                          <a:solidFill>
                            <a:srgbClr val="FFFFFF"/>
                          </a:solidFill>
                          <a:effectLst/>
                          <a:latin typeface="Calibri" panose="020F0502020204030204" pitchFamily="34" charset="0"/>
                        </a:rPr>
                        <a:t>CANCELADA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000" b="1" i="0" u="none" strike="noStrike">
                          <a:solidFill>
                            <a:srgbClr val="FFFFFF"/>
                          </a:solidFill>
                          <a:effectLst/>
                          <a:latin typeface="Calibri" panose="020F0502020204030204" pitchFamily="34" charset="0"/>
                        </a:rPr>
                        <a:t>INCUMPLIDA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000" b="1" i="0" u="none" strike="noStrike">
                          <a:solidFill>
                            <a:srgbClr val="FFFFFF"/>
                          </a:solidFill>
                          <a:effectLst/>
                          <a:latin typeface="Calibri" panose="020F0502020204030204" pitchFamily="34" charset="0"/>
                        </a:rPr>
                        <a:t>TOTAL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000" b="1" i="0" u="none" strike="noStrike">
                          <a:solidFill>
                            <a:srgbClr val="FFFFFF"/>
                          </a:solidFill>
                          <a:effectLst/>
                          <a:latin typeface="Calibri" panose="020F0502020204030204" pitchFamily="34" charset="0"/>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extLst>
                  <a:ext uri="{0D108BD9-81ED-4DB2-BD59-A6C34878D82A}">
                    <a16:rowId xmlns:a16="http://schemas.microsoft.com/office/drawing/2014/main" val="1505329938"/>
                  </a:ext>
                </a:extLst>
              </a:tr>
              <a:tr h="190500">
                <a:tc>
                  <a:txBody>
                    <a:bodyPr/>
                    <a:lstStyle/>
                    <a:p>
                      <a:pPr algn="l" rtl="0" fontAlgn="ctr">
                        <a:buNone/>
                      </a:pPr>
                      <a:r>
                        <a:rPr lang="es-CO" sz="1000" b="1" i="0" u="none" strike="noStrike">
                          <a:solidFill>
                            <a:srgbClr val="FFFFFF"/>
                          </a:solidFill>
                          <a:effectLst/>
                          <a:latin typeface="Calibri" panose="020F0502020204030204" pitchFamily="34" charset="0"/>
                        </a:rPr>
                        <a:t>TRABAJO SOCIAL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3.148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322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447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3.917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87739285"/>
                  </a:ext>
                </a:extLst>
              </a:tr>
              <a:tr h="190500">
                <a:tc>
                  <a:txBody>
                    <a:bodyPr/>
                    <a:lstStyle/>
                    <a:p>
                      <a:pPr algn="l" rtl="0" fontAlgn="ctr">
                        <a:buNone/>
                      </a:pPr>
                      <a:r>
                        <a:rPr lang="es-CO" sz="1000" b="1" i="0" u="none" strike="noStrike">
                          <a:solidFill>
                            <a:srgbClr val="FFFFFF"/>
                          </a:solidFill>
                          <a:effectLst/>
                          <a:latin typeface="Calibri" panose="020F0502020204030204" pitchFamily="34" charset="0"/>
                        </a:rPr>
                        <a:t>NUTRICION Y DIETETICA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2.951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329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270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3.550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85944510"/>
                  </a:ext>
                </a:extLst>
              </a:tr>
              <a:tr h="190500">
                <a:tc>
                  <a:txBody>
                    <a:bodyPr/>
                    <a:lstStyle/>
                    <a:p>
                      <a:pPr algn="l" rtl="0" fontAlgn="ctr">
                        <a:buNone/>
                      </a:pPr>
                      <a:r>
                        <a:rPr lang="es-CO" sz="1000" b="1" i="0" u="none" strike="noStrike">
                          <a:solidFill>
                            <a:srgbClr val="FFFFFF"/>
                          </a:solidFill>
                          <a:effectLst/>
                          <a:latin typeface="Calibri" panose="020F0502020204030204" pitchFamily="34" charset="0"/>
                        </a:rPr>
                        <a:t>HEMATO ONCOLOGIA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2.611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534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288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3.433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05927605"/>
                  </a:ext>
                </a:extLst>
              </a:tr>
              <a:tr h="190500">
                <a:tc>
                  <a:txBody>
                    <a:bodyPr/>
                    <a:lstStyle/>
                    <a:p>
                      <a:pPr algn="l" rtl="0" fontAlgn="ctr">
                        <a:buNone/>
                      </a:pPr>
                      <a:r>
                        <a:rPr lang="es-CO" sz="1000" b="1" i="0" u="none" strike="noStrike">
                          <a:solidFill>
                            <a:srgbClr val="FFFFFF"/>
                          </a:solidFill>
                          <a:effectLst/>
                          <a:latin typeface="Calibri" panose="020F0502020204030204" pitchFamily="34" charset="0"/>
                        </a:rPr>
                        <a:t>PSICOLOGIA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2.430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243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240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2.913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10798953"/>
                  </a:ext>
                </a:extLst>
              </a:tr>
              <a:tr h="190500">
                <a:tc>
                  <a:txBody>
                    <a:bodyPr/>
                    <a:lstStyle/>
                    <a:p>
                      <a:pPr algn="l" rtl="0" fontAlgn="ctr">
                        <a:buNone/>
                      </a:pPr>
                      <a:r>
                        <a:rPr lang="es-CO" sz="1000" b="1" i="0" u="none" strike="noStrike">
                          <a:solidFill>
                            <a:srgbClr val="FFFFFF"/>
                          </a:solidFill>
                          <a:effectLst/>
                          <a:latin typeface="Calibri" panose="020F0502020204030204" pitchFamily="34" charset="0"/>
                        </a:rPr>
                        <a:t>ONCOLOGIA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1.524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414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134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2.072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49004266"/>
                  </a:ext>
                </a:extLst>
              </a:tr>
              <a:tr h="190500">
                <a:tc>
                  <a:txBody>
                    <a:bodyPr/>
                    <a:lstStyle/>
                    <a:p>
                      <a:pPr algn="l" rtl="0" fontAlgn="ctr">
                        <a:buNone/>
                      </a:pPr>
                      <a:r>
                        <a:rPr lang="es-CO" sz="1000" b="1" i="0" u="none" strike="noStrike">
                          <a:solidFill>
                            <a:srgbClr val="FFFFFF"/>
                          </a:solidFill>
                          <a:effectLst/>
                          <a:latin typeface="Calibri" panose="020F0502020204030204" pitchFamily="34" charset="0"/>
                        </a:rPr>
                        <a:t>DOLOR Y CUIDADOS PALIATIVOS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929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162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182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1.273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94961051"/>
                  </a:ext>
                </a:extLst>
              </a:tr>
              <a:tr h="190500">
                <a:tc>
                  <a:txBody>
                    <a:bodyPr/>
                    <a:lstStyle/>
                    <a:p>
                      <a:pPr algn="l" rtl="0" fontAlgn="ctr">
                        <a:buNone/>
                      </a:pPr>
                      <a:r>
                        <a:rPr lang="es-CO" sz="1000" b="1" i="0" u="none" strike="noStrike">
                          <a:solidFill>
                            <a:srgbClr val="FFFFFF"/>
                          </a:solidFill>
                          <a:effectLst/>
                          <a:latin typeface="Calibri" panose="020F0502020204030204" pitchFamily="34" charset="0"/>
                        </a:rPr>
                        <a:t>ENFERMERIA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731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188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78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997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99725808"/>
                  </a:ext>
                </a:extLst>
              </a:tr>
              <a:tr h="190500">
                <a:tc>
                  <a:txBody>
                    <a:bodyPr/>
                    <a:lstStyle/>
                    <a:p>
                      <a:pPr algn="l" rtl="0" fontAlgn="ctr">
                        <a:buNone/>
                      </a:pPr>
                      <a:r>
                        <a:rPr lang="es-CO" sz="1000" b="1" i="0" u="none" strike="noStrike">
                          <a:solidFill>
                            <a:srgbClr val="FFFFFF"/>
                          </a:solidFill>
                          <a:effectLst/>
                          <a:latin typeface="Calibri" panose="020F0502020204030204" pitchFamily="34" charset="0"/>
                        </a:rPr>
                        <a:t>MASTOLOGIA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722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140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61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923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69200282"/>
                  </a:ext>
                </a:extLst>
              </a:tr>
              <a:tr h="190500">
                <a:tc>
                  <a:txBody>
                    <a:bodyPr/>
                    <a:lstStyle/>
                    <a:p>
                      <a:pPr algn="l" rtl="0" fontAlgn="ctr">
                        <a:buNone/>
                      </a:pPr>
                      <a:r>
                        <a:rPr lang="es-CO" sz="1000" b="1" i="0" u="none" strike="noStrike">
                          <a:solidFill>
                            <a:srgbClr val="FFFFFF"/>
                          </a:solidFill>
                          <a:effectLst/>
                          <a:latin typeface="Calibri" panose="020F0502020204030204" pitchFamily="34" charset="0"/>
                        </a:rPr>
                        <a:t>DERMATOLOGIA ONCOLOGICA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604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82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82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768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15889149"/>
                  </a:ext>
                </a:extLst>
              </a:tr>
              <a:tr h="190500">
                <a:tc>
                  <a:txBody>
                    <a:bodyPr/>
                    <a:lstStyle/>
                    <a:p>
                      <a:pPr algn="l" rtl="0" fontAlgn="ctr">
                        <a:buNone/>
                      </a:pPr>
                      <a:r>
                        <a:rPr lang="es-CO" sz="1000" b="1" i="0" u="none" strike="noStrike">
                          <a:solidFill>
                            <a:srgbClr val="FFFFFF"/>
                          </a:solidFill>
                          <a:effectLst/>
                          <a:latin typeface="Calibri" panose="020F0502020204030204" pitchFamily="34" charset="0"/>
                        </a:rPr>
                        <a:t>UROLOGIA ONCOLOGICA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506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65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73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644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57572721"/>
                  </a:ext>
                </a:extLst>
              </a:tr>
              <a:tr h="190500">
                <a:tc>
                  <a:txBody>
                    <a:bodyPr/>
                    <a:lstStyle/>
                    <a:p>
                      <a:pPr algn="l" rtl="0" fontAlgn="ctr">
                        <a:buNone/>
                      </a:pPr>
                      <a:r>
                        <a:rPr lang="es-CO" sz="1000" b="1" i="0" u="none" strike="noStrike">
                          <a:solidFill>
                            <a:srgbClr val="FFFFFF"/>
                          </a:solidFill>
                          <a:effectLst/>
                          <a:latin typeface="Calibri" panose="020F0502020204030204" pitchFamily="34" charset="0"/>
                        </a:rPr>
                        <a:t>GINECOLOGIA ONCOLOGICA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431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106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77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614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53563676"/>
                  </a:ext>
                </a:extLst>
              </a:tr>
              <a:tr h="190500">
                <a:tc>
                  <a:txBody>
                    <a:bodyPr/>
                    <a:lstStyle/>
                    <a:p>
                      <a:pPr algn="l" rtl="0" fontAlgn="ctr">
                        <a:buNone/>
                      </a:pPr>
                      <a:r>
                        <a:rPr lang="es-CO" sz="1000" b="1" i="0" u="none" strike="noStrike">
                          <a:solidFill>
                            <a:srgbClr val="FFFFFF"/>
                          </a:solidFill>
                          <a:effectLst/>
                          <a:latin typeface="Calibri" panose="020F0502020204030204" pitchFamily="34" charset="0"/>
                        </a:rPr>
                        <a:t>CIRUGIA ONCOLOGICA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421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94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53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568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77680263"/>
                  </a:ext>
                </a:extLst>
              </a:tr>
              <a:tr h="190500">
                <a:tc>
                  <a:txBody>
                    <a:bodyPr/>
                    <a:lstStyle/>
                    <a:p>
                      <a:pPr algn="l" rtl="0" fontAlgn="ctr">
                        <a:buNone/>
                      </a:pPr>
                      <a:r>
                        <a:rPr lang="es-CO" sz="1000" b="1" i="0" u="none" strike="noStrike">
                          <a:solidFill>
                            <a:srgbClr val="FFFFFF"/>
                          </a:solidFill>
                          <a:effectLst/>
                          <a:latin typeface="Calibri" panose="020F0502020204030204" pitchFamily="34" charset="0"/>
                        </a:rPr>
                        <a:t>MEDICINA GENERAL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414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39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472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3289224"/>
                  </a:ext>
                </a:extLst>
              </a:tr>
              <a:tr h="190500">
                <a:tc>
                  <a:txBody>
                    <a:bodyPr/>
                    <a:lstStyle/>
                    <a:p>
                      <a:pPr algn="l" rtl="0" fontAlgn="ctr">
                        <a:buNone/>
                      </a:pPr>
                      <a:r>
                        <a:rPr lang="es-CO" sz="1000" b="1" i="0" u="none" strike="noStrike">
                          <a:solidFill>
                            <a:srgbClr val="FFFFFF"/>
                          </a:solidFill>
                          <a:effectLst/>
                          <a:latin typeface="Calibri" panose="020F0502020204030204" pitchFamily="34" charset="0"/>
                        </a:rPr>
                        <a:t>HEMATOLOGIA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377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61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30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468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32077530"/>
                  </a:ext>
                </a:extLst>
              </a:tr>
              <a:tr h="190500">
                <a:tc>
                  <a:txBody>
                    <a:bodyPr/>
                    <a:lstStyle/>
                    <a:p>
                      <a:pPr algn="l" rtl="0" fontAlgn="ctr">
                        <a:buNone/>
                      </a:pPr>
                      <a:r>
                        <a:rPr lang="es-CO" sz="1000" b="1" i="0" u="none" strike="noStrike">
                          <a:solidFill>
                            <a:srgbClr val="FFFFFF"/>
                          </a:solidFill>
                          <a:effectLst/>
                          <a:latin typeface="Calibri" panose="020F0502020204030204" pitchFamily="34" charset="0"/>
                        </a:rPr>
                        <a:t>ANESTESIOLOGIA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305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34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354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49779946"/>
                  </a:ext>
                </a:extLst>
              </a:tr>
              <a:tr h="190500">
                <a:tc>
                  <a:txBody>
                    <a:bodyPr/>
                    <a:lstStyle/>
                    <a:p>
                      <a:pPr algn="l" rtl="0" fontAlgn="ctr">
                        <a:buNone/>
                      </a:pPr>
                      <a:r>
                        <a:rPr lang="es-CO" sz="1000" b="1" i="0" u="none" strike="noStrike">
                          <a:solidFill>
                            <a:srgbClr val="FFFFFF"/>
                          </a:solidFill>
                          <a:effectLst/>
                          <a:latin typeface="Calibri" panose="020F0502020204030204" pitchFamily="34" charset="0"/>
                        </a:rPr>
                        <a:t>CIRUGIA PLASTICA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246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279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83510770"/>
                  </a:ext>
                </a:extLst>
              </a:tr>
              <a:tr h="190500">
                <a:tc>
                  <a:txBody>
                    <a:bodyPr/>
                    <a:lstStyle/>
                    <a:p>
                      <a:pPr algn="l" rtl="0" fontAlgn="ctr">
                        <a:buNone/>
                      </a:pPr>
                      <a:r>
                        <a:rPr lang="es-CO" sz="1000" b="1" i="0" u="none" strike="noStrike">
                          <a:solidFill>
                            <a:srgbClr val="FFFFFF"/>
                          </a:solidFill>
                          <a:effectLst/>
                          <a:latin typeface="Calibri" panose="020F0502020204030204" pitchFamily="34" charset="0"/>
                        </a:rPr>
                        <a:t>ORTOPEDIA ONCOLOGICA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117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151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86124695"/>
                  </a:ext>
                </a:extLst>
              </a:tr>
              <a:tr h="190500">
                <a:tc>
                  <a:txBody>
                    <a:bodyPr/>
                    <a:lstStyle/>
                    <a:p>
                      <a:pPr algn="l" rtl="0" fontAlgn="ctr">
                        <a:buNone/>
                      </a:pPr>
                      <a:r>
                        <a:rPr lang="es-CO" sz="1000" b="1" i="0" u="none" strike="noStrike">
                          <a:solidFill>
                            <a:srgbClr val="FFFFFF"/>
                          </a:solidFill>
                          <a:effectLst/>
                          <a:latin typeface="Calibri" panose="020F0502020204030204" pitchFamily="34" charset="0"/>
                        </a:rPr>
                        <a:t>GUIA ESPIRITUAL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4548314"/>
                  </a:ext>
                </a:extLst>
              </a:tr>
              <a:tr h="190500">
                <a:tc>
                  <a:txBody>
                    <a:bodyPr/>
                    <a:lstStyle/>
                    <a:p>
                      <a:pPr algn="ctr" rtl="0" fontAlgn="ctr">
                        <a:buNone/>
                      </a:pPr>
                      <a:r>
                        <a:rPr lang="es-CO" sz="1000" b="1" i="0" u="none" strike="noStrike">
                          <a:solidFill>
                            <a:srgbClr val="FFFFFF"/>
                          </a:solidFill>
                          <a:effectLst/>
                          <a:latin typeface="Calibri" panose="020F0502020204030204" pitchFamily="34" charset="0"/>
                        </a:rPr>
                        <a:t>TOTAL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18.474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2.833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2.099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23.406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54207146"/>
                  </a:ext>
                </a:extLst>
              </a:tr>
            </a:tbl>
          </a:graphicData>
        </a:graphic>
      </p:graphicFrame>
      <p:sp>
        <p:nvSpPr>
          <p:cNvPr id="4" name="CuadroTexto 3">
            <a:extLst>
              <a:ext uri="{FF2B5EF4-FFF2-40B4-BE49-F238E27FC236}">
                <a16:creationId xmlns:a16="http://schemas.microsoft.com/office/drawing/2014/main" id="{DBAC9AC0-DDB1-CD93-9635-C6D1F0273A30}"/>
              </a:ext>
            </a:extLst>
          </p:cNvPr>
          <p:cNvSpPr txBox="1"/>
          <p:nvPr/>
        </p:nvSpPr>
        <p:spPr>
          <a:xfrm>
            <a:off x="4276803" y="6470390"/>
            <a:ext cx="3638394" cy="276999"/>
          </a:xfrm>
          <a:prstGeom prst="rect">
            <a:avLst/>
          </a:prstGeom>
          <a:noFill/>
        </p:spPr>
        <p:txBody>
          <a:bodyPr wrap="square" lIns="91440" tIns="45720" rIns="91440" bIns="45720" anchor="t">
            <a:spAutoFit/>
          </a:bodyPr>
          <a:lstStyle/>
          <a:p>
            <a:r>
              <a:rPr lang="es-CO" sz="1200" b="1" i="1" noProof="0">
                <a:solidFill>
                  <a:schemeClr val="tx2"/>
                </a:solidFill>
              </a:rPr>
              <a:t>Fuente: </a:t>
            </a:r>
            <a:r>
              <a:rPr lang="es-CO" sz="1200" i="1" noProof="0" err="1">
                <a:solidFill>
                  <a:schemeClr val="tx2"/>
                </a:solidFill>
              </a:rPr>
              <a:t>kerberus</a:t>
            </a:r>
            <a:r>
              <a:rPr lang="es-CO" sz="1200" i="1" noProof="0">
                <a:solidFill>
                  <a:schemeClr val="tx2"/>
                </a:solidFill>
              </a:rPr>
              <a:t> INOOS </a:t>
            </a:r>
            <a:r>
              <a:rPr lang="es-CO" sz="1200" i="1">
                <a:solidFill>
                  <a:schemeClr val="tx2"/>
                </a:solidFill>
              </a:rPr>
              <a:t>Septiembre</a:t>
            </a:r>
            <a:r>
              <a:rPr lang="es-CO" sz="1200" i="1" noProof="0">
                <a:solidFill>
                  <a:schemeClr val="tx2"/>
                </a:solidFill>
              </a:rPr>
              <a:t> 2026</a:t>
            </a:r>
          </a:p>
        </p:txBody>
      </p:sp>
    </p:spTree>
    <p:extLst>
      <p:ext uri="{BB962C8B-B14F-4D97-AF65-F5344CB8AC3E}">
        <p14:creationId xmlns:p14="http://schemas.microsoft.com/office/powerpoint/2010/main" val="178327329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1FC64-B32F-52BC-A05A-CDCF8004EDF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D2BC8C9-501C-37F3-63FC-6F15B1C3F0DE}"/>
              </a:ext>
            </a:extLst>
          </p:cNvPr>
          <p:cNvSpPr>
            <a:spLocks noGrp="1"/>
          </p:cNvSpPr>
          <p:nvPr>
            <p:ph type="title"/>
          </p:nvPr>
        </p:nvSpPr>
        <p:spPr>
          <a:xfrm>
            <a:off x="1261945" y="1349830"/>
            <a:ext cx="7664341" cy="2484566"/>
          </a:xfrm>
        </p:spPr>
        <p:txBody>
          <a:bodyPr>
            <a:normAutofit/>
          </a:bodyPr>
          <a:lstStyle/>
          <a:p>
            <a:r>
              <a:rPr lang="es-CO" sz="8000" b="1" noProof="0"/>
              <a:t>Sanitas</a:t>
            </a:r>
          </a:p>
        </p:txBody>
      </p:sp>
      <p:sp>
        <p:nvSpPr>
          <p:cNvPr id="3" name="Marcador de texto 2">
            <a:extLst>
              <a:ext uri="{FF2B5EF4-FFF2-40B4-BE49-F238E27FC236}">
                <a16:creationId xmlns:a16="http://schemas.microsoft.com/office/drawing/2014/main" id="{34B8F34D-49D0-7803-4EC5-88B39D3055E7}"/>
              </a:ext>
            </a:extLst>
          </p:cNvPr>
          <p:cNvSpPr>
            <a:spLocks noGrp="1"/>
          </p:cNvSpPr>
          <p:nvPr>
            <p:ph type="body" idx="1"/>
          </p:nvPr>
        </p:nvSpPr>
        <p:spPr>
          <a:xfrm>
            <a:off x="1261945" y="3694695"/>
            <a:ext cx="3700346" cy="481128"/>
          </a:xfrm>
        </p:spPr>
        <p:txBody>
          <a:bodyPr vert="horz" lIns="91440" tIns="45720" rIns="91440" bIns="45720" rtlCol="0" anchor="t">
            <a:normAutofit/>
          </a:bodyPr>
          <a:lstStyle/>
          <a:p>
            <a:r>
              <a:rPr lang="es-CO" sz="2000" b="1" noProof="0"/>
              <a:t>Septiembre 2026</a:t>
            </a:r>
          </a:p>
          <a:p>
            <a:endParaRPr lang="es-CO" sz="2000" b="1" noProof="0"/>
          </a:p>
        </p:txBody>
      </p:sp>
    </p:spTree>
    <p:extLst>
      <p:ext uri="{BB962C8B-B14F-4D97-AF65-F5344CB8AC3E}">
        <p14:creationId xmlns:p14="http://schemas.microsoft.com/office/powerpoint/2010/main" val="3790711660"/>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29FD8-8452-F5F4-07A3-56D8D95D336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BE90A7C-EA98-D2FF-A48A-582348223378}"/>
              </a:ext>
            </a:extLst>
          </p:cNvPr>
          <p:cNvSpPr>
            <a:spLocks noGrp="1"/>
          </p:cNvSpPr>
          <p:nvPr>
            <p:ph type="ctrTitle"/>
          </p:nvPr>
        </p:nvSpPr>
        <p:spPr>
          <a:xfrm>
            <a:off x="273120" y="26882"/>
            <a:ext cx="11645759" cy="899007"/>
          </a:xfrm>
        </p:spPr>
        <p:txBody>
          <a:bodyPr>
            <a:normAutofit/>
          </a:bodyPr>
          <a:lstStyle/>
          <a:p>
            <a:r>
              <a:rPr lang="es-CO" noProof="0"/>
              <a:t>Historia de población Sanitas</a:t>
            </a:r>
          </a:p>
        </p:txBody>
      </p:sp>
      <p:sp>
        <p:nvSpPr>
          <p:cNvPr id="6" name="CuadroTexto 5">
            <a:extLst>
              <a:ext uri="{FF2B5EF4-FFF2-40B4-BE49-F238E27FC236}">
                <a16:creationId xmlns:a16="http://schemas.microsoft.com/office/drawing/2014/main" id="{9E603ED6-064A-C9CC-6AF5-D440B50C01EE}"/>
              </a:ext>
            </a:extLst>
          </p:cNvPr>
          <p:cNvSpPr txBox="1"/>
          <p:nvPr/>
        </p:nvSpPr>
        <p:spPr>
          <a:xfrm>
            <a:off x="770709" y="4986771"/>
            <a:ext cx="10488694" cy="923330"/>
          </a:xfrm>
          <a:prstGeom prst="rect">
            <a:avLst/>
          </a:prstGeom>
          <a:noFill/>
        </p:spPr>
        <p:txBody>
          <a:bodyPr wrap="square" rtlCol="0">
            <a:spAutoFit/>
          </a:bodyPr>
          <a:lstStyle/>
          <a:p>
            <a:r>
              <a:rPr lang="es-CO" noProof="0"/>
              <a:t>Durante Ene- </a:t>
            </a:r>
            <a:r>
              <a:rPr lang="es-CO" noProof="0" err="1"/>
              <a:t>Sep</a:t>
            </a:r>
            <a:r>
              <a:rPr lang="es-CO" noProof="0"/>
              <a:t> de 2026 el 47% de los ingresos son de </a:t>
            </a:r>
            <a:r>
              <a:rPr lang="es-CO" noProof="0" err="1"/>
              <a:t>novo</a:t>
            </a:r>
            <a:r>
              <a:rPr lang="es-CO" noProof="0"/>
              <a:t> diagnósticos del mismo mes del ingreso y se concentraron principalmente en cáncer de piel, representando el 45%, seguido de </a:t>
            </a:r>
            <a:r>
              <a:rPr lang="es-CO" noProof="0" err="1"/>
              <a:t>Prostata</a:t>
            </a:r>
            <a:r>
              <a:rPr lang="es-CO" noProof="0"/>
              <a:t> (11 %) y mama (10 %)</a:t>
            </a:r>
          </a:p>
        </p:txBody>
      </p:sp>
      <p:sp>
        <p:nvSpPr>
          <p:cNvPr id="3" name="CuadroTexto 2">
            <a:extLst>
              <a:ext uri="{FF2B5EF4-FFF2-40B4-BE49-F238E27FC236}">
                <a16:creationId xmlns:a16="http://schemas.microsoft.com/office/drawing/2014/main" id="{1B3453B4-D471-6977-6D25-838DDB28D343}"/>
              </a:ext>
            </a:extLst>
          </p:cNvPr>
          <p:cNvSpPr txBox="1"/>
          <p:nvPr/>
        </p:nvSpPr>
        <p:spPr>
          <a:xfrm>
            <a:off x="9932772" y="881439"/>
            <a:ext cx="1842400" cy="430887"/>
          </a:xfrm>
          <a:prstGeom prst="rect">
            <a:avLst/>
          </a:prstGeom>
          <a:noFill/>
        </p:spPr>
        <p:txBody>
          <a:bodyPr wrap="square" rtlCol="0">
            <a:spAutoFit/>
          </a:bodyPr>
          <a:lstStyle/>
          <a:p>
            <a:r>
              <a:rPr lang="es-CO" sz="1100" noProof="0"/>
              <a:t>Población Sanitas:   </a:t>
            </a:r>
          </a:p>
          <a:p>
            <a:r>
              <a:rPr lang="es-CO" sz="1100" noProof="0"/>
              <a:t>        90,503</a:t>
            </a:r>
          </a:p>
        </p:txBody>
      </p:sp>
      <p:graphicFrame>
        <p:nvGraphicFramePr>
          <p:cNvPr id="5" name="Gráfico 4">
            <a:extLst>
              <a:ext uri="{FF2B5EF4-FFF2-40B4-BE49-F238E27FC236}">
                <a16:creationId xmlns:a16="http://schemas.microsoft.com/office/drawing/2014/main" id="{A08249D3-584A-1A32-B63F-663F4A09357C}"/>
              </a:ext>
            </a:extLst>
          </p:cNvPr>
          <p:cNvGraphicFramePr>
            <a:graphicFrameLocks/>
          </p:cNvGraphicFramePr>
          <p:nvPr>
            <p:extLst>
              <p:ext uri="{D42A27DB-BD31-4B8C-83A1-F6EECF244321}">
                <p14:modId xmlns:p14="http://schemas.microsoft.com/office/powerpoint/2010/main" val="3749636014"/>
              </p:ext>
            </p:extLst>
          </p:nvPr>
        </p:nvGraphicFramePr>
        <p:xfrm>
          <a:off x="770709" y="1312326"/>
          <a:ext cx="10123714" cy="3488274"/>
        </p:xfrm>
        <a:graphic>
          <a:graphicData uri="http://schemas.openxmlformats.org/drawingml/2006/chart">
            <c:chart xmlns:c="http://schemas.openxmlformats.org/drawingml/2006/chart" xmlns:r="http://schemas.openxmlformats.org/officeDocument/2006/relationships" r:id="rId3"/>
          </a:graphicData>
        </a:graphic>
      </p:graphicFrame>
      <p:sp>
        <p:nvSpPr>
          <p:cNvPr id="7" name="CuadroTexto 6">
            <a:extLst>
              <a:ext uri="{FF2B5EF4-FFF2-40B4-BE49-F238E27FC236}">
                <a16:creationId xmlns:a16="http://schemas.microsoft.com/office/drawing/2014/main" id="{4D048C4B-8D37-5C0C-64D9-860C3F514649}"/>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a:t>
            </a:r>
            <a:r>
              <a:rPr lang="es-CO" sz="1200" i="1">
                <a:solidFill>
                  <a:schemeClr val="tx2"/>
                </a:solidFill>
              </a:rPr>
              <a:t>Septiembre</a:t>
            </a:r>
            <a:r>
              <a:rPr lang="es-CO" sz="1200" i="1" noProof="0">
                <a:solidFill>
                  <a:schemeClr val="tx2"/>
                </a:solidFill>
              </a:rPr>
              <a:t> 2026</a:t>
            </a:r>
          </a:p>
        </p:txBody>
      </p:sp>
    </p:spTree>
    <p:extLst>
      <p:ext uri="{BB962C8B-B14F-4D97-AF65-F5344CB8AC3E}">
        <p14:creationId xmlns:p14="http://schemas.microsoft.com/office/powerpoint/2010/main" val="40914404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10B71-A5EF-6CDB-D7E5-12EA1A00A27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70FD80F-5A0C-8BDB-4373-BDF6824D28E3}"/>
              </a:ext>
            </a:extLst>
          </p:cNvPr>
          <p:cNvSpPr>
            <a:spLocks noGrp="1"/>
          </p:cNvSpPr>
          <p:nvPr>
            <p:ph type="ctrTitle"/>
          </p:nvPr>
        </p:nvSpPr>
        <p:spPr>
          <a:xfrm>
            <a:off x="273120" y="26882"/>
            <a:ext cx="11645759" cy="899007"/>
          </a:xfrm>
        </p:spPr>
        <p:txBody>
          <a:bodyPr>
            <a:normAutofit/>
          </a:bodyPr>
          <a:lstStyle/>
          <a:p>
            <a:r>
              <a:rPr lang="es-CO" noProof="0"/>
              <a:t>Historia de población Sanitas</a:t>
            </a:r>
          </a:p>
        </p:txBody>
      </p:sp>
      <p:graphicFrame>
        <p:nvGraphicFramePr>
          <p:cNvPr id="4" name="Diagrama 3">
            <a:extLst>
              <a:ext uri="{FF2B5EF4-FFF2-40B4-BE49-F238E27FC236}">
                <a16:creationId xmlns:a16="http://schemas.microsoft.com/office/drawing/2014/main" id="{74E77E38-04FD-393E-F8CD-4DF28F4D718A}"/>
              </a:ext>
            </a:extLst>
          </p:cNvPr>
          <p:cNvGraphicFramePr/>
          <p:nvPr>
            <p:extLst>
              <p:ext uri="{D42A27DB-BD31-4B8C-83A1-F6EECF244321}">
                <p14:modId xmlns:p14="http://schemas.microsoft.com/office/powerpoint/2010/main" val="3101543475"/>
              </p:ext>
            </p:extLst>
          </p:nvPr>
        </p:nvGraphicFramePr>
        <p:xfrm>
          <a:off x="1804772" y="922943"/>
          <a:ext cx="8128000" cy="27093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CuadroTexto 5">
            <a:extLst>
              <a:ext uri="{FF2B5EF4-FFF2-40B4-BE49-F238E27FC236}">
                <a16:creationId xmlns:a16="http://schemas.microsoft.com/office/drawing/2014/main" id="{B84744FD-131A-8D13-BDB9-252BC34BA81F}"/>
              </a:ext>
            </a:extLst>
          </p:cNvPr>
          <p:cNvSpPr txBox="1"/>
          <p:nvPr/>
        </p:nvSpPr>
        <p:spPr>
          <a:xfrm>
            <a:off x="444144" y="5309937"/>
            <a:ext cx="11474735" cy="369332"/>
          </a:xfrm>
          <a:prstGeom prst="rect">
            <a:avLst/>
          </a:prstGeom>
          <a:noFill/>
        </p:spPr>
        <p:txBody>
          <a:bodyPr wrap="square" rtlCol="0">
            <a:spAutoFit/>
          </a:bodyPr>
          <a:lstStyle/>
          <a:p>
            <a:r>
              <a:rPr lang="es-CO" b="1" noProof="0"/>
              <a:t>*Incidentes por fecha de diagnóstico</a:t>
            </a:r>
          </a:p>
        </p:txBody>
      </p:sp>
      <p:graphicFrame>
        <p:nvGraphicFramePr>
          <p:cNvPr id="7" name="Gráfico 6">
            <a:extLst>
              <a:ext uri="{FF2B5EF4-FFF2-40B4-BE49-F238E27FC236}">
                <a16:creationId xmlns:a16="http://schemas.microsoft.com/office/drawing/2014/main" id="{39884ECB-8357-BEB9-7D81-5D844C8336D7}"/>
              </a:ext>
            </a:extLst>
          </p:cNvPr>
          <p:cNvGraphicFramePr/>
          <p:nvPr>
            <p:extLst>
              <p:ext uri="{D42A27DB-BD31-4B8C-83A1-F6EECF244321}">
                <p14:modId xmlns:p14="http://schemas.microsoft.com/office/powerpoint/2010/main" val="3197636684"/>
              </p:ext>
            </p:extLst>
          </p:nvPr>
        </p:nvGraphicFramePr>
        <p:xfrm>
          <a:off x="444144" y="2079765"/>
          <a:ext cx="11645759" cy="3230172"/>
        </p:xfrm>
        <a:graphic>
          <a:graphicData uri="http://schemas.openxmlformats.org/drawingml/2006/chart">
            <c:chart xmlns:c="http://schemas.openxmlformats.org/drawingml/2006/chart" xmlns:r="http://schemas.openxmlformats.org/officeDocument/2006/relationships" r:id="rId8"/>
          </a:graphicData>
        </a:graphic>
      </p:graphicFrame>
      <p:sp>
        <p:nvSpPr>
          <p:cNvPr id="3" name="CuadroTexto 2">
            <a:extLst>
              <a:ext uri="{FF2B5EF4-FFF2-40B4-BE49-F238E27FC236}">
                <a16:creationId xmlns:a16="http://schemas.microsoft.com/office/drawing/2014/main" id="{8739DE42-46EA-DEA9-F3CB-924B25C7E7B6}"/>
              </a:ext>
            </a:extLst>
          </p:cNvPr>
          <p:cNvSpPr txBox="1"/>
          <p:nvPr/>
        </p:nvSpPr>
        <p:spPr>
          <a:xfrm>
            <a:off x="9932772" y="881439"/>
            <a:ext cx="1842400" cy="430887"/>
          </a:xfrm>
          <a:prstGeom prst="rect">
            <a:avLst/>
          </a:prstGeom>
          <a:noFill/>
        </p:spPr>
        <p:txBody>
          <a:bodyPr wrap="square" rtlCol="0">
            <a:spAutoFit/>
          </a:bodyPr>
          <a:lstStyle/>
          <a:p>
            <a:r>
              <a:rPr lang="es-CO" sz="1100" noProof="0"/>
              <a:t>Población Sanitas:   </a:t>
            </a:r>
          </a:p>
          <a:p>
            <a:r>
              <a:rPr lang="es-CO" sz="1100" noProof="0"/>
              <a:t>        90,503</a:t>
            </a:r>
          </a:p>
        </p:txBody>
      </p:sp>
      <p:sp>
        <p:nvSpPr>
          <p:cNvPr id="8" name="CuadroTexto 7">
            <a:extLst>
              <a:ext uri="{FF2B5EF4-FFF2-40B4-BE49-F238E27FC236}">
                <a16:creationId xmlns:a16="http://schemas.microsoft.com/office/drawing/2014/main" id="{726EFE54-4AB8-C03F-C475-E39F7AE87C17}"/>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Septiembre 2026</a:t>
            </a:r>
          </a:p>
        </p:txBody>
      </p:sp>
    </p:spTree>
    <p:extLst>
      <p:ext uri="{BB962C8B-B14F-4D97-AF65-F5344CB8AC3E}">
        <p14:creationId xmlns:p14="http://schemas.microsoft.com/office/powerpoint/2010/main" val="78696778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95943-11BB-BAFA-70E8-027A49411DB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7187E35-7641-7CA6-CE12-4C2F94353D26}"/>
              </a:ext>
            </a:extLst>
          </p:cNvPr>
          <p:cNvSpPr>
            <a:spLocks noGrp="1"/>
          </p:cNvSpPr>
          <p:nvPr>
            <p:ph type="ctrTitle"/>
          </p:nvPr>
        </p:nvSpPr>
        <p:spPr>
          <a:xfrm>
            <a:off x="273120" y="26882"/>
            <a:ext cx="11645759" cy="899007"/>
          </a:xfrm>
        </p:spPr>
        <p:txBody>
          <a:bodyPr>
            <a:normAutofit/>
          </a:bodyPr>
          <a:lstStyle/>
          <a:p>
            <a:r>
              <a:rPr lang="es-CO" noProof="0"/>
              <a:t>Historia de población Sanitas</a:t>
            </a:r>
          </a:p>
        </p:txBody>
      </p:sp>
      <p:sp>
        <p:nvSpPr>
          <p:cNvPr id="3" name="CuadroTexto 2">
            <a:extLst>
              <a:ext uri="{FF2B5EF4-FFF2-40B4-BE49-F238E27FC236}">
                <a16:creationId xmlns:a16="http://schemas.microsoft.com/office/drawing/2014/main" id="{93FCCD27-46DE-6229-10B6-719B3037242C}"/>
              </a:ext>
            </a:extLst>
          </p:cNvPr>
          <p:cNvSpPr txBox="1"/>
          <p:nvPr/>
        </p:nvSpPr>
        <p:spPr>
          <a:xfrm>
            <a:off x="9932772" y="881439"/>
            <a:ext cx="1842400" cy="430887"/>
          </a:xfrm>
          <a:prstGeom prst="rect">
            <a:avLst/>
          </a:prstGeom>
          <a:noFill/>
        </p:spPr>
        <p:txBody>
          <a:bodyPr wrap="square" rtlCol="0">
            <a:spAutoFit/>
          </a:bodyPr>
          <a:lstStyle/>
          <a:p>
            <a:r>
              <a:rPr lang="es-CO" sz="1100" noProof="0"/>
              <a:t>Población Sanitas:   </a:t>
            </a:r>
          </a:p>
          <a:p>
            <a:r>
              <a:rPr lang="es-CO" sz="1100" noProof="0"/>
              <a:t>        90,503</a:t>
            </a:r>
          </a:p>
        </p:txBody>
      </p:sp>
      <p:graphicFrame>
        <p:nvGraphicFramePr>
          <p:cNvPr id="7" name="Gráfico 6">
            <a:extLst>
              <a:ext uri="{FF2B5EF4-FFF2-40B4-BE49-F238E27FC236}">
                <a16:creationId xmlns:a16="http://schemas.microsoft.com/office/drawing/2014/main" id="{A51F0C85-7009-DA86-ACEF-EC18F2086F23}"/>
              </a:ext>
            </a:extLst>
          </p:cNvPr>
          <p:cNvGraphicFramePr>
            <a:graphicFrameLocks/>
          </p:cNvGraphicFramePr>
          <p:nvPr>
            <p:extLst>
              <p:ext uri="{D42A27DB-BD31-4B8C-83A1-F6EECF244321}">
                <p14:modId xmlns:p14="http://schemas.microsoft.com/office/powerpoint/2010/main" val="2727279694"/>
              </p:ext>
            </p:extLst>
          </p:nvPr>
        </p:nvGraphicFramePr>
        <p:xfrm>
          <a:off x="779489" y="1312327"/>
          <a:ext cx="10777927" cy="5153278"/>
        </p:xfrm>
        <a:graphic>
          <a:graphicData uri="http://schemas.openxmlformats.org/drawingml/2006/chart">
            <c:chart xmlns:c="http://schemas.openxmlformats.org/drawingml/2006/chart" xmlns:r="http://schemas.openxmlformats.org/officeDocument/2006/relationships" r:id="rId3"/>
          </a:graphicData>
        </a:graphic>
      </p:graphicFrame>
      <p:sp>
        <p:nvSpPr>
          <p:cNvPr id="4" name="CuadroTexto 3">
            <a:extLst>
              <a:ext uri="{FF2B5EF4-FFF2-40B4-BE49-F238E27FC236}">
                <a16:creationId xmlns:a16="http://schemas.microsoft.com/office/drawing/2014/main" id="{251EC632-FC5A-D6A1-0AAD-9BCA26EA3E79}"/>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a:t>
            </a:r>
            <a:r>
              <a:rPr lang="es-CO" sz="1200" i="1">
                <a:solidFill>
                  <a:schemeClr val="tx2"/>
                </a:solidFill>
              </a:rPr>
              <a:t>Septiembre</a:t>
            </a:r>
            <a:r>
              <a:rPr lang="es-CO" sz="1200" i="1" noProof="0">
                <a:solidFill>
                  <a:schemeClr val="tx2"/>
                </a:solidFill>
              </a:rPr>
              <a:t> 2026</a:t>
            </a:r>
          </a:p>
        </p:txBody>
      </p:sp>
    </p:spTree>
    <p:extLst>
      <p:ext uri="{BB962C8B-B14F-4D97-AF65-F5344CB8AC3E}">
        <p14:creationId xmlns:p14="http://schemas.microsoft.com/office/powerpoint/2010/main" val="60077858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A403A-9CE4-408B-9D51-E71E0EC3693B}"/>
            </a:ext>
          </a:extLst>
        </p:cNvPr>
        <p:cNvGrpSpPr/>
        <p:nvPr/>
      </p:nvGrpSpPr>
      <p:grpSpPr>
        <a:xfrm>
          <a:off x="0" y="0"/>
          <a:ext cx="0" cy="0"/>
          <a:chOff x="0" y="0"/>
          <a:chExt cx="0" cy="0"/>
        </a:xfrm>
      </p:grpSpPr>
      <p:sp>
        <p:nvSpPr>
          <p:cNvPr id="7" name="Título 1">
            <a:extLst>
              <a:ext uri="{FF2B5EF4-FFF2-40B4-BE49-F238E27FC236}">
                <a16:creationId xmlns:a16="http://schemas.microsoft.com/office/drawing/2014/main" id="{D035F2DF-B9A5-E1A4-F10D-3A93A2E256D1}"/>
              </a:ext>
            </a:extLst>
          </p:cNvPr>
          <p:cNvSpPr>
            <a:spLocks noGrp="1"/>
          </p:cNvSpPr>
          <p:nvPr/>
        </p:nvSpPr>
        <p:spPr>
          <a:xfrm>
            <a:off x="461735" y="0"/>
            <a:ext cx="11268529" cy="831358"/>
          </a:xfrm>
          <a:prstGeom prst="rect">
            <a:avLst/>
          </a:prstGeom>
        </p:spPr>
        <p:txBody>
          <a:bodyPr vert="horz" lIns="91440" tIns="45720" rIns="91440" bIns="45720" rtlCol="0" anchor="b">
            <a:normAutofit/>
          </a:bodyPr>
          <a:lstStyle>
            <a:lvl1pPr marL="0" indent="0" algn="ctr" defTabSz="914400" rtl="0" eaLnBrk="1" latinLnBrk="0" hangingPunct="1">
              <a:lnSpc>
                <a:spcPct val="90000"/>
              </a:lnSpc>
              <a:spcBef>
                <a:spcPct val="0"/>
              </a:spcBef>
              <a:buNone/>
              <a:defRPr lang="es-CO" sz="4400" b="1" kern="1200" dirty="0">
                <a:solidFill>
                  <a:schemeClr val="tx1"/>
                </a:solidFill>
                <a:latin typeface="+mj-lt"/>
                <a:ea typeface="+mj-ea"/>
                <a:cs typeface="+mj-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s-CO" noProof="0"/>
              <a:t>Distribución de la Cohorte Total Sanitas 2026</a:t>
            </a:r>
          </a:p>
        </p:txBody>
      </p:sp>
      <p:sp>
        <p:nvSpPr>
          <p:cNvPr id="2" name="CuadroTexto 1">
            <a:extLst>
              <a:ext uri="{FF2B5EF4-FFF2-40B4-BE49-F238E27FC236}">
                <a16:creationId xmlns:a16="http://schemas.microsoft.com/office/drawing/2014/main" id="{1D04565D-0F69-6A92-71FC-1C609EF1CE8C}"/>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Septiembre 2026</a:t>
            </a:r>
          </a:p>
        </p:txBody>
      </p:sp>
      <p:graphicFrame>
        <p:nvGraphicFramePr>
          <p:cNvPr id="3" name="Gráfico 2">
            <a:extLst>
              <a:ext uri="{FF2B5EF4-FFF2-40B4-BE49-F238E27FC236}">
                <a16:creationId xmlns:a16="http://schemas.microsoft.com/office/drawing/2014/main" id="{26E04DF1-A810-092D-ADB9-619EAF25736B}"/>
              </a:ext>
            </a:extLst>
          </p:cNvPr>
          <p:cNvGraphicFramePr>
            <a:graphicFrameLocks/>
          </p:cNvGraphicFramePr>
          <p:nvPr>
            <p:extLst>
              <p:ext uri="{D42A27DB-BD31-4B8C-83A1-F6EECF244321}">
                <p14:modId xmlns:p14="http://schemas.microsoft.com/office/powerpoint/2010/main" val="2881301789"/>
              </p:ext>
            </p:extLst>
          </p:nvPr>
        </p:nvGraphicFramePr>
        <p:xfrm>
          <a:off x="461735" y="1094281"/>
          <a:ext cx="11395485" cy="517160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176042076"/>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AEE7BF9D-DE93-CE01-349C-5F04D5D54229}"/>
              </a:ext>
            </a:extLst>
          </p:cNvPr>
          <p:cNvSpPr>
            <a:spLocks noGrp="1"/>
          </p:cNvSpPr>
          <p:nvPr>
            <p:ph type="ctrTitle"/>
          </p:nvPr>
        </p:nvSpPr>
        <p:spPr>
          <a:xfrm>
            <a:off x="273120" y="174591"/>
            <a:ext cx="11645759" cy="598709"/>
          </a:xfrm>
        </p:spPr>
        <p:txBody>
          <a:bodyPr>
            <a:noAutofit/>
          </a:bodyPr>
          <a:lstStyle/>
          <a:p>
            <a:r>
              <a:rPr lang="es-CO" noProof="0"/>
              <a:t>Distribución por tipo de cáncer </a:t>
            </a:r>
            <a:r>
              <a:rPr lang="es-CO" u="sng" noProof="0"/>
              <a:t>priorizado</a:t>
            </a:r>
            <a:r>
              <a:rPr lang="es-CO" noProof="0"/>
              <a:t> Sanitas</a:t>
            </a:r>
          </a:p>
        </p:txBody>
      </p:sp>
      <p:sp>
        <p:nvSpPr>
          <p:cNvPr id="2" name="CuadroTexto 1">
            <a:extLst>
              <a:ext uri="{FF2B5EF4-FFF2-40B4-BE49-F238E27FC236}">
                <a16:creationId xmlns:a16="http://schemas.microsoft.com/office/drawing/2014/main" id="{945FA123-1632-4667-8222-F086B1F555E7}"/>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Septiembre 2026</a:t>
            </a:r>
          </a:p>
        </p:txBody>
      </p:sp>
      <p:graphicFrame>
        <p:nvGraphicFramePr>
          <p:cNvPr id="5" name="Gráfico 4">
            <a:extLst>
              <a:ext uri="{FF2B5EF4-FFF2-40B4-BE49-F238E27FC236}">
                <a16:creationId xmlns:a16="http://schemas.microsoft.com/office/drawing/2014/main" id="{1F67E838-8DEA-A272-E4F3-CB600C8E044C}"/>
              </a:ext>
            </a:extLst>
          </p:cNvPr>
          <p:cNvGraphicFramePr>
            <a:graphicFrameLocks/>
          </p:cNvGraphicFramePr>
          <p:nvPr>
            <p:extLst>
              <p:ext uri="{D42A27DB-BD31-4B8C-83A1-F6EECF244321}">
                <p14:modId xmlns:p14="http://schemas.microsoft.com/office/powerpoint/2010/main" val="3628482854"/>
              </p:ext>
            </p:extLst>
          </p:nvPr>
        </p:nvGraphicFramePr>
        <p:xfrm>
          <a:off x="629587" y="3661348"/>
          <a:ext cx="11137691"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Gráfico 5">
            <a:extLst>
              <a:ext uri="{FF2B5EF4-FFF2-40B4-BE49-F238E27FC236}">
                <a16:creationId xmlns:a16="http://schemas.microsoft.com/office/drawing/2014/main" id="{A6CC091E-51F9-71CF-CBD7-B2C823367F85}"/>
              </a:ext>
            </a:extLst>
          </p:cNvPr>
          <p:cNvGraphicFramePr>
            <a:graphicFrameLocks/>
          </p:cNvGraphicFramePr>
          <p:nvPr>
            <p:extLst>
              <p:ext uri="{D42A27DB-BD31-4B8C-83A1-F6EECF244321}">
                <p14:modId xmlns:p14="http://schemas.microsoft.com/office/powerpoint/2010/main" val="3436193408"/>
              </p:ext>
            </p:extLst>
          </p:nvPr>
        </p:nvGraphicFramePr>
        <p:xfrm>
          <a:off x="629587" y="773300"/>
          <a:ext cx="1098779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56128909"/>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30529D67-E062-AADA-076F-ABD59CF4E37E}"/>
              </a:ext>
            </a:extLst>
          </p:cNvPr>
          <p:cNvSpPr>
            <a:spLocks noGrp="1"/>
          </p:cNvSpPr>
          <p:nvPr>
            <p:ph type="ctrTitle"/>
          </p:nvPr>
        </p:nvSpPr>
        <p:spPr>
          <a:xfrm>
            <a:off x="273120" y="46892"/>
            <a:ext cx="11645759" cy="598709"/>
          </a:xfrm>
        </p:spPr>
        <p:txBody>
          <a:bodyPr>
            <a:noAutofit/>
          </a:bodyPr>
          <a:lstStyle/>
          <a:p>
            <a:r>
              <a:rPr lang="es-CO" sz="3600" noProof="0"/>
              <a:t>Distribución por tipo de cáncer NO </a:t>
            </a:r>
            <a:r>
              <a:rPr lang="es-CO" sz="3600" u="sng" noProof="0"/>
              <a:t>priorizado</a:t>
            </a:r>
            <a:r>
              <a:rPr lang="es-CO" sz="3600" noProof="0"/>
              <a:t> Sanitas</a:t>
            </a:r>
          </a:p>
        </p:txBody>
      </p:sp>
      <p:graphicFrame>
        <p:nvGraphicFramePr>
          <p:cNvPr id="2" name="Gráfico 1">
            <a:extLst>
              <a:ext uri="{FF2B5EF4-FFF2-40B4-BE49-F238E27FC236}">
                <a16:creationId xmlns:a16="http://schemas.microsoft.com/office/drawing/2014/main" id="{BC83576D-8633-9EBE-E6D2-7B6C8FF016FC}"/>
              </a:ext>
            </a:extLst>
          </p:cNvPr>
          <p:cNvGraphicFramePr>
            <a:graphicFrameLocks/>
          </p:cNvGraphicFramePr>
          <p:nvPr>
            <p:extLst>
              <p:ext uri="{D42A27DB-BD31-4B8C-83A1-F6EECF244321}">
                <p14:modId xmlns:p14="http://schemas.microsoft.com/office/powerpoint/2010/main" val="4120836592"/>
              </p:ext>
            </p:extLst>
          </p:nvPr>
        </p:nvGraphicFramePr>
        <p:xfrm>
          <a:off x="433137" y="3721240"/>
          <a:ext cx="10881309"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Gráfico 2">
            <a:extLst>
              <a:ext uri="{FF2B5EF4-FFF2-40B4-BE49-F238E27FC236}">
                <a16:creationId xmlns:a16="http://schemas.microsoft.com/office/drawing/2014/main" id="{71E6D6DF-9B92-D0F1-BBAF-60E60A5C6BC6}"/>
              </a:ext>
            </a:extLst>
          </p:cNvPr>
          <p:cNvGraphicFramePr>
            <a:graphicFrameLocks/>
          </p:cNvGraphicFramePr>
          <p:nvPr>
            <p:extLst>
              <p:ext uri="{D42A27DB-BD31-4B8C-83A1-F6EECF244321}">
                <p14:modId xmlns:p14="http://schemas.microsoft.com/office/powerpoint/2010/main" val="2398340696"/>
              </p:ext>
            </p:extLst>
          </p:nvPr>
        </p:nvGraphicFramePr>
        <p:xfrm>
          <a:off x="273120" y="867227"/>
          <a:ext cx="11453659"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5" name="CuadroTexto 4">
            <a:extLst>
              <a:ext uri="{FF2B5EF4-FFF2-40B4-BE49-F238E27FC236}">
                <a16:creationId xmlns:a16="http://schemas.microsoft.com/office/drawing/2014/main" id="{BA889154-4A47-48CD-78B2-E0E9B907AA76}"/>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Septiembre 2026</a:t>
            </a:r>
          </a:p>
        </p:txBody>
      </p:sp>
    </p:spTree>
    <p:extLst>
      <p:ext uri="{BB962C8B-B14F-4D97-AF65-F5344CB8AC3E}">
        <p14:creationId xmlns:p14="http://schemas.microsoft.com/office/powerpoint/2010/main" val="3831153175"/>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150D4-69D6-7CEF-CA60-2CE5BC799270}"/>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E11B49BB-EDF9-B061-D6AC-74F5F6FF8FBB}"/>
              </a:ext>
            </a:extLst>
          </p:cNvPr>
          <p:cNvSpPr>
            <a:spLocks noGrp="1"/>
          </p:cNvSpPr>
          <p:nvPr>
            <p:ph type="ctrTitle"/>
          </p:nvPr>
        </p:nvSpPr>
        <p:spPr>
          <a:xfrm>
            <a:off x="273120" y="0"/>
            <a:ext cx="11645759" cy="786278"/>
          </a:xfrm>
        </p:spPr>
        <p:txBody>
          <a:bodyPr/>
          <a:lstStyle/>
          <a:p>
            <a:r>
              <a:rPr lang="es-CO" noProof="0"/>
              <a:t>Oportunidades 2025/2026</a:t>
            </a:r>
          </a:p>
        </p:txBody>
      </p:sp>
      <p:graphicFrame>
        <p:nvGraphicFramePr>
          <p:cNvPr id="7" name="Gráfico 6">
            <a:extLst>
              <a:ext uri="{FF2B5EF4-FFF2-40B4-BE49-F238E27FC236}">
                <a16:creationId xmlns:a16="http://schemas.microsoft.com/office/drawing/2014/main" id="{772F8551-1889-A437-C34B-9F0998A3BE43}"/>
              </a:ext>
            </a:extLst>
          </p:cNvPr>
          <p:cNvGraphicFramePr/>
          <p:nvPr>
            <p:extLst>
              <p:ext uri="{D42A27DB-BD31-4B8C-83A1-F6EECF244321}">
                <p14:modId xmlns:p14="http://schemas.microsoft.com/office/powerpoint/2010/main" val="617490758"/>
              </p:ext>
            </p:extLst>
          </p:nvPr>
        </p:nvGraphicFramePr>
        <p:xfrm>
          <a:off x="3164231" y="771413"/>
          <a:ext cx="5760000" cy="28427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Gráfico 8">
            <a:extLst>
              <a:ext uri="{FF2B5EF4-FFF2-40B4-BE49-F238E27FC236}">
                <a16:creationId xmlns:a16="http://schemas.microsoft.com/office/drawing/2014/main" id="{DF1783FE-99B6-1C0A-E56A-3C9034CD95F7}"/>
              </a:ext>
            </a:extLst>
          </p:cNvPr>
          <p:cNvGraphicFramePr/>
          <p:nvPr>
            <p:extLst>
              <p:ext uri="{D42A27DB-BD31-4B8C-83A1-F6EECF244321}">
                <p14:modId xmlns:p14="http://schemas.microsoft.com/office/powerpoint/2010/main" val="1810548091"/>
              </p:ext>
            </p:extLst>
          </p:nvPr>
        </p:nvGraphicFramePr>
        <p:xfrm>
          <a:off x="284231" y="3718747"/>
          <a:ext cx="5760000" cy="264939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Gráfico 9">
            <a:extLst>
              <a:ext uri="{FF2B5EF4-FFF2-40B4-BE49-F238E27FC236}">
                <a16:creationId xmlns:a16="http://schemas.microsoft.com/office/drawing/2014/main" id="{11556C3B-632D-B0DE-4278-A2A96A2D0EAD}"/>
              </a:ext>
            </a:extLst>
          </p:cNvPr>
          <p:cNvGraphicFramePr/>
          <p:nvPr>
            <p:extLst>
              <p:ext uri="{D42A27DB-BD31-4B8C-83A1-F6EECF244321}">
                <p14:modId xmlns:p14="http://schemas.microsoft.com/office/powerpoint/2010/main" val="3331910925"/>
              </p:ext>
            </p:extLst>
          </p:nvPr>
        </p:nvGraphicFramePr>
        <p:xfrm>
          <a:off x="6221759" y="3718747"/>
          <a:ext cx="5760000" cy="2649396"/>
        </p:xfrm>
        <a:graphic>
          <a:graphicData uri="http://schemas.openxmlformats.org/drawingml/2006/chart">
            <c:chart xmlns:c="http://schemas.openxmlformats.org/drawingml/2006/chart" xmlns:r="http://schemas.openxmlformats.org/officeDocument/2006/relationships" r:id="rId5"/>
          </a:graphicData>
        </a:graphic>
      </p:graphicFrame>
      <p:sp>
        <p:nvSpPr>
          <p:cNvPr id="2" name="CuadroTexto 1">
            <a:extLst>
              <a:ext uri="{FF2B5EF4-FFF2-40B4-BE49-F238E27FC236}">
                <a16:creationId xmlns:a16="http://schemas.microsoft.com/office/drawing/2014/main" id="{2388347B-4C2C-F963-1DB3-701F03180061}"/>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Septiembre 2026</a:t>
            </a:r>
          </a:p>
        </p:txBody>
      </p:sp>
    </p:spTree>
    <p:extLst>
      <p:ext uri="{BB962C8B-B14F-4D97-AF65-F5344CB8AC3E}">
        <p14:creationId xmlns:p14="http://schemas.microsoft.com/office/powerpoint/2010/main" val="381556214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97FF9-2623-CB75-5B72-7547A54E7CD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5D70D79-9331-9615-A247-C38BE04F0A12}"/>
              </a:ext>
            </a:extLst>
          </p:cNvPr>
          <p:cNvSpPr>
            <a:spLocks noGrp="1"/>
          </p:cNvSpPr>
          <p:nvPr>
            <p:ph type="ctrTitle"/>
          </p:nvPr>
        </p:nvSpPr>
        <p:spPr>
          <a:xfrm>
            <a:off x="273120" y="0"/>
            <a:ext cx="11645759" cy="786278"/>
          </a:xfrm>
        </p:spPr>
        <p:txBody>
          <a:bodyPr/>
          <a:lstStyle/>
          <a:p>
            <a:r>
              <a:rPr lang="es-CO" noProof="0"/>
              <a:t>Oportunidades inicio de tratamientos 2025/2026</a:t>
            </a:r>
          </a:p>
        </p:txBody>
      </p:sp>
      <p:graphicFrame>
        <p:nvGraphicFramePr>
          <p:cNvPr id="6" name="Gráfico 5">
            <a:extLst>
              <a:ext uri="{FF2B5EF4-FFF2-40B4-BE49-F238E27FC236}">
                <a16:creationId xmlns:a16="http://schemas.microsoft.com/office/drawing/2014/main" id="{079888E8-DEC3-84F8-44FD-D3A142457CF0}"/>
              </a:ext>
            </a:extLst>
          </p:cNvPr>
          <p:cNvGraphicFramePr/>
          <p:nvPr>
            <p:extLst>
              <p:ext uri="{D42A27DB-BD31-4B8C-83A1-F6EECF244321}">
                <p14:modId xmlns:p14="http://schemas.microsoft.com/office/powerpoint/2010/main" val="2900139323"/>
              </p:ext>
            </p:extLst>
          </p:nvPr>
        </p:nvGraphicFramePr>
        <p:xfrm>
          <a:off x="120720" y="764604"/>
          <a:ext cx="5940000" cy="270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Gráfico 6">
            <a:extLst>
              <a:ext uri="{FF2B5EF4-FFF2-40B4-BE49-F238E27FC236}">
                <a16:creationId xmlns:a16="http://schemas.microsoft.com/office/drawing/2014/main" id="{BB1D8BE7-0009-8683-4FCF-0C0CDDE677F9}"/>
              </a:ext>
            </a:extLst>
          </p:cNvPr>
          <p:cNvGraphicFramePr/>
          <p:nvPr>
            <p:extLst>
              <p:ext uri="{D42A27DB-BD31-4B8C-83A1-F6EECF244321}">
                <p14:modId xmlns:p14="http://schemas.microsoft.com/office/powerpoint/2010/main" val="3801109665"/>
              </p:ext>
            </p:extLst>
          </p:nvPr>
        </p:nvGraphicFramePr>
        <p:xfrm>
          <a:off x="120720" y="3558066"/>
          <a:ext cx="5940000" cy="270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Gráfico 7">
            <a:extLst>
              <a:ext uri="{FF2B5EF4-FFF2-40B4-BE49-F238E27FC236}">
                <a16:creationId xmlns:a16="http://schemas.microsoft.com/office/drawing/2014/main" id="{74715D01-3767-0184-D64B-EB07C3FECBC6}"/>
              </a:ext>
            </a:extLst>
          </p:cNvPr>
          <p:cNvGraphicFramePr/>
          <p:nvPr>
            <p:extLst>
              <p:ext uri="{D42A27DB-BD31-4B8C-83A1-F6EECF244321}">
                <p14:modId xmlns:p14="http://schemas.microsoft.com/office/powerpoint/2010/main" val="1940089657"/>
              </p:ext>
            </p:extLst>
          </p:nvPr>
        </p:nvGraphicFramePr>
        <p:xfrm>
          <a:off x="6137528" y="3558066"/>
          <a:ext cx="5940000" cy="2700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 name="Gráfico 8">
            <a:extLst>
              <a:ext uri="{FF2B5EF4-FFF2-40B4-BE49-F238E27FC236}">
                <a16:creationId xmlns:a16="http://schemas.microsoft.com/office/drawing/2014/main" id="{77B100E0-DEEB-2CC3-F076-1EC6C77D4BD3}"/>
              </a:ext>
            </a:extLst>
          </p:cNvPr>
          <p:cNvGraphicFramePr/>
          <p:nvPr>
            <p:extLst>
              <p:ext uri="{D42A27DB-BD31-4B8C-83A1-F6EECF244321}">
                <p14:modId xmlns:p14="http://schemas.microsoft.com/office/powerpoint/2010/main" val="1690451035"/>
              </p:ext>
            </p:extLst>
          </p:nvPr>
        </p:nvGraphicFramePr>
        <p:xfrm>
          <a:off x="6152042" y="779118"/>
          <a:ext cx="5940000" cy="2700000"/>
        </p:xfrm>
        <a:graphic>
          <a:graphicData uri="http://schemas.openxmlformats.org/drawingml/2006/chart">
            <c:chart xmlns:c="http://schemas.openxmlformats.org/drawingml/2006/chart" xmlns:r="http://schemas.openxmlformats.org/officeDocument/2006/relationships" r:id="rId5"/>
          </a:graphicData>
        </a:graphic>
      </p:graphicFrame>
      <p:sp>
        <p:nvSpPr>
          <p:cNvPr id="3" name="CuadroTexto 2">
            <a:extLst>
              <a:ext uri="{FF2B5EF4-FFF2-40B4-BE49-F238E27FC236}">
                <a16:creationId xmlns:a16="http://schemas.microsoft.com/office/drawing/2014/main" id="{5B130E7A-638B-4B10-8186-227C3F4F47F0}"/>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Septiembre 2026</a:t>
            </a:r>
          </a:p>
        </p:txBody>
      </p:sp>
      <p:sp>
        <p:nvSpPr>
          <p:cNvPr id="5" name="CuadroTexto 4">
            <a:extLst>
              <a:ext uri="{FF2B5EF4-FFF2-40B4-BE49-F238E27FC236}">
                <a16:creationId xmlns:a16="http://schemas.microsoft.com/office/drawing/2014/main" id="{54D11AFC-244A-5314-2D83-6DA58C24EFFB}"/>
              </a:ext>
            </a:extLst>
          </p:cNvPr>
          <p:cNvSpPr txBox="1"/>
          <p:nvPr/>
        </p:nvSpPr>
        <p:spPr>
          <a:xfrm>
            <a:off x="3090720" y="6575252"/>
            <a:ext cx="3638394" cy="276999"/>
          </a:xfrm>
          <a:prstGeom prst="rect">
            <a:avLst/>
          </a:prstGeom>
          <a:noFill/>
        </p:spPr>
        <p:txBody>
          <a:bodyPr wrap="square">
            <a:spAutoFit/>
          </a:bodyPr>
          <a:lstStyle/>
          <a:p>
            <a:r>
              <a:rPr lang="es-CO" sz="1200" b="1" i="1">
                <a:solidFill>
                  <a:schemeClr val="tx2"/>
                </a:solidFill>
              </a:rPr>
              <a:t>Sin registro de Radioterapias para Septiembre</a:t>
            </a:r>
            <a:endParaRPr lang="es-CO" sz="1200" i="1" noProof="0">
              <a:solidFill>
                <a:schemeClr val="tx2"/>
              </a:solidFill>
            </a:endParaRPr>
          </a:p>
        </p:txBody>
      </p:sp>
    </p:spTree>
    <p:extLst>
      <p:ext uri="{BB962C8B-B14F-4D97-AF65-F5344CB8AC3E}">
        <p14:creationId xmlns:p14="http://schemas.microsoft.com/office/powerpoint/2010/main" val="42679471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58278-9D88-CF94-9CC5-E6D38BC4AA1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9A7C9D5-388F-62C8-C71C-535D4AC8EE39}"/>
              </a:ext>
            </a:extLst>
          </p:cNvPr>
          <p:cNvSpPr>
            <a:spLocks noGrp="1"/>
          </p:cNvSpPr>
          <p:nvPr>
            <p:ph type="ctrTitle"/>
          </p:nvPr>
        </p:nvSpPr>
        <p:spPr>
          <a:xfrm>
            <a:off x="273120" y="206276"/>
            <a:ext cx="11645759" cy="657324"/>
          </a:xfrm>
        </p:spPr>
        <p:txBody>
          <a:bodyPr>
            <a:noAutofit/>
          </a:bodyPr>
          <a:lstStyle/>
          <a:p>
            <a:r>
              <a:rPr lang="es-CO" noProof="0"/>
              <a:t>Porcentaje de pacientes en tratamiento 2026</a:t>
            </a:r>
          </a:p>
        </p:txBody>
      </p:sp>
      <p:sp>
        <p:nvSpPr>
          <p:cNvPr id="7" name="CuadroTexto 6">
            <a:extLst>
              <a:ext uri="{FF2B5EF4-FFF2-40B4-BE49-F238E27FC236}">
                <a16:creationId xmlns:a16="http://schemas.microsoft.com/office/drawing/2014/main" id="{951F8446-3466-B37B-17E1-EB5CE79AAB1C}"/>
              </a:ext>
            </a:extLst>
          </p:cNvPr>
          <p:cNvSpPr txBox="1"/>
          <p:nvPr/>
        </p:nvSpPr>
        <p:spPr>
          <a:xfrm>
            <a:off x="1475874" y="5989403"/>
            <a:ext cx="9753599" cy="369332"/>
          </a:xfrm>
          <a:prstGeom prst="rect">
            <a:avLst/>
          </a:prstGeom>
          <a:noFill/>
        </p:spPr>
        <p:txBody>
          <a:bodyPr wrap="square">
            <a:spAutoFit/>
          </a:bodyPr>
          <a:lstStyle/>
          <a:p>
            <a:r>
              <a:rPr lang="es-CO" sz="1800" noProof="0"/>
              <a:t>* La terapia sistémica incluye Quimioterapia, Inmunoterapia, terapia hormonal y terapia dirigida</a:t>
            </a:r>
          </a:p>
        </p:txBody>
      </p:sp>
      <p:graphicFrame>
        <p:nvGraphicFramePr>
          <p:cNvPr id="9" name="Gráfico 8">
            <a:extLst>
              <a:ext uri="{FF2B5EF4-FFF2-40B4-BE49-F238E27FC236}">
                <a16:creationId xmlns:a16="http://schemas.microsoft.com/office/drawing/2014/main" id="{641AED65-F429-A945-2880-B2189C2B7CDF}"/>
              </a:ext>
            </a:extLst>
          </p:cNvPr>
          <p:cNvGraphicFramePr/>
          <p:nvPr>
            <p:extLst>
              <p:ext uri="{D42A27DB-BD31-4B8C-83A1-F6EECF244321}">
                <p14:modId xmlns:p14="http://schemas.microsoft.com/office/powerpoint/2010/main" val="817785692"/>
              </p:ext>
            </p:extLst>
          </p:nvPr>
        </p:nvGraphicFramePr>
        <p:xfrm>
          <a:off x="588316" y="1085866"/>
          <a:ext cx="11225632" cy="3362889"/>
        </p:xfrm>
        <a:graphic>
          <a:graphicData uri="http://schemas.openxmlformats.org/drawingml/2006/chart">
            <c:chart xmlns:c="http://schemas.openxmlformats.org/drawingml/2006/chart" xmlns:r="http://schemas.openxmlformats.org/officeDocument/2006/relationships" r:id="rId3"/>
          </a:graphicData>
        </a:graphic>
      </p:graphicFrame>
      <p:sp>
        <p:nvSpPr>
          <p:cNvPr id="8" name="CuadroTexto 7">
            <a:extLst>
              <a:ext uri="{FF2B5EF4-FFF2-40B4-BE49-F238E27FC236}">
                <a16:creationId xmlns:a16="http://schemas.microsoft.com/office/drawing/2014/main" id="{D63071D4-D068-B57C-0948-7235609E65DD}"/>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Septiembre 2026</a:t>
            </a:r>
          </a:p>
        </p:txBody>
      </p:sp>
      <p:graphicFrame>
        <p:nvGraphicFramePr>
          <p:cNvPr id="4" name="Tabla 3">
            <a:extLst>
              <a:ext uri="{FF2B5EF4-FFF2-40B4-BE49-F238E27FC236}">
                <a16:creationId xmlns:a16="http://schemas.microsoft.com/office/drawing/2014/main" id="{42274D98-11ED-992B-0EC1-FCCB9EECAB03}"/>
              </a:ext>
            </a:extLst>
          </p:cNvPr>
          <p:cNvGraphicFramePr>
            <a:graphicFrameLocks noGrp="1"/>
          </p:cNvGraphicFramePr>
          <p:nvPr>
            <p:extLst>
              <p:ext uri="{D42A27DB-BD31-4B8C-83A1-F6EECF244321}">
                <p14:modId xmlns:p14="http://schemas.microsoft.com/office/powerpoint/2010/main" val="1842181387"/>
              </p:ext>
            </p:extLst>
          </p:nvPr>
        </p:nvGraphicFramePr>
        <p:xfrm>
          <a:off x="588316" y="4448755"/>
          <a:ext cx="10515602" cy="1255960"/>
        </p:xfrm>
        <a:graphic>
          <a:graphicData uri="http://schemas.openxmlformats.org/drawingml/2006/table">
            <a:tbl>
              <a:tblPr/>
              <a:tblGrid>
                <a:gridCol w="670858">
                  <a:extLst>
                    <a:ext uri="{9D8B030D-6E8A-4147-A177-3AD203B41FA5}">
                      <a16:colId xmlns:a16="http://schemas.microsoft.com/office/drawing/2014/main" val="2937027382"/>
                    </a:ext>
                  </a:extLst>
                </a:gridCol>
                <a:gridCol w="449705">
                  <a:extLst>
                    <a:ext uri="{9D8B030D-6E8A-4147-A177-3AD203B41FA5}">
                      <a16:colId xmlns:a16="http://schemas.microsoft.com/office/drawing/2014/main" val="3356530844"/>
                    </a:ext>
                  </a:extLst>
                </a:gridCol>
                <a:gridCol w="434714">
                  <a:extLst>
                    <a:ext uri="{9D8B030D-6E8A-4147-A177-3AD203B41FA5}">
                      <a16:colId xmlns:a16="http://schemas.microsoft.com/office/drawing/2014/main" val="742999932"/>
                    </a:ext>
                  </a:extLst>
                </a:gridCol>
                <a:gridCol w="399885">
                  <a:extLst>
                    <a:ext uri="{9D8B030D-6E8A-4147-A177-3AD203B41FA5}">
                      <a16:colId xmlns:a16="http://schemas.microsoft.com/office/drawing/2014/main" val="1649751028"/>
                    </a:ext>
                  </a:extLst>
                </a:gridCol>
                <a:gridCol w="475580">
                  <a:extLst>
                    <a:ext uri="{9D8B030D-6E8A-4147-A177-3AD203B41FA5}">
                      <a16:colId xmlns:a16="http://schemas.microsoft.com/office/drawing/2014/main" val="878088950"/>
                    </a:ext>
                  </a:extLst>
                </a:gridCol>
                <a:gridCol w="475580">
                  <a:extLst>
                    <a:ext uri="{9D8B030D-6E8A-4147-A177-3AD203B41FA5}">
                      <a16:colId xmlns:a16="http://schemas.microsoft.com/office/drawing/2014/main" val="153059465"/>
                    </a:ext>
                  </a:extLst>
                </a:gridCol>
                <a:gridCol w="475580">
                  <a:extLst>
                    <a:ext uri="{9D8B030D-6E8A-4147-A177-3AD203B41FA5}">
                      <a16:colId xmlns:a16="http://schemas.microsoft.com/office/drawing/2014/main" val="630905170"/>
                    </a:ext>
                  </a:extLst>
                </a:gridCol>
                <a:gridCol w="475580">
                  <a:extLst>
                    <a:ext uri="{9D8B030D-6E8A-4147-A177-3AD203B41FA5}">
                      <a16:colId xmlns:a16="http://schemas.microsoft.com/office/drawing/2014/main" val="708470953"/>
                    </a:ext>
                  </a:extLst>
                </a:gridCol>
                <a:gridCol w="475580">
                  <a:extLst>
                    <a:ext uri="{9D8B030D-6E8A-4147-A177-3AD203B41FA5}">
                      <a16:colId xmlns:a16="http://schemas.microsoft.com/office/drawing/2014/main" val="3031302620"/>
                    </a:ext>
                  </a:extLst>
                </a:gridCol>
                <a:gridCol w="475580">
                  <a:extLst>
                    <a:ext uri="{9D8B030D-6E8A-4147-A177-3AD203B41FA5}">
                      <a16:colId xmlns:a16="http://schemas.microsoft.com/office/drawing/2014/main" val="2550269882"/>
                    </a:ext>
                  </a:extLst>
                </a:gridCol>
                <a:gridCol w="475580">
                  <a:extLst>
                    <a:ext uri="{9D8B030D-6E8A-4147-A177-3AD203B41FA5}">
                      <a16:colId xmlns:a16="http://schemas.microsoft.com/office/drawing/2014/main" val="2598423561"/>
                    </a:ext>
                  </a:extLst>
                </a:gridCol>
                <a:gridCol w="475580">
                  <a:extLst>
                    <a:ext uri="{9D8B030D-6E8A-4147-A177-3AD203B41FA5}">
                      <a16:colId xmlns:a16="http://schemas.microsoft.com/office/drawing/2014/main" val="3757546852"/>
                    </a:ext>
                  </a:extLst>
                </a:gridCol>
                <a:gridCol w="475580">
                  <a:extLst>
                    <a:ext uri="{9D8B030D-6E8A-4147-A177-3AD203B41FA5}">
                      <a16:colId xmlns:a16="http://schemas.microsoft.com/office/drawing/2014/main" val="563228760"/>
                    </a:ext>
                  </a:extLst>
                </a:gridCol>
                <a:gridCol w="475580">
                  <a:extLst>
                    <a:ext uri="{9D8B030D-6E8A-4147-A177-3AD203B41FA5}">
                      <a16:colId xmlns:a16="http://schemas.microsoft.com/office/drawing/2014/main" val="3542616058"/>
                    </a:ext>
                  </a:extLst>
                </a:gridCol>
                <a:gridCol w="475580">
                  <a:extLst>
                    <a:ext uri="{9D8B030D-6E8A-4147-A177-3AD203B41FA5}">
                      <a16:colId xmlns:a16="http://schemas.microsoft.com/office/drawing/2014/main" val="192217355"/>
                    </a:ext>
                  </a:extLst>
                </a:gridCol>
                <a:gridCol w="475580">
                  <a:extLst>
                    <a:ext uri="{9D8B030D-6E8A-4147-A177-3AD203B41FA5}">
                      <a16:colId xmlns:a16="http://schemas.microsoft.com/office/drawing/2014/main" val="4166590079"/>
                    </a:ext>
                  </a:extLst>
                </a:gridCol>
                <a:gridCol w="475580">
                  <a:extLst>
                    <a:ext uri="{9D8B030D-6E8A-4147-A177-3AD203B41FA5}">
                      <a16:colId xmlns:a16="http://schemas.microsoft.com/office/drawing/2014/main" val="967574570"/>
                    </a:ext>
                  </a:extLst>
                </a:gridCol>
                <a:gridCol w="475580">
                  <a:extLst>
                    <a:ext uri="{9D8B030D-6E8A-4147-A177-3AD203B41FA5}">
                      <a16:colId xmlns:a16="http://schemas.microsoft.com/office/drawing/2014/main" val="1708001818"/>
                    </a:ext>
                  </a:extLst>
                </a:gridCol>
                <a:gridCol w="475580">
                  <a:extLst>
                    <a:ext uri="{9D8B030D-6E8A-4147-A177-3AD203B41FA5}">
                      <a16:colId xmlns:a16="http://schemas.microsoft.com/office/drawing/2014/main" val="456539815"/>
                    </a:ext>
                  </a:extLst>
                </a:gridCol>
                <a:gridCol w="475580">
                  <a:extLst>
                    <a:ext uri="{9D8B030D-6E8A-4147-A177-3AD203B41FA5}">
                      <a16:colId xmlns:a16="http://schemas.microsoft.com/office/drawing/2014/main" val="1198101645"/>
                    </a:ext>
                  </a:extLst>
                </a:gridCol>
                <a:gridCol w="475580">
                  <a:extLst>
                    <a:ext uri="{9D8B030D-6E8A-4147-A177-3AD203B41FA5}">
                      <a16:colId xmlns:a16="http://schemas.microsoft.com/office/drawing/2014/main" val="3401683674"/>
                    </a:ext>
                  </a:extLst>
                </a:gridCol>
                <a:gridCol w="475580">
                  <a:extLst>
                    <a:ext uri="{9D8B030D-6E8A-4147-A177-3AD203B41FA5}">
                      <a16:colId xmlns:a16="http://schemas.microsoft.com/office/drawing/2014/main" val="872272141"/>
                    </a:ext>
                  </a:extLst>
                </a:gridCol>
              </a:tblGrid>
              <a:tr h="443875">
                <a:tc>
                  <a:txBody>
                    <a:bodyPr/>
                    <a:lstStyle/>
                    <a:p>
                      <a:pPr algn="l" rtl="0" fontAlgn="t">
                        <a:buNone/>
                      </a:pPr>
                      <a:r>
                        <a:rPr lang="es-CO" sz="1000" b="1" i="0" u="none" strike="noStrike">
                          <a:solidFill>
                            <a:srgbClr val="FFFFFF"/>
                          </a:solidFill>
                          <a:effectLst/>
                          <a:latin typeface="Muli"/>
                        </a:rPr>
                        <a:t>Tipo de tratamiento</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t">
                        <a:buNone/>
                      </a:pPr>
                      <a:r>
                        <a:rPr lang="es-CO" sz="1000" b="1" i="0" u="none" strike="noStrike">
                          <a:solidFill>
                            <a:srgbClr val="FFFFFF"/>
                          </a:solidFill>
                          <a:effectLst/>
                          <a:latin typeface="Muli"/>
                        </a:rPr>
                        <a:t>ene-25</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t">
                        <a:buNone/>
                      </a:pPr>
                      <a:r>
                        <a:rPr lang="es-CO" sz="1000" b="1" i="0" u="none" strike="noStrike">
                          <a:solidFill>
                            <a:srgbClr val="FFFFFF"/>
                          </a:solidFill>
                          <a:effectLst/>
                          <a:latin typeface="Muli"/>
                        </a:rPr>
                        <a:t>feb-25</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t">
                        <a:buNone/>
                      </a:pPr>
                      <a:r>
                        <a:rPr lang="es-CO" sz="1000" b="1" i="0" u="none" strike="noStrike">
                          <a:solidFill>
                            <a:srgbClr val="FFFFFF"/>
                          </a:solidFill>
                          <a:effectLst/>
                          <a:latin typeface="Muli"/>
                        </a:rPr>
                        <a:t>mar-25</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t">
                        <a:buNone/>
                      </a:pPr>
                      <a:r>
                        <a:rPr lang="es-CO" sz="1000" b="1" i="0" u="none" strike="noStrike">
                          <a:solidFill>
                            <a:srgbClr val="FFFFFF"/>
                          </a:solidFill>
                          <a:effectLst/>
                          <a:latin typeface="Muli"/>
                        </a:rPr>
                        <a:t>abr-25</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t">
                        <a:buNone/>
                      </a:pPr>
                      <a:r>
                        <a:rPr lang="es-CO" sz="1000" b="1" i="0" u="none" strike="noStrike">
                          <a:solidFill>
                            <a:srgbClr val="FFFFFF"/>
                          </a:solidFill>
                          <a:effectLst/>
                          <a:latin typeface="Muli"/>
                        </a:rPr>
                        <a:t>May-25</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t">
                        <a:buNone/>
                      </a:pPr>
                      <a:r>
                        <a:rPr lang="es-CO" sz="1000" b="1" i="0" u="none" strike="noStrike">
                          <a:solidFill>
                            <a:srgbClr val="FFFFFF"/>
                          </a:solidFill>
                          <a:effectLst/>
                          <a:latin typeface="Muli"/>
                        </a:rPr>
                        <a:t>jun-25</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t">
                        <a:buNone/>
                      </a:pPr>
                      <a:r>
                        <a:rPr lang="es-CO" sz="1000" b="1" i="0" u="none" strike="noStrike">
                          <a:solidFill>
                            <a:srgbClr val="FFFFFF"/>
                          </a:solidFill>
                          <a:effectLst/>
                          <a:latin typeface="Muli"/>
                        </a:rPr>
                        <a:t>jul-25</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t">
                        <a:buNone/>
                      </a:pPr>
                      <a:r>
                        <a:rPr lang="es-CO" sz="1000" b="1" i="0" u="none" strike="noStrike">
                          <a:solidFill>
                            <a:srgbClr val="FFFFFF"/>
                          </a:solidFill>
                          <a:effectLst/>
                          <a:latin typeface="Muli"/>
                        </a:rPr>
                        <a:t>ago-25</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t">
                        <a:buNone/>
                      </a:pPr>
                      <a:r>
                        <a:rPr lang="es-CO" sz="1000" b="1" i="0" u="none" strike="noStrike">
                          <a:solidFill>
                            <a:srgbClr val="FFFFFF"/>
                          </a:solidFill>
                          <a:effectLst/>
                          <a:latin typeface="Muli"/>
                        </a:rPr>
                        <a:t>sep-25</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t">
                        <a:buNone/>
                      </a:pPr>
                      <a:r>
                        <a:rPr lang="es-CO" sz="1000" b="1" i="0" u="none" strike="noStrike">
                          <a:solidFill>
                            <a:srgbClr val="FFFFFF"/>
                          </a:solidFill>
                          <a:effectLst/>
                          <a:latin typeface="Muli"/>
                        </a:rPr>
                        <a:t>oct-25</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t">
                        <a:buNone/>
                      </a:pPr>
                      <a:r>
                        <a:rPr lang="es-CO" sz="1000" b="1" i="0" u="none" strike="noStrike">
                          <a:solidFill>
                            <a:srgbClr val="FFFFFF"/>
                          </a:solidFill>
                          <a:effectLst/>
                          <a:latin typeface="Muli"/>
                        </a:rPr>
                        <a:t>nov-25</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t">
                        <a:buNone/>
                      </a:pPr>
                      <a:r>
                        <a:rPr lang="es-CO" sz="1000" b="1" i="0" u="none" strike="noStrike">
                          <a:solidFill>
                            <a:srgbClr val="FFFFFF"/>
                          </a:solidFill>
                          <a:effectLst/>
                          <a:latin typeface="Muli"/>
                        </a:rPr>
                        <a:t>dic-25</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t">
                        <a:buNone/>
                      </a:pPr>
                      <a:r>
                        <a:rPr lang="es-CO" sz="1000" b="1" i="0" u="none" strike="noStrike">
                          <a:solidFill>
                            <a:srgbClr val="FFFFFF"/>
                          </a:solidFill>
                          <a:effectLst/>
                          <a:latin typeface="Muli"/>
                        </a:rPr>
                        <a:t>ene-26</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t">
                        <a:buNone/>
                      </a:pPr>
                      <a:r>
                        <a:rPr lang="es-CO" sz="1000" b="1" i="0" u="none" strike="noStrike">
                          <a:solidFill>
                            <a:srgbClr val="FFFFFF"/>
                          </a:solidFill>
                          <a:effectLst/>
                          <a:latin typeface="Muli"/>
                        </a:rPr>
                        <a:t>feb-26</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t">
                        <a:buNone/>
                      </a:pPr>
                      <a:r>
                        <a:rPr lang="es-CO" sz="1000" b="1" i="0" u="none" strike="noStrike">
                          <a:solidFill>
                            <a:srgbClr val="FFFFFF"/>
                          </a:solidFill>
                          <a:effectLst/>
                          <a:latin typeface="Muli"/>
                        </a:rPr>
                        <a:t>mar-26</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t">
                        <a:buNone/>
                      </a:pPr>
                      <a:r>
                        <a:rPr lang="es-CO" sz="1000" b="1" i="0" u="none" strike="noStrike">
                          <a:solidFill>
                            <a:srgbClr val="FFFFFF"/>
                          </a:solidFill>
                          <a:effectLst/>
                          <a:latin typeface="Muli"/>
                        </a:rPr>
                        <a:t>abr-26</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t">
                        <a:buNone/>
                      </a:pPr>
                      <a:r>
                        <a:rPr lang="es-CO" sz="1000" b="1" i="0" u="none" strike="noStrike">
                          <a:solidFill>
                            <a:srgbClr val="FFFFFF"/>
                          </a:solidFill>
                          <a:effectLst/>
                          <a:latin typeface="Muli"/>
                        </a:rPr>
                        <a:t>May-26</a:t>
                      </a:r>
                    </a:p>
                    <a:p>
                      <a:pPr algn="ctr" rtl="0" fontAlgn="t">
                        <a:buNone/>
                      </a:pPr>
                      <a:endParaRPr lang="es-CO" sz="1000" b="1" i="0" u="none" strike="noStrike">
                        <a:solidFill>
                          <a:srgbClr val="FFFFFF"/>
                        </a:solidFill>
                        <a:effectLst/>
                        <a:latin typeface="Muli"/>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t">
                        <a:buNone/>
                      </a:pPr>
                      <a:r>
                        <a:rPr lang="es-CO" sz="1000" b="1" i="0" u="none" strike="noStrike">
                          <a:solidFill>
                            <a:srgbClr val="FFFFFF"/>
                          </a:solidFill>
                          <a:effectLst/>
                          <a:latin typeface="Muli"/>
                        </a:rPr>
                        <a:t>jun-26</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t">
                        <a:buNone/>
                      </a:pPr>
                      <a:r>
                        <a:rPr lang="es-CO" sz="1000" b="1" i="0" u="none" strike="noStrike">
                          <a:solidFill>
                            <a:srgbClr val="FFFFFF"/>
                          </a:solidFill>
                          <a:effectLst/>
                          <a:latin typeface="Muli"/>
                        </a:rPr>
                        <a:t>jul-26</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t">
                        <a:buNone/>
                      </a:pPr>
                      <a:r>
                        <a:rPr lang="es-CO" sz="1000" b="1" i="0" u="none" strike="noStrike">
                          <a:solidFill>
                            <a:srgbClr val="FFFFFF"/>
                          </a:solidFill>
                          <a:effectLst/>
                          <a:latin typeface="Muli"/>
                        </a:rPr>
                        <a:t>ago-26</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t">
                        <a:buNone/>
                      </a:pPr>
                      <a:r>
                        <a:rPr lang="es-CO" sz="1000" b="1" i="0" u="none" strike="noStrike">
                          <a:solidFill>
                            <a:srgbClr val="FFFFFF"/>
                          </a:solidFill>
                          <a:effectLst/>
                          <a:latin typeface="Muli"/>
                        </a:rPr>
                        <a:t>sep-26</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extLst>
                  <a:ext uri="{0D108BD9-81ED-4DB2-BD59-A6C34878D82A}">
                    <a16:rowId xmlns:a16="http://schemas.microsoft.com/office/drawing/2014/main" val="2131690997"/>
                  </a:ext>
                </a:extLst>
              </a:tr>
              <a:tr h="295916">
                <a:tc>
                  <a:txBody>
                    <a:bodyPr/>
                    <a:lstStyle/>
                    <a:p>
                      <a:pPr algn="l" rtl="0" fontAlgn="t">
                        <a:buNone/>
                      </a:pPr>
                      <a:r>
                        <a:rPr lang="es-CO" sz="1000" b="0" i="0" u="none" strike="noStrike">
                          <a:solidFill>
                            <a:srgbClr val="80589F"/>
                          </a:solidFill>
                          <a:effectLst/>
                          <a:latin typeface="Muli"/>
                        </a:rPr>
                        <a:t>Quimioterapia</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262</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246</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243</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295</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255</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230</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284</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229</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238</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221</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213</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218</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232</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229</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229</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225</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228</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157</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155</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113</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169</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D1DF"/>
                    </a:solidFill>
                  </a:tcPr>
                </a:tc>
                <a:extLst>
                  <a:ext uri="{0D108BD9-81ED-4DB2-BD59-A6C34878D82A}">
                    <a16:rowId xmlns:a16="http://schemas.microsoft.com/office/drawing/2014/main" val="756379650"/>
                  </a:ext>
                </a:extLst>
              </a:tr>
              <a:tr h="295916">
                <a:tc>
                  <a:txBody>
                    <a:bodyPr/>
                    <a:lstStyle/>
                    <a:p>
                      <a:pPr algn="l" rtl="0" fontAlgn="t">
                        <a:buNone/>
                      </a:pPr>
                      <a:r>
                        <a:rPr lang="es-CO" sz="1000" b="0" i="0" u="none" strike="noStrike">
                          <a:solidFill>
                            <a:srgbClr val="80589F"/>
                          </a:solidFill>
                          <a:effectLst/>
                          <a:latin typeface="Muli"/>
                        </a:rPr>
                        <a:t>Radioterapia</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t">
                        <a:buNone/>
                      </a:pPr>
                      <a:r>
                        <a:rPr lang="es-CO" sz="1000" b="0" i="0" u="none" strike="noStrike">
                          <a:solidFill>
                            <a:srgbClr val="80589F"/>
                          </a:solidFill>
                          <a:effectLst/>
                          <a:latin typeface="Muli"/>
                        </a:rPr>
                        <a:t>9</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t">
                        <a:buNone/>
                      </a:pPr>
                      <a:r>
                        <a:rPr lang="es-CO" sz="1000" b="0" i="0" u="none" strike="noStrike">
                          <a:solidFill>
                            <a:srgbClr val="80589F"/>
                          </a:solidFill>
                          <a:effectLst/>
                          <a:latin typeface="Muli"/>
                        </a:rPr>
                        <a:t>6</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t">
                        <a:buNone/>
                      </a:pPr>
                      <a:r>
                        <a:rPr lang="es-CO" sz="1000" b="0" i="0" u="none" strike="noStrike">
                          <a:solidFill>
                            <a:srgbClr val="80589F"/>
                          </a:solidFill>
                          <a:effectLst/>
                          <a:latin typeface="Muli"/>
                        </a:rPr>
                        <a:t>13</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t">
                        <a:buNone/>
                      </a:pPr>
                      <a:r>
                        <a:rPr lang="es-CO" sz="1000" b="0" i="0" u="none" strike="noStrike">
                          <a:solidFill>
                            <a:srgbClr val="80589F"/>
                          </a:solidFill>
                          <a:effectLst/>
                          <a:latin typeface="Muli"/>
                        </a:rPr>
                        <a:t>8</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t">
                        <a:buNone/>
                      </a:pPr>
                      <a:r>
                        <a:rPr lang="es-CO" sz="1000" b="0" i="0" u="none" strike="noStrike">
                          <a:solidFill>
                            <a:srgbClr val="80589F"/>
                          </a:solidFill>
                          <a:effectLst/>
                          <a:latin typeface="Muli"/>
                        </a:rPr>
                        <a:t>15</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t">
                        <a:buNone/>
                      </a:pPr>
                      <a:r>
                        <a:rPr lang="es-CO" sz="1000" b="0" i="0" u="none" strike="noStrike">
                          <a:solidFill>
                            <a:srgbClr val="80589F"/>
                          </a:solidFill>
                          <a:effectLst/>
                          <a:latin typeface="Muli"/>
                        </a:rPr>
                        <a:t>12</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t">
                        <a:buNone/>
                      </a:pPr>
                      <a:r>
                        <a:rPr lang="es-CO" sz="1000" b="0" i="0" u="none" strike="noStrike">
                          <a:solidFill>
                            <a:srgbClr val="80589F"/>
                          </a:solidFill>
                          <a:effectLst/>
                          <a:latin typeface="Muli"/>
                        </a:rPr>
                        <a:t>11</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t">
                        <a:buNone/>
                      </a:pPr>
                      <a:r>
                        <a:rPr lang="es-CO" sz="1000" b="0" i="0" u="none" strike="noStrike">
                          <a:solidFill>
                            <a:srgbClr val="80589F"/>
                          </a:solidFill>
                          <a:effectLst/>
                          <a:latin typeface="Muli"/>
                        </a:rPr>
                        <a:t>12</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t">
                        <a:buNone/>
                      </a:pPr>
                      <a:r>
                        <a:rPr lang="es-CO" sz="1000" b="0" i="0" u="none" strike="noStrike">
                          <a:solidFill>
                            <a:srgbClr val="80589F"/>
                          </a:solidFill>
                          <a:effectLst/>
                          <a:latin typeface="Muli"/>
                        </a:rPr>
                        <a:t>15</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t">
                        <a:buNone/>
                      </a:pPr>
                      <a:r>
                        <a:rPr lang="es-CO" sz="1000" b="0" i="0" u="none" strike="noStrike">
                          <a:solidFill>
                            <a:srgbClr val="80589F"/>
                          </a:solidFill>
                          <a:effectLst/>
                          <a:latin typeface="Muli"/>
                        </a:rPr>
                        <a:t>13</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t">
                        <a:buNone/>
                      </a:pPr>
                      <a:r>
                        <a:rPr lang="es-CO" sz="1000" b="0" i="0" u="none" strike="noStrike">
                          <a:solidFill>
                            <a:srgbClr val="80589F"/>
                          </a:solidFill>
                          <a:effectLst/>
                          <a:latin typeface="Muli"/>
                        </a:rPr>
                        <a:t>12</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t">
                        <a:buNone/>
                      </a:pPr>
                      <a:r>
                        <a:rPr lang="es-CO" sz="1000" b="0" i="0" u="none" strike="noStrike">
                          <a:solidFill>
                            <a:srgbClr val="80589F"/>
                          </a:solidFill>
                          <a:effectLst/>
                          <a:latin typeface="Muli"/>
                        </a:rPr>
                        <a:t>5</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t">
                        <a:buNone/>
                      </a:pPr>
                      <a:r>
                        <a:rPr lang="es-CO" sz="1000" b="0" i="0" u="none" strike="noStrike">
                          <a:solidFill>
                            <a:srgbClr val="80589F"/>
                          </a:solidFill>
                          <a:effectLst/>
                          <a:latin typeface="Muli"/>
                        </a:rPr>
                        <a:t>10</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t">
                        <a:buNone/>
                      </a:pPr>
                      <a:r>
                        <a:rPr lang="es-CO" sz="1000" b="0" i="0" u="none" strike="noStrike">
                          <a:solidFill>
                            <a:srgbClr val="80589F"/>
                          </a:solidFill>
                          <a:effectLst/>
                          <a:latin typeface="Muli"/>
                        </a:rPr>
                        <a:t>7</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t">
                        <a:buNone/>
                      </a:pPr>
                      <a:r>
                        <a:rPr lang="es-CO" sz="1000" b="0" i="0" u="none" strike="noStrike">
                          <a:solidFill>
                            <a:srgbClr val="80589F"/>
                          </a:solidFill>
                          <a:effectLst/>
                          <a:latin typeface="Muli"/>
                        </a:rPr>
                        <a:t>11</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t">
                        <a:buNone/>
                      </a:pPr>
                      <a:r>
                        <a:rPr lang="es-CO" sz="1000" b="0" i="0" u="none" strike="noStrike">
                          <a:solidFill>
                            <a:srgbClr val="80589F"/>
                          </a:solidFill>
                          <a:effectLst/>
                          <a:latin typeface="Muli"/>
                        </a:rPr>
                        <a:t>11</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t">
                        <a:buNone/>
                      </a:pPr>
                      <a:r>
                        <a:rPr lang="es-CO" sz="1000" b="0" i="0" u="none" strike="noStrike">
                          <a:solidFill>
                            <a:srgbClr val="80589F"/>
                          </a:solidFill>
                          <a:effectLst/>
                          <a:latin typeface="Muli"/>
                        </a:rPr>
                        <a:t>17</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12</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19</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9</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13</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D1DF"/>
                    </a:solidFill>
                  </a:tcPr>
                </a:tc>
                <a:extLst>
                  <a:ext uri="{0D108BD9-81ED-4DB2-BD59-A6C34878D82A}">
                    <a16:rowId xmlns:a16="http://schemas.microsoft.com/office/drawing/2014/main" val="3717294572"/>
                  </a:ext>
                </a:extLst>
              </a:tr>
              <a:tr h="211369">
                <a:tc>
                  <a:txBody>
                    <a:bodyPr/>
                    <a:lstStyle/>
                    <a:p>
                      <a:pPr algn="l" rtl="0" fontAlgn="t">
                        <a:buNone/>
                      </a:pPr>
                      <a:r>
                        <a:rPr lang="es-CO" sz="1000" b="0" i="0" u="none" strike="noStrike">
                          <a:solidFill>
                            <a:srgbClr val="80589F"/>
                          </a:solidFill>
                          <a:effectLst/>
                          <a:latin typeface="Muli"/>
                        </a:rPr>
                        <a:t>Cirugía</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21</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39</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62</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35</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32</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29</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33</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40</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25</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19</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22</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24</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40</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60</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104</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82</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69</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52</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83</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51</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000" b="0" i="0" u="none" strike="noStrike">
                          <a:solidFill>
                            <a:srgbClr val="80589F"/>
                          </a:solidFill>
                          <a:effectLst/>
                          <a:latin typeface="Muli"/>
                        </a:rPr>
                        <a:t>69</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extLst>
                  <a:ext uri="{0D108BD9-81ED-4DB2-BD59-A6C34878D82A}">
                    <a16:rowId xmlns:a16="http://schemas.microsoft.com/office/drawing/2014/main" val="439656591"/>
                  </a:ext>
                </a:extLst>
              </a:tr>
            </a:tbl>
          </a:graphicData>
        </a:graphic>
      </p:graphicFrame>
    </p:spTree>
    <p:extLst>
      <p:ext uri="{BB962C8B-B14F-4D97-AF65-F5344CB8AC3E}">
        <p14:creationId xmlns:p14="http://schemas.microsoft.com/office/powerpoint/2010/main" val="175261480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EDF2A-54A8-45FB-D040-A9B137038E6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EEC9322-19F9-D644-D2D4-04AD087CC6CC}"/>
              </a:ext>
            </a:extLst>
          </p:cNvPr>
          <p:cNvSpPr>
            <a:spLocks noGrp="1"/>
          </p:cNvSpPr>
          <p:nvPr>
            <p:ph type="ctrTitle"/>
          </p:nvPr>
        </p:nvSpPr>
        <p:spPr>
          <a:xfrm>
            <a:off x="155890" y="220701"/>
            <a:ext cx="11645759" cy="482784"/>
          </a:xfrm>
        </p:spPr>
        <p:txBody>
          <a:bodyPr>
            <a:noAutofit/>
          </a:bodyPr>
          <a:lstStyle/>
          <a:p>
            <a:r>
              <a:rPr lang="es-CO" noProof="0"/>
              <a:t>Oportunidad Ingreso</a:t>
            </a:r>
          </a:p>
        </p:txBody>
      </p:sp>
      <p:sp>
        <p:nvSpPr>
          <p:cNvPr id="8" name="CuadroTexto 7">
            <a:extLst>
              <a:ext uri="{FF2B5EF4-FFF2-40B4-BE49-F238E27FC236}">
                <a16:creationId xmlns:a16="http://schemas.microsoft.com/office/drawing/2014/main" id="{41B541D2-4A3C-8151-DA3D-BB850994A042}"/>
              </a:ext>
            </a:extLst>
          </p:cNvPr>
          <p:cNvSpPr txBox="1"/>
          <p:nvPr/>
        </p:nvSpPr>
        <p:spPr>
          <a:xfrm>
            <a:off x="10245743" y="841516"/>
            <a:ext cx="1833502" cy="5355312"/>
          </a:xfrm>
          <a:prstGeom prst="rect">
            <a:avLst/>
          </a:prstGeom>
          <a:noFill/>
        </p:spPr>
        <p:txBody>
          <a:bodyPr wrap="square" lIns="91440" tIns="45720" rIns="91440" bIns="45720" rtlCol="0" anchor="t">
            <a:spAutoFit/>
          </a:bodyPr>
          <a:lstStyle/>
          <a:p>
            <a:r>
              <a:rPr lang="es-CO" noProof="0"/>
              <a:t>Del total de ingresos mensuales, en promedio, el </a:t>
            </a:r>
            <a:r>
              <a:rPr lang="es-CO"/>
              <a:t>52,8</a:t>
            </a:r>
            <a:r>
              <a:rPr lang="es-CO" noProof="0"/>
              <a:t>% de los incidentes ingresan a la cohorte en el mismo mes de su diagnóstico; el 29,8% ingresan en el mes siguiente a su diagnóstico. El </a:t>
            </a:r>
            <a:r>
              <a:rPr lang="es-CO"/>
              <a:t>1,2</a:t>
            </a:r>
            <a:r>
              <a:rPr lang="es-CO" noProof="0"/>
              <a:t>% ingresan a la cohorte dos meses después de su diagnóstico. </a:t>
            </a:r>
          </a:p>
        </p:txBody>
      </p:sp>
      <p:sp>
        <p:nvSpPr>
          <p:cNvPr id="6" name="CuadroTexto 5">
            <a:extLst>
              <a:ext uri="{FF2B5EF4-FFF2-40B4-BE49-F238E27FC236}">
                <a16:creationId xmlns:a16="http://schemas.microsoft.com/office/drawing/2014/main" id="{E0FCE913-72E0-9477-D635-BE5D8BAD6E0E}"/>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Se</a:t>
            </a:r>
            <a:r>
              <a:rPr lang="es-CO" sz="1200" i="1" err="1">
                <a:solidFill>
                  <a:schemeClr val="tx2"/>
                </a:solidFill>
              </a:rPr>
              <a:t>ptiembre</a:t>
            </a:r>
            <a:r>
              <a:rPr lang="es-CO" sz="1200" i="1" noProof="0">
                <a:solidFill>
                  <a:schemeClr val="tx2"/>
                </a:solidFill>
              </a:rPr>
              <a:t> 2026</a:t>
            </a:r>
          </a:p>
        </p:txBody>
      </p:sp>
      <p:graphicFrame>
        <p:nvGraphicFramePr>
          <p:cNvPr id="4" name="Tabla 3">
            <a:extLst>
              <a:ext uri="{FF2B5EF4-FFF2-40B4-BE49-F238E27FC236}">
                <a16:creationId xmlns:a16="http://schemas.microsoft.com/office/drawing/2014/main" id="{BB358216-17C0-D694-2070-1F85CFDE9589}"/>
              </a:ext>
            </a:extLst>
          </p:cNvPr>
          <p:cNvGraphicFramePr>
            <a:graphicFrameLocks noGrp="1"/>
          </p:cNvGraphicFramePr>
          <p:nvPr>
            <p:extLst>
              <p:ext uri="{D42A27DB-BD31-4B8C-83A1-F6EECF244321}">
                <p14:modId xmlns:p14="http://schemas.microsoft.com/office/powerpoint/2010/main" val="3498091864"/>
              </p:ext>
            </p:extLst>
          </p:nvPr>
        </p:nvGraphicFramePr>
        <p:xfrm>
          <a:off x="390351" y="703485"/>
          <a:ext cx="9383231" cy="5329804"/>
        </p:xfrm>
        <a:graphic>
          <a:graphicData uri="http://schemas.openxmlformats.org/drawingml/2006/table">
            <a:tbl>
              <a:tblPr/>
              <a:tblGrid>
                <a:gridCol w="721787">
                  <a:extLst>
                    <a:ext uri="{9D8B030D-6E8A-4147-A177-3AD203B41FA5}">
                      <a16:colId xmlns:a16="http://schemas.microsoft.com/office/drawing/2014/main" val="150229487"/>
                    </a:ext>
                  </a:extLst>
                </a:gridCol>
                <a:gridCol w="721787">
                  <a:extLst>
                    <a:ext uri="{9D8B030D-6E8A-4147-A177-3AD203B41FA5}">
                      <a16:colId xmlns:a16="http://schemas.microsoft.com/office/drawing/2014/main" val="3980950845"/>
                    </a:ext>
                  </a:extLst>
                </a:gridCol>
                <a:gridCol w="721787">
                  <a:extLst>
                    <a:ext uri="{9D8B030D-6E8A-4147-A177-3AD203B41FA5}">
                      <a16:colId xmlns:a16="http://schemas.microsoft.com/office/drawing/2014/main" val="3642177579"/>
                    </a:ext>
                  </a:extLst>
                </a:gridCol>
                <a:gridCol w="721787">
                  <a:extLst>
                    <a:ext uri="{9D8B030D-6E8A-4147-A177-3AD203B41FA5}">
                      <a16:colId xmlns:a16="http://schemas.microsoft.com/office/drawing/2014/main" val="2528099112"/>
                    </a:ext>
                  </a:extLst>
                </a:gridCol>
                <a:gridCol w="721787">
                  <a:extLst>
                    <a:ext uri="{9D8B030D-6E8A-4147-A177-3AD203B41FA5}">
                      <a16:colId xmlns:a16="http://schemas.microsoft.com/office/drawing/2014/main" val="25453280"/>
                    </a:ext>
                  </a:extLst>
                </a:gridCol>
                <a:gridCol w="721787">
                  <a:extLst>
                    <a:ext uri="{9D8B030D-6E8A-4147-A177-3AD203B41FA5}">
                      <a16:colId xmlns:a16="http://schemas.microsoft.com/office/drawing/2014/main" val="1713663887"/>
                    </a:ext>
                  </a:extLst>
                </a:gridCol>
                <a:gridCol w="721787">
                  <a:extLst>
                    <a:ext uri="{9D8B030D-6E8A-4147-A177-3AD203B41FA5}">
                      <a16:colId xmlns:a16="http://schemas.microsoft.com/office/drawing/2014/main" val="1161882908"/>
                    </a:ext>
                  </a:extLst>
                </a:gridCol>
                <a:gridCol w="721787">
                  <a:extLst>
                    <a:ext uri="{9D8B030D-6E8A-4147-A177-3AD203B41FA5}">
                      <a16:colId xmlns:a16="http://schemas.microsoft.com/office/drawing/2014/main" val="66366563"/>
                    </a:ext>
                  </a:extLst>
                </a:gridCol>
                <a:gridCol w="721787">
                  <a:extLst>
                    <a:ext uri="{9D8B030D-6E8A-4147-A177-3AD203B41FA5}">
                      <a16:colId xmlns:a16="http://schemas.microsoft.com/office/drawing/2014/main" val="1608316174"/>
                    </a:ext>
                  </a:extLst>
                </a:gridCol>
                <a:gridCol w="721787">
                  <a:extLst>
                    <a:ext uri="{9D8B030D-6E8A-4147-A177-3AD203B41FA5}">
                      <a16:colId xmlns:a16="http://schemas.microsoft.com/office/drawing/2014/main" val="2924084926"/>
                    </a:ext>
                  </a:extLst>
                </a:gridCol>
                <a:gridCol w="721787">
                  <a:extLst>
                    <a:ext uri="{9D8B030D-6E8A-4147-A177-3AD203B41FA5}">
                      <a16:colId xmlns:a16="http://schemas.microsoft.com/office/drawing/2014/main" val="2658290702"/>
                    </a:ext>
                  </a:extLst>
                </a:gridCol>
                <a:gridCol w="721787">
                  <a:extLst>
                    <a:ext uri="{9D8B030D-6E8A-4147-A177-3AD203B41FA5}">
                      <a16:colId xmlns:a16="http://schemas.microsoft.com/office/drawing/2014/main" val="465245286"/>
                    </a:ext>
                  </a:extLst>
                </a:gridCol>
                <a:gridCol w="721787">
                  <a:extLst>
                    <a:ext uri="{9D8B030D-6E8A-4147-A177-3AD203B41FA5}">
                      <a16:colId xmlns:a16="http://schemas.microsoft.com/office/drawing/2014/main" val="950110689"/>
                    </a:ext>
                  </a:extLst>
                </a:gridCol>
              </a:tblGrid>
              <a:tr h="218268">
                <a:tc gridSpan="13">
                  <a:txBody>
                    <a:bodyPr/>
                    <a:lstStyle/>
                    <a:p>
                      <a:pPr algn="ctr" fontAlgn="ctr">
                        <a:buNone/>
                      </a:pPr>
                      <a:r>
                        <a:rPr lang="es-CO" sz="1200" b="1" i="0" u="none" strike="noStrike">
                          <a:solidFill>
                            <a:srgbClr val="FFFFFF"/>
                          </a:solidFill>
                          <a:effectLst/>
                          <a:latin typeface="Calibri" panose="020F0502020204030204" pitchFamily="34" charset="0"/>
                        </a:rPr>
                        <a:t>Sanitas</a:t>
                      </a:r>
                    </a:p>
                  </a:txBody>
                  <a:tcPr marL="0" marR="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3807199602"/>
                  </a:ext>
                </a:extLst>
              </a:tr>
              <a:tr h="218268">
                <a:tc rowSpan="24">
                  <a:txBody>
                    <a:bodyPr/>
                    <a:lstStyle/>
                    <a:p>
                      <a:pPr algn="ctr" fontAlgn="ctr">
                        <a:buNone/>
                      </a:pPr>
                      <a:r>
                        <a:rPr lang="es-CO" sz="1400" b="1" i="0" u="none" strike="noStrike">
                          <a:solidFill>
                            <a:srgbClr val="FFFFFF"/>
                          </a:solidFill>
                          <a:effectLst/>
                          <a:latin typeface="Calibri" panose="020F0502020204030204" pitchFamily="34" charset="0"/>
                        </a:rPr>
                        <a:t>Mes / año de diagnóstico</a:t>
                      </a:r>
                    </a:p>
                  </a:txBody>
                  <a:tcPr marL="0" marR="0" marT="0" marB="0" vert="vert27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1CA6A0"/>
                    </a:solidFill>
                  </a:tcPr>
                </a:tc>
                <a:tc>
                  <a:txBody>
                    <a:bodyPr/>
                    <a:lstStyle/>
                    <a:p>
                      <a:pPr algn="ctr" fontAlgn="ctr">
                        <a:buNone/>
                      </a:pPr>
                      <a:r>
                        <a:rPr lang="es-CO" sz="1200" b="1" i="0" u="none" strike="noStrike">
                          <a:solidFill>
                            <a:srgbClr val="FFFFFF"/>
                          </a:solidFill>
                          <a:effectLst/>
                          <a:latin typeface="Calibri" panose="020F0502020204030204" pitchFamily="34" charset="0"/>
                        </a:rPr>
                        <a:t>Mes /año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200" b="1" i="0" u="none" strike="noStrike">
                          <a:solidFill>
                            <a:srgbClr val="FFFFFF"/>
                          </a:solidFill>
                          <a:effectLst/>
                          <a:latin typeface="Calibri" panose="020F0502020204030204" pitchFamily="34" charset="0"/>
                        </a:rPr>
                        <a:t>2025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200" b="1" i="0" u="none" strike="noStrike">
                          <a:solidFill>
                            <a:srgbClr val="FFFFFF"/>
                          </a:solidFill>
                          <a:effectLst/>
                          <a:latin typeface="Calibri" panose="020F0502020204030204" pitchFamily="34" charset="0"/>
                        </a:rPr>
                        <a:t>ene-26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200" b="1" i="0" u="none" strike="noStrike">
                          <a:solidFill>
                            <a:srgbClr val="FFFFFF"/>
                          </a:solidFill>
                          <a:effectLst/>
                          <a:latin typeface="Calibri" panose="020F0502020204030204" pitchFamily="34" charset="0"/>
                        </a:rPr>
                        <a:t>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200" b="1" i="0" u="none" strike="noStrike">
                          <a:solidFill>
                            <a:srgbClr val="FFFFFF"/>
                          </a:solidFill>
                          <a:effectLst/>
                          <a:latin typeface="Calibri" panose="020F0502020204030204" pitchFamily="34" charset="0"/>
                        </a:rPr>
                        <a:t>mar-26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200" b="1" i="0" u="none" strike="noStrike">
                          <a:solidFill>
                            <a:srgbClr val="FFFFFF"/>
                          </a:solidFill>
                          <a:effectLst/>
                          <a:latin typeface="Calibri" panose="020F0502020204030204" pitchFamily="34" charset="0"/>
                        </a:rPr>
                        <a:t>abr-26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200" b="1" i="0" u="none" strike="noStrike">
                          <a:solidFill>
                            <a:srgbClr val="FFFFFF"/>
                          </a:solidFill>
                          <a:effectLst/>
                          <a:latin typeface="Calibri" panose="020F0502020204030204" pitchFamily="34" charset="0"/>
                        </a:rPr>
                        <a:t>may-26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200" b="1" i="0" u="none" strike="noStrike">
                          <a:solidFill>
                            <a:srgbClr val="FFFFFF"/>
                          </a:solidFill>
                          <a:effectLst/>
                          <a:latin typeface="Calibri" panose="020F0502020204030204" pitchFamily="34" charset="0"/>
                        </a:rPr>
                        <a:t>jun-26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200" b="1" i="0" u="none" strike="noStrike">
                          <a:solidFill>
                            <a:srgbClr val="FFFFFF"/>
                          </a:solidFill>
                          <a:effectLst/>
                          <a:latin typeface="Calibri" panose="020F0502020204030204" pitchFamily="34" charset="0"/>
                        </a:rPr>
                        <a:t>jul-26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200" b="1" i="0" u="none" strike="noStrike">
                          <a:solidFill>
                            <a:srgbClr val="FFFFFF"/>
                          </a:solidFill>
                          <a:effectLst/>
                          <a:latin typeface="Calibri" panose="020F0502020204030204" pitchFamily="34" charset="0"/>
                        </a:rPr>
                        <a:t>ago-26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200" b="1" i="0" u="none" strike="noStrike">
                          <a:solidFill>
                            <a:srgbClr val="FFFFFF"/>
                          </a:solidFill>
                          <a:effectLst/>
                          <a:latin typeface="Calibri" panose="020F0502020204030204" pitchFamily="34" charset="0"/>
                        </a:rPr>
                        <a:t>sep-26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200" b="1" i="0" u="none" strike="noStrike">
                          <a:solidFill>
                            <a:srgbClr val="FFFFFF"/>
                          </a:solidFill>
                          <a:effectLst/>
                          <a:latin typeface="Calibri" panose="020F0502020204030204" pitchFamily="34" charset="0"/>
                        </a:rPr>
                        <a:t>TOTAL</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extLst>
                  <a:ext uri="{0D108BD9-81ED-4DB2-BD59-A6C34878D82A}">
                    <a16:rowId xmlns:a16="http://schemas.microsoft.com/office/drawing/2014/main" val="741131531"/>
                  </a:ext>
                </a:extLst>
              </a:tr>
              <a:tr h="207874">
                <a:tc vMerge="1">
                  <a:txBody>
                    <a:bodyPr/>
                    <a:lstStyle/>
                    <a:p>
                      <a:endParaRPr lang="es-CO"/>
                    </a:p>
                  </a:txBody>
                  <a:tcPr/>
                </a:tc>
                <a:tc>
                  <a:txBody>
                    <a:bodyPr/>
                    <a:lstStyle/>
                    <a:p>
                      <a:pPr algn="r" fontAlgn="b">
                        <a:buNone/>
                      </a:pPr>
                      <a:r>
                        <a:rPr lang="es-CO" sz="1050" b="1" i="0" u="none" strike="noStrike">
                          <a:solidFill>
                            <a:srgbClr val="FFFFFF"/>
                          </a:solidFill>
                          <a:effectLst/>
                          <a:latin typeface="Calibri" panose="020F0502020204030204" pitchFamily="34" charset="0"/>
                        </a:rPr>
                        <a:t>2024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050" b="1" i="0" u="none" strike="noStrike">
                          <a:solidFill>
                            <a:srgbClr val="000000"/>
                          </a:solidFill>
                          <a:effectLst/>
                          <a:latin typeface="Calibri" panose="020F0502020204030204" pitchFamily="34" charset="0"/>
                        </a:rPr>
                        <a:t>1439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1" i="0" u="none" strike="noStrike">
                          <a:solidFill>
                            <a:srgbClr val="000000"/>
                          </a:solidFill>
                          <a:effectLst/>
                          <a:latin typeface="Calibri" panose="020F0502020204030204" pitchFamily="34" charset="0"/>
                        </a:rPr>
                        <a:t>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1" i="0" u="none" strike="noStrike">
                          <a:solidFill>
                            <a:srgbClr val="000000"/>
                          </a:solidFill>
                          <a:effectLst/>
                          <a:latin typeface="Calibri" panose="020F0502020204030204" pitchFamily="34" charset="0"/>
                        </a:rPr>
                        <a:t>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1" i="0" u="none" strike="noStrike">
                          <a:solidFill>
                            <a:srgbClr val="000000"/>
                          </a:solidFill>
                          <a:effectLst/>
                          <a:latin typeface="Calibri" panose="020F0502020204030204" pitchFamily="34" charset="0"/>
                        </a:rPr>
                        <a:t>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1" i="0" u="none" strike="noStrike">
                          <a:solidFill>
                            <a:srgbClr val="000000"/>
                          </a:solidFill>
                          <a:effectLst/>
                          <a:latin typeface="Calibri" panose="020F0502020204030204" pitchFamily="34" charset="0"/>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1" i="0" u="none" strike="noStrike">
                          <a:solidFill>
                            <a:srgbClr val="000000"/>
                          </a:solidFill>
                          <a:effectLst/>
                          <a:latin typeface="Calibri" panose="020F0502020204030204" pitchFamily="34" charset="0"/>
                        </a:rPr>
                        <a:t>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1" i="0" u="none" strike="noStrike">
                          <a:solidFill>
                            <a:srgbClr val="000000"/>
                          </a:solidFill>
                          <a:effectLst/>
                          <a:latin typeface="Calibri" panose="020F0502020204030204" pitchFamily="34" charset="0"/>
                        </a:rPr>
                        <a:t>11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1" i="0" u="none" strike="noStrike">
                          <a:solidFill>
                            <a:srgbClr val="000000"/>
                          </a:solidFill>
                          <a:effectLst/>
                          <a:latin typeface="Calibri" panose="020F0502020204030204" pitchFamily="34" charset="0"/>
                        </a:rPr>
                        <a:t>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1" i="0" u="none" strike="noStrike">
                          <a:solidFill>
                            <a:srgbClr val="000000"/>
                          </a:solidFill>
                          <a:effectLst/>
                          <a:latin typeface="Calibri" panose="020F0502020204030204" pitchFamily="34" charset="0"/>
                        </a:rPr>
                        <a:t>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1" i="0" u="none" strike="noStrike">
                          <a:solidFill>
                            <a:srgbClr val="000000"/>
                          </a:solidFill>
                          <a:effectLst/>
                          <a:latin typeface="Calibri" panose="020F0502020204030204" pitchFamily="34" charset="0"/>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1486</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89382929"/>
                  </a:ext>
                </a:extLst>
              </a:tr>
              <a:tr h="207874">
                <a:tc vMerge="1">
                  <a:txBody>
                    <a:bodyPr/>
                    <a:lstStyle/>
                    <a:p>
                      <a:endParaRPr lang="es-CO"/>
                    </a:p>
                  </a:txBody>
                  <a:tcPr/>
                </a:tc>
                <a:tc>
                  <a:txBody>
                    <a:bodyPr/>
                    <a:lstStyle/>
                    <a:p>
                      <a:pPr algn="r" fontAlgn="b">
                        <a:buNone/>
                      </a:pPr>
                      <a:r>
                        <a:rPr lang="es-CO" sz="1050" b="1" i="0" u="none" strike="noStrike">
                          <a:solidFill>
                            <a:srgbClr val="FFFFFF"/>
                          </a:solidFill>
                          <a:effectLst/>
                          <a:latin typeface="Calibri" panose="020F0502020204030204" pitchFamily="34" charset="0"/>
                        </a:rPr>
                        <a:t>2025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050" b="0" i="0" u="none" strike="noStrike">
                          <a:solidFill>
                            <a:srgbClr val="000000"/>
                          </a:solidFill>
                          <a:effectLst/>
                          <a:latin typeface="Calibri" panose="020F0502020204030204" pitchFamily="34" charset="0"/>
                        </a:rPr>
                        <a:t>293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13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10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332</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19831481"/>
                  </a:ext>
                </a:extLst>
              </a:tr>
              <a:tr h="207874">
                <a:tc vMerge="1">
                  <a:txBody>
                    <a:bodyPr/>
                    <a:lstStyle/>
                    <a:p>
                      <a:endParaRPr lang="es-CO"/>
                    </a:p>
                  </a:txBody>
                  <a:tcPr/>
                </a:tc>
                <a:tc>
                  <a:txBody>
                    <a:bodyPr/>
                    <a:lstStyle/>
                    <a:p>
                      <a:pPr algn="r" fontAlgn="b">
                        <a:buNone/>
                      </a:pPr>
                      <a:r>
                        <a:rPr lang="es-CO" sz="1050" b="1" i="0" u="none" strike="noStrike">
                          <a:solidFill>
                            <a:srgbClr val="FFFFFF"/>
                          </a:solidFill>
                          <a:effectLst/>
                          <a:latin typeface="Calibri" panose="020F0502020204030204" pitchFamily="34" charset="0"/>
                        </a:rPr>
                        <a:t>ene-26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17</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1689491"/>
                  </a:ext>
                </a:extLst>
              </a:tr>
              <a:tr h="207874">
                <a:tc vMerge="1">
                  <a:txBody>
                    <a:bodyPr/>
                    <a:lstStyle/>
                    <a:p>
                      <a:endParaRPr lang="es-CO"/>
                    </a:p>
                  </a:txBody>
                  <a:tcPr/>
                </a:tc>
                <a:tc>
                  <a:txBody>
                    <a:bodyPr/>
                    <a:lstStyle/>
                    <a:p>
                      <a:pPr algn="r" fontAlgn="b">
                        <a:buNone/>
                      </a:pPr>
                      <a:r>
                        <a:rPr lang="es-CO" sz="1050" b="1" i="0" u="none" strike="noStrike">
                          <a:solidFill>
                            <a:srgbClr val="FFFFFF"/>
                          </a:solidFill>
                          <a:effectLst/>
                          <a:latin typeface="Calibri" panose="020F0502020204030204" pitchFamily="34" charset="0"/>
                        </a:rPr>
                        <a:t>feb-26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14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10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27</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9191165"/>
                  </a:ext>
                </a:extLst>
              </a:tr>
              <a:tr h="207874">
                <a:tc vMerge="1">
                  <a:txBody>
                    <a:bodyPr/>
                    <a:lstStyle/>
                    <a:p>
                      <a:endParaRPr lang="es-CO"/>
                    </a:p>
                  </a:txBody>
                  <a:tcPr/>
                </a:tc>
                <a:tc>
                  <a:txBody>
                    <a:bodyPr/>
                    <a:lstStyle/>
                    <a:p>
                      <a:pPr algn="r" fontAlgn="b">
                        <a:buNone/>
                      </a:pPr>
                      <a:r>
                        <a:rPr lang="es-CO" sz="1050" b="1" i="0" u="none" strike="noStrike">
                          <a:solidFill>
                            <a:srgbClr val="FFFFFF"/>
                          </a:solidFill>
                          <a:effectLst/>
                          <a:latin typeface="Calibri" panose="020F0502020204030204" pitchFamily="34" charset="0"/>
                        </a:rPr>
                        <a:t>mar-26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20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34</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6496478"/>
                  </a:ext>
                </a:extLst>
              </a:tr>
              <a:tr h="207874">
                <a:tc vMerge="1">
                  <a:txBody>
                    <a:bodyPr/>
                    <a:lstStyle/>
                    <a:p>
                      <a:endParaRPr lang="es-CO"/>
                    </a:p>
                  </a:txBody>
                  <a:tcPr/>
                </a:tc>
                <a:tc>
                  <a:txBody>
                    <a:bodyPr/>
                    <a:lstStyle/>
                    <a:p>
                      <a:pPr algn="r" fontAlgn="b">
                        <a:buNone/>
                      </a:pPr>
                      <a:r>
                        <a:rPr lang="es-CO" sz="1050" b="1" i="0" u="none" strike="noStrike">
                          <a:solidFill>
                            <a:srgbClr val="FFFFFF"/>
                          </a:solidFill>
                          <a:effectLst/>
                          <a:latin typeface="Calibri" panose="020F0502020204030204" pitchFamily="34" charset="0"/>
                        </a:rPr>
                        <a:t>abr-26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16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12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33</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27194522"/>
                  </a:ext>
                </a:extLst>
              </a:tr>
              <a:tr h="207874">
                <a:tc vMerge="1">
                  <a:txBody>
                    <a:bodyPr/>
                    <a:lstStyle/>
                    <a:p>
                      <a:endParaRPr lang="es-CO"/>
                    </a:p>
                  </a:txBody>
                  <a:tcPr/>
                </a:tc>
                <a:tc>
                  <a:txBody>
                    <a:bodyPr/>
                    <a:lstStyle/>
                    <a:p>
                      <a:pPr algn="r" fontAlgn="b">
                        <a:buNone/>
                      </a:pPr>
                      <a:r>
                        <a:rPr lang="es-CO" sz="1050" b="1" i="0" u="none" strike="noStrike">
                          <a:solidFill>
                            <a:srgbClr val="FFFFFF"/>
                          </a:solidFill>
                          <a:effectLst/>
                          <a:latin typeface="Calibri" panose="020F0502020204030204" pitchFamily="34" charset="0"/>
                        </a:rPr>
                        <a:t>may-26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27</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597003"/>
                  </a:ext>
                </a:extLst>
              </a:tr>
              <a:tr h="207874">
                <a:tc vMerge="1">
                  <a:txBody>
                    <a:bodyPr/>
                    <a:lstStyle/>
                    <a:p>
                      <a:endParaRPr lang="es-CO"/>
                    </a:p>
                  </a:txBody>
                  <a:tcPr/>
                </a:tc>
                <a:tc>
                  <a:txBody>
                    <a:bodyPr/>
                    <a:lstStyle/>
                    <a:p>
                      <a:pPr algn="r" fontAlgn="b">
                        <a:buNone/>
                      </a:pPr>
                      <a:r>
                        <a:rPr lang="es-CO" sz="1050" b="1" i="0" u="none" strike="noStrike">
                          <a:solidFill>
                            <a:srgbClr val="FFFFFF"/>
                          </a:solidFill>
                          <a:effectLst/>
                          <a:latin typeface="Calibri" panose="020F0502020204030204" pitchFamily="34" charset="0"/>
                        </a:rPr>
                        <a:t>jun-26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21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13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35</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59362230"/>
                  </a:ext>
                </a:extLst>
              </a:tr>
              <a:tr h="207874">
                <a:tc vMerge="1">
                  <a:txBody>
                    <a:bodyPr/>
                    <a:lstStyle/>
                    <a:p>
                      <a:endParaRPr lang="es-CO"/>
                    </a:p>
                  </a:txBody>
                  <a:tcPr/>
                </a:tc>
                <a:tc>
                  <a:txBody>
                    <a:bodyPr/>
                    <a:lstStyle/>
                    <a:p>
                      <a:pPr algn="r" fontAlgn="b">
                        <a:buNone/>
                      </a:pPr>
                      <a:r>
                        <a:rPr lang="es-CO" sz="1050" b="1" i="0" u="none" strike="noStrike">
                          <a:solidFill>
                            <a:srgbClr val="FFFFFF"/>
                          </a:solidFill>
                          <a:effectLst/>
                          <a:latin typeface="Calibri" panose="020F0502020204030204" pitchFamily="34" charset="0"/>
                        </a:rPr>
                        <a:t>jul-26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18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26</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09662270"/>
                  </a:ext>
                </a:extLst>
              </a:tr>
              <a:tr h="207874">
                <a:tc vMerge="1">
                  <a:txBody>
                    <a:bodyPr/>
                    <a:lstStyle/>
                    <a:p>
                      <a:endParaRPr lang="es-CO"/>
                    </a:p>
                  </a:txBody>
                  <a:tcPr/>
                </a:tc>
                <a:tc>
                  <a:txBody>
                    <a:bodyPr/>
                    <a:lstStyle/>
                    <a:p>
                      <a:pPr algn="r" fontAlgn="b">
                        <a:buNone/>
                      </a:pPr>
                      <a:r>
                        <a:rPr lang="es-CO" sz="1050" b="1" i="0" u="none" strike="noStrike">
                          <a:solidFill>
                            <a:srgbClr val="FFFFFF"/>
                          </a:solidFill>
                          <a:effectLst/>
                          <a:latin typeface="Calibri" panose="020F0502020204030204" pitchFamily="34" charset="0"/>
                        </a:rPr>
                        <a:t>ago-26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14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23</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31557004"/>
                  </a:ext>
                </a:extLst>
              </a:tr>
              <a:tr h="207874">
                <a:tc vMerge="1">
                  <a:txBody>
                    <a:bodyPr/>
                    <a:lstStyle/>
                    <a:p>
                      <a:endParaRPr lang="es-CO"/>
                    </a:p>
                  </a:txBody>
                  <a:tcPr/>
                </a:tc>
                <a:tc>
                  <a:txBody>
                    <a:bodyPr/>
                    <a:lstStyle/>
                    <a:p>
                      <a:pPr algn="r" fontAlgn="b">
                        <a:buNone/>
                      </a:pPr>
                      <a:r>
                        <a:rPr lang="es-CO" sz="1050" b="1" i="0" u="none" strike="noStrike">
                          <a:solidFill>
                            <a:srgbClr val="FFFFFF"/>
                          </a:solidFill>
                          <a:effectLst/>
                          <a:latin typeface="Calibri" panose="020F0502020204030204" pitchFamily="34" charset="0"/>
                        </a:rPr>
                        <a:t>sep-26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20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20</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135162"/>
                  </a:ext>
                </a:extLst>
              </a:tr>
              <a:tr h="207874">
                <a:tc vMerge="1">
                  <a:txBody>
                    <a:bodyPr/>
                    <a:lstStyle/>
                    <a:p>
                      <a:endParaRPr lang="es-CO"/>
                    </a:p>
                  </a:txBody>
                  <a:tcPr/>
                </a:tc>
                <a:tc>
                  <a:txBody>
                    <a:bodyPr/>
                    <a:lstStyle/>
                    <a:p>
                      <a:pPr algn="l" fontAlgn="b">
                        <a:buNone/>
                      </a:pPr>
                      <a:r>
                        <a:rPr lang="es-CO" sz="1050" b="1" i="0" u="none" strike="noStrike">
                          <a:solidFill>
                            <a:srgbClr val="000000"/>
                          </a:solidFill>
                          <a:effectLst/>
                          <a:latin typeface="Calibri" panose="020F0502020204030204" pitchFamily="34" charset="0"/>
                        </a:rPr>
                        <a:t>Total general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050" b="1" i="0" u="none" strike="noStrike">
                          <a:solidFill>
                            <a:srgbClr val="000000"/>
                          </a:solidFill>
                          <a:effectLst/>
                          <a:latin typeface="Calibri" panose="020F0502020204030204" pitchFamily="34" charset="0"/>
                        </a:rPr>
                        <a:t>1732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tc>
                  <a:txBody>
                    <a:bodyPr/>
                    <a:lstStyle/>
                    <a:p>
                      <a:pPr algn="ctr" fontAlgn="b">
                        <a:buNone/>
                      </a:pPr>
                      <a:r>
                        <a:rPr lang="es-CO" sz="1050" b="1" i="0" u="none" strike="noStrike">
                          <a:solidFill>
                            <a:srgbClr val="000000"/>
                          </a:solidFill>
                          <a:effectLst/>
                          <a:latin typeface="Calibri" panose="020F0502020204030204" pitchFamily="34" charset="0"/>
                        </a:rPr>
                        <a:t>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tc>
                  <a:txBody>
                    <a:bodyPr/>
                    <a:lstStyle/>
                    <a:p>
                      <a:pPr algn="ctr" fontAlgn="b">
                        <a:buNone/>
                      </a:pPr>
                      <a:r>
                        <a:rPr lang="es-CO" sz="1050" b="1" i="0" u="none" strike="noStrike">
                          <a:solidFill>
                            <a:srgbClr val="000000"/>
                          </a:solidFill>
                          <a:effectLst/>
                          <a:latin typeface="Calibri" panose="020F0502020204030204" pitchFamily="34" charset="0"/>
                        </a:rPr>
                        <a:t>35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tc>
                  <a:txBody>
                    <a:bodyPr/>
                    <a:lstStyle/>
                    <a:p>
                      <a:pPr algn="ctr" fontAlgn="b">
                        <a:buNone/>
                      </a:pPr>
                      <a:r>
                        <a:rPr lang="es-CO" sz="1050" b="1" i="0" u="none" strike="noStrike">
                          <a:solidFill>
                            <a:srgbClr val="000000"/>
                          </a:solidFill>
                          <a:effectLst/>
                          <a:latin typeface="Calibri" panose="020F0502020204030204" pitchFamily="34" charset="0"/>
                        </a:rPr>
                        <a:t>48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tc>
                  <a:txBody>
                    <a:bodyPr/>
                    <a:lstStyle/>
                    <a:p>
                      <a:pPr algn="ctr" fontAlgn="b">
                        <a:buNone/>
                      </a:pPr>
                      <a:r>
                        <a:rPr lang="es-CO" sz="1050" b="1" i="0" u="none" strike="noStrike">
                          <a:solidFill>
                            <a:srgbClr val="000000"/>
                          </a:solidFill>
                          <a:effectLst/>
                          <a:latin typeface="Calibri" panose="020F0502020204030204" pitchFamily="34" charset="0"/>
                        </a:rPr>
                        <a:t>32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tc>
                  <a:txBody>
                    <a:bodyPr/>
                    <a:lstStyle/>
                    <a:p>
                      <a:pPr algn="ctr" fontAlgn="b">
                        <a:buNone/>
                      </a:pPr>
                      <a:r>
                        <a:rPr lang="es-CO" sz="1050" b="1" i="0" u="none" strike="noStrike">
                          <a:solidFill>
                            <a:srgbClr val="000000"/>
                          </a:solidFill>
                          <a:effectLst/>
                          <a:latin typeface="Calibri" panose="020F0502020204030204" pitchFamily="34" charset="0"/>
                        </a:rPr>
                        <a:t>51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tc>
                  <a:txBody>
                    <a:bodyPr/>
                    <a:lstStyle/>
                    <a:p>
                      <a:pPr algn="ctr" fontAlgn="b">
                        <a:buNone/>
                      </a:pPr>
                      <a:r>
                        <a:rPr lang="es-CO" sz="1050" b="1" i="0" u="none" strike="noStrike">
                          <a:solidFill>
                            <a:srgbClr val="000000"/>
                          </a:solidFill>
                          <a:effectLst/>
                          <a:latin typeface="Calibri" panose="020F0502020204030204" pitchFamily="34" charset="0"/>
                        </a:rPr>
                        <a:t>38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tc>
                  <a:txBody>
                    <a:bodyPr/>
                    <a:lstStyle/>
                    <a:p>
                      <a:pPr algn="ctr" fontAlgn="b">
                        <a:buNone/>
                      </a:pPr>
                      <a:r>
                        <a:rPr lang="es-CO" sz="1050" b="1" i="0" u="none" strike="noStrike">
                          <a:solidFill>
                            <a:srgbClr val="000000"/>
                          </a:solidFill>
                          <a:effectLst/>
                          <a:latin typeface="Calibri" panose="020F0502020204030204" pitchFamily="34" charset="0"/>
                        </a:rPr>
                        <a:t>41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tc>
                  <a:txBody>
                    <a:bodyPr/>
                    <a:lstStyle/>
                    <a:p>
                      <a:pPr algn="ctr" fontAlgn="b">
                        <a:buNone/>
                      </a:pPr>
                      <a:r>
                        <a:rPr lang="es-CO" sz="1050" b="1" i="0" u="none" strike="noStrike">
                          <a:solidFill>
                            <a:srgbClr val="000000"/>
                          </a:solidFill>
                          <a:effectLst/>
                          <a:latin typeface="Calibri" panose="020F0502020204030204" pitchFamily="34" charset="0"/>
                        </a:rPr>
                        <a:t>27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tc>
                  <a:txBody>
                    <a:bodyPr/>
                    <a:lstStyle/>
                    <a:p>
                      <a:pPr algn="ctr" fontAlgn="b">
                        <a:buNone/>
                      </a:pPr>
                      <a:r>
                        <a:rPr lang="es-CO" sz="1050" b="1" i="0" u="none" strike="noStrike">
                          <a:solidFill>
                            <a:srgbClr val="000000"/>
                          </a:solidFill>
                          <a:effectLst/>
                          <a:latin typeface="Calibri" panose="020F0502020204030204" pitchFamily="34" charset="0"/>
                        </a:rPr>
                        <a:t>32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tc>
                  <a:txBody>
                    <a:bodyPr/>
                    <a:lstStyle/>
                    <a:p>
                      <a:pPr algn="ctr" fontAlgn="b">
                        <a:buNone/>
                      </a:pPr>
                      <a:r>
                        <a:rPr lang="es-CO" sz="1050" b="1" i="0" u="none" strike="noStrike">
                          <a:solidFill>
                            <a:srgbClr val="000000"/>
                          </a:solidFill>
                          <a:effectLst/>
                          <a:latin typeface="Calibri" panose="020F0502020204030204" pitchFamily="34" charset="0"/>
                        </a:rPr>
                        <a:t>2060</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extLst>
                  <a:ext uri="{0D108BD9-81ED-4DB2-BD59-A6C34878D82A}">
                    <a16:rowId xmlns:a16="http://schemas.microsoft.com/office/drawing/2014/main" val="424674252"/>
                  </a:ext>
                </a:extLst>
              </a:tr>
              <a:tr h="207874">
                <a:tc vMerge="1">
                  <a:txBody>
                    <a:bodyPr/>
                    <a:lstStyle/>
                    <a:p>
                      <a:endParaRPr lang="es-CO"/>
                    </a:p>
                  </a:txBody>
                  <a:tcPr/>
                </a:tc>
                <a:tc>
                  <a:txBody>
                    <a:bodyPr/>
                    <a:lstStyle/>
                    <a:p>
                      <a:pPr algn="r" fontAlgn="b">
                        <a:buNone/>
                      </a:pPr>
                      <a:r>
                        <a:rPr lang="es-CO" sz="1050" b="1" i="0" u="none" strike="noStrike">
                          <a:solidFill>
                            <a:srgbClr val="FFFFFF"/>
                          </a:solidFill>
                          <a:effectLst/>
                          <a:latin typeface="Calibri" panose="020F0502020204030204" pitchFamily="34" charset="0"/>
                        </a:rPr>
                        <a:t>2024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050" b="0" i="0" u="none" strike="noStrike">
                          <a:solidFill>
                            <a:srgbClr val="000000"/>
                          </a:solidFill>
                          <a:effectLst/>
                          <a:latin typeface="Calibri" panose="020F0502020204030204" pitchFamily="34" charset="0"/>
                        </a:rPr>
                        <a:t>83,1%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50" b="0" i="0" u="none" strike="noStrike">
                          <a:solidFill>
                            <a:srgbClr val="000000"/>
                          </a:solidFill>
                          <a:effectLst/>
                          <a:latin typeface="Calibri" panose="020F0502020204030204" pitchFamily="34" charset="0"/>
                        </a:rPr>
                        <a:t>12,5%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50" b="0" i="0" u="none" strike="noStrike">
                          <a:solidFill>
                            <a:srgbClr val="000000"/>
                          </a:solidFill>
                          <a:effectLst/>
                          <a:latin typeface="Calibri" panose="020F0502020204030204" pitchFamily="34" charset="0"/>
                        </a:rPr>
                        <a:t>17,1%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50" b="0" i="0" u="none" strike="noStrike">
                          <a:solidFill>
                            <a:srgbClr val="000000"/>
                          </a:solidFill>
                          <a:effectLst/>
                          <a:latin typeface="Calibri" panose="020F0502020204030204" pitchFamily="34" charset="0"/>
                        </a:rPr>
                        <a:t>16,7%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50" b="0" i="0" u="none" strike="noStrike">
                          <a:solidFill>
                            <a:srgbClr val="000000"/>
                          </a:solidFill>
                          <a:effectLst/>
                          <a:latin typeface="Calibri" panose="020F0502020204030204" pitchFamily="34" charset="0"/>
                        </a:rPr>
                        <a:t>3,1%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50" b="0" i="0" u="none" strike="noStrike">
                          <a:solidFill>
                            <a:srgbClr val="000000"/>
                          </a:solidFill>
                          <a:effectLst/>
                          <a:latin typeface="Calibri" panose="020F0502020204030204" pitchFamily="34" charset="0"/>
                        </a:rPr>
                        <a:t>15,7%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50" b="0" i="0" u="none" strike="noStrike">
                          <a:solidFill>
                            <a:srgbClr val="000000"/>
                          </a:solidFill>
                          <a:effectLst/>
                          <a:latin typeface="Calibri" panose="020F0502020204030204" pitchFamily="34" charset="0"/>
                        </a:rPr>
                        <a:t>28,9%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50" b="0" i="0" u="none" strike="noStrike">
                          <a:solidFill>
                            <a:srgbClr val="000000"/>
                          </a:solidFill>
                          <a:effectLst/>
                          <a:latin typeface="Calibri" panose="020F0502020204030204" pitchFamily="34" charset="0"/>
                        </a:rPr>
                        <a:t>12,2%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50" b="0" i="0" u="none" strike="noStrike">
                          <a:solidFill>
                            <a:srgbClr val="000000"/>
                          </a:solidFill>
                          <a:effectLst/>
                          <a:latin typeface="Calibri" panose="020F0502020204030204" pitchFamily="34" charset="0"/>
                        </a:rPr>
                        <a:t>14,8%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50" b="0" i="0" u="none" strike="noStrike">
                          <a:solidFill>
                            <a:srgbClr val="000000"/>
                          </a:solidFill>
                          <a:effectLst/>
                          <a:latin typeface="Calibri" panose="020F0502020204030204" pitchFamily="34" charset="0"/>
                        </a:rPr>
                        <a:t>3,1%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50" b="0" i="0" u="none" strike="noStrike">
                          <a:solidFill>
                            <a:srgbClr val="000000"/>
                          </a:solidFill>
                          <a:effectLst/>
                          <a:latin typeface="Calibri" panose="020F0502020204030204" pitchFamily="34" charset="0"/>
                        </a:rPr>
                        <a:t>72,1%</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97017234"/>
                  </a:ext>
                </a:extLst>
              </a:tr>
              <a:tr h="207874">
                <a:tc vMerge="1">
                  <a:txBody>
                    <a:bodyPr/>
                    <a:lstStyle/>
                    <a:p>
                      <a:endParaRPr lang="es-CO"/>
                    </a:p>
                  </a:txBody>
                  <a:tcPr/>
                </a:tc>
                <a:tc>
                  <a:txBody>
                    <a:bodyPr/>
                    <a:lstStyle/>
                    <a:p>
                      <a:pPr algn="r" fontAlgn="b">
                        <a:buNone/>
                      </a:pPr>
                      <a:r>
                        <a:rPr lang="es-CO" sz="1050" b="1" i="0" u="none" strike="noStrike">
                          <a:solidFill>
                            <a:srgbClr val="FFFFFF"/>
                          </a:solidFill>
                          <a:effectLst/>
                          <a:latin typeface="Calibri" panose="020F0502020204030204" pitchFamily="34" charset="0"/>
                        </a:rPr>
                        <a:t>2025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050" b="0" i="0" u="none" strike="noStrike">
                          <a:solidFill>
                            <a:srgbClr val="000000"/>
                          </a:solidFill>
                          <a:effectLst/>
                          <a:latin typeface="Calibri" panose="020F0502020204030204" pitchFamily="34" charset="0"/>
                        </a:rPr>
                        <a:t>16,9%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50" b="0" i="0" u="none" strike="noStrike">
                          <a:solidFill>
                            <a:srgbClr val="000000"/>
                          </a:solidFill>
                          <a:effectLst/>
                          <a:latin typeface="Calibri" panose="020F0502020204030204" pitchFamily="34" charset="0"/>
                        </a:rPr>
                        <a:t>54,2%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s-CO" sz="1050" b="0" i="0" u="none" strike="noStrike">
                          <a:solidFill>
                            <a:srgbClr val="000000"/>
                          </a:solidFill>
                          <a:effectLst/>
                          <a:latin typeface="Calibri" panose="020F0502020204030204" pitchFamily="34" charset="0"/>
                        </a:rPr>
                        <a:t>28,6%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14,6%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12,5%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4,9%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50" b="0" i="0" u="none" strike="noStrike">
                          <a:solidFill>
                            <a:srgbClr val="000000"/>
                          </a:solidFill>
                          <a:effectLst/>
                          <a:latin typeface="Calibri" panose="020F0502020204030204" pitchFamily="34" charset="0"/>
                        </a:rPr>
                        <a:t>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50" b="0" i="0" u="none" strike="noStrike">
                          <a:solidFill>
                            <a:srgbClr val="000000"/>
                          </a:solidFill>
                          <a:effectLst/>
                          <a:latin typeface="Calibri" panose="020F0502020204030204" pitchFamily="34" charset="0"/>
                        </a:rPr>
                        <a:t>6,3%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50" b="0" i="0" u="none" strike="noStrike">
                          <a:solidFill>
                            <a:srgbClr val="000000"/>
                          </a:solidFill>
                          <a:effectLst/>
                          <a:latin typeface="Calibri" panose="020F0502020204030204" pitchFamily="34" charset="0"/>
                        </a:rPr>
                        <a:t>16,1%</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80439958"/>
                  </a:ext>
                </a:extLst>
              </a:tr>
              <a:tr h="207874">
                <a:tc vMerge="1">
                  <a:txBody>
                    <a:bodyPr/>
                    <a:lstStyle/>
                    <a:p>
                      <a:endParaRPr lang="es-CO"/>
                    </a:p>
                  </a:txBody>
                  <a:tcPr/>
                </a:tc>
                <a:tc>
                  <a:txBody>
                    <a:bodyPr/>
                    <a:lstStyle/>
                    <a:p>
                      <a:pPr algn="r" fontAlgn="b">
                        <a:buNone/>
                      </a:pPr>
                      <a:r>
                        <a:rPr lang="es-CO" sz="1050" b="1" i="0" u="none" strike="noStrike">
                          <a:solidFill>
                            <a:srgbClr val="FFFFFF"/>
                          </a:solidFill>
                          <a:effectLst/>
                          <a:latin typeface="Calibri" panose="020F0502020204030204" pitchFamily="34" charset="0"/>
                        </a:rPr>
                        <a:t>ene-26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l"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50" b="1" i="0" u="none" strike="noStrike">
                          <a:solidFill>
                            <a:srgbClr val="000000"/>
                          </a:solidFill>
                          <a:effectLst/>
                          <a:latin typeface="Calibri" panose="020F0502020204030204" pitchFamily="34" charset="0"/>
                        </a:rPr>
                        <a:t>33,3%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buNone/>
                      </a:pPr>
                      <a:r>
                        <a:rPr lang="es-CO" sz="1050" b="0" i="0" u="none" strike="noStrike">
                          <a:solidFill>
                            <a:srgbClr val="000000"/>
                          </a:solidFill>
                          <a:effectLst/>
                          <a:latin typeface="Calibri" panose="020F0502020204030204" pitchFamily="34" charset="0"/>
                        </a:rPr>
                        <a:t>14,3%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s-CO" sz="1050" b="0" i="0" u="none" strike="noStrike">
                          <a:solidFill>
                            <a:srgbClr val="000000"/>
                          </a:solidFill>
                          <a:effectLst/>
                          <a:latin typeface="Calibri" panose="020F0502020204030204" pitchFamily="34" charset="0"/>
                        </a:rPr>
                        <a:t>6,3%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3,1%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50" b="0" i="0" u="none" strike="noStrike">
                          <a:solidFill>
                            <a:srgbClr val="000000"/>
                          </a:solidFill>
                          <a:effectLst/>
                          <a:latin typeface="Calibri" panose="020F0502020204030204" pitchFamily="34" charset="0"/>
                        </a:rPr>
                        <a:t>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50" b="0" i="0" u="none" strike="noStrike">
                          <a:solidFill>
                            <a:srgbClr val="000000"/>
                          </a:solidFill>
                          <a:effectLst/>
                          <a:latin typeface="Calibri" panose="020F0502020204030204" pitchFamily="34" charset="0"/>
                        </a:rPr>
                        <a:t>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50" b="0" i="0" u="none" strike="noStrike">
                          <a:solidFill>
                            <a:srgbClr val="000000"/>
                          </a:solidFill>
                          <a:effectLst/>
                          <a:latin typeface="Calibri" panose="020F0502020204030204" pitchFamily="34" charset="0"/>
                        </a:rPr>
                        <a:t>0,8%</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82973884"/>
                  </a:ext>
                </a:extLst>
              </a:tr>
              <a:tr h="207874">
                <a:tc vMerge="1">
                  <a:txBody>
                    <a:bodyPr/>
                    <a:lstStyle/>
                    <a:p>
                      <a:endParaRPr lang="es-CO"/>
                    </a:p>
                  </a:txBody>
                  <a:tcPr/>
                </a:tc>
                <a:tc>
                  <a:txBody>
                    <a:bodyPr/>
                    <a:lstStyle/>
                    <a:p>
                      <a:pPr algn="r" fontAlgn="b">
                        <a:buNone/>
                      </a:pPr>
                      <a:r>
                        <a:rPr lang="es-CO" sz="1050" b="1" i="0" u="none" strike="noStrike">
                          <a:solidFill>
                            <a:srgbClr val="FFFFFF"/>
                          </a:solidFill>
                          <a:effectLst/>
                          <a:latin typeface="Calibri" panose="020F0502020204030204" pitchFamily="34" charset="0"/>
                        </a:rPr>
                        <a:t>feb-26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l"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50" b="1"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1" i="0" u="none" strike="noStrike">
                          <a:solidFill>
                            <a:srgbClr val="000000"/>
                          </a:solidFill>
                          <a:effectLst/>
                          <a:latin typeface="Calibri" panose="020F0502020204030204" pitchFamily="34" charset="0"/>
                        </a:rPr>
                        <a:t>40,0%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buNone/>
                      </a:pPr>
                      <a:r>
                        <a:rPr lang="es-CO" sz="1050" b="0" i="0" u="none" strike="noStrike">
                          <a:solidFill>
                            <a:srgbClr val="000000"/>
                          </a:solidFill>
                          <a:effectLst/>
                          <a:latin typeface="Calibri" panose="020F0502020204030204" pitchFamily="34" charset="0"/>
                        </a:rPr>
                        <a:t>20,8%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s-CO" sz="1050" b="0" i="0" u="none" strike="noStrike">
                          <a:solidFill>
                            <a:srgbClr val="000000"/>
                          </a:solidFill>
                          <a:effectLst/>
                          <a:latin typeface="Calibri" panose="020F0502020204030204" pitchFamily="34" charset="0"/>
                        </a:rPr>
                        <a:t>6,3%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50" b="0" i="0" u="none" strike="noStrike">
                          <a:solidFill>
                            <a:srgbClr val="000000"/>
                          </a:solidFill>
                          <a:effectLst/>
                          <a:latin typeface="Calibri" panose="020F0502020204030204" pitchFamily="34" charset="0"/>
                        </a:rPr>
                        <a:t>2,0%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50" b="0" i="0" u="none" strike="noStrike">
                          <a:solidFill>
                            <a:srgbClr val="000000"/>
                          </a:solidFill>
                          <a:effectLst/>
                          <a:latin typeface="Calibri" panose="020F0502020204030204" pitchFamily="34" charset="0"/>
                        </a:rPr>
                        <a:t>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50" b="0" i="0" u="none" strike="noStrike">
                          <a:solidFill>
                            <a:srgbClr val="000000"/>
                          </a:solidFill>
                          <a:effectLst/>
                          <a:latin typeface="Calibri" panose="020F0502020204030204" pitchFamily="34" charset="0"/>
                        </a:rPr>
                        <a:t>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50" b="0" i="0" u="none" strike="noStrike">
                          <a:solidFill>
                            <a:srgbClr val="000000"/>
                          </a:solidFill>
                          <a:effectLst/>
                          <a:latin typeface="Calibri" panose="020F0502020204030204" pitchFamily="34" charset="0"/>
                        </a:rPr>
                        <a:t>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50" b="0" i="0" u="none" strike="noStrike">
                          <a:solidFill>
                            <a:srgbClr val="000000"/>
                          </a:solidFill>
                          <a:effectLst/>
                          <a:latin typeface="Calibri" panose="020F0502020204030204" pitchFamily="34" charset="0"/>
                        </a:rPr>
                        <a:t>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50" b="0" i="0" u="none" strike="noStrike">
                          <a:solidFill>
                            <a:srgbClr val="000000"/>
                          </a:solidFill>
                          <a:effectLst/>
                          <a:latin typeface="Calibri" panose="020F0502020204030204" pitchFamily="34" charset="0"/>
                        </a:rPr>
                        <a:t>1,3%</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70434312"/>
                  </a:ext>
                </a:extLst>
              </a:tr>
              <a:tr h="207874">
                <a:tc vMerge="1">
                  <a:txBody>
                    <a:bodyPr/>
                    <a:lstStyle/>
                    <a:p>
                      <a:endParaRPr lang="es-CO"/>
                    </a:p>
                  </a:txBody>
                  <a:tcPr/>
                </a:tc>
                <a:tc>
                  <a:txBody>
                    <a:bodyPr/>
                    <a:lstStyle/>
                    <a:p>
                      <a:pPr algn="r" fontAlgn="b">
                        <a:buNone/>
                      </a:pPr>
                      <a:r>
                        <a:rPr lang="es-CO" sz="1050" b="1" i="0" u="none" strike="noStrike">
                          <a:solidFill>
                            <a:srgbClr val="FFFFFF"/>
                          </a:solidFill>
                          <a:effectLst/>
                          <a:latin typeface="Calibri" panose="020F0502020204030204" pitchFamily="34" charset="0"/>
                        </a:rPr>
                        <a:t>mar-26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l"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50" b="1"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1" i="0" u="none" strike="noStrike">
                          <a:solidFill>
                            <a:srgbClr val="000000"/>
                          </a:solidFill>
                          <a:effectLst/>
                          <a:latin typeface="Calibri" panose="020F0502020204030204" pitchFamily="34" charset="0"/>
                        </a:rPr>
                        <a:t>41,7%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buNone/>
                      </a:pPr>
                      <a:r>
                        <a:rPr lang="es-CO" sz="1050" b="0" i="0" u="none" strike="noStrike">
                          <a:solidFill>
                            <a:srgbClr val="000000"/>
                          </a:solidFill>
                          <a:effectLst/>
                          <a:latin typeface="Calibri" panose="020F0502020204030204" pitchFamily="34" charset="0"/>
                        </a:rPr>
                        <a:t>25,0%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s-CO" sz="1050" b="0" i="0" u="none" strike="noStrike">
                          <a:solidFill>
                            <a:srgbClr val="000000"/>
                          </a:solidFill>
                          <a:effectLst/>
                          <a:latin typeface="Calibri" panose="020F0502020204030204" pitchFamily="34" charset="0"/>
                        </a:rPr>
                        <a:t>7,8%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50" b="0" i="0" u="none" strike="noStrike">
                          <a:solidFill>
                            <a:srgbClr val="000000"/>
                          </a:solidFill>
                          <a:effectLst/>
                          <a:latin typeface="Calibri" panose="020F0502020204030204" pitchFamily="34" charset="0"/>
                        </a:rPr>
                        <a:t>5,3%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50" b="0" i="0" u="none" strike="noStrike">
                          <a:solidFill>
                            <a:srgbClr val="000000"/>
                          </a:solidFill>
                          <a:effectLst/>
                          <a:latin typeface="Calibri" panose="020F0502020204030204" pitchFamily="34" charset="0"/>
                        </a:rPr>
                        <a:t>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50" b="0" i="0" u="none" strike="noStrike">
                          <a:solidFill>
                            <a:srgbClr val="000000"/>
                          </a:solidFill>
                          <a:effectLst/>
                          <a:latin typeface="Calibri" panose="020F0502020204030204" pitchFamily="34" charset="0"/>
                        </a:rPr>
                        <a:t>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50" b="0" i="0" u="none" strike="noStrike">
                          <a:solidFill>
                            <a:srgbClr val="000000"/>
                          </a:solidFill>
                          <a:effectLst/>
                          <a:latin typeface="Calibri" panose="020F0502020204030204" pitchFamily="34" charset="0"/>
                        </a:rPr>
                        <a:t>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50" b="0" i="0" u="none" strike="noStrike">
                          <a:solidFill>
                            <a:srgbClr val="000000"/>
                          </a:solidFill>
                          <a:effectLst/>
                          <a:latin typeface="Calibri" panose="020F0502020204030204" pitchFamily="34" charset="0"/>
                        </a:rPr>
                        <a:t>1,7%</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45452329"/>
                  </a:ext>
                </a:extLst>
              </a:tr>
              <a:tr h="207874">
                <a:tc vMerge="1">
                  <a:txBody>
                    <a:bodyPr/>
                    <a:lstStyle/>
                    <a:p>
                      <a:endParaRPr lang="es-CO"/>
                    </a:p>
                  </a:txBody>
                  <a:tcPr/>
                </a:tc>
                <a:tc>
                  <a:txBody>
                    <a:bodyPr/>
                    <a:lstStyle/>
                    <a:p>
                      <a:pPr algn="r" fontAlgn="b">
                        <a:buNone/>
                      </a:pPr>
                      <a:r>
                        <a:rPr lang="es-CO" sz="1050" b="1" i="0" u="none" strike="noStrike">
                          <a:solidFill>
                            <a:srgbClr val="FFFFFF"/>
                          </a:solidFill>
                          <a:effectLst/>
                          <a:latin typeface="Calibri" panose="020F0502020204030204" pitchFamily="34" charset="0"/>
                        </a:rPr>
                        <a:t>abr-26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l"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50" b="1" i="0" u="none" strike="noStrike">
                          <a:solidFill>
                            <a:srgbClr val="000000"/>
                          </a:solidFill>
                          <a:effectLst/>
                          <a:latin typeface="Calibri" panose="020F0502020204030204" pitchFamily="34" charset="0"/>
                        </a:rPr>
                        <a:t>50,0%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buNone/>
                      </a:pPr>
                      <a:r>
                        <a:rPr lang="es-CO" sz="1050" b="0" i="0" u="none" strike="noStrike">
                          <a:solidFill>
                            <a:srgbClr val="000000"/>
                          </a:solidFill>
                          <a:effectLst/>
                          <a:latin typeface="Calibri" panose="020F0502020204030204" pitchFamily="34" charset="0"/>
                        </a:rPr>
                        <a:t>23,5%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s-CO" sz="1050" b="0" i="0" u="none" strike="noStrike">
                          <a:solidFill>
                            <a:srgbClr val="000000"/>
                          </a:solidFill>
                          <a:effectLst/>
                          <a:latin typeface="Calibri" panose="020F0502020204030204" pitchFamily="34" charset="0"/>
                        </a:rPr>
                        <a:t>5,3%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50" b="0" i="0" u="none" strike="noStrike">
                          <a:solidFill>
                            <a:srgbClr val="000000"/>
                          </a:solidFill>
                          <a:effectLst/>
                          <a:latin typeface="Calibri" panose="020F0502020204030204" pitchFamily="34" charset="0"/>
                        </a:rPr>
                        <a:t>7,3%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50" b="0" i="0" u="none" strike="noStrike">
                          <a:solidFill>
                            <a:srgbClr val="000000"/>
                          </a:solidFill>
                          <a:effectLst/>
                          <a:latin typeface="Calibri" panose="020F0502020204030204" pitchFamily="34" charset="0"/>
                        </a:rPr>
                        <a:t>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50" b="0" i="0" u="none" strike="noStrike">
                          <a:solidFill>
                            <a:srgbClr val="000000"/>
                          </a:solidFill>
                          <a:effectLst/>
                          <a:latin typeface="Calibri" panose="020F0502020204030204" pitchFamily="34" charset="0"/>
                        </a:rPr>
                        <a:t>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50" b="0" i="0" u="none" strike="noStrike">
                          <a:solidFill>
                            <a:srgbClr val="000000"/>
                          </a:solidFill>
                          <a:effectLst/>
                          <a:latin typeface="Calibri" panose="020F0502020204030204" pitchFamily="34" charset="0"/>
                        </a:rPr>
                        <a:t>1,6%</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62507278"/>
                  </a:ext>
                </a:extLst>
              </a:tr>
              <a:tr h="207874">
                <a:tc vMerge="1">
                  <a:txBody>
                    <a:bodyPr/>
                    <a:lstStyle/>
                    <a:p>
                      <a:endParaRPr lang="es-CO"/>
                    </a:p>
                  </a:txBody>
                  <a:tcPr/>
                </a:tc>
                <a:tc>
                  <a:txBody>
                    <a:bodyPr/>
                    <a:lstStyle/>
                    <a:p>
                      <a:pPr algn="r" fontAlgn="b">
                        <a:buNone/>
                      </a:pPr>
                      <a:r>
                        <a:rPr lang="es-CO" sz="1050" b="1" i="0" u="none" strike="noStrike">
                          <a:solidFill>
                            <a:srgbClr val="FFFFFF"/>
                          </a:solidFill>
                          <a:effectLst/>
                          <a:latin typeface="Calibri" panose="020F0502020204030204" pitchFamily="34" charset="0"/>
                        </a:rPr>
                        <a:t>may-26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l"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50" b="1" i="0" u="none" strike="noStrike">
                          <a:solidFill>
                            <a:srgbClr val="000000"/>
                          </a:solidFill>
                          <a:effectLst/>
                          <a:latin typeface="Calibri" panose="020F0502020204030204" pitchFamily="34" charset="0"/>
                        </a:rPr>
                        <a:t>51,0%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buNone/>
                      </a:pPr>
                      <a:r>
                        <a:rPr lang="es-CO" sz="1050" b="0" i="0" u="none" strike="noStrike">
                          <a:solidFill>
                            <a:srgbClr val="000000"/>
                          </a:solidFill>
                          <a:effectLst/>
                          <a:latin typeface="Calibri" panose="020F0502020204030204" pitchFamily="34" charset="0"/>
                        </a:rPr>
                        <a:t>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s-CO" sz="1050" b="0" i="0" u="none" strike="noStrike">
                          <a:solidFill>
                            <a:srgbClr val="000000"/>
                          </a:solidFill>
                          <a:effectLst/>
                          <a:latin typeface="Calibri" panose="020F0502020204030204" pitchFamily="34" charset="0"/>
                        </a:rPr>
                        <a:t>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50" b="0" i="0" u="none" strike="noStrike">
                          <a:solidFill>
                            <a:srgbClr val="000000"/>
                          </a:solidFill>
                          <a:effectLst/>
                          <a:latin typeface="Calibri" panose="020F0502020204030204" pitchFamily="34" charset="0"/>
                        </a:rPr>
                        <a:t>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50" b="0" i="0" u="none" strike="noStrike">
                          <a:solidFill>
                            <a:srgbClr val="000000"/>
                          </a:solidFill>
                          <a:effectLst/>
                          <a:latin typeface="Calibri" panose="020F0502020204030204" pitchFamily="34" charset="0"/>
                        </a:rPr>
                        <a:t>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50" b="0" i="0" u="none" strike="noStrike">
                          <a:solidFill>
                            <a:srgbClr val="000000"/>
                          </a:solidFill>
                          <a:effectLst/>
                          <a:latin typeface="Calibri" panose="020F0502020204030204" pitchFamily="34" charset="0"/>
                        </a:rPr>
                        <a:t>1,3%</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38152795"/>
                  </a:ext>
                </a:extLst>
              </a:tr>
              <a:tr h="207874">
                <a:tc vMerge="1">
                  <a:txBody>
                    <a:bodyPr/>
                    <a:lstStyle/>
                    <a:p>
                      <a:endParaRPr lang="es-CO"/>
                    </a:p>
                  </a:txBody>
                  <a:tcPr/>
                </a:tc>
                <a:tc>
                  <a:txBody>
                    <a:bodyPr/>
                    <a:lstStyle/>
                    <a:p>
                      <a:pPr algn="r" fontAlgn="b">
                        <a:buNone/>
                      </a:pPr>
                      <a:r>
                        <a:rPr lang="es-CO" sz="1050" b="1" i="0" u="none" strike="noStrike">
                          <a:solidFill>
                            <a:srgbClr val="FFFFFF"/>
                          </a:solidFill>
                          <a:effectLst/>
                          <a:latin typeface="Calibri" panose="020F0502020204030204" pitchFamily="34" charset="0"/>
                        </a:rPr>
                        <a:t>jun-26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l"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50" b="1" i="0" u="none" strike="noStrike">
                          <a:solidFill>
                            <a:srgbClr val="000000"/>
                          </a:solidFill>
                          <a:effectLst/>
                          <a:latin typeface="Calibri" panose="020F0502020204030204" pitchFamily="34" charset="0"/>
                        </a:rPr>
                        <a:t>55,3%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buNone/>
                      </a:pPr>
                      <a:r>
                        <a:rPr lang="es-CO" sz="1050" b="0" i="0" u="none" strike="noStrike">
                          <a:solidFill>
                            <a:srgbClr val="000000"/>
                          </a:solidFill>
                          <a:effectLst/>
                          <a:latin typeface="Calibri" panose="020F0502020204030204" pitchFamily="34" charset="0"/>
                        </a:rPr>
                        <a:t>31,7%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s-CO" sz="1050" b="0" i="0" u="none" strike="noStrike">
                          <a:solidFill>
                            <a:srgbClr val="000000"/>
                          </a:solidFill>
                          <a:effectLst/>
                          <a:latin typeface="Calibri" panose="020F0502020204030204" pitchFamily="34" charset="0"/>
                        </a:rPr>
                        <a:t>3,7%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1,7%</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11914821"/>
                  </a:ext>
                </a:extLst>
              </a:tr>
              <a:tr h="207874">
                <a:tc vMerge="1">
                  <a:txBody>
                    <a:bodyPr/>
                    <a:lstStyle/>
                    <a:p>
                      <a:endParaRPr lang="es-CO"/>
                    </a:p>
                  </a:txBody>
                  <a:tcPr/>
                </a:tc>
                <a:tc>
                  <a:txBody>
                    <a:bodyPr/>
                    <a:lstStyle/>
                    <a:p>
                      <a:pPr algn="r" fontAlgn="b">
                        <a:buNone/>
                      </a:pPr>
                      <a:r>
                        <a:rPr lang="es-CO" sz="1050" b="1" i="0" u="none" strike="noStrike">
                          <a:solidFill>
                            <a:srgbClr val="FFFFFF"/>
                          </a:solidFill>
                          <a:effectLst/>
                          <a:latin typeface="Calibri" panose="020F0502020204030204" pitchFamily="34" charset="0"/>
                        </a:rPr>
                        <a:t>jul-26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l"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50" b="1" i="0" u="none" strike="noStrike">
                          <a:solidFill>
                            <a:srgbClr val="000000"/>
                          </a:solidFill>
                          <a:effectLst/>
                          <a:latin typeface="Calibri" panose="020F0502020204030204" pitchFamily="34" charset="0"/>
                        </a:rPr>
                        <a:t>43,9%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buNone/>
                      </a:pPr>
                      <a:r>
                        <a:rPr lang="es-CO" sz="1050" b="0" i="0" u="none" strike="noStrike">
                          <a:solidFill>
                            <a:srgbClr val="000000"/>
                          </a:solidFill>
                          <a:effectLst/>
                          <a:latin typeface="Calibri" panose="020F0502020204030204" pitchFamily="34" charset="0"/>
                        </a:rPr>
                        <a:t>29,6%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s-CO" sz="1050" b="0" i="0" u="none" strike="noStrike">
                          <a:solidFill>
                            <a:srgbClr val="000000"/>
                          </a:solidFill>
                          <a:effectLst/>
                          <a:latin typeface="Calibri" panose="020F0502020204030204" pitchFamily="34" charset="0"/>
                        </a:rPr>
                        <a:t>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50" b="0" i="0" u="none" strike="noStrike">
                          <a:solidFill>
                            <a:srgbClr val="000000"/>
                          </a:solidFill>
                          <a:effectLst/>
                          <a:latin typeface="Calibri" panose="020F0502020204030204" pitchFamily="34" charset="0"/>
                        </a:rPr>
                        <a:t>1,3%</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81444371"/>
                  </a:ext>
                </a:extLst>
              </a:tr>
              <a:tr h="207874">
                <a:tc vMerge="1">
                  <a:txBody>
                    <a:bodyPr/>
                    <a:lstStyle/>
                    <a:p>
                      <a:endParaRPr lang="es-CO"/>
                    </a:p>
                  </a:txBody>
                  <a:tcPr/>
                </a:tc>
                <a:tc>
                  <a:txBody>
                    <a:bodyPr/>
                    <a:lstStyle/>
                    <a:p>
                      <a:pPr algn="r" fontAlgn="b">
                        <a:buNone/>
                      </a:pPr>
                      <a:r>
                        <a:rPr lang="es-CO" sz="1050" b="1" i="0" u="none" strike="noStrike">
                          <a:solidFill>
                            <a:srgbClr val="FFFFFF"/>
                          </a:solidFill>
                          <a:effectLst/>
                          <a:latin typeface="Calibri" panose="020F0502020204030204" pitchFamily="34" charset="0"/>
                        </a:rPr>
                        <a:t>ago-26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l"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50" b="1" i="0" u="none" strike="noStrike">
                          <a:solidFill>
                            <a:srgbClr val="000000"/>
                          </a:solidFill>
                          <a:effectLst/>
                          <a:latin typeface="Calibri" panose="020F0502020204030204" pitchFamily="34" charset="0"/>
                        </a:rPr>
                        <a:t>51,9%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buNone/>
                      </a:pPr>
                      <a:r>
                        <a:rPr lang="es-CO" sz="1050" b="0" i="0" u="none" strike="noStrike">
                          <a:solidFill>
                            <a:srgbClr val="000000"/>
                          </a:solidFill>
                          <a:effectLst/>
                          <a:latin typeface="Calibri" panose="020F0502020204030204" pitchFamily="34" charset="0"/>
                        </a:rPr>
                        <a:t>28,1%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s-CO" sz="1050" b="0" i="0" u="none" strike="noStrike">
                          <a:solidFill>
                            <a:srgbClr val="000000"/>
                          </a:solidFill>
                          <a:effectLst/>
                          <a:latin typeface="Calibri" panose="020F0502020204030204" pitchFamily="34" charset="0"/>
                        </a:rPr>
                        <a:t>1,1%</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052002313"/>
                  </a:ext>
                </a:extLst>
              </a:tr>
              <a:tr h="207874">
                <a:tc vMerge="1">
                  <a:txBody>
                    <a:bodyPr/>
                    <a:lstStyle/>
                    <a:p>
                      <a:endParaRPr lang="es-CO"/>
                    </a:p>
                  </a:txBody>
                  <a:tcPr/>
                </a:tc>
                <a:tc>
                  <a:txBody>
                    <a:bodyPr/>
                    <a:lstStyle/>
                    <a:p>
                      <a:pPr algn="r" fontAlgn="b">
                        <a:buNone/>
                      </a:pPr>
                      <a:r>
                        <a:rPr lang="es-CO" sz="1050" b="1" i="0" u="none" strike="noStrike">
                          <a:solidFill>
                            <a:srgbClr val="FFFFFF"/>
                          </a:solidFill>
                          <a:effectLst/>
                          <a:latin typeface="Calibri" panose="020F0502020204030204" pitchFamily="34" charset="0"/>
                        </a:rPr>
                        <a:t>sep-26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l"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5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50" b="1" i="0" u="none" strike="noStrike">
                          <a:solidFill>
                            <a:srgbClr val="000000"/>
                          </a:solidFill>
                          <a:effectLst/>
                          <a:latin typeface="Calibri" panose="020F0502020204030204" pitchFamily="34" charset="0"/>
                        </a:rPr>
                        <a:t>62,5%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buNone/>
                      </a:pPr>
                      <a:r>
                        <a:rPr lang="es-CO" sz="1050" b="1" i="0" u="none" strike="noStrike">
                          <a:solidFill>
                            <a:srgbClr val="000000"/>
                          </a:solidFill>
                          <a:effectLst/>
                          <a:latin typeface="Calibri" panose="020F0502020204030204" pitchFamily="34" charset="0"/>
                        </a:rPr>
                        <a:t>1,0%</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extLst>
                  <a:ext uri="{0D108BD9-81ED-4DB2-BD59-A6C34878D82A}">
                    <a16:rowId xmlns:a16="http://schemas.microsoft.com/office/drawing/2014/main" val="4257543603"/>
                  </a:ext>
                </a:extLst>
              </a:tr>
            </a:tbl>
          </a:graphicData>
        </a:graphic>
      </p:graphicFrame>
    </p:spTree>
    <p:extLst>
      <p:ext uri="{BB962C8B-B14F-4D97-AF65-F5344CB8AC3E}">
        <p14:creationId xmlns:p14="http://schemas.microsoft.com/office/powerpoint/2010/main" val="153034297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E62D0-E443-3904-303A-6121A6B77C8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7464B89-C5EB-1762-05C6-85D5F1866863}"/>
              </a:ext>
            </a:extLst>
          </p:cNvPr>
          <p:cNvSpPr>
            <a:spLocks noGrp="1"/>
          </p:cNvSpPr>
          <p:nvPr>
            <p:ph type="ctrTitle"/>
          </p:nvPr>
        </p:nvSpPr>
        <p:spPr/>
        <p:txBody>
          <a:bodyPr>
            <a:normAutofit/>
          </a:bodyPr>
          <a:lstStyle/>
          <a:p>
            <a:pPr algn="ctr"/>
            <a:r>
              <a:rPr lang="es-CO" noProof="0"/>
              <a:t>Cuidados Paliativos Sanitas 2026</a:t>
            </a:r>
          </a:p>
        </p:txBody>
      </p:sp>
      <p:sp>
        <p:nvSpPr>
          <p:cNvPr id="3" name="CuadroTexto 2">
            <a:extLst>
              <a:ext uri="{FF2B5EF4-FFF2-40B4-BE49-F238E27FC236}">
                <a16:creationId xmlns:a16="http://schemas.microsoft.com/office/drawing/2014/main" id="{BBD3DF7A-D88A-7C9C-EE16-54B5846A75F1}"/>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Septiembre 2026</a:t>
            </a:r>
          </a:p>
        </p:txBody>
      </p:sp>
      <p:graphicFrame>
        <p:nvGraphicFramePr>
          <p:cNvPr id="6" name="Tabla 5">
            <a:extLst>
              <a:ext uri="{FF2B5EF4-FFF2-40B4-BE49-F238E27FC236}">
                <a16:creationId xmlns:a16="http://schemas.microsoft.com/office/drawing/2014/main" id="{142890AD-F2C0-712B-1FD5-81C0E493BB72}"/>
              </a:ext>
            </a:extLst>
          </p:cNvPr>
          <p:cNvGraphicFramePr>
            <a:graphicFrameLocks noGrp="1"/>
          </p:cNvGraphicFramePr>
          <p:nvPr>
            <p:extLst>
              <p:ext uri="{D42A27DB-BD31-4B8C-83A1-F6EECF244321}">
                <p14:modId xmlns:p14="http://schemas.microsoft.com/office/powerpoint/2010/main" val="3469331414"/>
              </p:ext>
            </p:extLst>
          </p:nvPr>
        </p:nvGraphicFramePr>
        <p:xfrm>
          <a:off x="469690" y="4224272"/>
          <a:ext cx="11177661" cy="1952470"/>
        </p:xfrm>
        <a:graphic>
          <a:graphicData uri="http://schemas.openxmlformats.org/drawingml/2006/table">
            <a:tbl>
              <a:tblPr/>
              <a:tblGrid>
                <a:gridCol w="2575800">
                  <a:extLst>
                    <a:ext uri="{9D8B030D-6E8A-4147-A177-3AD203B41FA5}">
                      <a16:colId xmlns:a16="http://schemas.microsoft.com/office/drawing/2014/main" val="791266804"/>
                    </a:ext>
                  </a:extLst>
                </a:gridCol>
                <a:gridCol w="1162168">
                  <a:extLst>
                    <a:ext uri="{9D8B030D-6E8A-4147-A177-3AD203B41FA5}">
                      <a16:colId xmlns:a16="http://schemas.microsoft.com/office/drawing/2014/main" val="3028118721"/>
                    </a:ext>
                  </a:extLst>
                </a:gridCol>
                <a:gridCol w="1325280">
                  <a:extLst>
                    <a:ext uri="{9D8B030D-6E8A-4147-A177-3AD203B41FA5}">
                      <a16:colId xmlns:a16="http://schemas.microsoft.com/office/drawing/2014/main" val="1909228652"/>
                    </a:ext>
                  </a:extLst>
                </a:gridCol>
                <a:gridCol w="1325280">
                  <a:extLst>
                    <a:ext uri="{9D8B030D-6E8A-4147-A177-3AD203B41FA5}">
                      <a16:colId xmlns:a16="http://schemas.microsoft.com/office/drawing/2014/main" val="687471956"/>
                    </a:ext>
                  </a:extLst>
                </a:gridCol>
                <a:gridCol w="1325280">
                  <a:extLst>
                    <a:ext uri="{9D8B030D-6E8A-4147-A177-3AD203B41FA5}">
                      <a16:colId xmlns:a16="http://schemas.microsoft.com/office/drawing/2014/main" val="428064446"/>
                    </a:ext>
                  </a:extLst>
                </a:gridCol>
                <a:gridCol w="890317">
                  <a:extLst>
                    <a:ext uri="{9D8B030D-6E8A-4147-A177-3AD203B41FA5}">
                      <a16:colId xmlns:a16="http://schemas.microsoft.com/office/drawing/2014/main" val="3591430545"/>
                    </a:ext>
                  </a:extLst>
                </a:gridCol>
                <a:gridCol w="1286768">
                  <a:extLst>
                    <a:ext uri="{9D8B030D-6E8A-4147-A177-3AD203B41FA5}">
                      <a16:colId xmlns:a16="http://schemas.microsoft.com/office/drawing/2014/main" val="539595959"/>
                    </a:ext>
                  </a:extLst>
                </a:gridCol>
                <a:gridCol w="1286768">
                  <a:extLst>
                    <a:ext uri="{9D8B030D-6E8A-4147-A177-3AD203B41FA5}">
                      <a16:colId xmlns:a16="http://schemas.microsoft.com/office/drawing/2014/main" val="1160586750"/>
                    </a:ext>
                  </a:extLst>
                </a:gridCol>
              </a:tblGrid>
              <a:tr h="390494">
                <a:tc>
                  <a:txBody>
                    <a:bodyPr/>
                    <a:lstStyle/>
                    <a:p>
                      <a:pPr algn="ctr" rtl="0" fontAlgn="ctr">
                        <a:buNone/>
                      </a:pPr>
                      <a:r>
                        <a:rPr lang="es-CO" sz="1200" b="1" i="0" u="none" strike="noStrike">
                          <a:solidFill>
                            <a:srgbClr val="FFFFFF"/>
                          </a:solidFill>
                          <a:effectLst/>
                          <a:latin typeface="Muli"/>
                        </a:rPr>
                        <a:t>SANITAS</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200" b="1" i="0" u="none" strike="noStrike">
                          <a:solidFill>
                            <a:srgbClr val="FFFFFF"/>
                          </a:solidFill>
                          <a:effectLst/>
                          <a:latin typeface="Muli"/>
                        </a:rPr>
                        <a:t>PACIENTES</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200" b="1" i="0" u="none" strike="noStrike">
                          <a:solidFill>
                            <a:srgbClr val="FFFFFF"/>
                          </a:solidFill>
                          <a:effectLst/>
                          <a:latin typeface="Muli"/>
                        </a:rPr>
                        <a:t>EFECTIVAS</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200" b="1" i="0" u="none" strike="noStrike">
                          <a:solidFill>
                            <a:srgbClr val="FFFFFF"/>
                          </a:solidFill>
                          <a:effectLst/>
                          <a:latin typeface="Muli"/>
                        </a:rPr>
                        <a:t>%</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200" b="1" i="0" u="none" strike="noStrike">
                          <a:solidFill>
                            <a:srgbClr val="FFFFFF"/>
                          </a:solidFill>
                          <a:effectLst/>
                          <a:latin typeface="Muli"/>
                        </a:rPr>
                        <a:t>CANCELADAS</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200" b="1" i="0" u="none" strike="noStrike">
                          <a:solidFill>
                            <a:srgbClr val="FFFFFF"/>
                          </a:solidFill>
                          <a:effectLst/>
                          <a:latin typeface="Muli"/>
                        </a:rPr>
                        <a:t>%</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200" b="1" i="0" u="none" strike="noStrike">
                          <a:solidFill>
                            <a:srgbClr val="FFFFFF"/>
                          </a:solidFill>
                          <a:effectLst/>
                          <a:latin typeface="Muli"/>
                        </a:rPr>
                        <a:t>IMCUMPLIDAS</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200" b="1" i="0" u="none" strike="noStrike">
                          <a:solidFill>
                            <a:srgbClr val="FFFFFF"/>
                          </a:solidFill>
                          <a:effectLst/>
                          <a:latin typeface="Muli"/>
                        </a:rPr>
                        <a:t>%</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extLst>
                  <a:ext uri="{0D108BD9-81ED-4DB2-BD59-A6C34878D82A}">
                    <a16:rowId xmlns:a16="http://schemas.microsoft.com/office/drawing/2014/main" val="2403848596"/>
                  </a:ext>
                </a:extLst>
              </a:tr>
              <a:tr h="390494">
                <a:tc>
                  <a:txBody>
                    <a:bodyPr/>
                    <a:lstStyle/>
                    <a:p>
                      <a:pPr algn="ctr" rtl="0" fontAlgn="ctr">
                        <a:buNone/>
                      </a:pPr>
                      <a:r>
                        <a:rPr lang="es-CO" sz="1200" b="1" i="0" u="none" strike="noStrike">
                          <a:solidFill>
                            <a:srgbClr val="FFFFFF"/>
                          </a:solidFill>
                          <a:effectLst/>
                          <a:latin typeface="Muli"/>
                        </a:rPr>
                        <a:t>DOLOR Y CUIDADOS PALIATIVOS</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200" b="0" i="0" u="none" strike="noStrike">
                          <a:solidFill>
                            <a:srgbClr val="80589F"/>
                          </a:solidFill>
                          <a:effectLst/>
                          <a:latin typeface="Muli"/>
                        </a:rPr>
                        <a:t>343</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ctr">
                        <a:buNone/>
                      </a:pPr>
                      <a:r>
                        <a:rPr lang="es-CO" sz="1200" b="0" i="0" u="none" strike="noStrike">
                          <a:solidFill>
                            <a:srgbClr val="80589F"/>
                          </a:solidFill>
                          <a:effectLst/>
                          <a:latin typeface="Muli"/>
                        </a:rPr>
                        <a:t>556</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ctr">
                        <a:buNone/>
                      </a:pPr>
                      <a:r>
                        <a:rPr lang="es-CO" sz="1200" b="0" i="0" u="none" strike="noStrike">
                          <a:solidFill>
                            <a:srgbClr val="80589F"/>
                          </a:solidFill>
                          <a:effectLst/>
                          <a:latin typeface="Muli"/>
                        </a:rPr>
                        <a:t>77%</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ctr">
                        <a:buNone/>
                      </a:pPr>
                      <a:r>
                        <a:rPr lang="es-CO" sz="1200" b="0" i="0" u="none" strike="noStrike">
                          <a:solidFill>
                            <a:srgbClr val="80589F"/>
                          </a:solidFill>
                          <a:effectLst/>
                          <a:latin typeface="Muli"/>
                        </a:rPr>
                        <a:t>115</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ctr">
                        <a:buNone/>
                      </a:pPr>
                      <a:r>
                        <a:rPr lang="es-CO" sz="1200" b="0" i="0" u="none" strike="noStrike">
                          <a:solidFill>
                            <a:srgbClr val="80589F"/>
                          </a:solidFill>
                          <a:effectLst/>
                          <a:latin typeface="Muli"/>
                        </a:rPr>
                        <a:t>16%</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ctr">
                        <a:buNone/>
                      </a:pPr>
                      <a:r>
                        <a:rPr lang="es-CO" sz="1200" b="0" i="0" u="none" strike="noStrike">
                          <a:solidFill>
                            <a:srgbClr val="80589F"/>
                          </a:solidFill>
                          <a:effectLst/>
                          <a:latin typeface="Calibri" panose="020F0502020204030204" pitchFamily="34" charset="0"/>
                        </a:rPr>
                        <a:t>54</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ctr">
                        <a:buNone/>
                      </a:pPr>
                      <a:r>
                        <a:rPr lang="es-CO" sz="1200" b="0" i="0" u="none" strike="noStrike">
                          <a:solidFill>
                            <a:srgbClr val="80589F"/>
                          </a:solidFill>
                          <a:effectLst/>
                          <a:latin typeface="Muli"/>
                        </a:rPr>
                        <a:t>7%</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extLst>
                  <a:ext uri="{0D108BD9-81ED-4DB2-BD59-A6C34878D82A}">
                    <a16:rowId xmlns:a16="http://schemas.microsoft.com/office/drawing/2014/main" val="2689968948"/>
                  </a:ext>
                </a:extLst>
              </a:tr>
              <a:tr h="390494">
                <a:tc>
                  <a:txBody>
                    <a:bodyPr/>
                    <a:lstStyle/>
                    <a:p>
                      <a:pPr algn="ctr" rtl="0" fontAlgn="ctr">
                        <a:buNone/>
                      </a:pPr>
                      <a:r>
                        <a:rPr lang="es-CO" sz="1200" b="1" i="0" u="none" strike="noStrike">
                          <a:solidFill>
                            <a:srgbClr val="FFFFFF"/>
                          </a:solidFill>
                          <a:effectLst/>
                          <a:latin typeface="Muli"/>
                        </a:rPr>
                        <a:t>NUTRICION Y DIETETICA</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200" b="0" i="0" u="none" strike="noStrike">
                          <a:solidFill>
                            <a:srgbClr val="80589F"/>
                          </a:solidFill>
                          <a:effectLst/>
                          <a:latin typeface="Muli"/>
                        </a:rPr>
                        <a:t>1613</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ctr">
                        <a:buNone/>
                      </a:pPr>
                      <a:r>
                        <a:rPr lang="es-CO" sz="1200" b="0" i="0" u="none" strike="noStrike">
                          <a:solidFill>
                            <a:srgbClr val="80589F"/>
                          </a:solidFill>
                          <a:effectLst/>
                          <a:latin typeface="Calibri" panose="020F0502020204030204" pitchFamily="34" charset="0"/>
                        </a:rPr>
                        <a:t>3618</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ctr">
                        <a:buNone/>
                      </a:pPr>
                      <a:r>
                        <a:rPr lang="es-CO" sz="1200" b="0" i="0" u="none" strike="noStrike">
                          <a:solidFill>
                            <a:srgbClr val="80589F"/>
                          </a:solidFill>
                          <a:effectLst/>
                          <a:latin typeface="Muli"/>
                        </a:rPr>
                        <a:t>78%</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ctr">
                        <a:buNone/>
                      </a:pPr>
                      <a:r>
                        <a:rPr lang="es-CO" sz="1200" b="0" i="0" u="none" strike="noStrike">
                          <a:solidFill>
                            <a:srgbClr val="80589F"/>
                          </a:solidFill>
                          <a:effectLst/>
                          <a:latin typeface="Calibri" panose="020F0502020204030204" pitchFamily="34" charset="0"/>
                        </a:rPr>
                        <a:t>515</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ctr">
                        <a:buNone/>
                      </a:pPr>
                      <a:r>
                        <a:rPr lang="es-CO" sz="1200" b="0" i="0" u="none" strike="noStrike">
                          <a:solidFill>
                            <a:srgbClr val="80589F"/>
                          </a:solidFill>
                          <a:effectLst/>
                          <a:latin typeface="Muli"/>
                        </a:rPr>
                        <a:t>11%</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ctr">
                        <a:buNone/>
                      </a:pPr>
                      <a:r>
                        <a:rPr lang="es-CO" sz="1200" b="0" i="0" u="none" strike="noStrike">
                          <a:solidFill>
                            <a:srgbClr val="80589F"/>
                          </a:solidFill>
                          <a:effectLst/>
                          <a:latin typeface="Muli"/>
                        </a:rPr>
                        <a:t>504</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ctr">
                        <a:buNone/>
                      </a:pPr>
                      <a:r>
                        <a:rPr lang="es-CO" sz="1200" b="0" i="0" u="none" strike="noStrike">
                          <a:solidFill>
                            <a:srgbClr val="80589F"/>
                          </a:solidFill>
                          <a:effectLst/>
                          <a:latin typeface="Muli"/>
                        </a:rPr>
                        <a:t>11%</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extLst>
                  <a:ext uri="{0D108BD9-81ED-4DB2-BD59-A6C34878D82A}">
                    <a16:rowId xmlns:a16="http://schemas.microsoft.com/office/drawing/2014/main" val="1281071116"/>
                  </a:ext>
                </a:extLst>
              </a:tr>
              <a:tr h="390494">
                <a:tc>
                  <a:txBody>
                    <a:bodyPr/>
                    <a:lstStyle/>
                    <a:p>
                      <a:pPr algn="ctr" rtl="0" fontAlgn="ctr">
                        <a:buNone/>
                      </a:pPr>
                      <a:r>
                        <a:rPr lang="es-CO" sz="1200" b="1" i="0" u="none" strike="noStrike">
                          <a:solidFill>
                            <a:srgbClr val="FFFFFF"/>
                          </a:solidFill>
                          <a:effectLst/>
                          <a:latin typeface="Muli"/>
                        </a:rPr>
                        <a:t>PSICOLOGIA</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200" b="0" i="0" u="none" strike="noStrike">
                          <a:solidFill>
                            <a:srgbClr val="80589F"/>
                          </a:solidFill>
                          <a:effectLst/>
                          <a:latin typeface="Muli"/>
                        </a:rPr>
                        <a:t>1685</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ctr">
                        <a:buNone/>
                      </a:pPr>
                      <a:r>
                        <a:rPr lang="es-CO" sz="1200" b="0" i="0" u="none" strike="noStrike">
                          <a:solidFill>
                            <a:srgbClr val="80589F"/>
                          </a:solidFill>
                          <a:effectLst/>
                          <a:latin typeface="Muli"/>
                        </a:rPr>
                        <a:t>4953</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ctr">
                        <a:buNone/>
                      </a:pPr>
                      <a:r>
                        <a:rPr lang="es-CO" sz="1200" b="0" i="0" u="none" strike="noStrike">
                          <a:solidFill>
                            <a:srgbClr val="80589F"/>
                          </a:solidFill>
                          <a:effectLst/>
                          <a:latin typeface="Muli"/>
                        </a:rPr>
                        <a:t>86%</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ctr">
                        <a:buNone/>
                      </a:pPr>
                      <a:r>
                        <a:rPr lang="es-CO" sz="1200" b="0" i="0" u="none" strike="noStrike">
                          <a:solidFill>
                            <a:srgbClr val="80589F"/>
                          </a:solidFill>
                          <a:effectLst/>
                          <a:latin typeface="Calibri" panose="020F0502020204030204" pitchFamily="34" charset="0"/>
                        </a:rPr>
                        <a:t>454</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ctr">
                        <a:buNone/>
                      </a:pPr>
                      <a:r>
                        <a:rPr lang="es-CO" sz="1200" b="0" i="0" u="none" strike="noStrike">
                          <a:solidFill>
                            <a:srgbClr val="80589F"/>
                          </a:solidFill>
                          <a:effectLst/>
                          <a:latin typeface="Muli"/>
                        </a:rPr>
                        <a:t>8%</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ctr">
                        <a:buNone/>
                      </a:pPr>
                      <a:r>
                        <a:rPr lang="es-CO" sz="1200" b="0" i="0" u="none" strike="noStrike">
                          <a:solidFill>
                            <a:srgbClr val="80589F"/>
                          </a:solidFill>
                          <a:effectLst/>
                          <a:latin typeface="Calibri" panose="020F0502020204030204" pitchFamily="34" charset="0"/>
                        </a:rPr>
                        <a:t>332</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ctr">
                        <a:buNone/>
                      </a:pPr>
                      <a:r>
                        <a:rPr lang="es-CO" sz="1200" b="0" i="0" u="none" strike="noStrike">
                          <a:solidFill>
                            <a:srgbClr val="80589F"/>
                          </a:solidFill>
                          <a:effectLst/>
                          <a:latin typeface="Muli"/>
                        </a:rPr>
                        <a:t>6%</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extLst>
                  <a:ext uri="{0D108BD9-81ED-4DB2-BD59-A6C34878D82A}">
                    <a16:rowId xmlns:a16="http://schemas.microsoft.com/office/drawing/2014/main" val="526519291"/>
                  </a:ext>
                </a:extLst>
              </a:tr>
              <a:tr h="390494">
                <a:tc>
                  <a:txBody>
                    <a:bodyPr/>
                    <a:lstStyle/>
                    <a:p>
                      <a:pPr algn="ctr" rtl="0" fontAlgn="ctr">
                        <a:buNone/>
                      </a:pPr>
                      <a:r>
                        <a:rPr lang="es-CO" sz="1200" b="1" i="0" u="none" strike="noStrike">
                          <a:solidFill>
                            <a:srgbClr val="FFFFFF"/>
                          </a:solidFill>
                          <a:effectLst/>
                          <a:latin typeface="Muli"/>
                        </a:rPr>
                        <a:t>TRABAJO SOCIAL</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200" b="0" i="0" u="none" strike="noStrike">
                          <a:solidFill>
                            <a:srgbClr val="80589F"/>
                          </a:solidFill>
                          <a:effectLst/>
                          <a:latin typeface="Muli"/>
                        </a:rPr>
                        <a:t>1666</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ctr">
                        <a:buNone/>
                      </a:pPr>
                      <a:r>
                        <a:rPr lang="es-CO" sz="1200" b="0" i="0" u="none" strike="noStrike">
                          <a:solidFill>
                            <a:srgbClr val="80589F"/>
                          </a:solidFill>
                          <a:effectLst/>
                          <a:latin typeface="Muli"/>
                        </a:rPr>
                        <a:t>4656</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ctr">
                        <a:buNone/>
                      </a:pPr>
                      <a:r>
                        <a:rPr lang="es-CO" sz="1200" b="0" i="0" u="none" strike="noStrike">
                          <a:solidFill>
                            <a:srgbClr val="80589F"/>
                          </a:solidFill>
                          <a:effectLst/>
                          <a:latin typeface="Muli"/>
                        </a:rPr>
                        <a:t>82%</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ctr">
                        <a:buNone/>
                      </a:pPr>
                      <a:r>
                        <a:rPr lang="es-CO" sz="1200" b="0" i="0" u="none" strike="noStrike">
                          <a:solidFill>
                            <a:srgbClr val="80589F"/>
                          </a:solidFill>
                          <a:effectLst/>
                          <a:latin typeface="Calibri" panose="020F0502020204030204" pitchFamily="34" charset="0"/>
                        </a:rPr>
                        <a:t>522</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ctr">
                        <a:buNone/>
                      </a:pPr>
                      <a:r>
                        <a:rPr lang="es-CO" sz="1200" b="0" i="0" u="none" strike="noStrike">
                          <a:solidFill>
                            <a:srgbClr val="80589F"/>
                          </a:solidFill>
                          <a:effectLst/>
                          <a:latin typeface="Muli"/>
                        </a:rPr>
                        <a:t>9%</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ctr">
                        <a:buNone/>
                      </a:pPr>
                      <a:r>
                        <a:rPr lang="es-CO" sz="1200" b="0" i="0" u="none" strike="noStrike">
                          <a:solidFill>
                            <a:srgbClr val="80589F"/>
                          </a:solidFill>
                          <a:effectLst/>
                          <a:latin typeface="Calibri" panose="020F0502020204030204" pitchFamily="34" charset="0"/>
                        </a:rPr>
                        <a:t>521</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ctr">
                        <a:buNone/>
                      </a:pPr>
                      <a:r>
                        <a:rPr lang="es-CO" sz="1200" b="0" i="0" u="none" strike="noStrike">
                          <a:solidFill>
                            <a:srgbClr val="80589F"/>
                          </a:solidFill>
                          <a:effectLst/>
                          <a:latin typeface="Muli"/>
                        </a:rPr>
                        <a:t>9%</a:t>
                      </a:r>
                    </a:p>
                  </a:txBody>
                  <a:tcPr marL="6402" marR="6402" marT="640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extLst>
                  <a:ext uri="{0D108BD9-81ED-4DB2-BD59-A6C34878D82A}">
                    <a16:rowId xmlns:a16="http://schemas.microsoft.com/office/drawing/2014/main" val="2025617669"/>
                  </a:ext>
                </a:extLst>
              </a:tr>
            </a:tbl>
          </a:graphicData>
        </a:graphic>
      </p:graphicFrame>
      <p:graphicFrame>
        <p:nvGraphicFramePr>
          <p:cNvPr id="8" name="Tabla 7">
            <a:extLst>
              <a:ext uri="{FF2B5EF4-FFF2-40B4-BE49-F238E27FC236}">
                <a16:creationId xmlns:a16="http://schemas.microsoft.com/office/drawing/2014/main" id="{A627B368-336D-DA4E-A15D-14D45D82228D}"/>
              </a:ext>
            </a:extLst>
          </p:cNvPr>
          <p:cNvGraphicFramePr>
            <a:graphicFrameLocks noGrp="1"/>
          </p:cNvGraphicFramePr>
          <p:nvPr>
            <p:extLst>
              <p:ext uri="{D42A27DB-BD31-4B8C-83A1-F6EECF244321}">
                <p14:modId xmlns:p14="http://schemas.microsoft.com/office/powerpoint/2010/main" val="2233362568"/>
              </p:ext>
            </p:extLst>
          </p:nvPr>
        </p:nvGraphicFramePr>
        <p:xfrm>
          <a:off x="507169" y="831357"/>
          <a:ext cx="11177661" cy="3455254"/>
        </p:xfrm>
        <a:graphic>
          <a:graphicData uri="http://schemas.openxmlformats.org/drawingml/2006/table">
            <a:tbl>
              <a:tblPr/>
              <a:tblGrid>
                <a:gridCol w="2910664">
                  <a:extLst>
                    <a:ext uri="{9D8B030D-6E8A-4147-A177-3AD203B41FA5}">
                      <a16:colId xmlns:a16="http://schemas.microsoft.com/office/drawing/2014/main" val="1825168676"/>
                    </a:ext>
                  </a:extLst>
                </a:gridCol>
                <a:gridCol w="1888382">
                  <a:extLst>
                    <a:ext uri="{9D8B030D-6E8A-4147-A177-3AD203B41FA5}">
                      <a16:colId xmlns:a16="http://schemas.microsoft.com/office/drawing/2014/main" val="1017277126"/>
                    </a:ext>
                  </a:extLst>
                </a:gridCol>
                <a:gridCol w="2158151">
                  <a:extLst>
                    <a:ext uri="{9D8B030D-6E8A-4147-A177-3AD203B41FA5}">
                      <a16:colId xmlns:a16="http://schemas.microsoft.com/office/drawing/2014/main" val="1268912730"/>
                    </a:ext>
                  </a:extLst>
                </a:gridCol>
                <a:gridCol w="2143953">
                  <a:extLst>
                    <a:ext uri="{9D8B030D-6E8A-4147-A177-3AD203B41FA5}">
                      <a16:colId xmlns:a16="http://schemas.microsoft.com/office/drawing/2014/main" val="3398046777"/>
                    </a:ext>
                  </a:extLst>
                </a:gridCol>
                <a:gridCol w="2076511">
                  <a:extLst>
                    <a:ext uri="{9D8B030D-6E8A-4147-A177-3AD203B41FA5}">
                      <a16:colId xmlns:a16="http://schemas.microsoft.com/office/drawing/2014/main" val="3848897334"/>
                    </a:ext>
                  </a:extLst>
                </a:gridCol>
              </a:tblGrid>
              <a:tr h="468526">
                <a:tc>
                  <a:txBody>
                    <a:bodyPr/>
                    <a:lstStyle/>
                    <a:p>
                      <a:pPr algn="ctr" rtl="0" fontAlgn="ctr">
                        <a:buNone/>
                      </a:pPr>
                      <a:r>
                        <a:rPr lang="es-CO" sz="1600" b="1" i="0" u="none" strike="noStrike">
                          <a:solidFill>
                            <a:srgbClr val="FFFFFF"/>
                          </a:solidFill>
                          <a:effectLst/>
                          <a:latin typeface="Muli"/>
                        </a:rPr>
                        <a:t>PREVALENCIA</a:t>
                      </a:r>
                    </a:p>
                  </a:txBody>
                  <a:tcPr marL="9525" marR="9525" marT="9525" marB="0" anchor="ctr">
                    <a:lnL w="12700" cap="flat" cmpd="sng" algn="ctr">
                      <a:solidFill>
                        <a:srgbClr val="80589F"/>
                      </a:solidFill>
                      <a:prstDash val="solid"/>
                      <a:round/>
                      <a:headEnd type="none" w="med" len="med"/>
                      <a:tailEnd type="none" w="med" len="med"/>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7030A0"/>
                    </a:solidFill>
                  </a:tcPr>
                </a:tc>
                <a:tc>
                  <a:txBody>
                    <a:bodyPr/>
                    <a:lstStyle/>
                    <a:p>
                      <a:pPr algn="ctr" rtl="0" fontAlgn="ctr">
                        <a:buNone/>
                      </a:pPr>
                      <a:r>
                        <a:rPr lang="es-CO" sz="1600" b="1" i="0" u="none" strike="noStrike">
                          <a:solidFill>
                            <a:srgbClr val="FFFFFF"/>
                          </a:solidFill>
                          <a:effectLst/>
                          <a:latin typeface="Muli"/>
                        </a:rPr>
                        <a:t>PSICOLOGÍA</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7030A0"/>
                    </a:solidFill>
                  </a:tcPr>
                </a:tc>
                <a:tc>
                  <a:txBody>
                    <a:bodyPr/>
                    <a:lstStyle/>
                    <a:p>
                      <a:pPr algn="ctr" rtl="0" fontAlgn="ctr">
                        <a:buNone/>
                      </a:pPr>
                      <a:r>
                        <a:rPr lang="es-CO" sz="1600" b="1" i="0" u="none" strike="noStrike">
                          <a:solidFill>
                            <a:srgbClr val="FFFFFF"/>
                          </a:solidFill>
                          <a:effectLst/>
                          <a:latin typeface="Muli"/>
                        </a:rPr>
                        <a:t>TRABAJO SOCIAL</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7030A0"/>
                    </a:solidFill>
                  </a:tcPr>
                </a:tc>
                <a:tc>
                  <a:txBody>
                    <a:bodyPr/>
                    <a:lstStyle/>
                    <a:p>
                      <a:pPr algn="ctr" rtl="0" fontAlgn="ctr">
                        <a:buNone/>
                      </a:pPr>
                      <a:r>
                        <a:rPr lang="es-CO" sz="1600" b="1" i="0" u="none" strike="noStrike">
                          <a:solidFill>
                            <a:srgbClr val="FFFFFF"/>
                          </a:solidFill>
                          <a:effectLst/>
                          <a:latin typeface="Muli"/>
                        </a:rPr>
                        <a:t>DOLOR Y CP</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7030A0"/>
                    </a:solidFill>
                  </a:tcPr>
                </a:tc>
                <a:tc>
                  <a:txBody>
                    <a:bodyPr/>
                    <a:lstStyle/>
                    <a:p>
                      <a:pPr algn="ctr" rtl="0" fontAlgn="ctr">
                        <a:buNone/>
                      </a:pPr>
                      <a:r>
                        <a:rPr lang="es-CO" sz="1600" b="1" i="0" u="none" strike="noStrike">
                          <a:solidFill>
                            <a:srgbClr val="FFFFFF"/>
                          </a:solidFill>
                          <a:effectLst/>
                          <a:latin typeface="Muli"/>
                        </a:rPr>
                        <a:t>NUTRICIÓN</a:t>
                      </a:r>
                    </a:p>
                  </a:txBody>
                  <a:tcPr marL="9525" marR="9525" marT="9525" marB="0" anchor="ctr">
                    <a:lnL>
                      <a:noFill/>
                    </a:lnL>
                    <a:lnR w="12700" cap="flat" cmpd="sng" algn="ctr">
                      <a:solidFill>
                        <a:srgbClr val="80589F"/>
                      </a:solidFill>
                      <a:prstDash val="solid"/>
                      <a:round/>
                      <a:headEnd type="none" w="med" len="med"/>
                      <a:tailEnd type="none" w="med" len="med"/>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7030A0"/>
                    </a:solidFill>
                  </a:tcPr>
                </a:tc>
                <a:extLst>
                  <a:ext uri="{0D108BD9-81ED-4DB2-BD59-A6C34878D82A}">
                    <a16:rowId xmlns:a16="http://schemas.microsoft.com/office/drawing/2014/main" val="2543890998"/>
                  </a:ext>
                </a:extLst>
              </a:tr>
              <a:tr h="238522">
                <a:tc>
                  <a:txBody>
                    <a:bodyPr/>
                    <a:lstStyle/>
                    <a:p>
                      <a:pPr algn="ctr" rtl="0" fontAlgn="ctr">
                        <a:buNone/>
                      </a:pPr>
                      <a:r>
                        <a:rPr lang="es-CO" sz="1600" b="0" i="0" u="none" strike="noStrike">
                          <a:solidFill>
                            <a:srgbClr val="80589F"/>
                          </a:solidFill>
                          <a:effectLst/>
                          <a:latin typeface="Muli"/>
                        </a:rPr>
                        <a:t>Cobertura enero 2026</a:t>
                      </a:r>
                    </a:p>
                  </a:txBody>
                  <a:tcPr marL="9525" marR="9525" marT="9525" marB="0" anchor="ctr">
                    <a:lnL w="12700" cap="flat" cmpd="sng" algn="ctr">
                      <a:solidFill>
                        <a:srgbClr val="80589F"/>
                      </a:solidFill>
                      <a:prstDash val="solid"/>
                      <a:round/>
                      <a:headEnd type="none" w="med" len="med"/>
                      <a:tailEnd type="none" w="med" len="med"/>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600" b="0" i="0" u="none" strike="noStrike">
                          <a:solidFill>
                            <a:srgbClr val="80589F"/>
                          </a:solidFill>
                          <a:effectLst/>
                          <a:latin typeface="Muli"/>
                        </a:rPr>
                        <a:t>14%</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600" b="0" i="0" u="none" strike="noStrike">
                          <a:solidFill>
                            <a:srgbClr val="80589F"/>
                          </a:solidFill>
                          <a:effectLst/>
                          <a:latin typeface="Muli"/>
                        </a:rPr>
                        <a:t>19%</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600" b="0" i="0" u="none" strike="noStrike">
                          <a:solidFill>
                            <a:srgbClr val="80589F"/>
                          </a:solidFill>
                          <a:effectLst/>
                          <a:latin typeface="Muli"/>
                        </a:rPr>
                        <a:t>2%</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600" b="0" i="0" u="none" strike="noStrike">
                          <a:solidFill>
                            <a:srgbClr val="80589F"/>
                          </a:solidFill>
                          <a:effectLst/>
                          <a:latin typeface="Muli"/>
                        </a:rPr>
                        <a:t>9%</a:t>
                      </a:r>
                    </a:p>
                  </a:txBody>
                  <a:tcPr marL="9525" marR="9525" marT="9525" marB="0" anchor="ctr">
                    <a:lnL>
                      <a:noFill/>
                    </a:lnL>
                    <a:lnR w="12700" cap="flat" cmpd="sng" algn="ctr">
                      <a:solidFill>
                        <a:srgbClr val="80589F"/>
                      </a:solidFill>
                      <a:prstDash val="solid"/>
                      <a:round/>
                      <a:headEnd type="none" w="med" len="med"/>
                      <a:tailEnd type="none" w="med" len="med"/>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extLst>
                  <a:ext uri="{0D108BD9-81ED-4DB2-BD59-A6C34878D82A}">
                    <a16:rowId xmlns:a16="http://schemas.microsoft.com/office/drawing/2014/main" val="2151944359"/>
                  </a:ext>
                </a:extLst>
              </a:tr>
              <a:tr h="468526">
                <a:tc>
                  <a:txBody>
                    <a:bodyPr/>
                    <a:lstStyle/>
                    <a:p>
                      <a:pPr algn="ctr" rtl="0" fontAlgn="ctr">
                        <a:buNone/>
                      </a:pPr>
                      <a:r>
                        <a:rPr lang="es-CO" sz="1600" b="0" i="0" u="none" strike="noStrike">
                          <a:solidFill>
                            <a:srgbClr val="80589F"/>
                          </a:solidFill>
                          <a:effectLst/>
                          <a:latin typeface="Muli"/>
                        </a:rPr>
                        <a:t>Cobertura Septiembre 2026</a:t>
                      </a:r>
                    </a:p>
                  </a:txBody>
                  <a:tcPr marL="9525" marR="9525" marT="9525" marB="0" anchor="ctr">
                    <a:lnL w="12700" cap="flat" cmpd="sng" algn="ctr">
                      <a:solidFill>
                        <a:srgbClr val="80589F"/>
                      </a:solidFill>
                      <a:prstDash val="solid"/>
                      <a:round/>
                      <a:headEnd type="none" w="med" len="med"/>
                      <a:tailEnd type="none" w="med" len="med"/>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600" b="0" i="0" u="none" strike="noStrike">
                          <a:solidFill>
                            <a:srgbClr val="80589F"/>
                          </a:solidFill>
                          <a:effectLst/>
                          <a:latin typeface="Muli"/>
                        </a:rPr>
                        <a:t>83%</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600" b="0" i="0" u="none" strike="noStrike">
                          <a:solidFill>
                            <a:srgbClr val="80589F"/>
                          </a:solidFill>
                          <a:effectLst/>
                          <a:latin typeface="Muli"/>
                        </a:rPr>
                        <a:t>83%</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600" b="0" i="0" u="none" strike="noStrike">
                          <a:solidFill>
                            <a:srgbClr val="80589F"/>
                          </a:solidFill>
                          <a:effectLst/>
                          <a:latin typeface="Muli"/>
                        </a:rPr>
                        <a:t>14%</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600" b="0" i="0" u="none" strike="noStrike">
                          <a:solidFill>
                            <a:srgbClr val="80589F"/>
                          </a:solidFill>
                          <a:effectLst/>
                          <a:latin typeface="Muli"/>
                        </a:rPr>
                        <a:t>80%</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extLst>
                  <a:ext uri="{0D108BD9-81ED-4DB2-BD59-A6C34878D82A}">
                    <a16:rowId xmlns:a16="http://schemas.microsoft.com/office/drawing/2014/main" val="508212792"/>
                  </a:ext>
                </a:extLst>
              </a:tr>
              <a:tr h="272597">
                <a:tc>
                  <a:txBody>
                    <a:bodyPr/>
                    <a:lstStyle/>
                    <a:p>
                      <a:pPr algn="ctr" rtl="0" fontAlgn="ctr">
                        <a:buNone/>
                      </a:pPr>
                      <a:r>
                        <a:rPr lang="es-CO" sz="1800" b="0" i="0" u="none" strike="noStrike">
                          <a:solidFill>
                            <a:srgbClr val="80589F"/>
                          </a:solidFill>
                          <a:effectLst/>
                          <a:latin typeface="Muli"/>
                        </a:rPr>
                        <a:t> </a:t>
                      </a:r>
                    </a:p>
                  </a:txBody>
                  <a:tcPr marL="9525" marR="9525" marT="9525" marB="0" anchor="ctr">
                    <a:lnL w="12700" cap="flat" cmpd="sng" algn="ctr">
                      <a:solidFill>
                        <a:srgbClr val="80589F"/>
                      </a:solidFill>
                      <a:prstDash val="solid"/>
                      <a:round/>
                      <a:headEnd type="none" w="med" len="med"/>
                      <a:tailEnd type="none" w="med" len="med"/>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800" b="0" i="0" u="none" strike="noStrike">
                          <a:solidFill>
                            <a:srgbClr val="80589F"/>
                          </a:solidFill>
                          <a:effectLst/>
                          <a:latin typeface="Muli"/>
                        </a:rPr>
                        <a:t> </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800" b="0" i="0" u="none" strike="noStrike">
                          <a:solidFill>
                            <a:srgbClr val="80589F"/>
                          </a:solidFill>
                          <a:effectLst/>
                          <a:latin typeface="Muli"/>
                        </a:rPr>
                        <a:t> </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800" b="0" i="0" u="none" strike="noStrike">
                          <a:solidFill>
                            <a:srgbClr val="80589F"/>
                          </a:solidFill>
                          <a:effectLst/>
                          <a:latin typeface="Muli"/>
                        </a:rPr>
                        <a:t> </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800" b="0" i="0" u="none" strike="noStrike">
                          <a:solidFill>
                            <a:srgbClr val="80589F"/>
                          </a:solidFill>
                          <a:effectLst/>
                          <a:latin typeface="Muli"/>
                        </a:rPr>
                        <a:t> </a:t>
                      </a:r>
                    </a:p>
                  </a:txBody>
                  <a:tcPr marL="9525" marR="9525" marT="9525" marB="0" anchor="ctr">
                    <a:lnL>
                      <a:noFill/>
                    </a:lnL>
                    <a:lnR w="12700" cap="flat" cmpd="sng" algn="ctr">
                      <a:solidFill>
                        <a:srgbClr val="80589F"/>
                      </a:solidFill>
                      <a:prstDash val="solid"/>
                      <a:round/>
                      <a:headEnd type="none" w="med" len="med"/>
                      <a:tailEnd type="none" w="med" len="med"/>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extLst>
                  <a:ext uri="{0D108BD9-81ED-4DB2-BD59-A6C34878D82A}">
                    <a16:rowId xmlns:a16="http://schemas.microsoft.com/office/drawing/2014/main" val="665621888"/>
                  </a:ext>
                </a:extLst>
              </a:tr>
              <a:tr h="238522">
                <a:tc>
                  <a:txBody>
                    <a:bodyPr/>
                    <a:lstStyle/>
                    <a:p>
                      <a:pPr algn="ctr" rtl="0" fontAlgn="ctr">
                        <a:buNone/>
                      </a:pPr>
                      <a:r>
                        <a:rPr lang="es-CO" sz="1600" b="0" i="0" u="none" strike="noStrike">
                          <a:solidFill>
                            <a:srgbClr val="FFFFFF"/>
                          </a:solidFill>
                          <a:effectLst/>
                          <a:latin typeface="Muli"/>
                        </a:rPr>
                        <a:t>INCIDENCIA</a:t>
                      </a:r>
                    </a:p>
                  </a:txBody>
                  <a:tcPr marL="9525" marR="9525" marT="9525" marB="0" anchor="ctr">
                    <a:lnL w="12700" cap="flat" cmpd="sng" algn="ctr">
                      <a:solidFill>
                        <a:srgbClr val="80589F"/>
                      </a:solidFill>
                      <a:prstDash val="solid"/>
                      <a:round/>
                      <a:headEnd type="none" w="med" len="med"/>
                      <a:tailEnd type="none" w="med" len="med"/>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7030A0"/>
                    </a:solidFill>
                  </a:tcPr>
                </a:tc>
                <a:tc>
                  <a:txBody>
                    <a:bodyPr/>
                    <a:lstStyle/>
                    <a:p>
                      <a:pPr algn="ctr" rtl="0" fontAlgn="ctr">
                        <a:buNone/>
                      </a:pPr>
                      <a:r>
                        <a:rPr lang="es-CO" sz="1600" b="0" i="0" u="none" strike="noStrike">
                          <a:solidFill>
                            <a:srgbClr val="FFFFFF"/>
                          </a:solidFill>
                          <a:effectLst/>
                          <a:latin typeface="Muli"/>
                        </a:rPr>
                        <a:t>PSICOLOGÍA</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7030A0"/>
                    </a:solidFill>
                  </a:tcPr>
                </a:tc>
                <a:tc>
                  <a:txBody>
                    <a:bodyPr/>
                    <a:lstStyle/>
                    <a:p>
                      <a:pPr algn="ctr" rtl="0" fontAlgn="ctr">
                        <a:buNone/>
                      </a:pPr>
                      <a:r>
                        <a:rPr lang="es-CO" sz="1600" b="0" i="0" u="none" strike="noStrike">
                          <a:solidFill>
                            <a:srgbClr val="FFFFFF"/>
                          </a:solidFill>
                          <a:effectLst/>
                          <a:latin typeface="Muli"/>
                        </a:rPr>
                        <a:t>TRABAJO SOCIAL</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7030A0"/>
                    </a:solidFill>
                  </a:tcPr>
                </a:tc>
                <a:tc>
                  <a:txBody>
                    <a:bodyPr/>
                    <a:lstStyle/>
                    <a:p>
                      <a:pPr algn="ctr" rtl="0" fontAlgn="ctr">
                        <a:buNone/>
                      </a:pPr>
                      <a:r>
                        <a:rPr lang="es-CO" sz="1600" b="0" i="0" u="none" strike="noStrike">
                          <a:solidFill>
                            <a:srgbClr val="FFFFFF"/>
                          </a:solidFill>
                          <a:effectLst/>
                          <a:latin typeface="Muli"/>
                        </a:rPr>
                        <a:t>DOLOR Y CP</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7030A0"/>
                    </a:solidFill>
                  </a:tcPr>
                </a:tc>
                <a:tc>
                  <a:txBody>
                    <a:bodyPr/>
                    <a:lstStyle/>
                    <a:p>
                      <a:pPr algn="ctr" rtl="0" fontAlgn="ctr">
                        <a:buNone/>
                      </a:pPr>
                      <a:r>
                        <a:rPr lang="es-CO" sz="1600" b="0" i="0" u="none" strike="noStrike">
                          <a:solidFill>
                            <a:srgbClr val="FFFFFF"/>
                          </a:solidFill>
                          <a:effectLst/>
                          <a:latin typeface="Muli"/>
                        </a:rPr>
                        <a:t>NUTRICIÓN</a:t>
                      </a:r>
                    </a:p>
                  </a:txBody>
                  <a:tcPr marL="9525" marR="9525" marT="9525" marB="0" anchor="ctr">
                    <a:lnL>
                      <a:noFill/>
                    </a:lnL>
                    <a:lnR w="12700" cap="flat" cmpd="sng" algn="ctr">
                      <a:solidFill>
                        <a:srgbClr val="80589F"/>
                      </a:solidFill>
                      <a:prstDash val="solid"/>
                      <a:round/>
                      <a:headEnd type="none" w="med" len="med"/>
                      <a:tailEnd type="none" w="med" len="med"/>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7030A0"/>
                    </a:solidFill>
                  </a:tcPr>
                </a:tc>
                <a:extLst>
                  <a:ext uri="{0D108BD9-81ED-4DB2-BD59-A6C34878D82A}">
                    <a16:rowId xmlns:a16="http://schemas.microsoft.com/office/drawing/2014/main" val="154260196"/>
                  </a:ext>
                </a:extLst>
              </a:tr>
              <a:tr h="238522">
                <a:tc>
                  <a:txBody>
                    <a:bodyPr/>
                    <a:lstStyle/>
                    <a:p>
                      <a:pPr algn="ctr" rtl="0" fontAlgn="ctr">
                        <a:buNone/>
                      </a:pPr>
                      <a:r>
                        <a:rPr lang="es-CO" sz="1600" b="0" i="0" u="none" strike="noStrike">
                          <a:solidFill>
                            <a:srgbClr val="80589F"/>
                          </a:solidFill>
                          <a:effectLst/>
                          <a:latin typeface="Muli"/>
                        </a:rPr>
                        <a:t>Cobertura enero 2026</a:t>
                      </a:r>
                    </a:p>
                  </a:txBody>
                  <a:tcPr marL="9525" marR="9525" marT="9525" marB="0" anchor="ctr">
                    <a:lnL w="12700" cap="flat" cmpd="sng" algn="ctr">
                      <a:solidFill>
                        <a:srgbClr val="80589F"/>
                      </a:solidFill>
                      <a:prstDash val="solid"/>
                      <a:round/>
                      <a:headEnd type="none" w="med" len="med"/>
                      <a:tailEnd type="none" w="med" len="med"/>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600" b="0" i="0" u="none" strike="noStrike">
                          <a:solidFill>
                            <a:srgbClr val="80589F"/>
                          </a:solidFill>
                          <a:effectLst/>
                          <a:latin typeface="Muli"/>
                        </a:rPr>
                        <a:t>18%</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600" b="0" i="0" u="none" strike="noStrike">
                          <a:solidFill>
                            <a:srgbClr val="80589F"/>
                          </a:solidFill>
                          <a:effectLst/>
                          <a:latin typeface="Muli"/>
                        </a:rPr>
                        <a:t>18%</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600" b="0" i="0" u="none" strike="noStrike">
                          <a:solidFill>
                            <a:srgbClr val="80589F"/>
                          </a:solidFill>
                          <a:effectLst/>
                          <a:latin typeface="Muli"/>
                        </a:rPr>
                        <a:t>6%</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600" b="0" i="0" u="none" strike="noStrike">
                          <a:solidFill>
                            <a:srgbClr val="80589F"/>
                          </a:solidFill>
                          <a:effectLst/>
                          <a:latin typeface="Muli"/>
                        </a:rPr>
                        <a:t>15%</a:t>
                      </a:r>
                    </a:p>
                  </a:txBody>
                  <a:tcPr marL="9525" marR="9525" marT="9525" marB="0" anchor="ctr">
                    <a:lnL>
                      <a:noFill/>
                    </a:lnL>
                    <a:lnR w="12700" cap="flat" cmpd="sng" algn="ctr">
                      <a:solidFill>
                        <a:srgbClr val="80589F"/>
                      </a:solidFill>
                      <a:prstDash val="solid"/>
                      <a:round/>
                      <a:headEnd type="none" w="med" len="med"/>
                      <a:tailEnd type="none" w="med" len="med"/>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extLst>
                  <a:ext uri="{0D108BD9-81ED-4DB2-BD59-A6C34878D82A}">
                    <a16:rowId xmlns:a16="http://schemas.microsoft.com/office/drawing/2014/main" val="991960337"/>
                  </a:ext>
                </a:extLst>
              </a:tr>
              <a:tr h="468526">
                <a:tc>
                  <a:txBody>
                    <a:bodyPr/>
                    <a:lstStyle/>
                    <a:p>
                      <a:pPr algn="ctr" rtl="0" fontAlgn="ctr">
                        <a:buNone/>
                      </a:pPr>
                      <a:r>
                        <a:rPr lang="es-CO" sz="1600" b="0" i="0" u="none" strike="noStrike">
                          <a:solidFill>
                            <a:srgbClr val="80589F"/>
                          </a:solidFill>
                          <a:effectLst/>
                          <a:latin typeface="Muli"/>
                        </a:rPr>
                        <a:t>Cobertura Septiembre 2026</a:t>
                      </a:r>
                    </a:p>
                  </a:txBody>
                  <a:tcPr marL="9525" marR="9525" marT="9525" marB="0" anchor="ctr">
                    <a:lnL w="12700" cap="flat" cmpd="sng" algn="ctr">
                      <a:solidFill>
                        <a:srgbClr val="80589F"/>
                      </a:solidFill>
                      <a:prstDash val="solid"/>
                      <a:round/>
                      <a:headEnd type="none" w="med" len="med"/>
                      <a:tailEnd type="none" w="med" len="med"/>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600" b="0" i="0" u="none" strike="noStrike">
                          <a:solidFill>
                            <a:srgbClr val="80589F"/>
                          </a:solidFill>
                          <a:effectLst/>
                          <a:latin typeface="Muli"/>
                        </a:rPr>
                        <a:t>88%</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600" b="0" i="0" u="none" strike="noStrike">
                          <a:solidFill>
                            <a:srgbClr val="80589F"/>
                          </a:solidFill>
                          <a:effectLst/>
                          <a:latin typeface="Muli"/>
                        </a:rPr>
                        <a:t>88%</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600" b="0" i="0" u="none" strike="noStrike">
                          <a:solidFill>
                            <a:srgbClr val="80589F"/>
                          </a:solidFill>
                          <a:effectLst/>
                          <a:latin typeface="Muli"/>
                        </a:rPr>
                        <a:t>30%</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600" b="0" i="0" u="none" strike="noStrike">
                          <a:solidFill>
                            <a:srgbClr val="80589F"/>
                          </a:solidFill>
                          <a:effectLst/>
                          <a:latin typeface="Muli"/>
                        </a:rPr>
                        <a:t>86%</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extLst>
                  <a:ext uri="{0D108BD9-81ED-4DB2-BD59-A6C34878D82A}">
                    <a16:rowId xmlns:a16="http://schemas.microsoft.com/office/drawing/2014/main" val="2142614540"/>
                  </a:ext>
                </a:extLst>
              </a:tr>
              <a:tr h="272597">
                <a:tc>
                  <a:txBody>
                    <a:bodyPr/>
                    <a:lstStyle/>
                    <a:p>
                      <a:pPr algn="ctr" rtl="0" fontAlgn="ctr">
                        <a:buNone/>
                      </a:pPr>
                      <a:r>
                        <a:rPr lang="es-CO" sz="1800" b="0" i="0" u="none" strike="noStrike">
                          <a:solidFill>
                            <a:srgbClr val="80589F"/>
                          </a:solidFill>
                          <a:effectLst/>
                          <a:latin typeface="Muli"/>
                        </a:rPr>
                        <a:t> </a:t>
                      </a:r>
                    </a:p>
                  </a:txBody>
                  <a:tcPr marL="9525" marR="9525" marT="9525" marB="0" anchor="ctr">
                    <a:lnL w="12700" cap="flat" cmpd="sng" algn="ctr">
                      <a:solidFill>
                        <a:srgbClr val="80589F"/>
                      </a:solidFill>
                      <a:prstDash val="solid"/>
                      <a:round/>
                      <a:headEnd type="none" w="med" len="med"/>
                      <a:tailEnd type="none" w="med" len="med"/>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800" b="0" i="0" u="none" strike="noStrike">
                          <a:solidFill>
                            <a:srgbClr val="80589F"/>
                          </a:solidFill>
                          <a:effectLst/>
                          <a:latin typeface="Muli"/>
                        </a:rPr>
                        <a:t> </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800" b="0" i="0" u="none" strike="noStrike">
                          <a:solidFill>
                            <a:srgbClr val="80589F"/>
                          </a:solidFill>
                          <a:effectLst/>
                          <a:latin typeface="Muli"/>
                        </a:rPr>
                        <a:t> </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800" b="0" i="0" u="none" strike="noStrike">
                          <a:solidFill>
                            <a:srgbClr val="80589F"/>
                          </a:solidFill>
                          <a:effectLst/>
                          <a:latin typeface="Muli"/>
                        </a:rPr>
                        <a:t> </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800" b="0" i="0" u="none" strike="noStrike">
                          <a:solidFill>
                            <a:srgbClr val="80589F"/>
                          </a:solidFill>
                          <a:effectLst/>
                          <a:latin typeface="Muli"/>
                        </a:rPr>
                        <a:t> </a:t>
                      </a:r>
                    </a:p>
                  </a:txBody>
                  <a:tcPr marL="9525" marR="9525" marT="9525" marB="0" anchor="ctr">
                    <a:lnL>
                      <a:noFill/>
                    </a:lnL>
                    <a:lnR w="12700" cap="flat" cmpd="sng" algn="ctr">
                      <a:solidFill>
                        <a:srgbClr val="80589F"/>
                      </a:solidFill>
                      <a:prstDash val="solid"/>
                      <a:round/>
                      <a:headEnd type="none" w="med" len="med"/>
                      <a:tailEnd type="none" w="med" len="med"/>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extLst>
                  <a:ext uri="{0D108BD9-81ED-4DB2-BD59-A6C34878D82A}">
                    <a16:rowId xmlns:a16="http://schemas.microsoft.com/office/drawing/2014/main" val="1440140330"/>
                  </a:ext>
                </a:extLst>
              </a:tr>
              <a:tr h="238522">
                <a:tc>
                  <a:txBody>
                    <a:bodyPr/>
                    <a:lstStyle/>
                    <a:p>
                      <a:pPr algn="ctr" rtl="0" fontAlgn="ctr">
                        <a:buNone/>
                      </a:pPr>
                      <a:r>
                        <a:rPr lang="es-CO" sz="1600" b="0" i="0" u="none" strike="noStrike">
                          <a:solidFill>
                            <a:srgbClr val="FFFFFF"/>
                          </a:solidFill>
                          <a:effectLst/>
                          <a:latin typeface="Muli"/>
                        </a:rPr>
                        <a:t>TOTAL</a:t>
                      </a:r>
                    </a:p>
                  </a:txBody>
                  <a:tcPr marL="9525" marR="9525" marT="9525" marB="0" anchor="ctr">
                    <a:lnL w="12700" cap="flat" cmpd="sng" algn="ctr">
                      <a:solidFill>
                        <a:srgbClr val="80589F"/>
                      </a:solidFill>
                      <a:prstDash val="solid"/>
                      <a:round/>
                      <a:headEnd type="none" w="med" len="med"/>
                      <a:tailEnd type="none" w="med" len="med"/>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80589F"/>
                    </a:solidFill>
                  </a:tcPr>
                </a:tc>
                <a:tc>
                  <a:txBody>
                    <a:bodyPr/>
                    <a:lstStyle/>
                    <a:p>
                      <a:pPr algn="ctr" rtl="0" fontAlgn="ctr">
                        <a:buNone/>
                      </a:pPr>
                      <a:r>
                        <a:rPr lang="es-CO" sz="1600" b="0" i="0" u="none" strike="noStrike">
                          <a:solidFill>
                            <a:srgbClr val="FFFFFF"/>
                          </a:solidFill>
                          <a:effectLst/>
                          <a:latin typeface="Muli"/>
                        </a:rPr>
                        <a:t>PSICOLOGÍA</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80589F"/>
                    </a:solidFill>
                  </a:tcPr>
                </a:tc>
                <a:tc>
                  <a:txBody>
                    <a:bodyPr/>
                    <a:lstStyle/>
                    <a:p>
                      <a:pPr algn="ctr" rtl="0" fontAlgn="ctr">
                        <a:buNone/>
                      </a:pPr>
                      <a:r>
                        <a:rPr lang="es-CO" sz="1600" b="0" i="0" u="none" strike="noStrike">
                          <a:solidFill>
                            <a:srgbClr val="FFFFFF"/>
                          </a:solidFill>
                          <a:effectLst/>
                          <a:latin typeface="Muli"/>
                        </a:rPr>
                        <a:t>TRABAJO SOCIAL</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80589F"/>
                    </a:solidFill>
                  </a:tcPr>
                </a:tc>
                <a:tc>
                  <a:txBody>
                    <a:bodyPr/>
                    <a:lstStyle/>
                    <a:p>
                      <a:pPr algn="ctr" rtl="0" fontAlgn="ctr">
                        <a:buNone/>
                      </a:pPr>
                      <a:r>
                        <a:rPr lang="es-CO" sz="1600" b="0" i="0" u="none" strike="noStrike">
                          <a:solidFill>
                            <a:srgbClr val="FFFFFF"/>
                          </a:solidFill>
                          <a:effectLst/>
                          <a:latin typeface="Muli"/>
                        </a:rPr>
                        <a:t>DOLOR Y CP</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80589F"/>
                    </a:solidFill>
                  </a:tcPr>
                </a:tc>
                <a:tc>
                  <a:txBody>
                    <a:bodyPr/>
                    <a:lstStyle/>
                    <a:p>
                      <a:pPr algn="ctr" rtl="0" fontAlgn="ctr">
                        <a:buNone/>
                      </a:pPr>
                      <a:r>
                        <a:rPr lang="es-CO" sz="1600" b="0" i="0" u="none" strike="noStrike">
                          <a:solidFill>
                            <a:srgbClr val="FFFFFF"/>
                          </a:solidFill>
                          <a:effectLst/>
                          <a:latin typeface="Muli"/>
                        </a:rPr>
                        <a:t>NUTRICIÓN</a:t>
                      </a:r>
                    </a:p>
                  </a:txBody>
                  <a:tcPr marL="9525" marR="9525" marT="9525" marB="0" anchor="ctr">
                    <a:lnL>
                      <a:noFill/>
                    </a:lnL>
                    <a:lnR w="12700" cap="flat" cmpd="sng" algn="ctr">
                      <a:solidFill>
                        <a:srgbClr val="80589F"/>
                      </a:solidFill>
                      <a:prstDash val="solid"/>
                      <a:round/>
                      <a:headEnd type="none" w="med" len="med"/>
                      <a:tailEnd type="none" w="med" len="med"/>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80589F"/>
                    </a:solidFill>
                  </a:tcPr>
                </a:tc>
                <a:extLst>
                  <a:ext uri="{0D108BD9-81ED-4DB2-BD59-A6C34878D82A}">
                    <a16:rowId xmlns:a16="http://schemas.microsoft.com/office/drawing/2014/main" val="1549059850"/>
                  </a:ext>
                </a:extLst>
              </a:tr>
              <a:tr h="468526">
                <a:tc>
                  <a:txBody>
                    <a:bodyPr/>
                    <a:lstStyle/>
                    <a:p>
                      <a:pPr algn="ctr" rtl="0" fontAlgn="ctr">
                        <a:buNone/>
                      </a:pPr>
                      <a:r>
                        <a:rPr lang="es-CO" sz="1600" b="0" i="0" u="none" strike="noStrike">
                          <a:solidFill>
                            <a:srgbClr val="80589F"/>
                          </a:solidFill>
                          <a:effectLst/>
                          <a:latin typeface="Muli"/>
                        </a:rPr>
                        <a:t>Cobertura Septiembre 2026</a:t>
                      </a:r>
                    </a:p>
                  </a:txBody>
                  <a:tcPr marL="9525" marR="9525" marT="9525" marB="0" anchor="ctr">
                    <a:lnL w="12700" cap="flat" cmpd="sng" algn="ctr">
                      <a:solidFill>
                        <a:srgbClr val="80589F"/>
                      </a:solidFill>
                      <a:prstDash val="solid"/>
                      <a:round/>
                      <a:headEnd type="none" w="med" len="med"/>
                      <a:tailEnd type="none" w="med" len="med"/>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600" b="0" i="0" u="none" strike="noStrike">
                          <a:solidFill>
                            <a:srgbClr val="80589F"/>
                          </a:solidFill>
                          <a:effectLst/>
                          <a:latin typeface="Muli"/>
                        </a:rPr>
                        <a:t>86%</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600" b="0" i="0" u="none" strike="noStrike">
                          <a:solidFill>
                            <a:srgbClr val="80589F"/>
                          </a:solidFill>
                          <a:effectLst/>
                          <a:latin typeface="Muli"/>
                        </a:rPr>
                        <a:t>86%</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600" b="0" i="0" u="none" strike="noStrike">
                          <a:solidFill>
                            <a:srgbClr val="80589F"/>
                          </a:solidFill>
                          <a:effectLst/>
                          <a:latin typeface="Muli"/>
                        </a:rPr>
                        <a:t>18%</a:t>
                      </a:r>
                    </a:p>
                  </a:txBody>
                  <a:tcPr marL="9525" marR="9525" marT="9525" marB="0"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600" b="0" i="0" u="none" strike="noStrike">
                          <a:solidFill>
                            <a:srgbClr val="80589F"/>
                          </a:solidFill>
                          <a:effectLst/>
                          <a:latin typeface="Muli"/>
                        </a:rPr>
                        <a:t>81%</a:t>
                      </a:r>
                    </a:p>
                  </a:txBody>
                  <a:tcPr marL="9525" marR="9525" marT="9525" marB="0" anchor="ctr">
                    <a:lnL>
                      <a:noFill/>
                    </a:lnL>
                    <a:lnR w="12700" cap="flat" cmpd="sng" algn="ctr">
                      <a:solidFill>
                        <a:srgbClr val="80589F"/>
                      </a:solidFill>
                      <a:prstDash val="solid"/>
                      <a:round/>
                      <a:headEnd type="none" w="med" len="med"/>
                      <a:tailEnd type="none" w="med" len="med"/>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extLst>
                  <a:ext uri="{0D108BD9-81ED-4DB2-BD59-A6C34878D82A}">
                    <a16:rowId xmlns:a16="http://schemas.microsoft.com/office/drawing/2014/main" val="259090486"/>
                  </a:ext>
                </a:extLst>
              </a:tr>
            </a:tbl>
          </a:graphicData>
        </a:graphic>
      </p:graphicFrame>
    </p:spTree>
    <p:extLst>
      <p:ext uri="{BB962C8B-B14F-4D97-AF65-F5344CB8AC3E}">
        <p14:creationId xmlns:p14="http://schemas.microsoft.com/office/powerpoint/2010/main" val="347885852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629BA-702B-58BA-69D9-4D2C35E5545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3E0607A-A71C-DF35-93A6-018964F03767}"/>
              </a:ext>
            </a:extLst>
          </p:cNvPr>
          <p:cNvSpPr txBox="1">
            <a:spLocks/>
          </p:cNvSpPr>
          <p:nvPr/>
        </p:nvSpPr>
        <p:spPr>
          <a:xfrm>
            <a:off x="1068049" y="165719"/>
            <a:ext cx="10515600" cy="81207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400" b="1" kern="1200">
                <a:solidFill>
                  <a:srgbClr val="00A19C"/>
                </a:solidFill>
                <a:latin typeface="+mj-lt"/>
                <a:ea typeface="+mj-ea"/>
                <a:cs typeface="+mj-cs"/>
              </a:defRPr>
            </a:lvl1pPr>
          </a:lstStyle>
          <a:p>
            <a:r>
              <a:rPr lang="es-CO">
                <a:solidFill>
                  <a:schemeClr val="tx1"/>
                </a:solidFill>
                <a:latin typeface="Century Gothic"/>
              </a:rPr>
              <a:t>Encuestas de satisfacción</a:t>
            </a:r>
            <a:endParaRPr lang="es-ES"/>
          </a:p>
        </p:txBody>
      </p:sp>
      <p:graphicFrame>
        <p:nvGraphicFramePr>
          <p:cNvPr id="4" name="Gráfico 3">
            <a:extLst>
              <a:ext uri="{FF2B5EF4-FFF2-40B4-BE49-F238E27FC236}">
                <a16:creationId xmlns:a16="http://schemas.microsoft.com/office/drawing/2014/main" id="{839E2944-2599-48A5-A12C-AA06336E5D5A}"/>
              </a:ext>
              <a:ext uri="{147F2762-F138-4A5C-976F-8EAC2B608ADB}">
                <a16:predDERef xmlns:a16="http://schemas.microsoft.com/office/drawing/2014/main" pred="{FC73E480-D62B-41D4-A4CC-16D9A7E0F919}"/>
              </a:ext>
            </a:extLst>
          </p:cNvPr>
          <p:cNvGraphicFramePr>
            <a:graphicFrameLocks/>
          </p:cNvGraphicFramePr>
          <p:nvPr/>
        </p:nvGraphicFramePr>
        <p:xfrm>
          <a:off x="2119609" y="1112520"/>
          <a:ext cx="8412480" cy="5318760"/>
        </p:xfrm>
        <a:graphic>
          <a:graphicData uri="http://schemas.openxmlformats.org/drawingml/2006/chart">
            <c:chart xmlns:c="http://schemas.openxmlformats.org/drawingml/2006/chart" xmlns:r="http://schemas.openxmlformats.org/officeDocument/2006/relationships" r:id="rId3"/>
          </a:graphicData>
        </a:graphic>
      </p:graphicFrame>
      <p:sp>
        <p:nvSpPr>
          <p:cNvPr id="5" name="CuadroTexto 4">
            <a:extLst>
              <a:ext uri="{FF2B5EF4-FFF2-40B4-BE49-F238E27FC236}">
                <a16:creationId xmlns:a16="http://schemas.microsoft.com/office/drawing/2014/main" id="{32D91BF2-1E29-7C55-1F2D-AFDAF236F037}"/>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SAU INOOS Julio 2026</a:t>
            </a:r>
          </a:p>
        </p:txBody>
      </p:sp>
    </p:spTree>
    <p:extLst>
      <p:ext uri="{BB962C8B-B14F-4D97-AF65-F5344CB8AC3E}">
        <p14:creationId xmlns:p14="http://schemas.microsoft.com/office/powerpoint/2010/main" val="340751873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E810E-671A-34E2-4A84-43D6CC09407A}"/>
            </a:ext>
          </a:extLst>
        </p:cNvPr>
        <p:cNvGrpSpPr/>
        <p:nvPr/>
      </p:nvGrpSpPr>
      <p:grpSpPr>
        <a:xfrm>
          <a:off x="0" y="0"/>
          <a:ext cx="0" cy="0"/>
          <a:chOff x="0" y="0"/>
          <a:chExt cx="0" cy="0"/>
        </a:xfrm>
      </p:grpSpPr>
      <p:sp>
        <p:nvSpPr>
          <p:cNvPr id="8" name="Título 1">
            <a:extLst>
              <a:ext uri="{FF2B5EF4-FFF2-40B4-BE49-F238E27FC236}">
                <a16:creationId xmlns:a16="http://schemas.microsoft.com/office/drawing/2014/main" id="{A2F6B1D9-1896-68E1-7DAA-A71B460F7772}"/>
              </a:ext>
            </a:extLst>
          </p:cNvPr>
          <p:cNvSpPr txBox="1">
            <a:spLocks/>
          </p:cNvSpPr>
          <p:nvPr/>
        </p:nvSpPr>
        <p:spPr>
          <a:xfrm>
            <a:off x="1134981" y="-16610"/>
            <a:ext cx="10515600" cy="81207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400" b="1" kern="1200">
                <a:solidFill>
                  <a:srgbClr val="00A19C"/>
                </a:solidFill>
                <a:latin typeface="+mj-lt"/>
                <a:ea typeface="+mj-ea"/>
                <a:cs typeface="+mj-cs"/>
              </a:defRPr>
            </a:lvl1pPr>
          </a:lstStyle>
          <a:p>
            <a:r>
              <a:rPr lang="es-CO">
                <a:solidFill>
                  <a:schemeClr val="tx1"/>
                </a:solidFill>
                <a:latin typeface="Century Gothic"/>
              </a:rPr>
              <a:t>QSE</a:t>
            </a:r>
            <a:endParaRPr lang="es-ES"/>
          </a:p>
        </p:txBody>
      </p:sp>
      <p:graphicFrame>
        <p:nvGraphicFramePr>
          <p:cNvPr id="11" name="Gráfico 10">
            <a:extLst>
              <a:ext uri="{FF2B5EF4-FFF2-40B4-BE49-F238E27FC236}">
                <a16:creationId xmlns:a16="http://schemas.microsoft.com/office/drawing/2014/main" id="{4E903A11-8231-B9FE-6E91-6C177444A6BE}"/>
              </a:ext>
              <a:ext uri="{147F2762-F138-4A5C-976F-8EAC2B608ADB}">
                <a16:predDERef xmlns:a16="http://schemas.microsoft.com/office/drawing/2014/main" pred="{97B1C4DA-A396-1932-A1E7-D827362E62FA}"/>
              </a:ext>
            </a:extLst>
          </p:cNvPr>
          <p:cNvGraphicFramePr>
            <a:graphicFrameLocks/>
          </p:cNvGraphicFramePr>
          <p:nvPr/>
        </p:nvGraphicFramePr>
        <p:xfrm>
          <a:off x="7299960" y="648353"/>
          <a:ext cx="4572000" cy="276633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Gráfico 11">
            <a:extLst>
              <a:ext uri="{FF2B5EF4-FFF2-40B4-BE49-F238E27FC236}">
                <a16:creationId xmlns:a16="http://schemas.microsoft.com/office/drawing/2014/main" id="{97B1C4DA-A396-1932-A1E7-D827362E62FA}"/>
              </a:ext>
              <a:ext uri="{147F2762-F138-4A5C-976F-8EAC2B608ADB}">
                <a16:predDERef xmlns:a16="http://schemas.microsoft.com/office/drawing/2014/main" pred="{E2F510BB-99C7-C779-8A51-9A87849B9DA2}"/>
              </a:ext>
            </a:extLst>
          </p:cNvPr>
          <p:cNvGraphicFramePr>
            <a:graphicFrameLocks/>
          </p:cNvGraphicFramePr>
          <p:nvPr/>
        </p:nvGraphicFramePr>
        <p:xfrm>
          <a:off x="1508760" y="646292"/>
          <a:ext cx="4572000" cy="277045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3" name="Gráfico 12">
            <a:extLst>
              <a:ext uri="{FF2B5EF4-FFF2-40B4-BE49-F238E27FC236}">
                <a16:creationId xmlns:a16="http://schemas.microsoft.com/office/drawing/2014/main" id="{66F7DAB2-4C29-BFEC-EB8A-C3AC2194B0CA}"/>
              </a:ext>
              <a:ext uri="{147F2762-F138-4A5C-976F-8EAC2B608ADB}">
                <a16:predDERef xmlns:a16="http://schemas.microsoft.com/office/drawing/2014/main" pred="{4E903A11-8231-B9FE-6E91-6C177444A6BE}"/>
              </a:ext>
            </a:extLst>
          </p:cNvPr>
          <p:cNvGraphicFramePr>
            <a:graphicFrameLocks/>
          </p:cNvGraphicFramePr>
          <p:nvPr/>
        </p:nvGraphicFramePr>
        <p:xfrm>
          <a:off x="1524000" y="3441254"/>
          <a:ext cx="4572000" cy="2966017"/>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4" name="Gráfico 13">
            <a:extLst>
              <a:ext uri="{FF2B5EF4-FFF2-40B4-BE49-F238E27FC236}">
                <a16:creationId xmlns:a16="http://schemas.microsoft.com/office/drawing/2014/main" id="{E2F510BB-99C7-C779-8A51-9A87849B9DA2}"/>
              </a:ext>
              <a:ext uri="{147F2762-F138-4A5C-976F-8EAC2B608ADB}">
                <a16:predDERef xmlns:a16="http://schemas.microsoft.com/office/drawing/2014/main" pred="{B39C116B-FFA9-23DC-ABD0-1544A0C0E25C}"/>
              </a:ext>
            </a:extLst>
          </p:cNvPr>
          <p:cNvGraphicFramePr>
            <a:graphicFrameLocks/>
          </p:cNvGraphicFramePr>
          <p:nvPr/>
        </p:nvGraphicFramePr>
        <p:xfrm>
          <a:off x="7302201" y="3681060"/>
          <a:ext cx="4569759" cy="2761290"/>
        </p:xfrm>
        <a:graphic>
          <a:graphicData uri="http://schemas.openxmlformats.org/drawingml/2006/chart">
            <c:chart xmlns:c="http://schemas.openxmlformats.org/drawingml/2006/chart" xmlns:r="http://schemas.openxmlformats.org/officeDocument/2006/relationships" r:id="rId6"/>
          </a:graphicData>
        </a:graphic>
      </p:graphicFrame>
      <p:sp>
        <p:nvSpPr>
          <p:cNvPr id="3" name="CuadroTexto 2">
            <a:extLst>
              <a:ext uri="{FF2B5EF4-FFF2-40B4-BE49-F238E27FC236}">
                <a16:creationId xmlns:a16="http://schemas.microsoft.com/office/drawing/2014/main" id="{3CC9AACD-50DB-F1F2-AA5F-94FDF53666ED}"/>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SAU INOOS Julio 2026</a:t>
            </a:r>
          </a:p>
        </p:txBody>
      </p:sp>
    </p:spTree>
    <p:extLst>
      <p:ext uri="{BB962C8B-B14F-4D97-AF65-F5344CB8AC3E}">
        <p14:creationId xmlns:p14="http://schemas.microsoft.com/office/powerpoint/2010/main" val="116327995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EA4F7C7C-637B-3C38-20B2-78FA5456A11B}"/>
              </a:ext>
            </a:extLst>
          </p:cNvPr>
          <p:cNvSpPr txBox="1">
            <a:spLocks/>
          </p:cNvSpPr>
          <p:nvPr/>
        </p:nvSpPr>
        <p:spPr>
          <a:xfrm>
            <a:off x="1052809" y="76717"/>
            <a:ext cx="10515600" cy="81207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400" b="1" kern="1200">
                <a:solidFill>
                  <a:srgbClr val="00A19C"/>
                </a:solidFill>
                <a:latin typeface="+mj-lt"/>
                <a:ea typeface="+mj-ea"/>
                <a:cs typeface="+mj-cs"/>
              </a:defRPr>
            </a:lvl1pPr>
          </a:lstStyle>
          <a:p>
            <a:r>
              <a:rPr lang="es-CO">
                <a:solidFill>
                  <a:schemeClr val="tx1"/>
                </a:solidFill>
                <a:latin typeface="Century Gothic"/>
              </a:rPr>
              <a:t>PQRSF</a:t>
            </a:r>
            <a:endParaRPr lang="es-ES"/>
          </a:p>
        </p:txBody>
      </p:sp>
      <p:graphicFrame>
        <p:nvGraphicFramePr>
          <p:cNvPr id="2" name="Gráfico 1">
            <a:extLst>
              <a:ext uri="{FF2B5EF4-FFF2-40B4-BE49-F238E27FC236}">
                <a16:creationId xmlns:a16="http://schemas.microsoft.com/office/drawing/2014/main" id="{7B547B4B-EAA9-A4EB-5C89-D12A50C094CE}"/>
              </a:ext>
            </a:extLst>
          </p:cNvPr>
          <p:cNvGraphicFramePr>
            <a:graphicFrameLocks/>
          </p:cNvGraphicFramePr>
          <p:nvPr/>
        </p:nvGraphicFramePr>
        <p:xfrm>
          <a:off x="1052809" y="1103471"/>
          <a:ext cx="6125231" cy="4824889"/>
        </p:xfrm>
        <a:graphic>
          <a:graphicData uri="http://schemas.openxmlformats.org/drawingml/2006/chart">
            <c:chart xmlns:c="http://schemas.openxmlformats.org/drawingml/2006/chart" xmlns:r="http://schemas.openxmlformats.org/officeDocument/2006/relationships" r:id="rId2"/>
          </a:graphicData>
        </a:graphic>
      </p:graphicFrame>
      <p:sp>
        <p:nvSpPr>
          <p:cNvPr id="5" name="CuadroTexto 4">
            <a:extLst>
              <a:ext uri="{FF2B5EF4-FFF2-40B4-BE49-F238E27FC236}">
                <a16:creationId xmlns:a16="http://schemas.microsoft.com/office/drawing/2014/main" id="{5CD5B71D-3C47-50FB-F6B9-FE2B59E80994}"/>
              </a:ext>
            </a:extLst>
          </p:cNvPr>
          <p:cNvSpPr txBox="1"/>
          <p:nvPr/>
        </p:nvSpPr>
        <p:spPr>
          <a:xfrm>
            <a:off x="7801485" y="1767306"/>
            <a:ext cx="3766924" cy="3046988"/>
          </a:xfrm>
          <a:prstGeom prst="rect">
            <a:avLst/>
          </a:prstGeom>
          <a:noFill/>
        </p:spPr>
        <p:txBody>
          <a:bodyPr wrap="square" lIns="91440" tIns="45720" rIns="91440" bIns="45720" anchor="t">
            <a:spAutoFit/>
          </a:bodyPr>
          <a:lstStyle>
            <a:defPPr>
              <a:defRPr lang="es-CO"/>
            </a:defPPr>
            <a:lvl1pPr algn="just">
              <a:defRPr sz="1600">
                <a:solidFill>
                  <a:schemeClr val="tx1">
                    <a:lumMod val="50000"/>
                  </a:schemeClr>
                </a:solidFill>
                <a:latin typeface="Aptos" panose="020B0004020202020204" pitchFamily="34" charset="0"/>
              </a:defRPr>
            </a:lvl1pPr>
          </a:lstStyle>
          <a:p>
            <a:r>
              <a:rPr lang="es-CO"/>
              <a:t>De las 40 manifestaciones recibidas 31 fueron notificadas por Sanitas a través de correo electrónico. </a:t>
            </a:r>
          </a:p>
          <a:p>
            <a:endParaRPr lang="es-CO"/>
          </a:p>
          <a:p>
            <a:r>
              <a:rPr lang="es-CO"/>
              <a:t>Entre las principales causas de inconformidad se concentran en la oportunidad y continuidad de la atención, particularmente en la entrega de medicamentos, asignación de citas, programación de cirugías y procedimientos, y entrega de resultados diagnósticos. </a:t>
            </a:r>
          </a:p>
        </p:txBody>
      </p:sp>
      <p:sp>
        <p:nvSpPr>
          <p:cNvPr id="6" name="CuadroTexto 5">
            <a:extLst>
              <a:ext uri="{FF2B5EF4-FFF2-40B4-BE49-F238E27FC236}">
                <a16:creationId xmlns:a16="http://schemas.microsoft.com/office/drawing/2014/main" id="{2F90298B-BEB7-DC9D-87EB-84FEB3666134}"/>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SAU INOOS Julio 2026</a:t>
            </a:r>
          </a:p>
        </p:txBody>
      </p:sp>
    </p:spTree>
    <p:extLst>
      <p:ext uri="{BB962C8B-B14F-4D97-AF65-F5344CB8AC3E}">
        <p14:creationId xmlns:p14="http://schemas.microsoft.com/office/powerpoint/2010/main" val="86104528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E8B35-314D-3BF5-6122-0E6CB52C0E13}"/>
            </a:ext>
          </a:extLst>
        </p:cNvPr>
        <p:cNvGrpSpPr/>
        <p:nvPr/>
      </p:nvGrpSpPr>
      <p:grpSpPr>
        <a:xfrm>
          <a:off x="0" y="0"/>
          <a:ext cx="0" cy="0"/>
          <a:chOff x="0" y="0"/>
          <a:chExt cx="0" cy="0"/>
        </a:xfrm>
      </p:grpSpPr>
      <p:pic>
        <p:nvPicPr>
          <p:cNvPr id="10" name="Imagen 9">
            <a:extLst>
              <a:ext uri="{FF2B5EF4-FFF2-40B4-BE49-F238E27FC236}">
                <a16:creationId xmlns:a16="http://schemas.microsoft.com/office/drawing/2014/main" id="{08266B51-2102-83A0-6FCC-D736D7DA41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CuadroTexto 11">
            <a:extLst>
              <a:ext uri="{FF2B5EF4-FFF2-40B4-BE49-F238E27FC236}">
                <a16:creationId xmlns:a16="http://schemas.microsoft.com/office/drawing/2014/main" id="{6426B290-7057-1D87-86AB-6B6D11FF5415}"/>
              </a:ext>
            </a:extLst>
          </p:cNvPr>
          <p:cNvSpPr txBox="1"/>
          <p:nvPr/>
        </p:nvSpPr>
        <p:spPr>
          <a:xfrm>
            <a:off x="3805236" y="2132893"/>
            <a:ext cx="5407344" cy="400110"/>
          </a:xfrm>
          <a:prstGeom prst="rect">
            <a:avLst/>
          </a:prstGeom>
          <a:noFill/>
        </p:spPr>
        <p:txBody>
          <a:bodyPr wrap="square">
            <a:spAutoFit/>
          </a:bodyPr>
          <a:lstStyle/>
          <a:p>
            <a:r>
              <a:rPr lang="es-ES" sz="2000" b="0" i="0">
                <a:solidFill>
                  <a:srgbClr val="242424"/>
                </a:solidFill>
                <a:effectLst/>
                <a:latin typeface="Calibri" panose="020F0502020204030204" pitchFamily="34" charset="0"/>
                <a:ea typeface="Calibri" panose="020F0502020204030204" pitchFamily="34" charset="0"/>
                <a:cs typeface="Calibri" panose="020F0502020204030204" pitchFamily="34" charset="0"/>
              </a:rPr>
              <a:t>El personal brindó una atención amable y eficiente</a:t>
            </a:r>
            <a:endParaRPr lang="es-CO" sz="3600">
              <a:latin typeface="Calibri" panose="020F0502020204030204" pitchFamily="34" charset="0"/>
              <a:ea typeface="Calibri" panose="020F0502020204030204" pitchFamily="34" charset="0"/>
              <a:cs typeface="Calibri" panose="020F0502020204030204" pitchFamily="34" charset="0"/>
            </a:endParaRPr>
          </a:p>
        </p:txBody>
      </p:sp>
      <p:sp>
        <p:nvSpPr>
          <p:cNvPr id="28" name="CuadroTexto 27">
            <a:extLst>
              <a:ext uri="{FF2B5EF4-FFF2-40B4-BE49-F238E27FC236}">
                <a16:creationId xmlns:a16="http://schemas.microsoft.com/office/drawing/2014/main" id="{AF2F0F71-5C32-97CE-B6BA-D1B7835EE1AA}"/>
              </a:ext>
            </a:extLst>
          </p:cNvPr>
          <p:cNvSpPr txBox="1"/>
          <p:nvPr/>
        </p:nvSpPr>
        <p:spPr>
          <a:xfrm>
            <a:off x="6103620" y="1243174"/>
            <a:ext cx="5407344" cy="707886"/>
          </a:xfrm>
          <a:prstGeom prst="rect">
            <a:avLst/>
          </a:prstGeom>
          <a:noFill/>
        </p:spPr>
        <p:txBody>
          <a:bodyPr wrap="square">
            <a:spAutoFit/>
          </a:bodyPr>
          <a:lstStyle>
            <a:defPPr>
              <a:defRPr lang="es-CO"/>
            </a:defPPr>
            <a:lvl1pPr algn="just">
              <a:defRPr b="0" i="0">
                <a:solidFill>
                  <a:srgbClr val="242424"/>
                </a:solidFill>
                <a:effectLst/>
                <a:latin typeface="Calibri" panose="020F0502020204030204" pitchFamily="34" charset="0"/>
                <a:ea typeface="Calibri" panose="020F0502020204030204" pitchFamily="34" charset="0"/>
                <a:cs typeface="Calibri" panose="020F0502020204030204" pitchFamily="34" charset="0"/>
              </a:defRPr>
            </a:lvl1pPr>
          </a:lstStyle>
          <a:p>
            <a:pPr algn="ctr"/>
            <a:r>
              <a:rPr lang="es-CO" sz="2000"/>
              <a:t>Excelente atención general de la Doctora Mauren la Coordinadora, muy humanitaria</a:t>
            </a:r>
            <a:endParaRPr lang="es-CO" sz="2000">
              <a:latin typeface="Comic Sans MS" panose="030F0702030302020204" pitchFamily="66" charset="0"/>
            </a:endParaRPr>
          </a:p>
        </p:txBody>
      </p:sp>
      <p:sp>
        <p:nvSpPr>
          <p:cNvPr id="5" name="CuadroTexto 4">
            <a:extLst>
              <a:ext uri="{FF2B5EF4-FFF2-40B4-BE49-F238E27FC236}">
                <a16:creationId xmlns:a16="http://schemas.microsoft.com/office/drawing/2014/main" id="{5C748FF3-CC17-D6F4-05A6-74A2BB385A7F}"/>
              </a:ext>
            </a:extLst>
          </p:cNvPr>
          <p:cNvSpPr txBox="1"/>
          <p:nvPr/>
        </p:nvSpPr>
        <p:spPr>
          <a:xfrm>
            <a:off x="7299959" y="2630048"/>
            <a:ext cx="4663441" cy="369332"/>
          </a:xfrm>
          <a:prstGeom prst="rect">
            <a:avLst/>
          </a:prstGeom>
          <a:noFill/>
        </p:spPr>
        <p:txBody>
          <a:bodyPr wrap="square">
            <a:spAutoFit/>
          </a:bodyPr>
          <a:lstStyle/>
          <a:p>
            <a:pPr algn="ctr"/>
            <a:r>
              <a:rPr lang="es-ES" b="0" i="0">
                <a:solidFill>
                  <a:srgbClr val="242424"/>
                </a:solidFill>
                <a:effectLst/>
                <a:latin typeface="Trebuchet MS" panose="020B0603020202020204" pitchFamily="34" charset="0"/>
              </a:rPr>
              <a:t>Excelente atención de todo el personal</a:t>
            </a:r>
            <a:endParaRPr lang="es-CO" sz="3200">
              <a:latin typeface="Trebuchet MS" panose="020B0603020202020204" pitchFamily="34" charset="0"/>
            </a:endParaRPr>
          </a:p>
        </p:txBody>
      </p:sp>
      <p:sp>
        <p:nvSpPr>
          <p:cNvPr id="4" name="CuadroTexto 3">
            <a:extLst>
              <a:ext uri="{FF2B5EF4-FFF2-40B4-BE49-F238E27FC236}">
                <a16:creationId xmlns:a16="http://schemas.microsoft.com/office/drawing/2014/main" id="{48B68E55-32BF-5409-D778-01E5CE38C48F}"/>
              </a:ext>
            </a:extLst>
          </p:cNvPr>
          <p:cNvSpPr txBox="1"/>
          <p:nvPr/>
        </p:nvSpPr>
        <p:spPr>
          <a:xfrm>
            <a:off x="4838700" y="3380779"/>
            <a:ext cx="6202680" cy="1200329"/>
          </a:xfrm>
          <a:prstGeom prst="rect">
            <a:avLst/>
          </a:prstGeom>
          <a:noFill/>
        </p:spPr>
        <p:txBody>
          <a:bodyPr wrap="square">
            <a:spAutoFit/>
          </a:bodyPr>
          <a:lstStyle/>
          <a:p>
            <a:pPr algn="ctr"/>
            <a:r>
              <a:rPr lang="es-CO">
                <a:solidFill>
                  <a:srgbClr val="000000"/>
                </a:solidFill>
                <a:latin typeface="Comic Sans MS" panose="030F0702030302020204" pitchFamily="66" charset="0"/>
              </a:rPr>
              <a:t>Felicitar al equipo de manejo del Instituto Oncológico INOOS, todo el grupo medico como el personal  cumpliendo con calidad humana con el amor y apoyo en el proceso, muchas gracias </a:t>
            </a:r>
          </a:p>
        </p:txBody>
      </p:sp>
    </p:spTree>
    <p:extLst>
      <p:ext uri="{BB962C8B-B14F-4D97-AF65-F5344CB8AC3E}">
        <p14:creationId xmlns:p14="http://schemas.microsoft.com/office/powerpoint/2010/main" val="230428669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3C513-F6B0-1116-D36B-1C3B1ABD0DF4}"/>
            </a:ext>
          </a:extLst>
        </p:cNvPr>
        <p:cNvGrpSpPr/>
        <p:nvPr/>
      </p:nvGrpSpPr>
      <p:grpSpPr>
        <a:xfrm>
          <a:off x="0" y="0"/>
          <a:ext cx="0" cy="0"/>
          <a:chOff x="0" y="0"/>
          <a:chExt cx="0" cy="0"/>
        </a:xfrm>
      </p:grpSpPr>
      <p:sp>
        <p:nvSpPr>
          <p:cNvPr id="8" name="Título 1">
            <a:extLst>
              <a:ext uri="{FF2B5EF4-FFF2-40B4-BE49-F238E27FC236}">
                <a16:creationId xmlns:a16="http://schemas.microsoft.com/office/drawing/2014/main" id="{B2B2EFDD-6EF9-F23A-6CCD-17F06298AB5F}"/>
              </a:ext>
            </a:extLst>
          </p:cNvPr>
          <p:cNvSpPr txBox="1">
            <a:spLocks/>
          </p:cNvSpPr>
          <p:nvPr/>
        </p:nvSpPr>
        <p:spPr>
          <a:xfrm>
            <a:off x="455229" y="1849731"/>
            <a:ext cx="5170749" cy="369120"/>
          </a:xfrm>
          <a:prstGeom prst="rect">
            <a:avLst/>
          </a:prstGeom>
        </p:spPr>
        <p:txBody>
          <a:bodyPr vert="horz" lIns="91440" tIns="45720" rIns="91440" bIns="45720" rtlCol="0" anchor="ctr">
            <a:normAutofit fontScale="90000" lnSpcReduction="10000"/>
          </a:bodyPr>
          <a:lstStyle>
            <a:lvl1pPr algn="ctr"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2400">
                <a:solidFill>
                  <a:srgbClr val="00A19C"/>
                </a:solidFill>
              </a:rPr>
              <a:t>SANITAS</a:t>
            </a:r>
          </a:p>
        </p:txBody>
      </p:sp>
      <p:sp>
        <p:nvSpPr>
          <p:cNvPr id="9" name="Título 1">
            <a:extLst>
              <a:ext uri="{FF2B5EF4-FFF2-40B4-BE49-F238E27FC236}">
                <a16:creationId xmlns:a16="http://schemas.microsoft.com/office/drawing/2014/main" id="{13653177-0BA9-4412-9A52-AAE94EA698C0}"/>
              </a:ext>
            </a:extLst>
          </p:cNvPr>
          <p:cNvSpPr txBox="1">
            <a:spLocks/>
          </p:cNvSpPr>
          <p:nvPr/>
        </p:nvSpPr>
        <p:spPr>
          <a:xfrm>
            <a:off x="396664" y="1557949"/>
            <a:ext cx="5278422" cy="369120"/>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fontScale="75000" lnSpcReduction="20000"/>
          </a:bodyPr>
          <a:lstStyle>
            <a:defPPr>
              <a:defRPr lang="es-CO"/>
            </a:defPPr>
            <a:lvl1pPr algn="ctr">
              <a:lnSpc>
                <a:spcPct val="90000"/>
              </a:lnSpc>
              <a:spcBef>
                <a:spcPct val="0"/>
              </a:spcBef>
              <a:buNone/>
              <a:defRPr sz="3200" b="1">
                <a:solidFill>
                  <a:srgbClr val="00A19C"/>
                </a:solidFill>
                <a:latin typeface="+mj-lt"/>
                <a:ea typeface="+mj-ea"/>
                <a:cs typeface="+mj-cs"/>
              </a:defRPr>
            </a:lvl1pPr>
          </a:lstStyle>
          <a:p>
            <a:r>
              <a:rPr lang="es-CO"/>
              <a:t>INDICADORES CALL CENTER</a:t>
            </a:r>
          </a:p>
        </p:txBody>
      </p:sp>
      <p:graphicFrame>
        <p:nvGraphicFramePr>
          <p:cNvPr id="4" name="Gráfico 3">
            <a:extLst>
              <a:ext uri="{FF2B5EF4-FFF2-40B4-BE49-F238E27FC236}">
                <a16:creationId xmlns:a16="http://schemas.microsoft.com/office/drawing/2014/main" id="{CA9F5BDA-2A21-7D61-F607-6BEB3D8EE355}"/>
              </a:ext>
            </a:extLst>
          </p:cNvPr>
          <p:cNvGraphicFramePr>
            <a:graphicFrameLocks/>
          </p:cNvGraphicFramePr>
          <p:nvPr>
            <p:extLst>
              <p:ext uri="{D42A27DB-BD31-4B8C-83A1-F6EECF244321}">
                <p14:modId xmlns:p14="http://schemas.microsoft.com/office/powerpoint/2010/main" val="2722207980"/>
              </p:ext>
            </p:extLst>
          </p:nvPr>
        </p:nvGraphicFramePr>
        <p:xfrm>
          <a:off x="6089660" y="290813"/>
          <a:ext cx="5972162" cy="16076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Gráfico 5">
            <a:extLst>
              <a:ext uri="{FF2B5EF4-FFF2-40B4-BE49-F238E27FC236}">
                <a16:creationId xmlns:a16="http://schemas.microsoft.com/office/drawing/2014/main" id="{FE5B6221-411E-E965-2D5D-5E48A081C658}"/>
              </a:ext>
            </a:extLst>
          </p:cNvPr>
          <p:cNvGraphicFramePr>
            <a:graphicFrameLocks/>
          </p:cNvGraphicFramePr>
          <p:nvPr>
            <p:extLst>
              <p:ext uri="{D42A27DB-BD31-4B8C-83A1-F6EECF244321}">
                <p14:modId xmlns:p14="http://schemas.microsoft.com/office/powerpoint/2010/main" val="2019173428"/>
              </p:ext>
            </p:extLst>
          </p:nvPr>
        </p:nvGraphicFramePr>
        <p:xfrm>
          <a:off x="6859658" y="3998435"/>
          <a:ext cx="4572000" cy="27813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Gráfico 10">
            <a:extLst>
              <a:ext uri="{FF2B5EF4-FFF2-40B4-BE49-F238E27FC236}">
                <a16:creationId xmlns:a16="http://schemas.microsoft.com/office/drawing/2014/main" id="{CB795A8E-3BBE-32B3-C9C1-E39296CB5FBF}"/>
              </a:ext>
            </a:extLst>
          </p:cNvPr>
          <p:cNvGraphicFramePr>
            <a:graphicFrameLocks/>
          </p:cNvGraphicFramePr>
          <p:nvPr>
            <p:extLst>
              <p:ext uri="{D42A27DB-BD31-4B8C-83A1-F6EECF244321}">
                <p14:modId xmlns:p14="http://schemas.microsoft.com/office/powerpoint/2010/main" val="4178548699"/>
              </p:ext>
            </p:extLst>
          </p:nvPr>
        </p:nvGraphicFramePr>
        <p:xfrm>
          <a:off x="5866668" y="1966382"/>
          <a:ext cx="6325332" cy="196414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Tabla 11">
            <a:extLst>
              <a:ext uri="{FF2B5EF4-FFF2-40B4-BE49-F238E27FC236}">
                <a16:creationId xmlns:a16="http://schemas.microsoft.com/office/drawing/2014/main" id="{4657A527-9359-5348-4D49-672FEF16C111}"/>
              </a:ext>
            </a:extLst>
          </p:cNvPr>
          <p:cNvGraphicFramePr>
            <a:graphicFrameLocks noGrp="1"/>
          </p:cNvGraphicFramePr>
          <p:nvPr/>
        </p:nvGraphicFramePr>
        <p:xfrm>
          <a:off x="238104" y="2190255"/>
          <a:ext cx="5354580" cy="3810000"/>
        </p:xfrm>
        <a:graphic>
          <a:graphicData uri="http://schemas.openxmlformats.org/drawingml/2006/table">
            <a:tbl>
              <a:tblPr/>
              <a:tblGrid>
                <a:gridCol w="2520862">
                  <a:extLst>
                    <a:ext uri="{9D8B030D-6E8A-4147-A177-3AD203B41FA5}">
                      <a16:colId xmlns:a16="http://schemas.microsoft.com/office/drawing/2014/main" val="2759504469"/>
                    </a:ext>
                  </a:extLst>
                </a:gridCol>
                <a:gridCol w="601662">
                  <a:extLst>
                    <a:ext uri="{9D8B030D-6E8A-4147-A177-3AD203B41FA5}">
                      <a16:colId xmlns:a16="http://schemas.microsoft.com/office/drawing/2014/main" val="436497671"/>
                    </a:ext>
                  </a:extLst>
                </a:gridCol>
                <a:gridCol w="688975">
                  <a:extLst>
                    <a:ext uri="{9D8B030D-6E8A-4147-A177-3AD203B41FA5}">
                      <a16:colId xmlns:a16="http://schemas.microsoft.com/office/drawing/2014/main" val="2517978491"/>
                    </a:ext>
                  </a:extLst>
                </a:gridCol>
                <a:gridCol w="736600">
                  <a:extLst>
                    <a:ext uri="{9D8B030D-6E8A-4147-A177-3AD203B41FA5}">
                      <a16:colId xmlns:a16="http://schemas.microsoft.com/office/drawing/2014/main" val="339835445"/>
                    </a:ext>
                  </a:extLst>
                </a:gridCol>
                <a:gridCol w="406400">
                  <a:extLst>
                    <a:ext uri="{9D8B030D-6E8A-4147-A177-3AD203B41FA5}">
                      <a16:colId xmlns:a16="http://schemas.microsoft.com/office/drawing/2014/main" val="3396370952"/>
                    </a:ext>
                  </a:extLst>
                </a:gridCol>
                <a:gridCol w="400081">
                  <a:extLst>
                    <a:ext uri="{9D8B030D-6E8A-4147-A177-3AD203B41FA5}">
                      <a16:colId xmlns:a16="http://schemas.microsoft.com/office/drawing/2014/main" val="1314809375"/>
                    </a:ext>
                  </a:extLst>
                </a:gridCol>
              </a:tblGrid>
              <a:tr h="190500">
                <a:tc>
                  <a:txBody>
                    <a:bodyPr/>
                    <a:lstStyle/>
                    <a:p>
                      <a:pPr algn="ctr" rtl="0" fontAlgn="ctr">
                        <a:buNone/>
                      </a:pPr>
                      <a:r>
                        <a:rPr lang="es-CO" sz="1000" b="1" i="0" u="none" strike="noStrike">
                          <a:solidFill>
                            <a:srgbClr val="FFFFFF"/>
                          </a:solidFill>
                          <a:effectLst/>
                          <a:latin typeface="Calibri" panose="020F0502020204030204" pitchFamily="34" charset="0"/>
                        </a:rPr>
                        <a:t>DETALLE DE AGENDAMIENTO SANITAS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000" b="1" i="0" u="none" strike="noStrike">
                          <a:solidFill>
                            <a:srgbClr val="FFFFFF"/>
                          </a:solidFill>
                          <a:effectLst/>
                          <a:latin typeface="Calibri" panose="020F0502020204030204" pitchFamily="34" charset="0"/>
                        </a:rPr>
                        <a:t>ATENDIDA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000" b="1" i="0" u="none" strike="noStrike">
                          <a:solidFill>
                            <a:srgbClr val="FFFFFF"/>
                          </a:solidFill>
                          <a:effectLst/>
                          <a:latin typeface="Calibri" panose="020F0502020204030204" pitchFamily="34" charset="0"/>
                        </a:rPr>
                        <a:t>CANCELADA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000" b="1" i="0" u="none" strike="noStrike">
                          <a:solidFill>
                            <a:srgbClr val="FFFFFF"/>
                          </a:solidFill>
                          <a:effectLst/>
                          <a:latin typeface="Calibri" panose="020F0502020204030204" pitchFamily="34" charset="0"/>
                        </a:rPr>
                        <a:t>INCUMPLIDA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000" b="1" i="0" u="none" strike="noStrike">
                          <a:solidFill>
                            <a:srgbClr val="FFFFFF"/>
                          </a:solidFill>
                          <a:effectLst/>
                          <a:latin typeface="Calibri" panose="020F0502020204030204" pitchFamily="34" charset="0"/>
                        </a:rPr>
                        <a:t>TOTAL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000" b="1" i="0" u="none" strike="noStrike">
                          <a:solidFill>
                            <a:srgbClr val="FFFFFF"/>
                          </a:solidFill>
                          <a:effectLst/>
                          <a:latin typeface="Calibri" panose="020F0502020204030204" pitchFamily="34" charset="0"/>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extLst>
                  <a:ext uri="{0D108BD9-81ED-4DB2-BD59-A6C34878D82A}">
                    <a16:rowId xmlns:a16="http://schemas.microsoft.com/office/drawing/2014/main" val="623451527"/>
                  </a:ext>
                </a:extLst>
              </a:tr>
              <a:tr h="190500">
                <a:tc>
                  <a:txBody>
                    <a:bodyPr/>
                    <a:lstStyle/>
                    <a:p>
                      <a:pPr algn="l" rtl="0" fontAlgn="ctr">
                        <a:buNone/>
                      </a:pPr>
                      <a:r>
                        <a:rPr lang="es-CO" sz="1000" b="1" i="0" u="none" strike="noStrike">
                          <a:solidFill>
                            <a:srgbClr val="FFFFFF"/>
                          </a:solidFill>
                          <a:effectLst/>
                          <a:latin typeface="Calibri" panose="020F0502020204030204" pitchFamily="34" charset="0"/>
                        </a:rPr>
                        <a:t>TRABAJO SOCIAL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4.456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493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476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5.425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08070506"/>
                  </a:ext>
                </a:extLst>
              </a:tr>
              <a:tr h="190500">
                <a:tc>
                  <a:txBody>
                    <a:bodyPr/>
                    <a:lstStyle/>
                    <a:p>
                      <a:pPr algn="l" rtl="0" fontAlgn="ctr">
                        <a:buNone/>
                      </a:pPr>
                      <a:r>
                        <a:rPr lang="es-CO" sz="1000" b="1" i="0" u="none" strike="noStrike">
                          <a:solidFill>
                            <a:srgbClr val="FFFFFF"/>
                          </a:solidFill>
                          <a:effectLst/>
                          <a:latin typeface="Calibri" panose="020F0502020204030204" pitchFamily="34" charset="0"/>
                        </a:rPr>
                        <a:t>PSICOLOGIA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4.679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434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312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5.425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31318641"/>
                  </a:ext>
                </a:extLst>
              </a:tr>
              <a:tr h="190500">
                <a:tc>
                  <a:txBody>
                    <a:bodyPr/>
                    <a:lstStyle/>
                    <a:p>
                      <a:pPr algn="l" rtl="0" fontAlgn="ctr">
                        <a:buNone/>
                      </a:pPr>
                      <a:r>
                        <a:rPr lang="es-CO" sz="1000" b="1" i="0" u="none" strike="noStrike">
                          <a:solidFill>
                            <a:srgbClr val="FFFFFF"/>
                          </a:solidFill>
                          <a:effectLst/>
                          <a:latin typeface="Calibri" panose="020F0502020204030204" pitchFamily="34" charset="0"/>
                        </a:rPr>
                        <a:t>NUTRICION Y DIETETICA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3.359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487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466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4.312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86816895"/>
                  </a:ext>
                </a:extLst>
              </a:tr>
              <a:tr h="190500">
                <a:tc>
                  <a:txBody>
                    <a:bodyPr/>
                    <a:lstStyle/>
                    <a:p>
                      <a:pPr algn="l" rtl="0" fontAlgn="ctr">
                        <a:buNone/>
                      </a:pPr>
                      <a:r>
                        <a:rPr lang="es-CO" sz="1000" b="1" i="0" u="none" strike="noStrike">
                          <a:solidFill>
                            <a:srgbClr val="FFFFFF"/>
                          </a:solidFill>
                          <a:effectLst/>
                          <a:latin typeface="Calibri" panose="020F0502020204030204" pitchFamily="34" charset="0"/>
                        </a:rPr>
                        <a:t>ONCOLOGIA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1.711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364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101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2.176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53811415"/>
                  </a:ext>
                </a:extLst>
              </a:tr>
              <a:tr h="190500">
                <a:tc>
                  <a:txBody>
                    <a:bodyPr/>
                    <a:lstStyle/>
                    <a:p>
                      <a:pPr algn="l" rtl="0" fontAlgn="ctr">
                        <a:buNone/>
                      </a:pPr>
                      <a:r>
                        <a:rPr lang="es-CO" sz="1000" b="1" i="0" u="none" strike="noStrike">
                          <a:solidFill>
                            <a:srgbClr val="FFFFFF"/>
                          </a:solidFill>
                          <a:effectLst/>
                          <a:latin typeface="Calibri" panose="020F0502020204030204" pitchFamily="34" charset="0"/>
                        </a:rPr>
                        <a:t>DOLOR Y CUIDADOS PALIATIVOS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516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52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673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47484216"/>
                  </a:ext>
                </a:extLst>
              </a:tr>
              <a:tr h="190500">
                <a:tc>
                  <a:txBody>
                    <a:bodyPr/>
                    <a:lstStyle/>
                    <a:p>
                      <a:pPr algn="l" rtl="0" fontAlgn="ctr">
                        <a:buNone/>
                      </a:pPr>
                      <a:r>
                        <a:rPr lang="es-CO" sz="1000" b="1" i="0" u="none" strike="noStrike">
                          <a:solidFill>
                            <a:srgbClr val="FFFFFF"/>
                          </a:solidFill>
                          <a:effectLst/>
                          <a:latin typeface="Calibri" panose="020F0502020204030204" pitchFamily="34" charset="0"/>
                        </a:rPr>
                        <a:t>DERMATOLOGIA ONCOLOGICA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425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141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32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598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27696791"/>
                  </a:ext>
                </a:extLst>
              </a:tr>
              <a:tr h="190500">
                <a:tc>
                  <a:txBody>
                    <a:bodyPr/>
                    <a:lstStyle/>
                    <a:p>
                      <a:pPr algn="l" rtl="0" fontAlgn="ctr">
                        <a:buNone/>
                      </a:pPr>
                      <a:r>
                        <a:rPr lang="es-CO" sz="1000" b="1" i="0" u="none" strike="noStrike">
                          <a:solidFill>
                            <a:srgbClr val="FFFFFF"/>
                          </a:solidFill>
                          <a:effectLst/>
                          <a:latin typeface="Calibri" panose="020F0502020204030204" pitchFamily="34" charset="0"/>
                        </a:rPr>
                        <a:t>CIRUGIA ONCOLOGICA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406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84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31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521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34703855"/>
                  </a:ext>
                </a:extLst>
              </a:tr>
              <a:tr h="190500">
                <a:tc>
                  <a:txBody>
                    <a:bodyPr/>
                    <a:lstStyle/>
                    <a:p>
                      <a:pPr algn="l" rtl="0" fontAlgn="ctr">
                        <a:buNone/>
                      </a:pPr>
                      <a:r>
                        <a:rPr lang="es-CO" sz="1000" b="1" i="0" u="none" strike="noStrike">
                          <a:solidFill>
                            <a:srgbClr val="FFFFFF"/>
                          </a:solidFill>
                          <a:effectLst/>
                          <a:latin typeface="Calibri" panose="020F0502020204030204" pitchFamily="34" charset="0"/>
                        </a:rPr>
                        <a:t>UROLOGIA ONCOLOGICA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408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62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490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92089574"/>
                  </a:ext>
                </a:extLst>
              </a:tr>
              <a:tr h="190500">
                <a:tc>
                  <a:txBody>
                    <a:bodyPr/>
                    <a:lstStyle/>
                    <a:p>
                      <a:pPr algn="l" rtl="0" fontAlgn="ctr">
                        <a:buNone/>
                      </a:pPr>
                      <a:r>
                        <a:rPr lang="es-CO" sz="1000" b="1" i="0" u="none" strike="noStrike">
                          <a:solidFill>
                            <a:srgbClr val="FFFFFF"/>
                          </a:solidFill>
                          <a:effectLst/>
                          <a:latin typeface="Calibri" panose="020F0502020204030204" pitchFamily="34" charset="0"/>
                        </a:rPr>
                        <a:t>MEDICINA GENERAL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391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54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465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26469416"/>
                  </a:ext>
                </a:extLst>
              </a:tr>
              <a:tr h="190500">
                <a:tc>
                  <a:txBody>
                    <a:bodyPr/>
                    <a:lstStyle/>
                    <a:p>
                      <a:pPr algn="l" rtl="0" fontAlgn="ctr">
                        <a:buNone/>
                      </a:pPr>
                      <a:r>
                        <a:rPr lang="es-CO" sz="1000" b="1" i="0" u="none" strike="noStrike">
                          <a:solidFill>
                            <a:srgbClr val="FFFFFF"/>
                          </a:solidFill>
                          <a:effectLst/>
                          <a:latin typeface="Calibri" panose="020F0502020204030204" pitchFamily="34" charset="0"/>
                        </a:rPr>
                        <a:t>GINECOLOGIA ONCOLOGICA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318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98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33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449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46610901"/>
                  </a:ext>
                </a:extLst>
              </a:tr>
              <a:tr h="190500">
                <a:tc>
                  <a:txBody>
                    <a:bodyPr/>
                    <a:lstStyle/>
                    <a:p>
                      <a:pPr algn="l" rtl="0" fontAlgn="ctr">
                        <a:buNone/>
                      </a:pPr>
                      <a:r>
                        <a:rPr lang="es-CO" sz="1000" b="1" i="0" u="none" strike="noStrike">
                          <a:solidFill>
                            <a:srgbClr val="FFFFFF"/>
                          </a:solidFill>
                          <a:effectLst/>
                          <a:latin typeface="Calibri" panose="020F0502020204030204" pitchFamily="34" charset="0"/>
                        </a:rPr>
                        <a:t>MASTOLOGIA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283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35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332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3164425"/>
                  </a:ext>
                </a:extLst>
              </a:tr>
              <a:tr h="190500">
                <a:tc>
                  <a:txBody>
                    <a:bodyPr/>
                    <a:lstStyle/>
                    <a:p>
                      <a:pPr algn="l" rtl="0" fontAlgn="ctr">
                        <a:buNone/>
                      </a:pPr>
                      <a:r>
                        <a:rPr lang="es-CO" sz="1000" b="1" i="0" u="none" strike="noStrike">
                          <a:solidFill>
                            <a:srgbClr val="FFFFFF"/>
                          </a:solidFill>
                          <a:effectLst/>
                          <a:latin typeface="Calibri" panose="020F0502020204030204" pitchFamily="34" charset="0"/>
                        </a:rPr>
                        <a:t>HEMATO ONCOLOGIA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188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45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252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15803506"/>
                  </a:ext>
                </a:extLst>
              </a:tr>
              <a:tr h="190500">
                <a:tc>
                  <a:txBody>
                    <a:bodyPr/>
                    <a:lstStyle/>
                    <a:p>
                      <a:pPr algn="l" rtl="0" fontAlgn="ctr">
                        <a:buNone/>
                      </a:pPr>
                      <a:r>
                        <a:rPr lang="es-CO" sz="1000" b="1" i="0" u="none" strike="noStrike">
                          <a:solidFill>
                            <a:srgbClr val="FFFFFF"/>
                          </a:solidFill>
                          <a:effectLst/>
                          <a:latin typeface="Calibri" panose="020F0502020204030204" pitchFamily="34" charset="0"/>
                        </a:rPr>
                        <a:t>HEMATOLOGIA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104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139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91327809"/>
                  </a:ext>
                </a:extLst>
              </a:tr>
              <a:tr h="190500">
                <a:tc>
                  <a:txBody>
                    <a:bodyPr/>
                    <a:lstStyle/>
                    <a:p>
                      <a:pPr algn="l" rtl="0" fontAlgn="ctr">
                        <a:buNone/>
                      </a:pPr>
                      <a:r>
                        <a:rPr lang="es-CO" sz="1000" b="1" i="0" u="none" strike="noStrike">
                          <a:solidFill>
                            <a:srgbClr val="FFFFFF"/>
                          </a:solidFill>
                          <a:effectLst/>
                          <a:latin typeface="Calibri" panose="020F0502020204030204" pitchFamily="34" charset="0"/>
                        </a:rPr>
                        <a:t>GUIA ESPIRITUAL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81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98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26337225"/>
                  </a:ext>
                </a:extLst>
              </a:tr>
              <a:tr h="190500">
                <a:tc>
                  <a:txBody>
                    <a:bodyPr/>
                    <a:lstStyle/>
                    <a:p>
                      <a:pPr algn="l" rtl="0" fontAlgn="ctr">
                        <a:buNone/>
                      </a:pPr>
                      <a:r>
                        <a:rPr lang="es-CO" sz="1000" b="1" i="0" u="none" strike="noStrike">
                          <a:solidFill>
                            <a:srgbClr val="FFFFFF"/>
                          </a:solidFill>
                          <a:effectLst/>
                          <a:latin typeface="Calibri" panose="020F0502020204030204" pitchFamily="34" charset="0"/>
                        </a:rPr>
                        <a:t>CIRUGIA PLASTICA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55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68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1581965"/>
                  </a:ext>
                </a:extLst>
              </a:tr>
              <a:tr h="190500">
                <a:tc>
                  <a:txBody>
                    <a:bodyPr/>
                    <a:lstStyle/>
                    <a:p>
                      <a:pPr algn="l" rtl="0" fontAlgn="ctr">
                        <a:buNone/>
                      </a:pPr>
                      <a:r>
                        <a:rPr lang="es-CO" sz="1000" b="1" i="0" u="none" strike="noStrike">
                          <a:solidFill>
                            <a:srgbClr val="FFFFFF"/>
                          </a:solidFill>
                          <a:effectLst/>
                          <a:latin typeface="Calibri" panose="020F0502020204030204" pitchFamily="34" charset="0"/>
                        </a:rPr>
                        <a:t>ENFERMERIA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34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47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28398400"/>
                  </a:ext>
                </a:extLst>
              </a:tr>
              <a:tr h="190500">
                <a:tc>
                  <a:txBody>
                    <a:bodyPr/>
                    <a:lstStyle/>
                    <a:p>
                      <a:pPr algn="l" rtl="0" fontAlgn="ctr">
                        <a:buNone/>
                      </a:pPr>
                      <a:r>
                        <a:rPr lang="es-CO" sz="1000" b="1" i="0" u="none" strike="noStrike">
                          <a:solidFill>
                            <a:srgbClr val="FFFFFF"/>
                          </a:solidFill>
                          <a:effectLst/>
                          <a:latin typeface="Calibri" panose="020F0502020204030204" pitchFamily="34" charset="0"/>
                        </a:rPr>
                        <a:t>ORTOPEDIA ONCOLOGICA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34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44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4823022"/>
                  </a:ext>
                </a:extLst>
              </a:tr>
              <a:tr h="190500">
                <a:tc>
                  <a:txBody>
                    <a:bodyPr/>
                    <a:lstStyle/>
                    <a:p>
                      <a:pPr algn="l" rtl="0" fontAlgn="ctr">
                        <a:buNone/>
                      </a:pPr>
                      <a:r>
                        <a:rPr lang="es-CO" sz="1000" b="1" i="0" u="none" strike="noStrike">
                          <a:solidFill>
                            <a:srgbClr val="FFFFFF"/>
                          </a:solidFill>
                          <a:effectLst/>
                          <a:latin typeface="Calibri" panose="020F0502020204030204" pitchFamily="34" charset="0"/>
                        </a:rPr>
                        <a:t>ANESTESIOLOGIA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84536810"/>
                  </a:ext>
                </a:extLst>
              </a:tr>
              <a:tr h="190500">
                <a:tc>
                  <a:txBody>
                    <a:bodyPr/>
                    <a:lstStyle/>
                    <a:p>
                      <a:pPr algn="ctr" rtl="0" fontAlgn="ctr">
                        <a:buNone/>
                      </a:pPr>
                      <a:r>
                        <a:rPr lang="es-CO" sz="1000" b="1" i="0" u="none" strike="noStrike">
                          <a:solidFill>
                            <a:srgbClr val="FFFFFF"/>
                          </a:solidFill>
                          <a:effectLst/>
                          <a:latin typeface="Calibri" panose="020F0502020204030204" pitchFamily="34" charset="0"/>
                        </a:rPr>
                        <a:t>TOTAL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17.457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2.473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1.594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21.524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25068577"/>
                  </a:ext>
                </a:extLst>
              </a:tr>
            </a:tbl>
          </a:graphicData>
        </a:graphic>
      </p:graphicFrame>
    </p:spTree>
    <p:extLst>
      <p:ext uri="{BB962C8B-B14F-4D97-AF65-F5344CB8AC3E}">
        <p14:creationId xmlns:p14="http://schemas.microsoft.com/office/powerpoint/2010/main" val="304084502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EC687-B358-D3E2-FEE0-B2DC3B44A1D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CC27D09-3D31-5A19-EE04-D37FB2728FB2}"/>
              </a:ext>
            </a:extLst>
          </p:cNvPr>
          <p:cNvSpPr>
            <a:spLocks noGrp="1"/>
          </p:cNvSpPr>
          <p:nvPr>
            <p:ph type="title"/>
          </p:nvPr>
        </p:nvSpPr>
        <p:spPr>
          <a:xfrm>
            <a:off x="1261945" y="1349830"/>
            <a:ext cx="7664341" cy="2484566"/>
          </a:xfrm>
        </p:spPr>
        <p:txBody>
          <a:bodyPr>
            <a:normAutofit/>
          </a:bodyPr>
          <a:lstStyle/>
          <a:p>
            <a:r>
              <a:rPr lang="es-CO" sz="8000" b="1" noProof="0"/>
              <a:t>Emssanar</a:t>
            </a:r>
          </a:p>
        </p:txBody>
      </p:sp>
      <p:sp>
        <p:nvSpPr>
          <p:cNvPr id="3" name="Marcador de texto 2">
            <a:extLst>
              <a:ext uri="{FF2B5EF4-FFF2-40B4-BE49-F238E27FC236}">
                <a16:creationId xmlns:a16="http://schemas.microsoft.com/office/drawing/2014/main" id="{6481577C-9A1D-E86F-7EF1-13068D2CF6A7}"/>
              </a:ext>
            </a:extLst>
          </p:cNvPr>
          <p:cNvSpPr>
            <a:spLocks noGrp="1"/>
          </p:cNvSpPr>
          <p:nvPr>
            <p:ph type="body" idx="1"/>
          </p:nvPr>
        </p:nvSpPr>
        <p:spPr>
          <a:xfrm>
            <a:off x="1261945" y="3694695"/>
            <a:ext cx="3700346" cy="481128"/>
          </a:xfrm>
        </p:spPr>
        <p:txBody>
          <a:bodyPr vert="horz" lIns="91440" tIns="45720" rIns="91440" bIns="45720" rtlCol="0" anchor="t">
            <a:normAutofit/>
          </a:bodyPr>
          <a:lstStyle/>
          <a:p>
            <a:r>
              <a:rPr lang="es-CO" sz="2000" b="1" noProof="0"/>
              <a:t>Septiembre 2026</a:t>
            </a:r>
          </a:p>
          <a:p>
            <a:endParaRPr lang="es-CO" sz="2000" b="1" noProof="0"/>
          </a:p>
        </p:txBody>
      </p:sp>
    </p:spTree>
    <p:extLst>
      <p:ext uri="{BB962C8B-B14F-4D97-AF65-F5344CB8AC3E}">
        <p14:creationId xmlns:p14="http://schemas.microsoft.com/office/powerpoint/2010/main" val="2158353188"/>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08CDC-3622-FB5F-04A3-69766A5177D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6778F40-6A26-143D-848A-BA308690B49F}"/>
              </a:ext>
            </a:extLst>
          </p:cNvPr>
          <p:cNvSpPr>
            <a:spLocks noGrp="1"/>
          </p:cNvSpPr>
          <p:nvPr>
            <p:ph type="ctrTitle"/>
          </p:nvPr>
        </p:nvSpPr>
        <p:spPr>
          <a:xfrm>
            <a:off x="273120" y="26882"/>
            <a:ext cx="11645759" cy="899007"/>
          </a:xfrm>
        </p:spPr>
        <p:txBody>
          <a:bodyPr>
            <a:normAutofit/>
          </a:bodyPr>
          <a:lstStyle/>
          <a:p>
            <a:r>
              <a:rPr lang="es-CO" noProof="0"/>
              <a:t>Historia de población Emssanar</a:t>
            </a:r>
          </a:p>
        </p:txBody>
      </p:sp>
      <p:sp>
        <p:nvSpPr>
          <p:cNvPr id="6" name="CuadroTexto 5">
            <a:extLst>
              <a:ext uri="{FF2B5EF4-FFF2-40B4-BE49-F238E27FC236}">
                <a16:creationId xmlns:a16="http://schemas.microsoft.com/office/drawing/2014/main" id="{77B0E383-FEFC-5234-F576-EA6FA4FE57DB}"/>
              </a:ext>
            </a:extLst>
          </p:cNvPr>
          <p:cNvSpPr txBox="1"/>
          <p:nvPr/>
        </p:nvSpPr>
        <p:spPr>
          <a:xfrm>
            <a:off x="444144" y="5309937"/>
            <a:ext cx="11474735" cy="923330"/>
          </a:xfrm>
          <a:prstGeom prst="rect">
            <a:avLst/>
          </a:prstGeom>
          <a:noFill/>
        </p:spPr>
        <p:txBody>
          <a:bodyPr wrap="square" rtlCol="0">
            <a:spAutoFit/>
          </a:bodyPr>
          <a:lstStyle/>
          <a:p>
            <a:r>
              <a:rPr lang="es-CO" noProof="0"/>
              <a:t>Los ingresos mensuales en promedio son </a:t>
            </a:r>
            <a:r>
              <a:rPr lang="es-CO"/>
              <a:t>55</a:t>
            </a:r>
            <a:r>
              <a:rPr lang="es-CO" noProof="0"/>
              <a:t> y se concentraron principalmente en cáncer de piel, representando el 24 % del total de los ingresos anuales. Seguido de ingresos por cáncer de mama (20 %), cérvix (10 %), colorrectal (10 %) y </a:t>
            </a:r>
            <a:r>
              <a:rPr lang="es-CO" noProof="0" err="1"/>
              <a:t>Prostata</a:t>
            </a:r>
            <a:r>
              <a:rPr lang="es-CO" noProof="0"/>
              <a:t> (7 %).</a:t>
            </a:r>
          </a:p>
        </p:txBody>
      </p:sp>
      <p:sp>
        <p:nvSpPr>
          <p:cNvPr id="3" name="CuadroTexto 2">
            <a:extLst>
              <a:ext uri="{FF2B5EF4-FFF2-40B4-BE49-F238E27FC236}">
                <a16:creationId xmlns:a16="http://schemas.microsoft.com/office/drawing/2014/main" id="{AF566ECC-A3A6-C07D-3B39-3A1B2CB976EC}"/>
              </a:ext>
            </a:extLst>
          </p:cNvPr>
          <p:cNvSpPr txBox="1"/>
          <p:nvPr/>
        </p:nvSpPr>
        <p:spPr>
          <a:xfrm>
            <a:off x="9932772" y="881439"/>
            <a:ext cx="1842400" cy="430887"/>
          </a:xfrm>
          <a:prstGeom prst="rect">
            <a:avLst/>
          </a:prstGeom>
          <a:noFill/>
        </p:spPr>
        <p:txBody>
          <a:bodyPr wrap="square" rtlCol="0">
            <a:spAutoFit/>
          </a:bodyPr>
          <a:lstStyle/>
          <a:p>
            <a:r>
              <a:rPr lang="es-CO" sz="1100" noProof="0"/>
              <a:t>Población Emssanar:   </a:t>
            </a:r>
          </a:p>
          <a:p>
            <a:r>
              <a:rPr lang="es-CO" sz="1100" noProof="0"/>
              <a:t>292,704</a:t>
            </a:r>
          </a:p>
        </p:txBody>
      </p:sp>
      <p:graphicFrame>
        <p:nvGraphicFramePr>
          <p:cNvPr id="9" name="Gráfico 8">
            <a:extLst>
              <a:ext uri="{FF2B5EF4-FFF2-40B4-BE49-F238E27FC236}">
                <a16:creationId xmlns:a16="http://schemas.microsoft.com/office/drawing/2014/main" id="{E32CA903-8E5B-82D3-585D-A85D325FB47E}"/>
              </a:ext>
            </a:extLst>
          </p:cNvPr>
          <p:cNvGraphicFramePr>
            <a:graphicFrameLocks/>
          </p:cNvGraphicFramePr>
          <p:nvPr>
            <p:extLst>
              <p:ext uri="{D42A27DB-BD31-4B8C-83A1-F6EECF244321}">
                <p14:modId xmlns:p14="http://schemas.microsoft.com/office/powerpoint/2010/main" val="43971874"/>
              </p:ext>
            </p:extLst>
          </p:nvPr>
        </p:nvGraphicFramePr>
        <p:xfrm>
          <a:off x="869430" y="1402531"/>
          <a:ext cx="9963670" cy="3769076"/>
        </p:xfrm>
        <a:graphic>
          <a:graphicData uri="http://schemas.openxmlformats.org/drawingml/2006/chart">
            <c:chart xmlns:c="http://schemas.openxmlformats.org/drawingml/2006/chart" xmlns:r="http://schemas.openxmlformats.org/officeDocument/2006/relationships" r:id="rId3"/>
          </a:graphicData>
        </a:graphic>
      </p:graphicFrame>
      <p:sp>
        <p:nvSpPr>
          <p:cNvPr id="4" name="CuadroTexto 3">
            <a:extLst>
              <a:ext uri="{FF2B5EF4-FFF2-40B4-BE49-F238E27FC236}">
                <a16:creationId xmlns:a16="http://schemas.microsoft.com/office/drawing/2014/main" id="{050B34C3-D06D-3238-4D5B-980ED29786BC}"/>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Septiembre 2026</a:t>
            </a:r>
          </a:p>
        </p:txBody>
      </p:sp>
    </p:spTree>
    <p:extLst>
      <p:ext uri="{BB962C8B-B14F-4D97-AF65-F5344CB8AC3E}">
        <p14:creationId xmlns:p14="http://schemas.microsoft.com/office/powerpoint/2010/main" val="397948538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05650-B5C2-7578-0658-0C142A5F03B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5FBC92C-181E-054A-5BE9-6EFB53A09008}"/>
              </a:ext>
            </a:extLst>
          </p:cNvPr>
          <p:cNvSpPr>
            <a:spLocks noGrp="1"/>
          </p:cNvSpPr>
          <p:nvPr>
            <p:ph type="ctrTitle"/>
          </p:nvPr>
        </p:nvSpPr>
        <p:spPr>
          <a:xfrm>
            <a:off x="273120" y="26882"/>
            <a:ext cx="11645759" cy="899007"/>
          </a:xfrm>
        </p:spPr>
        <p:txBody>
          <a:bodyPr>
            <a:normAutofit/>
          </a:bodyPr>
          <a:lstStyle/>
          <a:p>
            <a:r>
              <a:rPr lang="es-CO" noProof="0"/>
              <a:t>Historia de población Emssanar</a:t>
            </a:r>
          </a:p>
        </p:txBody>
      </p:sp>
      <p:graphicFrame>
        <p:nvGraphicFramePr>
          <p:cNvPr id="4" name="Diagrama 3">
            <a:extLst>
              <a:ext uri="{FF2B5EF4-FFF2-40B4-BE49-F238E27FC236}">
                <a16:creationId xmlns:a16="http://schemas.microsoft.com/office/drawing/2014/main" id="{5D902285-86B1-08F8-F48D-12570460889B}"/>
              </a:ext>
            </a:extLst>
          </p:cNvPr>
          <p:cNvGraphicFramePr/>
          <p:nvPr>
            <p:extLst>
              <p:ext uri="{D42A27DB-BD31-4B8C-83A1-F6EECF244321}">
                <p14:modId xmlns:p14="http://schemas.microsoft.com/office/powerpoint/2010/main" val="95622775"/>
              </p:ext>
            </p:extLst>
          </p:nvPr>
        </p:nvGraphicFramePr>
        <p:xfrm>
          <a:off x="1804772" y="922943"/>
          <a:ext cx="8128000" cy="27093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CuadroTexto 5">
            <a:extLst>
              <a:ext uri="{FF2B5EF4-FFF2-40B4-BE49-F238E27FC236}">
                <a16:creationId xmlns:a16="http://schemas.microsoft.com/office/drawing/2014/main" id="{20832EB9-2063-2943-38C2-0540819F8950}"/>
              </a:ext>
            </a:extLst>
          </p:cNvPr>
          <p:cNvSpPr txBox="1"/>
          <p:nvPr/>
        </p:nvSpPr>
        <p:spPr>
          <a:xfrm>
            <a:off x="444144" y="5309937"/>
            <a:ext cx="11474735" cy="369332"/>
          </a:xfrm>
          <a:prstGeom prst="rect">
            <a:avLst/>
          </a:prstGeom>
          <a:noFill/>
        </p:spPr>
        <p:txBody>
          <a:bodyPr wrap="square" rtlCol="0">
            <a:spAutoFit/>
          </a:bodyPr>
          <a:lstStyle/>
          <a:p>
            <a:r>
              <a:rPr lang="es-CO" b="1" noProof="0"/>
              <a:t>*Incidentes por fecha de diagnóstico</a:t>
            </a:r>
          </a:p>
        </p:txBody>
      </p:sp>
      <p:graphicFrame>
        <p:nvGraphicFramePr>
          <p:cNvPr id="7" name="Gráfico 6">
            <a:extLst>
              <a:ext uri="{FF2B5EF4-FFF2-40B4-BE49-F238E27FC236}">
                <a16:creationId xmlns:a16="http://schemas.microsoft.com/office/drawing/2014/main" id="{26CED008-7422-AE00-3218-BB2A22BC5B56}"/>
              </a:ext>
            </a:extLst>
          </p:cNvPr>
          <p:cNvGraphicFramePr/>
          <p:nvPr>
            <p:extLst>
              <p:ext uri="{D42A27DB-BD31-4B8C-83A1-F6EECF244321}">
                <p14:modId xmlns:p14="http://schemas.microsoft.com/office/powerpoint/2010/main" val="2089712181"/>
              </p:ext>
            </p:extLst>
          </p:nvPr>
        </p:nvGraphicFramePr>
        <p:xfrm>
          <a:off x="444144" y="2079765"/>
          <a:ext cx="11474735" cy="3230172"/>
        </p:xfrm>
        <a:graphic>
          <a:graphicData uri="http://schemas.openxmlformats.org/drawingml/2006/chart">
            <c:chart xmlns:c="http://schemas.openxmlformats.org/drawingml/2006/chart" xmlns:r="http://schemas.openxmlformats.org/officeDocument/2006/relationships" r:id="rId8"/>
          </a:graphicData>
        </a:graphic>
      </p:graphicFrame>
      <p:sp>
        <p:nvSpPr>
          <p:cNvPr id="3" name="CuadroTexto 2">
            <a:extLst>
              <a:ext uri="{FF2B5EF4-FFF2-40B4-BE49-F238E27FC236}">
                <a16:creationId xmlns:a16="http://schemas.microsoft.com/office/drawing/2014/main" id="{90C52E91-6052-55B3-752B-273A44699EDB}"/>
              </a:ext>
            </a:extLst>
          </p:cNvPr>
          <p:cNvSpPr txBox="1"/>
          <p:nvPr/>
        </p:nvSpPr>
        <p:spPr>
          <a:xfrm>
            <a:off x="9932772" y="881439"/>
            <a:ext cx="1842400" cy="430887"/>
          </a:xfrm>
          <a:prstGeom prst="rect">
            <a:avLst/>
          </a:prstGeom>
          <a:noFill/>
        </p:spPr>
        <p:txBody>
          <a:bodyPr wrap="square" rtlCol="0">
            <a:spAutoFit/>
          </a:bodyPr>
          <a:lstStyle/>
          <a:p>
            <a:r>
              <a:rPr lang="es-CO" sz="1100" noProof="0"/>
              <a:t>Población Emssanar:   </a:t>
            </a:r>
          </a:p>
          <a:p>
            <a:r>
              <a:rPr lang="es-CO" sz="1100" noProof="0"/>
              <a:t>        292,704</a:t>
            </a:r>
          </a:p>
        </p:txBody>
      </p:sp>
      <p:grpSp>
        <p:nvGrpSpPr>
          <p:cNvPr id="9" name="Grupo 8">
            <a:extLst>
              <a:ext uri="{FF2B5EF4-FFF2-40B4-BE49-F238E27FC236}">
                <a16:creationId xmlns:a16="http://schemas.microsoft.com/office/drawing/2014/main" id="{60E3A349-924F-7311-AB8A-D74F9B5DC7C6}"/>
              </a:ext>
            </a:extLst>
          </p:cNvPr>
          <p:cNvGrpSpPr/>
          <p:nvPr/>
        </p:nvGrpSpPr>
        <p:grpSpPr>
          <a:xfrm>
            <a:off x="6595118" y="1443136"/>
            <a:ext cx="2059758" cy="2189141"/>
            <a:chOff x="2425013" y="520192"/>
            <a:chExt cx="2059758" cy="2189141"/>
          </a:xfrm>
        </p:grpSpPr>
        <p:sp>
          <p:nvSpPr>
            <p:cNvPr id="10" name="Rectángulo 9">
              <a:extLst>
                <a:ext uri="{FF2B5EF4-FFF2-40B4-BE49-F238E27FC236}">
                  <a16:creationId xmlns:a16="http://schemas.microsoft.com/office/drawing/2014/main" id="{B8BC3F27-1C3A-D24F-DBCB-B88317C0117C}"/>
                </a:ext>
              </a:extLst>
            </p:cNvPr>
            <p:cNvSpPr/>
            <p:nvPr/>
          </p:nvSpPr>
          <p:spPr>
            <a:xfrm>
              <a:off x="2425013" y="520192"/>
              <a:ext cx="2059758" cy="2189141"/>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s-CO" noProof="0"/>
            </a:p>
          </p:txBody>
        </p:sp>
        <p:sp>
          <p:nvSpPr>
            <p:cNvPr id="11" name="CuadroTexto 10">
              <a:extLst>
                <a:ext uri="{FF2B5EF4-FFF2-40B4-BE49-F238E27FC236}">
                  <a16:creationId xmlns:a16="http://schemas.microsoft.com/office/drawing/2014/main" id="{35714B12-9D4F-6E5D-9151-4E05CA2DE373}"/>
                </a:ext>
              </a:extLst>
            </p:cNvPr>
            <p:cNvSpPr txBox="1"/>
            <p:nvPr/>
          </p:nvSpPr>
          <p:spPr>
            <a:xfrm>
              <a:off x="2425013" y="520192"/>
              <a:ext cx="2059758" cy="2189141"/>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50800" tIns="50800" rIns="50800" bIns="50800" numCol="1" spcCol="1270" anchor="t" anchorCtr="0">
              <a:noAutofit/>
            </a:bodyPr>
            <a:lstStyle/>
            <a:p>
              <a:pPr marL="0" lvl="0" indent="0" algn="l" defTabSz="889000">
                <a:lnSpc>
                  <a:spcPct val="90000"/>
                </a:lnSpc>
                <a:spcBef>
                  <a:spcPct val="0"/>
                </a:spcBef>
                <a:spcAft>
                  <a:spcPct val="35000"/>
                </a:spcAft>
                <a:buNone/>
              </a:pPr>
              <a:r>
                <a:rPr lang="es-CO" sz="2000" b="1" kern="1200" noProof="0"/>
                <a:t>1.470 x 100 mil</a:t>
              </a:r>
            </a:p>
            <a:p>
              <a:pPr marL="0" lvl="0" indent="0" algn="l" defTabSz="889000">
                <a:lnSpc>
                  <a:spcPct val="90000"/>
                </a:lnSpc>
                <a:spcBef>
                  <a:spcPct val="0"/>
                </a:spcBef>
                <a:spcAft>
                  <a:spcPct val="35000"/>
                </a:spcAft>
                <a:buNone/>
              </a:pPr>
              <a:r>
                <a:rPr lang="es-CO" sz="1200" b="0" kern="1200" noProof="0"/>
                <a:t>(4,303 usuarios)</a:t>
              </a:r>
              <a:endParaRPr lang="es-CO" sz="1200" b="1" kern="1200" noProof="0"/>
            </a:p>
          </p:txBody>
        </p:sp>
      </p:grpSp>
      <p:sp>
        <p:nvSpPr>
          <p:cNvPr id="5" name="CuadroTexto 4">
            <a:extLst>
              <a:ext uri="{FF2B5EF4-FFF2-40B4-BE49-F238E27FC236}">
                <a16:creationId xmlns:a16="http://schemas.microsoft.com/office/drawing/2014/main" id="{8749C40A-D2AF-3A29-B322-CF7E31F98D93}"/>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Septiembre 2026</a:t>
            </a:r>
          </a:p>
        </p:txBody>
      </p:sp>
    </p:spTree>
    <p:extLst>
      <p:ext uri="{BB962C8B-B14F-4D97-AF65-F5344CB8AC3E}">
        <p14:creationId xmlns:p14="http://schemas.microsoft.com/office/powerpoint/2010/main" val="295483103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41EA3034-81FD-F0DA-1C79-B1269DAC2EBA}"/>
              </a:ext>
            </a:extLst>
          </p:cNvPr>
          <p:cNvSpPr>
            <a:spLocks noGrp="1"/>
          </p:cNvSpPr>
          <p:nvPr>
            <p:ph type="ctrTitle"/>
          </p:nvPr>
        </p:nvSpPr>
        <p:spPr>
          <a:xfrm>
            <a:off x="101600" y="0"/>
            <a:ext cx="11988800" cy="831850"/>
          </a:xfrm>
          <a:prstGeom prst="rect">
            <a:avLst/>
          </a:prstGeom>
        </p:spPr>
        <p:txBody>
          <a:bodyPr vert="horz" lIns="91440" tIns="45720" rIns="91440" bIns="45720" rtlCol="0" anchor="b">
            <a:normAutofit/>
          </a:bodyPr>
          <a:lstStyle>
            <a:lvl1pPr marL="0" indent="0" algn="ctr" defTabSz="914400" rtl="0" eaLnBrk="1" latinLnBrk="0" hangingPunct="1">
              <a:lnSpc>
                <a:spcPct val="90000"/>
              </a:lnSpc>
              <a:spcBef>
                <a:spcPct val="0"/>
              </a:spcBef>
              <a:buNone/>
              <a:defRPr lang="es-CO" sz="4400" b="1" kern="1200" dirty="0">
                <a:solidFill>
                  <a:schemeClr val="tx1"/>
                </a:solidFill>
                <a:latin typeface="+mj-lt"/>
                <a:ea typeface="+mj-ea"/>
                <a:cs typeface="+mj-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s-CO" noProof="0"/>
              <a:t>Distribución de la Cohorte Total Emssanar 2026</a:t>
            </a:r>
          </a:p>
        </p:txBody>
      </p:sp>
      <p:graphicFrame>
        <p:nvGraphicFramePr>
          <p:cNvPr id="3" name="Gráfico 2">
            <a:extLst>
              <a:ext uri="{FF2B5EF4-FFF2-40B4-BE49-F238E27FC236}">
                <a16:creationId xmlns:a16="http://schemas.microsoft.com/office/drawing/2014/main" id="{7B7F52DC-372E-B146-487A-747A2CF1B2A0}"/>
              </a:ext>
            </a:extLst>
          </p:cNvPr>
          <p:cNvGraphicFramePr>
            <a:graphicFrameLocks/>
          </p:cNvGraphicFramePr>
          <p:nvPr>
            <p:extLst>
              <p:ext uri="{D42A27DB-BD31-4B8C-83A1-F6EECF244321}">
                <p14:modId xmlns:p14="http://schemas.microsoft.com/office/powerpoint/2010/main" val="2269184403"/>
              </p:ext>
            </p:extLst>
          </p:nvPr>
        </p:nvGraphicFramePr>
        <p:xfrm>
          <a:off x="850231" y="831850"/>
          <a:ext cx="10491537"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Gráfico 7">
            <a:extLst>
              <a:ext uri="{FF2B5EF4-FFF2-40B4-BE49-F238E27FC236}">
                <a16:creationId xmlns:a16="http://schemas.microsoft.com/office/drawing/2014/main" id="{F1D0C5DE-2C33-615A-4763-F09E2FEEA07C}"/>
              </a:ext>
            </a:extLst>
          </p:cNvPr>
          <p:cNvGraphicFramePr>
            <a:graphicFrameLocks/>
          </p:cNvGraphicFramePr>
          <p:nvPr>
            <p:extLst>
              <p:ext uri="{D42A27DB-BD31-4B8C-83A1-F6EECF244321}">
                <p14:modId xmlns:p14="http://schemas.microsoft.com/office/powerpoint/2010/main" val="411842161"/>
              </p:ext>
            </p:extLst>
          </p:nvPr>
        </p:nvGraphicFramePr>
        <p:xfrm>
          <a:off x="946484" y="3585072"/>
          <a:ext cx="10491537"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9" name="CuadroTexto 8">
            <a:extLst>
              <a:ext uri="{FF2B5EF4-FFF2-40B4-BE49-F238E27FC236}">
                <a16:creationId xmlns:a16="http://schemas.microsoft.com/office/drawing/2014/main" id="{64F45D4F-E804-0A21-9E24-699A70FD41BE}"/>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Septiembre 2026</a:t>
            </a:r>
          </a:p>
        </p:txBody>
      </p:sp>
    </p:spTree>
    <p:extLst>
      <p:ext uri="{BB962C8B-B14F-4D97-AF65-F5344CB8AC3E}">
        <p14:creationId xmlns:p14="http://schemas.microsoft.com/office/powerpoint/2010/main" val="2866541352"/>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F1574-A410-31CC-126E-D93F2057975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889E7F2-00CB-833C-96FC-5ABFE2A25F66}"/>
              </a:ext>
            </a:extLst>
          </p:cNvPr>
          <p:cNvSpPr>
            <a:spLocks noGrp="1"/>
          </p:cNvSpPr>
          <p:nvPr>
            <p:ph type="ctrTitle"/>
          </p:nvPr>
        </p:nvSpPr>
        <p:spPr>
          <a:xfrm>
            <a:off x="273120" y="26882"/>
            <a:ext cx="11645759" cy="899007"/>
          </a:xfrm>
        </p:spPr>
        <p:txBody>
          <a:bodyPr>
            <a:normAutofit/>
          </a:bodyPr>
          <a:lstStyle/>
          <a:p>
            <a:r>
              <a:rPr lang="es-CO" noProof="0"/>
              <a:t>Historia de población Emssanar 2026</a:t>
            </a:r>
          </a:p>
        </p:txBody>
      </p:sp>
      <p:graphicFrame>
        <p:nvGraphicFramePr>
          <p:cNvPr id="8" name="Gráfico 7">
            <a:extLst>
              <a:ext uri="{FF2B5EF4-FFF2-40B4-BE49-F238E27FC236}">
                <a16:creationId xmlns:a16="http://schemas.microsoft.com/office/drawing/2014/main" id="{19CFB1C3-91C6-81DC-E85F-1518BDB6E275}"/>
              </a:ext>
            </a:extLst>
          </p:cNvPr>
          <p:cNvGraphicFramePr>
            <a:graphicFrameLocks/>
          </p:cNvGraphicFramePr>
          <p:nvPr>
            <p:extLst>
              <p:ext uri="{D42A27DB-BD31-4B8C-83A1-F6EECF244321}">
                <p14:modId xmlns:p14="http://schemas.microsoft.com/office/powerpoint/2010/main" val="549044988"/>
              </p:ext>
            </p:extLst>
          </p:nvPr>
        </p:nvGraphicFramePr>
        <p:xfrm>
          <a:off x="1169232" y="1123934"/>
          <a:ext cx="9563725" cy="4610132"/>
        </p:xfrm>
        <a:graphic>
          <a:graphicData uri="http://schemas.openxmlformats.org/drawingml/2006/chart">
            <c:chart xmlns:c="http://schemas.openxmlformats.org/drawingml/2006/chart" xmlns:r="http://schemas.openxmlformats.org/officeDocument/2006/relationships" r:id="rId3"/>
          </a:graphicData>
        </a:graphic>
      </p:graphicFrame>
      <p:sp>
        <p:nvSpPr>
          <p:cNvPr id="9" name="CuadroTexto 8">
            <a:extLst>
              <a:ext uri="{FF2B5EF4-FFF2-40B4-BE49-F238E27FC236}">
                <a16:creationId xmlns:a16="http://schemas.microsoft.com/office/drawing/2014/main" id="{118C26CA-65AE-B5A6-2C60-C4265E204D04}"/>
              </a:ext>
            </a:extLst>
          </p:cNvPr>
          <p:cNvSpPr txBox="1"/>
          <p:nvPr/>
        </p:nvSpPr>
        <p:spPr>
          <a:xfrm>
            <a:off x="9932772" y="881439"/>
            <a:ext cx="1842400" cy="430887"/>
          </a:xfrm>
          <a:prstGeom prst="rect">
            <a:avLst/>
          </a:prstGeom>
          <a:noFill/>
        </p:spPr>
        <p:txBody>
          <a:bodyPr wrap="square" rtlCol="0">
            <a:spAutoFit/>
          </a:bodyPr>
          <a:lstStyle/>
          <a:p>
            <a:r>
              <a:rPr lang="es-CO" sz="1100" noProof="0"/>
              <a:t>Población Emssanar:   </a:t>
            </a:r>
          </a:p>
          <a:p>
            <a:r>
              <a:rPr lang="es-CO" sz="1100" noProof="0"/>
              <a:t>        292,704</a:t>
            </a:r>
          </a:p>
        </p:txBody>
      </p:sp>
      <p:sp>
        <p:nvSpPr>
          <p:cNvPr id="4" name="CuadroTexto 3">
            <a:extLst>
              <a:ext uri="{FF2B5EF4-FFF2-40B4-BE49-F238E27FC236}">
                <a16:creationId xmlns:a16="http://schemas.microsoft.com/office/drawing/2014/main" id="{B0A29B72-9337-BF46-2BE8-F1EFE47C443C}"/>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Septiembre 2026</a:t>
            </a:r>
          </a:p>
        </p:txBody>
      </p:sp>
    </p:spTree>
    <p:extLst>
      <p:ext uri="{BB962C8B-B14F-4D97-AF65-F5344CB8AC3E}">
        <p14:creationId xmlns:p14="http://schemas.microsoft.com/office/powerpoint/2010/main" val="346730543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D29D5-0CAC-E8DC-604B-D274DA1B99A2}"/>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09EFC97C-6AB8-0725-F663-0BD86985A899}"/>
              </a:ext>
            </a:extLst>
          </p:cNvPr>
          <p:cNvSpPr>
            <a:spLocks noGrp="1"/>
          </p:cNvSpPr>
          <p:nvPr>
            <p:ph type="ctrTitle"/>
          </p:nvPr>
        </p:nvSpPr>
        <p:spPr>
          <a:xfrm>
            <a:off x="273120" y="46892"/>
            <a:ext cx="11645759" cy="598709"/>
          </a:xfrm>
        </p:spPr>
        <p:txBody>
          <a:bodyPr>
            <a:noAutofit/>
          </a:bodyPr>
          <a:lstStyle/>
          <a:p>
            <a:r>
              <a:rPr lang="es-CO" noProof="0"/>
              <a:t>Distribución de la cohorte Emssanar 2026</a:t>
            </a:r>
          </a:p>
        </p:txBody>
      </p:sp>
      <p:graphicFrame>
        <p:nvGraphicFramePr>
          <p:cNvPr id="7" name="Gráfico 6">
            <a:extLst>
              <a:ext uri="{FF2B5EF4-FFF2-40B4-BE49-F238E27FC236}">
                <a16:creationId xmlns:a16="http://schemas.microsoft.com/office/drawing/2014/main" id="{BD6B4FBC-F1ED-7415-18C4-3A15D295D38E}"/>
              </a:ext>
            </a:extLst>
          </p:cNvPr>
          <p:cNvGraphicFramePr>
            <a:graphicFrameLocks/>
          </p:cNvGraphicFramePr>
          <p:nvPr>
            <p:extLst>
              <p:ext uri="{D42A27DB-BD31-4B8C-83A1-F6EECF244321}">
                <p14:modId xmlns:p14="http://schemas.microsoft.com/office/powerpoint/2010/main" val="2015389932"/>
              </p:ext>
            </p:extLst>
          </p:nvPr>
        </p:nvGraphicFramePr>
        <p:xfrm>
          <a:off x="599606" y="3555603"/>
          <a:ext cx="10992789"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Gráfico 7">
            <a:extLst>
              <a:ext uri="{FF2B5EF4-FFF2-40B4-BE49-F238E27FC236}">
                <a16:creationId xmlns:a16="http://schemas.microsoft.com/office/drawing/2014/main" id="{DC91A00C-8000-B491-B677-8EB243CB6D1F}"/>
              </a:ext>
            </a:extLst>
          </p:cNvPr>
          <p:cNvGraphicFramePr>
            <a:graphicFrameLocks/>
          </p:cNvGraphicFramePr>
          <p:nvPr>
            <p:extLst>
              <p:ext uri="{D42A27DB-BD31-4B8C-83A1-F6EECF244321}">
                <p14:modId xmlns:p14="http://schemas.microsoft.com/office/powerpoint/2010/main" val="3873052448"/>
              </p:ext>
            </p:extLst>
          </p:nvPr>
        </p:nvGraphicFramePr>
        <p:xfrm>
          <a:off x="737936" y="812403"/>
          <a:ext cx="10992789"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9" name="CuadroTexto 8">
            <a:extLst>
              <a:ext uri="{FF2B5EF4-FFF2-40B4-BE49-F238E27FC236}">
                <a16:creationId xmlns:a16="http://schemas.microsoft.com/office/drawing/2014/main" id="{B96787B8-972C-4BC2-875F-1FED2750C2BC}"/>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Septiembre 2026</a:t>
            </a:r>
          </a:p>
        </p:txBody>
      </p:sp>
    </p:spTree>
    <p:extLst>
      <p:ext uri="{BB962C8B-B14F-4D97-AF65-F5344CB8AC3E}">
        <p14:creationId xmlns:p14="http://schemas.microsoft.com/office/powerpoint/2010/main" val="403898891"/>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C8606-2A5D-7234-07E6-DEA57E3A03B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CC6D90C-02D9-7939-5421-00379E24EF4A}"/>
              </a:ext>
            </a:extLst>
          </p:cNvPr>
          <p:cNvSpPr>
            <a:spLocks noGrp="1"/>
          </p:cNvSpPr>
          <p:nvPr>
            <p:ph type="ctrTitle"/>
          </p:nvPr>
        </p:nvSpPr>
        <p:spPr>
          <a:xfrm>
            <a:off x="273120" y="206276"/>
            <a:ext cx="11645759" cy="657324"/>
          </a:xfrm>
        </p:spPr>
        <p:txBody>
          <a:bodyPr>
            <a:noAutofit/>
          </a:bodyPr>
          <a:lstStyle/>
          <a:p>
            <a:r>
              <a:rPr lang="es-CO" noProof="0"/>
              <a:t>Porcentaje de pacientes en tratamiento 2026</a:t>
            </a:r>
          </a:p>
        </p:txBody>
      </p:sp>
      <p:sp>
        <p:nvSpPr>
          <p:cNvPr id="7" name="CuadroTexto 6">
            <a:extLst>
              <a:ext uri="{FF2B5EF4-FFF2-40B4-BE49-F238E27FC236}">
                <a16:creationId xmlns:a16="http://schemas.microsoft.com/office/drawing/2014/main" id="{387B02B5-71E3-90DF-41E4-FE33C60E9312}"/>
              </a:ext>
            </a:extLst>
          </p:cNvPr>
          <p:cNvSpPr txBox="1"/>
          <p:nvPr/>
        </p:nvSpPr>
        <p:spPr>
          <a:xfrm>
            <a:off x="941587" y="5898566"/>
            <a:ext cx="9753599" cy="369332"/>
          </a:xfrm>
          <a:prstGeom prst="rect">
            <a:avLst/>
          </a:prstGeom>
          <a:noFill/>
        </p:spPr>
        <p:txBody>
          <a:bodyPr wrap="square">
            <a:spAutoFit/>
          </a:bodyPr>
          <a:lstStyle/>
          <a:p>
            <a:r>
              <a:rPr lang="es-CO" sz="1800" noProof="0"/>
              <a:t>* La terapia sistémica incluye Quimioterapia, Inmunoterapia, terapia hormonal y terapia dirigida</a:t>
            </a:r>
          </a:p>
        </p:txBody>
      </p:sp>
      <p:graphicFrame>
        <p:nvGraphicFramePr>
          <p:cNvPr id="9" name="Gráfico 8">
            <a:extLst>
              <a:ext uri="{FF2B5EF4-FFF2-40B4-BE49-F238E27FC236}">
                <a16:creationId xmlns:a16="http://schemas.microsoft.com/office/drawing/2014/main" id="{6F7747F8-1C89-8ED4-3629-8F16B28129B3}"/>
              </a:ext>
            </a:extLst>
          </p:cNvPr>
          <p:cNvGraphicFramePr/>
          <p:nvPr>
            <p:extLst>
              <p:ext uri="{D42A27DB-BD31-4B8C-83A1-F6EECF244321}">
                <p14:modId xmlns:p14="http://schemas.microsoft.com/office/powerpoint/2010/main" val="2282128595"/>
              </p:ext>
            </p:extLst>
          </p:nvPr>
        </p:nvGraphicFramePr>
        <p:xfrm>
          <a:off x="1219198" y="734518"/>
          <a:ext cx="10068395" cy="3239496"/>
        </p:xfrm>
        <a:graphic>
          <a:graphicData uri="http://schemas.openxmlformats.org/drawingml/2006/chart">
            <c:chart xmlns:c="http://schemas.openxmlformats.org/drawingml/2006/chart" xmlns:r="http://schemas.openxmlformats.org/officeDocument/2006/relationships" r:id="rId3"/>
          </a:graphicData>
        </a:graphic>
      </p:graphicFrame>
      <p:sp>
        <p:nvSpPr>
          <p:cNvPr id="5" name="CuadroTexto 4">
            <a:extLst>
              <a:ext uri="{FF2B5EF4-FFF2-40B4-BE49-F238E27FC236}">
                <a16:creationId xmlns:a16="http://schemas.microsoft.com/office/drawing/2014/main" id="{5960EE39-C9B6-6DA6-31A5-64A866D250FF}"/>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Septiembre 2026</a:t>
            </a:r>
          </a:p>
        </p:txBody>
      </p:sp>
      <p:graphicFrame>
        <p:nvGraphicFramePr>
          <p:cNvPr id="4" name="Tabla 3">
            <a:extLst>
              <a:ext uri="{FF2B5EF4-FFF2-40B4-BE49-F238E27FC236}">
                <a16:creationId xmlns:a16="http://schemas.microsoft.com/office/drawing/2014/main" id="{27EB4FC4-4F5E-E243-A793-8F8D619B0F93}"/>
              </a:ext>
            </a:extLst>
          </p:cNvPr>
          <p:cNvGraphicFramePr>
            <a:graphicFrameLocks noGrp="1"/>
          </p:cNvGraphicFramePr>
          <p:nvPr>
            <p:extLst>
              <p:ext uri="{D42A27DB-BD31-4B8C-83A1-F6EECF244321}">
                <p14:modId xmlns:p14="http://schemas.microsoft.com/office/powerpoint/2010/main" val="1438176453"/>
              </p:ext>
            </p:extLst>
          </p:nvPr>
        </p:nvGraphicFramePr>
        <p:xfrm>
          <a:off x="1219198" y="4030227"/>
          <a:ext cx="10515598" cy="1340104"/>
        </p:xfrm>
        <a:graphic>
          <a:graphicData uri="http://schemas.openxmlformats.org/drawingml/2006/table">
            <a:tbl>
              <a:tblPr/>
              <a:tblGrid>
                <a:gridCol w="1823026">
                  <a:extLst>
                    <a:ext uri="{9D8B030D-6E8A-4147-A177-3AD203B41FA5}">
                      <a16:colId xmlns:a16="http://schemas.microsoft.com/office/drawing/2014/main" val="437014092"/>
                    </a:ext>
                  </a:extLst>
                </a:gridCol>
                <a:gridCol w="724381">
                  <a:extLst>
                    <a:ext uri="{9D8B030D-6E8A-4147-A177-3AD203B41FA5}">
                      <a16:colId xmlns:a16="http://schemas.microsoft.com/office/drawing/2014/main" val="1601767076"/>
                    </a:ext>
                  </a:extLst>
                </a:gridCol>
                <a:gridCol w="724381">
                  <a:extLst>
                    <a:ext uri="{9D8B030D-6E8A-4147-A177-3AD203B41FA5}">
                      <a16:colId xmlns:a16="http://schemas.microsoft.com/office/drawing/2014/main" val="2664852047"/>
                    </a:ext>
                  </a:extLst>
                </a:gridCol>
                <a:gridCol w="724381">
                  <a:extLst>
                    <a:ext uri="{9D8B030D-6E8A-4147-A177-3AD203B41FA5}">
                      <a16:colId xmlns:a16="http://schemas.microsoft.com/office/drawing/2014/main" val="3436222720"/>
                    </a:ext>
                  </a:extLst>
                </a:gridCol>
                <a:gridCol w="724381">
                  <a:extLst>
                    <a:ext uri="{9D8B030D-6E8A-4147-A177-3AD203B41FA5}">
                      <a16:colId xmlns:a16="http://schemas.microsoft.com/office/drawing/2014/main" val="2597224992"/>
                    </a:ext>
                  </a:extLst>
                </a:gridCol>
                <a:gridCol w="724381">
                  <a:extLst>
                    <a:ext uri="{9D8B030D-6E8A-4147-A177-3AD203B41FA5}">
                      <a16:colId xmlns:a16="http://schemas.microsoft.com/office/drawing/2014/main" val="1361049091"/>
                    </a:ext>
                  </a:extLst>
                </a:gridCol>
                <a:gridCol w="724381">
                  <a:extLst>
                    <a:ext uri="{9D8B030D-6E8A-4147-A177-3AD203B41FA5}">
                      <a16:colId xmlns:a16="http://schemas.microsoft.com/office/drawing/2014/main" val="1938340470"/>
                    </a:ext>
                  </a:extLst>
                </a:gridCol>
                <a:gridCol w="724381">
                  <a:extLst>
                    <a:ext uri="{9D8B030D-6E8A-4147-A177-3AD203B41FA5}">
                      <a16:colId xmlns:a16="http://schemas.microsoft.com/office/drawing/2014/main" val="2394091687"/>
                    </a:ext>
                  </a:extLst>
                </a:gridCol>
                <a:gridCol w="724381">
                  <a:extLst>
                    <a:ext uri="{9D8B030D-6E8A-4147-A177-3AD203B41FA5}">
                      <a16:colId xmlns:a16="http://schemas.microsoft.com/office/drawing/2014/main" val="2020439060"/>
                    </a:ext>
                  </a:extLst>
                </a:gridCol>
                <a:gridCol w="724381">
                  <a:extLst>
                    <a:ext uri="{9D8B030D-6E8A-4147-A177-3AD203B41FA5}">
                      <a16:colId xmlns:a16="http://schemas.microsoft.com/office/drawing/2014/main" val="384602578"/>
                    </a:ext>
                  </a:extLst>
                </a:gridCol>
                <a:gridCol w="724381">
                  <a:extLst>
                    <a:ext uri="{9D8B030D-6E8A-4147-A177-3AD203B41FA5}">
                      <a16:colId xmlns:a16="http://schemas.microsoft.com/office/drawing/2014/main" val="3419255874"/>
                    </a:ext>
                  </a:extLst>
                </a:gridCol>
                <a:gridCol w="724381">
                  <a:extLst>
                    <a:ext uri="{9D8B030D-6E8A-4147-A177-3AD203B41FA5}">
                      <a16:colId xmlns:a16="http://schemas.microsoft.com/office/drawing/2014/main" val="46235978"/>
                    </a:ext>
                  </a:extLst>
                </a:gridCol>
                <a:gridCol w="724381">
                  <a:extLst>
                    <a:ext uri="{9D8B030D-6E8A-4147-A177-3AD203B41FA5}">
                      <a16:colId xmlns:a16="http://schemas.microsoft.com/office/drawing/2014/main" val="351945752"/>
                    </a:ext>
                  </a:extLst>
                </a:gridCol>
              </a:tblGrid>
              <a:tr h="443683">
                <a:tc>
                  <a:txBody>
                    <a:bodyPr/>
                    <a:lstStyle/>
                    <a:p>
                      <a:pPr algn="l" rtl="0" fontAlgn="ctr">
                        <a:buNone/>
                      </a:pPr>
                      <a:r>
                        <a:rPr lang="es-CO" sz="1300" b="1" i="0" u="none" strike="noStrike">
                          <a:solidFill>
                            <a:srgbClr val="FFFFFF"/>
                          </a:solidFill>
                          <a:effectLst/>
                          <a:latin typeface="Muli"/>
                        </a:rPr>
                        <a:t>Tipo de tratamiento (ordenes)</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300" b="1" i="0" u="none" strike="noStrike">
                          <a:solidFill>
                            <a:srgbClr val="FFFFFF"/>
                          </a:solidFill>
                          <a:effectLst/>
                          <a:latin typeface="Muli"/>
                        </a:rPr>
                        <a:t>oct-25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300" b="1" i="0" u="none" strike="noStrike">
                          <a:solidFill>
                            <a:srgbClr val="FFFFFF"/>
                          </a:solidFill>
                          <a:effectLst/>
                          <a:latin typeface="Muli"/>
                        </a:rPr>
                        <a:t>nov-25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300" b="1" i="0" u="none" strike="noStrike">
                          <a:solidFill>
                            <a:srgbClr val="FFFFFF"/>
                          </a:solidFill>
                          <a:effectLst/>
                          <a:latin typeface="Muli"/>
                        </a:rPr>
                        <a:t>dic-25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300" b="1" i="0" u="none" strike="noStrike">
                          <a:solidFill>
                            <a:srgbClr val="FFFFFF"/>
                          </a:solidFill>
                          <a:effectLst/>
                          <a:latin typeface="Muli"/>
                        </a:rPr>
                        <a:t>ene-26</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300" b="1" i="0" u="none" strike="noStrike">
                          <a:solidFill>
                            <a:srgbClr val="FFFFFF"/>
                          </a:solidFill>
                          <a:effectLst/>
                          <a:latin typeface="Muli"/>
                        </a:rPr>
                        <a:t>feb-26</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300" b="1" i="0" u="none" strike="noStrike">
                          <a:solidFill>
                            <a:srgbClr val="FFFFFF"/>
                          </a:solidFill>
                          <a:effectLst/>
                          <a:latin typeface="Muli"/>
                        </a:rPr>
                        <a:t>mar-26</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300" b="1" i="0" u="none" strike="noStrike">
                          <a:solidFill>
                            <a:srgbClr val="FFFFFF"/>
                          </a:solidFill>
                          <a:effectLst/>
                          <a:latin typeface="Muli"/>
                        </a:rPr>
                        <a:t>abr-26</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300" b="1" i="0" u="none" strike="noStrike">
                          <a:solidFill>
                            <a:srgbClr val="FFFFFF"/>
                          </a:solidFill>
                          <a:effectLst/>
                          <a:latin typeface="Muli"/>
                        </a:rPr>
                        <a:t>may-26</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300" b="1" i="0" u="none" strike="noStrike">
                          <a:solidFill>
                            <a:srgbClr val="FFFFFF"/>
                          </a:solidFill>
                          <a:effectLst/>
                          <a:latin typeface="Muli"/>
                        </a:rPr>
                        <a:t>jun-26</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300" b="1" i="0" u="none" strike="noStrike">
                          <a:solidFill>
                            <a:srgbClr val="FFFFFF"/>
                          </a:solidFill>
                          <a:effectLst/>
                          <a:latin typeface="Muli"/>
                        </a:rPr>
                        <a:t>jul-26</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300" b="1" i="0" u="none" strike="noStrike">
                          <a:solidFill>
                            <a:srgbClr val="FFFFFF"/>
                          </a:solidFill>
                          <a:effectLst/>
                          <a:latin typeface="Muli"/>
                        </a:rPr>
                        <a:t>ago-26</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300" b="1" i="0" u="none" strike="noStrike">
                          <a:solidFill>
                            <a:srgbClr val="FFFFFF"/>
                          </a:solidFill>
                          <a:effectLst/>
                          <a:latin typeface="Muli"/>
                        </a:rPr>
                        <a:t>sep-26</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extLst>
                  <a:ext uri="{0D108BD9-81ED-4DB2-BD59-A6C34878D82A}">
                    <a16:rowId xmlns:a16="http://schemas.microsoft.com/office/drawing/2014/main" val="3961613614"/>
                  </a:ext>
                </a:extLst>
              </a:tr>
              <a:tr h="316917">
                <a:tc>
                  <a:txBody>
                    <a:bodyPr/>
                    <a:lstStyle/>
                    <a:p>
                      <a:pPr algn="l" rtl="0" fontAlgn="t">
                        <a:buNone/>
                      </a:pPr>
                      <a:r>
                        <a:rPr lang="es-CO" sz="1300" b="0" i="0" u="none" strike="noStrike">
                          <a:solidFill>
                            <a:srgbClr val="80589F"/>
                          </a:solidFill>
                          <a:effectLst/>
                          <a:latin typeface="Muli"/>
                        </a:rPr>
                        <a:t>Terapia sistémica</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300" b="0" i="0" u="none" strike="noStrike">
                          <a:solidFill>
                            <a:srgbClr val="80589F"/>
                          </a:solidFill>
                          <a:effectLst/>
                          <a:latin typeface="Muli"/>
                        </a:rPr>
                        <a:t>39</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300" b="0" i="0" u="none" strike="noStrike">
                          <a:solidFill>
                            <a:srgbClr val="80589F"/>
                          </a:solidFill>
                          <a:effectLst/>
                          <a:latin typeface="Muli"/>
                        </a:rPr>
                        <a:t>268</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300" b="0" i="0" u="none" strike="noStrike">
                          <a:solidFill>
                            <a:srgbClr val="80589F"/>
                          </a:solidFill>
                          <a:effectLst/>
                          <a:latin typeface="Muli"/>
                        </a:rPr>
                        <a:t>262</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300" b="0" i="0" u="none" strike="noStrike">
                          <a:solidFill>
                            <a:srgbClr val="80589F"/>
                          </a:solidFill>
                          <a:effectLst/>
                          <a:latin typeface="Muli"/>
                        </a:rPr>
                        <a:t>252</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300" b="0" i="0" u="none" strike="noStrike">
                          <a:solidFill>
                            <a:srgbClr val="80589F"/>
                          </a:solidFill>
                          <a:effectLst/>
                          <a:latin typeface="Muli"/>
                        </a:rPr>
                        <a:t>309</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300" b="0" i="0" u="none" strike="noStrike">
                          <a:solidFill>
                            <a:srgbClr val="80589F"/>
                          </a:solidFill>
                          <a:effectLst/>
                          <a:latin typeface="Muli"/>
                        </a:rPr>
                        <a:t>304</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300" b="0" i="0" u="none" strike="noStrike">
                          <a:solidFill>
                            <a:srgbClr val="80589F"/>
                          </a:solidFill>
                          <a:effectLst/>
                          <a:latin typeface="Muli"/>
                        </a:rPr>
                        <a:t>263</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300" b="0" i="0" u="none" strike="noStrike">
                          <a:solidFill>
                            <a:srgbClr val="80589F"/>
                          </a:solidFill>
                          <a:effectLst/>
                          <a:latin typeface="Muli"/>
                        </a:rPr>
                        <a:t>282</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300" b="0" i="0" u="none" strike="noStrike">
                          <a:solidFill>
                            <a:srgbClr val="80589F"/>
                          </a:solidFill>
                          <a:effectLst/>
                          <a:latin typeface="Muli"/>
                        </a:rPr>
                        <a:t>117</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300" b="0" i="0" u="none" strike="noStrike">
                          <a:solidFill>
                            <a:srgbClr val="80589F"/>
                          </a:solidFill>
                          <a:effectLst/>
                          <a:latin typeface="Muli"/>
                        </a:rPr>
                        <a:t>177</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300" b="0" i="0" u="none" strike="noStrike">
                          <a:solidFill>
                            <a:srgbClr val="80589F"/>
                          </a:solidFill>
                          <a:effectLst/>
                          <a:latin typeface="Muli"/>
                        </a:rPr>
                        <a:t>130</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300" b="0" i="0" u="none" strike="noStrike">
                          <a:solidFill>
                            <a:srgbClr val="80589F"/>
                          </a:solidFill>
                          <a:effectLst/>
                          <a:latin typeface="Muli"/>
                        </a:rPr>
                        <a:t>166</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D1DF"/>
                    </a:solidFill>
                  </a:tcPr>
                </a:tc>
                <a:extLst>
                  <a:ext uri="{0D108BD9-81ED-4DB2-BD59-A6C34878D82A}">
                    <a16:rowId xmlns:a16="http://schemas.microsoft.com/office/drawing/2014/main" val="1788942202"/>
                  </a:ext>
                </a:extLst>
              </a:tr>
              <a:tr h="289752">
                <a:tc>
                  <a:txBody>
                    <a:bodyPr/>
                    <a:lstStyle/>
                    <a:p>
                      <a:pPr algn="l" rtl="0" fontAlgn="t">
                        <a:buNone/>
                      </a:pPr>
                      <a:r>
                        <a:rPr lang="es-CO" sz="1300" b="0" i="0" u="none" strike="noStrike">
                          <a:solidFill>
                            <a:srgbClr val="80589F"/>
                          </a:solidFill>
                          <a:effectLst/>
                          <a:latin typeface="Muli"/>
                        </a:rPr>
                        <a:t>Radioterapia</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b">
                        <a:buNone/>
                      </a:pPr>
                      <a:r>
                        <a:rPr lang="es-CO" sz="1300" b="0" i="0" u="none" strike="noStrike">
                          <a:solidFill>
                            <a:srgbClr val="80589F"/>
                          </a:solidFill>
                          <a:effectLst/>
                          <a:latin typeface="Muli"/>
                        </a:rPr>
                        <a:t>35</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b">
                        <a:buNone/>
                      </a:pPr>
                      <a:r>
                        <a:rPr lang="es-CO" sz="1300" b="0" i="0" u="none" strike="noStrike">
                          <a:solidFill>
                            <a:srgbClr val="80589F"/>
                          </a:solidFill>
                          <a:effectLst/>
                          <a:latin typeface="Muli"/>
                        </a:rPr>
                        <a:t>129</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b">
                        <a:buNone/>
                      </a:pPr>
                      <a:r>
                        <a:rPr lang="es-CO" sz="1300" b="0" i="0" u="none" strike="noStrike">
                          <a:solidFill>
                            <a:srgbClr val="80589F"/>
                          </a:solidFill>
                          <a:effectLst/>
                          <a:latin typeface="Muli"/>
                        </a:rPr>
                        <a:t>68</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b">
                        <a:buNone/>
                      </a:pPr>
                      <a:r>
                        <a:rPr lang="es-CO" sz="1300" b="0" i="0" u="none" strike="noStrike">
                          <a:solidFill>
                            <a:srgbClr val="80589F"/>
                          </a:solidFill>
                          <a:effectLst/>
                          <a:latin typeface="Muli"/>
                        </a:rPr>
                        <a:t>67</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b">
                        <a:buNone/>
                      </a:pPr>
                      <a:r>
                        <a:rPr lang="es-CO" sz="1300" b="0" i="0" u="none" strike="noStrike">
                          <a:solidFill>
                            <a:srgbClr val="80589F"/>
                          </a:solidFill>
                          <a:effectLst/>
                          <a:latin typeface="Muli"/>
                        </a:rPr>
                        <a:t>51</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b">
                        <a:buNone/>
                      </a:pPr>
                      <a:r>
                        <a:rPr lang="es-CO" sz="1300" b="0" i="0" u="none" strike="noStrike">
                          <a:solidFill>
                            <a:srgbClr val="80589F"/>
                          </a:solidFill>
                          <a:effectLst/>
                          <a:latin typeface="Muli"/>
                        </a:rPr>
                        <a:t>40</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b">
                        <a:buNone/>
                      </a:pPr>
                      <a:r>
                        <a:rPr lang="es-CO" sz="1300" b="0" i="0" u="none" strike="noStrike">
                          <a:solidFill>
                            <a:srgbClr val="80589F"/>
                          </a:solidFill>
                          <a:effectLst/>
                          <a:latin typeface="Muli"/>
                        </a:rPr>
                        <a:t>40</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t">
                        <a:buNone/>
                      </a:pPr>
                      <a:r>
                        <a:rPr lang="es-CO" sz="1300" b="0" i="0" u="none" strike="noStrike">
                          <a:solidFill>
                            <a:srgbClr val="80589F"/>
                          </a:solidFill>
                          <a:effectLst/>
                          <a:latin typeface="Muli"/>
                        </a:rPr>
                        <a:t>44</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300" b="0" i="0" u="none" strike="noStrike">
                          <a:solidFill>
                            <a:srgbClr val="80589F"/>
                          </a:solidFill>
                          <a:effectLst/>
                          <a:latin typeface="Muli"/>
                        </a:rPr>
                        <a:t>16</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300" b="0" i="0" u="none" strike="noStrike">
                          <a:solidFill>
                            <a:srgbClr val="80589F"/>
                          </a:solidFill>
                          <a:effectLst/>
                          <a:latin typeface="Muli"/>
                        </a:rPr>
                        <a:t>39</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300" b="0" i="0" u="none" strike="noStrike">
                          <a:solidFill>
                            <a:srgbClr val="80589F"/>
                          </a:solidFill>
                          <a:effectLst/>
                          <a:latin typeface="Muli"/>
                        </a:rPr>
                        <a:t>23</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300" b="0" i="0" u="none" strike="noStrike">
                          <a:solidFill>
                            <a:srgbClr val="80589F"/>
                          </a:solidFill>
                          <a:effectLst/>
                          <a:latin typeface="Muli"/>
                        </a:rPr>
                        <a:t>30</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D1DF"/>
                    </a:solidFill>
                  </a:tcPr>
                </a:tc>
                <a:extLst>
                  <a:ext uri="{0D108BD9-81ED-4DB2-BD59-A6C34878D82A}">
                    <a16:rowId xmlns:a16="http://schemas.microsoft.com/office/drawing/2014/main" val="1718207989"/>
                  </a:ext>
                </a:extLst>
              </a:tr>
              <a:tr h="289752">
                <a:tc>
                  <a:txBody>
                    <a:bodyPr/>
                    <a:lstStyle/>
                    <a:p>
                      <a:pPr algn="l" rtl="0" fontAlgn="t">
                        <a:buNone/>
                      </a:pPr>
                      <a:r>
                        <a:rPr lang="es-CO" sz="1300" b="0" i="0" u="none" strike="noStrike">
                          <a:solidFill>
                            <a:srgbClr val="80589F"/>
                          </a:solidFill>
                          <a:effectLst/>
                          <a:latin typeface="Muli"/>
                        </a:rPr>
                        <a:t>Cirugía</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b">
                        <a:buNone/>
                      </a:pPr>
                      <a:r>
                        <a:rPr lang="es-CO" sz="1300" b="0" i="0" u="none" strike="noStrike">
                          <a:solidFill>
                            <a:srgbClr val="80589F"/>
                          </a:solidFill>
                          <a:effectLst/>
                          <a:latin typeface="Muli"/>
                        </a:rPr>
                        <a:t>13</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b">
                        <a:buNone/>
                      </a:pPr>
                      <a:r>
                        <a:rPr lang="es-CO" sz="1300" b="0" i="0" u="none" strike="noStrike">
                          <a:solidFill>
                            <a:srgbClr val="80589F"/>
                          </a:solidFill>
                          <a:effectLst/>
                          <a:latin typeface="Muli"/>
                        </a:rPr>
                        <a:t>75</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b">
                        <a:buNone/>
                      </a:pPr>
                      <a:r>
                        <a:rPr lang="es-CO" sz="1300" b="0" i="0" u="none" strike="noStrike">
                          <a:solidFill>
                            <a:srgbClr val="80589F"/>
                          </a:solidFill>
                          <a:effectLst/>
                          <a:latin typeface="Muli"/>
                        </a:rPr>
                        <a:t>71</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b">
                        <a:buNone/>
                      </a:pPr>
                      <a:r>
                        <a:rPr lang="es-CO" sz="1300" b="0" i="0" u="none" strike="noStrike">
                          <a:solidFill>
                            <a:srgbClr val="80589F"/>
                          </a:solidFill>
                          <a:effectLst/>
                          <a:latin typeface="Muli"/>
                        </a:rPr>
                        <a:t>105</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b">
                        <a:buNone/>
                      </a:pPr>
                      <a:r>
                        <a:rPr lang="es-CO" sz="1300" b="0" i="0" u="none" strike="noStrike">
                          <a:solidFill>
                            <a:srgbClr val="80589F"/>
                          </a:solidFill>
                          <a:effectLst/>
                          <a:latin typeface="Muli"/>
                        </a:rPr>
                        <a:t>148</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b">
                        <a:buNone/>
                      </a:pPr>
                      <a:r>
                        <a:rPr lang="es-CO" sz="1300" b="0" i="0" u="none" strike="noStrike">
                          <a:solidFill>
                            <a:srgbClr val="80589F"/>
                          </a:solidFill>
                          <a:effectLst/>
                          <a:latin typeface="Muli"/>
                        </a:rPr>
                        <a:t>138</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b">
                        <a:buNone/>
                      </a:pPr>
                      <a:r>
                        <a:rPr lang="es-CO" sz="1300" b="0" i="0" u="none" strike="noStrike">
                          <a:solidFill>
                            <a:srgbClr val="80589F"/>
                          </a:solidFill>
                          <a:effectLst/>
                          <a:latin typeface="Muli"/>
                        </a:rPr>
                        <a:t>94</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300" b="0" i="0" u="none" strike="noStrike">
                          <a:solidFill>
                            <a:srgbClr val="80589F"/>
                          </a:solidFill>
                          <a:effectLst/>
                          <a:latin typeface="Muli"/>
                        </a:rPr>
                        <a:t>183</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300" b="0" i="0" u="none" strike="noStrike">
                          <a:solidFill>
                            <a:srgbClr val="80589F"/>
                          </a:solidFill>
                          <a:effectLst/>
                          <a:latin typeface="Muli"/>
                        </a:rPr>
                        <a:t>71</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300" b="0" i="0" u="none" strike="noStrike">
                          <a:solidFill>
                            <a:srgbClr val="80589F"/>
                          </a:solidFill>
                          <a:effectLst/>
                          <a:latin typeface="Muli"/>
                        </a:rPr>
                        <a:t>85</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300" b="0" i="0" u="none" strike="noStrike">
                          <a:solidFill>
                            <a:srgbClr val="80589F"/>
                          </a:solidFill>
                          <a:effectLst/>
                          <a:latin typeface="Muli"/>
                        </a:rPr>
                        <a:t>72</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t">
                        <a:buNone/>
                      </a:pPr>
                      <a:r>
                        <a:rPr lang="es-CO" sz="1300" b="0" i="0" u="none" strike="noStrike">
                          <a:solidFill>
                            <a:srgbClr val="80589F"/>
                          </a:solidFill>
                          <a:effectLst/>
                          <a:latin typeface="Muli"/>
                        </a:rPr>
                        <a:t>51</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extLst>
                  <a:ext uri="{0D108BD9-81ED-4DB2-BD59-A6C34878D82A}">
                    <a16:rowId xmlns:a16="http://schemas.microsoft.com/office/drawing/2014/main" val="1327117338"/>
                  </a:ext>
                </a:extLst>
              </a:tr>
            </a:tbl>
          </a:graphicData>
        </a:graphic>
      </p:graphicFrame>
    </p:spTree>
    <p:extLst>
      <p:ext uri="{BB962C8B-B14F-4D97-AF65-F5344CB8AC3E}">
        <p14:creationId xmlns:p14="http://schemas.microsoft.com/office/powerpoint/2010/main" val="283300289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3C27D-BA8F-83CF-8B17-FF8E8452F1D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1E26885-176E-7582-5061-344B7D71BF25}"/>
              </a:ext>
            </a:extLst>
          </p:cNvPr>
          <p:cNvSpPr>
            <a:spLocks noGrp="1"/>
          </p:cNvSpPr>
          <p:nvPr>
            <p:ph type="ctrTitle"/>
          </p:nvPr>
        </p:nvSpPr>
        <p:spPr>
          <a:xfrm>
            <a:off x="155890" y="220701"/>
            <a:ext cx="11645759" cy="482784"/>
          </a:xfrm>
        </p:spPr>
        <p:txBody>
          <a:bodyPr>
            <a:noAutofit/>
          </a:bodyPr>
          <a:lstStyle/>
          <a:p>
            <a:r>
              <a:rPr lang="es-CO" noProof="0"/>
              <a:t>Oportunidad Ingreso</a:t>
            </a:r>
          </a:p>
        </p:txBody>
      </p:sp>
      <p:sp>
        <p:nvSpPr>
          <p:cNvPr id="8" name="CuadroTexto 7">
            <a:extLst>
              <a:ext uri="{FF2B5EF4-FFF2-40B4-BE49-F238E27FC236}">
                <a16:creationId xmlns:a16="http://schemas.microsoft.com/office/drawing/2014/main" id="{4DEAF8BE-9ADB-2A87-96CF-14D1364EBD74}"/>
              </a:ext>
            </a:extLst>
          </p:cNvPr>
          <p:cNvSpPr txBox="1"/>
          <p:nvPr/>
        </p:nvSpPr>
        <p:spPr>
          <a:xfrm>
            <a:off x="9656584" y="703485"/>
            <a:ext cx="2379526" cy="3693319"/>
          </a:xfrm>
          <a:prstGeom prst="rect">
            <a:avLst/>
          </a:prstGeom>
          <a:noFill/>
        </p:spPr>
        <p:txBody>
          <a:bodyPr wrap="square" lIns="91440" tIns="45720" rIns="91440" bIns="45720" rtlCol="0" anchor="t">
            <a:spAutoFit/>
          </a:bodyPr>
          <a:lstStyle/>
          <a:p>
            <a:pPr algn="just"/>
            <a:r>
              <a:rPr lang="es-CO" noProof="0"/>
              <a:t>Del total de ingresos mensuales, en promedio, el </a:t>
            </a:r>
            <a:r>
              <a:rPr lang="es-CO"/>
              <a:t>26</a:t>
            </a:r>
            <a:r>
              <a:rPr lang="es-CO" noProof="0"/>
              <a:t>% de los incidentes ingresan a la cohorte en el mismo mes de su diagnóstico; el 35,5% ingresan en el mes siguiente a su diagnóstico. El </a:t>
            </a:r>
            <a:r>
              <a:rPr lang="es-CO"/>
              <a:t>8,9</a:t>
            </a:r>
            <a:r>
              <a:rPr lang="es-CO" noProof="0"/>
              <a:t>% ingresan a la cohorte dos meses después de su diagnóstico. </a:t>
            </a:r>
          </a:p>
        </p:txBody>
      </p:sp>
      <p:sp>
        <p:nvSpPr>
          <p:cNvPr id="6" name="CuadroTexto 5">
            <a:extLst>
              <a:ext uri="{FF2B5EF4-FFF2-40B4-BE49-F238E27FC236}">
                <a16:creationId xmlns:a16="http://schemas.microsoft.com/office/drawing/2014/main" id="{DC4F197C-3F6B-753A-CBD3-528CF59F42D9}"/>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Septiembre 2026</a:t>
            </a:r>
          </a:p>
        </p:txBody>
      </p:sp>
      <p:graphicFrame>
        <p:nvGraphicFramePr>
          <p:cNvPr id="7" name="Tabla 6">
            <a:extLst>
              <a:ext uri="{FF2B5EF4-FFF2-40B4-BE49-F238E27FC236}">
                <a16:creationId xmlns:a16="http://schemas.microsoft.com/office/drawing/2014/main" id="{02C7EE8E-13C8-802F-FC74-9D113858EBB7}"/>
              </a:ext>
            </a:extLst>
          </p:cNvPr>
          <p:cNvGraphicFramePr>
            <a:graphicFrameLocks noGrp="1"/>
          </p:cNvGraphicFramePr>
          <p:nvPr>
            <p:extLst>
              <p:ext uri="{D42A27DB-BD31-4B8C-83A1-F6EECF244321}">
                <p14:modId xmlns:p14="http://schemas.microsoft.com/office/powerpoint/2010/main" val="2491880512"/>
              </p:ext>
            </p:extLst>
          </p:nvPr>
        </p:nvGraphicFramePr>
        <p:xfrm>
          <a:off x="155890" y="703485"/>
          <a:ext cx="9266235" cy="5052742"/>
        </p:xfrm>
        <a:graphic>
          <a:graphicData uri="http://schemas.openxmlformats.org/drawingml/2006/table">
            <a:tbl>
              <a:tblPr/>
              <a:tblGrid>
                <a:gridCol w="617749">
                  <a:extLst>
                    <a:ext uri="{9D8B030D-6E8A-4147-A177-3AD203B41FA5}">
                      <a16:colId xmlns:a16="http://schemas.microsoft.com/office/drawing/2014/main" val="3950611434"/>
                    </a:ext>
                  </a:extLst>
                </a:gridCol>
                <a:gridCol w="617749">
                  <a:extLst>
                    <a:ext uri="{9D8B030D-6E8A-4147-A177-3AD203B41FA5}">
                      <a16:colId xmlns:a16="http://schemas.microsoft.com/office/drawing/2014/main" val="1587383312"/>
                    </a:ext>
                  </a:extLst>
                </a:gridCol>
                <a:gridCol w="617749">
                  <a:extLst>
                    <a:ext uri="{9D8B030D-6E8A-4147-A177-3AD203B41FA5}">
                      <a16:colId xmlns:a16="http://schemas.microsoft.com/office/drawing/2014/main" val="2108776737"/>
                    </a:ext>
                  </a:extLst>
                </a:gridCol>
                <a:gridCol w="617749">
                  <a:extLst>
                    <a:ext uri="{9D8B030D-6E8A-4147-A177-3AD203B41FA5}">
                      <a16:colId xmlns:a16="http://schemas.microsoft.com/office/drawing/2014/main" val="3825258551"/>
                    </a:ext>
                  </a:extLst>
                </a:gridCol>
                <a:gridCol w="617749">
                  <a:extLst>
                    <a:ext uri="{9D8B030D-6E8A-4147-A177-3AD203B41FA5}">
                      <a16:colId xmlns:a16="http://schemas.microsoft.com/office/drawing/2014/main" val="2490511025"/>
                    </a:ext>
                  </a:extLst>
                </a:gridCol>
                <a:gridCol w="617749">
                  <a:extLst>
                    <a:ext uri="{9D8B030D-6E8A-4147-A177-3AD203B41FA5}">
                      <a16:colId xmlns:a16="http://schemas.microsoft.com/office/drawing/2014/main" val="15687945"/>
                    </a:ext>
                  </a:extLst>
                </a:gridCol>
                <a:gridCol w="617749">
                  <a:extLst>
                    <a:ext uri="{9D8B030D-6E8A-4147-A177-3AD203B41FA5}">
                      <a16:colId xmlns:a16="http://schemas.microsoft.com/office/drawing/2014/main" val="1692263541"/>
                    </a:ext>
                  </a:extLst>
                </a:gridCol>
                <a:gridCol w="617749">
                  <a:extLst>
                    <a:ext uri="{9D8B030D-6E8A-4147-A177-3AD203B41FA5}">
                      <a16:colId xmlns:a16="http://schemas.microsoft.com/office/drawing/2014/main" val="3337983813"/>
                    </a:ext>
                  </a:extLst>
                </a:gridCol>
                <a:gridCol w="617749">
                  <a:extLst>
                    <a:ext uri="{9D8B030D-6E8A-4147-A177-3AD203B41FA5}">
                      <a16:colId xmlns:a16="http://schemas.microsoft.com/office/drawing/2014/main" val="3402067484"/>
                    </a:ext>
                  </a:extLst>
                </a:gridCol>
                <a:gridCol w="617749">
                  <a:extLst>
                    <a:ext uri="{9D8B030D-6E8A-4147-A177-3AD203B41FA5}">
                      <a16:colId xmlns:a16="http://schemas.microsoft.com/office/drawing/2014/main" val="2477895817"/>
                    </a:ext>
                  </a:extLst>
                </a:gridCol>
                <a:gridCol w="617749">
                  <a:extLst>
                    <a:ext uri="{9D8B030D-6E8A-4147-A177-3AD203B41FA5}">
                      <a16:colId xmlns:a16="http://schemas.microsoft.com/office/drawing/2014/main" val="4250032776"/>
                    </a:ext>
                  </a:extLst>
                </a:gridCol>
                <a:gridCol w="617749">
                  <a:extLst>
                    <a:ext uri="{9D8B030D-6E8A-4147-A177-3AD203B41FA5}">
                      <a16:colId xmlns:a16="http://schemas.microsoft.com/office/drawing/2014/main" val="969514711"/>
                    </a:ext>
                  </a:extLst>
                </a:gridCol>
                <a:gridCol w="617749">
                  <a:extLst>
                    <a:ext uri="{9D8B030D-6E8A-4147-A177-3AD203B41FA5}">
                      <a16:colId xmlns:a16="http://schemas.microsoft.com/office/drawing/2014/main" val="3580623909"/>
                    </a:ext>
                  </a:extLst>
                </a:gridCol>
                <a:gridCol w="617749">
                  <a:extLst>
                    <a:ext uri="{9D8B030D-6E8A-4147-A177-3AD203B41FA5}">
                      <a16:colId xmlns:a16="http://schemas.microsoft.com/office/drawing/2014/main" val="2574712757"/>
                    </a:ext>
                  </a:extLst>
                </a:gridCol>
                <a:gridCol w="617749">
                  <a:extLst>
                    <a:ext uri="{9D8B030D-6E8A-4147-A177-3AD203B41FA5}">
                      <a16:colId xmlns:a16="http://schemas.microsoft.com/office/drawing/2014/main" val="3296754316"/>
                    </a:ext>
                  </a:extLst>
                </a:gridCol>
              </a:tblGrid>
              <a:tr h="205172">
                <a:tc gridSpan="15">
                  <a:txBody>
                    <a:bodyPr/>
                    <a:lstStyle/>
                    <a:p>
                      <a:pPr algn="ctr" fontAlgn="ctr">
                        <a:buNone/>
                      </a:pPr>
                      <a:r>
                        <a:rPr lang="es-CO" sz="1100" b="1" i="0" u="none" strike="noStrike">
                          <a:solidFill>
                            <a:srgbClr val="FFFFFF"/>
                          </a:solidFill>
                          <a:effectLst/>
                          <a:latin typeface="Calibri" panose="020F0502020204030204" pitchFamily="34" charset="0"/>
                        </a:rPr>
                        <a:t>Emssanar</a:t>
                      </a:r>
                    </a:p>
                  </a:txBody>
                  <a:tcPr marL="0" marR="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3287043084"/>
                  </a:ext>
                </a:extLst>
              </a:tr>
              <a:tr h="205172">
                <a:tc rowSpan="24">
                  <a:txBody>
                    <a:bodyPr/>
                    <a:lstStyle/>
                    <a:p>
                      <a:pPr algn="ctr" fontAlgn="ctr">
                        <a:buNone/>
                      </a:pPr>
                      <a:r>
                        <a:rPr lang="es-CO" sz="1300" b="0" i="0" u="none" strike="noStrike">
                          <a:solidFill>
                            <a:srgbClr val="FFFFFF"/>
                          </a:solidFill>
                          <a:effectLst/>
                          <a:latin typeface="Calibri" panose="020F0502020204030204" pitchFamily="34" charset="0"/>
                        </a:rPr>
                        <a:t>Mes / año de diagnóstico</a:t>
                      </a:r>
                    </a:p>
                  </a:txBody>
                  <a:tcPr marL="0" marR="0" marT="0" marB="0" vert="vert27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1CA6A0"/>
                    </a:solidFill>
                  </a:tcPr>
                </a:tc>
                <a:tc>
                  <a:txBody>
                    <a:bodyPr/>
                    <a:lstStyle/>
                    <a:p>
                      <a:pPr algn="ctr" fontAlgn="ctr">
                        <a:buNone/>
                      </a:pPr>
                      <a:r>
                        <a:rPr lang="es-CO" sz="1100" b="1" i="0" u="none" strike="noStrike">
                          <a:solidFill>
                            <a:srgbClr val="FFFFFF"/>
                          </a:solidFill>
                          <a:effectLst/>
                          <a:latin typeface="Calibri" panose="020F0502020204030204" pitchFamily="34" charset="0"/>
                        </a:rPr>
                        <a:t>Mes /año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100" b="1" i="0" u="none" strike="noStrike">
                          <a:solidFill>
                            <a:srgbClr val="FFFFFF"/>
                          </a:solidFill>
                          <a:effectLst/>
                          <a:latin typeface="Calibri" panose="020F0502020204030204" pitchFamily="34" charset="0"/>
                        </a:rPr>
                        <a:t>oct-25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100" b="1" i="0" u="none" strike="noStrike">
                          <a:solidFill>
                            <a:srgbClr val="FFFFFF"/>
                          </a:solidFill>
                          <a:effectLst/>
                          <a:latin typeface="Calibri" panose="020F0502020204030204" pitchFamily="34" charset="0"/>
                        </a:rPr>
                        <a:t>nov-25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100" b="1" i="0" u="none" strike="noStrike">
                          <a:solidFill>
                            <a:srgbClr val="FFFFFF"/>
                          </a:solidFill>
                          <a:effectLst/>
                          <a:latin typeface="Calibri" panose="020F0502020204030204" pitchFamily="34" charset="0"/>
                        </a:rPr>
                        <a:t>dic-25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100" b="1" i="0" u="none" strike="noStrike">
                          <a:solidFill>
                            <a:srgbClr val="FFFFFF"/>
                          </a:solidFill>
                          <a:effectLst/>
                          <a:latin typeface="Calibri" panose="020F0502020204030204" pitchFamily="34" charset="0"/>
                        </a:rPr>
                        <a:t>ene-26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100" b="1" i="0" u="none" strike="noStrike">
                          <a:solidFill>
                            <a:srgbClr val="FFFFFF"/>
                          </a:solidFill>
                          <a:effectLst/>
                          <a:latin typeface="Calibri" panose="020F0502020204030204" pitchFamily="34" charset="0"/>
                        </a:rPr>
                        <a:t>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100" b="1" i="0" u="none" strike="noStrike">
                          <a:solidFill>
                            <a:srgbClr val="FFFFFF"/>
                          </a:solidFill>
                          <a:effectLst/>
                          <a:latin typeface="Calibri" panose="020F0502020204030204" pitchFamily="34" charset="0"/>
                        </a:rPr>
                        <a:t>mar-26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100" b="1" i="0" u="none" strike="noStrike">
                          <a:solidFill>
                            <a:srgbClr val="FFFFFF"/>
                          </a:solidFill>
                          <a:effectLst/>
                          <a:latin typeface="Calibri" panose="020F0502020204030204" pitchFamily="34" charset="0"/>
                        </a:rPr>
                        <a:t>abr-26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100" b="1" i="0" u="none" strike="noStrike">
                          <a:solidFill>
                            <a:srgbClr val="FFFFFF"/>
                          </a:solidFill>
                          <a:effectLst/>
                          <a:latin typeface="Calibri" panose="020F0502020204030204" pitchFamily="34" charset="0"/>
                        </a:rPr>
                        <a:t>may-26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100" b="1" i="0" u="none" strike="noStrike">
                          <a:solidFill>
                            <a:srgbClr val="FFFFFF"/>
                          </a:solidFill>
                          <a:effectLst/>
                          <a:latin typeface="Calibri" panose="020F0502020204030204" pitchFamily="34" charset="0"/>
                        </a:rPr>
                        <a:t>jun-26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100" b="1" i="0" u="none" strike="noStrike">
                          <a:solidFill>
                            <a:srgbClr val="FFFFFF"/>
                          </a:solidFill>
                          <a:effectLst/>
                          <a:latin typeface="Calibri" panose="020F0502020204030204" pitchFamily="34" charset="0"/>
                        </a:rPr>
                        <a:t>jul-26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100" b="1" i="0" u="none" strike="noStrike">
                          <a:solidFill>
                            <a:srgbClr val="FFFFFF"/>
                          </a:solidFill>
                          <a:effectLst/>
                          <a:latin typeface="Calibri" panose="020F0502020204030204" pitchFamily="34" charset="0"/>
                        </a:rPr>
                        <a:t>ago-26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100" b="1" i="0" u="none" strike="noStrike">
                          <a:solidFill>
                            <a:srgbClr val="FFFFFF"/>
                          </a:solidFill>
                          <a:effectLst/>
                          <a:latin typeface="Calibri" panose="020F0502020204030204" pitchFamily="34" charset="0"/>
                        </a:rPr>
                        <a:t>sep-26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tc>
                  <a:txBody>
                    <a:bodyPr/>
                    <a:lstStyle/>
                    <a:p>
                      <a:pPr algn="ctr" fontAlgn="ctr">
                        <a:buNone/>
                      </a:pPr>
                      <a:r>
                        <a:rPr lang="es-CO" sz="1100" b="1" i="0" u="none" strike="noStrike">
                          <a:solidFill>
                            <a:srgbClr val="FFFFFF"/>
                          </a:solidFill>
                          <a:effectLst/>
                          <a:latin typeface="Calibri" panose="020F0502020204030204" pitchFamily="34" charset="0"/>
                        </a:rPr>
                        <a:t>TOTAL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64A2"/>
                    </a:solidFill>
                  </a:tcPr>
                </a:tc>
                <a:extLst>
                  <a:ext uri="{0D108BD9-81ED-4DB2-BD59-A6C34878D82A}">
                    <a16:rowId xmlns:a16="http://schemas.microsoft.com/office/drawing/2014/main" val="3154599737"/>
                  </a:ext>
                </a:extLst>
              </a:tr>
              <a:tr h="195402">
                <a:tc vMerge="1">
                  <a:txBody>
                    <a:bodyPr/>
                    <a:lstStyle/>
                    <a:p>
                      <a:endParaRPr lang="es-CO"/>
                    </a:p>
                  </a:txBody>
                  <a:tcPr/>
                </a:tc>
                <a:tc>
                  <a:txBody>
                    <a:bodyPr/>
                    <a:lstStyle/>
                    <a:p>
                      <a:pPr algn="r" fontAlgn="b">
                        <a:buNone/>
                      </a:pPr>
                      <a:r>
                        <a:rPr lang="es-CO" sz="1000" b="1" i="0" u="none" strike="noStrike">
                          <a:solidFill>
                            <a:srgbClr val="FFFFFF"/>
                          </a:solidFill>
                          <a:effectLst/>
                          <a:latin typeface="Calibri" panose="020F0502020204030204" pitchFamily="34" charset="0"/>
                        </a:rPr>
                        <a:t>2024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000" b="1" i="0" u="none" strike="noStrike">
                          <a:solidFill>
                            <a:srgbClr val="000000"/>
                          </a:solidFill>
                          <a:effectLst/>
                          <a:latin typeface="Calibri" panose="020F0502020204030204" pitchFamily="34" charset="0"/>
                        </a:rPr>
                        <a:t>3331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1" i="0" u="none" strike="noStrike">
                          <a:solidFill>
                            <a:srgbClr val="000000"/>
                          </a:solidFill>
                          <a:effectLst/>
                          <a:latin typeface="Calibri" panose="020F0502020204030204" pitchFamily="34" charset="0"/>
                        </a:rPr>
                        <a:t>195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1" i="0" u="none" strike="noStrike">
                          <a:solidFill>
                            <a:srgbClr val="000000"/>
                          </a:solidFill>
                          <a:effectLst/>
                          <a:latin typeface="Calibri" panose="020F0502020204030204" pitchFamily="34" charset="0"/>
                        </a:rPr>
                        <a:t>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1" i="0" u="none" strike="noStrike">
                          <a:solidFill>
                            <a:srgbClr val="000000"/>
                          </a:solidFill>
                          <a:effectLst/>
                          <a:latin typeface="Calibri" panose="020F0502020204030204" pitchFamily="34" charset="0"/>
                        </a:rPr>
                        <a:t>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1" i="0" u="none" strike="noStrike">
                          <a:solidFill>
                            <a:srgbClr val="000000"/>
                          </a:solidFill>
                          <a:effectLst/>
                          <a:latin typeface="Calibri" panose="020F0502020204030204" pitchFamily="34" charset="0"/>
                        </a:rPr>
                        <a:t>23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1" i="0" u="none" strike="noStrike">
                          <a:solidFill>
                            <a:srgbClr val="000000"/>
                          </a:solidFill>
                          <a:effectLst/>
                          <a:latin typeface="Calibri" panose="020F0502020204030204" pitchFamily="34" charset="0"/>
                        </a:rPr>
                        <a:t>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1" i="0" u="none" strike="noStrike">
                          <a:solidFill>
                            <a:srgbClr val="000000"/>
                          </a:solidFill>
                          <a:effectLst/>
                          <a:latin typeface="Calibri" panose="020F0502020204030204" pitchFamily="34" charset="0"/>
                        </a:rPr>
                        <a:t>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1" i="0" u="none" strike="noStrike">
                          <a:solidFill>
                            <a:srgbClr val="000000"/>
                          </a:solidFill>
                          <a:effectLst/>
                          <a:latin typeface="Calibri" panose="020F0502020204030204" pitchFamily="34" charset="0"/>
                        </a:rPr>
                        <a:t>11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1" i="0" u="none" strike="noStrike">
                          <a:solidFill>
                            <a:srgbClr val="000000"/>
                          </a:solidFill>
                          <a:effectLst/>
                          <a:latin typeface="Calibri" panose="020F0502020204030204" pitchFamily="34" charset="0"/>
                        </a:rPr>
                        <a:t>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1" i="0" u="none" strike="noStrike">
                          <a:solidFill>
                            <a:srgbClr val="000000"/>
                          </a:solidFill>
                          <a:effectLst/>
                          <a:latin typeface="Calibri" panose="020F0502020204030204" pitchFamily="34" charset="0"/>
                        </a:rPr>
                        <a:t>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1" i="0" u="none" strike="noStrike">
                          <a:solidFill>
                            <a:srgbClr val="000000"/>
                          </a:solidFill>
                          <a:effectLst/>
                          <a:latin typeface="Calibri" panose="020F0502020204030204" pitchFamily="34" charset="0"/>
                        </a:rPr>
                        <a:t>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1" i="0" u="none" strike="noStrike">
                          <a:solidFill>
                            <a:srgbClr val="000000"/>
                          </a:solidFill>
                          <a:effectLst/>
                          <a:latin typeface="Calibri" panose="020F0502020204030204" pitchFamily="34" charset="0"/>
                        </a:rPr>
                        <a:t>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3591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25815130"/>
                  </a:ext>
                </a:extLst>
              </a:tr>
              <a:tr h="195402">
                <a:tc vMerge="1">
                  <a:txBody>
                    <a:bodyPr/>
                    <a:lstStyle/>
                    <a:p>
                      <a:endParaRPr lang="es-CO"/>
                    </a:p>
                  </a:txBody>
                  <a:tcPr/>
                </a:tc>
                <a:tc>
                  <a:txBody>
                    <a:bodyPr/>
                    <a:lstStyle/>
                    <a:p>
                      <a:pPr algn="r" fontAlgn="b">
                        <a:buNone/>
                      </a:pPr>
                      <a:r>
                        <a:rPr lang="es-CO" sz="1000" b="1" i="0" u="none" strike="noStrike">
                          <a:solidFill>
                            <a:srgbClr val="FFFFFF"/>
                          </a:solidFill>
                          <a:effectLst/>
                          <a:latin typeface="Calibri" panose="020F0502020204030204" pitchFamily="34" charset="0"/>
                        </a:rPr>
                        <a:t>2025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000" b="0" i="0" u="none" strike="noStrike">
                          <a:solidFill>
                            <a:srgbClr val="000000"/>
                          </a:solidFill>
                          <a:effectLst/>
                          <a:latin typeface="Calibri" panose="020F0502020204030204" pitchFamily="34" charset="0"/>
                        </a:rPr>
                        <a:t>201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55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23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34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374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22559400"/>
                  </a:ext>
                </a:extLst>
              </a:tr>
              <a:tr h="195402">
                <a:tc vMerge="1">
                  <a:txBody>
                    <a:bodyPr/>
                    <a:lstStyle/>
                    <a:p>
                      <a:endParaRPr lang="es-CO"/>
                    </a:p>
                  </a:txBody>
                  <a:tcPr/>
                </a:tc>
                <a:tc>
                  <a:txBody>
                    <a:bodyPr/>
                    <a:lstStyle/>
                    <a:p>
                      <a:pPr algn="r" fontAlgn="b">
                        <a:buNone/>
                      </a:pPr>
                      <a:r>
                        <a:rPr lang="es-CO" sz="1000" b="1" i="0" u="none" strike="noStrike">
                          <a:solidFill>
                            <a:srgbClr val="FFFFFF"/>
                          </a:solidFill>
                          <a:effectLst/>
                          <a:latin typeface="Calibri" panose="020F0502020204030204" pitchFamily="34" charset="0"/>
                        </a:rPr>
                        <a:t>ene-26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20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41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82316927"/>
                  </a:ext>
                </a:extLst>
              </a:tr>
              <a:tr h="195402">
                <a:tc vMerge="1">
                  <a:txBody>
                    <a:bodyPr/>
                    <a:lstStyle/>
                    <a:p>
                      <a:endParaRPr lang="es-CO"/>
                    </a:p>
                  </a:txBody>
                  <a:tcPr/>
                </a:tc>
                <a:tc>
                  <a:txBody>
                    <a:bodyPr/>
                    <a:lstStyle/>
                    <a:p>
                      <a:pPr algn="r" fontAlgn="b">
                        <a:buNone/>
                      </a:pPr>
                      <a:r>
                        <a:rPr lang="es-CO" sz="1000" b="1" i="0" u="none" strike="noStrike">
                          <a:solidFill>
                            <a:srgbClr val="FFFFFF"/>
                          </a:solidFill>
                          <a:effectLst/>
                          <a:latin typeface="Calibri" panose="020F0502020204030204" pitchFamily="34" charset="0"/>
                        </a:rPr>
                        <a:t>feb-26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55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1604320"/>
                  </a:ext>
                </a:extLst>
              </a:tr>
              <a:tr h="195402">
                <a:tc vMerge="1">
                  <a:txBody>
                    <a:bodyPr/>
                    <a:lstStyle/>
                    <a:p>
                      <a:endParaRPr lang="es-CO"/>
                    </a:p>
                  </a:txBody>
                  <a:tcPr/>
                </a:tc>
                <a:tc>
                  <a:txBody>
                    <a:bodyPr/>
                    <a:lstStyle/>
                    <a:p>
                      <a:pPr algn="r" fontAlgn="b">
                        <a:buNone/>
                      </a:pPr>
                      <a:r>
                        <a:rPr lang="es-CO" sz="1000" b="1" i="0" u="none" strike="noStrike">
                          <a:solidFill>
                            <a:srgbClr val="FFFFFF"/>
                          </a:solidFill>
                          <a:effectLst/>
                          <a:latin typeface="Calibri" panose="020F0502020204030204" pitchFamily="34" charset="0"/>
                        </a:rPr>
                        <a:t>mar-26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20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48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29259102"/>
                  </a:ext>
                </a:extLst>
              </a:tr>
              <a:tr h="195402">
                <a:tc vMerge="1">
                  <a:txBody>
                    <a:bodyPr/>
                    <a:lstStyle/>
                    <a:p>
                      <a:endParaRPr lang="es-CO"/>
                    </a:p>
                  </a:txBody>
                  <a:tcPr/>
                </a:tc>
                <a:tc>
                  <a:txBody>
                    <a:bodyPr/>
                    <a:lstStyle/>
                    <a:p>
                      <a:pPr algn="r" fontAlgn="b">
                        <a:buNone/>
                      </a:pPr>
                      <a:r>
                        <a:rPr lang="es-CO" sz="1000" b="1" i="0" u="none" strike="noStrike">
                          <a:solidFill>
                            <a:srgbClr val="FFFFFF"/>
                          </a:solidFill>
                          <a:effectLst/>
                          <a:latin typeface="Calibri" panose="020F0502020204030204" pitchFamily="34" charset="0"/>
                        </a:rPr>
                        <a:t>abr-26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25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61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72107872"/>
                  </a:ext>
                </a:extLst>
              </a:tr>
              <a:tr h="195402">
                <a:tc vMerge="1">
                  <a:txBody>
                    <a:bodyPr/>
                    <a:lstStyle/>
                    <a:p>
                      <a:endParaRPr lang="es-CO"/>
                    </a:p>
                  </a:txBody>
                  <a:tcPr/>
                </a:tc>
                <a:tc>
                  <a:txBody>
                    <a:bodyPr/>
                    <a:lstStyle/>
                    <a:p>
                      <a:pPr algn="r" fontAlgn="b">
                        <a:buNone/>
                      </a:pPr>
                      <a:r>
                        <a:rPr lang="es-CO" sz="1000" b="1" i="0" u="none" strike="noStrike">
                          <a:solidFill>
                            <a:srgbClr val="FFFFFF"/>
                          </a:solidFill>
                          <a:effectLst/>
                          <a:latin typeface="Calibri" panose="020F0502020204030204" pitchFamily="34" charset="0"/>
                        </a:rPr>
                        <a:t>may-26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22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48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71448655"/>
                  </a:ext>
                </a:extLst>
              </a:tr>
              <a:tr h="195402">
                <a:tc vMerge="1">
                  <a:txBody>
                    <a:bodyPr/>
                    <a:lstStyle/>
                    <a:p>
                      <a:endParaRPr lang="es-CO"/>
                    </a:p>
                  </a:txBody>
                  <a:tcPr/>
                </a:tc>
                <a:tc>
                  <a:txBody>
                    <a:bodyPr/>
                    <a:lstStyle/>
                    <a:p>
                      <a:pPr algn="r" fontAlgn="b">
                        <a:buNone/>
                      </a:pPr>
                      <a:r>
                        <a:rPr lang="es-CO" sz="1000" b="1" i="0" u="none" strike="noStrike">
                          <a:solidFill>
                            <a:srgbClr val="FFFFFF"/>
                          </a:solidFill>
                          <a:effectLst/>
                          <a:latin typeface="Calibri" panose="020F0502020204030204" pitchFamily="34" charset="0"/>
                        </a:rPr>
                        <a:t>jun-26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28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37314546"/>
                  </a:ext>
                </a:extLst>
              </a:tr>
              <a:tr h="195402">
                <a:tc vMerge="1">
                  <a:txBody>
                    <a:bodyPr/>
                    <a:lstStyle/>
                    <a:p>
                      <a:endParaRPr lang="es-CO"/>
                    </a:p>
                  </a:txBody>
                  <a:tcPr/>
                </a:tc>
                <a:tc>
                  <a:txBody>
                    <a:bodyPr/>
                    <a:lstStyle/>
                    <a:p>
                      <a:pPr algn="r" fontAlgn="b">
                        <a:buNone/>
                      </a:pPr>
                      <a:r>
                        <a:rPr lang="es-CO" sz="1000" b="1" i="0" u="none" strike="noStrike">
                          <a:solidFill>
                            <a:srgbClr val="FFFFFF"/>
                          </a:solidFill>
                          <a:effectLst/>
                          <a:latin typeface="Calibri" panose="020F0502020204030204" pitchFamily="34" charset="0"/>
                        </a:rPr>
                        <a:t>jul-26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30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05898077"/>
                  </a:ext>
                </a:extLst>
              </a:tr>
              <a:tr h="195402">
                <a:tc vMerge="1">
                  <a:txBody>
                    <a:bodyPr/>
                    <a:lstStyle/>
                    <a:p>
                      <a:endParaRPr lang="es-CO"/>
                    </a:p>
                  </a:txBody>
                  <a:tcPr/>
                </a:tc>
                <a:tc>
                  <a:txBody>
                    <a:bodyPr/>
                    <a:lstStyle/>
                    <a:p>
                      <a:pPr algn="r" fontAlgn="b">
                        <a:buNone/>
                      </a:pPr>
                      <a:r>
                        <a:rPr lang="es-CO" sz="1000" b="1" i="0" u="none" strike="noStrike">
                          <a:solidFill>
                            <a:srgbClr val="FFFFFF"/>
                          </a:solidFill>
                          <a:effectLst/>
                          <a:latin typeface="Calibri" panose="020F0502020204030204" pitchFamily="34" charset="0"/>
                        </a:rPr>
                        <a:t>ago-26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78911657"/>
                  </a:ext>
                </a:extLst>
              </a:tr>
              <a:tr h="195402">
                <a:tc vMerge="1">
                  <a:txBody>
                    <a:bodyPr/>
                    <a:lstStyle/>
                    <a:p>
                      <a:endParaRPr lang="es-CO"/>
                    </a:p>
                  </a:txBody>
                  <a:tcPr/>
                </a:tc>
                <a:tc>
                  <a:txBody>
                    <a:bodyPr/>
                    <a:lstStyle/>
                    <a:p>
                      <a:pPr algn="r" fontAlgn="b">
                        <a:buNone/>
                      </a:pPr>
                      <a:r>
                        <a:rPr lang="es-CO" sz="1000" b="1" i="0" u="none" strike="noStrike">
                          <a:solidFill>
                            <a:srgbClr val="FFFFFF"/>
                          </a:solidFill>
                          <a:effectLst/>
                          <a:latin typeface="Calibri" panose="020F0502020204030204" pitchFamily="34" charset="0"/>
                        </a:rPr>
                        <a:t>sep-26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5970859"/>
                  </a:ext>
                </a:extLst>
              </a:tr>
              <a:tr h="343554">
                <a:tc vMerge="1">
                  <a:txBody>
                    <a:bodyPr/>
                    <a:lstStyle/>
                    <a:p>
                      <a:endParaRPr lang="es-CO"/>
                    </a:p>
                  </a:txBody>
                  <a:tcPr/>
                </a:tc>
                <a:tc>
                  <a:txBody>
                    <a:bodyPr/>
                    <a:lstStyle/>
                    <a:p>
                      <a:pPr algn="l" fontAlgn="b">
                        <a:buNone/>
                      </a:pPr>
                      <a:r>
                        <a:rPr lang="es-CO" sz="1000" b="1" i="0" u="none" strike="noStrike">
                          <a:solidFill>
                            <a:srgbClr val="000000"/>
                          </a:solidFill>
                          <a:effectLst/>
                          <a:latin typeface="Calibri" panose="020F0502020204030204" pitchFamily="34" charset="0"/>
                        </a:rPr>
                        <a:t>Total general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000" b="1" i="0" u="none" strike="noStrike">
                          <a:solidFill>
                            <a:srgbClr val="000000"/>
                          </a:solidFill>
                          <a:effectLst/>
                          <a:latin typeface="Calibri" panose="020F0502020204030204" pitchFamily="34" charset="0"/>
                        </a:rPr>
                        <a:t>3532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tc>
                  <a:txBody>
                    <a:bodyPr/>
                    <a:lstStyle/>
                    <a:p>
                      <a:pPr algn="ctr" fontAlgn="b">
                        <a:buNone/>
                      </a:pPr>
                      <a:r>
                        <a:rPr lang="es-CO" sz="1000" b="1" i="0" u="none" strike="noStrike">
                          <a:solidFill>
                            <a:srgbClr val="000000"/>
                          </a:solidFill>
                          <a:effectLst/>
                          <a:latin typeface="Calibri" panose="020F0502020204030204" pitchFamily="34" charset="0"/>
                        </a:rPr>
                        <a:t>221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tc>
                  <a:txBody>
                    <a:bodyPr/>
                    <a:lstStyle/>
                    <a:p>
                      <a:pPr algn="ctr" fontAlgn="b">
                        <a:buNone/>
                      </a:pPr>
                      <a:r>
                        <a:rPr lang="es-CO" sz="1000" b="1" i="0" u="none" strike="noStrike">
                          <a:solidFill>
                            <a:srgbClr val="000000"/>
                          </a:solidFill>
                          <a:effectLst/>
                          <a:latin typeface="Calibri" panose="020F0502020204030204" pitchFamily="34" charset="0"/>
                        </a:rPr>
                        <a:t>58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tc>
                  <a:txBody>
                    <a:bodyPr/>
                    <a:lstStyle/>
                    <a:p>
                      <a:pPr algn="ctr" fontAlgn="b">
                        <a:buNone/>
                      </a:pPr>
                      <a:r>
                        <a:rPr lang="es-CO" sz="1000" b="1" i="0" u="none" strike="noStrike">
                          <a:solidFill>
                            <a:srgbClr val="000000"/>
                          </a:solidFill>
                          <a:effectLst/>
                          <a:latin typeface="Calibri" panose="020F0502020204030204" pitchFamily="34" charset="0"/>
                        </a:rPr>
                        <a:t>48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tc>
                  <a:txBody>
                    <a:bodyPr/>
                    <a:lstStyle/>
                    <a:p>
                      <a:pPr algn="ctr" fontAlgn="b">
                        <a:buNone/>
                      </a:pPr>
                      <a:r>
                        <a:rPr lang="es-CO" sz="1000" b="1" i="0" u="none" strike="noStrike">
                          <a:solidFill>
                            <a:srgbClr val="000000"/>
                          </a:solidFill>
                          <a:effectLst/>
                          <a:latin typeface="Calibri" panose="020F0502020204030204" pitchFamily="34" charset="0"/>
                        </a:rPr>
                        <a:t>72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tc>
                  <a:txBody>
                    <a:bodyPr/>
                    <a:lstStyle/>
                    <a:p>
                      <a:pPr algn="ctr" fontAlgn="b">
                        <a:buNone/>
                      </a:pPr>
                      <a:r>
                        <a:rPr lang="es-CO" sz="1000" b="1" i="0" u="none" strike="noStrike">
                          <a:solidFill>
                            <a:srgbClr val="000000"/>
                          </a:solidFill>
                          <a:effectLst/>
                          <a:latin typeface="Calibri" panose="020F0502020204030204" pitchFamily="34" charset="0"/>
                        </a:rPr>
                        <a:t>53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tc>
                  <a:txBody>
                    <a:bodyPr/>
                    <a:lstStyle/>
                    <a:p>
                      <a:pPr algn="ctr" fontAlgn="b">
                        <a:buNone/>
                      </a:pPr>
                      <a:r>
                        <a:rPr lang="es-CO" sz="1000" b="1" i="0" u="none" strike="noStrike">
                          <a:solidFill>
                            <a:srgbClr val="000000"/>
                          </a:solidFill>
                          <a:effectLst/>
                          <a:latin typeface="Calibri" panose="020F0502020204030204" pitchFamily="34" charset="0"/>
                        </a:rPr>
                        <a:t>55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tc>
                  <a:txBody>
                    <a:bodyPr/>
                    <a:lstStyle/>
                    <a:p>
                      <a:pPr algn="ctr" fontAlgn="b">
                        <a:buNone/>
                      </a:pPr>
                      <a:r>
                        <a:rPr lang="es-CO" sz="1000" b="1" i="0" u="none" strike="noStrike">
                          <a:solidFill>
                            <a:srgbClr val="000000"/>
                          </a:solidFill>
                          <a:effectLst/>
                          <a:latin typeface="Calibri" panose="020F0502020204030204" pitchFamily="34" charset="0"/>
                        </a:rPr>
                        <a:t>74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tc>
                  <a:txBody>
                    <a:bodyPr/>
                    <a:lstStyle/>
                    <a:p>
                      <a:pPr algn="ctr" fontAlgn="b">
                        <a:buNone/>
                      </a:pPr>
                      <a:r>
                        <a:rPr lang="es-CO" sz="1000" b="1" i="0" u="none" strike="noStrike">
                          <a:solidFill>
                            <a:srgbClr val="000000"/>
                          </a:solidFill>
                          <a:effectLst/>
                          <a:latin typeface="Calibri" panose="020F0502020204030204" pitchFamily="34" charset="0"/>
                        </a:rPr>
                        <a:t>57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tc>
                  <a:txBody>
                    <a:bodyPr/>
                    <a:lstStyle/>
                    <a:p>
                      <a:pPr algn="ctr" fontAlgn="b">
                        <a:buNone/>
                      </a:pPr>
                      <a:r>
                        <a:rPr lang="es-CO" sz="1000" b="1" i="0" u="none" strike="noStrike">
                          <a:solidFill>
                            <a:srgbClr val="000000"/>
                          </a:solidFill>
                          <a:effectLst/>
                          <a:latin typeface="Calibri" panose="020F0502020204030204" pitchFamily="34" charset="0"/>
                        </a:rPr>
                        <a:t>54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tc>
                  <a:txBody>
                    <a:bodyPr/>
                    <a:lstStyle/>
                    <a:p>
                      <a:pPr algn="ctr" fontAlgn="b">
                        <a:buNone/>
                      </a:pPr>
                      <a:r>
                        <a:rPr lang="es-CO" sz="1000" b="1" i="0" u="none" strike="noStrike">
                          <a:solidFill>
                            <a:srgbClr val="000000"/>
                          </a:solidFill>
                          <a:effectLst/>
                          <a:latin typeface="Calibri" panose="020F0502020204030204" pitchFamily="34" charset="0"/>
                        </a:rPr>
                        <a:t>41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tc>
                  <a:txBody>
                    <a:bodyPr/>
                    <a:lstStyle/>
                    <a:p>
                      <a:pPr algn="ctr" fontAlgn="b">
                        <a:buNone/>
                      </a:pPr>
                      <a:r>
                        <a:rPr lang="es-CO" sz="1000" b="1" i="0" u="none" strike="noStrike">
                          <a:solidFill>
                            <a:srgbClr val="000000"/>
                          </a:solidFill>
                          <a:effectLst/>
                          <a:latin typeface="Calibri" panose="020F0502020204030204" pitchFamily="34" charset="0"/>
                        </a:rPr>
                        <a:t>38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tc>
                  <a:txBody>
                    <a:bodyPr/>
                    <a:lstStyle/>
                    <a:p>
                      <a:pPr algn="ctr" fontAlgn="b">
                        <a:buNone/>
                      </a:pPr>
                      <a:r>
                        <a:rPr lang="es-CO" sz="1000" b="1" i="0" u="none" strike="noStrike">
                          <a:solidFill>
                            <a:srgbClr val="000000"/>
                          </a:solidFill>
                          <a:effectLst/>
                          <a:latin typeface="Calibri" panose="020F0502020204030204" pitchFamily="34" charset="0"/>
                        </a:rPr>
                        <a:t>4303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A9C4"/>
                    </a:solidFill>
                  </a:tcPr>
                </a:tc>
                <a:extLst>
                  <a:ext uri="{0D108BD9-81ED-4DB2-BD59-A6C34878D82A}">
                    <a16:rowId xmlns:a16="http://schemas.microsoft.com/office/drawing/2014/main" val="2836369897"/>
                  </a:ext>
                </a:extLst>
              </a:tr>
              <a:tr h="195402">
                <a:tc vMerge="1">
                  <a:txBody>
                    <a:bodyPr/>
                    <a:lstStyle/>
                    <a:p>
                      <a:endParaRPr lang="es-CO"/>
                    </a:p>
                  </a:txBody>
                  <a:tcPr/>
                </a:tc>
                <a:tc>
                  <a:txBody>
                    <a:bodyPr/>
                    <a:lstStyle/>
                    <a:p>
                      <a:pPr algn="r" fontAlgn="b">
                        <a:buNone/>
                      </a:pPr>
                      <a:r>
                        <a:rPr lang="es-CO" sz="1000" b="1" i="0" u="none" strike="noStrike">
                          <a:solidFill>
                            <a:srgbClr val="FFFFFF"/>
                          </a:solidFill>
                          <a:effectLst/>
                          <a:latin typeface="Calibri" panose="020F0502020204030204" pitchFamily="34" charset="0"/>
                        </a:rPr>
                        <a:t>2024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000" b="0" i="0" u="none" strike="noStrike">
                          <a:solidFill>
                            <a:srgbClr val="000000"/>
                          </a:solidFill>
                          <a:effectLst/>
                          <a:latin typeface="Calibri" panose="020F0502020204030204" pitchFamily="34" charset="0"/>
                        </a:rPr>
                        <a:t>94,3%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88,2%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5,2%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10,4%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31,9%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5,7%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3,6%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14,9%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12,3%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13,0%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4,9%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5,3%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83,5%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42440335"/>
                  </a:ext>
                </a:extLst>
              </a:tr>
              <a:tr h="195402">
                <a:tc vMerge="1">
                  <a:txBody>
                    <a:bodyPr/>
                    <a:lstStyle/>
                    <a:p>
                      <a:endParaRPr lang="es-CO"/>
                    </a:p>
                  </a:txBody>
                  <a:tcPr/>
                </a:tc>
                <a:tc>
                  <a:txBody>
                    <a:bodyPr/>
                    <a:lstStyle/>
                    <a:p>
                      <a:pPr algn="r" fontAlgn="b">
                        <a:buNone/>
                      </a:pPr>
                      <a:r>
                        <a:rPr lang="es-CO" sz="1000" b="1" i="0" u="none" strike="noStrike">
                          <a:solidFill>
                            <a:srgbClr val="FFFFFF"/>
                          </a:solidFill>
                          <a:effectLst/>
                          <a:latin typeface="Calibri" panose="020F0502020204030204" pitchFamily="34" charset="0"/>
                        </a:rPr>
                        <a:t>2025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ctr" fontAlgn="b">
                        <a:buNone/>
                      </a:pPr>
                      <a:r>
                        <a:rPr lang="es-CO" sz="1000" b="0" i="0" u="none" strike="noStrike">
                          <a:solidFill>
                            <a:srgbClr val="000000"/>
                          </a:solidFill>
                          <a:effectLst/>
                          <a:latin typeface="Calibri" panose="020F0502020204030204" pitchFamily="34" charset="0"/>
                        </a:rPr>
                        <a:t>5,7%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11,8%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94,8%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47,9%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47,2%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20,8%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7,3%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12,2%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7,0%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1,9%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13,2%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8,7%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58704152"/>
                  </a:ext>
                </a:extLst>
              </a:tr>
              <a:tr h="195402">
                <a:tc vMerge="1">
                  <a:txBody>
                    <a:bodyPr/>
                    <a:lstStyle/>
                    <a:p>
                      <a:endParaRPr lang="es-CO"/>
                    </a:p>
                  </a:txBody>
                  <a:tcPr/>
                </a:tc>
                <a:tc>
                  <a:txBody>
                    <a:bodyPr/>
                    <a:lstStyle/>
                    <a:p>
                      <a:pPr algn="r" fontAlgn="b">
                        <a:buNone/>
                      </a:pPr>
                      <a:r>
                        <a:rPr lang="es-CO" sz="1000" b="1" i="0" u="none" strike="noStrike">
                          <a:solidFill>
                            <a:srgbClr val="FFFFFF"/>
                          </a:solidFill>
                          <a:effectLst/>
                          <a:latin typeface="Calibri" panose="020F0502020204030204" pitchFamily="34" charset="0"/>
                        </a:rPr>
                        <a:t>ene-26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1"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1"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41,7%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12,5%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s-CO" sz="1000" b="0" i="0" u="none" strike="noStrike">
                          <a:solidFill>
                            <a:srgbClr val="000000"/>
                          </a:solidFill>
                          <a:effectLst/>
                          <a:latin typeface="Calibri" panose="020F0502020204030204" pitchFamily="34" charset="0"/>
                        </a:rPr>
                        <a:t>7,5%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3,6%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3,5%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3,7%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0" i="0" u="none" strike="noStrike">
                          <a:solidFill>
                            <a:srgbClr val="000000"/>
                          </a:solidFill>
                          <a:effectLst/>
                          <a:latin typeface="Calibri" panose="020F0502020204030204" pitchFamily="34" charset="0"/>
                        </a:rPr>
                        <a:t>1,0%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65442682"/>
                  </a:ext>
                </a:extLst>
              </a:tr>
              <a:tr h="195402">
                <a:tc vMerge="1">
                  <a:txBody>
                    <a:bodyPr/>
                    <a:lstStyle/>
                    <a:p>
                      <a:endParaRPr lang="es-CO"/>
                    </a:p>
                  </a:txBody>
                  <a:tcPr/>
                </a:tc>
                <a:tc>
                  <a:txBody>
                    <a:bodyPr/>
                    <a:lstStyle/>
                    <a:p>
                      <a:pPr algn="r" fontAlgn="b">
                        <a:buNone/>
                      </a:pPr>
                      <a:r>
                        <a:rPr lang="es-CO" sz="1000" b="1" i="0" u="none" strike="noStrike">
                          <a:solidFill>
                            <a:srgbClr val="FFFFFF"/>
                          </a:solidFill>
                          <a:effectLst/>
                          <a:latin typeface="Calibri" panose="020F0502020204030204" pitchFamily="34" charset="0"/>
                        </a:rPr>
                        <a:t>feb-26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1"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1"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1" i="0" u="none" strike="noStrike">
                          <a:solidFill>
                            <a:srgbClr val="000000"/>
                          </a:solidFill>
                          <a:effectLst/>
                          <a:latin typeface="Calibri" panose="020F0502020204030204" pitchFamily="34" charset="0"/>
                        </a:rPr>
                        <a:t>8,3%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buNone/>
                      </a:pPr>
                      <a:r>
                        <a:rPr lang="es-CO" sz="1000" b="0" i="0" u="none" strike="noStrike">
                          <a:solidFill>
                            <a:srgbClr val="000000"/>
                          </a:solidFill>
                          <a:effectLst/>
                          <a:latin typeface="Calibri" panose="020F0502020204030204" pitchFamily="34" charset="0"/>
                        </a:rPr>
                        <a:t>35,8%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s-CO" sz="1000" b="0" i="0" u="none" strike="noStrike">
                          <a:solidFill>
                            <a:srgbClr val="000000"/>
                          </a:solidFill>
                          <a:effectLst/>
                          <a:latin typeface="Calibri" panose="020F0502020204030204" pitchFamily="34" charset="0"/>
                        </a:rPr>
                        <a:t>23,6%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12,2%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5,3%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3,7%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4,9%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1,3%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87475822"/>
                  </a:ext>
                </a:extLst>
              </a:tr>
              <a:tr h="195402">
                <a:tc vMerge="1">
                  <a:txBody>
                    <a:bodyPr/>
                    <a:lstStyle/>
                    <a:p>
                      <a:endParaRPr lang="es-CO"/>
                    </a:p>
                  </a:txBody>
                  <a:tcPr/>
                </a:tc>
                <a:tc>
                  <a:txBody>
                    <a:bodyPr/>
                    <a:lstStyle/>
                    <a:p>
                      <a:pPr algn="r" fontAlgn="b">
                        <a:buNone/>
                      </a:pPr>
                      <a:r>
                        <a:rPr lang="es-CO" sz="1000" b="1" i="0" u="none" strike="noStrike">
                          <a:solidFill>
                            <a:srgbClr val="FFFFFF"/>
                          </a:solidFill>
                          <a:effectLst/>
                          <a:latin typeface="Calibri" panose="020F0502020204030204" pitchFamily="34" charset="0"/>
                        </a:rPr>
                        <a:t>mar-26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1"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es-CO" sz="1000" b="1" i="0" u="none" strike="noStrike">
                          <a:solidFill>
                            <a:srgbClr val="000000"/>
                          </a:solidFill>
                          <a:effectLst/>
                          <a:latin typeface="Calibri" panose="020F0502020204030204" pitchFamily="34" charset="0"/>
                        </a:rPr>
                        <a:t>30,2%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buNone/>
                      </a:pPr>
                      <a:r>
                        <a:rPr lang="es-CO" sz="1000" b="0" i="0" u="none" strike="noStrike">
                          <a:solidFill>
                            <a:srgbClr val="000000"/>
                          </a:solidFill>
                          <a:effectLst/>
                          <a:latin typeface="Calibri" panose="020F0502020204030204" pitchFamily="34" charset="0"/>
                        </a:rPr>
                        <a:t>36,4%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s-CO" sz="1000" b="0" i="0" u="none" strike="noStrike">
                          <a:solidFill>
                            <a:srgbClr val="000000"/>
                          </a:solidFill>
                          <a:effectLst/>
                          <a:latin typeface="Calibri" panose="020F0502020204030204" pitchFamily="34" charset="0"/>
                        </a:rPr>
                        <a:t>6,8%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3,5%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5,6%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1,1%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89704797"/>
                  </a:ext>
                </a:extLst>
              </a:tr>
              <a:tr h="195402">
                <a:tc vMerge="1">
                  <a:txBody>
                    <a:bodyPr/>
                    <a:lstStyle/>
                    <a:p>
                      <a:endParaRPr lang="es-CO"/>
                    </a:p>
                  </a:txBody>
                  <a:tcPr/>
                </a:tc>
                <a:tc>
                  <a:txBody>
                    <a:bodyPr/>
                    <a:lstStyle/>
                    <a:p>
                      <a:pPr algn="r" fontAlgn="b">
                        <a:buNone/>
                      </a:pPr>
                      <a:r>
                        <a:rPr lang="es-CO" sz="1000" b="1" i="0" u="none" strike="noStrike">
                          <a:solidFill>
                            <a:srgbClr val="FFFFFF"/>
                          </a:solidFill>
                          <a:effectLst/>
                          <a:latin typeface="Calibri" panose="020F0502020204030204" pitchFamily="34" charset="0"/>
                        </a:rPr>
                        <a:t>abr-26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1" i="0" u="none" strike="noStrike">
                          <a:solidFill>
                            <a:srgbClr val="000000"/>
                          </a:solidFill>
                          <a:effectLst/>
                          <a:latin typeface="Calibri" panose="020F0502020204030204" pitchFamily="34" charset="0"/>
                        </a:rPr>
                        <a:t>25,5%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buNone/>
                      </a:pPr>
                      <a:r>
                        <a:rPr lang="es-CO" sz="1000" b="0" i="0" u="none" strike="noStrike">
                          <a:solidFill>
                            <a:srgbClr val="000000"/>
                          </a:solidFill>
                          <a:effectLst/>
                          <a:latin typeface="Calibri" panose="020F0502020204030204" pitchFamily="34" charset="0"/>
                        </a:rPr>
                        <a:t>33,8%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s-CO" sz="1000" b="0" i="0" u="none" strike="noStrike">
                          <a:solidFill>
                            <a:srgbClr val="000000"/>
                          </a:solidFill>
                          <a:effectLst/>
                          <a:latin typeface="Calibri" panose="020F0502020204030204" pitchFamily="34" charset="0"/>
                        </a:rPr>
                        <a:t>17,5%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14,8%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7,3%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1,4%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07361954"/>
                  </a:ext>
                </a:extLst>
              </a:tr>
              <a:tr h="195402">
                <a:tc vMerge="1">
                  <a:txBody>
                    <a:bodyPr/>
                    <a:lstStyle/>
                    <a:p>
                      <a:endParaRPr lang="es-CO"/>
                    </a:p>
                  </a:txBody>
                  <a:tcPr/>
                </a:tc>
                <a:tc>
                  <a:txBody>
                    <a:bodyPr/>
                    <a:lstStyle/>
                    <a:p>
                      <a:pPr algn="r" fontAlgn="b">
                        <a:buNone/>
                      </a:pPr>
                      <a:r>
                        <a:rPr lang="es-CO" sz="1000" b="1" i="0" u="none" strike="noStrike">
                          <a:solidFill>
                            <a:srgbClr val="FFFFFF"/>
                          </a:solidFill>
                          <a:effectLst/>
                          <a:latin typeface="Calibri" panose="020F0502020204030204" pitchFamily="34" charset="0"/>
                        </a:rPr>
                        <a:t>may-26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1" i="0" u="none" strike="noStrike">
                          <a:solidFill>
                            <a:srgbClr val="000000"/>
                          </a:solidFill>
                          <a:effectLst/>
                          <a:latin typeface="Calibri" panose="020F0502020204030204" pitchFamily="34" charset="0"/>
                        </a:rPr>
                        <a:t>18,9%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buNone/>
                      </a:pPr>
                      <a:r>
                        <a:rPr lang="es-CO" sz="1000" b="0" i="0" u="none" strike="noStrike">
                          <a:solidFill>
                            <a:srgbClr val="000000"/>
                          </a:solidFill>
                          <a:effectLst/>
                          <a:latin typeface="Calibri" panose="020F0502020204030204" pitchFamily="34" charset="0"/>
                        </a:rPr>
                        <a:t>38,6%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s-CO" sz="1000" b="0" i="0" u="none" strike="noStrike">
                          <a:solidFill>
                            <a:srgbClr val="000000"/>
                          </a:solidFill>
                          <a:effectLst/>
                          <a:latin typeface="Calibri" panose="020F0502020204030204" pitchFamily="34" charset="0"/>
                        </a:rPr>
                        <a:t>9,3%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9,8%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7,9%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1,1%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8440234"/>
                  </a:ext>
                </a:extLst>
              </a:tr>
              <a:tr h="195402">
                <a:tc vMerge="1">
                  <a:txBody>
                    <a:bodyPr/>
                    <a:lstStyle/>
                    <a:p>
                      <a:endParaRPr lang="es-CO"/>
                    </a:p>
                  </a:txBody>
                  <a:tcPr/>
                </a:tc>
                <a:tc>
                  <a:txBody>
                    <a:bodyPr/>
                    <a:lstStyle/>
                    <a:p>
                      <a:pPr algn="r" fontAlgn="b">
                        <a:buNone/>
                      </a:pPr>
                      <a:r>
                        <a:rPr lang="es-CO" sz="1000" b="1" i="0" u="none" strike="noStrike">
                          <a:solidFill>
                            <a:srgbClr val="FFFFFF"/>
                          </a:solidFill>
                          <a:effectLst/>
                          <a:latin typeface="Calibri" panose="020F0502020204030204" pitchFamily="34" charset="0"/>
                        </a:rPr>
                        <a:t>jun-26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1" i="0" u="none" strike="noStrike">
                          <a:solidFill>
                            <a:srgbClr val="000000"/>
                          </a:solidFill>
                          <a:effectLst/>
                          <a:latin typeface="Calibri" panose="020F0502020204030204" pitchFamily="34" charset="0"/>
                        </a:rPr>
                        <a:t>12,3%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buNone/>
                      </a:pPr>
                      <a:r>
                        <a:rPr lang="es-CO" sz="1000" b="0" i="0" u="none" strike="noStrike">
                          <a:solidFill>
                            <a:srgbClr val="000000"/>
                          </a:solidFill>
                          <a:effectLst/>
                          <a:latin typeface="Calibri" panose="020F0502020204030204" pitchFamily="34" charset="0"/>
                        </a:rPr>
                        <a:t>24,1%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s-CO" sz="1000" b="0" i="0" u="none" strike="noStrike">
                          <a:solidFill>
                            <a:srgbClr val="000000"/>
                          </a:solidFill>
                          <a:effectLst/>
                          <a:latin typeface="Calibri" panose="020F0502020204030204" pitchFamily="34" charset="0"/>
                        </a:rPr>
                        <a:t>12,2%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7,9%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0,7%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57126384"/>
                  </a:ext>
                </a:extLst>
              </a:tr>
              <a:tr h="195402">
                <a:tc vMerge="1">
                  <a:txBody>
                    <a:bodyPr/>
                    <a:lstStyle/>
                    <a:p>
                      <a:endParaRPr lang="es-CO"/>
                    </a:p>
                  </a:txBody>
                  <a:tcPr/>
                </a:tc>
                <a:tc>
                  <a:txBody>
                    <a:bodyPr/>
                    <a:lstStyle/>
                    <a:p>
                      <a:pPr algn="r" fontAlgn="b">
                        <a:buNone/>
                      </a:pPr>
                      <a:r>
                        <a:rPr lang="es-CO" sz="1000" b="1" i="0" u="none" strike="noStrike">
                          <a:solidFill>
                            <a:srgbClr val="FFFFFF"/>
                          </a:solidFill>
                          <a:effectLst/>
                          <a:latin typeface="Calibri" panose="020F0502020204030204" pitchFamily="34" charset="0"/>
                        </a:rPr>
                        <a:t>jul-26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1" i="0" u="none" strike="noStrike">
                          <a:solidFill>
                            <a:srgbClr val="000000"/>
                          </a:solidFill>
                          <a:effectLst/>
                          <a:latin typeface="Calibri" panose="020F0502020204030204" pitchFamily="34" charset="0"/>
                        </a:rPr>
                        <a:t>24,1%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buNone/>
                      </a:pPr>
                      <a:r>
                        <a:rPr lang="es-CO" sz="1000" b="0" i="0" u="none" strike="noStrike">
                          <a:solidFill>
                            <a:srgbClr val="000000"/>
                          </a:solidFill>
                          <a:effectLst/>
                          <a:latin typeface="Calibri" panose="020F0502020204030204" pitchFamily="34" charset="0"/>
                        </a:rPr>
                        <a:t>36,6%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s-CO" sz="1000" b="0" i="0" u="none" strike="noStrike">
                          <a:solidFill>
                            <a:srgbClr val="000000"/>
                          </a:solidFill>
                          <a:effectLst/>
                          <a:latin typeface="Calibri" panose="020F0502020204030204" pitchFamily="34" charset="0"/>
                        </a:rPr>
                        <a:t>5,3%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0,7%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93111444"/>
                  </a:ext>
                </a:extLst>
              </a:tr>
              <a:tr h="195402">
                <a:tc vMerge="1">
                  <a:txBody>
                    <a:bodyPr/>
                    <a:lstStyle/>
                    <a:p>
                      <a:endParaRPr lang="es-CO"/>
                    </a:p>
                  </a:txBody>
                  <a:tcPr/>
                </a:tc>
                <a:tc>
                  <a:txBody>
                    <a:bodyPr/>
                    <a:lstStyle/>
                    <a:p>
                      <a:pPr algn="r" fontAlgn="b">
                        <a:buNone/>
                      </a:pPr>
                      <a:r>
                        <a:rPr lang="es-CO" sz="1000" b="1" i="0" u="none" strike="noStrike">
                          <a:solidFill>
                            <a:srgbClr val="FFFFFF"/>
                          </a:solidFill>
                          <a:effectLst/>
                          <a:latin typeface="Calibri" panose="020F0502020204030204" pitchFamily="34" charset="0"/>
                        </a:rPr>
                        <a:t>ago-26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1" i="0" u="none" strike="noStrike">
                          <a:solidFill>
                            <a:srgbClr val="000000"/>
                          </a:solidFill>
                          <a:effectLst/>
                          <a:latin typeface="Calibri" panose="020F0502020204030204" pitchFamily="34" charset="0"/>
                        </a:rPr>
                        <a:t>17,1%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buNone/>
                      </a:pPr>
                      <a:r>
                        <a:rPr lang="es-CO" sz="1000" b="0" i="0" u="none" strike="noStrike">
                          <a:solidFill>
                            <a:srgbClr val="000000"/>
                          </a:solidFill>
                          <a:effectLst/>
                          <a:latin typeface="Calibri" panose="020F0502020204030204" pitchFamily="34" charset="0"/>
                        </a:rPr>
                        <a:t>15,8%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s-CO" sz="1000" b="0" i="0" u="none" strike="noStrike">
                          <a:solidFill>
                            <a:srgbClr val="000000"/>
                          </a:solidFill>
                          <a:effectLst/>
                          <a:latin typeface="Calibri" panose="020F0502020204030204" pitchFamily="34" charset="0"/>
                        </a:rPr>
                        <a:t>0,3%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659874499"/>
                  </a:ext>
                </a:extLst>
              </a:tr>
              <a:tr h="195402">
                <a:tc vMerge="1">
                  <a:txBody>
                    <a:bodyPr/>
                    <a:lstStyle/>
                    <a:p>
                      <a:endParaRPr lang="es-CO"/>
                    </a:p>
                  </a:txBody>
                  <a:tcPr/>
                </a:tc>
                <a:tc>
                  <a:txBody>
                    <a:bodyPr/>
                    <a:lstStyle/>
                    <a:p>
                      <a:pPr algn="r" fontAlgn="b">
                        <a:buNone/>
                      </a:pPr>
                      <a:r>
                        <a:rPr lang="es-CO" sz="1000" b="1" i="0" u="none" strike="noStrike">
                          <a:solidFill>
                            <a:srgbClr val="FFFFFF"/>
                          </a:solidFill>
                          <a:effectLst/>
                          <a:latin typeface="Calibri" panose="020F0502020204030204" pitchFamily="34" charset="0"/>
                        </a:rPr>
                        <a:t>sep-26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CA6A0"/>
                    </a:solid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000" b="1" i="0" u="none" strike="noStrike">
                          <a:solidFill>
                            <a:srgbClr val="000000"/>
                          </a:solidFill>
                          <a:effectLst/>
                          <a:latin typeface="Calibri" panose="020F0502020204030204" pitchFamily="34" charset="0"/>
                        </a:rPr>
                        <a:t>36,8%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buNone/>
                      </a:pPr>
                      <a:r>
                        <a:rPr lang="es-CO" sz="1000" b="0" i="0" u="none" strike="noStrike">
                          <a:solidFill>
                            <a:srgbClr val="000000"/>
                          </a:solidFill>
                          <a:effectLst/>
                          <a:latin typeface="Calibri" panose="020F0502020204030204" pitchFamily="34" charset="0"/>
                        </a:rPr>
                        <a:t>0,3%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4253805668"/>
                  </a:ext>
                </a:extLst>
              </a:tr>
            </a:tbl>
          </a:graphicData>
        </a:graphic>
      </p:graphicFrame>
    </p:spTree>
    <p:extLst>
      <p:ext uri="{BB962C8B-B14F-4D97-AF65-F5344CB8AC3E}">
        <p14:creationId xmlns:p14="http://schemas.microsoft.com/office/powerpoint/2010/main" val="3457090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5CAE-3847-FEC7-2D46-A3905883DA26}"/>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ADB2EA75-BD68-456F-9A84-257B0AE5A66F}"/>
              </a:ext>
            </a:extLst>
          </p:cNvPr>
          <p:cNvSpPr>
            <a:spLocks noGrp="1"/>
          </p:cNvSpPr>
          <p:nvPr>
            <p:ph type="ctrTitle"/>
          </p:nvPr>
        </p:nvSpPr>
        <p:spPr>
          <a:xfrm>
            <a:off x="273120" y="0"/>
            <a:ext cx="11645759" cy="786278"/>
          </a:xfrm>
        </p:spPr>
        <p:txBody>
          <a:bodyPr/>
          <a:lstStyle/>
          <a:p>
            <a:r>
              <a:rPr lang="es-CO" noProof="0"/>
              <a:t>Oportunidades 2025/2026</a:t>
            </a:r>
          </a:p>
        </p:txBody>
      </p:sp>
      <p:graphicFrame>
        <p:nvGraphicFramePr>
          <p:cNvPr id="7" name="Gráfico 6">
            <a:extLst>
              <a:ext uri="{FF2B5EF4-FFF2-40B4-BE49-F238E27FC236}">
                <a16:creationId xmlns:a16="http://schemas.microsoft.com/office/drawing/2014/main" id="{E41BD6AA-1929-051C-2B95-C5BBF1F9CC0A}"/>
              </a:ext>
            </a:extLst>
          </p:cNvPr>
          <p:cNvGraphicFramePr/>
          <p:nvPr>
            <p:extLst>
              <p:ext uri="{D42A27DB-BD31-4B8C-83A1-F6EECF244321}">
                <p14:modId xmlns:p14="http://schemas.microsoft.com/office/powerpoint/2010/main" val="1526053535"/>
              </p:ext>
            </p:extLst>
          </p:nvPr>
        </p:nvGraphicFramePr>
        <p:xfrm>
          <a:off x="6221759" y="716928"/>
          <a:ext cx="5760000" cy="28427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Gráfico 8">
            <a:extLst>
              <a:ext uri="{FF2B5EF4-FFF2-40B4-BE49-F238E27FC236}">
                <a16:creationId xmlns:a16="http://schemas.microsoft.com/office/drawing/2014/main" id="{3E1030B1-2361-EF00-F73C-854E86F9BD48}"/>
              </a:ext>
            </a:extLst>
          </p:cNvPr>
          <p:cNvGraphicFramePr/>
          <p:nvPr>
            <p:extLst>
              <p:ext uri="{D42A27DB-BD31-4B8C-83A1-F6EECF244321}">
                <p14:modId xmlns:p14="http://schemas.microsoft.com/office/powerpoint/2010/main" val="3318672017"/>
              </p:ext>
            </p:extLst>
          </p:nvPr>
        </p:nvGraphicFramePr>
        <p:xfrm>
          <a:off x="284231" y="3718747"/>
          <a:ext cx="5760000" cy="264939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Gráfico 9">
            <a:extLst>
              <a:ext uri="{FF2B5EF4-FFF2-40B4-BE49-F238E27FC236}">
                <a16:creationId xmlns:a16="http://schemas.microsoft.com/office/drawing/2014/main" id="{72CF75EE-624E-7818-7C80-44DC8D524337}"/>
              </a:ext>
            </a:extLst>
          </p:cNvPr>
          <p:cNvGraphicFramePr/>
          <p:nvPr>
            <p:extLst>
              <p:ext uri="{D42A27DB-BD31-4B8C-83A1-F6EECF244321}">
                <p14:modId xmlns:p14="http://schemas.microsoft.com/office/powerpoint/2010/main" val="160129788"/>
              </p:ext>
            </p:extLst>
          </p:nvPr>
        </p:nvGraphicFramePr>
        <p:xfrm>
          <a:off x="6221759" y="3718747"/>
          <a:ext cx="5760000" cy="2649396"/>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 name="Gráfico 1">
            <a:extLst>
              <a:ext uri="{FF2B5EF4-FFF2-40B4-BE49-F238E27FC236}">
                <a16:creationId xmlns:a16="http://schemas.microsoft.com/office/drawing/2014/main" id="{A0F79011-7E9D-D990-F16F-0A37461CC6C1}"/>
              </a:ext>
            </a:extLst>
          </p:cNvPr>
          <p:cNvGraphicFramePr/>
          <p:nvPr>
            <p:extLst>
              <p:ext uri="{D42A27DB-BD31-4B8C-83A1-F6EECF244321}">
                <p14:modId xmlns:p14="http://schemas.microsoft.com/office/powerpoint/2010/main" val="358183641"/>
              </p:ext>
            </p:extLst>
          </p:nvPr>
        </p:nvGraphicFramePr>
        <p:xfrm>
          <a:off x="273120" y="704217"/>
          <a:ext cx="5760000" cy="2855411"/>
        </p:xfrm>
        <a:graphic>
          <a:graphicData uri="http://schemas.openxmlformats.org/drawingml/2006/chart">
            <c:chart xmlns:c="http://schemas.openxmlformats.org/drawingml/2006/chart" xmlns:r="http://schemas.openxmlformats.org/officeDocument/2006/relationships" r:id="rId6"/>
          </a:graphicData>
        </a:graphic>
      </p:graphicFrame>
      <p:sp>
        <p:nvSpPr>
          <p:cNvPr id="3" name="CuadroTexto 2">
            <a:extLst>
              <a:ext uri="{FF2B5EF4-FFF2-40B4-BE49-F238E27FC236}">
                <a16:creationId xmlns:a16="http://schemas.microsoft.com/office/drawing/2014/main" id="{9ED478C0-9B88-7D81-8D16-29F3784178D7}"/>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Septiembre 2026</a:t>
            </a:r>
          </a:p>
        </p:txBody>
      </p:sp>
    </p:spTree>
    <p:extLst>
      <p:ext uri="{BB962C8B-B14F-4D97-AF65-F5344CB8AC3E}">
        <p14:creationId xmlns:p14="http://schemas.microsoft.com/office/powerpoint/2010/main" val="137562012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D4A8B-5CB4-7FEA-4C1C-392784119B9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B24BE51-F183-EE28-7E8A-9B9B90E25F86}"/>
              </a:ext>
            </a:extLst>
          </p:cNvPr>
          <p:cNvSpPr>
            <a:spLocks noGrp="1"/>
          </p:cNvSpPr>
          <p:nvPr>
            <p:ph type="ctrTitle"/>
          </p:nvPr>
        </p:nvSpPr>
        <p:spPr>
          <a:xfrm>
            <a:off x="273120" y="0"/>
            <a:ext cx="11645759" cy="786278"/>
          </a:xfrm>
        </p:spPr>
        <p:txBody>
          <a:bodyPr/>
          <a:lstStyle/>
          <a:p>
            <a:r>
              <a:rPr lang="es-CO" noProof="0"/>
              <a:t>Oportunidades inicio de tratamientos 2025/2026</a:t>
            </a:r>
          </a:p>
        </p:txBody>
      </p:sp>
      <p:graphicFrame>
        <p:nvGraphicFramePr>
          <p:cNvPr id="6" name="Gráfico 5">
            <a:extLst>
              <a:ext uri="{FF2B5EF4-FFF2-40B4-BE49-F238E27FC236}">
                <a16:creationId xmlns:a16="http://schemas.microsoft.com/office/drawing/2014/main" id="{BFDCE6D4-C15A-48F3-2467-F4B40D6FCA1A}"/>
              </a:ext>
            </a:extLst>
          </p:cNvPr>
          <p:cNvGraphicFramePr/>
          <p:nvPr>
            <p:extLst>
              <p:ext uri="{D42A27DB-BD31-4B8C-83A1-F6EECF244321}">
                <p14:modId xmlns:p14="http://schemas.microsoft.com/office/powerpoint/2010/main" val="1074381201"/>
              </p:ext>
            </p:extLst>
          </p:nvPr>
        </p:nvGraphicFramePr>
        <p:xfrm>
          <a:off x="120720" y="764604"/>
          <a:ext cx="5940000" cy="270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Gráfico 8">
            <a:extLst>
              <a:ext uri="{FF2B5EF4-FFF2-40B4-BE49-F238E27FC236}">
                <a16:creationId xmlns:a16="http://schemas.microsoft.com/office/drawing/2014/main" id="{7267B9CB-7C69-D0A8-54DB-62BB47EED51E}"/>
              </a:ext>
            </a:extLst>
          </p:cNvPr>
          <p:cNvGraphicFramePr/>
          <p:nvPr>
            <p:extLst>
              <p:ext uri="{D42A27DB-BD31-4B8C-83A1-F6EECF244321}">
                <p14:modId xmlns:p14="http://schemas.microsoft.com/office/powerpoint/2010/main" val="197601209"/>
              </p:ext>
            </p:extLst>
          </p:nvPr>
        </p:nvGraphicFramePr>
        <p:xfrm>
          <a:off x="6152042" y="779118"/>
          <a:ext cx="5940000" cy="270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Gráfico 4">
            <a:extLst>
              <a:ext uri="{FF2B5EF4-FFF2-40B4-BE49-F238E27FC236}">
                <a16:creationId xmlns:a16="http://schemas.microsoft.com/office/drawing/2014/main" id="{DE224A5D-6BAC-8250-3713-3C0F5C076012}"/>
              </a:ext>
            </a:extLst>
          </p:cNvPr>
          <p:cNvGraphicFramePr/>
          <p:nvPr>
            <p:extLst>
              <p:ext uri="{D42A27DB-BD31-4B8C-83A1-F6EECF244321}">
                <p14:modId xmlns:p14="http://schemas.microsoft.com/office/powerpoint/2010/main" val="2075181429"/>
              </p:ext>
            </p:extLst>
          </p:nvPr>
        </p:nvGraphicFramePr>
        <p:xfrm>
          <a:off x="120720" y="3673202"/>
          <a:ext cx="5940000" cy="2700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Gráfico 9">
            <a:extLst>
              <a:ext uri="{FF2B5EF4-FFF2-40B4-BE49-F238E27FC236}">
                <a16:creationId xmlns:a16="http://schemas.microsoft.com/office/drawing/2014/main" id="{CEC19392-6B94-37D2-30AE-D939D3BC3980}"/>
              </a:ext>
            </a:extLst>
          </p:cNvPr>
          <p:cNvGraphicFramePr/>
          <p:nvPr>
            <p:extLst>
              <p:ext uri="{D42A27DB-BD31-4B8C-83A1-F6EECF244321}">
                <p14:modId xmlns:p14="http://schemas.microsoft.com/office/powerpoint/2010/main" val="1085335710"/>
              </p:ext>
            </p:extLst>
          </p:nvPr>
        </p:nvGraphicFramePr>
        <p:xfrm>
          <a:off x="6131282" y="3680059"/>
          <a:ext cx="5940000" cy="2700000"/>
        </p:xfrm>
        <a:graphic>
          <a:graphicData uri="http://schemas.openxmlformats.org/drawingml/2006/chart">
            <c:chart xmlns:c="http://schemas.openxmlformats.org/drawingml/2006/chart" xmlns:r="http://schemas.openxmlformats.org/officeDocument/2006/relationships" r:id="rId5"/>
          </a:graphicData>
        </a:graphic>
      </p:graphicFrame>
      <p:sp>
        <p:nvSpPr>
          <p:cNvPr id="4" name="CuadroTexto 3">
            <a:extLst>
              <a:ext uri="{FF2B5EF4-FFF2-40B4-BE49-F238E27FC236}">
                <a16:creationId xmlns:a16="http://schemas.microsoft.com/office/drawing/2014/main" id="{0E34D01C-7667-1E61-39D9-B3CF73C90B86}"/>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a:t>
            </a:r>
            <a:r>
              <a:rPr lang="es-CO" sz="1200" i="1">
                <a:solidFill>
                  <a:schemeClr val="tx2"/>
                </a:solidFill>
              </a:rPr>
              <a:t>Septiembre</a:t>
            </a:r>
            <a:r>
              <a:rPr lang="es-CO" sz="1200" i="1" noProof="0">
                <a:solidFill>
                  <a:schemeClr val="tx2"/>
                </a:solidFill>
              </a:rPr>
              <a:t> 2026</a:t>
            </a:r>
          </a:p>
        </p:txBody>
      </p:sp>
    </p:spTree>
    <p:extLst>
      <p:ext uri="{BB962C8B-B14F-4D97-AF65-F5344CB8AC3E}">
        <p14:creationId xmlns:p14="http://schemas.microsoft.com/office/powerpoint/2010/main" val="13247048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DCE78-BBE3-DF3C-AC8F-2378E07A523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B2E7978-4D62-C262-2CEF-642307DBBCB5}"/>
              </a:ext>
            </a:extLst>
          </p:cNvPr>
          <p:cNvSpPr>
            <a:spLocks noGrp="1"/>
          </p:cNvSpPr>
          <p:nvPr>
            <p:ph type="ctrTitle"/>
          </p:nvPr>
        </p:nvSpPr>
        <p:spPr/>
        <p:txBody>
          <a:bodyPr>
            <a:normAutofit/>
          </a:bodyPr>
          <a:lstStyle/>
          <a:p>
            <a:pPr algn="ctr"/>
            <a:r>
              <a:rPr lang="es-CO" noProof="0"/>
              <a:t>Cuidados Paliativos </a:t>
            </a:r>
            <a:r>
              <a:rPr lang="es-CO"/>
              <a:t>Emssanar</a:t>
            </a:r>
            <a:r>
              <a:rPr lang="es-CO" noProof="0"/>
              <a:t> 2026</a:t>
            </a:r>
          </a:p>
        </p:txBody>
      </p:sp>
      <p:sp>
        <p:nvSpPr>
          <p:cNvPr id="3" name="CuadroTexto 2">
            <a:extLst>
              <a:ext uri="{FF2B5EF4-FFF2-40B4-BE49-F238E27FC236}">
                <a16:creationId xmlns:a16="http://schemas.microsoft.com/office/drawing/2014/main" id="{C330CB04-A1CE-430C-64A0-F6F0BB916BF5}"/>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Septiembre 2026</a:t>
            </a:r>
          </a:p>
        </p:txBody>
      </p:sp>
      <p:sp>
        <p:nvSpPr>
          <p:cNvPr id="7" name="CuadroTexto 6">
            <a:extLst>
              <a:ext uri="{FF2B5EF4-FFF2-40B4-BE49-F238E27FC236}">
                <a16:creationId xmlns:a16="http://schemas.microsoft.com/office/drawing/2014/main" id="{FCA56DE9-45B4-3A68-AB62-0EAC1AE21834}"/>
              </a:ext>
            </a:extLst>
          </p:cNvPr>
          <p:cNvSpPr txBox="1"/>
          <p:nvPr/>
        </p:nvSpPr>
        <p:spPr>
          <a:xfrm>
            <a:off x="2468880" y="3718560"/>
            <a:ext cx="184731" cy="369332"/>
          </a:xfrm>
          <a:prstGeom prst="rect">
            <a:avLst/>
          </a:prstGeom>
          <a:noFill/>
        </p:spPr>
        <p:txBody>
          <a:bodyPr wrap="none" rtlCol="0">
            <a:spAutoFit/>
          </a:bodyPr>
          <a:lstStyle/>
          <a:p>
            <a:endParaRPr lang="es-CO"/>
          </a:p>
        </p:txBody>
      </p:sp>
      <p:graphicFrame>
        <p:nvGraphicFramePr>
          <p:cNvPr id="10" name="Tabla 9">
            <a:extLst>
              <a:ext uri="{FF2B5EF4-FFF2-40B4-BE49-F238E27FC236}">
                <a16:creationId xmlns:a16="http://schemas.microsoft.com/office/drawing/2014/main" id="{7A943C39-EDB5-2093-1B37-DFBB8BD3857A}"/>
              </a:ext>
            </a:extLst>
          </p:cNvPr>
          <p:cNvGraphicFramePr>
            <a:graphicFrameLocks noGrp="1"/>
          </p:cNvGraphicFramePr>
          <p:nvPr>
            <p:extLst>
              <p:ext uri="{D42A27DB-BD31-4B8C-83A1-F6EECF244321}">
                <p14:modId xmlns:p14="http://schemas.microsoft.com/office/powerpoint/2010/main" val="591604695"/>
              </p:ext>
            </p:extLst>
          </p:nvPr>
        </p:nvGraphicFramePr>
        <p:xfrm>
          <a:off x="838201" y="831357"/>
          <a:ext cx="10515599" cy="3365150"/>
        </p:xfrm>
        <a:graphic>
          <a:graphicData uri="http://schemas.openxmlformats.org/drawingml/2006/table">
            <a:tbl>
              <a:tblPr/>
              <a:tblGrid>
                <a:gridCol w="2586982">
                  <a:extLst>
                    <a:ext uri="{9D8B030D-6E8A-4147-A177-3AD203B41FA5}">
                      <a16:colId xmlns:a16="http://schemas.microsoft.com/office/drawing/2014/main" val="207148575"/>
                    </a:ext>
                  </a:extLst>
                </a:gridCol>
                <a:gridCol w="1844421">
                  <a:extLst>
                    <a:ext uri="{9D8B030D-6E8A-4147-A177-3AD203B41FA5}">
                      <a16:colId xmlns:a16="http://schemas.microsoft.com/office/drawing/2014/main" val="526690011"/>
                    </a:ext>
                  </a:extLst>
                </a:gridCol>
                <a:gridCol w="2048027">
                  <a:extLst>
                    <a:ext uri="{9D8B030D-6E8A-4147-A177-3AD203B41FA5}">
                      <a16:colId xmlns:a16="http://schemas.microsoft.com/office/drawing/2014/main" val="4140135723"/>
                    </a:ext>
                  </a:extLst>
                </a:gridCol>
                <a:gridCol w="1928259">
                  <a:extLst>
                    <a:ext uri="{9D8B030D-6E8A-4147-A177-3AD203B41FA5}">
                      <a16:colId xmlns:a16="http://schemas.microsoft.com/office/drawing/2014/main" val="1247773101"/>
                    </a:ext>
                  </a:extLst>
                </a:gridCol>
                <a:gridCol w="2107910">
                  <a:extLst>
                    <a:ext uri="{9D8B030D-6E8A-4147-A177-3AD203B41FA5}">
                      <a16:colId xmlns:a16="http://schemas.microsoft.com/office/drawing/2014/main" val="637011169"/>
                    </a:ext>
                  </a:extLst>
                </a:gridCol>
              </a:tblGrid>
              <a:tr h="404909">
                <a:tc>
                  <a:txBody>
                    <a:bodyPr/>
                    <a:lstStyle/>
                    <a:p>
                      <a:pPr algn="ctr" rtl="0" fontAlgn="ctr">
                        <a:buNone/>
                      </a:pPr>
                      <a:r>
                        <a:rPr lang="es-CO" sz="1500" b="1" i="0" u="none" strike="noStrike">
                          <a:solidFill>
                            <a:srgbClr val="FFFFFF"/>
                          </a:solidFill>
                          <a:effectLst/>
                          <a:latin typeface="Muli"/>
                        </a:rPr>
                        <a:t>PREVALENCIA</a:t>
                      </a:r>
                    </a:p>
                  </a:txBody>
                  <a:tcPr marL="8993" marR="8993" marT="8993" marB="43166" anchor="ctr">
                    <a:lnL w="12700" cap="flat" cmpd="sng" algn="ctr">
                      <a:solidFill>
                        <a:srgbClr val="80589F"/>
                      </a:solidFill>
                      <a:prstDash val="solid"/>
                      <a:round/>
                      <a:headEnd type="none" w="med" len="med"/>
                      <a:tailEnd type="none" w="med" len="med"/>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7030A0"/>
                    </a:solidFill>
                  </a:tcPr>
                </a:tc>
                <a:tc>
                  <a:txBody>
                    <a:bodyPr/>
                    <a:lstStyle/>
                    <a:p>
                      <a:pPr algn="ctr" rtl="0" fontAlgn="ctr">
                        <a:buNone/>
                      </a:pPr>
                      <a:r>
                        <a:rPr lang="es-CO" sz="1500" b="1" i="0" u="none" strike="noStrike">
                          <a:solidFill>
                            <a:srgbClr val="FFFFFF"/>
                          </a:solidFill>
                          <a:effectLst/>
                          <a:latin typeface="Muli"/>
                        </a:rPr>
                        <a:t>PSICOLOGÍA</a:t>
                      </a:r>
                    </a:p>
                  </a:txBody>
                  <a:tcPr marL="8993" marR="8993" marT="8993" marB="43166"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7030A0"/>
                    </a:solidFill>
                  </a:tcPr>
                </a:tc>
                <a:tc>
                  <a:txBody>
                    <a:bodyPr/>
                    <a:lstStyle/>
                    <a:p>
                      <a:pPr algn="ctr" rtl="0" fontAlgn="ctr">
                        <a:buNone/>
                      </a:pPr>
                      <a:r>
                        <a:rPr lang="es-CO" sz="1500" b="1" i="0" u="none" strike="noStrike">
                          <a:solidFill>
                            <a:srgbClr val="FFFFFF"/>
                          </a:solidFill>
                          <a:effectLst/>
                          <a:latin typeface="Muli"/>
                        </a:rPr>
                        <a:t>TRABAJO SOCIAL</a:t>
                      </a:r>
                    </a:p>
                  </a:txBody>
                  <a:tcPr marL="8993" marR="8993" marT="8993" marB="43166"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7030A0"/>
                    </a:solidFill>
                  </a:tcPr>
                </a:tc>
                <a:tc>
                  <a:txBody>
                    <a:bodyPr/>
                    <a:lstStyle/>
                    <a:p>
                      <a:pPr algn="ctr" rtl="0" fontAlgn="ctr">
                        <a:buNone/>
                      </a:pPr>
                      <a:r>
                        <a:rPr lang="es-CO" sz="1500" b="1" i="0" u="none" strike="noStrike">
                          <a:solidFill>
                            <a:srgbClr val="FFFFFF"/>
                          </a:solidFill>
                          <a:effectLst/>
                          <a:latin typeface="Muli"/>
                        </a:rPr>
                        <a:t>DOLOR Y CP</a:t>
                      </a:r>
                    </a:p>
                  </a:txBody>
                  <a:tcPr marL="8993" marR="8993" marT="8993" marB="43166"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7030A0"/>
                    </a:solidFill>
                  </a:tcPr>
                </a:tc>
                <a:tc>
                  <a:txBody>
                    <a:bodyPr/>
                    <a:lstStyle/>
                    <a:p>
                      <a:pPr algn="ctr" rtl="0" fontAlgn="ctr">
                        <a:buNone/>
                      </a:pPr>
                      <a:r>
                        <a:rPr lang="es-CO" sz="1500" b="1" i="0" u="none" strike="noStrike">
                          <a:solidFill>
                            <a:srgbClr val="FFFFFF"/>
                          </a:solidFill>
                          <a:effectLst/>
                          <a:latin typeface="Muli"/>
                        </a:rPr>
                        <a:t>NUTRICIÓN</a:t>
                      </a:r>
                    </a:p>
                  </a:txBody>
                  <a:tcPr marL="8993" marR="8993" marT="8993" marB="43166" anchor="ctr">
                    <a:lnL>
                      <a:noFill/>
                    </a:lnL>
                    <a:lnR w="12700" cap="flat" cmpd="sng" algn="ctr">
                      <a:solidFill>
                        <a:srgbClr val="80589F"/>
                      </a:solidFill>
                      <a:prstDash val="solid"/>
                      <a:round/>
                      <a:headEnd type="none" w="med" len="med"/>
                      <a:tailEnd type="none" w="med" len="med"/>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7030A0"/>
                    </a:solidFill>
                  </a:tcPr>
                </a:tc>
                <a:extLst>
                  <a:ext uri="{0D108BD9-81ED-4DB2-BD59-A6C34878D82A}">
                    <a16:rowId xmlns:a16="http://schemas.microsoft.com/office/drawing/2014/main" val="2180149028"/>
                  </a:ext>
                </a:extLst>
              </a:tr>
              <a:tr h="263289">
                <a:tc>
                  <a:txBody>
                    <a:bodyPr/>
                    <a:lstStyle/>
                    <a:p>
                      <a:pPr algn="ctr" rtl="0" fontAlgn="ctr">
                        <a:buNone/>
                      </a:pPr>
                      <a:r>
                        <a:rPr lang="es-CO" sz="1500" b="0" i="0" u="none" strike="noStrike">
                          <a:solidFill>
                            <a:srgbClr val="80589F"/>
                          </a:solidFill>
                          <a:effectLst/>
                          <a:latin typeface="Muli"/>
                        </a:rPr>
                        <a:t>Cobertura enero 2026</a:t>
                      </a:r>
                    </a:p>
                  </a:txBody>
                  <a:tcPr marL="8993" marR="8993" marT="8993" marB="43166" anchor="ctr">
                    <a:lnL w="12700" cap="flat" cmpd="sng" algn="ctr">
                      <a:solidFill>
                        <a:srgbClr val="80589F"/>
                      </a:solidFill>
                      <a:prstDash val="solid"/>
                      <a:round/>
                      <a:headEnd type="none" w="med" len="med"/>
                      <a:tailEnd type="none" w="med" len="med"/>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500" b="0" i="0" u="none" strike="noStrike">
                          <a:solidFill>
                            <a:srgbClr val="80589F"/>
                          </a:solidFill>
                          <a:effectLst/>
                          <a:latin typeface="Muli"/>
                        </a:rPr>
                        <a:t>11%</a:t>
                      </a:r>
                    </a:p>
                  </a:txBody>
                  <a:tcPr marL="8993" marR="8993" marT="8993" marB="43166"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500" b="0" i="0" u="none" strike="noStrike">
                          <a:solidFill>
                            <a:srgbClr val="80589F"/>
                          </a:solidFill>
                          <a:effectLst/>
                          <a:latin typeface="Muli"/>
                        </a:rPr>
                        <a:t>11%</a:t>
                      </a:r>
                    </a:p>
                  </a:txBody>
                  <a:tcPr marL="8993" marR="8993" marT="8993" marB="43166"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500" b="0" i="0" u="none" strike="noStrike">
                          <a:solidFill>
                            <a:srgbClr val="80589F"/>
                          </a:solidFill>
                          <a:effectLst/>
                          <a:latin typeface="Muli"/>
                        </a:rPr>
                        <a:t>2%</a:t>
                      </a:r>
                    </a:p>
                  </a:txBody>
                  <a:tcPr marL="8993" marR="8993" marT="8993" marB="43166"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500" b="0" i="0" u="none" strike="noStrike">
                          <a:solidFill>
                            <a:srgbClr val="80589F"/>
                          </a:solidFill>
                          <a:effectLst/>
                          <a:latin typeface="Muli"/>
                        </a:rPr>
                        <a:t>8%</a:t>
                      </a:r>
                    </a:p>
                  </a:txBody>
                  <a:tcPr marL="8993" marR="8993" marT="8993" marB="43166"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extLst>
                  <a:ext uri="{0D108BD9-81ED-4DB2-BD59-A6C34878D82A}">
                    <a16:rowId xmlns:a16="http://schemas.microsoft.com/office/drawing/2014/main" val="13816389"/>
                  </a:ext>
                </a:extLst>
              </a:tr>
              <a:tr h="404909">
                <a:tc>
                  <a:txBody>
                    <a:bodyPr/>
                    <a:lstStyle/>
                    <a:p>
                      <a:pPr algn="ctr" rtl="0" fontAlgn="ctr">
                        <a:buNone/>
                      </a:pPr>
                      <a:r>
                        <a:rPr lang="es-CO" sz="1500" b="0" i="0" u="none" strike="noStrike">
                          <a:solidFill>
                            <a:srgbClr val="80589F"/>
                          </a:solidFill>
                          <a:effectLst/>
                          <a:latin typeface="Muli"/>
                        </a:rPr>
                        <a:t>Cobertura Septiembre 2026</a:t>
                      </a:r>
                    </a:p>
                  </a:txBody>
                  <a:tcPr marL="8993" marR="8993" marT="8993" marB="43166" anchor="ctr">
                    <a:lnL w="12700" cap="flat" cmpd="sng" algn="ctr">
                      <a:solidFill>
                        <a:srgbClr val="80589F"/>
                      </a:solidFill>
                      <a:prstDash val="solid"/>
                      <a:round/>
                      <a:headEnd type="none" w="med" len="med"/>
                      <a:tailEnd type="none" w="med" len="med"/>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500" b="0" i="0" u="none" strike="noStrike">
                          <a:solidFill>
                            <a:srgbClr val="80589F"/>
                          </a:solidFill>
                          <a:effectLst/>
                          <a:latin typeface="Muli"/>
                        </a:rPr>
                        <a:t>35%</a:t>
                      </a:r>
                    </a:p>
                  </a:txBody>
                  <a:tcPr marL="8993" marR="8993" marT="8993" marB="43166"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500" b="0" i="0" u="none" strike="noStrike">
                          <a:solidFill>
                            <a:srgbClr val="80589F"/>
                          </a:solidFill>
                          <a:effectLst/>
                          <a:latin typeface="Muli"/>
                        </a:rPr>
                        <a:t>38%</a:t>
                      </a:r>
                    </a:p>
                  </a:txBody>
                  <a:tcPr marL="8993" marR="8993" marT="8993" marB="43166"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500" b="0" i="0" u="none" strike="noStrike">
                          <a:solidFill>
                            <a:srgbClr val="80589F"/>
                          </a:solidFill>
                          <a:effectLst/>
                          <a:latin typeface="Muli"/>
                        </a:rPr>
                        <a:t>10%</a:t>
                      </a:r>
                    </a:p>
                  </a:txBody>
                  <a:tcPr marL="8993" marR="8993" marT="8993" marB="43166"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500" b="0" i="0" u="none" strike="noStrike">
                          <a:solidFill>
                            <a:srgbClr val="80589F"/>
                          </a:solidFill>
                          <a:effectLst/>
                          <a:latin typeface="Muli"/>
                        </a:rPr>
                        <a:t>36%</a:t>
                      </a:r>
                    </a:p>
                  </a:txBody>
                  <a:tcPr marL="8993" marR="8993" marT="8993" marB="43166"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extLst>
                  <a:ext uri="{0D108BD9-81ED-4DB2-BD59-A6C34878D82A}">
                    <a16:rowId xmlns:a16="http://schemas.microsoft.com/office/drawing/2014/main" val="2754813086"/>
                  </a:ext>
                </a:extLst>
              </a:tr>
              <a:tr h="291872">
                <a:tc>
                  <a:txBody>
                    <a:bodyPr/>
                    <a:lstStyle/>
                    <a:p>
                      <a:pPr algn="ctr" rtl="0" fontAlgn="ctr">
                        <a:buNone/>
                      </a:pPr>
                      <a:endParaRPr lang="es-CO" sz="1700" b="0" i="0" u="none" strike="noStrike">
                        <a:solidFill>
                          <a:srgbClr val="80589F"/>
                        </a:solidFill>
                        <a:effectLst/>
                        <a:latin typeface="Muli"/>
                      </a:endParaRPr>
                    </a:p>
                  </a:txBody>
                  <a:tcPr marL="8993" marR="8993" marT="8993" marB="43166" anchor="ctr">
                    <a:lnL w="12700" cap="flat" cmpd="sng" algn="ctr">
                      <a:solidFill>
                        <a:srgbClr val="80589F"/>
                      </a:solidFill>
                      <a:prstDash val="solid"/>
                      <a:round/>
                      <a:headEnd type="none" w="med" len="med"/>
                      <a:tailEnd type="none" w="med" len="med"/>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endParaRPr lang="es-CO" sz="1700" b="0" i="0" u="none" strike="noStrike">
                        <a:solidFill>
                          <a:srgbClr val="80589F"/>
                        </a:solidFill>
                        <a:effectLst/>
                        <a:latin typeface="Muli"/>
                      </a:endParaRPr>
                    </a:p>
                  </a:txBody>
                  <a:tcPr marL="8993" marR="8993" marT="8993" marB="43166"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endParaRPr lang="es-CO" sz="1700" b="0" i="0" u="none" strike="noStrike">
                        <a:solidFill>
                          <a:srgbClr val="80589F"/>
                        </a:solidFill>
                        <a:effectLst/>
                        <a:latin typeface="Muli"/>
                      </a:endParaRPr>
                    </a:p>
                  </a:txBody>
                  <a:tcPr marL="8993" marR="8993" marT="8993" marB="43166"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endParaRPr lang="es-CO" sz="1700" b="0" i="0" u="none" strike="noStrike">
                        <a:solidFill>
                          <a:srgbClr val="80589F"/>
                        </a:solidFill>
                        <a:effectLst/>
                        <a:latin typeface="Muli"/>
                      </a:endParaRPr>
                    </a:p>
                  </a:txBody>
                  <a:tcPr marL="8993" marR="8993" marT="8993" marB="43166"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endParaRPr lang="es-CO" sz="1700" b="0" i="0" u="none" strike="noStrike">
                        <a:solidFill>
                          <a:srgbClr val="80589F"/>
                        </a:solidFill>
                        <a:effectLst/>
                        <a:latin typeface="Muli"/>
                      </a:endParaRPr>
                    </a:p>
                  </a:txBody>
                  <a:tcPr marL="8993" marR="8993" marT="8993" marB="43166" anchor="ctr">
                    <a:lnL>
                      <a:noFill/>
                    </a:lnL>
                    <a:lnR w="12700" cap="flat" cmpd="sng" algn="ctr">
                      <a:solidFill>
                        <a:srgbClr val="80589F"/>
                      </a:solidFill>
                      <a:prstDash val="solid"/>
                      <a:round/>
                      <a:headEnd type="none" w="med" len="med"/>
                      <a:tailEnd type="none" w="med" len="med"/>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extLst>
                  <a:ext uri="{0D108BD9-81ED-4DB2-BD59-A6C34878D82A}">
                    <a16:rowId xmlns:a16="http://schemas.microsoft.com/office/drawing/2014/main" val="2769625043"/>
                  </a:ext>
                </a:extLst>
              </a:tr>
              <a:tr h="263289">
                <a:tc>
                  <a:txBody>
                    <a:bodyPr/>
                    <a:lstStyle/>
                    <a:p>
                      <a:pPr algn="ctr" rtl="0" fontAlgn="ctr">
                        <a:buNone/>
                      </a:pPr>
                      <a:r>
                        <a:rPr lang="es-CO" sz="1500" b="0" i="0" u="none" strike="noStrike">
                          <a:solidFill>
                            <a:srgbClr val="FFFFFF"/>
                          </a:solidFill>
                          <a:effectLst/>
                          <a:latin typeface="Muli"/>
                        </a:rPr>
                        <a:t>INCIDENCIA</a:t>
                      </a:r>
                    </a:p>
                  </a:txBody>
                  <a:tcPr marL="8993" marR="8993" marT="8993" marB="43166" anchor="ctr">
                    <a:lnL w="12700" cap="flat" cmpd="sng" algn="ctr">
                      <a:solidFill>
                        <a:srgbClr val="80589F"/>
                      </a:solidFill>
                      <a:prstDash val="solid"/>
                      <a:round/>
                      <a:headEnd type="none" w="med" len="med"/>
                      <a:tailEnd type="none" w="med" len="med"/>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7030A0"/>
                    </a:solidFill>
                  </a:tcPr>
                </a:tc>
                <a:tc>
                  <a:txBody>
                    <a:bodyPr/>
                    <a:lstStyle/>
                    <a:p>
                      <a:pPr algn="ctr" rtl="0" fontAlgn="ctr">
                        <a:buNone/>
                      </a:pPr>
                      <a:r>
                        <a:rPr lang="es-CO" sz="1500" b="0" i="0" u="none" strike="noStrike">
                          <a:solidFill>
                            <a:srgbClr val="FFFFFF"/>
                          </a:solidFill>
                          <a:effectLst/>
                          <a:latin typeface="Muli"/>
                        </a:rPr>
                        <a:t>PSICOLOGÍA</a:t>
                      </a:r>
                    </a:p>
                  </a:txBody>
                  <a:tcPr marL="8993" marR="8993" marT="8993" marB="43166"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7030A0"/>
                    </a:solidFill>
                  </a:tcPr>
                </a:tc>
                <a:tc>
                  <a:txBody>
                    <a:bodyPr/>
                    <a:lstStyle/>
                    <a:p>
                      <a:pPr algn="ctr" rtl="0" fontAlgn="ctr">
                        <a:buNone/>
                      </a:pPr>
                      <a:r>
                        <a:rPr lang="es-CO" sz="1500" b="0" i="0" u="none" strike="noStrike">
                          <a:solidFill>
                            <a:srgbClr val="FFFFFF"/>
                          </a:solidFill>
                          <a:effectLst/>
                          <a:latin typeface="Muli"/>
                        </a:rPr>
                        <a:t>TRABAJO SOCIAL</a:t>
                      </a:r>
                    </a:p>
                  </a:txBody>
                  <a:tcPr marL="8993" marR="8993" marT="8993" marB="43166"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7030A0"/>
                    </a:solidFill>
                  </a:tcPr>
                </a:tc>
                <a:tc>
                  <a:txBody>
                    <a:bodyPr/>
                    <a:lstStyle/>
                    <a:p>
                      <a:pPr algn="ctr" rtl="0" fontAlgn="ctr">
                        <a:buNone/>
                      </a:pPr>
                      <a:r>
                        <a:rPr lang="es-CO" sz="1500" b="0" i="0" u="none" strike="noStrike">
                          <a:solidFill>
                            <a:srgbClr val="FFFFFF"/>
                          </a:solidFill>
                          <a:effectLst/>
                          <a:latin typeface="Muli"/>
                        </a:rPr>
                        <a:t>DOLOR Y CP</a:t>
                      </a:r>
                    </a:p>
                  </a:txBody>
                  <a:tcPr marL="8993" marR="8993" marT="8993" marB="43166"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7030A0"/>
                    </a:solidFill>
                  </a:tcPr>
                </a:tc>
                <a:tc>
                  <a:txBody>
                    <a:bodyPr/>
                    <a:lstStyle/>
                    <a:p>
                      <a:pPr algn="ctr" rtl="0" fontAlgn="ctr">
                        <a:buNone/>
                      </a:pPr>
                      <a:r>
                        <a:rPr lang="es-CO" sz="1500" b="0" i="0" u="none" strike="noStrike">
                          <a:solidFill>
                            <a:srgbClr val="FFFFFF"/>
                          </a:solidFill>
                          <a:effectLst/>
                          <a:latin typeface="Muli"/>
                        </a:rPr>
                        <a:t>NUTRICIÓN</a:t>
                      </a:r>
                    </a:p>
                  </a:txBody>
                  <a:tcPr marL="8993" marR="8993" marT="8993" marB="43166" anchor="ctr">
                    <a:lnL>
                      <a:noFill/>
                    </a:lnL>
                    <a:lnR w="12700" cap="flat" cmpd="sng" algn="ctr">
                      <a:solidFill>
                        <a:srgbClr val="80589F"/>
                      </a:solidFill>
                      <a:prstDash val="solid"/>
                      <a:round/>
                      <a:headEnd type="none" w="med" len="med"/>
                      <a:tailEnd type="none" w="med" len="med"/>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7030A0"/>
                    </a:solidFill>
                  </a:tcPr>
                </a:tc>
                <a:extLst>
                  <a:ext uri="{0D108BD9-81ED-4DB2-BD59-A6C34878D82A}">
                    <a16:rowId xmlns:a16="http://schemas.microsoft.com/office/drawing/2014/main" val="2120539351"/>
                  </a:ext>
                </a:extLst>
              </a:tr>
              <a:tr h="263289">
                <a:tc>
                  <a:txBody>
                    <a:bodyPr/>
                    <a:lstStyle/>
                    <a:p>
                      <a:pPr algn="ctr" rtl="0" fontAlgn="ctr">
                        <a:buNone/>
                      </a:pPr>
                      <a:r>
                        <a:rPr lang="es-CO" sz="1500" b="0" i="0" u="none" strike="noStrike">
                          <a:solidFill>
                            <a:srgbClr val="80589F"/>
                          </a:solidFill>
                          <a:effectLst/>
                          <a:latin typeface="Muli"/>
                        </a:rPr>
                        <a:t>Cobertura enero 2026</a:t>
                      </a:r>
                    </a:p>
                  </a:txBody>
                  <a:tcPr marL="8993" marR="8993" marT="8993" marB="43166" anchor="ctr">
                    <a:lnL w="12700" cap="flat" cmpd="sng" algn="ctr">
                      <a:solidFill>
                        <a:srgbClr val="80589F"/>
                      </a:solidFill>
                      <a:prstDash val="solid"/>
                      <a:round/>
                      <a:headEnd type="none" w="med" len="med"/>
                      <a:tailEnd type="none" w="med" len="med"/>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500" b="0" i="0" u="none" strike="noStrike">
                          <a:solidFill>
                            <a:srgbClr val="80589F"/>
                          </a:solidFill>
                          <a:effectLst/>
                          <a:latin typeface="Muli"/>
                        </a:rPr>
                        <a:t>20%</a:t>
                      </a:r>
                    </a:p>
                  </a:txBody>
                  <a:tcPr marL="8993" marR="8993" marT="8993" marB="43166"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500" b="0" i="0" u="none" strike="noStrike">
                          <a:solidFill>
                            <a:srgbClr val="80589F"/>
                          </a:solidFill>
                          <a:effectLst/>
                          <a:latin typeface="Muli"/>
                        </a:rPr>
                        <a:t>20%</a:t>
                      </a:r>
                    </a:p>
                  </a:txBody>
                  <a:tcPr marL="8993" marR="8993" marT="8993" marB="43166"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500" b="0" i="0" u="none" strike="noStrike">
                          <a:solidFill>
                            <a:srgbClr val="80589F"/>
                          </a:solidFill>
                          <a:effectLst/>
                          <a:latin typeface="Muli"/>
                        </a:rPr>
                        <a:t>5%</a:t>
                      </a:r>
                    </a:p>
                  </a:txBody>
                  <a:tcPr marL="8993" marR="8993" marT="8993" marB="43166"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500" b="0" i="0" u="none" strike="noStrike">
                          <a:solidFill>
                            <a:srgbClr val="80589F"/>
                          </a:solidFill>
                          <a:effectLst/>
                          <a:latin typeface="Muli"/>
                        </a:rPr>
                        <a:t>19%</a:t>
                      </a:r>
                    </a:p>
                  </a:txBody>
                  <a:tcPr marL="8993" marR="8993" marT="8993" marB="43166"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extLst>
                  <a:ext uri="{0D108BD9-81ED-4DB2-BD59-A6C34878D82A}">
                    <a16:rowId xmlns:a16="http://schemas.microsoft.com/office/drawing/2014/main" val="2227242379"/>
                  </a:ext>
                </a:extLst>
              </a:tr>
              <a:tr h="404909">
                <a:tc>
                  <a:txBody>
                    <a:bodyPr/>
                    <a:lstStyle/>
                    <a:p>
                      <a:pPr algn="ctr" rtl="0" fontAlgn="ctr">
                        <a:buNone/>
                      </a:pPr>
                      <a:r>
                        <a:rPr lang="es-CO" sz="1500" b="0" i="0" u="none" strike="noStrike">
                          <a:solidFill>
                            <a:srgbClr val="80589F"/>
                          </a:solidFill>
                          <a:effectLst/>
                          <a:latin typeface="Muli"/>
                        </a:rPr>
                        <a:t>Cobertura Septiembre 2026</a:t>
                      </a:r>
                    </a:p>
                  </a:txBody>
                  <a:tcPr marL="8993" marR="8993" marT="8993" marB="43166" anchor="ctr">
                    <a:lnL w="12700" cap="flat" cmpd="sng" algn="ctr">
                      <a:solidFill>
                        <a:srgbClr val="80589F"/>
                      </a:solidFill>
                      <a:prstDash val="solid"/>
                      <a:round/>
                      <a:headEnd type="none" w="med" len="med"/>
                      <a:tailEnd type="none" w="med" len="med"/>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500" b="0" i="0" u="none" strike="noStrike">
                          <a:solidFill>
                            <a:srgbClr val="80589F"/>
                          </a:solidFill>
                          <a:effectLst/>
                          <a:latin typeface="Muli"/>
                        </a:rPr>
                        <a:t>68%</a:t>
                      </a:r>
                    </a:p>
                  </a:txBody>
                  <a:tcPr marL="8993" marR="8993" marT="8993" marB="43166"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500" b="0" i="0" u="none" strike="noStrike">
                          <a:solidFill>
                            <a:srgbClr val="80589F"/>
                          </a:solidFill>
                          <a:effectLst/>
                          <a:latin typeface="Muli"/>
                        </a:rPr>
                        <a:t>71%</a:t>
                      </a:r>
                    </a:p>
                  </a:txBody>
                  <a:tcPr marL="8993" marR="8993" marT="8993" marB="43166"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500" b="0" i="0" u="none" strike="noStrike">
                          <a:solidFill>
                            <a:srgbClr val="80589F"/>
                          </a:solidFill>
                          <a:effectLst/>
                          <a:latin typeface="Muli"/>
                        </a:rPr>
                        <a:t>32%</a:t>
                      </a:r>
                    </a:p>
                  </a:txBody>
                  <a:tcPr marL="8993" marR="8993" marT="8993" marB="43166"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500" b="0" i="0" u="none" strike="noStrike">
                          <a:solidFill>
                            <a:srgbClr val="80589F"/>
                          </a:solidFill>
                          <a:effectLst/>
                          <a:latin typeface="Muli"/>
                        </a:rPr>
                        <a:t>68%</a:t>
                      </a:r>
                    </a:p>
                  </a:txBody>
                  <a:tcPr marL="8993" marR="8993" marT="8993" marB="43166" anchor="ctr">
                    <a:lnL>
                      <a:noFill/>
                    </a:lnL>
                    <a:lnR w="12700" cap="flat" cmpd="sng" algn="ctr">
                      <a:solidFill>
                        <a:srgbClr val="80589F"/>
                      </a:solidFill>
                      <a:prstDash val="solid"/>
                      <a:round/>
                      <a:headEnd type="none" w="med" len="med"/>
                      <a:tailEnd type="none" w="med" len="med"/>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extLst>
                  <a:ext uri="{0D108BD9-81ED-4DB2-BD59-A6C34878D82A}">
                    <a16:rowId xmlns:a16="http://schemas.microsoft.com/office/drawing/2014/main" val="486187144"/>
                  </a:ext>
                </a:extLst>
              </a:tr>
              <a:tr h="291872">
                <a:tc>
                  <a:txBody>
                    <a:bodyPr/>
                    <a:lstStyle/>
                    <a:p>
                      <a:pPr algn="ctr" rtl="0" fontAlgn="ctr">
                        <a:buNone/>
                      </a:pPr>
                      <a:endParaRPr lang="es-CO" sz="1700" b="0" i="0" u="none" strike="noStrike">
                        <a:solidFill>
                          <a:srgbClr val="80589F"/>
                        </a:solidFill>
                        <a:effectLst/>
                        <a:latin typeface="Muli"/>
                      </a:endParaRPr>
                    </a:p>
                  </a:txBody>
                  <a:tcPr marL="8993" marR="8993" marT="8993" marB="43166" anchor="ctr">
                    <a:lnL w="12700" cap="flat" cmpd="sng" algn="ctr">
                      <a:solidFill>
                        <a:srgbClr val="80589F"/>
                      </a:solidFill>
                      <a:prstDash val="solid"/>
                      <a:round/>
                      <a:headEnd type="none" w="med" len="med"/>
                      <a:tailEnd type="none" w="med" len="med"/>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endParaRPr lang="es-CO" sz="1700" b="0" i="0" u="none" strike="noStrike">
                        <a:solidFill>
                          <a:srgbClr val="80589F"/>
                        </a:solidFill>
                        <a:effectLst/>
                        <a:latin typeface="Muli"/>
                      </a:endParaRPr>
                    </a:p>
                  </a:txBody>
                  <a:tcPr marL="8993" marR="8993" marT="8993" marB="43166"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endParaRPr lang="es-CO" sz="1700" b="0" i="0" u="none" strike="noStrike">
                        <a:solidFill>
                          <a:srgbClr val="80589F"/>
                        </a:solidFill>
                        <a:effectLst/>
                        <a:latin typeface="Muli"/>
                      </a:endParaRPr>
                    </a:p>
                  </a:txBody>
                  <a:tcPr marL="8993" marR="8993" marT="8993" marB="43166"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endParaRPr lang="es-CO" sz="1700" b="0" i="0" u="none" strike="noStrike">
                        <a:solidFill>
                          <a:srgbClr val="80589F"/>
                        </a:solidFill>
                        <a:effectLst/>
                        <a:latin typeface="Muli"/>
                      </a:endParaRPr>
                    </a:p>
                  </a:txBody>
                  <a:tcPr marL="8993" marR="8993" marT="8993" marB="43166"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endParaRPr lang="es-CO" sz="1700" b="0" i="0" u="none" strike="noStrike">
                        <a:solidFill>
                          <a:srgbClr val="80589F"/>
                        </a:solidFill>
                        <a:effectLst/>
                        <a:latin typeface="Muli"/>
                      </a:endParaRPr>
                    </a:p>
                  </a:txBody>
                  <a:tcPr marL="8993" marR="8993" marT="8993" marB="43166" anchor="ctr">
                    <a:lnL>
                      <a:noFill/>
                    </a:lnL>
                    <a:lnR w="12700" cap="flat" cmpd="sng" algn="ctr">
                      <a:solidFill>
                        <a:srgbClr val="80589F"/>
                      </a:solidFill>
                      <a:prstDash val="solid"/>
                      <a:round/>
                      <a:headEnd type="none" w="med" len="med"/>
                      <a:tailEnd type="none" w="med" len="med"/>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extLst>
                  <a:ext uri="{0D108BD9-81ED-4DB2-BD59-A6C34878D82A}">
                    <a16:rowId xmlns:a16="http://schemas.microsoft.com/office/drawing/2014/main" val="38414253"/>
                  </a:ext>
                </a:extLst>
              </a:tr>
              <a:tr h="263289">
                <a:tc>
                  <a:txBody>
                    <a:bodyPr/>
                    <a:lstStyle/>
                    <a:p>
                      <a:pPr algn="ctr" rtl="0" fontAlgn="ctr">
                        <a:buNone/>
                      </a:pPr>
                      <a:r>
                        <a:rPr lang="es-CO" sz="1500" b="0" i="0" u="none" strike="noStrike">
                          <a:solidFill>
                            <a:srgbClr val="FFFFFF"/>
                          </a:solidFill>
                          <a:effectLst/>
                          <a:latin typeface="Muli"/>
                        </a:rPr>
                        <a:t>TOTAL</a:t>
                      </a:r>
                    </a:p>
                  </a:txBody>
                  <a:tcPr marL="8993" marR="8993" marT="8993" marB="43166" anchor="ctr">
                    <a:lnL w="12700" cap="flat" cmpd="sng" algn="ctr">
                      <a:solidFill>
                        <a:srgbClr val="80589F"/>
                      </a:solidFill>
                      <a:prstDash val="solid"/>
                      <a:round/>
                      <a:headEnd type="none" w="med" len="med"/>
                      <a:tailEnd type="none" w="med" len="med"/>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80589F"/>
                    </a:solidFill>
                  </a:tcPr>
                </a:tc>
                <a:tc>
                  <a:txBody>
                    <a:bodyPr/>
                    <a:lstStyle/>
                    <a:p>
                      <a:pPr algn="ctr" rtl="0" fontAlgn="ctr">
                        <a:buNone/>
                      </a:pPr>
                      <a:r>
                        <a:rPr lang="es-CO" sz="1500" b="0" i="0" u="none" strike="noStrike">
                          <a:solidFill>
                            <a:srgbClr val="FFFFFF"/>
                          </a:solidFill>
                          <a:effectLst/>
                          <a:latin typeface="Muli"/>
                        </a:rPr>
                        <a:t>PSICOLOGÍA</a:t>
                      </a:r>
                    </a:p>
                  </a:txBody>
                  <a:tcPr marL="8993" marR="8993" marT="8993" marB="43166"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80589F"/>
                    </a:solidFill>
                  </a:tcPr>
                </a:tc>
                <a:tc>
                  <a:txBody>
                    <a:bodyPr/>
                    <a:lstStyle/>
                    <a:p>
                      <a:pPr algn="ctr" rtl="0" fontAlgn="ctr">
                        <a:buNone/>
                      </a:pPr>
                      <a:r>
                        <a:rPr lang="es-CO" sz="1500" b="0" i="0" u="none" strike="noStrike">
                          <a:solidFill>
                            <a:srgbClr val="FFFFFF"/>
                          </a:solidFill>
                          <a:effectLst/>
                          <a:latin typeface="Muli"/>
                        </a:rPr>
                        <a:t>TRABAJO SOCIAL</a:t>
                      </a:r>
                    </a:p>
                  </a:txBody>
                  <a:tcPr marL="8993" marR="8993" marT="8993" marB="43166"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80589F"/>
                    </a:solidFill>
                  </a:tcPr>
                </a:tc>
                <a:tc>
                  <a:txBody>
                    <a:bodyPr/>
                    <a:lstStyle/>
                    <a:p>
                      <a:pPr algn="ctr" rtl="0" fontAlgn="ctr">
                        <a:buNone/>
                      </a:pPr>
                      <a:r>
                        <a:rPr lang="es-CO" sz="1500" b="0" i="0" u="none" strike="noStrike">
                          <a:solidFill>
                            <a:srgbClr val="FFFFFF"/>
                          </a:solidFill>
                          <a:effectLst/>
                          <a:latin typeface="Muli"/>
                        </a:rPr>
                        <a:t>DOLOR Y CP</a:t>
                      </a:r>
                    </a:p>
                  </a:txBody>
                  <a:tcPr marL="8993" marR="8993" marT="8993" marB="43166"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80589F"/>
                    </a:solidFill>
                  </a:tcPr>
                </a:tc>
                <a:tc>
                  <a:txBody>
                    <a:bodyPr/>
                    <a:lstStyle/>
                    <a:p>
                      <a:pPr algn="ctr" rtl="0" fontAlgn="ctr">
                        <a:buNone/>
                      </a:pPr>
                      <a:r>
                        <a:rPr lang="es-CO" sz="1500" b="0" i="0" u="none" strike="noStrike">
                          <a:solidFill>
                            <a:srgbClr val="FFFFFF"/>
                          </a:solidFill>
                          <a:effectLst/>
                          <a:latin typeface="Muli"/>
                        </a:rPr>
                        <a:t>NUTRICIÓN</a:t>
                      </a:r>
                    </a:p>
                  </a:txBody>
                  <a:tcPr marL="8993" marR="8993" marT="8993" marB="43166" anchor="ctr">
                    <a:lnL>
                      <a:noFill/>
                    </a:lnL>
                    <a:lnR w="12700" cap="flat" cmpd="sng" algn="ctr">
                      <a:solidFill>
                        <a:srgbClr val="80589F"/>
                      </a:solidFill>
                      <a:prstDash val="solid"/>
                      <a:round/>
                      <a:headEnd type="none" w="med" len="med"/>
                      <a:tailEnd type="none" w="med" len="med"/>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solidFill>
                      <a:srgbClr val="80589F"/>
                    </a:solidFill>
                  </a:tcPr>
                </a:tc>
                <a:extLst>
                  <a:ext uri="{0D108BD9-81ED-4DB2-BD59-A6C34878D82A}">
                    <a16:rowId xmlns:a16="http://schemas.microsoft.com/office/drawing/2014/main" val="3282219326"/>
                  </a:ext>
                </a:extLst>
              </a:tr>
              <a:tr h="404909">
                <a:tc>
                  <a:txBody>
                    <a:bodyPr/>
                    <a:lstStyle/>
                    <a:p>
                      <a:pPr algn="ctr" rtl="0" fontAlgn="ctr">
                        <a:buNone/>
                      </a:pPr>
                      <a:r>
                        <a:rPr lang="es-CO" sz="1500" b="0" i="0" u="none" strike="noStrike">
                          <a:solidFill>
                            <a:srgbClr val="80589F"/>
                          </a:solidFill>
                          <a:effectLst/>
                          <a:latin typeface="Muli"/>
                        </a:rPr>
                        <a:t>Cobertura Septiembre 2026</a:t>
                      </a:r>
                    </a:p>
                  </a:txBody>
                  <a:tcPr marL="8993" marR="8993" marT="8993" marB="43166" anchor="ctr">
                    <a:lnL w="12700" cap="flat" cmpd="sng" algn="ctr">
                      <a:solidFill>
                        <a:srgbClr val="80589F"/>
                      </a:solidFill>
                      <a:prstDash val="solid"/>
                      <a:round/>
                      <a:headEnd type="none" w="med" len="med"/>
                      <a:tailEnd type="none" w="med" len="med"/>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500" b="0" i="0" u="none" strike="noStrike">
                          <a:solidFill>
                            <a:srgbClr val="80589F"/>
                          </a:solidFill>
                          <a:effectLst/>
                          <a:latin typeface="Muli"/>
                        </a:rPr>
                        <a:t>42%</a:t>
                      </a:r>
                    </a:p>
                  </a:txBody>
                  <a:tcPr marL="8993" marR="8993" marT="8993" marB="43166"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500" b="0" i="0" u="none" strike="noStrike">
                          <a:solidFill>
                            <a:srgbClr val="80589F"/>
                          </a:solidFill>
                          <a:effectLst/>
                          <a:latin typeface="Muli"/>
                        </a:rPr>
                        <a:t>44%</a:t>
                      </a:r>
                    </a:p>
                  </a:txBody>
                  <a:tcPr marL="8993" marR="8993" marT="8993" marB="43166"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500" b="0" i="0" u="none" strike="noStrike">
                          <a:solidFill>
                            <a:srgbClr val="80589F"/>
                          </a:solidFill>
                          <a:effectLst/>
                          <a:latin typeface="Muli"/>
                        </a:rPr>
                        <a:t>14%</a:t>
                      </a:r>
                    </a:p>
                  </a:txBody>
                  <a:tcPr marL="8993" marR="8993" marT="8993" marB="43166" anchor="ctr">
                    <a:lnL>
                      <a:noFill/>
                    </a:lnL>
                    <a:lnR>
                      <a:noFill/>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tc>
                  <a:txBody>
                    <a:bodyPr/>
                    <a:lstStyle/>
                    <a:p>
                      <a:pPr algn="ctr" rtl="0" fontAlgn="ctr">
                        <a:buNone/>
                      </a:pPr>
                      <a:r>
                        <a:rPr lang="es-CO" sz="1500" b="0" i="0" u="none" strike="noStrike">
                          <a:solidFill>
                            <a:srgbClr val="80589F"/>
                          </a:solidFill>
                          <a:effectLst/>
                          <a:latin typeface="Muli"/>
                        </a:rPr>
                        <a:t>42%</a:t>
                      </a:r>
                    </a:p>
                  </a:txBody>
                  <a:tcPr marL="8993" marR="8993" marT="8993" marB="43166" anchor="ctr">
                    <a:lnL>
                      <a:noFill/>
                    </a:lnL>
                    <a:lnR w="12700" cap="flat" cmpd="sng" algn="ctr">
                      <a:solidFill>
                        <a:srgbClr val="80589F"/>
                      </a:solidFill>
                      <a:prstDash val="solid"/>
                      <a:round/>
                      <a:headEnd type="none" w="med" len="med"/>
                      <a:tailEnd type="none" w="med" len="med"/>
                    </a:lnR>
                    <a:lnT w="12700" cap="flat" cmpd="sng" algn="ctr">
                      <a:solidFill>
                        <a:srgbClr val="80589F"/>
                      </a:solidFill>
                      <a:prstDash val="solid"/>
                      <a:round/>
                      <a:headEnd type="none" w="med" len="med"/>
                      <a:tailEnd type="none" w="med" len="med"/>
                    </a:lnT>
                    <a:lnB w="12700" cap="flat" cmpd="sng" algn="ctr">
                      <a:solidFill>
                        <a:srgbClr val="80589F"/>
                      </a:solidFill>
                      <a:prstDash val="solid"/>
                      <a:round/>
                      <a:headEnd type="none" w="med" len="med"/>
                      <a:tailEnd type="none" w="med" len="med"/>
                    </a:lnB>
                    <a:noFill/>
                  </a:tcPr>
                </a:tc>
                <a:extLst>
                  <a:ext uri="{0D108BD9-81ED-4DB2-BD59-A6C34878D82A}">
                    <a16:rowId xmlns:a16="http://schemas.microsoft.com/office/drawing/2014/main" val="2407579135"/>
                  </a:ext>
                </a:extLst>
              </a:tr>
            </a:tbl>
          </a:graphicData>
        </a:graphic>
      </p:graphicFrame>
      <p:graphicFrame>
        <p:nvGraphicFramePr>
          <p:cNvPr id="12" name="Tabla 11">
            <a:extLst>
              <a:ext uri="{FF2B5EF4-FFF2-40B4-BE49-F238E27FC236}">
                <a16:creationId xmlns:a16="http://schemas.microsoft.com/office/drawing/2014/main" id="{694B5A88-6DA6-BC96-38EA-FA3E127132A2}"/>
              </a:ext>
            </a:extLst>
          </p:cNvPr>
          <p:cNvGraphicFramePr>
            <a:graphicFrameLocks noGrp="1"/>
          </p:cNvGraphicFramePr>
          <p:nvPr>
            <p:extLst>
              <p:ext uri="{D42A27DB-BD31-4B8C-83A1-F6EECF244321}">
                <p14:modId xmlns:p14="http://schemas.microsoft.com/office/powerpoint/2010/main" val="3806350450"/>
              </p:ext>
            </p:extLst>
          </p:nvPr>
        </p:nvGraphicFramePr>
        <p:xfrm>
          <a:off x="838201" y="4196507"/>
          <a:ext cx="10515600" cy="1922743"/>
        </p:xfrm>
        <a:graphic>
          <a:graphicData uri="http://schemas.openxmlformats.org/drawingml/2006/table">
            <a:tbl>
              <a:tblPr/>
              <a:tblGrid>
                <a:gridCol w="2423234">
                  <a:extLst>
                    <a:ext uri="{9D8B030D-6E8A-4147-A177-3AD203B41FA5}">
                      <a16:colId xmlns:a16="http://schemas.microsoft.com/office/drawing/2014/main" val="2314972483"/>
                    </a:ext>
                  </a:extLst>
                </a:gridCol>
                <a:gridCol w="1093333">
                  <a:extLst>
                    <a:ext uri="{9D8B030D-6E8A-4147-A177-3AD203B41FA5}">
                      <a16:colId xmlns:a16="http://schemas.microsoft.com/office/drawing/2014/main" val="1824290878"/>
                    </a:ext>
                  </a:extLst>
                </a:gridCol>
                <a:gridCol w="1246783">
                  <a:extLst>
                    <a:ext uri="{9D8B030D-6E8A-4147-A177-3AD203B41FA5}">
                      <a16:colId xmlns:a16="http://schemas.microsoft.com/office/drawing/2014/main" val="209853547"/>
                    </a:ext>
                  </a:extLst>
                </a:gridCol>
                <a:gridCol w="1246783">
                  <a:extLst>
                    <a:ext uri="{9D8B030D-6E8A-4147-A177-3AD203B41FA5}">
                      <a16:colId xmlns:a16="http://schemas.microsoft.com/office/drawing/2014/main" val="1701515139"/>
                    </a:ext>
                  </a:extLst>
                </a:gridCol>
                <a:gridCol w="1246783">
                  <a:extLst>
                    <a:ext uri="{9D8B030D-6E8A-4147-A177-3AD203B41FA5}">
                      <a16:colId xmlns:a16="http://schemas.microsoft.com/office/drawing/2014/main" val="2932270386"/>
                    </a:ext>
                  </a:extLst>
                </a:gridCol>
                <a:gridCol w="837582">
                  <a:extLst>
                    <a:ext uri="{9D8B030D-6E8A-4147-A177-3AD203B41FA5}">
                      <a16:colId xmlns:a16="http://schemas.microsoft.com/office/drawing/2014/main" val="3863678039"/>
                    </a:ext>
                  </a:extLst>
                </a:gridCol>
                <a:gridCol w="1210551">
                  <a:extLst>
                    <a:ext uri="{9D8B030D-6E8A-4147-A177-3AD203B41FA5}">
                      <a16:colId xmlns:a16="http://schemas.microsoft.com/office/drawing/2014/main" val="485584297"/>
                    </a:ext>
                  </a:extLst>
                </a:gridCol>
                <a:gridCol w="1210551">
                  <a:extLst>
                    <a:ext uri="{9D8B030D-6E8A-4147-A177-3AD203B41FA5}">
                      <a16:colId xmlns:a16="http://schemas.microsoft.com/office/drawing/2014/main" val="3095085983"/>
                    </a:ext>
                  </a:extLst>
                </a:gridCol>
              </a:tblGrid>
              <a:tr h="221314">
                <a:tc>
                  <a:txBody>
                    <a:bodyPr/>
                    <a:lstStyle/>
                    <a:p>
                      <a:pPr algn="ctr" rtl="0" fontAlgn="ctr">
                        <a:buNone/>
                      </a:pPr>
                      <a:r>
                        <a:rPr lang="es-CO" sz="1200" b="1" i="0" u="none" strike="noStrike">
                          <a:solidFill>
                            <a:srgbClr val="FFFFFF"/>
                          </a:solidFill>
                          <a:effectLst/>
                          <a:latin typeface="Muli"/>
                        </a:rPr>
                        <a:t>EMSSANAR</a:t>
                      </a:r>
                    </a:p>
                  </a:txBody>
                  <a:tcPr marL="6396" marR="6396" marT="6396" marB="3070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200" b="1" i="0" u="none" strike="noStrike">
                          <a:solidFill>
                            <a:srgbClr val="FFFFFF"/>
                          </a:solidFill>
                          <a:effectLst/>
                          <a:latin typeface="Muli"/>
                        </a:rPr>
                        <a:t>PACIENTES</a:t>
                      </a:r>
                    </a:p>
                  </a:txBody>
                  <a:tcPr marL="6396" marR="6396" marT="6396" marB="3070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200" b="1" i="0" u="none" strike="noStrike">
                          <a:solidFill>
                            <a:srgbClr val="FFFFFF"/>
                          </a:solidFill>
                          <a:effectLst/>
                          <a:latin typeface="Muli"/>
                        </a:rPr>
                        <a:t>EFECTIVAS</a:t>
                      </a:r>
                    </a:p>
                  </a:txBody>
                  <a:tcPr marL="6396" marR="6396" marT="6396" marB="3070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200" b="1" i="0" u="none" strike="noStrike">
                          <a:solidFill>
                            <a:srgbClr val="FFFFFF"/>
                          </a:solidFill>
                          <a:effectLst/>
                          <a:latin typeface="Muli"/>
                        </a:rPr>
                        <a:t>%</a:t>
                      </a:r>
                    </a:p>
                  </a:txBody>
                  <a:tcPr marL="6396" marR="6396" marT="6396" marB="3070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200" b="1" i="0" u="none" strike="noStrike">
                          <a:solidFill>
                            <a:srgbClr val="FFFFFF"/>
                          </a:solidFill>
                          <a:effectLst/>
                          <a:latin typeface="Muli"/>
                        </a:rPr>
                        <a:t>CANCELADAS</a:t>
                      </a:r>
                    </a:p>
                  </a:txBody>
                  <a:tcPr marL="6396" marR="6396" marT="6396" marB="3070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200" b="1" i="0" u="none" strike="noStrike">
                          <a:solidFill>
                            <a:srgbClr val="FFFFFF"/>
                          </a:solidFill>
                          <a:effectLst/>
                          <a:latin typeface="Muli"/>
                        </a:rPr>
                        <a:t>%</a:t>
                      </a:r>
                    </a:p>
                  </a:txBody>
                  <a:tcPr marL="6396" marR="6396" marT="6396" marB="3070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200" b="1" i="0" u="none" strike="noStrike">
                          <a:solidFill>
                            <a:srgbClr val="FFFFFF"/>
                          </a:solidFill>
                          <a:effectLst/>
                          <a:latin typeface="Muli"/>
                        </a:rPr>
                        <a:t>IMCUMPLIDAS</a:t>
                      </a:r>
                    </a:p>
                  </a:txBody>
                  <a:tcPr marL="6396" marR="6396" marT="6396" marB="3070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200" b="1" i="0" u="none" strike="noStrike">
                          <a:solidFill>
                            <a:srgbClr val="FFFFFF"/>
                          </a:solidFill>
                          <a:effectLst/>
                          <a:latin typeface="Muli"/>
                        </a:rPr>
                        <a:t>%</a:t>
                      </a:r>
                    </a:p>
                  </a:txBody>
                  <a:tcPr marL="6396" marR="6396" marT="6396" marB="3070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589F"/>
                    </a:solidFill>
                  </a:tcPr>
                </a:tc>
                <a:extLst>
                  <a:ext uri="{0D108BD9-81ED-4DB2-BD59-A6C34878D82A}">
                    <a16:rowId xmlns:a16="http://schemas.microsoft.com/office/drawing/2014/main" val="2585137663"/>
                  </a:ext>
                </a:extLst>
              </a:tr>
              <a:tr h="562879">
                <a:tc>
                  <a:txBody>
                    <a:bodyPr/>
                    <a:lstStyle/>
                    <a:p>
                      <a:pPr algn="ctr" rtl="0" fontAlgn="ctr">
                        <a:buNone/>
                      </a:pPr>
                      <a:r>
                        <a:rPr lang="es-CO" sz="1200" b="1" i="0" u="none" strike="noStrike">
                          <a:solidFill>
                            <a:srgbClr val="FFFFFF"/>
                          </a:solidFill>
                          <a:effectLst/>
                          <a:latin typeface="Muli"/>
                        </a:rPr>
                        <a:t>DOLOR Y CUIDADOS PALIATIVOS</a:t>
                      </a:r>
                    </a:p>
                  </a:txBody>
                  <a:tcPr marL="6396" marR="6396" marT="6396" marB="3070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200" b="0" i="0" u="none" strike="noStrike">
                          <a:solidFill>
                            <a:srgbClr val="80589F"/>
                          </a:solidFill>
                          <a:effectLst/>
                          <a:latin typeface="Muli"/>
                        </a:rPr>
                        <a:t>618</a:t>
                      </a:r>
                    </a:p>
                  </a:txBody>
                  <a:tcPr marL="6396" marR="6396" marT="6396" marB="3070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ctr">
                        <a:buNone/>
                      </a:pPr>
                      <a:r>
                        <a:rPr lang="es-CO" sz="1200" b="0" i="0" u="none" strike="noStrike">
                          <a:solidFill>
                            <a:srgbClr val="80589F"/>
                          </a:solidFill>
                          <a:effectLst/>
                          <a:latin typeface="Muli"/>
                        </a:rPr>
                        <a:t>1033</a:t>
                      </a:r>
                    </a:p>
                  </a:txBody>
                  <a:tcPr marL="6396" marR="6396" marT="6396" marB="3070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ctr">
                        <a:buNone/>
                      </a:pPr>
                      <a:r>
                        <a:rPr lang="es-CO" sz="1200" b="0" i="0" u="none" strike="noStrike">
                          <a:solidFill>
                            <a:srgbClr val="80589F"/>
                          </a:solidFill>
                          <a:effectLst/>
                          <a:latin typeface="Muli"/>
                        </a:rPr>
                        <a:t>72%</a:t>
                      </a:r>
                    </a:p>
                  </a:txBody>
                  <a:tcPr marL="6396" marR="6396" marT="6396" marB="3070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ctr">
                        <a:buNone/>
                      </a:pPr>
                      <a:r>
                        <a:rPr lang="es-CO" sz="1200" b="0" i="0" u="none" strike="noStrike">
                          <a:solidFill>
                            <a:srgbClr val="80589F"/>
                          </a:solidFill>
                          <a:effectLst/>
                          <a:latin typeface="Muli"/>
                        </a:rPr>
                        <a:t>201</a:t>
                      </a:r>
                    </a:p>
                  </a:txBody>
                  <a:tcPr marL="6396" marR="6396" marT="6396" marB="3070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ctr">
                        <a:buNone/>
                      </a:pPr>
                      <a:r>
                        <a:rPr lang="es-CO" sz="1200" b="0" i="0" u="none" strike="noStrike">
                          <a:solidFill>
                            <a:srgbClr val="80589F"/>
                          </a:solidFill>
                          <a:effectLst/>
                          <a:latin typeface="Muli"/>
                        </a:rPr>
                        <a:t>14%</a:t>
                      </a:r>
                    </a:p>
                  </a:txBody>
                  <a:tcPr marL="6396" marR="6396" marT="6396" marB="3070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ctr">
                        <a:buNone/>
                      </a:pPr>
                      <a:r>
                        <a:rPr lang="es-CO" sz="1200" b="0" i="0" u="none" strike="noStrike">
                          <a:solidFill>
                            <a:srgbClr val="80589F"/>
                          </a:solidFill>
                          <a:effectLst/>
                          <a:latin typeface="Calibri" panose="020F0502020204030204" pitchFamily="34" charset="0"/>
                        </a:rPr>
                        <a:t>201</a:t>
                      </a:r>
                    </a:p>
                  </a:txBody>
                  <a:tcPr marL="6396" marR="6396" marT="6396" marB="3070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ctr">
                        <a:buNone/>
                      </a:pPr>
                      <a:r>
                        <a:rPr lang="es-CO" sz="1200" b="0" i="0" u="none" strike="noStrike">
                          <a:solidFill>
                            <a:srgbClr val="80589F"/>
                          </a:solidFill>
                          <a:effectLst/>
                          <a:latin typeface="Muli"/>
                        </a:rPr>
                        <a:t>14%</a:t>
                      </a:r>
                    </a:p>
                  </a:txBody>
                  <a:tcPr marL="6396" marR="6396" marT="6396" marB="3070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extLst>
                  <a:ext uri="{0D108BD9-81ED-4DB2-BD59-A6C34878D82A}">
                    <a16:rowId xmlns:a16="http://schemas.microsoft.com/office/drawing/2014/main" val="640134959"/>
                  </a:ext>
                </a:extLst>
              </a:tr>
              <a:tr h="383781">
                <a:tc>
                  <a:txBody>
                    <a:bodyPr/>
                    <a:lstStyle/>
                    <a:p>
                      <a:pPr algn="ctr" rtl="0" fontAlgn="ctr">
                        <a:buNone/>
                      </a:pPr>
                      <a:r>
                        <a:rPr lang="es-CO" sz="1200" b="1" i="0" u="none" strike="noStrike">
                          <a:solidFill>
                            <a:srgbClr val="FFFFFF"/>
                          </a:solidFill>
                          <a:effectLst/>
                          <a:latin typeface="Muli"/>
                        </a:rPr>
                        <a:t>NUTRICION Y DIETETICA</a:t>
                      </a:r>
                    </a:p>
                  </a:txBody>
                  <a:tcPr marL="6396" marR="6396" marT="6396" marB="3070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200" b="0" i="0" u="none" strike="noStrike">
                          <a:solidFill>
                            <a:srgbClr val="80589F"/>
                          </a:solidFill>
                          <a:effectLst/>
                          <a:latin typeface="Muli"/>
                        </a:rPr>
                        <a:t>1904</a:t>
                      </a:r>
                    </a:p>
                  </a:txBody>
                  <a:tcPr marL="6396" marR="6396" marT="6396" marB="3070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ctr">
                        <a:buNone/>
                      </a:pPr>
                      <a:r>
                        <a:rPr lang="es-CO" sz="1200" b="0" i="0" u="none" strike="noStrike">
                          <a:solidFill>
                            <a:srgbClr val="80589F"/>
                          </a:solidFill>
                          <a:effectLst/>
                          <a:latin typeface="Calibri" panose="020F0502020204030204" pitchFamily="34" charset="0"/>
                        </a:rPr>
                        <a:t>3314</a:t>
                      </a:r>
                    </a:p>
                  </a:txBody>
                  <a:tcPr marL="6396" marR="6396" marT="6396" marB="3070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ctr">
                        <a:buNone/>
                      </a:pPr>
                      <a:r>
                        <a:rPr lang="es-CO" sz="1200" b="0" i="0" u="none" strike="noStrike">
                          <a:solidFill>
                            <a:srgbClr val="80589F"/>
                          </a:solidFill>
                          <a:effectLst/>
                          <a:latin typeface="Muli"/>
                        </a:rPr>
                        <a:t>81%</a:t>
                      </a:r>
                    </a:p>
                  </a:txBody>
                  <a:tcPr marL="6396" marR="6396" marT="6396" marB="3070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ctr">
                        <a:buNone/>
                      </a:pPr>
                      <a:r>
                        <a:rPr lang="es-CO" sz="1200" b="0" i="0" u="none" strike="noStrike">
                          <a:solidFill>
                            <a:srgbClr val="80589F"/>
                          </a:solidFill>
                          <a:effectLst/>
                          <a:latin typeface="Calibri" panose="020F0502020204030204" pitchFamily="34" charset="0"/>
                        </a:rPr>
                        <a:t>398</a:t>
                      </a:r>
                    </a:p>
                  </a:txBody>
                  <a:tcPr marL="6396" marR="6396" marT="6396" marB="3070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ctr">
                        <a:buNone/>
                      </a:pPr>
                      <a:r>
                        <a:rPr lang="es-CO" sz="1200" b="0" i="0" u="none" strike="noStrike">
                          <a:solidFill>
                            <a:srgbClr val="80589F"/>
                          </a:solidFill>
                          <a:effectLst/>
                          <a:latin typeface="Muli"/>
                        </a:rPr>
                        <a:t>10%</a:t>
                      </a:r>
                    </a:p>
                  </a:txBody>
                  <a:tcPr marL="6396" marR="6396" marT="6396" marB="3070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ctr">
                        <a:buNone/>
                      </a:pPr>
                      <a:r>
                        <a:rPr lang="es-CO" sz="1200" b="0" i="0" u="none" strike="noStrike">
                          <a:solidFill>
                            <a:srgbClr val="80589F"/>
                          </a:solidFill>
                          <a:effectLst/>
                          <a:latin typeface="Muli"/>
                        </a:rPr>
                        <a:t>389</a:t>
                      </a:r>
                    </a:p>
                  </a:txBody>
                  <a:tcPr marL="6396" marR="6396" marT="6396" marB="3070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ctr">
                        <a:buNone/>
                      </a:pPr>
                      <a:r>
                        <a:rPr lang="es-CO" sz="1200" b="0" i="0" u="none" strike="noStrike">
                          <a:solidFill>
                            <a:srgbClr val="80589F"/>
                          </a:solidFill>
                          <a:effectLst/>
                          <a:latin typeface="Muli"/>
                        </a:rPr>
                        <a:t>9%</a:t>
                      </a:r>
                    </a:p>
                  </a:txBody>
                  <a:tcPr marL="6396" marR="6396" marT="6396" marB="3070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extLst>
                  <a:ext uri="{0D108BD9-81ED-4DB2-BD59-A6C34878D82A}">
                    <a16:rowId xmlns:a16="http://schemas.microsoft.com/office/drawing/2014/main" val="1982082435"/>
                  </a:ext>
                </a:extLst>
              </a:tr>
              <a:tr h="383781">
                <a:tc>
                  <a:txBody>
                    <a:bodyPr/>
                    <a:lstStyle/>
                    <a:p>
                      <a:pPr algn="ctr" rtl="0" fontAlgn="ctr">
                        <a:buNone/>
                      </a:pPr>
                      <a:r>
                        <a:rPr lang="es-CO" sz="1200" b="1" i="0" u="none" strike="noStrike">
                          <a:solidFill>
                            <a:srgbClr val="FFFFFF"/>
                          </a:solidFill>
                          <a:effectLst/>
                          <a:latin typeface="Muli"/>
                        </a:rPr>
                        <a:t>PSICOLOGIA</a:t>
                      </a:r>
                    </a:p>
                  </a:txBody>
                  <a:tcPr marL="6396" marR="6396" marT="6396" marB="3070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200" b="0" i="0" u="none" strike="noStrike">
                          <a:solidFill>
                            <a:srgbClr val="80589F"/>
                          </a:solidFill>
                          <a:effectLst/>
                          <a:latin typeface="Muli"/>
                        </a:rPr>
                        <a:t>1847</a:t>
                      </a:r>
                    </a:p>
                  </a:txBody>
                  <a:tcPr marL="6396" marR="6396" marT="6396" marB="3070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ctr">
                        <a:buNone/>
                      </a:pPr>
                      <a:r>
                        <a:rPr lang="es-CO" sz="1200" b="0" i="0" u="none" strike="noStrike">
                          <a:solidFill>
                            <a:srgbClr val="80589F"/>
                          </a:solidFill>
                          <a:effectLst/>
                          <a:latin typeface="Muli"/>
                        </a:rPr>
                        <a:t>3605</a:t>
                      </a:r>
                    </a:p>
                  </a:txBody>
                  <a:tcPr marL="6396" marR="6396" marT="6396" marB="3070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ctr">
                        <a:buNone/>
                      </a:pPr>
                      <a:r>
                        <a:rPr lang="es-CO" sz="1200" b="0" i="0" u="none" strike="noStrike">
                          <a:solidFill>
                            <a:srgbClr val="80589F"/>
                          </a:solidFill>
                          <a:effectLst/>
                          <a:latin typeface="Muli"/>
                        </a:rPr>
                        <a:t>85%</a:t>
                      </a:r>
                    </a:p>
                  </a:txBody>
                  <a:tcPr marL="6396" marR="6396" marT="6396" marB="3070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ctr">
                        <a:buNone/>
                      </a:pPr>
                      <a:r>
                        <a:rPr lang="es-CO" sz="1200" b="0" i="0" u="none" strike="noStrike">
                          <a:solidFill>
                            <a:srgbClr val="80589F"/>
                          </a:solidFill>
                          <a:effectLst/>
                          <a:latin typeface="Calibri" panose="020F0502020204030204" pitchFamily="34" charset="0"/>
                        </a:rPr>
                        <a:t>330</a:t>
                      </a:r>
                    </a:p>
                  </a:txBody>
                  <a:tcPr marL="6396" marR="6396" marT="6396" marB="3070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ctr">
                        <a:buNone/>
                      </a:pPr>
                      <a:r>
                        <a:rPr lang="es-CO" sz="1200" b="0" i="0" u="none" strike="noStrike">
                          <a:solidFill>
                            <a:srgbClr val="80589F"/>
                          </a:solidFill>
                          <a:effectLst/>
                          <a:latin typeface="Muli"/>
                        </a:rPr>
                        <a:t>8%</a:t>
                      </a:r>
                    </a:p>
                  </a:txBody>
                  <a:tcPr marL="6396" marR="6396" marT="6396" marB="3070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ctr">
                        <a:buNone/>
                      </a:pPr>
                      <a:r>
                        <a:rPr lang="es-CO" sz="1200" b="0" i="0" u="none" strike="noStrike">
                          <a:solidFill>
                            <a:srgbClr val="80589F"/>
                          </a:solidFill>
                          <a:effectLst/>
                          <a:latin typeface="Calibri" panose="020F0502020204030204" pitchFamily="34" charset="0"/>
                        </a:rPr>
                        <a:t>302</a:t>
                      </a:r>
                    </a:p>
                  </a:txBody>
                  <a:tcPr marL="6396" marR="6396" marT="6396" marB="3070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tc>
                  <a:txBody>
                    <a:bodyPr/>
                    <a:lstStyle/>
                    <a:p>
                      <a:pPr algn="ctr" rtl="0" fontAlgn="ctr">
                        <a:buNone/>
                      </a:pPr>
                      <a:r>
                        <a:rPr lang="es-CO" sz="1200" b="0" i="0" u="none" strike="noStrike">
                          <a:solidFill>
                            <a:srgbClr val="80589F"/>
                          </a:solidFill>
                          <a:effectLst/>
                          <a:latin typeface="Muli"/>
                        </a:rPr>
                        <a:t>7%</a:t>
                      </a:r>
                    </a:p>
                  </a:txBody>
                  <a:tcPr marL="6396" marR="6396" marT="6396" marB="3070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D1DF"/>
                    </a:solidFill>
                  </a:tcPr>
                </a:tc>
                <a:extLst>
                  <a:ext uri="{0D108BD9-81ED-4DB2-BD59-A6C34878D82A}">
                    <a16:rowId xmlns:a16="http://schemas.microsoft.com/office/drawing/2014/main" val="1602658610"/>
                  </a:ext>
                </a:extLst>
              </a:tr>
              <a:tr h="370988">
                <a:tc>
                  <a:txBody>
                    <a:bodyPr/>
                    <a:lstStyle/>
                    <a:p>
                      <a:pPr algn="ctr" rtl="0" fontAlgn="ctr">
                        <a:buNone/>
                      </a:pPr>
                      <a:r>
                        <a:rPr lang="es-CO" sz="1200" b="1" i="0" u="none" strike="noStrike">
                          <a:solidFill>
                            <a:srgbClr val="FFFFFF"/>
                          </a:solidFill>
                          <a:effectLst/>
                          <a:latin typeface="Muli"/>
                        </a:rPr>
                        <a:t>TRABAJO SOCIAL</a:t>
                      </a:r>
                    </a:p>
                  </a:txBody>
                  <a:tcPr marL="6396" marR="6396" marT="6396" marB="3070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0589F"/>
                    </a:solidFill>
                  </a:tcPr>
                </a:tc>
                <a:tc>
                  <a:txBody>
                    <a:bodyPr/>
                    <a:lstStyle/>
                    <a:p>
                      <a:pPr algn="ctr" rtl="0" fontAlgn="ctr">
                        <a:buNone/>
                      </a:pPr>
                      <a:r>
                        <a:rPr lang="es-CO" sz="1200" b="0" i="0" u="none" strike="noStrike">
                          <a:solidFill>
                            <a:srgbClr val="80589F"/>
                          </a:solidFill>
                          <a:effectLst/>
                          <a:latin typeface="Muli"/>
                        </a:rPr>
                        <a:t>2005</a:t>
                      </a:r>
                    </a:p>
                  </a:txBody>
                  <a:tcPr marL="6396" marR="6396" marT="6396" marB="3070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ctr">
                        <a:buNone/>
                      </a:pPr>
                      <a:r>
                        <a:rPr lang="es-CO" sz="1200" b="0" i="0" u="none" strike="noStrike">
                          <a:solidFill>
                            <a:srgbClr val="80589F"/>
                          </a:solidFill>
                          <a:effectLst/>
                          <a:latin typeface="Muli"/>
                        </a:rPr>
                        <a:t>3795</a:t>
                      </a:r>
                    </a:p>
                  </a:txBody>
                  <a:tcPr marL="6396" marR="6396" marT="6396" marB="3070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ctr">
                        <a:buNone/>
                      </a:pPr>
                      <a:r>
                        <a:rPr lang="es-CO" sz="1200" b="0" i="0" u="none" strike="noStrike">
                          <a:solidFill>
                            <a:srgbClr val="80589F"/>
                          </a:solidFill>
                          <a:effectLst/>
                          <a:latin typeface="Muli"/>
                        </a:rPr>
                        <a:t>82%</a:t>
                      </a:r>
                    </a:p>
                  </a:txBody>
                  <a:tcPr marL="6396" marR="6396" marT="6396" marB="3070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ctr">
                        <a:buNone/>
                      </a:pPr>
                      <a:r>
                        <a:rPr lang="es-CO" sz="1200" b="0" i="0" u="none" strike="noStrike">
                          <a:solidFill>
                            <a:srgbClr val="80589F"/>
                          </a:solidFill>
                          <a:effectLst/>
                          <a:latin typeface="Calibri" panose="020F0502020204030204" pitchFamily="34" charset="0"/>
                        </a:rPr>
                        <a:t>365</a:t>
                      </a:r>
                    </a:p>
                  </a:txBody>
                  <a:tcPr marL="6396" marR="6396" marT="6396" marB="3070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ctr">
                        <a:buNone/>
                      </a:pPr>
                      <a:r>
                        <a:rPr lang="es-CO" sz="1200" b="0" i="0" u="none" strike="noStrike">
                          <a:solidFill>
                            <a:srgbClr val="80589F"/>
                          </a:solidFill>
                          <a:effectLst/>
                          <a:latin typeface="Muli"/>
                        </a:rPr>
                        <a:t>8%</a:t>
                      </a:r>
                    </a:p>
                  </a:txBody>
                  <a:tcPr marL="6396" marR="6396" marT="6396" marB="3070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ctr">
                        <a:buNone/>
                      </a:pPr>
                      <a:r>
                        <a:rPr lang="es-CO" sz="1200" b="0" i="0" u="none" strike="noStrike">
                          <a:solidFill>
                            <a:srgbClr val="80589F"/>
                          </a:solidFill>
                          <a:effectLst/>
                          <a:latin typeface="Calibri" panose="020F0502020204030204" pitchFamily="34" charset="0"/>
                        </a:rPr>
                        <a:t>477</a:t>
                      </a:r>
                    </a:p>
                  </a:txBody>
                  <a:tcPr marL="6396" marR="6396" marT="6396" marB="3070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tc>
                  <a:txBody>
                    <a:bodyPr/>
                    <a:lstStyle/>
                    <a:p>
                      <a:pPr algn="ctr" rtl="0" fontAlgn="ctr">
                        <a:buNone/>
                      </a:pPr>
                      <a:r>
                        <a:rPr lang="es-CO" sz="1200" b="0" i="0" u="none" strike="noStrike">
                          <a:solidFill>
                            <a:srgbClr val="80589F"/>
                          </a:solidFill>
                          <a:effectLst/>
                          <a:latin typeface="Muli"/>
                        </a:rPr>
                        <a:t>10%</a:t>
                      </a:r>
                    </a:p>
                  </a:txBody>
                  <a:tcPr marL="6396" marR="6396" marT="6396" marB="3070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AF0"/>
                    </a:solidFill>
                  </a:tcPr>
                </a:tc>
                <a:extLst>
                  <a:ext uri="{0D108BD9-81ED-4DB2-BD59-A6C34878D82A}">
                    <a16:rowId xmlns:a16="http://schemas.microsoft.com/office/drawing/2014/main" val="3627357510"/>
                  </a:ext>
                </a:extLst>
              </a:tr>
            </a:tbl>
          </a:graphicData>
        </a:graphic>
      </p:graphicFrame>
    </p:spTree>
    <p:extLst>
      <p:ext uri="{BB962C8B-B14F-4D97-AF65-F5344CB8AC3E}">
        <p14:creationId xmlns:p14="http://schemas.microsoft.com/office/powerpoint/2010/main" val="25409757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6F87F4-E8F2-18C4-29B5-A9B7732FAA1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87F0A2C-93BA-D311-BB60-B0E4B459F1E8}"/>
              </a:ext>
            </a:extLst>
          </p:cNvPr>
          <p:cNvSpPr>
            <a:spLocks noGrp="1"/>
          </p:cNvSpPr>
          <p:nvPr>
            <p:ph type="ctrTitle"/>
          </p:nvPr>
        </p:nvSpPr>
        <p:spPr/>
        <p:txBody>
          <a:bodyPr>
            <a:normAutofit/>
          </a:bodyPr>
          <a:lstStyle/>
          <a:p>
            <a:pPr algn="ctr"/>
            <a:r>
              <a:rPr lang="es-CO" noProof="0"/>
              <a:t>Cuidados Paliativos Emssanar 2026</a:t>
            </a:r>
          </a:p>
        </p:txBody>
      </p:sp>
      <p:sp>
        <p:nvSpPr>
          <p:cNvPr id="3" name="CuadroTexto 2">
            <a:extLst>
              <a:ext uri="{FF2B5EF4-FFF2-40B4-BE49-F238E27FC236}">
                <a16:creationId xmlns:a16="http://schemas.microsoft.com/office/drawing/2014/main" id="{51031C56-D09A-9B9F-4705-F4FFFE8C7EFF}"/>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a:t>
            </a:r>
            <a:r>
              <a:rPr lang="es-CO" sz="1200" i="1">
                <a:solidFill>
                  <a:schemeClr val="tx2"/>
                </a:solidFill>
              </a:rPr>
              <a:t> Septiembre</a:t>
            </a:r>
            <a:r>
              <a:rPr lang="es-CO" sz="1200" i="1" noProof="0">
                <a:solidFill>
                  <a:schemeClr val="tx2"/>
                </a:solidFill>
              </a:rPr>
              <a:t> 2026</a:t>
            </a:r>
          </a:p>
        </p:txBody>
      </p:sp>
      <p:pic>
        <p:nvPicPr>
          <p:cNvPr id="7" name="Imagen 6">
            <a:extLst>
              <a:ext uri="{FF2B5EF4-FFF2-40B4-BE49-F238E27FC236}">
                <a16:creationId xmlns:a16="http://schemas.microsoft.com/office/drawing/2014/main" id="{F6333FC1-845D-EE12-1877-F74797A4C46E}"/>
              </a:ext>
            </a:extLst>
          </p:cNvPr>
          <p:cNvPicPr>
            <a:picLocks noChangeAspect="1"/>
          </p:cNvPicPr>
          <p:nvPr/>
        </p:nvPicPr>
        <p:blipFill>
          <a:blip r:embed="rId3"/>
          <a:stretch>
            <a:fillRect/>
          </a:stretch>
        </p:blipFill>
        <p:spPr>
          <a:xfrm>
            <a:off x="1272045" y="1350515"/>
            <a:ext cx="9406119" cy="2003054"/>
          </a:xfrm>
          <a:prstGeom prst="rect">
            <a:avLst/>
          </a:prstGeom>
        </p:spPr>
      </p:pic>
      <p:pic>
        <p:nvPicPr>
          <p:cNvPr id="9" name="Imagen 8">
            <a:extLst>
              <a:ext uri="{FF2B5EF4-FFF2-40B4-BE49-F238E27FC236}">
                <a16:creationId xmlns:a16="http://schemas.microsoft.com/office/drawing/2014/main" id="{AC360E4E-605C-C196-E6A6-DFF73C530637}"/>
              </a:ext>
            </a:extLst>
          </p:cNvPr>
          <p:cNvPicPr>
            <a:picLocks noChangeAspect="1"/>
          </p:cNvPicPr>
          <p:nvPr/>
        </p:nvPicPr>
        <p:blipFill>
          <a:blip r:embed="rId4"/>
          <a:stretch>
            <a:fillRect/>
          </a:stretch>
        </p:blipFill>
        <p:spPr>
          <a:xfrm>
            <a:off x="1272044" y="3789739"/>
            <a:ext cx="9406119" cy="2003054"/>
          </a:xfrm>
          <a:prstGeom prst="rect">
            <a:avLst/>
          </a:prstGeom>
        </p:spPr>
      </p:pic>
    </p:spTree>
    <p:extLst>
      <p:ext uri="{BB962C8B-B14F-4D97-AF65-F5344CB8AC3E}">
        <p14:creationId xmlns:p14="http://schemas.microsoft.com/office/powerpoint/2010/main" val="310417525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AD994-6153-E23B-6F31-BE772648708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681E19B-9561-F120-D232-FB4205101320}"/>
              </a:ext>
            </a:extLst>
          </p:cNvPr>
          <p:cNvSpPr>
            <a:spLocks noGrp="1"/>
          </p:cNvSpPr>
          <p:nvPr>
            <p:ph type="ctrTitle"/>
          </p:nvPr>
        </p:nvSpPr>
        <p:spPr>
          <a:xfrm>
            <a:off x="273120" y="56461"/>
            <a:ext cx="11645759" cy="671327"/>
          </a:xfrm>
        </p:spPr>
        <p:txBody>
          <a:bodyPr>
            <a:normAutofit fontScale="90000"/>
          </a:bodyPr>
          <a:lstStyle/>
          <a:p>
            <a:r>
              <a:rPr lang="es-CO"/>
              <a:t>Informe hospitalario Emssanar 2026</a:t>
            </a:r>
          </a:p>
        </p:txBody>
      </p:sp>
      <p:graphicFrame>
        <p:nvGraphicFramePr>
          <p:cNvPr id="7" name="Gráfico 6">
            <a:extLst>
              <a:ext uri="{FF2B5EF4-FFF2-40B4-BE49-F238E27FC236}">
                <a16:creationId xmlns:a16="http://schemas.microsoft.com/office/drawing/2014/main" id="{AC25C83E-7269-C360-A495-7FC7BF360272}"/>
              </a:ext>
            </a:extLst>
          </p:cNvPr>
          <p:cNvGraphicFramePr>
            <a:graphicFrameLocks/>
          </p:cNvGraphicFramePr>
          <p:nvPr>
            <p:extLst>
              <p:ext uri="{D42A27DB-BD31-4B8C-83A1-F6EECF244321}">
                <p14:modId xmlns:p14="http://schemas.microsoft.com/office/powerpoint/2010/main" val="533781856"/>
              </p:ext>
            </p:extLst>
          </p:nvPr>
        </p:nvGraphicFramePr>
        <p:xfrm>
          <a:off x="677055" y="582196"/>
          <a:ext cx="11060243" cy="4214656"/>
        </p:xfrm>
        <a:graphic>
          <a:graphicData uri="http://schemas.openxmlformats.org/drawingml/2006/chart">
            <c:chart xmlns:c="http://schemas.openxmlformats.org/drawingml/2006/chart" xmlns:r="http://schemas.openxmlformats.org/officeDocument/2006/relationships" r:id="rId2"/>
          </a:graphicData>
        </a:graphic>
      </p:graphicFrame>
      <p:sp>
        <p:nvSpPr>
          <p:cNvPr id="9" name="CuadroTexto 8">
            <a:extLst>
              <a:ext uri="{FF2B5EF4-FFF2-40B4-BE49-F238E27FC236}">
                <a16:creationId xmlns:a16="http://schemas.microsoft.com/office/drawing/2014/main" id="{ED33F0F3-FAFB-C9DA-18B7-F35ECDFC4F03}"/>
              </a:ext>
            </a:extLst>
          </p:cNvPr>
          <p:cNvSpPr txBox="1"/>
          <p:nvPr/>
        </p:nvSpPr>
        <p:spPr>
          <a:xfrm>
            <a:off x="136559" y="5002307"/>
            <a:ext cx="11918880" cy="1477328"/>
          </a:xfrm>
          <a:prstGeom prst="rect">
            <a:avLst/>
          </a:prstGeom>
          <a:noFill/>
        </p:spPr>
        <p:txBody>
          <a:bodyPr wrap="square">
            <a:spAutoFit/>
          </a:bodyPr>
          <a:lstStyle/>
          <a:p>
            <a:r>
              <a:rPr lang="es-MX" sz="1800"/>
              <a:t>Predominio de las hospitalizaciones es por  dolor oncológico como síntoma principal (56% del grupo), habitualmente manejable con esquemas analgésicos orales, transdérmicos o subcutáneos y seguimiento de enfermería domiciliaria</a:t>
            </a:r>
          </a:p>
          <a:p>
            <a:r>
              <a:rPr lang="es-MX"/>
              <a:t>Luego estado clínico severo y procedimientos quirúrgicos 24%</a:t>
            </a:r>
          </a:p>
          <a:p>
            <a:r>
              <a:rPr lang="es-MX"/>
              <a:t>Otras causas están las quimioterapia intrahospitalarias, complicaciones y paliativos</a:t>
            </a:r>
          </a:p>
          <a:p>
            <a:pPr algn="just"/>
            <a:r>
              <a:rPr lang="es-MX"/>
              <a:t>86% de los tumores hospitalizados son solidos y el 14% son líquidos</a:t>
            </a:r>
            <a:endParaRPr lang="es-CO"/>
          </a:p>
        </p:txBody>
      </p:sp>
    </p:spTree>
    <p:extLst>
      <p:ext uri="{BB962C8B-B14F-4D97-AF65-F5344CB8AC3E}">
        <p14:creationId xmlns:p14="http://schemas.microsoft.com/office/powerpoint/2010/main" val="85126078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100E5-DBD5-1422-CB0E-2FA26D5A3419}"/>
            </a:ext>
          </a:extLst>
        </p:cNvPr>
        <p:cNvGrpSpPr/>
        <p:nvPr/>
      </p:nvGrpSpPr>
      <p:grpSpPr>
        <a:xfrm>
          <a:off x="0" y="0"/>
          <a:ext cx="0" cy="0"/>
          <a:chOff x="0" y="0"/>
          <a:chExt cx="0" cy="0"/>
        </a:xfrm>
      </p:grpSpPr>
      <p:sp>
        <p:nvSpPr>
          <p:cNvPr id="6" name="Título 1">
            <a:extLst>
              <a:ext uri="{FF2B5EF4-FFF2-40B4-BE49-F238E27FC236}">
                <a16:creationId xmlns:a16="http://schemas.microsoft.com/office/drawing/2014/main" id="{9EE62B9E-24E7-2CCC-20C5-128E568D77BE}"/>
              </a:ext>
            </a:extLst>
          </p:cNvPr>
          <p:cNvSpPr txBox="1">
            <a:spLocks/>
          </p:cNvSpPr>
          <p:nvPr/>
        </p:nvSpPr>
        <p:spPr>
          <a:xfrm>
            <a:off x="3153853" y="76014"/>
            <a:ext cx="5884294" cy="812078"/>
          </a:xfrm>
          <a:prstGeom prst="rect">
            <a:avLst/>
          </a:prstGeom>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sz="4400" b="1" kern="1200">
                <a:solidFill>
                  <a:srgbClr val="00A19C"/>
                </a:solidFill>
                <a:latin typeface="+mj-lt"/>
                <a:ea typeface="+mj-ea"/>
                <a:cs typeface="+mj-cs"/>
              </a:defRPr>
            </a:lvl1pPr>
          </a:lstStyle>
          <a:p>
            <a:r>
              <a:rPr lang="es-CO">
                <a:solidFill>
                  <a:schemeClr val="tx1"/>
                </a:solidFill>
                <a:latin typeface="Century Gothic"/>
              </a:rPr>
              <a:t>Encuestas de satisfacción</a:t>
            </a:r>
            <a:endParaRPr lang="es-ES"/>
          </a:p>
        </p:txBody>
      </p:sp>
      <p:graphicFrame>
        <p:nvGraphicFramePr>
          <p:cNvPr id="2" name="Gráfico 1">
            <a:extLst>
              <a:ext uri="{FF2B5EF4-FFF2-40B4-BE49-F238E27FC236}">
                <a16:creationId xmlns:a16="http://schemas.microsoft.com/office/drawing/2014/main" id="{FC73E480-D62B-41D4-A4CC-16D9A7E0F919}"/>
              </a:ext>
              <a:ext uri="{147F2762-F138-4A5C-976F-8EAC2B608ADB}">
                <a16:predDERef xmlns:a16="http://schemas.microsoft.com/office/drawing/2014/main" pred="{BCFC593D-8B38-F657-4CF5-561264047A1A}"/>
              </a:ext>
            </a:extLst>
          </p:cNvPr>
          <p:cNvGraphicFramePr>
            <a:graphicFrameLocks/>
          </p:cNvGraphicFramePr>
          <p:nvPr/>
        </p:nvGraphicFramePr>
        <p:xfrm>
          <a:off x="1645920" y="1021080"/>
          <a:ext cx="9113520" cy="5364480"/>
        </p:xfrm>
        <a:graphic>
          <a:graphicData uri="http://schemas.openxmlformats.org/drawingml/2006/chart">
            <c:chart xmlns:c="http://schemas.openxmlformats.org/drawingml/2006/chart" xmlns:r="http://schemas.openxmlformats.org/officeDocument/2006/relationships" r:id="rId3"/>
          </a:graphicData>
        </a:graphic>
      </p:graphicFrame>
      <p:sp>
        <p:nvSpPr>
          <p:cNvPr id="7" name="CuadroTexto 6">
            <a:extLst>
              <a:ext uri="{FF2B5EF4-FFF2-40B4-BE49-F238E27FC236}">
                <a16:creationId xmlns:a16="http://schemas.microsoft.com/office/drawing/2014/main" id="{9C098866-FC4B-3612-0C70-543BF238A1AC}"/>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SAU INOOS Agosto 2026</a:t>
            </a:r>
          </a:p>
        </p:txBody>
      </p:sp>
    </p:spTree>
    <p:extLst>
      <p:ext uri="{BB962C8B-B14F-4D97-AF65-F5344CB8AC3E}">
        <p14:creationId xmlns:p14="http://schemas.microsoft.com/office/powerpoint/2010/main" val="210335701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18306BC1-7945-E1D7-39F9-6503A19F23C4}"/>
              </a:ext>
            </a:extLst>
          </p:cNvPr>
          <p:cNvSpPr txBox="1">
            <a:spLocks/>
          </p:cNvSpPr>
          <p:nvPr/>
        </p:nvSpPr>
        <p:spPr>
          <a:xfrm>
            <a:off x="1026493" y="-46602"/>
            <a:ext cx="10515600" cy="81207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400" b="1" kern="1200">
                <a:solidFill>
                  <a:srgbClr val="00A19C"/>
                </a:solidFill>
                <a:latin typeface="+mj-lt"/>
                <a:ea typeface="+mj-ea"/>
                <a:cs typeface="+mj-cs"/>
              </a:defRPr>
            </a:lvl1pPr>
          </a:lstStyle>
          <a:p>
            <a:r>
              <a:rPr lang="es-CO">
                <a:solidFill>
                  <a:schemeClr val="tx1"/>
                </a:solidFill>
                <a:latin typeface="Century Gothic"/>
              </a:rPr>
              <a:t>QSE</a:t>
            </a:r>
            <a:endParaRPr lang="es-ES"/>
          </a:p>
        </p:txBody>
      </p:sp>
      <p:graphicFrame>
        <p:nvGraphicFramePr>
          <p:cNvPr id="3" name="Gráfico 2">
            <a:extLst>
              <a:ext uri="{FF2B5EF4-FFF2-40B4-BE49-F238E27FC236}">
                <a16:creationId xmlns:a16="http://schemas.microsoft.com/office/drawing/2014/main" id="{B5E17886-C699-4E3B-97BF-2DB0F9615CD6}"/>
              </a:ext>
              <a:ext uri="{147F2762-F138-4A5C-976F-8EAC2B608ADB}">
                <a16:predDERef xmlns:a16="http://schemas.microsoft.com/office/drawing/2014/main" pred="{AEFE3A31-82D6-4886-9BFC-E4D274197454}"/>
              </a:ext>
            </a:extLst>
          </p:cNvPr>
          <p:cNvGraphicFramePr>
            <a:graphicFrameLocks/>
          </p:cNvGraphicFramePr>
          <p:nvPr/>
        </p:nvGraphicFramePr>
        <p:xfrm>
          <a:off x="6884670" y="563881"/>
          <a:ext cx="4926330" cy="301583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Gráfico 3">
            <a:extLst>
              <a:ext uri="{FF2B5EF4-FFF2-40B4-BE49-F238E27FC236}">
                <a16:creationId xmlns:a16="http://schemas.microsoft.com/office/drawing/2014/main" id="{AEFE3A31-82D6-4886-9BFC-E4D274197454}"/>
              </a:ext>
              <a:ext uri="{147F2762-F138-4A5C-976F-8EAC2B608ADB}">
                <a16:predDERef xmlns:a16="http://schemas.microsoft.com/office/drawing/2014/main" pred="{AD11C8A8-7C66-4ED8-94E6-A9EB16321E99}"/>
              </a:ext>
            </a:extLst>
          </p:cNvPr>
          <p:cNvGraphicFramePr>
            <a:graphicFrameLocks/>
          </p:cNvGraphicFramePr>
          <p:nvPr/>
        </p:nvGraphicFramePr>
        <p:xfrm>
          <a:off x="1669582" y="789747"/>
          <a:ext cx="4572000" cy="276569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Gráfico 4">
            <a:extLst>
              <a:ext uri="{FF2B5EF4-FFF2-40B4-BE49-F238E27FC236}">
                <a16:creationId xmlns:a16="http://schemas.microsoft.com/office/drawing/2014/main" id="{0F5435FA-308C-4D56-983D-1A831AAB2F3D}"/>
              </a:ext>
              <a:ext uri="{147F2762-F138-4A5C-976F-8EAC2B608ADB}">
                <a16:predDERef xmlns:a16="http://schemas.microsoft.com/office/drawing/2014/main" pred="{B5E17886-C699-4E3B-97BF-2DB0F9615CD6}"/>
              </a:ext>
            </a:extLst>
          </p:cNvPr>
          <p:cNvGraphicFramePr>
            <a:graphicFrameLocks/>
          </p:cNvGraphicFramePr>
          <p:nvPr/>
        </p:nvGraphicFramePr>
        <p:xfrm>
          <a:off x="1669582" y="3781512"/>
          <a:ext cx="4691062" cy="276969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Gráfico 5">
            <a:extLst>
              <a:ext uri="{FF2B5EF4-FFF2-40B4-BE49-F238E27FC236}">
                <a16:creationId xmlns:a16="http://schemas.microsoft.com/office/drawing/2014/main" id="{AD11C8A8-7C66-4ED8-94E6-A9EB16321E99}"/>
              </a:ext>
              <a:ext uri="{147F2762-F138-4A5C-976F-8EAC2B608ADB}">
                <a16:predDERef xmlns:a16="http://schemas.microsoft.com/office/drawing/2014/main" pred="{CA3ADA5B-2B99-4BBA-A463-B7312F81D5F0}"/>
              </a:ext>
            </a:extLst>
          </p:cNvPr>
          <p:cNvGraphicFramePr>
            <a:graphicFrameLocks/>
          </p:cNvGraphicFramePr>
          <p:nvPr/>
        </p:nvGraphicFramePr>
        <p:xfrm>
          <a:off x="6762750" y="3687885"/>
          <a:ext cx="5048250" cy="2863322"/>
        </p:xfrm>
        <a:graphic>
          <a:graphicData uri="http://schemas.openxmlformats.org/drawingml/2006/chart">
            <c:chart xmlns:c="http://schemas.openxmlformats.org/drawingml/2006/chart" xmlns:r="http://schemas.openxmlformats.org/officeDocument/2006/relationships" r:id="rId5"/>
          </a:graphicData>
        </a:graphic>
      </p:graphicFrame>
      <p:sp>
        <p:nvSpPr>
          <p:cNvPr id="10" name="CuadroTexto 9">
            <a:extLst>
              <a:ext uri="{FF2B5EF4-FFF2-40B4-BE49-F238E27FC236}">
                <a16:creationId xmlns:a16="http://schemas.microsoft.com/office/drawing/2014/main" id="{662892F8-50E4-B502-1C88-649E84FC3C45}"/>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SAU INOOS Agosto 2026</a:t>
            </a:r>
          </a:p>
        </p:txBody>
      </p:sp>
    </p:spTree>
    <p:extLst>
      <p:ext uri="{BB962C8B-B14F-4D97-AF65-F5344CB8AC3E}">
        <p14:creationId xmlns:p14="http://schemas.microsoft.com/office/powerpoint/2010/main" val="86280056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ADEFC-6562-06B7-675D-F542066FE43F}"/>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DA577EDD-AFCC-51F4-1C79-2F6F2E98FE4E}"/>
              </a:ext>
            </a:extLst>
          </p:cNvPr>
          <p:cNvSpPr txBox="1">
            <a:spLocks/>
          </p:cNvSpPr>
          <p:nvPr/>
        </p:nvSpPr>
        <p:spPr>
          <a:xfrm>
            <a:off x="1068049" y="165719"/>
            <a:ext cx="10515600" cy="81207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400" b="1" kern="1200">
                <a:solidFill>
                  <a:srgbClr val="00A19C"/>
                </a:solidFill>
                <a:latin typeface="+mj-lt"/>
                <a:ea typeface="+mj-ea"/>
                <a:cs typeface="+mj-cs"/>
              </a:defRPr>
            </a:lvl1pPr>
          </a:lstStyle>
          <a:p>
            <a:r>
              <a:rPr lang="es-CO">
                <a:solidFill>
                  <a:schemeClr val="tx1"/>
                </a:solidFill>
                <a:latin typeface="Century Gothic"/>
              </a:rPr>
              <a:t>PQRSF</a:t>
            </a:r>
            <a:endParaRPr lang="es-ES"/>
          </a:p>
        </p:txBody>
      </p:sp>
      <p:sp>
        <p:nvSpPr>
          <p:cNvPr id="5" name="CuadroTexto 4">
            <a:extLst>
              <a:ext uri="{FF2B5EF4-FFF2-40B4-BE49-F238E27FC236}">
                <a16:creationId xmlns:a16="http://schemas.microsoft.com/office/drawing/2014/main" id="{C618D78E-ADE2-0BBB-8AF5-CA4E11D55337}"/>
              </a:ext>
            </a:extLst>
          </p:cNvPr>
          <p:cNvSpPr txBox="1"/>
          <p:nvPr/>
        </p:nvSpPr>
        <p:spPr>
          <a:xfrm>
            <a:off x="7254240" y="1208384"/>
            <a:ext cx="4558009" cy="4031873"/>
          </a:xfrm>
          <a:prstGeom prst="rect">
            <a:avLst/>
          </a:prstGeom>
          <a:noFill/>
        </p:spPr>
        <p:txBody>
          <a:bodyPr wrap="square" lIns="91440" tIns="45720" rIns="91440" bIns="45720" anchor="t">
            <a:spAutoFit/>
          </a:bodyPr>
          <a:lstStyle>
            <a:defPPr>
              <a:defRPr lang="es-CO"/>
            </a:defPPr>
            <a:lvl1pPr algn="just">
              <a:defRPr sz="1600">
                <a:solidFill>
                  <a:schemeClr val="tx1">
                    <a:lumMod val="50000"/>
                  </a:schemeClr>
                </a:solidFill>
                <a:latin typeface="Aptos" panose="020B0004020202020204" pitchFamily="34" charset="0"/>
              </a:defRPr>
            </a:lvl1pPr>
          </a:lstStyle>
          <a:p>
            <a:r>
              <a:rPr lang="es-CO">
                <a:solidFill>
                  <a:schemeClr val="tx2"/>
                </a:solidFill>
              </a:rPr>
              <a:t>Durante agosto se registraron 11 manifestaciones, evidenciándose una disminución del 56 % frente a julio y el menor volumen del periodo enero–agosto. El comportamiento estuvo concentrado principalmente en peticiones de la continuidad de la atención.</a:t>
            </a:r>
          </a:p>
          <a:p>
            <a:endParaRPr lang="es-CO">
              <a:solidFill>
                <a:schemeClr val="tx2"/>
              </a:solidFill>
            </a:endParaRPr>
          </a:p>
          <a:p>
            <a:r>
              <a:rPr lang="es-CO">
                <a:solidFill>
                  <a:schemeClr val="tx2"/>
                </a:solidFill>
              </a:rPr>
              <a:t>Se cuenta adicionalmente con reporte a través de Drive de 115 PQR Supersalud y de Secretaria de Salud. </a:t>
            </a:r>
          </a:p>
          <a:p>
            <a:endParaRPr lang="es-CO">
              <a:solidFill>
                <a:schemeClr val="tx2"/>
              </a:solidFill>
            </a:endParaRPr>
          </a:p>
          <a:p>
            <a:r>
              <a:rPr lang="es-CO">
                <a:solidFill>
                  <a:schemeClr val="tx2"/>
                </a:solidFill>
              </a:rPr>
              <a:t>La principal causa de manifestación es la continuidad de la atención especialmente en los servicios de consulta externa,  quimioterapia y cirugía. </a:t>
            </a:r>
          </a:p>
        </p:txBody>
      </p:sp>
      <p:graphicFrame>
        <p:nvGraphicFramePr>
          <p:cNvPr id="3" name="Gráfico 2">
            <a:extLst>
              <a:ext uri="{FF2B5EF4-FFF2-40B4-BE49-F238E27FC236}">
                <a16:creationId xmlns:a16="http://schemas.microsoft.com/office/drawing/2014/main" id="{2413FC85-884A-4C1D-9E5C-21BA0BD17447}"/>
              </a:ext>
              <a:ext uri="{147F2762-F138-4A5C-976F-8EAC2B608ADB}">
                <a16:predDERef xmlns:a16="http://schemas.microsoft.com/office/drawing/2014/main" pred="{BA5A2AA0-8839-54C5-9556-D55C0E60E844}"/>
              </a:ext>
            </a:extLst>
          </p:cNvPr>
          <p:cNvGraphicFramePr>
            <a:graphicFrameLocks/>
          </p:cNvGraphicFramePr>
          <p:nvPr/>
        </p:nvGraphicFramePr>
        <p:xfrm>
          <a:off x="1068049" y="977797"/>
          <a:ext cx="6186191" cy="5242559"/>
        </p:xfrm>
        <a:graphic>
          <a:graphicData uri="http://schemas.openxmlformats.org/drawingml/2006/chart">
            <c:chart xmlns:c="http://schemas.openxmlformats.org/drawingml/2006/chart" xmlns:r="http://schemas.openxmlformats.org/officeDocument/2006/relationships" r:id="rId2"/>
          </a:graphicData>
        </a:graphic>
      </p:graphicFrame>
      <p:sp>
        <p:nvSpPr>
          <p:cNvPr id="8" name="CuadroTexto 7">
            <a:extLst>
              <a:ext uri="{FF2B5EF4-FFF2-40B4-BE49-F238E27FC236}">
                <a16:creationId xmlns:a16="http://schemas.microsoft.com/office/drawing/2014/main" id="{69043F98-37AA-7801-A98C-899D4DA2F737}"/>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SAU INOOS Agosto 2026</a:t>
            </a:r>
          </a:p>
        </p:txBody>
      </p:sp>
    </p:spTree>
    <p:extLst>
      <p:ext uri="{BB962C8B-B14F-4D97-AF65-F5344CB8AC3E}">
        <p14:creationId xmlns:p14="http://schemas.microsoft.com/office/powerpoint/2010/main" val="205651555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BEDFD-1841-7FA2-2ABD-69135E2D05EB}"/>
            </a:ext>
          </a:extLst>
        </p:cNvPr>
        <p:cNvGrpSpPr/>
        <p:nvPr/>
      </p:nvGrpSpPr>
      <p:grpSpPr>
        <a:xfrm>
          <a:off x="0" y="0"/>
          <a:ext cx="0" cy="0"/>
          <a:chOff x="0" y="0"/>
          <a:chExt cx="0" cy="0"/>
        </a:xfrm>
      </p:grpSpPr>
      <p:pic>
        <p:nvPicPr>
          <p:cNvPr id="10" name="Imagen 9">
            <a:extLst>
              <a:ext uri="{FF2B5EF4-FFF2-40B4-BE49-F238E27FC236}">
                <a16:creationId xmlns:a16="http://schemas.microsoft.com/office/drawing/2014/main" id="{DD35117D-5AAA-E7C8-A91E-CBBBDBD6E2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CuadroTexto 11">
            <a:extLst>
              <a:ext uri="{FF2B5EF4-FFF2-40B4-BE49-F238E27FC236}">
                <a16:creationId xmlns:a16="http://schemas.microsoft.com/office/drawing/2014/main" id="{9B947890-ABC0-A2A5-8B00-8B3CFE97F84A}"/>
              </a:ext>
            </a:extLst>
          </p:cNvPr>
          <p:cNvSpPr txBox="1"/>
          <p:nvPr/>
        </p:nvSpPr>
        <p:spPr>
          <a:xfrm>
            <a:off x="4491036" y="2474222"/>
            <a:ext cx="6359844" cy="1323439"/>
          </a:xfrm>
          <a:prstGeom prst="rect">
            <a:avLst/>
          </a:prstGeom>
          <a:noFill/>
        </p:spPr>
        <p:txBody>
          <a:bodyPr wrap="square">
            <a:spAutoFit/>
          </a:bodyPr>
          <a:lstStyle/>
          <a:p>
            <a:pPr algn="ctr"/>
            <a:r>
              <a:rPr lang="es-ES" sz="2000">
                <a:solidFill>
                  <a:srgbClr val="242424"/>
                </a:solidFill>
                <a:latin typeface="Lao UI" panose="020B0502040204020203" pitchFamily="34" charset="0"/>
                <a:ea typeface="Calibri" panose="020F0502020204030204" pitchFamily="34" charset="0"/>
                <a:cs typeface="Lao UI" panose="020B0502040204020203" pitchFamily="34" charset="0"/>
              </a:rPr>
              <a:t>Ustedes son muy atentos con mi mamá, la gestora Laura y la señorita Yurany siempre me han ayudado y me responden, se ve que quieren lo que hacen. Espero que pronto se solucione la situación con Emssanar</a:t>
            </a:r>
            <a:endParaRPr lang="es-CO" sz="3600">
              <a:latin typeface="Lao UI" panose="020B0502040204020203" pitchFamily="34" charset="0"/>
              <a:ea typeface="Calibri" panose="020F0502020204030204" pitchFamily="34" charset="0"/>
              <a:cs typeface="Lao UI" panose="020B0502040204020203" pitchFamily="34" charset="0"/>
            </a:endParaRPr>
          </a:p>
        </p:txBody>
      </p:sp>
      <p:sp>
        <p:nvSpPr>
          <p:cNvPr id="5" name="CuadroTexto 4">
            <a:extLst>
              <a:ext uri="{FF2B5EF4-FFF2-40B4-BE49-F238E27FC236}">
                <a16:creationId xmlns:a16="http://schemas.microsoft.com/office/drawing/2014/main" id="{B861762C-5A0C-EAF2-E3E0-4FF6A6EFF60A}"/>
              </a:ext>
            </a:extLst>
          </p:cNvPr>
          <p:cNvSpPr txBox="1"/>
          <p:nvPr/>
        </p:nvSpPr>
        <p:spPr>
          <a:xfrm>
            <a:off x="2457606" y="6581001"/>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SAU INOOS Agosto 2026</a:t>
            </a:r>
          </a:p>
        </p:txBody>
      </p:sp>
    </p:spTree>
    <p:extLst>
      <p:ext uri="{BB962C8B-B14F-4D97-AF65-F5344CB8AC3E}">
        <p14:creationId xmlns:p14="http://schemas.microsoft.com/office/powerpoint/2010/main" val="99096498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9FB7E-676A-A20A-0270-3BF0D830822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5CCA757-1110-CD02-89A7-D03512B510D4}"/>
              </a:ext>
            </a:extLst>
          </p:cNvPr>
          <p:cNvSpPr>
            <a:spLocks noGrp="1"/>
          </p:cNvSpPr>
          <p:nvPr>
            <p:ph type="ctrTitle"/>
          </p:nvPr>
        </p:nvSpPr>
        <p:spPr/>
        <p:txBody>
          <a:bodyPr/>
          <a:lstStyle/>
          <a:p>
            <a:r>
              <a:rPr lang="es-ES"/>
              <a:t>Gestión de Tutelas e Incidentes Emssanar 2026</a:t>
            </a:r>
            <a:endParaRPr lang="es-CO"/>
          </a:p>
        </p:txBody>
      </p:sp>
      <p:sp>
        <p:nvSpPr>
          <p:cNvPr id="6" name="CuadroTexto 5">
            <a:extLst>
              <a:ext uri="{FF2B5EF4-FFF2-40B4-BE49-F238E27FC236}">
                <a16:creationId xmlns:a16="http://schemas.microsoft.com/office/drawing/2014/main" id="{FD25759A-7848-F465-BCF3-E1B6351C176C}"/>
              </a:ext>
            </a:extLst>
          </p:cNvPr>
          <p:cNvSpPr txBox="1"/>
          <p:nvPr/>
        </p:nvSpPr>
        <p:spPr>
          <a:xfrm>
            <a:off x="603912" y="4280698"/>
            <a:ext cx="10984175" cy="1200329"/>
          </a:xfrm>
          <a:prstGeom prst="rect">
            <a:avLst/>
          </a:prstGeom>
          <a:noFill/>
        </p:spPr>
        <p:txBody>
          <a:bodyPr wrap="square">
            <a:spAutoFit/>
          </a:bodyPr>
          <a:lstStyle/>
          <a:p>
            <a:pPr algn="just"/>
            <a:r>
              <a:rPr lang="es-CO"/>
              <a:t>Entre enero y septiembre de 2026 se registraron 192 tutelas e incidentes asociados a Emssanar, con una concentración del 65% de los casos entre junio y septiembre. Las principales causas corresponden a quimioterapia, procedimientos quirúrgicos y consultas, evidenciando que el riesgo jurídico está estrechamente relacionado el protocolo de protección de caja de Inoos</a:t>
            </a:r>
            <a:endParaRPr lang="es-CO">
              <a:solidFill>
                <a:schemeClr val="accent1"/>
              </a:solidFill>
            </a:endParaRPr>
          </a:p>
        </p:txBody>
      </p:sp>
      <p:graphicFrame>
        <p:nvGraphicFramePr>
          <p:cNvPr id="4" name="Gráfico 3">
            <a:extLst>
              <a:ext uri="{FF2B5EF4-FFF2-40B4-BE49-F238E27FC236}">
                <a16:creationId xmlns:a16="http://schemas.microsoft.com/office/drawing/2014/main" id="{6E99BCD7-1DAC-2CAA-F468-3D902BCF4417}"/>
              </a:ext>
            </a:extLst>
          </p:cNvPr>
          <p:cNvGraphicFramePr>
            <a:graphicFrameLocks/>
          </p:cNvGraphicFramePr>
          <p:nvPr>
            <p:extLst>
              <p:ext uri="{D42A27DB-BD31-4B8C-83A1-F6EECF244321}">
                <p14:modId xmlns:p14="http://schemas.microsoft.com/office/powerpoint/2010/main" val="1300971953"/>
              </p:ext>
            </p:extLst>
          </p:nvPr>
        </p:nvGraphicFramePr>
        <p:xfrm>
          <a:off x="444501" y="1376973"/>
          <a:ext cx="6436143" cy="205581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Gráfico 7">
            <a:extLst>
              <a:ext uri="{FF2B5EF4-FFF2-40B4-BE49-F238E27FC236}">
                <a16:creationId xmlns:a16="http://schemas.microsoft.com/office/drawing/2014/main" id="{3899C51E-5A99-2D9A-C6C7-F9A2BB8A1FEB}"/>
              </a:ext>
            </a:extLst>
          </p:cNvPr>
          <p:cNvGraphicFramePr>
            <a:graphicFrameLocks/>
          </p:cNvGraphicFramePr>
          <p:nvPr>
            <p:extLst>
              <p:ext uri="{D42A27DB-BD31-4B8C-83A1-F6EECF244321}">
                <p14:modId xmlns:p14="http://schemas.microsoft.com/office/powerpoint/2010/main" val="3277185002"/>
              </p:ext>
            </p:extLst>
          </p:nvPr>
        </p:nvGraphicFramePr>
        <p:xfrm>
          <a:off x="7016087" y="1208792"/>
          <a:ext cx="4572000" cy="26479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46376352"/>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08845-C5B1-4D01-7132-9B830697DDA3}"/>
            </a:ext>
          </a:extLst>
        </p:cNvPr>
        <p:cNvGrpSpPr/>
        <p:nvPr/>
      </p:nvGrpSpPr>
      <p:grpSpPr>
        <a:xfrm>
          <a:off x="0" y="0"/>
          <a:ext cx="0" cy="0"/>
          <a:chOff x="0" y="0"/>
          <a:chExt cx="0" cy="0"/>
        </a:xfrm>
      </p:grpSpPr>
      <p:sp>
        <p:nvSpPr>
          <p:cNvPr id="8" name="Título 1">
            <a:extLst>
              <a:ext uri="{FF2B5EF4-FFF2-40B4-BE49-F238E27FC236}">
                <a16:creationId xmlns:a16="http://schemas.microsoft.com/office/drawing/2014/main" id="{7145E097-9C82-8AB1-6046-8AD2C52CE905}"/>
              </a:ext>
            </a:extLst>
          </p:cNvPr>
          <p:cNvSpPr txBox="1">
            <a:spLocks/>
          </p:cNvSpPr>
          <p:nvPr/>
        </p:nvSpPr>
        <p:spPr>
          <a:xfrm>
            <a:off x="620241" y="2110497"/>
            <a:ext cx="5001039" cy="369120"/>
          </a:xfrm>
          <a:prstGeom prst="rect">
            <a:avLst/>
          </a:prstGeom>
        </p:spPr>
        <p:txBody>
          <a:bodyPr vert="horz" lIns="91440" tIns="45720" rIns="91440" bIns="45720" rtlCol="0" anchor="ctr">
            <a:normAutofit fontScale="90000" lnSpcReduction="10000"/>
          </a:bodyPr>
          <a:lstStyle>
            <a:lvl1pPr algn="ctr"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2400">
                <a:solidFill>
                  <a:srgbClr val="00A19C"/>
                </a:solidFill>
              </a:rPr>
              <a:t>EMSSANAR</a:t>
            </a:r>
          </a:p>
        </p:txBody>
      </p:sp>
      <p:sp>
        <p:nvSpPr>
          <p:cNvPr id="9" name="Título 1">
            <a:extLst>
              <a:ext uri="{FF2B5EF4-FFF2-40B4-BE49-F238E27FC236}">
                <a16:creationId xmlns:a16="http://schemas.microsoft.com/office/drawing/2014/main" id="{34BFE3D9-5BD1-18E9-0F53-C58B913DBDBA}"/>
              </a:ext>
            </a:extLst>
          </p:cNvPr>
          <p:cNvSpPr txBox="1">
            <a:spLocks/>
          </p:cNvSpPr>
          <p:nvPr/>
        </p:nvSpPr>
        <p:spPr>
          <a:xfrm>
            <a:off x="737183" y="1852945"/>
            <a:ext cx="5001039" cy="369120"/>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fontScale="75000" lnSpcReduction="20000"/>
          </a:bodyPr>
          <a:lstStyle>
            <a:defPPr>
              <a:defRPr lang="es-CO"/>
            </a:defPPr>
            <a:lvl1pPr algn="ctr">
              <a:lnSpc>
                <a:spcPct val="90000"/>
              </a:lnSpc>
              <a:spcBef>
                <a:spcPct val="0"/>
              </a:spcBef>
              <a:buNone/>
              <a:defRPr sz="3200" b="1">
                <a:solidFill>
                  <a:srgbClr val="00A19C"/>
                </a:solidFill>
                <a:latin typeface="+mj-lt"/>
                <a:ea typeface="+mj-ea"/>
                <a:cs typeface="+mj-cs"/>
              </a:defRPr>
            </a:lvl1pPr>
          </a:lstStyle>
          <a:p>
            <a:r>
              <a:rPr lang="es-CO"/>
              <a:t>INDICADORES CALL CENTER</a:t>
            </a:r>
          </a:p>
        </p:txBody>
      </p:sp>
      <p:graphicFrame>
        <p:nvGraphicFramePr>
          <p:cNvPr id="2" name="Gráfico 1">
            <a:extLst>
              <a:ext uri="{FF2B5EF4-FFF2-40B4-BE49-F238E27FC236}">
                <a16:creationId xmlns:a16="http://schemas.microsoft.com/office/drawing/2014/main" id="{C22CDC1D-8FA3-DB40-E579-1655CE355696}"/>
              </a:ext>
            </a:extLst>
          </p:cNvPr>
          <p:cNvGraphicFramePr>
            <a:graphicFrameLocks/>
          </p:cNvGraphicFramePr>
          <p:nvPr>
            <p:extLst>
              <p:ext uri="{D42A27DB-BD31-4B8C-83A1-F6EECF244321}">
                <p14:modId xmlns:p14="http://schemas.microsoft.com/office/powerpoint/2010/main" val="763231969"/>
              </p:ext>
            </p:extLst>
          </p:nvPr>
        </p:nvGraphicFramePr>
        <p:xfrm>
          <a:off x="6096000" y="2222065"/>
          <a:ext cx="6068432" cy="163832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Gráfico 2">
            <a:extLst>
              <a:ext uri="{FF2B5EF4-FFF2-40B4-BE49-F238E27FC236}">
                <a16:creationId xmlns:a16="http://schemas.microsoft.com/office/drawing/2014/main" id="{61F21B59-0764-B4D7-FE2E-544FAC5246AC}"/>
              </a:ext>
            </a:extLst>
          </p:cNvPr>
          <p:cNvGraphicFramePr>
            <a:graphicFrameLocks/>
          </p:cNvGraphicFramePr>
          <p:nvPr>
            <p:extLst>
              <p:ext uri="{D42A27DB-BD31-4B8C-83A1-F6EECF244321}">
                <p14:modId xmlns:p14="http://schemas.microsoft.com/office/powerpoint/2010/main" val="680467666"/>
              </p:ext>
            </p:extLst>
          </p:nvPr>
        </p:nvGraphicFramePr>
        <p:xfrm>
          <a:off x="5738222" y="4038535"/>
          <a:ext cx="6302316" cy="197362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Tabla 3">
            <a:extLst>
              <a:ext uri="{FF2B5EF4-FFF2-40B4-BE49-F238E27FC236}">
                <a16:creationId xmlns:a16="http://schemas.microsoft.com/office/drawing/2014/main" id="{F43BA36B-7462-564B-E4EF-9D9BFBF33E55}"/>
              </a:ext>
            </a:extLst>
          </p:cNvPr>
          <p:cNvGraphicFramePr>
            <a:graphicFrameLocks noGrp="1"/>
          </p:cNvGraphicFramePr>
          <p:nvPr>
            <p:extLst>
              <p:ext uri="{D42A27DB-BD31-4B8C-83A1-F6EECF244321}">
                <p14:modId xmlns:p14="http://schemas.microsoft.com/office/powerpoint/2010/main" val="2098939489"/>
              </p:ext>
            </p:extLst>
          </p:nvPr>
        </p:nvGraphicFramePr>
        <p:xfrm>
          <a:off x="429040" y="2518192"/>
          <a:ext cx="5192240" cy="3717099"/>
        </p:xfrm>
        <a:graphic>
          <a:graphicData uri="http://schemas.openxmlformats.org/drawingml/2006/table">
            <a:tbl>
              <a:tblPr/>
              <a:tblGrid>
                <a:gridCol w="2391697">
                  <a:extLst>
                    <a:ext uri="{9D8B030D-6E8A-4147-A177-3AD203B41FA5}">
                      <a16:colId xmlns:a16="http://schemas.microsoft.com/office/drawing/2014/main" val="2354247083"/>
                    </a:ext>
                  </a:extLst>
                </a:gridCol>
                <a:gridCol w="601038">
                  <a:extLst>
                    <a:ext uri="{9D8B030D-6E8A-4147-A177-3AD203B41FA5}">
                      <a16:colId xmlns:a16="http://schemas.microsoft.com/office/drawing/2014/main" val="3572575693"/>
                    </a:ext>
                  </a:extLst>
                </a:gridCol>
                <a:gridCol w="688351">
                  <a:extLst>
                    <a:ext uri="{9D8B030D-6E8A-4147-A177-3AD203B41FA5}">
                      <a16:colId xmlns:a16="http://schemas.microsoft.com/office/drawing/2014/main" val="3495792383"/>
                    </a:ext>
                  </a:extLst>
                </a:gridCol>
                <a:gridCol w="735976">
                  <a:extLst>
                    <a:ext uri="{9D8B030D-6E8A-4147-A177-3AD203B41FA5}">
                      <a16:colId xmlns:a16="http://schemas.microsoft.com/office/drawing/2014/main" val="1900235529"/>
                    </a:ext>
                  </a:extLst>
                </a:gridCol>
                <a:gridCol w="405776">
                  <a:extLst>
                    <a:ext uri="{9D8B030D-6E8A-4147-A177-3AD203B41FA5}">
                      <a16:colId xmlns:a16="http://schemas.microsoft.com/office/drawing/2014/main" val="53368597"/>
                    </a:ext>
                  </a:extLst>
                </a:gridCol>
                <a:gridCol w="369402">
                  <a:extLst>
                    <a:ext uri="{9D8B030D-6E8A-4147-A177-3AD203B41FA5}">
                      <a16:colId xmlns:a16="http://schemas.microsoft.com/office/drawing/2014/main" val="2639420044"/>
                    </a:ext>
                  </a:extLst>
                </a:gridCol>
              </a:tblGrid>
              <a:tr h="133704">
                <a:tc>
                  <a:txBody>
                    <a:bodyPr/>
                    <a:lstStyle/>
                    <a:p>
                      <a:pPr algn="l" rtl="0" fontAlgn="ctr">
                        <a:buNone/>
                      </a:pPr>
                      <a:r>
                        <a:rPr lang="es-CO" sz="1000" b="1" i="0" u="none" strike="noStrike">
                          <a:solidFill>
                            <a:srgbClr val="FFFFFF"/>
                          </a:solidFill>
                          <a:effectLst/>
                          <a:latin typeface="Calibri" panose="020F0502020204030204" pitchFamily="34" charset="0"/>
                        </a:rPr>
                        <a:t>DETALLE DE AGENDAMIENTO EMSSANAR</a:t>
                      </a:r>
                    </a:p>
                  </a:txBody>
                  <a:tcPr marL="9213" marR="9213" marT="92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000" b="1" i="0" u="none" strike="noStrike">
                          <a:solidFill>
                            <a:srgbClr val="FFFFFF"/>
                          </a:solidFill>
                          <a:effectLst/>
                          <a:latin typeface="Calibri" panose="020F0502020204030204" pitchFamily="34" charset="0"/>
                        </a:rPr>
                        <a:t>ATENDIDA</a:t>
                      </a:r>
                    </a:p>
                  </a:txBody>
                  <a:tcPr marL="9213" marR="9213" marT="92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000" b="1" i="0" u="none" strike="noStrike">
                          <a:solidFill>
                            <a:srgbClr val="FFFFFF"/>
                          </a:solidFill>
                          <a:effectLst/>
                          <a:latin typeface="Calibri" panose="020F0502020204030204" pitchFamily="34" charset="0"/>
                        </a:rPr>
                        <a:t>CANCELADA</a:t>
                      </a:r>
                    </a:p>
                  </a:txBody>
                  <a:tcPr marL="9213" marR="9213" marT="92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000" b="1" i="0" u="none" strike="noStrike">
                          <a:solidFill>
                            <a:srgbClr val="FFFFFF"/>
                          </a:solidFill>
                          <a:effectLst/>
                          <a:latin typeface="Calibri" panose="020F0502020204030204" pitchFamily="34" charset="0"/>
                        </a:rPr>
                        <a:t>INCUMPLIDA</a:t>
                      </a:r>
                    </a:p>
                  </a:txBody>
                  <a:tcPr marL="9213" marR="9213" marT="92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000" b="1" i="0" u="none" strike="noStrike">
                          <a:solidFill>
                            <a:srgbClr val="FFFFFF"/>
                          </a:solidFill>
                          <a:effectLst/>
                          <a:latin typeface="Calibri" panose="020F0502020204030204" pitchFamily="34" charset="0"/>
                        </a:rPr>
                        <a:t>TOTAL</a:t>
                      </a:r>
                    </a:p>
                  </a:txBody>
                  <a:tcPr marL="9213" marR="9213" marT="92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000" b="1" i="0" u="none" strike="noStrike">
                          <a:solidFill>
                            <a:srgbClr val="FFFFFF"/>
                          </a:solidFill>
                          <a:effectLst/>
                          <a:latin typeface="Calibri" panose="020F0502020204030204" pitchFamily="34" charset="0"/>
                        </a:rPr>
                        <a:t>%</a:t>
                      </a:r>
                    </a:p>
                  </a:txBody>
                  <a:tcPr marL="9213" marR="9213" marT="92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extLst>
                  <a:ext uri="{0D108BD9-81ED-4DB2-BD59-A6C34878D82A}">
                    <a16:rowId xmlns:a16="http://schemas.microsoft.com/office/drawing/2014/main" val="659907361"/>
                  </a:ext>
                </a:extLst>
              </a:tr>
              <a:tr h="133704">
                <a:tc>
                  <a:txBody>
                    <a:bodyPr/>
                    <a:lstStyle/>
                    <a:p>
                      <a:pPr algn="l" rtl="0" fontAlgn="ctr">
                        <a:buNone/>
                      </a:pPr>
                      <a:r>
                        <a:rPr lang="es-CO" sz="1000" b="1" i="0" u="none" strike="noStrike">
                          <a:solidFill>
                            <a:srgbClr val="FFFFFF"/>
                          </a:solidFill>
                          <a:effectLst/>
                          <a:latin typeface="Calibri" panose="020F0502020204030204" pitchFamily="34" charset="0"/>
                        </a:rPr>
                        <a:t>TRABAJO SOCIAL                                                        </a:t>
                      </a:r>
                    </a:p>
                  </a:txBody>
                  <a:tcPr marL="9213" marR="9213" marT="92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3.637</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344</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445</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4.426</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19%</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48928822"/>
                  </a:ext>
                </a:extLst>
              </a:tr>
              <a:tr h="133704">
                <a:tc>
                  <a:txBody>
                    <a:bodyPr/>
                    <a:lstStyle/>
                    <a:p>
                      <a:pPr algn="l" rtl="0" fontAlgn="ctr">
                        <a:buNone/>
                      </a:pPr>
                      <a:r>
                        <a:rPr lang="es-CO" sz="1000" b="1" i="0" u="none" strike="noStrike">
                          <a:solidFill>
                            <a:srgbClr val="FFFFFF"/>
                          </a:solidFill>
                          <a:effectLst/>
                          <a:latin typeface="Calibri" panose="020F0502020204030204" pitchFamily="34" charset="0"/>
                        </a:rPr>
                        <a:t>PSICOLOGIA                                                            </a:t>
                      </a:r>
                    </a:p>
                  </a:txBody>
                  <a:tcPr marL="9213" marR="9213" marT="92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3.476</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320</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284</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4.080</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17%</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26577515"/>
                  </a:ext>
                </a:extLst>
              </a:tr>
              <a:tr h="133704">
                <a:tc>
                  <a:txBody>
                    <a:bodyPr/>
                    <a:lstStyle/>
                    <a:p>
                      <a:pPr algn="l" rtl="0" fontAlgn="ctr">
                        <a:buNone/>
                      </a:pPr>
                      <a:r>
                        <a:rPr lang="es-CO" sz="1000" b="1" i="0" u="none" strike="noStrike">
                          <a:solidFill>
                            <a:srgbClr val="FFFFFF"/>
                          </a:solidFill>
                          <a:effectLst/>
                          <a:latin typeface="Calibri" panose="020F0502020204030204" pitchFamily="34" charset="0"/>
                        </a:rPr>
                        <a:t>NUTRICION Y DIETETICA                                                 </a:t>
                      </a:r>
                    </a:p>
                  </a:txBody>
                  <a:tcPr marL="9213" marR="9213" marT="92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3.162</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374</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364</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3.900</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17%</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19388667"/>
                  </a:ext>
                </a:extLst>
              </a:tr>
              <a:tr h="133704">
                <a:tc>
                  <a:txBody>
                    <a:bodyPr/>
                    <a:lstStyle/>
                    <a:p>
                      <a:pPr algn="l" rtl="0" fontAlgn="ctr">
                        <a:buNone/>
                      </a:pPr>
                      <a:r>
                        <a:rPr lang="es-CO" sz="1000" b="1" i="0" u="none" strike="noStrike">
                          <a:solidFill>
                            <a:srgbClr val="FFFFFF"/>
                          </a:solidFill>
                          <a:effectLst/>
                          <a:latin typeface="Calibri" panose="020F0502020204030204" pitchFamily="34" charset="0"/>
                        </a:rPr>
                        <a:t>ONCOLOGIA                                                             </a:t>
                      </a:r>
                    </a:p>
                  </a:txBody>
                  <a:tcPr marL="9213" marR="9213" marT="92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1.973</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685</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143</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2.801</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12%</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93670057"/>
                  </a:ext>
                </a:extLst>
              </a:tr>
              <a:tr h="133704">
                <a:tc>
                  <a:txBody>
                    <a:bodyPr/>
                    <a:lstStyle/>
                    <a:p>
                      <a:pPr algn="l" rtl="0" fontAlgn="ctr">
                        <a:buNone/>
                      </a:pPr>
                      <a:r>
                        <a:rPr lang="es-CO" sz="1000" b="1" i="0" u="none" strike="noStrike">
                          <a:solidFill>
                            <a:srgbClr val="FFFFFF"/>
                          </a:solidFill>
                          <a:effectLst/>
                          <a:latin typeface="Calibri" panose="020F0502020204030204" pitchFamily="34" charset="0"/>
                        </a:rPr>
                        <a:t>HEMATO ONCOLOGIA                                                      </a:t>
                      </a:r>
                    </a:p>
                  </a:txBody>
                  <a:tcPr marL="9213" marR="9213" marT="92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1.606</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377</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154</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2.137</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9%</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3619606"/>
                  </a:ext>
                </a:extLst>
              </a:tr>
              <a:tr h="133704">
                <a:tc>
                  <a:txBody>
                    <a:bodyPr/>
                    <a:lstStyle/>
                    <a:p>
                      <a:pPr algn="l" rtl="0" fontAlgn="ctr">
                        <a:buNone/>
                      </a:pPr>
                      <a:r>
                        <a:rPr lang="es-CO" sz="1000" b="1" i="0" u="none" strike="noStrike">
                          <a:solidFill>
                            <a:srgbClr val="FFFFFF"/>
                          </a:solidFill>
                          <a:effectLst/>
                          <a:latin typeface="Calibri" panose="020F0502020204030204" pitchFamily="34" charset="0"/>
                        </a:rPr>
                        <a:t>DOLOR Y CUIDADOS PALIATIVOS                                           </a:t>
                      </a:r>
                    </a:p>
                  </a:txBody>
                  <a:tcPr marL="9213" marR="9213" marT="92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956</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186</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183</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1.325</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6%</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94005458"/>
                  </a:ext>
                </a:extLst>
              </a:tr>
              <a:tr h="133704">
                <a:tc>
                  <a:txBody>
                    <a:bodyPr/>
                    <a:lstStyle/>
                    <a:p>
                      <a:pPr algn="l" rtl="0" fontAlgn="ctr">
                        <a:buNone/>
                      </a:pPr>
                      <a:r>
                        <a:rPr lang="es-CO" sz="1000" b="1" i="0" u="none" strike="noStrike">
                          <a:solidFill>
                            <a:srgbClr val="FFFFFF"/>
                          </a:solidFill>
                          <a:effectLst/>
                          <a:latin typeface="Calibri" panose="020F0502020204030204" pitchFamily="34" charset="0"/>
                        </a:rPr>
                        <a:t>ENFERMERIA                                                            </a:t>
                      </a:r>
                    </a:p>
                  </a:txBody>
                  <a:tcPr marL="9213" marR="9213" marT="92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632</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118</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73</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823</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3%</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74031307"/>
                  </a:ext>
                </a:extLst>
              </a:tr>
              <a:tr h="133704">
                <a:tc>
                  <a:txBody>
                    <a:bodyPr/>
                    <a:lstStyle/>
                    <a:p>
                      <a:pPr algn="l" rtl="0" fontAlgn="ctr">
                        <a:buNone/>
                      </a:pPr>
                      <a:r>
                        <a:rPr lang="es-CO" sz="1000" b="1" i="0" u="none" strike="noStrike">
                          <a:solidFill>
                            <a:srgbClr val="FFFFFF"/>
                          </a:solidFill>
                          <a:effectLst/>
                          <a:latin typeface="Calibri" panose="020F0502020204030204" pitchFamily="34" charset="0"/>
                        </a:rPr>
                        <a:t>MEDICINA GENERAL                                                      </a:t>
                      </a:r>
                    </a:p>
                  </a:txBody>
                  <a:tcPr marL="9213" marR="9213" marT="92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611</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41</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47</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699</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3%</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49139949"/>
                  </a:ext>
                </a:extLst>
              </a:tr>
              <a:tr h="133704">
                <a:tc>
                  <a:txBody>
                    <a:bodyPr/>
                    <a:lstStyle/>
                    <a:p>
                      <a:pPr algn="l" rtl="0" fontAlgn="ctr">
                        <a:buNone/>
                      </a:pPr>
                      <a:r>
                        <a:rPr lang="es-CO" sz="1000" b="1" i="0" u="none" strike="noStrike">
                          <a:solidFill>
                            <a:srgbClr val="FFFFFF"/>
                          </a:solidFill>
                          <a:effectLst/>
                          <a:latin typeface="Calibri" panose="020F0502020204030204" pitchFamily="34" charset="0"/>
                        </a:rPr>
                        <a:t>DERMATOLOGIA ONCOLOGICA                                               </a:t>
                      </a:r>
                    </a:p>
                  </a:txBody>
                  <a:tcPr marL="9213" marR="9213" marT="92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392</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112</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68</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572</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68680710"/>
                  </a:ext>
                </a:extLst>
              </a:tr>
              <a:tr h="133704">
                <a:tc>
                  <a:txBody>
                    <a:bodyPr/>
                    <a:lstStyle/>
                    <a:p>
                      <a:pPr algn="l" rtl="0" fontAlgn="ctr">
                        <a:buNone/>
                      </a:pPr>
                      <a:r>
                        <a:rPr lang="es-CO" sz="1000" b="1" i="0" u="none" strike="noStrike">
                          <a:solidFill>
                            <a:srgbClr val="FFFFFF"/>
                          </a:solidFill>
                          <a:effectLst/>
                          <a:latin typeface="Calibri" panose="020F0502020204030204" pitchFamily="34" charset="0"/>
                        </a:rPr>
                        <a:t>GINECOLOGIA ONOLOGICA                                                </a:t>
                      </a:r>
                    </a:p>
                  </a:txBody>
                  <a:tcPr marL="9213" marR="9213" marT="92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402</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109</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44</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555</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6052813"/>
                  </a:ext>
                </a:extLst>
              </a:tr>
              <a:tr h="133704">
                <a:tc>
                  <a:txBody>
                    <a:bodyPr/>
                    <a:lstStyle/>
                    <a:p>
                      <a:pPr algn="l" rtl="0" fontAlgn="ctr">
                        <a:buNone/>
                      </a:pPr>
                      <a:r>
                        <a:rPr lang="es-CO" sz="1000" b="1" i="0" u="none" strike="noStrike">
                          <a:solidFill>
                            <a:srgbClr val="FFFFFF"/>
                          </a:solidFill>
                          <a:effectLst/>
                          <a:latin typeface="Calibri" panose="020F0502020204030204" pitchFamily="34" charset="0"/>
                        </a:rPr>
                        <a:t>CIRUGIA ONCOLOGICA                                                    </a:t>
                      </a:r>
                    </a:p>
                  </a:txBody>
                  <a:tcPr marL="9213" marR="9213" marT="92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373</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122</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51</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546</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62952940"/>
                  </a:ext>
                </a:extLst>
              </a:tr>
              <a:tr h="133704">
                <a:tc>
                  <a:txBody>
                    <a:bodyPr/>
                    <a:lstStyle/>
                    <a:p>
                      <a:pPr algn="l" rtl="0" fontAlgn="ctr">
                        <a:buNone/>
                      </a:pPr>
                      <a:r>
                        <a:rPr lang="es-CO" sz="1000" b="1" i="0" u="none" strike="noStrike">
                          <a:solidFill>
                            <a:srgbClr val="FFFFFF"/>
                          </a:solidFill>
                          <a:effectLst/>
                          <a:latin typeface="Calibri" panose="020F0502020204030204" pitchFamily="34" charset="0"/>
                        </a:rPr>
                        <a:t>MASTOLOGIA                                                            </a:t>
                      </a:r>
                    </a:p>
                  </a:txBody>
                  <a:tcPr marL="9213" marR="9213" marT="92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354</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78</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21</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453</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4003166"/>
                  </a:ext>
                </a:extLst>
              </a:tr>
              <a:tr h="133704">
                <a:tc>
                  <a:txBody>
                    <a:bodyPr/>
                    <a:lstStyle/>
                    <a:p>
                      <a:pPr algn="l" rtl="0" fontAlgn="ctr">
                        <a:buNone/>
                      </a:pPr>
                      <a:r>
                        <a:rPr lang="es-CO" sz="1000" b="1" i="0" u="none" strike="noStrike">
                          <a:solidFill>
                            <a:srgbClr val="FFFFFF"/>
                          </a:solidFill>
                          <a:effectLst/>
                          <a:latin typeface="Calibri" panose="020F0502020204030204" pitchFamily="34" charset="0"/>
                        </a:rPr>
                        <a:t>UROLOGIA ONCOLOGICA                                                   </a:t>
                      </a:r>
                    </a:p>
                  </a:txBody>
                  <a:tcPr marL="9213" marR="9213" marT="92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262</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69</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17</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348</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77866625"/>
                  </a:ext>
                </a:extLst>
              </a:tr>
              <a:tr h="133704">
                <a:tc>
                  <a:txBody>
                    <a:bodyPr/>
                    <a:lstStyle/>
                    <a:p>
                      <a:pPr algn="l" rtl="0" fontAlgn="ctr">
                        <a:buNone/>
                      </a:pPr>
                      <a:r>
                        <a:rPr lang="es-CO" sz="1000" b="1" i="0" u="none" strike="noStrike">
                          <a:solidFill>
                            <a:srgbClr val="FFFFFF"/>
                          </a:solidFill>
                          <a:effectLst/>
                          <a:latin typeface="Calibri" panose="020F0502020204030204" pitchFamily="34" charset="0"/>
                        </a:rPr>
                        <a:t>ANESTESIOLOGIA                                                        </a:t>
                      </a:r>
                    </a:p>
                  </a:txBody>
                  <a:tcPr marL="9213" marR="9213" marT="92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255</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33</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35</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323</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72337724"/>
                  </a:ext>
                </a:extLst>
              </a:tr>
              <a:tr h="133704">
                <a:tc>
                  <a:txBody>
                    <a:bodyPr/>
                    <a:lstStyle/>
                    <a:p>
                      <a:pPr algn="l" rtl="0" fontAlgn="ctr">
                        <a:buNone/>
                      </a:pPr>
                      <a:r>
                        <a:rPr lang="es-CO" sz="1000" b="1" i="0" u="none" strike="noStrike">
                          <a:solidFill>
                            <a:srgbClr val="FFFFFF"/>
                          </a:solidFill>
                          <a:effectLst/>
                          <a:latin typeface="Calibri" panose="020F0502020204030204" pitchFamily="34" charset="0"/>
                        </a:rPr>
                        <a:t>HEMATOLOGIA                                                           </a:t>
                      </a:r>
                    </a:p>
                  </a:txBody>
                  <a:tcPr marL="9213" marR="9213" marT="92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184</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40</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11</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235</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6716840"/>
                  </a:ext>
                </a:extLst>
              </a:tr>
              <a:tr h="133704">
                <a:tc>
                  <a:txBody>
                    <a:bodyPr/>
                    <a:lstStyle/>
                    <a:p>
                      <a:pPr algn="l" rtl="0" fontAlgn="ctr">
                        <a:buNone/>
                      </a:pPr>
                      <a:r>
                        <a:rPr lang="es-CO" sz="1000" b="1" i="0" u="none" strike="noStrike">
                          <a:solidFill>
                            <a:srgbClr val="FFFFFF"/>
                          </a:solidFill>
                          <a:effectLst/>
                          <a:latin typeface="Calibri" panose="020F0502020204030204" pitchFamily="34" charset="0"/>
                        </a:rPr>
                        <a:t>CIRUGIA PLASTICA                                                      </a:t>
                      </a:r>
                    </a:p>
                  </a:txBody>
                  <a:tcPr marL="9213" marR="9213" marT="92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100</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24</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6</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130</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11089819"/>
                  </a:ext>
                </a:extLst>
              </a:tr>
              <a:tr h="133704">
                <a:tc>
                  <a:txBody>
                    <a:bodyPr/>
                    <a:lstStyle/>
                    <a:p>
                      <a:pPr algn="l" rtl="0" fontAlgn="ctr">
                        <a:buNone/>
                      </a:pPr>
                      <a:r>
                        <a:rPr lang="es-CO" sz="1000" b="1" i="0" u="none" strike="noStrike">
                          <a:solidFill>
                            <a:srgbClr val="FFFFFF"/>
                          </a:solidFill>
                          <a:effectLst/>
                          <a:latin typeface="Calibri" panose="020F0502020204030204" pitchFamily="34" charset="0"/>
                        </a:rPr>
                        <a:t>GUIA ESPIRITUAL</a:t>
                      </a:r>
                    </a:p>
                  </a:txBody>
                  <a:tcPr marL="9213" marR="9213" marT="92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74</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6</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81</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0%</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22045462"/>
                  </a:ext>
                </a:extLst>
              </a:tr>
              <a:tr h="133704">
                <a:tc>
                  <a:txBody>
                    <a:bodyPr/>
                    <a:lstStyle/>
                    <a:p>
                      <a:pPr algn="l" rtl="0" fontAlgn="ctr">
                        <a:buNone/>
                      </a:pPr>
                      <a:r>
                        <a:rPr lang="es-CO" sz="1000" b="1" i="0" u="none" strike="noStrike">
                          <a:solidFill>
                            <a:srgbClr val="FFFFFF"/>
                          </a:solidFill>
                          <a:effectLst/>
                          <a:latin typeface="Calibri" panose="020F0502020204030204" pitchFamily="34" charset="0"/>
                        </a:rPr>
                        <a:t>ORTOPEDIA ONCOLOGICA                                                  </a:t>
                      </a:r>
                    </a:p>
                  </a:txBody>
                  <a:tcPr marL="9213" marR="9213" marT="92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41</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13</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 </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54</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0%</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2971074"/>
                  </a:ext>
                </a:extLst>
              </a:tr>
              <a:tr h="133704">
                <a:tc>
                  <a:txBody>
                    <a:bodyPr/>
                    <a:lstStyle/>
                    <a:p>
                      <a:pPr algn="l" rtl="0" fontAlgn="ctr">
                        <a:buNone/>
                      </a:pPr>
                      <a:r>
                        <a:rPr lang="es-CO" sz="1000" b="1" i="0" u="none" strike="noStrike">
                          <a:solidFill>
                            <a:srgbClr val="FFFFFF"/>
                          </a:solidFill>
                          <a:effectLst/>
                          <a:latin typeface="Calibri" panose="020F0502020204030204" pitchFamily="34" charset="0"/>
                        </a:rPr>
                        <a:t>GENETICA HUMANA                                                       </a:t>
                      </a:r>
                    </a:p>
                  </a:txBody>
                  <a:tcPr marL="9213" marR="9213" marT="92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33</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10</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5</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48</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0%</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86535318"/>
                  </a:ext>
                </a:extLst>
              </a:tr>
              <a:tr h="133704">
                <a:tc>
                  <a:txBody>
                    <a:bodyPr/>
                    <a:lstStyle/>
                    <a:p>
                      <a:pPr algn="l" rtl="0" fontAlgn="ctr">
                        <a:buNone/>
                      </a:pPr>
                      <a:r>
                        <a:rPr lang="es-CO" sz="1000" b="1" i="0" u="none" strike="noStrike">
                          <a:solidFill>
                            <a:srgbClr val="FFFFFF"/>
                          </a:solidFill>
                          <a:effectLst/>
                          <a:latin typeface="Calibri" panose="020F0502020204030204" pitchFamily="34" charset="0"/>
                        </a:rPr>
                        <a:t>CIRUGIA DE CABEZA Y CUELLO                                            </a:t>
                      </a:r>
                    </a:p>
                  </a:txBody>
                  <a:tcPr marL="9213" marR="9213" marT="92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22</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6</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 </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28</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0%</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66179373"/>
                  </a:ext>
                </a:extLst>
              </a:tr>
              <a:tr h="133704">
                <a:tc>
                  <a:txBody>
                    <a:bodyPr/>
                    <a:lstStyle/>
                    <a:p>
                      <a:pPr algn="l" rtl="0" fontAlgn="ctr">
                        <a:buNone/>
                      </a:pPr>
                      <a:r>
                        <a:rPr lang="es-CO" sz="1000" b="1" i="0" u="none" strike="noStrike">
                          <a:solidFill>
                            <a:srgbClr val="FFFFFF"/>
                          </a:solidFill>
                          <a:effectLst/>
                          <a:latin typeface="Calibri" panose="020F0502020204030204" pitchFamily="34" charset="0"/>
                        </a:rPr>
                        <a:t>MEDICINA INTERNA                                                      </a:t>
                      </a:r>
                    </a:p>
                  </a:txBody>
                  <a:tcPr marL="9213" marR="9213" marT="92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3</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6</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8</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17</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0%</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87902804"/>
                  </a:ext>
                </a:extLst>
              </a:tr>
              <a:tr h="133704">
                <a:tc>
                  <a:txBody>
                    <a:bodyPr/>
                    <a:lstStyle/>
                    <a:p>
                      <a:pPr algn="l" rtl="0" fontAlgn="ctr">
                        <a:buNone/>
                      </a:pPr>
                      <a:r>
                        <a:rPr lang="es-CO" sz="1000" b="1" i="0" u="none" strike="noStrike">
                          <a:solidFill>
                            <a:srgbClr val="FFFFFF"/>
                          </a:solidFill>
                          <a:effectLst/>
                          <a:latin typeface="Calibri" panose="020F0502020204030204" pitchFamily="34" charset="0"/>
                        </a:rPr>
                        <a:t>TOTAL</a:t>
                      </a:r>
                    </a:p>
                  </a:txBody>
                  <a:tcPr marL="9213" marR="9213" marT="9213"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b">
                        <a:buNone/>
                      </a:pPr>
                      <a:r>
                        <a:rPr lang="es-CO" sz="1000" b="1" i="0" u="none" strike="noStrike">
                          <a:solidFill>
                            <a:srgbClr val="80589F"/>
                          </a:solidFill>
                          <a:effectLst/>
                          <a:latin typeface="Calibri" panose="020F0502020204030204" pitchFamily="34" charset="0"/>
                        </a:rPr>
                        <a:t>18.548</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3.073</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1.960</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23.581</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000" b="1" i="0" u="none" strike="noStrike">
                          <a:solidFill>
                            <a:srgbClr val="80589F"/>
                          </a:solidFill>
                          <a:effectLst/>
                          <a:latin typeface="Calibri" panose="020F0502020204030204" pitchFamily="34" charset="0"/>
                        </a:rPr>
                        <a:t>100%</a:t>
                      </a:r>
                    </a:p>
                  </a:txBody>
                  <a:tcPr marL="9213" marR="9213" marT="92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6071619"/>
                  </a:ext>
                </a:extLst>
              </a:tr>
            </a:tbl>
          </a:graphicData>
        </a:graphic>
      </p:graphicFrame>
      <p:sp>
        <p:nvSpPr>
          <p:cNvPr id="7" name="CuadroTexto 6">
            <a:extLst>
              <a:ext uri="{FF2B5EF4-FFF2-40B4-BE49-F238E27FC236}">
                <a16:creationId xmlns:a16="http://schemas.microsoft.com/office/drawing/2014/main" id="{F70AF4F2-AE83-A906-3A08-C5974BC51702}"/>
              </a:ext>
            </a:extLst>
          </p:cNvPr>
          <p:cNvSpPr txBox="1"/>
          <p:nvPr/>
        </p:nvSpPr>
        <p:spPr>
          <a:xfrm>
            <a:off x="4596351" y="6458426"/>
            <a:ext cx="3638394" cy="276999"/>
          </a:xfrm>
          <a:prstGeom prst="rect">
            <a:avLst/>
          </a:prstGeom>
          <a:noFill/>
        </p:spPr>
        <p:txBody>
          <a:bodyPr wrap="square">
            <a:spAutoFit/>
          </a:bodyPr>
          <a:lstStyle/>
          <a:p>
            <a:r>
              <a:rPr lang="es-CO" sz="1200" b="1" i="1" noProof="0">
                <a:solidFill>
                  <a:schemeClr val="tx2"/>
                </a:solidFill>
              </a:rPr>
              <a:t>Fuente: </a:t>
            </a:r>
            <a:r>
              <a:rPr lang="es-CO" sz="1200" b="1" i="1">
                <a:solidFill>
                  <a:schemeClr val="tx2"/>
                </a:solidFill>
              </a:rPr>
              <a:t> Call center</a:t>
            </a:r>
            <a:r>
              <a:rPr lang="es-CO" sz="1200" i="1" noProof="0">
                <a:solidFill>
                  <a:schemeClr val="tx2"/>
                </a:solidFill>
              </a:rPr>
              <a:t> INOOS </a:t>
            </a:r>
            <a:r>
              <a:rPr lang="es-CO" sz="1200" i="1">
                <a:solidFill>
                  <a:schemeClr val="tx2"/>
                </a:solidFill>
              </a:rPr>
              <a:t>Septiembre</a:t>
            </a:r>
            <a:r>
              <a:rPr lang="es-CO" sz="1200" i="1" noProof="0">
                <a:solidFill>
                  <a:schemeClr val="tx2"/>
                </a:solidFill>
              </a:rPr>
              <a:t> 2026</a:t>
            </a:r>
          </a:p>
        </p:txBody>
      </p:sp>
      <p:graphicFrame>
        <p:nvGraphicFramePr>
          <p:cNvPr id="11" name="Tabla 10">
            <a:extLst>
              <a:ext uri="{FF2B5EF4-FFF2-40B4-BE49-F238E27FC236}">
                <a16:creationId xmlns:a16="http://schemas.microsoft.com/office/drawing/2014/main" id="{60B95601-B6CC-DF4B-B901-F9EDF76702CA}"/>
              </a:ext>
            </a:extLst>
          </p:cNvPr>
          <p:cNvGraphicFramePr>
            <a:graphicFrameLocks noGrp="1"/>
          </p:cNvGraphicFramePr>
          <p:nvPr>
            <p:extLst>
              <p:ext uri="{D42A27DB-BD31-4B8C-83A1-F6EECF244321}">
                <p14:modId xmlns:p14="http://schemas.microsoft.com/office/powerpoint/2010/main" val="939740421"/>
              </p:ext>
            </p:extLst>
          </p:nvPr>
        </p:nvGraphicFramePr>
        <p:xfrm>
          <a:off x="519988" y="1022419"/>
          <a:ext cx="10912866" cy="732591"/>
        </p:xfrm>
        <a:graphic>
          <a:graphicData uri="http://schemas.openxmlformats.org/drawingml/2006/table">
            <a:tbl>
              <a:tblPr/>
              <a:tblGrid>
                <a:gridCol w="1903172">
                  <a:extLst>
                    <a:ext uri="{9D8B030D-6E8A-4147-A177-3AD203B41FA5}">
                      <a16:colId xmlns:a16="http://schemas.microsoft.com/office/drawing/2014/main" val="3895083391"/>
                    </a:ext>
                  </a:extLst>
                </a:gridCol>
                <a:gridCol w="868680">
                  <a:extLst>
                    <a:ext uri="{9D8B030D-6E8A-4147-A177-3AD203B41FA5}">
                      <a16:colId xmlns:a16="http://schemas.microsoft.com/office/drawing/2014/main" val="546022652"/>
                    </a:ext>
                  </a:extLst>
                </a:gridCol>
                <a:gridCol w="1021080">
                  <a:extLst>
                    <a:ext uri="{9D8B030D-6E8A-4147-A177-3AD203B41FA5}">
                      <a16:colId xmlns:a16="http://schemas.microsoft.com/office/drawing/2014/main" val="187525045"/>
                    </a:ext>
                  </a:extLst>
                </a:gridCol>
                <a:gridCol w="1021080">
                  <a:extLst>
                    <a:ext uri="{9D8B030D-6E8A-4147-A177-3AD203B41FA5}">
                      <a16:colId xmlns:a16="http://schemas.microsoft.com/office/drawing/2014/main" val="3538692228"/>
                    </a:ext>
                  </a:extLst>
                </a:gridCol>
                <a:gridCol w="838200">
                  <a:extLst>
                    <a:ext uri="{9D8B030D-6E8A-4147-A177-3AD203B41FA5}">
                      <a16:colId xmlns:a16="http://schemas.microsoft.com/office/drawing/2014/main" val="1748658919"/>
                    </a:ext>
                  </a:extLst>
                </a:gridCol>
                <a:gridCol w="975360">
                  <a:extLst>
                    <a:ext uri="{9D8B030D-6E8A-4147-A177-3AD203B41FA5}">
                      <a16:colId xmlns:a16="http://schemas.microsoft.com/office/drawing/2014/main" val="4057583565"/>
                    </a:ext>
                  </a:extLst>
                </a:gridCol>
                <a:gridCol w="853440">
                  <a:extLst>
                    <a:ext uri="{9D8B030D-6E8A-4147-A177-3AD203B41FA5}">
                      <a16:colId xmlns:a16="http://schemas.microsoft.com/office/drawing/2014/main" val="2999643275"/>
                    </a:ext>
                  </a:extLst>
                </a:gridCol>
                <a:gridCol w="762000">
                  <a:extLst>
                    <a:ext uri="{9D8B030D-6E8A-4147-A177-3AD203B41FA5}">
                      <a16:colId xmlns:a16="http://schemas.microsoft.com/office/drawing/2014/main" val="1441647919"/>
                    </a:ext>
                  </a:extLst>
                </a:gridCol>
                <a:gridCol w="899160">
                  <a:extLst>
                    <a:ext uri="{9D8B030D-6E8A-4147-A177-3AD203B41FA5}">
                      <a16:colId xmlns:a16="http://schemas.microsoft.com/office/drawing/2014/main" val="1803641588"/>
                    </a:ext>
                  </a:extLst>
                </a:gridCol>
                <a:gridCol w="885347">
                  <a:extLst>
                    <a:ext uri="{9D8B030D-6E8A-4147-A177-3AD203B41FA5}">
                      <a16:colId xmlns:a16="http://schemas.microsoft.com/office/drawing/2014/main" val="1506192768"/>
                    </a:ext>
                  </a:extLst>
                </a:gridCol>
                <a:gridCol w="885347">
                  <a:extLst>
                    <a:ext uri="{9D8B030D-6E8A-4147-A177-3AD203B41FA5}">
                      <a16:colId xmlns:a16="http://schemas.microsoft.com/office/drawing/2014/main" val="2756853889"/>
                    </a:ext>
                  </a:extLst>
                </a:gridCol>
              </a:tblGrid>
              <a:tr h="348206">
                <a:tc>
                  <a:txBody>
                    <a:bodyPr/>
                    <a:lstStyle/>
                    <a:p>
                      <a:pPr algn="ctr" rtl="0" fontAlgn="ctr">
                        <a:buNone/>
                      </a:pPr>
                      <a:r>
                        <a:rPr lang="es-CO" sz="1800" b="1" i="0" u="none" strike="noStrike">
                          <a:solidFill>
                            <a:srgbClr val="FFFFFF"/>
                          </a:solidFill>
                          <a:effectLst/>
                          <a:latin typeface="Calibri" panose="020F0502020204030204" pitchFamily="34" charset="0"/>
                        </a:rPr>
                        <a:t>EAPB</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800" b="1" i="0" u="none" strike="noStrike">
                          <a:solidFill>
                            <a:srgbClr val="FFFFFF"/>
                          </a:solidFill>
                          <a:effectLst/>
                          <a:latin typeface="Calibri" panose="020F0502020204030204" pitchFamily="34" charset="0"/>
                        </a:rPr>
                        <a:t>ENE 26</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800" b="1" i="0" u="none" strike="noStrike">
                          <a:solidFill>
                            <a:srgbClr val="FFFFFF"/>
                          </a:solidFill>
                          <a:effectLst/>
                          <a:latin typeface="Calibri" panose="020F0502020204030204" pitchFamily="34" charset="0"/>
                        </a:rPr>
                        <a:t>FEB 26</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800" b="1" i="0" u="none" strike="noStrike">
                          <a:solidFill>
                            <a:srgbClr val="FFFFFF"/>
                          </a:solidFill>
                          <a:effectLst/>
                          <a:latin typeface="Calibri" panose="020F0502020204030204" pitchFamily="34" charset="0"/>
                        </a:rPr>
                        <a:t>MAR 26</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800" b="1" i="0" u="none" strike="noStrike">
                          <a:solidFill>
                            <a:srgbClr val="FFFFFF"/>
                          </a:solidFill>
                          <a:effectLst/>
                          <a:latin typeface="Calibri" panose="020F0502020204030204" pitchFamily="34" charset="0"/>
                        </a:rPr>
                        <a:t>ABR 26</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800" b="1" i="0" u="none" strike="noStrike">
                          <a:solidFill>
                            <a:srgbClr val="FFFFFF"/>
                          </a:solidFill>
                          <a:effectLst/>
                          <a:latin typeface="Calibri" panose="020F0502020204030204" pitchFamily="34" charset="0"/>
                        </a:rPr>
                        <a:t>MAY 26</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800" b="1" i="0" u="none" strike="noStrike">
                          <a:solidFill>
                            <a:srgbClr val="FFFFFF"/>
                          </a:solidFill>
                          <a:effectLst/>
                          <a:latin typeface="Calibri" panose="020F0502020204030204" pitchFamily="34" charset="0"/>
                        </a:rPr>
                        <a:t>JUN 26</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800" b="1" i="0" u="none" strike="noStrike">
                          <a:solidFill>
                            <a:srgbClr val="FFFFFF"/>
                          </a:solidFill>
                          <a:effectLst/>
                          <a:latin typeface="Calibri" panose="020F0502020204030204" pitchFamily="34" charset="0"/>
                        </a:rPr>
                        <a:t>JUL 26</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s-CO" sz="1800" b="1" i="0" u="none" strike="noStrike">
                          <a:solidFill>
                            <a:srgbClr val="FFFFFF"/>
                          </a:solidFill>
                          <a:effectLst/>
                          <a:latin typeface="Calibri" panose="020F0502020204030204" pitchFamily="34" charset="0"/>
                        </a:rPr>
                        <a:t>AGO 26</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n-US" sz="1800" b="1" i="0" u="none" strike="noStrike">
                          <a:solidFill>
                            <a:srgbClr val="FFFFFF"/>
                          </a:solidFill>
                          <a:effectLst/>
                          <a:latin typeface="Calibri" panose="020F0502020204030204" pitchFamily="34" charset="0"/>
                        </a:rPr>
                        <a:t>S</a:t>
                      </a:r>
                      <a:r>
                        <a:rPr lang="es-CO" sz="1800" b="1" i="0" u="none" strike="noStrike">
                          <a:solidFill>
                            <a:srgbClr val="FFFFFF"/>
                          </a:solidFill>
                          <a:effectLst/>
                          <a:latin typeface="Calibri" panose="020F0502020204030204" pitchFamily="34" charset="0"/>
                        </a:rPr>
                        <a:t>EP 26</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tc>
                  <a:txBody>
                    <a:bodyPr/>
                    <a:lstStyle/>
                    <a:p>
                      <a:pPr algn="ctr" rtl="0" fontAlgn="ctr">
                        <a:buNone/>
                      </a:pPr>
                      <a:r>
                        <a:rPr lang="en-US" sz="1800" b="1" i="0" u="none" strike="noStrike">
                          <a:solidFill>
                            <a:srgbClr val="FFFFFF"/>
                          </a:solidFill>
                          <a:effectLst/>
                          <a:latin typeface="Calibri" panose="020F0502020204030204" pitchFamily="34" charset="0"/>
                        </a:rPr>
                        <a:t>TOTAL</a:t>
                      </a:r>
                      <a:endParaRPr lang="es-CO" sz="1800" b="1" i="0" u="none" strike="noStrike">
                        <a:solidFill>
                          <a:srgbClr val="FFFFFF"/>
                        </a:solidFill>
                        <a:effectLst/>
                        <a:latin typeface="Calibri" panose="020F0502020204030204" pitchFamily="34" charset="0"/>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7A9A1"/>
                    </a:solidFill>
                  </a:tcPr>
                </a:tc>
                <a:extLst>
                  <a:ext uri="{0D108BD9-81ED-4DB2-BD59-A6C34878D82A}">
                    <a16:rowId xmlns:a16="http://schemas.microsoft.com/office/drawing/2014/main" val="2900111620"/>
                  </a:ext>
                </a:extLst>
              </a:tr>
              <a:tr h="384385">
                <a:tc>
                  <a:txBody>
                    <a:bodyPr/>
                    <a:lstStyle/>
                    <a:p>
                      <a:pPr algn="ctr" rtl="0" fontAlgn="b">
                        <a:buNone/>
                      </a:pPr>
                      <a:r>
                        <a:rPr lang="es-CO" sz="1800" b="1" i="0" u="none" strike="noStrike">
                          <a:solidFill>
                            <a:schemeClr val="tx1">
                              <a:lumMod val="50000"/>
                            </a:schemeClr>
                          </a:solidFill>
                          <a:effectLst/>
                          <a:latin typeface="Calibri" panose="020F0502020204030204" pitchFamily="34" charset="0"/>
                        </a:rPr>
                        <a:t>EMSSANAR</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800" b="1" i="0" u="none" strike="noStrike">
                          <a:solidFill>
                            <a:schemeClr val="tx1">
                              <a:lumMod val="50000"/>
                            </a:schemeClr>
                          </a:solidFill>
                          <a:effectLst/>
                          <a:latin typeface="Calibri" panose="020F0502020204030204" pitchFamily="34" charset="0"/>
                        </a:rPr>
                        <a:t>3.061</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800" b="1" i="0" u="none" strike="noStrike">
                          <a:solidFill>
                            <a:schemeClr val="tx1">
                              <a:lumMod val="50000"/>
                            </a:schemeClr>
                          </a:solidFill>
                          <a:effectLst/>
                          <a:latin typeface="Calibri" panose="020F0502020204030204" pitchFamily="34" charset="0"/>
                        </a:rPr>
                        <a:t>3.378</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800" b="1" i="0" u="none" strike="noStrike">
                          <a:solidFill>
                            <a:schemeClr val="tx1">
                              <a:lumMod val="50000"/>
                            </a:schemeClr>
                          </a:solidFill>
                          <a:effectLst/>
                          <a:latin typeface="Calibri" panose="020F0502020204030204" pitchFamily="34" charset="0"/>
                        </a:rPr>
                        <a:t>3.504</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800" b="1" i="0" u="none" strike="noStrike">
                          <a:solidFill>
                            <a:schemeClr val="tx1">
                              <a:lumMod val="50000"/>
                            </a:schemeClr>
                          </a:solidFill>
                          <a:effectLst/>
                          <a:latin typeface="Calibri" panose="020F0502020204030204" pitchFamily="34" charset="0"/>
                        </a:rPr>
                        <a:t>2.840</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800" b="1" i="0" u="none" strike="noStrike">
                          <a:solidFill>
                            <a:schemeClr val="tx1">
                              <a:lumMod val="50000"/>
                            </a:schemeClr>
                          </a:solidFill>
                          <a:effectLst/>
                          <a:latin typeface="Calibri" panose="020F0502020204030204" pitchFamily="34" charset="0"/>
                        </a:rPr>
                        <a:t>2.856</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800" b="1" i="0" u="none" strike="noStrike">
                          <a:solidFill>
                            <a:schemeClr val="tx1">
                              <a:lumMod val="50000"/>
                            </a:schemeClr>
                          </a:solidFill>
                          <a:effectLst/>
                          <a:latin typeface="Calibri" panose="020F0502020204030204" pitchFamily="34" charset="0"/>
                        </a:rPr>
                        <a:t>2.146</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800" b="1" i="0" u="none" strike="noStrike">
                          <a:solidFill>
                            <a:schemeClr val="tx1">
                              <a:lumMod val="50000"/>
                            </a:schemeClr>
                          </a:solidFill>
                          <a:effectLst/>
                          <a:latin typeface="Calibri" panose="020F0502020204030204" pitchFamily="34" charset="0"/>
                        </a:rPr>
                        <a:t>1.138</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800" b="1" i="0" u="none" strike="noStrike">
                          <a:solidFill>
                            <a:schemeClr val="tx1">
                              <a:lumMod val="50000"/>
                            </a:schemeClr>
                          </a:solidFill>
                          <a:effectLst/>
                          <a:latin typeface="Calibri" panose="020F0502020204030204" pitchFamily="34" charset="0"/>
                        </a:rPr>
                        <a:t>2.318</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s-CO" sz="1800" b="1" i="0" u="none" strike="noStrike">
                          <a:solidFill>
                            <a:schemeClr val="tx1">
                              <a:lumMod val="50000"/>
                            </a:schemeClr>
                          </a:solidFill>
                          <a:effectLst/>
                          <a:latin typeface="Calibri" panose="020F0502020204030204" pitchFamily="34" charset="0"/>
                        </a:rPr>
                        <a:t>2.340</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800" b="1" i="0" u="none" strike="noStrike">
                          <a:solidFill>
                            <a:schemeClr val="tx1">
                              <a:lumMod val="50000"/>
                            </a:schemeClr>
                          </a:solidFill>
                          <a:effectLst/>
                          <a:latin typeface="Calibri" panose="020F0502020204030204" pitchFamily="34" charset="0"/>
                        </a:rPr>
                        <a:t>23.581</a:t>
                      </a:r>
                      <a:endParaRPr lang="es-CO" sz="1800" b="1" i="0" u="none" strike="noStrike">
                        <a:solidFill>
                          <a:schemeClr val="tx1">
                            <a:lumMod val="50000"/>
                          </a:schemeClr>
                        </a:solidFill>
                        <a:effectLst/>
                        <a:latin typeface="Calibri" panose="020F0502020204030204" pitchFamily="34" charset="0"/>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5537132"/>
                  </a:ext>
                </a:extLst>
              </a:tr>
            </a:tbl>
          </a:graphicData>
        </a:graphic>
      </p:graphicFrame>
    </p:spTree>
    <p:extLst>
      <p:ext uri="{BB962C8B-B14F-4D97-AF65-F5344CB8AC3E}">
        <p14:creationId xmlns:p14="http://schemas.microsoft.com/office/powerpoint/2010/main" val="56731354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CFCC0-04F1-805E-B3ED-865BD056AF4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4808A7D-C1B3-DD6C-E790-89B58B3739BF}"/>
              </a:ext>
            </a:extLst>
          </p:cNvPr>
          <p:cNvSpPr>
            <a:spLocks noGrp="1"/>
          </p:cNvSpPr>
          <p:nvPr>
            <p:ph type="ctrTitle"/>
          </p:nvPr>
        </p:nvSpPr>
        <p:spPr/>
        <p:txBody>
          <a:bodyPr/>
          <a:lstStyle/>
          <a:p>
            <a:r>
              <a:rPr lang="es-ES"/>
              <a:t>Represa 15 septiembre 2026</a:t>
            </a:r>
            <a:endParaRPr lang="es-CO"/>
          </a:p>
        </p:txBody>
      </p:sp>
      <p:sp>
        <p:nvSpPr>
          <p:cNvPr id="3" name="Subtítulo 2">
            <a:extLst>
              <a:ext uri="{FF2B5EF4-FFF2-40B4-BE49-F238E27FC236}">
                <a16:creationId xmlns:a16="http://schemas.microsoft.com/office/drawing/2014/main" id="{59B67C9E-68A9-7E40-6F6E-BC931973DEB0}"/>
              </a:ext>
            </a:extLst>
          </p:cNvPr>
          <p:cNvSpPr>
            <a:spLocks noGrp="1"/>
          </p:cNvSpPr>
          <p:nvPr>
            <p:ph type="subTitle" idx="1"/>
          </p:nvPr>
        </p:nvSpPr>
        <p:spPr>
          <a:xfrm>
            <a:off x="444501" y="828798"/>
            <a:ext cx="11645759" cy="296977"/>
          </a:xfrm>
        </p:spPr>
        <p:txBody>
          <a:bodyPr>
            <a:noAutofit/>
          </a:bodyPr>
          <a:lstStyle/>
          <a:p>
            <a:r>
              <a:rPr lang="es-CO" sz="2000" b="1"/>
              <a:t>Proyección de ejecuciones futuras del PGP de Emssanar</a:t>
            </a:r>
          </a:p>
        </p:txBody>
      </p:sp>
      <p:sp>
        <p:nvSpPr>
          <p:cNvPr id="6" name="CuadroTexto 5">
            <a:extLst>
              <a:ext uri="{FF2B5EF4-FFF2-40B4-BE49-F238E27FC236}">
                <a16:creationId xmlns:a16="http://schemas.microsoft.com/office/drawing/2014/main" id="{7C497E83-8F65-DE94-68FA-1D7329A57561}"/>
              </a:ext>
            </a:extLst>
          </p:cNvPr>
          <p:cNvSpPr txBox="1"/>
          <p:nvPr/>
        </p:nvSpPr>
        <p:spPr>
          <a:xfrm>
            <a:off x="603912" y="4280698"/>
            <a:ext cx="10984175" cy="1200329"/>
          </a:xfrm>
          <a:prstGeom prst="rect">
            <a:avLst/>
          </a:prstGeom>
          <a:noFill/>
        </p:spPr>
        <p:txBody>
          <a:bodyPr wrap="square">
            <a:spAutoFit/>
          </a:bodyPr>
          <a:lstStyle/>
          <a:p>
            <a:pPr algn="just"/>
            <a:r>
              <a:rPr lang="es-ES">
                <a:solidFill>
                  <a:schemeClr val="accent1"/>
                </a:solidFill>
              </a:rPr>
              <a:t>La represa actual de Emssanar representa alrededor de 3 meses de NT para quimioterapia, medicamentos, consultas y cirugía, para radioterapia la represa es mucho mas alta, alrededor de 12 meses.</a:t>
            </a:r>
          </a:p>
          <a:p>
            <a:pPr algn="just"/>
            <a:r>
              <a:rPr lang="es-ES">
                <a:solidFill>
                  <a:schemeClr val="accent1"/>
                </a:solidFill>
              </a:rPr>
              <a:t>Para mantener una ejecución entre 97 al 100% mes la represa actual de Emssanar se demoraría 6 meses para quedar al día, llevando una participación en el costo de medicamentos y radioterapia a la ejecutada al momento</a:t>
            </a:r>
            <a:endParaRPr lang="es-CO">
              <a:solidFill>
                <a:schemeClr val="accent1"/>
              </a:solidFill>
            </a:endParaRPr>
          </a:p>
        </p:txBody>
      </p:sp>
      <p:graphicFrame>
        <p:nvGraphicFramePr>
          <p:cNvPr id="5" name="Tabla 4">
            <a:extLst>
              <a:ext uri="{FF2B5EF4-FFF2-40B4-BE49-F238E27FC236}">
                <a16:creationId xmlns:a16="http://schemas.microsoft.com/office/drawing/2014/main" id="{0C34E0EB-9CC9-34CF-2523-FFDAF1CA5F01}"/>
              </a:ext>
            </a:extLst>
          </p:cNvPr>
          <p:cNvGraphicFramePr>
            <a:graphicFrameLocks noGrp="1"/>
          </p:cNvGraphicFramePr>
          <p:nvPr>
            <p:extLst>
              <p:ext uri="{D42A27DB-BD31-4B8C-83A1-F6EECF244321}">
                <p14:modId xmlns:p14="http://schemas.microsoft.com/office/powerpoint/2010/main" val="4178087964"/>
              </p:ext>
            </p:extLst>
          </p:nvPr>
        </p:nvGraphicFramePr>
        <p:xfrm>
          <a:off x="444501" y="1376973"/>
          <a:ext cx="11442699" cy="2370564"/>
        </p:xfrm>
        <a:graphic>
          <a:graphicData uri="http://schemas.openxmlformats.org/drawingml/2006/table">
            <a:tbl>
              <a:tblPr/>
              <a:tblGrid>
                <a:gridCol w="1419386">
                  <a:extLst>
                    <a:ext uri="{9D8B030D-6E8A-4147-A177-3AD203B41FA5}">
                      <a16:colId xmlns:a16="http://schemas.microsoft.com/office/drawing/2014/main" val="846695154"/>
                    </a:ext>
                  </a:extLst>
                </a:gridCol>
                <a:gridCol w="1401862">
                  <a:extLst>
                    <a:ext uri="{9D8B030D-6E8A-4147-A177-3AD203B41FA5}">
                      <a16:colId xmlns:a16="http://schemas.microsoft.com/office/drawing/2014/main" val="2909732255"/>
                    </a:ext>
                  </a:extLst>
                </a:gridCol>
                <a:gridCol w="806070">
                  <a:extLst>
                    <a:ext uri="{9D8B030D-6E8A-4147-A177-3AD203B41FA5}">
                      <a16:colId xmlns:a16="http://schemas.microsoft.com/office/drawing/2014/main" val="1428059953"/>
                    </a:ext>
                  </a:extLst>
                </a:gridCol>
                <a:gridCol w="1559571">
                  <a:extLst>
                    <a:ext uri="{9D8B030D-6E8A-4147-A177-3AD203B41FA5}">
                      <a16:colId xmlns:a16="http://schemas.microsoft.com/office/drawing/2014/main" val="217338385"/>
                    </a:ext>
                  </a:extLst>
                </a:gridCol>
                <a:gridCol w="1524525">
                  <a:extLst>
                    <a:ext uri="{9D8B030D-6E8A-4147-A177-3AD203B41FA5}">
                      <a16:colId xmlns:a16="http://schemas.microsoft.com/office/drawing/2014/main" val="2802560365"/>
                    </a:ext>
                  </a:extLst>
                </a:gridCol>
                <a:gridCol w="1612141">
                  <a:extLst>
                    <a:ext uri="{9D8B030D-6E8A-4147-A177-3AD203B41FA5}">
                      <a16:colId xmlns:a16="http://schemas.microsoft.com/office/drawing/2014/main" val="2318445400"/>
                    </a:ext>
                  </a:extLst>
                </a:gridCol>
                <a:gridCol w="1594619">
                  <a:extLst>
                    <a:ext uri="{9D8B030D-6E8A-4147-A177-3AD203B41FA5}">
                      <a16:colId xmlns:a16="http://schemas.microsoft.com/office/drawing/2014/main" val="2042528727"/>
                    </a:ext>
                  </a:extLst>
                </a:gridCol>
                <a:gridCol w="1524525">
                  <a:extLst>
                    <a:ext uri="{9D8B030D-6E8A-4147-A177-3AD203B41FA5}">
                      <a16:colId xmlns:a16="http://schemas.microsoft.com/office/drawing/2014/main" val="3813764919"/>
                    </a:ext>
                  </a:extLst>
                </a:gridCol>
              </a:tblGrid>
              <a:tr h="519701">
                <a:tc>
                  <a:txBody>
                    <a:bodyPr/>
                    <a:lstStyle/>
                    <a:p>
                      <a:pPr algn="ctr" fontAlgn="ctr">
                        <a:buNone/>
                      </a:pPr>
                      <a:r>
                        <a:rPr lang="es-CO" sz="1400" b="1" i="0" u="none" strike="noStrike">
                          <a:solidFill>
                            <a:srgbClr val="FFFFFF"/>
                          </a:solidFill>
                          <a:effectLst/>
                          <a:latin typeface="Calibri" panose="020F0502020204030204" pitchFamily="34" charset="0"/>
                        </a:rPr>
                        <a:t>Agrupador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09A92"/>
                    </a:solidFill>
                  </a:tcPr>
                </a:tc>
                <a:tc>
                  <a:txBody>
                    <a:bodyPr/>
                    <a:lstStyle/>
                    <a:p>
                      <a:pPr algn="ctr" fontAlgn="ctr">
                        <a:buNone/>
                      </a:pPr>
                      <a:r>
                        <a:rPr lang="es-CO" sz="1400" b="1" i="0" u="none" strike="noStrike">
                          <a:solidFill>
                            <a:srgbClr val="FFFFFF"/>
                          </a:solidFill>
                          <a:effectLst/>
                          <a:latin typeface="Calibri" panose="020F0502020204030204" pitchFamily="34" charset="0"/>
                        </a:rPr>
                        <a:t>Represa actual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09A92"/>
                    </a:solidFill>
                  </a:tcPr>
                </a:tc>
                <a:tc>
                  <a:txBody>
                    <a:bodyPr/>
                    <a:lstStyle/>
                    <a:p>
                      <a:pPr algn="ctr" fontAlgn="ctr">
                        <a:buNone/>
                      </a:pPr>
                      <a:r>
                        <a:rPr lang="es-CO" sz="1400" b="1" i="0" u="none" strike="noStrike">
                          <a:solidFill>
                            <a:srgbClr val="FFFFFF"/>
                          </a:solidFill>
                          <a:effectLst/>
                          <a:latin typeface="Calibri" panose="020F0502020204030204" pitchFamily="34" charset="0"/>
                        </a:rPr>
                        <a:t>Represa NT mes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09A92"/>
                    </a:solidFill>
                  </a:tcPr>
                </a:tc>
                <a:tc>
                  <a:txBody>
                    <a:bodyPr/>
                    <a:lstStyle/>
                    <a:p>
                      <a:pPr algn="ctr" fontAlgn="ctr">
                        <a:buNone/>
                      </a:pPr>
                      <a:r>
                        <a:rPr lang="es-CO" sz="1400" b="1" i="0" u="none" strike="noStrike">
                          <a:solidFill>
                            <a:srgbClr val="000000"/>
                          </a:solidFill>
                          <a:effectLst/>
                          <a:latin typeface="Calibri" panose="020F0502020204030204" pitchFamily="34" charset="0"/>
                        </a:rPr>
                        <a:t>FE mes Subsidiado</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EAAAA"/>
                    </a:solidFill>
                  </a:tcPr>
                </a:tc>
                <a:tc>
                  <a:txBody>
                    <a:bodyPr/>
                    <a:lstStyle/>
                    <a:p>
                      <a:pPr algn="ctr" fontAlgn="ctr">
                        <a:buNone/>
                      </a:pPr>
                      <a:r>
                        <a:rPr lang="es-CO" sz="1400" b="1" i="0" u="none" strike="noStrike">
                          <a:solidFill>
                            <a:srgbClr val="000000"/>
                          </a:solidFill>
                          <a:effectLst/>
                          <a:latin typeface="Calibri" panose="020F0502020204030204" pitchFamily="34" charset="0"/>
                        </a:rPr>
                        <a:t>FE mes Contrb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EAAAA"/>
                    </a:solidFill>
                  </a:tcPr>
                </a:tc>
                <a:tc>
                  <a:txBody>
                    <a:bodyPr/>
                    <a:lstStyle/>
                    <a:p>
                      <a:pPr algn="ctr" fontAlgn="ctr">
                        <a:buNone/>
                      </a:pPr>
                      <a:r>
                        <a:rPr lang="es-CO" sz="1400" b="1" i="0" u="none" strike="noStrike">
                          <a:solidFill>
                            <a:srgbClr val="FFFFFF"/>
                          </a:solidFill>
                          <a:effectLst/>
                          <a:latin typeface="Calibri" panose="020F0502020204030204" pitchFamily="34" charset="0"/>
                        </a:rPr>
                        <a:t>Valor a NT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09A92"/>
                    </a:solidFill>
                  </a:tcPr>
                </a:tc>
                <a:tc>
                  <a:txBody>
                    <a:bodyPr/>
                    <a:lstStyle/>
                    <a:p>
                      <a:pPr algn="ctr" fontAlgn="ctr">
                        <a:buNone/>
                      </a:pPr>
                      <a:r>
                        <a:rPr lang="es-CO" sz="1400" b="1" i="0" u="none" strike="noStrike">
                          <a:solidFill>
                            <a:srgbClr val="FFFFFF"/>
                          </a:solidFill>
                          <a:effectLst/>
                          <a:latin typeface="Calibri" panose="020F0502020204030204" pitchFamily="34" charset="0"/>
                        </a:rPr>
                        <a:t>Total Ejec sub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EAAAA"/>
                    </a:solidFill>
                  </a:tcPr>
                </a:tc>
                <a:tc>
                  <a:txBody>
                    <a:bodyPr/>
                    <a:lstStyle/>
                    <a:p>
                      <a:pPr algn="ctr" fontAlgn="ctr">
                        <a:buNone/>
                      </a:pPr>
                      <a:r>
                        <a:rPr lang="es-CO" sz="1400" b="1" i="0" u="none" strike="noStrike">
                          <a:solidFill>
                            <a:srgbClr val="FFFFFF"/>
                          </a:solidFill>
                          <a:effectLst/>
                          <a:latin typeface="Calibri" panose="020F0502020204030204" pitchFamily="34" charset="0"/>
                        </a:rPr>
                        <a:t>Total Ejec cont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09A92"/>
                    </a:solidFill>
                  </a:tcPr>
                </a:tc>
                <a:extLst>
                  <a:ext uri="{0D108BD9-81ED-4DB2-BD59-A6C34878D82A}">
                    <a16:rowId xmlns:a16="http://schemas.microsoft.com/office/drawing/2014/main" val="430340575"/>
                  </a:ext>
                </a:extLst>
              </a:tr>
              <a:tr h="264409">
                <a:tc>
                  <a:txBody>
                    <a:bodyPr/>
                    <a:lstStyle/>
                    <a:p>
                      <a:pPr algn="l" fontAlgn="b">
                        <a:buNone/>
                      </a:pPr>
                      <a:r>
                        <a:rPr lang="es-CO" sz="1400" b="1" i="0" u="none" strike="noStrike">
                          <a:solidFill>
                            <a:srgbClr val="000000"/>
                          </a:solidFill>
                          <a:effectLst/>
                          <a:latin typeface="Calibri" panose="020F0502020204030204" pitchFamily="34" charset="0"/>
                        </a:rPr>
                        <a:t>Cirugía</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400" b="0" i="0" u="none" strike="noStrike">
                          <a:solidFill>
                            <a:srgbClr val="000000"/>
                          </a:solidFill>
                          <a:effectLst/>
                          <a:latin typeface="Calibri" panose="020F0502020204030204" pitchFamily="34" charset="0"/>
                        </a:rPr>
                        <a:t>62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s-CO" sz="1400" b="0" i="0" u="none" strike="noStrike">
                          <a:solidFill>
                            <a:srgbClr val="000000"/>
                          </a:solidFill>
                          <a:effectLst/>
                          <a:latin typeface="Calibri" panose="020F0502020204030204" pitchFamily="34" charset="0"/>
                        </a:rPr>
                        <a:t>0.6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400" b="0" i="0" u="none" strike="noStrike">
                          <a:solidFill>
                            <a:srgbClr val="000000"/>
                          </a:solidFill>
                          <a:effectLst/>
                          <a:latin typeface="Calibri" panose="020F0502020204030204" pitchFamily="34" charset="0"/>
                        </a:rPr>
                        <a:t>                            20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400" b="0" i="0" u="none" strike="noStrike">
                          <a:solidFill>
                            <a:srgbClr val="000000"/>
                          </a:solidFill>
                          <a:effectLst/>
                          <a:latin typeface="Calibri" panose="020F0502020204030204" pitchFamily="34" charset="0"/>
                        </a:rPr>
                        <a:t>                        0.94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400" b="0" i="0" u="none" strike="noStrike">
                          <a:solidFill>
                            <a:srgbClr val="000000"/>
                          </a:solidFill>
                          <a:effectLst/>
                          <a:latin typeface="Calibri" panose="020F0502020204030204" pitchFamily="34" charset="0"/>
                        </a:rPr>
                        <a:t> $             4,589,726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400" b="0" i="0" u="none" strike="noStrike">
                          <a:solidFill>
                            <a:srgbClr val="000000"/>
                          </a:solidFill>
                          <a:effectLst/>
                          <a:latin typeface="Calibri" panose="020F0502020204030204" pitchFamily="34" charset="0"/>
                        </a:rPr>
                        <a:t> $           93,417,148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400" b="0" i="0" u="none" strike="noStrike">
                          <a:solidFill>
                            <a:srgbClr val="000000"/>
                          </a:solidFill>
                          <a:effectLst/>
                          <a:latin typeface="Calibri" panose="020F0502020204030204" pitchFamily="34" charset="0"/>
                        </a:rPr>
                        <a:t>              4,311,561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8707315"/>
                  </a:ext>
                </a:extLst>
              </a:tr>
              <a:tr h="264409">
                <a:tc>
                  <a:txBody>
                    <a:bodyPr/>
                    <a:lstStyle/>
                    <a:p>
                      <a:pPr algn="l" fontAlgn="b">
                        <a:buNone/>
                      </a:pPr>
                      <a:r>
                        <a:rPr lang="es-CO" sz="1400" b="1" i="0" u="none" strike="noStrike">
                          <a:solidFill>
                            <a:srgbClr val="000000"/>
                          </a:solidFill>
                          <a:effectLst/>
                          <a:latin typeface="Calibri" panose="020F0502020204030204" pitchFamily="34" charset="0"/>
                        </a:rPr>
                        <a:t>Radioterapia</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400" b="0" i="0" u="none" strike="noStrike">
                          <a:solidFill>
                            <a:srgbClr val="000000"/>
                          </a:solidFill>
                          <a:effectLst/>
                          <a:latin typeface="Calibri" panose="020F0502020204030204" pitchFamily="34" charset="0"/>
                        </a:rPr>
                        <a:t>159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s-CO" sz="1400" b="0" i="0" u="none" strike="noStrike">
                          <a:solidFill>
                            <a:srgbClr val="000000"/>
                          </a:solidFill>
                          <a:effectLst/>
                          <a:latin typeface="Calibri" panose="020F0502020204030204" pitchFamily="34" charset="0"/>
                        </a:rPr>
                        <a:t>21.7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400" b="0" i="0" u="none" strike="noStrike">
                          <a:solidFill>
                            <a:srgbClr val="000000"/>
                          </a:solidFill>
                          <a:effectLst/>
                          <a:latin typeface="Calibri" panose="020F0502020204030204" pitchFamily="34" charset="0"/>
                        </a:rPr>
                        <a:t>                            76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400" b="0" i="0" u="none" strike="noStrike">
                          <a:solidFill>
                            <a:srgbClr val="000000"/>
                          </a:solidFill>
                          <a:effectLst/>
                          <a:latin typeface="Calibri" panose="020F0502020204030204" pitchFamily="34" charset="0"/>
                        </a:rPr>
                        <a:t>                      11.36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400" b="0" i="0" u="none" strike="noStrike">
                          <a:solidFill>
                            <a:srgbClr val="000000"/>
                          </a:solidFill>
                          <a:effectLst/>
                          <a:latin typeface="Calibri" panose="020F0502020204030204" pitchFamily="34" charset="0"/>
                        </a:rPr>
                        <a:t> $             7,532,906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400" b="0" i="0" u="none" strike="noStrike">
                          <a:solidFill>
                            <a:srgbClr val="000000"/>
                          </a:solidFill>
                          <a:effectLst/>
                          <a:latin typeface="Calibri" panose="020F0502020204030204" pitchFamily="34" charset="0"/>
                        </a:rPr>
                        <a:t> $        570,348,621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400" b="0" i="0" u="none" strike="noStrike">
                          <a:solidFill>
                            <a:srgbClr val="000000"/>
                          </a:solidFill>
                          <a:effectLst/>
                          <a:latin typeface="Calibri" panose="020F0502020204030204" pitchFamily="34" charset="0"/>
                        </a:rPr>
                        <a:t>            85,552,293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86447186"/>
                  </a:ext>
                </a:extLst>
              </a:tr>
              <a:tr h="264409">
                <a:tc>
                  <a:txBody>
                    <a:bodyPr/>
                    <a:lstStyle/>
                    <a:p>
                      <a:pPr algn="l" fontAlgn="b">
                        <a:buNone/>
                      </a:pPr>
                      <a:r>
                        <a:rPr lang="es-CO" sz="1400" b="1" i="0" u="none" strike="noStrike">
                          <a:solidFill>
                            <a:srgbClr val="000000"/>
                          </a:solidFill>
                          <a:effectLst/>
                          <a:latin typeface="Calibri" panose="020F0502020204030204" pitchFamily="34" charset="0"/>
                        </a:rPr>
                        <a:t>Radio cirugía</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400" b="0" i="0" u="none" strike="noStrike">
                          <a:solidFill>
                            <a:srgbClr val="000000"/>
                          </a:solidFill>
                          <a:effectLst/>
                          <a:latin typeface="Calibri" panose="020F0502020204030204" pitchFamily="34" charset="0"/>
                        </a:rPr>
                        <a:t>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400" b="0" i="0" u="none" strike="noStrike">
                          <a:solidFill>
                            <a:srgbClr val="000000"/>
                          </a:solidFill>
                          <a:effectLst/>
                          <a:latin typeface="Calibri" panose="020F0502020204030204"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400" b="0" i="0" u="none" strike="noStrike">
                          <a:solidFill>
                            <a:srgbClr val="000000"/>
                          </a:solidFill>
                          <a:effectLst/>
                          <a:latin typeface="Calibri" panose="020F0502020204030204" pitchFamily="34" charset="0"/>
                        </a:rPr>
                        <a:t>                               8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400" b="0" i="0" u="none" strike="noStrike">
                          <a:solidFill>
                            <a:srgbClr val="000000"/>
                          </a:solidFill>
                          <a:effectLst/>
                          <a:latin typeface="Calibri" panose="020F0502020204030204" pitchFamily="34" charset="0"/>
                        </a:rPr>
                        <a:t>                            -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400" b="0" i="0" u="none" strike="noStrike">
                          <a:solidFill>
                            <a:srgbClr val="000000"/>
                          </a:solidFill>
                          <a:effectLst/>
                          <a:latin typeface="Calibri" panose="020F0502020204030204" pitchFamily="34" charset="0"/>
                        </a:rPr>
                        <a:t> $             7,532,906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400" b="0" i="0" u="none" strike="noStrike">
                          <a:solidFill>
                            <a:srgbClr val="000000"/>
                          </a:solidFill>
                          <a:effectLst/>
                          <a:latin typeface="Calibri" panose="020F0502020204030204" pitchFamily="34" charset="0"/>
                        </a:rPr>
                        <a:t> $           56,496,797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400" b="0" i="0" u="none" strike="noStrike">
                          <a:solidFill>
                            <a:srgbClr val="000000"/>
                          </a:solidFill>
                          <a:effectLst/>
                          <a:latin typeface="Calibri" panose="020F0502020204030204" pitchFamily="34" charset="0"/>
                        </a:rPr>
                        <a:t>                            -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29318965"/>
                  </a:ext>
                </a:extLst>
              </a:tr>
              <a:tr h="264409">
                <a:tc>
                  <a:txBody>
                    <a:bodyPr/>
                    <a:lstStyle/>
                    <a:p>
                      <a:pPr algn="l" fontAlgn="b">
                        <a:buNone/>
                      </a:pPr>
                      <a:r>
                        <a:rPr lang="es-CO" sz="1400" b="1" i="0" u="none" strike="noStrike">
                          <a:solidFill>
                            <a:srgbClr val="000000"/>
                          </a:solidFill>
                          <a:effectLst/>
                          <a:latin typeface="Calibri" panose="020F0502020204030204" pitchFamily="34" charset="0"/>
                        </a:rPr>
                        <a:t>Pet scan</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400" b="0" i="0" u="none" strike="noStrike">
                          <a:solidFill>
                            <a:srgbClr val="00000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s-CO" sz="1400" b="0" i="0" u="none" strike="noStrike">
                          <a:solidFill>
                            <a:srgbClr val="000000"/>
                          </a:solidFill>
                          <a:effectLst/>
                          <a:latin typeface="Calibri" panose="020F0502020204030204" pitchFamily="34" charset="0"/>
                        </a:rPr>
                        <a:t>2.3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400" b="0" i="0" u="none" strike="noStrike">
                          <a:solidFill>
                            <a:srgbClr val="000000"/>
                          </a:solidFill>
                          <a:effectLst/>
                          <a:latin typeface="Calibri" panose="020F0502020204030204" pitchFamily="34" charset="0"/>
                        </a:rPr>
                        <a:t>                            10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400" b="0" i="0" u="none" strike="noStrike">
                          <a:solidFill>
                            <a:srgbClr val="000000"/>
                          </a:solidFill>
                          <a:effectLst/>
                          <a:latin typeface="Calibri" panose="020F0502020204030204" pitchFamily="34" charset="0"/>
                        </a:rPr>
                        <a:t>                            -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400" b="0" i="0" u="none" strike="noStrike">
                          <a:solidFill>
                            <a:srgbClr val="000000"/>
                          </a:solidFill>
                          <a:effectLst/>
                          <a:latin typeface="Calibri" panose="020F0502020204030204" pitchFamily="34" charset="0"/>
                        </a:rPr>
                        <a:t> $             3,599,945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400" b="0" i="0" u="none" strike="noStrike">
                          <a:solidFill>
                            <a:srgbClr val="000000"/>
                          </a:solidFill>
                          <a:effectLst/>
                          <a:latin typeface="Calibri" panose="020F0502020204030204" pitchFamily="34" charset="0"/>
                        </a:rPr>
                        <a:t> $           35,999,445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400" b="0" i="0" u="none" strike="noStrike">
                          <a:solidFill>
                            <a:srgbClr val="000000"/>
                          </a:solidFill>
                          <a:effectLst/>
                          <a:latin typeface="Calibri" panose="020F0502020204030204" pitchFamily="34" charset="0"/>
                        </a:rPr>
                        <a:t>                            -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03377258"/>
                  </a:ext>
                </a:extLst>
              </a:tr>
              <a:tr h="264409">
                <a:tc>
                  <a:txBody>
                    <a:bodyPr/>
                    <a:lstStyle/>
                    <a:p>
                      <a:pPr algn="l" fontAlgn="b">
                        <a:buNone/>
                      </a:pPr>
                      <a:r>
                        <a:rPr lang="es-CO" sz="1400" b="1" i="0" u="none" strike="noStrike">
                          <a:solidFill>
                            <a:srgbClr val="000000"/>
                          </a:solidFill>
                          <a:effectLst/>
                          <a:latin typeface="Calibri" panose="020F0502020204030204" pitchFamily="34" charset="0"/>
                        </a:rPr>
                        <a:t>QM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400" b="0" i="0" u="none" strike="noStrike">
                          <a:solidFill>
                            <a:srgbClr val="000000"/>
                          </a:solidFill>
                          <a:effectLst/>
                          <a:latin typeface="Calibri" panose="020F0502020204030204" pitchFamily="34" charset="0"/>
                        </a:rPr>
                        <a:t>856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s-CO" sz="1400" b="0" i="0" u="none" strike="noStrike">
                          <a:solidFill>
                            <a:srgbClr val="000000"/>
                          </a:solidFill>
                          <a:effectLst/>
                          <a:latin typeface="Calibri" panose="020F0502020204030204" pitchFamily="34" charset="0"/>
                        </a:rPr>
                        <a:t>2.0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400" b="0" i="0" u="none" strike="noStrike">
                          <a:solidFill>
                            <a:srgbClr val="000000"/>
                          </a:solidFill>
                          <a:effectLst/>
                          <a:latin typeface="Calibri" panose="020F0502020204030204" pitchFamily="34" charset="0"/>
                        </a:rPr>
                        <a:t>                          275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400" b="0" i="0" u="none" strike="noStrike">
                          <a:solidFill>
                            <a:srgbClr val="000000"/>
                          </a:solidFill>
                          <a:effectLst/>
                          <a:latin typeface="Calibri" panose="020F0502020204030204" pitchFamily="34" charset="0"/>
                        </a:rPr>
                        <a:t>                      31.60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400" b="0" i="0" u="none" strike="noStrike">
                          <a:solidFill>
                            <a:srgbClr val="000000"/>
                          </a:solidFill>
                          <a:effectLst/>
                          <a:latin typeface="Calibri" panose="020F0502020204030204" pitchFamily="34" charset="0"/>
                        </a:rPr>
                        <a:t> $                 513,508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400" b="0" i="0" u="none" strike="noStrike">
                          <a:solidFill>
                            <a:srgbClr val="000000"/>
                          </a:solidFill>
                          <a:effectLst/>
                          <a:latin typeface="Calibri" panose="020F0502020204030204" pitchFamily="34" charset="0"/>
                        </a:rPr>
                        <a:t> $        141,112,351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400" b="0" i="0" u="none" strike="noStrike">
                          <a:solidFill>
                            <a:srgbClr val="000000"/>
                          </a:solidFill>
                          <a:effectLst/>
                          <a:latin typeface="Calibri" panose="020F0502020204030204" pitchFamily="34" charset="0"/>
                        </a:rPr>
                        <a:t>            16,225,462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69922252"/>
                  </a:ext>
                </a:extLst>
              </a:tr>
              <a:tr h="264409">
                <a:tc>
                  <a:txBody>
                    <a:bodyPr/>
                    <a:lstStyle/>
                    <a:p>
                      <a:pPr algn="l" fontAlgn="b">
                        <a:buNone/>
                      </a:pPr>
                      <a:r>
                        <a:rPr lang="es-CO" sz="1400" b="1" i="0" u="none" strike="noStrike">
                          <a:solidFill>
                            <a:srgbClr val="000000"/>
                          </a:solidFill>
                          <a:effectLst/>
                          <a:latin typeface="Calibri" panose="020F0502020204030204" pitchFamily="34" charset="0"/>
                        </a:rPr>
                        <a:t>Medicamentos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400" b="0" i="0" u="none" strike="noStrike">
                          <a:solidFill>
                            <a:srgbClr val="000000"/>
                          </a:solidFill>
                          <a:effectLst/>
                          <a:latin typeface="Calibri" panose="020F0502020204030204" pitchFamily="34" charset="0"/>
                        </a:rPr>
                        <a:t>    2,891,787,756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400" b="0" i="0" u="none" strike="noStrike">
                          <a:solidFill>
                            <a:srgbClr val="000000"/>
                          </a:solidFill>
                          <a:effectLst/>
                          <a:latin typeface="Calibri" panose="020F0502020204030204"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400" b="0" i="0" u="none" strike="noStrike">
                          <a:solidFill>
                            <a:srgbClr val="000000"/>
                          </a:solidFill>
                          <a:effectLst/>
                          <a:latin typeface="Calibri" panose="020F0502020204030204" pitchFamily="34" charset="0"/>
                        </a:rPr>
                        <a:t>        1,180,811,556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O" sz="1400" b="0" i="0" u="none" strike="noStrike">
                          <a:solidFill>
                            <a:srgbClr val="000000"/>
                          </a:solidFill>
                          <a:effectLst/>
                          <a:latin typeface="Calibri" panose="020F0502020204030204" pitchFamily="34" charset="0"/>
                        </a:rPr>
                        <a:t> $       216,889,414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400" b="0" i="0" u="none" strike="noStrike">
                          <a:solidFill>
                            <a:srgbClr val="000000"/>
                          </a:solidFill>
                          <a:effectLst/>
                          <a:latin typeface="Calibri" panose="020F0502020204030204" pitchFamily="34" charset="0"/>
                        </a:rPr>
                        <a:t> $      1,049,327,185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400" b="0" i="0" u="none" strike="noStrike">
                          <a:solidFill>
                            <a:srgbClr val="000000"/>
                          </a:solidFill>
                          <a:effectLst/>
                          <a:latin typeface="Calibri" panose="020F0502020204030204" pitchFamily="34" charset="0"/>
                        </a:rPr>
                        <a:t> $     1,180,811,556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O" sz="1400" b="0" i="0" u="none" strike="noStrike">
                          <a:solidFill>
                            <a:srgbClr val="000000"/>
                          </a:solidFill>
                          <a:effectLst/>
                          <a:latin typeface="Calibri" panose="020F0502020204030204" pitchFamily="34" charset="0"/>
                        </a:rPr>
                        <a:t>          216,889,414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42588369"/>
                  </a:ext>
                </a:extLst>
              </a:tr>
              <a:tr h="264409">
                <a:tc>
                  <a:txBody>
                    <a:bodyPr/>
                    <a:lstStyle/>
                    <a:p>
                      <a:pPr algn="l" fontAlgn="b">
                        <a:buNone/>
                      </a:pPr>
                      <a:r>
                        <a:rPr lang="es-CO" sz="1400" b="1" i="0" u="none" strike="noStrike">
                          <a:solidFill>
                            <a:srgbClr val="FFFFFF"/>
                          </a:solidFill>
                          <a:effectLst/>
                          <a:latin typeface="Calibri" panose="020F0502020204030204" pitchFamily="34" charset="0"/>
                        </a:rPr>
                        <a:t>Ejecución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5B3A9"/>
                    </a:solidFill>
                  </a:tcPr>
                </a:tc>
                <a:tc>
                  <a:txBody>
                    <a:bodyPr/>
                    <a:lstStyle/>
                    <a:p>
                      <a:pPr algn="l" fontAlgn="b">
                        <a:buNone/>
                      </a:pPr>
                      <a:r>
                        <a:rPr lang="es-CO" sz="1400" b="1" i="0" u="none" strike="noStrike">
                          <a:solidFill>
                            <a:srgbClr val="FFFFFF"/>
                          </a:solidFill>
                          <a:effectLst/>
                          <a:latin typeface="Calibri" panose="020F0502020204030204"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5B3A9"/>
                    </a:solidFill>
                  </a:tcPr>
                </a:tc>
                <a:tc>
                  <a:txBody>
                    <a:bodyPr/>
                    <a:lstStyle/>
                    <a:p>
                      <a:pPr algn="l" fontAlgn="b">
                        <a:buNone/>
                      </a:pPr>
                      <a:r>
                        <a:rPr lang="es-CO" sz="1400" b="1" i="0" u="none" strike="noStrike">
                          <a:solidFill>
                            <a:srgbClr val="FFFFFF"/>
                          </a:solidFill>
                          <a:effectLst/>
                          <a:latin typeface="Calibri" panose="020F0502020204030204"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5B3A9"/>
                    </a:solidFill>
                  </a:tcPr>
                </a:tc>
                <a:tc>
                  <a:txBody>
                    <a:bodyPr/>
                    <a:lstStyle/>
                    <a:p>
                      <a:pPr algn="ctr" fontAlgn="b">
                        <a:buNone/>
                      </a:pPr>
                      <a:r>
                        <a:rPr lang="es-CO" sz="1400" b="1" i="0" u="none" strike="noStrike">
                          <a:solidFill>
                            <a:srgbClr val="FFFFFF"/>
                          </a:solidFill>
                          <a:effectLst/>
                          <a:latin typeface="Calibri" panose="020F0502020204030204" pitchFamily="34" charset="0"/>
                        </a:rPr>
                        <a:t>138%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5B3A9"/>
                    </a:solidFill>
                  </a:tcPr>
                </a:tc>
                <a:tc>
                  <a:txBody>
                    <a:bodyPr/>
                    <a:lstStyle/>
                    <a:p>
                      <a:pPr algn="ctr" fontAlgn="b">
                        <a:buNone/>
                      </a:pPr>
                      <a:r>
                        <a:rPr lang="es-CO" sz="1400" b="1" i="0" u="none" strike="noStrike">
                          <a:solidFill>
                            <a:srgbClr val="FFFFFF"/>
                          </a:solidFill>
                          <a:effectLst/>
                          <a:latin typeface="Calibri" panose="020F0502020204030204" pitchFamily="34" charset="0"/>
                        </a:rPr>
                        <a:t>153%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5B3A9"/>
                    </a:solidFill>
                  </a:tcPr>
                </a:tc>
                <a:tc>
                  <a:txBody>
                    <a:bodyPr/>
                    <a:lstStyle/>
                    <a:p>
                      <a:pPr algn="l" fontAlgn="b">
                        <a:buNone/>
                      </a:pPr>
                      <a:r>
                        <a:rPr lang="es-CO" sz="1400" b="1" i="0" u="none" strike="noStrike">
                          <a:solidFill>
                            <a:srgbClr val="FFFFFF"/>
                          </a:solidFill>
                          <a:effectLst/>
                          <a:latin typeface="Calibri" panose="020F0502020204030204" pitchFamily="34" charset="0"/>
                        </a:rPr>
                        <a:t> $     1,073,096,176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5B3A9"/>
                    </a:solidFill>
                  </a:tcPr>
                </a:tc>
                <a:tc>
                  <a:txBody>
                    <a:bodyPr/>
                    <a:lstStyle/>
                    <a:p>
                      <a:pPr algn="l" fontAlgn="b">
                        <a:buNone/>
                      </a:pPr>
                      <a:r>
                        <a:rPr lang="es-CO" sz="1400" b="1" i="0" u="none" strike="noStrike">
                          <a:solidFill>
                            <a:srgbClr val="FFFFFF"/>
                          </a:solidFill>
                          <a:effectLst/>
                          <a:latin typeface="Calibri" panose="020F0502020204030204" pitchFamily="34" charset="0"/>
                        </a:rPr>
                        <a:t> $     2,078,185,919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5B3A9"/>
                    </a:solidFill>
                  </a:tcPr>
                </a:tc>
                <a:tc>
                  <a:txBody>
                    <a:bodyPr/>
                    <a:lstStyle/>
                    <a:p>
                      <a:pPr algn="l" fontAlgn="b">
                        <a:buNone/>
                      </a:pPr>
                      <a:r>
                        <a:rPr lang="es-CO" sz="1400" b="1" i="0" u="none" strike="noStrike">
                          <a:solidFill>
                            <a:srgbClr val="FFFFFF"/>
                          </a:solidFill>
                          <a:effectLst/>
                          <a:latin typeface="Calibri" panose="020F0502020204030204" pitchFamily="34" charset="0"/>
                        </a:rPr>
                        <a:t>          322,978,730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5B3A9"/>
                    </a:solidFill>
                  </a:tcPr>
                </a:tc>
                <a:extLst>
                  <a:ext uri="{0D108BD9-81ED-4DB2-BD59-A6C34878D82A}">
                    <a16:rowId xmlns:a16="http://schemas.microsoft.com/office/drawing/2014/main" val="1627002440"/>
                  </a:ext>
                </a:extLst>
              </a:tr>
            </a:tbl>
          </a:graphicData>
        </a:graphic>
      </p:graphicFrame>
    </p:spTree>
    <p:extLst>
      <p:ext uri="{BB962C8B-B14F-4D97-AF65-F5344CB8AC3E}">
        <p14:creationId xmlns:p14="http://schemas.microsoft.com/office/powerpoint/2010/main" val="152930717"/>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AC856-1E5E-25AF-2590-14B49CB8F63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83ED726-04A8-E522-B58F-306CDD3E8AC7}"/>
              </a:ext>
            </a:extLst>
          </p:cNvPr>
          <p:cNvSpPr>
            <a:spLocks noGrp="1"/>
          </p:cNvSpPr>
          <p:nvPr>
            <p:ph type="title"/>
          </p:nvPr>
        </p:nvSpPr>
        <p:spPr>
          <a:xfrm>
            <a:off x="1261945" y="1349830"/>
            <a:ext cx="7664341" cy="2484566"/>
          </a:xfrm>
        </p:spPr>
        <p:txBody>
          <a:bodyPr>
            <a:normAutofit/>
          </a:bodyPr>
          <a:lstStyle/>
          <a:p>
            <a:r>
              <a:rPr lang="es-CO" sz="8000" b="1" noProof="0" err="1"/>
              <a:t>Fomag</a:t>
            </a:r>
            <a:endParaRPr lang="es-CO" sz="8000" b="1" noProof="0"/>
          </a:p>
        </p:txBody>
      </p:sp>
      <p:sp>
        <p:nvSpPr>
          <p:cNvPr id="3" name="Marcador de texto 2">
            <a:extLst>
              <a:ext uri="{FF2B5EF4-FFF2-40B4-BE49-F238E27FC236}">
                <a16:creationId xmlns:a16="http://schemas.microsoft.com/office/drawing/2014/main" id="{87F3AFCC-7BCF-C3F6-FB3B-30F3422B163C}"/>
              </a:ext>
            </a:extLst>
          </p:cNvPr>
          <p:cNvSpPr>
            <a:spLocks noGrp="1"/>
          </p:cNvSpPr>
          <p:nvPr>
            <p:ph type="body" idx="1"/>
          </p:nvPr>
        </p:nvSpPr>
        <p:spPr>
          <a:xfrm>
            <a:off x="1261945" y="3694695"/>
            <a:ext cx="3700346" cy="481128"/>
          </a:xfrm>
        </p:spPr>
        <p:txBody>
          <a:bodyPr vert="horz" lIns="91440" tIns="45720" rIns="91440" bIns="45720" rtlCol="0" anchor="t">
            <a:normAutofit/>
          </a:bodyPr>
          <a:lstStyle/>
          <a:p>
            <a:r>
              <a:rPr lang="es-CO" sz="2000" b="1" noProof="0"/>
              <a:t>Julio 2026</a:t>
            </a:r>
          </a:p>
          <a:p>
            <a:endParaRPr lang="es-CO" sz="2000" b="1" noProof="0"/>
          </a:p>
        </p:txBody>
      </p:sp>
    </p:spTree>
    <p:extLst>
      <p:ext uri="{BB962C8B-B14F-4D97-AF65-F5344CB8AC3E}">
        <p14:creationId xmlns:p14="http://schemas.microsoft.com/office/powerpoint/2010/main" val="330096429"/>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35C06-4058-2D9E-FB36-98799956355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2DBE7DD-F5AB-75D1-4B0D-CD62F4483E9E}"/>
              </a:ext>
            </a:extLst>
          </p:cNvPr>
          <p:cNvSpPr>
            <a:spLocks noGrp="1"/>
          </p:cNvSpPr>
          <p:nvPr>
            <p:ph type="ctrTitle"/>
          </p:nvPr>
        </p:nvSpPr>
        <p:spPr>
          <a:xfrm>
            <a:off x="273120" y="26882"/>
            <a:ext cx="11645759" cy="899007"/>
          </a:xfrm>
        </p:spPr>
        <p:txBody>
          <a:bodyPr>
            <a:normAutofit/>
          </a:bodyPr>
          <a:lstStyle/>
          <a:p>
            <a:r>
              <a:rPr lang="es-CO" noProof="0"/>
              <a:t>Historia de población </a:t>
            </a:r>
            <a:r>
              <a:rPr lang="es-CO" noProof="0" err="1"/>
              <a:t>Fomag</a:t>
            </a:r>
            <a:endParaRPr lang="es-CO" noProof="0"/>
          </a:p>
        </p:txBody>
      </p:sp>
      <p:sp>
        <p:nvSpPr>
          <p:cNvPr id="6" name="CuadroTexto 5">
            <a:extLst>
              <a:ext uri="{FF2B5EF4-FFF2-40B4-BE49-F238E27FC236}">
                <a16:creationId xmlns:a16="http://schemas.microsoft.com/office/drawing/2014/main" id="{F675F262-02E9-CFC6-6CB2-382E4447CD1B}"/>
              </a:ext>
            </a:extLst>
          </p:cNvPr>
          <p:cNvSpPr txBox="1"/>
          <p:nvPr/>
        </p:nvSpPr>
        <p:spPr>
          <a:xfrm>
            <a:off x="444144" y="5407175"/>
            <a:ext cx="11474735" cy="1477328"/>
          </a:xfrm>
          <a:prstGeom prst="rect">
            <a:avLst/>
          </a:prstGeom>
          <a:noFill/>
        </p:spPr>
        <p:txBody>
          <a:bodyPr wrap="square" rtlCol="0">
            <a:spAutoFit/>
          </a:bodyPr>
          <a:lstStyle/>
          <a:p>
            <a:r>
              <a:rPr lang="es-CO" noProof="0"/>
              <a:t>Ingreso se define cantidad de pacientes ingresados a la cohorte siendo prevalentes o incidentes</a:t>
            </a:r>
          </a:p>
          <a:p>
            <a:r>
              <a:rPr lang="es-CO" noProof="0"/>
              <a:t>En el mes de Agosto aumento el numero de ingreso debido a la contratación con Inoos</a:t>
            </a:r>
          </a:p>
          <a:p>
            <a:r>
              <a:rPr lang="es-CO" noProof="0"/>
              <a:t>2026 en el mes de enero no hubo ingresos a la cohorte y en febrero 1 usuario con un tumor de la piel y en marzo y abril 7 pacientes con Ca de otros tumores de la piel, en el mes de mayo no tuvimos ingreso de pacientes</a:t>
            </a:r>
          </a:p>
          <a:p>
            <a:endParaRPr lang="es-CO" noProof="0"/>
          </a:p>
        </p:txBody>
      </p:sp>
      <p:graphicFrame>
        <p:nvGraphicFramePr>
          <p:cNvPr id="7" name="Gráfico 6">
            <a:extLst>
              <a:ext uri="{FF2B5EF4-FFF2-40B4-BE49-F238E27FC236}">
                <a16:creationId xmlns:a16="http://schemas.microsoft.com/office/drawing/2014/main" id="{B2CCF9F1-7538-CF3D-006D-8644C97E593C}"/>
              </a:ext>
            </a:extLst>
          </p:cNvPr>
          <p:cNvGraphicFramePr/>
          <p:nvPr>
            <p:extLst>
              <p:ext uri="{D42A27DB-BD31-4B8C-83A1-F6EECF244321}">
                <p14:modId xmlns:p14="http://schemas.microsoft.com/office/powerpoint/2010/main" val="114253409"/>
              </p:ext>
            </p:extLst>
          </p:nvPr>
        </p:nvGraphicFramePr>
        <p:xfrm>
          <a:off x="273120" y="1289852"/>
          <a:ext cx="11645759" cy="3982223"/>
        </p:xfrm>
        <a:graphic>
          <a:graphicData uri="http://schemas.openxmlformats.org/drawingml/2006/chart">
            <c:chart xmlns:c="http://schemas.openxmlformats.org/drawingml/2006/chart" xmlns:r="http://schemas.openxmlformats.org/officeDocument/2006/relationships" r:id="rId3"/>
          </a:graphicData>
        </a:graphic>
      </p:graphicFrame>
      <p:sp>
        <p:nvSpPr>
          <p:cNvPr id="3" name="CuadroTexto 2">
            <a:extLst>
              <a:ext uri="{FF2B5EF4-FFF2-40B4-BE49-F238E27FC236}">
                <a16:creationId xmlns:a16="http://schemas.microsoft.com/office/drawing/2014/main" id="{7405B264-D55E-0035-9B12-B7C2A7C67F8D}"/>
              </a:ext>
            </a:extLst>
          </p:cNvPr>
          <p:cNvSpPr txBox="1"/>
          <p:nvPr/>
        </p:nvSpPr>
        <p:spPr>
          <a:xfrm>
            <a:off x="9383390" y="804494"/>
            <a:ext cx="2381651" cy="523220"/>
          </a:xfrm>
          <a:prstGeom prst="rect">
            <a:avLst/>
          </a:prstGeom>
          <a:noFill/>
        </p:spPr>
        <p:txBody>
          <a:bodyPr wrap="square" rtlCol="0">
            <a:spAutoFit/>
          </a:bodyPr>
          <a:lstStyle/>
          <a:p>
            <a:r>
              <a:rPr lang="es-CO" sz="1400" noProof="0"/>
              <a:t>Población </a:t>
            </a:r>
            <a:r>
              <a:rPr lang="es-CO" sz="1400" noProof="0" err="1"/>
              <a:t>Fomag</a:t>
            </a:r>
            <a:r>
              <a:rPr lang="es-CO" sz="1400" noProof="0"/>
              <a:t> en Cauca  </a:t>
            </a:r>
          </a:p>
          <a:p>
            <a:r>
              <a:rPr lang="es-CO" sz="1400" noProof="0"/>
              <a:t>25.471</a:t>
            </a:r>
          </a:p>
        </p:txBody>
      </p:sp>
      <p:sp>
        <p:nvSpPr>
          <p:cNvPr id="4" name="CuadroTexto 3">
            <a:extLst>
              <a:ext uri="{FF2B5EF4-FFF2-40B4-BE49-F238E27FC236}">
                <a16:creationId xmlns:a16="http://schemas.microsoft.com/office/drawing/2014/main" id="{701245EC-8199-DB26-6301-6392641ADCE6}"/>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Julio 2026</a:t>
            </a:r>
          </a:p>
        </p:txBody>
      </p:sp>
    </p:spTree>
    <p:extLst>
      <p:ext uri="{BB962C8B-B14F-4D97-AF65-F5344CB8AC3E}">
        <p14:creationId xmlns:p14="http://schemas.microsoft.com/office/powerpoint/2010/main" val="200565938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EAA4B-9E66-CD66-2D6B-BBEF2ABA52F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8CB26D3-D150-4F5E-C3A6-9E4F97DF3AF0}"/>
              </a:ext>
            </a:extLst>
          </p:cNvPr>
          <p:cNvSpPr>
            <a:spLocks noGrp="1"/>
          </p:cNvSpPr>
          <p:nvPr>
            <p:ph type="ctrTitle"/>
          </p:nvPr>
        </p:nvSpPr>
        <p:spPr>
          <a:xfrm>
            <a:off x="273120" y="26882"/>
            <a:ext cx="11645759" cy="899007"/>
          </a:xfrm>
        </p:spPr>
        <p:txBody>
          <a:bodyPr>
            <a:normAutofit/>
          </a:bodyPr>
          <a:lstStyle/>
          <a:p>
            <a:r>
              <a:rPr lang="es-CO" noProof="0"/>
              <a:t>Prevalencia de población </a:t>
            </a:r>
            <a:r>
              <a:rPr lang="es-CO" noProof="0" err="1"/>
              <a:t>Fomag</a:t>
            </a:r>
            <a:endParaRPr lang="es-CO" noProof="0"/>
          </a:p>
        </p:txBody>
      </p:sp>
      <p:sp>
        <p:nvSpPr>
          <p:cNvPr id="6" name="CuadroTexto 5">
            <a:extLst>
              <a:ext uri="{FF2B5EF4-FFF2-40B4-BE49-F238E27FC236}">
                <a16:creationId xmlns:a16="http://schemas.microsoft.com/office/drawing/2014/main" id="{D95188CE-207C-3663-51D3-FD6B808940E1}"/>
              </a:ext>
            </a:extLst>
          </p:cNvPr>
          <p:cNvSpPr txBox="1"/>
          <p:nvPr/>
        </p:nvSpPr>
        <p:spPr>
          <a:xfrm>
            <a:off x="584616" y="4988277"/>
            <a:ext cx="11334263" cy="1200329"/>
          </a:xfrm>
          <a:prstGeom prst="rect">
            <a:avLst/>
          </a:prstGeom>
          <a:noFill/>
        </p:spPr>
        <p:txBody>
          <a:bodyPr wrap="square" rtlCol="0">
            <a:spAutoFit/>
          </a:bodyPr>
          <a:lstStyle/>
          <a:p>
            <a:r>
              <a:rPr lang="es-CO" noProof="0"/>
              <a:t>Incidencia se define como casos con diagnostico de </a:t>
            </a:r>
            <a:r>
              <a:rPr lang="es-CO" noProof="0" err="1"/>
              <a:t>novo</a:t>
            </a:r>
            <a:r>
              <a:rPr lang="es-CO" noProof="0"/>
              <a:t> en el paciente</a:t>
            </a:r>
          </a:p>
          <a:p>
            <a:r>
              <a:rPr lang="es-CO" noProof="0"/>
              <a:t>De los 24 incidentes del año 2025 se distribuyen según estadios de la siguiente manera: Basocelular 42 % (n= 10), Temprano 21% (n= 5), entre metastásico y tardío 21% ( n=5) y resto desconocido </a:t>
            </a:r>
          </a:p>
          <a:p>
            <a:endParaRPr lang="es-CO" noProof="0"/>
          </a:p>
        </p:txBody>
      </p:sp>
      <p:sp>
        <p:nvSpPr>
          <p:cNvPr id="3" name="CuadroTexto 2">
            <a:extLst>
              <a:ext uri="{FF2B5EF4-FFF2-40B4-BE49-F238E27FC236}">
                <a16:creationId xmlns:a16="http://schemas.microsoft.com/office/drawing/2014/main" id="{FBF983A5-5C3B-F046-9F1A-C4CBFCD2E816}"/>
              </a:ext>
            </a:extLst>
          </p:cNvPr>
          <p:cNvSpPr txBox="1"/>
          <p:nvPr/>
        </p:nvSpPr>
        <p:spPr>
          <a:xfrm>
            <a:off x="9932772" y="881439"/>
            <a:ext cx="1842400" cy="430887"/>
          </a:xfrm>
          <a:prstGeom prst="rect">
            <a:avLst/>
          </a:prstGeom>
          <a:noFill/>
        </p:spPr>
        <p:txBody>
          <a:bodyPr wrap="square" rtlCol="0">
            <a:spAutoFit/>
          </a:bodyPr>
          <a:lstStyle/>
          <a:p>
            <a:r>
              <a:rPr lang="es-CO" sz="1100" noProof="0"/>
              <a:t>Población Sanitas:   </a:t>
            </a:r>
          </a:p>
          <a:p>
            <a:r>
              <a:rPr lang="es-CO" sz="1100" noProof="0"/>
              <a:t>        25.471</a:t>
            </a:r>
          </a:p>
        </p:txBody>
      </p:sp>
      <p:sp>
        <p:nvSpPr>
          <p:cNvPr id="4" name="CuadroTexto 3">
            <a:extLst>
              <a:ext uri="{FF2B5EF4-FFF2-40B4-BE49-F238E27FC236}">
                <a16:creationId xmlns:a16="http://schemas.microsoft.com/office/drawing/2014/main" id="{600EB1A3-9C47-8CF6-7F30-01BFAA55776E}"/>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Julio 2026</a:t>
            </a:r>
          </a:p>
        </p:txBody>
      </p:sp>
      <p:graphicFrame>
        <p:nvGraphicFramePr>
          <p:cNvPr id="7" name="Gráfico 6">
            <a:extLst>
              <a:ext uri="{FF2B5EF4-FFF2-40B4-BE49-F238E27FC236}">
                <a16:creationId xmlns:a16="http://schemas.microsoft.com/office/drawing/2014/main" id="{E06E82E4-0A2B-F7DB-D7B9-1EB63885B984}"/>
              </a:ext>
            </a:extLst>
          </p:cNvPr>
          <p:cNvGraphicFramePr>
            <a:graphicFrameLocks/>
          </p:cNvGraphicFramePr>
          <p:nvPr>
            <p:extLst>
              <p:ext uri="{D42A27DB-BD31-4B8C-83A1-F6EECF244321}">
                <p14:modId xmlns:p14="http://schemas.microsoft.com/office/powerpoint/2010/main" val="3575911818"/>
              </p:ext>
            </p:extLst>
          </p:nvPr>
        </p:nvGraphicFramePr>
        <p:xfrm>
          <a:off x="770021" y="1035537"/>
          <a:ext cx="10058399" cy="376506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54156157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D598F-9267-8E79-65CC-9A6D1C7E6128}"/>
            </a:ext>
          </a:extLst>
        </p:cNvPr>
        <p:cNvGrpSpPr/>
        <p:nvPr/>
      </p:nvGrpSpPr>
      <p:grpSpPr>
        <a:xfrm>
          <a:off x="0" y="0"/>
          <a:ext cx="0" cy="0"/>
          <a:chOff x="0" y="0"/>
          <a:chExt cx="0" cy="0"/>
        </a:xfrm>
      </p:grpSpPr>
      <p:sp>
        <p:nvSpPr>
          <p:cNvPr id="7" name="Título 1">
            <a:extLst>
              <a:ext uri="{FF2B5EF4-FFF2-40B4-BE49-F238E27FC236}">
                <a16:creationId xmlns:a16="http://schemas.microsoft.com/office/drawing/2014/main" id="{F5664EB3-776B-6106-7047-56C9D8C17992}"/>
              </a:ext>
            </a:extLst>
          </p:cNvPr>
          <p:cNvSpPr>
            <a:spLocks noGrp="1"/>
          </p:cNvSpPr>
          <p:nvPr/>
        </p:nvSpPr>
        <p:spPr>
          <a:xfrm>
            <a:off x="461735" y="0"/>
            <a:ext cx="11268529" cy="831358"/>
          </a:xfrm>
          <a:prstGeom prst="rect">
            <a:avLst/>
          </a:prstGeom>
        </p:spPr>
        <p:txBody>
          <a:bodyPr vert="horz" lIns="91440" tIns="45720" rIns="91440" bIns="45720" rtlCol="0" anchor="b">
            <a:normAutofit/>
          </a:bodyPr>
          <a:lstStyle>
            <a:lvl1pPr marL="0" indent="0" algn="ctr" defTabSz="914400" rtl="0" eaLnBrk="1" latinLnBrk="0" hangingPunct="1">
              <a:lnSpc>
                <a:spcPct val="90000"/>
              </a:lnSpc>
              <a:spcBef>
                <a:spcPct val="0"/>
              </a:spcBef>
              <a:buNone/>
              <a:defRPr lang="es-CO" sz="4400" b="1" kern="1200" dirty="0">
                <a:solidFill>
                  <a:schemeClr val="tx1"/>
                </a:solidFill>
                <a:latin typeface="+mj-lt"/>
                <a:ea typeface="+mj-ea"/>
                <a:cs typeface="+mj-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s-CO" noProof="0"/>
              <a:t>Distribución de la Cohorte Total 2026</a:t>
            </a:r>
          </a:p>
        </p:txBody>
      </p:sp>
      <p:graphicFrame>
        <p:nvGraphicFramePr>
          <p:cNvPr id="5" name="Gráfico 4">
            <a:extLst>
              <a:ext uri="{FF2B5EF4-FFF2-40B4-BE49-F238E27FC236}">
                <a16:creationId xmlns:a16="http://schemas.microsoft.com/office/drawing/2014/main" id="{456FD952-9B9F-E156-2A96-9FE33AFC0FD9}"/>
              </a:ext>
            </a:extLst>
          </p:cNvPr>
          <p:cNvGraphicFramePr>
            <a:graphicFrameLocks/>
          </p:cNvGraphicFramePr>
          <p:nvPr>
            <p:extLst>
              <p:ext uri="{D42A27DB-BD31-4B8C-83A1-F6EECF244321}">
                <p14:modId xmlns:p14="http://schemas.microsoft.com/office/powerpoint/2010/main" val="2953167657"/>
              </p:ext>
            </p:extLst>
          </p:nvPr>
        </p:nvGraphicFramePr>
        <p:xfrm>
          <a:off x="625642" y="1106905"/>
          <a:ext cx="10972800" cy="4684295"/>
        </p:xfrm>
        <a:graphic>
          <a:graphicData uri="http://schemas.openxmlformats.org/drawingml/2006/chart">
            <c:chart xmlns:c="http://schemas.openxmlformats.org/drawingml/2006/chart" xmlns:r="http://schemas.openxmlformats.org/officeDocument/2006/relationships" r:id="rId2"/>
          </a:graphicData>
        </a:graphic>
      </p:graphicFrame>
      <p:sp>
        <p:nvSpPr>
          <p:cNvPr id="6" name="CuadroTexto 5">
            <a:extLst>
              <a:ext uri="{FF2B5EF4-FFF2-40B4-BE49-F238E27FC236}">
                <a16:creationId xmlns:a16="http://schemas.microsoft.com/office/drawing/2014/main" id="{288CC1F4-D7E3-39AC-0B51-547F8A051232}"/>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Julio 2026</a:t>
            </a:r>
          </a:p>
        </p:txBody>
      </p:sp>
    </p:spTree>
    <p:extLst>
      <p:ext uri="{BB962C8B-B14F-4D97-AF65-F5344CB8AC3E}">
        <p14:creationId xmlns:p14="http://schemas.microsoft.com/office/powerpoint/2010/main" val="2168035000"/>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6D219-FCEF-A283-AA06-0434329309F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75ECFB0-2E26-A45B-4D6B-12764861C445}"/>
              </a:ext>
            </a:extLst>
          </p:cNvPr>
          <p:cNvSpPr>
            <a:spLocks noGrp="1"/>
          </p:cNvSpPr>
          <p:nvPr>
            <p:ph type="ctrTitle"/>
          </p:nvPr>
        </p:nvSpPr>
        <p:spPr>
          <a:xfrm>
            <a:off x="273120" y="206276"/>
            <a:ext cx="11645759" cy="657324"/>
          </a:xfrm>
        </p:spPr>
        <p:txBody>
          <a:bodyPr>
            <a:noAutofit/>
          </a:bodyPr>
          <a:lstStyle/>
          <a:p>
            <a:r>
              <a:rPr lang="es-CO" noProof="0"/>
              <a:t>Porcentaje de pacientes en tratamiento 2026</a:t>
            </a:r>
          </a:p>
        </p:txBody>
      </p:sp>
      <p:sp>
        <p:nvSpPr>
          <p:cNvPr id="7" name="CuadroTexto 6">
            <a:extLst>
              <a:ext uri="{FF2B5EF4-FFF2-40B4-BE49-F238E27FC236}">
                <a16:creationId xmlns:a16="http://schemas.microsoft.com/office/drawing/2014/main" id="{578909C1-E1A1-D659-82E5-2F137B37B211}"/>
              </a:ext>
            </a:extLst>
          </p:cNvPr>
          <p:cNvSpPr txBox="1"/>
          <p:nvPr/>
        </p:nvSpPr>
        <p:spPr>
          <a:xfrm>
            <a:off x="1475874" y="5989403"/>
            <a:ext cx="9753599" cy="369332"/>
          </a:xfrm>
          <a:prstGeom prst="rect">
            <a:avLst/>
          </a:prstGeom>
          <a:noFill/>
        </p:spPr>
        <p:txBody>
          <a:bodyPr wrap="square">
            <a:spAutoFit/>
          </a:bodyPr>
          <a:lstStyle/>
          <a:p>
            <a:r>
              <a:rPr lang="es-CO" sz="1800" noProof="0"/>
              <a:t>* La terapia sistémica incluye Quimioterapia, Inmunoterapia, terapia hormonal y terapia dirigida</a:t>
            </a:r>
          </a:p>
        </p:txBody>
      </p:sp>
      <p:graphicFrame>
        <p:nvGraphicFramePr>
          <p:cNvPr id="9" name="Gráfico 8">
            <a:extLst>
              <a:ext uri="{FF2B5EF4-FFF2-40B4-BE49-F238E27FC236}">
                <a16:creationId xmlns:a16="http://schemas.microsoft.com/office/drawing/2014/main" id="{1692A24E-95D9-D5D2-55B3-43699477D9B8}"/>
              </a:ext>
            </a:extLst>
          </p:cNvPr>
          <p:cNvGraphicFramePr/>
          <p:nvPr>
            <p:extLst>
              <p:ext uri="{D42A27DB-BD31-4B8C-83A1-F6EECF244321}">
                <p14:modId xmlns:p14="http://schemas.microsoft.com/office/powerpoint/2010/main" val="1386909152"/>
              </p:ext>
            </p:extLst>
          </p:nvPr>
        </p:nvGraphicFramePr>
        <p:xfrm>
          <a:off x="588316" y="1085866"/>
          <a:ext cx="11225632" cy="3362889"/>
        </p:xfrm>
        <a:graphic>
          <a:graphicData uri="http://schemas.openxmlformats.org/drawingml/2006/chart">
            <c:chart xmlns:c="http://schemas.openxmlformats.org/drawingml/2006/chart" xmlns:r="http://schemas.openxmlformats.org/officeDocument/2006/relationships" r:id="rId3"/>
          </a:graphicData>
        </a:graphic>
      </p:graphicFrame>
      <p:sp>
        <p:nvSpPr>
          <p:cNvPr id="4" name="CuadroTexto 3">
            <a:extLst>
              <a:ext uri="{FF2B5EF4-FFF2-40B4-BE49-F238E27FC236}">
                <a16:creationId xmlns:a16="http://schemas.microsoft.com/office/drawing/2014/main" id="{2D9D07F1-A397-F9C0-A322-CF8A99C4582A}"/>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Julio 2026</a:t>
            </a:r>
          </a:p>
        </p:txBody>
      </p:sp>
      <p:pic>
        <p:nvPicPr>
          <p:cNvPr id="8" name="Imagen 7">
            <a:extLst>
              <a:ext uri="{FF2B5EF4-FFF2-40B4-BE49-F238E27FC236}">
                <a16:creationId xmlns:a16="http://schemas.microsoft.com/office/drawing/2014/main" id="{DE9C0964-BEA4-CE66-2A9E-3BA20F8E76CA}"/>
              </a:ext>
            </a:extLst>
          </p:cNvPr>
          <p:cNvPicPr>
            <a:picLocks noChangeAspect="1"/>
          </p:cNvPicPr>
          <p:nvPr/>
        </p:nvPicPr>
        <p:blipFill>
          <a:blip r:embed="rId4"/>
          <a:stretch>
            <a:fillRect/>
          </a:stretch>
        </p:blipFill>
        <p:spPr>
          <a:xfrm>
            <a:off x="210063" y="4448755"/>
            <a:ext cx="11708816" cy="1161881"/>
          </a:xfrm>
          <a:prstGeom prst="rect">
            <a:avLst/>
          </a:prstGeom>
        </p:spPr>
      </p:pic>
    </p:spTree>
    <p:extLst>
      <p:ext uri="{BB962C8B-B14F-4D97-AF65-F5344CB8AC3E}">
        <p14:creationId xmlns:p14="http://schemas.microsoft.com/office/powerpoint/2010/main" val="79211586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450C4-52F7-65BE-10A8-D0BD3B72E5E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5B35C5D-06CD-F825-429D-2D183265795D}"/>
              </a:ext>
            </a:extLst>
          </p:cNvPr>
          <p:cNvSpPr>
            <a:spLocks noGrp="1"/>
          </p:cNvSpPr>
          <p:nvPr>
            <p:ph type="ctrTitle"/>
          </p:nvPr>
        </p:nvSpPr>
        <p:spPr>
          <a:xfrm>
            <a:off x="273120" y="0"/>
            <a:ext cx="11645759" cy="786278"/>
          </a:xfrm>
        </p:spPr>
        <p:txBody>
          <a:bodyPr/>
          <a:lstStyle/>
          <a:p>
            <a:r>
              <a:rPr lang="es-CO" noProof="0"/>
              <a:t>Oportunidades inicio de tratamientos 2025/2026</a:t>
            </a:r>
          </a:p>
        </p:txBody>
      </p:sp>
      <p:graphicFrame>
        <p:nvGraphicFramePr>
          <p:cNvPr id="6" name="Gráfico 5">
            <a:extLst>
              <a:ext uri="{FF2B5EF4-FFF2-40B4-BE49-F238E27FC236}">
                <a16:creationId xmlns:a16="http://schemas.microsoft.com/office/drawing/2014/main" id="{D9A29204-7F34-D927-5311-F3D39187D6F3}"/>
              </a:ext>
            </a:extLst>
          </p:cNvPr>
          <p:cNvGraphicFramePr/>
          <p:nvPr>
            <p:extLst>
              <p:ext uri="{D42A27DB-BD31-4B8C-83A1-F6EECF244321}">
                <p14:modId xmlns:p14="http://schemas.microsoft.com/office/powerpoint/2010/main" val="3444700537"/>
              </p:ext>
            </p:extLst>
          </p:nvPr>
        </p:nvGraphicFramePr>
        <p:xfrm>
          <a:off x="120720" y="764604"/>
          <a:ext cx="5940000" cy="270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Gráfico 6">
            <a:extLst>
              <a:ext uri="{FF2B5EF4-FFF2-40B4-BE49-F238E27FC236}">
                <a16:creationId xmlns:a16="http://schemas.microsoft.com/office/drawing/2014/main" id="{8F61F8FA-9707-6FE1-75AE-54CAF915B206}"/>
              </a:ext>
            </a:extLst>
          </p:cNvPr>
          <p:cNvGraphicFramePr/>
          <p:nvPr>
            <p:extLst>
              <p:ext uri="{D42A27DB-BD31-4B8C-83A1-F6EECF244321}">
                <p14:modId xmlns:p14="http://schemas.microsoft.com/office/powerpoint/2010/main" val="383018900"/>
              </p:ext>
            </p:extLst>
          </p:nvPr>
        </p:nvGraphicFramePr>
        <p:xfrm>
          <a:off x="120720" y="3558066"/>
          <a:ext cx="5940000" cy="270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Gráfico 7">
            <a:extLst>
              <a:ext uri="{FF2B5EF4-FFF2-40B4-BE49-F238E27FC236}">
                <a16:creationId xmlns:a16="http://schemas.microsoft.com/office/drawing/2014/main" id="{574A23F7-82EB-4306-1434-99CF34EE7B7B}"/>
              </a:ext>
            </a:extLst>
          </p:cNvPr>
          <p:cNvGraphicFramePr/>
          <p:nvPr>
            <p:extLst>
              <p:ext uri="{D42A27DB-BD31-4B8C-83A1-F6EECF244321}">
                <p14:modId xmlns:p14="http://schemas.microsoft.com/office/powerpoint/2010/main" val="3875488141"/>
              </p:ext>
            </p:extLst>
          </p:nvPr>
        </p:nvGraphicFramePr>
        <p:xfrm>
          <a:off x="6137528" y="3558066"/>
          <a:ext cx="5940000" cy="2700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 name="Gráfico 8">
            <a:extLst>
              <a:ext uri="{FF2B5EF4-FFF2-40B4-BE49-F238E27FC236}">
                <a16:creationId xmlns:a16="http://schemas.microsoft.com/office/drawing/2014/main" id="{2B3316F8-354E-88B2-8A28-4DECBCF747FD}"/>
              </a:ext>
            </a:extLst>
          </p:cNvPr>
          <p:cNvGraphicFramePr/>
          <p:nvPr>
            <p:extLst>
              <p:ext uri="{D42A27DB-BD31-4B8C-83A1-F6EECF244321}">
                <p14:modId xmlns:p14="http://schemas.microsoft.com/office/powerpoint/2010/main" val="4054449370"/>
              </p:ext>
            </p:extLst>
          </p:nvPr>
        </p:nvGraphicFramePr>
        <p:xfrm>
          <a:off x="6152042" y="779118"/>
          <a:ext cx="5940000" cy="2700000"/>
        </p:xfrm>
        <a:graphic>
          <a:graphicData uri="http://schemas.openxmlformats.org/drawingml/2006/chart">
            <c:chart xmlns:c="http://schemas.openxmlformats.org/drawingml/2006/chart" xmlns:r="http://schemas.openxmlformats.org/officeDocument/2006/relationships" r:id="rId5"/>
          </a:graphicData>
        </a:graphic>
      </p:graphicFrame>
      <p:sp>
        <p:nvSpPr>
          <p:cNvPr id="3" name="CuadroTexto 2">
            <a:extLst>
              <a:ext uri="{FF2B5EF4-FFF2-40B4-BE49-F238E27FC236}">
                <a16:creationId xmlns:a16="http://schemas.microsoft.com/office/drawing/2014/main" id="{4E5416A4-B110-3BC8-1CB5-6D66E7A48FDF}"/>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Cohorte oncológica INOOS Julio 2026</a:t>
            </a:r>
          </a:p>
        </p:txBody>
      </p:sp>
      <p:sp>
        <p:nvSpPr>
          <p:cNvPr id="5" name="CuadroTexto 4">
            <a:extLst>
              <a:ext uri="{FF2B5EF4-FFF2-40B4-BE49-F238E27FC236}">
                <a16:creationId xmlns:a16="http://schemas.microsoft.com/office/drawing/2014/main" id="{AC9255FC-A800-EBE2-83DD-1E17C5D5E39D}"/>
              </a:ext>
            </a:extLst>
          </p:cNvPr>
          <p:cNvSpPr txBox="1"/>
          <p:nvPr/>
        </p:nvSpPr>
        <p:spPr>
          <a:xfrm>
            <a:off x="2306359" y="6351528"/>
            <a:ext cx="3638394" cy="276999"/>
          </a:xfrm>
          <a:prstGeom prst="rect">
            <a:avLst/>
          </a:prstGeom>
          <a:noFill/>
        </p:spPr>
        <p:txBody>
          <a:bodyPr wrap="square">
            <a:spAutoFit/>
          </a:bodyPr>
          <a:lstStyle/>
          <a:p>
            <a:r>
              <a:rPr lang="es-CO" sz="1200" b="1" i="1">
                <a:solidFill>
                  <a:schemeClr val="tx2"/>
                </a:solidFill>
              </a:rPr>
              <a:t>No se realizaron cirugías en el mes de julio</a:t>
            </a:r>
            <a:endParaRPr lang="es-CO" sz="1200" i="1" noProof="0">
              <a:solidFill>
                <a:schemeClr val="tx2"/>
              </a:solidFill>
            </a:endParaRPr>
          </a:p>
        </p:txBody>
      </p:sp>
    </p:spTree>
    <p:extLst>
      <p:ext uri="{BB962C8B-B14F-4D97-AF65-F5344CB8AC3E}">
        <p14:creationId xmlns:p14="http://schemas.microsoft.com/office/powerpoint/2010/main" val="212348241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C99C1DD1-CEB1-6808-0D0D-5052367B28F7}"/>
              </a:ext>
            </a:extLst>
          </p:cNvPr>
          <p:cNvSpPr txBox="1">
            <a:spLocks/>
          </p:cNvSpPr>
          <p:nvPr/>
        </p:nvSpPr>
        <p:spPr>
          <a:xfrm>
            <a:off x="3153853" y="76014"/>
            <a:ext cx="5884294" cy="812078"/>
          </a:xfrm>
          <a:prstGeom prst="rect">
            <a:avLst/>
          </a:prstGeom>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sz="4400" b="1" kern="1200">
                <a:solidFill>
                  <a:srgbClr val="00A19C"/>
                </a:solidFill>
                <a:latin typeface="+mj-lt"/>
                <a:ea typeface="+mj-ea"/>
                <a:cs typeface="+mj-cs"/>
              </a:defRPr>
            </a:lvl1pPr>
          </a:lstStyle>
          <a:p>
            <a:r>
              <a:rPr lang="es-CO">
                <a:solidFill>
                  <a:schemeClr val="tx1"/>
                </a:solidFill>
                <a:latin typeface="Century Gothic"/>
              </a:rPr>
              <a:t>Encuestas de satisfacción</a:t>
            </a:r>
            <a:endParaRPr lang="es-ES"/>
          </a:p>
        </p:txBody>
      </p:sp>
      <p:sp>
        <p:nvSpPr>
          <p:cNvPr id="4" name="CuadroTexto 3">
            <a:extLst>
              <a:ext uri="{FF2B5EF4-FFF2-40B4-BE49-F238E27FC236}">
                <a16:creationId xmlns:a16="http://schemas.microsoft.com/office/drawing/2014/main" id="{A62757D4-4F06-7AA6-3EFE-81E608448198}"/>
              </a:ext>
            </a:extLst>
          </p:cNvPr>
          <p:cNvSpPr txBox="1"/>
          <p:nvPr/>
        </p:nvSpPr>
        <p:spPr>
          <a:xfrm>
            <a:off x="8241030" y="2890391"/>
            <a:ext cx="3676650" cy="1077218"/>
          </a:xfrm>
          <a:prstGeom prst="rect">
            <a:avLst/>
          </a:prstGeom>
          <a:noFill/>
        </p:spPr>
        <p:txBody>
          <a:bodyPr wrap="square" lIns="91440" tIns="45720" rIns="91440" bIns="45720" anchor="t">
            <a:spAutoFit/>
          </a:bodyPr>
          <a:lstStyle/>
          <a:p>
            <a:pPr algn="just"/>
            <a:r>
              <a:rPr lang="es-MX" sz="1600">
                <a:solidFill>
                  <a:schemeClr val="tx1">
                    <a:lumMod val="50000"/>
                  </a:schemeClr>
                </a:solidFill>
                <a:latin typeface="Aptos" panose="020B0004020202020204" pitchFamily="34" charset="0"/>
                <a:ea typeface="+mn-lt"/>
                <a:cs typeface="+mn-lt"/>
              </a:rPr>
              <a:t>Entre los encuestados se encuentran afiliados a Sies Salud,  Particulares, FOMAG, EPS Familiar de Colombia y </a:t>
            </a:r>
            <a:r>
              <a:rPr lang="es-MX" sz="1600" err="1">
                <a:solidFill>
                  <a:schemeClr val="tx1">
                    <a:lumMod val="50000"/>
                  </a:schemeClr>
                </a:solidFill>
                <a:latin typeface="Aptos" panose="020B0004020202020204" pitchFamily="34" charset="0"/>
                <a:ea typeface="+mn-lt"/>
                <a:cs typeface="+mn-lt"/>
              </a:rPr>
              <a:t>Botospa</a:t>
            </a:r>
            <a:r>
              <a:rPr lang="es-MX" sz="1600">
                <a:solidFill>
                  <a:schemeClr val="tx1">
                    <a:lumMod val="50000"/>
                  </a:schemeClr>
                </a:solidFill>
                <a:latin typeface="Aptos" panose="020B0004020202020204" pitchFamily="34" charset="0"/>
                <a:ea typeface="+mn-lt"/>
                <a:cs typeface="+mn-lt"/>
              </a:rPr>
              <a:t>.</a:t>
            </a:r>
          </a:p>
        </p:txBody>
      </p:sp>
      <p:graphicFrame>
        <p:nvGraphicFramePr>
          <p:cNvPr id="3" name="Gráfico 2">
            <a:extLst>
              <a:ext uri="{FF2B5EF4-FFF2-40B4-BE49-F238E27FC236}">
                <a16:creationId xmlns:a16="http://schemas.microsoft.com/office/drawing/2014/main" id="{7B212019-6220-47C1-B6C6-E922CC0BEFC9}"/>
              </a:ext>
              <a:ext uri="{147F2762-F138-4A5C-976F-8EAC2B608ADB}">
                <a16:predDERef xmlns:a16="http://schemas.microsoft.com/office/drawing/2014/main" pred="{839E2944-2599-48A5-A12C-AA06336E5D5A}"/>
              </a:ext>
            </a:extLst>
          </p:cNvPr>
          <p:cNvGraphicFramePr>
            <a:graphicFrameLocks/>
          </p:cNvGraphicFramePr>
          <p:nvPr/>
        </p:nvGraphicFramePr>
        <p:xfrm>
          <a:off x="1318836" y="1187192"/>
          <a:ext cx="6621204" cy="4832608"/>
        </p:xfrm>
        <a:graphic>
          <a:graphicData uri="http://schemas.openxmlformats.org/drawingml/2006/chart">
            <c:chart xmlns:c="http://schemas.openxmlformats.org/drawingml/2006/chart" xmlns:r="http://schemas.openxmlformats.org/officeDocument/2006/relationships" r:id="rId2"/>
          </a:graphicData>
        </a:graphic>
      </p:graphicFrame>
      <p:sp>
        <p:nvSpPr>
          <p:cNvPr id="5" name="CuadroTexto 4">
            <a:extLst>
              <a:ext uri="{FF2B5EF4-FFF2-40B4-BE49-F238E27FC236}">
                <a16:creationId xmlns:a16="http://schemas.microsoft.com/office/drawing/2014/main" id="{733407F0-2F4B-3A2A-D00D-1A9FBBE63028}"/>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SAU INOOS Julio 2026</a:t>
            </a:r>
          </a:p>
        </p:txBody>
      </p:sp>
    </p:spTree>
    <p:extLst>
      <p:ext uri="{BB962C8B-B14F-4D97-AF65-F5344CB8AC3E}">
        <p14:creationId xmlns:p14="http://schemas.microsoft.com/office/powerpoint/2010/main" val="33247733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6CA9BD77-ABE8-101E-66C0-0ED5BA07EB1C}"/>
              </a:ext>
            </a:extLst>
          </p:cNvPr>
          <p:cNvSpPr txBox="1">
            <a:spLocks/>
          </p:cNvSpPr>
          <p:nvPr/>
        </p:nvSpPr>
        <p:spPr>
          <a:xfrm>
            <a:off x="1134981" y="39217"/>
            <a:ext cx="10515600" cy="81207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400" b="1" kern="1200">
                <a:solidFill>
                  <a:srgbClr val="00A19C"/>
                </a:solidFill>
                <a:latin typeface="+mj-lt"/>
                <a:ea typeface="+mj-ea"/>
                <a:cs typeface="+mj-cs"/>
              </a:defRPr>
            </a:lvl1pPr>
          </a:lstStyle>
          <a:p>
            <a:r>
              <a:rPr lang="es-CO">
                <a:solidFill>
                  <a:schemeClr val="tx1"/>
                </a:solidFill>
                <a:latin typeface="Century Gothic"/>
              </a:rPr>
              <a:t>QSE</a:t>
            </a:r>
            <a:endParaRPr lang="es-ES"/>
          </a:p>
        </p:txBody>
      </p:sp>
      <p:graphicFrame>
        <p:nvGraphicFramePr>
          <p:cNvPr id="7" name="Gráfico 6">
            <a:extLst>
              <a:ext uri="{FF2B5EF4-FFF2-40B4-BE49-F238E27FC236}">
                <a16:creationId xmlns:a16="http://schemas.microsoft.com/office/drawing/2014/main" id="{90F1E241-6B40-422A-8586-49EEE45A179C}"/>
              </a:ext>
              <a:ext uri="{147F2762-F138-4A5C-976F-8EAC2B608ADB}">
                <a16:predDERef xmlns:a16="http://schemas.microsoft.com/office/drawing/2014/main" pred="{388F530F-CEB5-E88B-0E78-460D25427196}"/>
              </a:ext>
            </a:extLst>
          </p:cNvPr>
          <p:cNvGraphicFramePr>
            <a:graphicFrameLocks/>
          </p:cNvGraphicFramePr>
          <p:nvPr/>
        </p:nvGraphicFramePr>
        <p:xfrm>
          <a:off x="7078581" y="3835039"/>
          <a:ext cx="5048250" cy="286729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Gráfico 7">
            <a:extLst>
              <a:ext uri="{FF2B5EF4-FFF2-40B4-BE49-F238E27FC236}">
                <a16:creationId xmlns:a16="http://schemas.microsoft.com/office/drawing/2014/main" id="{00209C8D-8A12-4E06-87BD-A57D756340F4}"/>
              </a:ext>
              <a:ext uri="{147F2762-F138-4A5C-976F-8EAC2B608ADB}">
                <a16:predDERef xmlns:a16="http://schemas.microsoft.com/office/drawing/2014/main" pred="{90F1E241-6B40-422A-8586-49EEE45A179C}"/>
              </a:ext>
            </a:extLst>
          </p:cNvPr>
          <p:cNvGraphicFramePr>
            <a:graphicFrameLocks/>
          </p:cNvGraphicFramePr>
          <p:nvPr/>
        </p:nvGraphicFramePr>
        <p:xfrm>
          <a:off x="1280160" y="851295"/>
          <a:ext cx="4572000" cy="277045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Gráfico 8">
            <a:extLst>
              <a:ext uri="{FF2B5EF4-FFF2-40B4-BE49-F238E27FC236}">
                <a16:creationId xmlns:a16="http://schemas.microsoft.com/office/drawing/2014/main" id="{C6F3D0C8-8403-4275-8047-E52C558633BB}"/>
              </a:ext>
              <a:ext uri="{147F2762-F138-4A5C-976F-8EAC2B608ADB}">
                <a16:predDERef xmlns:a16="http://schemas.microsoft.com/office/drawing/2014/main" pred="{00209C8D-8A12-4E06-87BD-A57D756340F4}"/>
              </a:ext>
            </a:extLst>
          </p:cNvPr>
          <p:cNvGraphicFramePr>
            <a:graphicFrameLocks/>
          </p:cNvGraphicFramePr>
          <p:nvPr/>
        </p:nvGraphicFramePr>
        <p:xfrm>
          <a:off x="7078581" y="492011"/>
          <a:ext cx="4572000" cy="293698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Gráfico 9">
            <a:extLst>
              <a:ext uri="{FF2B5EF4-FFF2-40B4-BE49-F238E27FC236}">
                <a16:creationId xmlns:a16="http://schemas.microsoft.com/office/drawing/2014/main" id="{CA3ADA5B-2B99-4BBA-A463-B7312F81D5F0}"/>
              </a:ext>
              <a:ext uri="{147F2762-F138-4A5C-976F-8EAC2B608ADB}">
                <a16:predDERef xmlns:a16="http://schemas.microsoft.com/office/drawing/2014/main" pred="{C6F3D0C8-8403-4275-8047-E52C558633BB}"/>
              </a:ext>
            </a:extLst>
          </p:cNvPr>
          <p:cNvGraphicFramePr>
            <a:graphicFrameLocks/>
          </p:cNvGraphicFramePr>
          <p:nvPr/>
        </p:nvGraphicFramePr>
        <p:xfrm>
          <a:off x="1280160" y="3835039"/>
          <a:ext cx="4691062" cy="2776839"/>
        </p:xfrm>
        <a:graphic>
          <a:graphicData uri="http://schemas.openxmlformats.org/drawingml/2006/chart">
            <c:chart xmlns:c="http://schemas.openxmlformats.org/drawingml/2006/chart" xmlns:r="http://schemas.openxmlformats.org/officeDocument/2006/relationships" r:id="rId5"/>
          </a:graphicData>
        </a:graphic>
      </p:graphicFrame>
      <p:sp>
        <p:nvSpPr>
          <p:cNvPr id="3" name="CuadroTexto 2">
            <a:extLst>
              <a:ext uri="{FF2B5EF4-FFF2-40B4-BE49-F238E27FC236}">
                <a16:creationId xmlns:a16="http://schemas.microsoft.com/office/drawing/2014/main" id="{91D9F5A5-9640-8AD7-3E8D-EF59999589C3}"/>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SAU INOOS Julio 2026</a:t>
            </a:r>
          </a:p>
        </p:txBody>
      </p:sp>
    </p:spTree>
    <p:extLst>
      <p:ext uri="{BB962C8B-B14F-4D97-AF65-F5344CB8AC3E}">
        <p14:creationId xmlns:p14="http://schemas.microsoft.com/office/powerpoint/2010/main" val="181505930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083241F7-AB5F-16F3-DC4B-48360C6DD06A}"/>
              </a:ext>
            </a:extLst>
          </p:cNvPr>
          <p:cNvSpPr txBox="1">
            <a:spLocks/>
          </p:cNvSpPr>
          <p:nvPr/>
        </p:nvSpPr>
        <p:spPr>
          <a:xfrm>
            <a:off x="1068049" y="165719"/>
            <a:ext cx="10515600" cy="81207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400" b="1" kern="1200">
                <a:solidFill>
                  <a:srgbClr val="00A19C"/>
                </a:solidFill>
                <a:latin typeface="+mj-lt"/>
                <a:ea typeface="+mj-ea"/>
                <a:cs typeface="+mj-cs"/>
              </a:defRPr>
            </a:lvl1pPr>
          </a:lstStyle>
          <a:p>
            <a:r>
              <a:rPr lang="es-CO">
                <a:solidFill>
                  <a:schemeClr val="tx1"/>
                </a:solidFill>
                <a:latin typeface="Century Gothic"/>
              </a:rPr>
              <a:t>PQRSF</a:t>
            </a:r>
            <a:endParaRPr lang="es-ES"/>
          </a:p>
        </p:txBody>
      </p:sp>
      <p:graphicFrame>
        <p:nvGraphicFramePr>
          <p:cNvPr id="2" name="Gráfico 1">
            <a:extLst>
              <a:ext uri="{FF2B5EF4-FFF2-40B4-BE49-F238E27FC236}">
                <a16:creationId xmlns:a16="http://schemas.microsoft.com/office/drawing/2014/main" id="{D8ACD5B8-212E-4059-B856-ABE1897EA565}"/>
              </a:ext>
              <a:ext uri="{147F2762-F138-4A5C-976F-8EAC2B608ADB}">
                <a16:predDERef xmlns:a16="http://schemas.microsoft.com/office/drawing/2014/main" pred="{082661FD-B207-B054-0143-79E145C0684E}"/>
              </a:ext>
            </a:extLst>
          </p:cNvPr>
          <p:cNvGraphicFramePr>
            <a:graphicFrameLocks/>
          </p:cNvGraphicFramePr>
          <p:nvPr/>
        </p:nvGraphicFramePr>
        <p:xfrm>
          <a:off x="1068049" y="778458"/>
          <a:ext cx="6431280" cy="5301083"/>
        </p:xfrm>
        <a:graphic>
          <a:graphicData uri="http://schemas.openxmlformats.org/drawingml/2006/chart">
            <c:chart xmlns:c="http://schemas.openxmlformats.org/drawingml/2006/chart" xmlns:r="http://schemas.openxmlformats.org/officeDocument/2006/relationships" r:id="rId2"/>
          </a:graphicData>
        </a:graphic>
      </p:graphicFrame>
      <p:sp>
        <p:nvSpPr>
          <p:cNvPr id="5" name="CuadroTexto 4">
            <a:extLst>
              <a:ext uri="{FF2B5EF4-FFF2-40B4-BE49-F238E27FC236}">
                <a16:creationId xmlns:a16="http://schemas.microsoft.com/office/drawing/2014/main" id="{3F30A19F-A9DF-382A-98EA-78CA06FFD068}"/>
              </a:ext>
            </a:extLst>
          </p:cNvPr>
          <p:cNvSpPr txBox="1"/>
          <p:nvPr/>
        </p:nvSpPr>
        <p:spPr>
          <a:xfrm>
            <a:off x="8073390" y="2651506"/>
            <a:ext cx="3676650" cy="1323439"/>
          </a:xfrm>
          <a:prstGeom prst="rect">
            <a:avLst/>
          </a:prstGeom>
          <a:noFill/>
        </p:spPr>
        <p:txBody>
          <a:bodyPr wrap="square" lIns="91440" tIns="45720" rIns="91440" bIns="45720" anchor="t">
            <a:spAutoFit/>
          </a:bodyPr>
          <a:lstStyle/>
          <a:p>
            <a:pPr algn="just"/>
            <a:r>
              <a:rPr lang="es-MX" sz="1600">
                <a:solidFill>
                  <a:schemeClr val="tx1">
                    <a:lumMod val="50000"/>
                  </a:schemeClr>
                </a:solidFill>
                <a:latin typeface="Aptos" panose="020B0004020202020204" pitchFamily="34" charset="0"/>
                <a:ea typeface="+mn-lt"/>
                <a:cs typeface="+mn-lt"/>
              </a:rPr>
              <a:t>Las felicitaciones fueron recibidas a través del correo electrónico. Por su parte, la petición esta asociada a la programación de consulta médica especializada. </a:t>
            </a:r>
          </a:p>
        </p:txBody>
      </p:sp>
      <p:sp>
        <p:nvSpPr>
          <p:cNvPr id="6" name="CuadroTexto 5">
            <a:extLst>
              <a:ext uri="{FF2B5EF4-FFF2-40B4-BE49-F238E27FC236}">
                <a16:creationId xmlns:a16="http://schemas.microsoft.com/office/drawing/2014/main" id="{1BC84A9C-F100-1A86-D0BA-EF8E0F180AC6}"/>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SAU INOOS Julio 2026</a:t>
            </a:r>
          </a:p>
        </p:txBody>
      </p:sp>
    </p:spTree>
    <p:extLst>
      <p:ext uri="{BB962C8B-B14F-4D97-AF65-F5344CB8AC3E}">
        <p14:creationId xmlns:p14="http://schemas.microsoft.com/office/powerpoint/2010/main" val="394219076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B453F-F9EA-DFE0-4897-66AE37C5AB58}"/>
            </a:ext>
          </a:extLst>
        </p:cNvPr>
        <p:cNvGrpSpPr/>
        <p:nvPr/>
      </p:nvGrpSpPr>
      <p:grpSpPr>
        <a:xfrm>
          <a:off x="0" y="0"/>
          <a:ext cx="0" cy="0"/>
          <a:chOff x="0" y="0"/>
          <a:chExt cx="0" cy="0"/>
        </a:xfrm>
      </p:grpSpPr>
      <p:pic>
        <p:nvPicPr>
          <p:cNvPr id="10" name="Imagen 9">
            <a:extLst>
              <a:ext uri="{FF2B5EF4-FFF2-40B4-BE49-F238E27FC236}">
                <a16:creationId xmlns:a16="http://schemas.microsoft.com/office/drawing/2014/main" id="{DC2457AE-C7EC-2298-6801-6071C3C6AB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CuadroTexto 11">
            <a:extLst>
              <a:ext uri="{FF2B5EF4-FFF2-40B4-BE49-F238E27FC236}">
                <a16:creationId xmlns:a16="http://schemas.microsoft.com/office/drawing/2014/main" id="{62BD1F9E-B992-9594-3572-7926871D2B3E}"/>
              </a:ext>
            </a:extLst>
          </p:cNvPr>
          <p:cNvSpPr txBox="1"/>
          <p:nvPr/>
        </p:nvSpPr>
        <p:spPr>
          <a:xfrm>
            <a:off x="4551996" y="2961902"/>
            <a:ext cx="6359844" cy="707886"/>
          </a:xfrm>
          <a:prstGeom prst="rect">
            <a:avLst/>
          </a:prstGeom>
          <a:noFill/>
        </p:spPr>
        <p:txBody>
          <a:bodyPr wrap="square">
            <a:spAutoFit/>
          </a:bodyPr>
          <a:lstStyle/>
          <a:p>
            <a:pPr algn="ctr"/>
            <a:r>
              <a:rPr lang="es-ES" sz="2000" b="0" i="0">
                <a:solidFill>
                  <a:srgbClr val="242424"/>
                </a:solidFill>
                <a:effectLst/>
                <a:latin typeface="Lao UI" panose="020B0502040204020203" pitchFamily="34" charset="0"/>
                <a:ea typeface="Calibri" panose="020F0502020204030204" pitchFamily="34" charset="0"/>
                <a:cs typeface="Lao UI" panose="020B0502040204020203" pitchFamily="34" charset="0"/>
              </a:rPr>
              <a:t>Excelente servicio, muy queridos, trabajan con amor, muchas gracias por su excelente servicio </a:t>
            </a:r>
            <a:endParaRPr lang="es-CO" sz="3600">
              <a:latin typeface="Lao UI" panose="020B0502040204020203" pitchFamily="34" charset="0"/>
              <a:ea typeface="Calibri" panose="020F0502020204030204" pitchFamily="34" charset="0"/>
              <a:cs typeface="Lao UI" panose="020B0502040204020203" pitchFamily="34" charset="0"/>
            </a:endParaRPr>
          </a:p>
        </p:txBody>
      </p:sp>
    </p:spTree>
    <p:extLst>
      <p:ext uri="{BB962C8B-B14F-4D97-AF65-F5344CB8AC3E}">
        <p14:creationId xmlns:p14="http://schemas.microsoft.com/office/powerpoint/2010/main" val="146416132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34B6B-DC40-0E5E-E530-2CF37660C5DB}"/>
            </a:ext>
          </a:extLst>
        </p:cNvPr>
        <p:cNvGrpSpPr/>
        <p:nvPr/>
      </p:nvGrpSpPr>
      <p:grpSpPr>
        <a:xfrm>
          <a:off x="0" y="0"/>
          <a:ext cx="0" cy="0"/>
          <a:chOff x="0" y="0"/>
          <a:chExt cx="0" cy="0"/>
        </a:xfrm>
      </p:grpSpPr>
      <p:sp>
        <p:nvSpPr>
          <p:cNvPr id="8" name="Título 1">
            <a:extLst>
              <a:ext uri="{FF2B5EF4-FFF2-40B4-BE49-F238E27FC236}">
                <a16:creationId xmlns:a16="http://schemas.microsoft.com/office/drawing/2014/main" id="{1A21DE61-15EC-5510-CC51-A7D4DC1C60B3}"/>
              </a:ext>
            </a:extLst>
          </p:cNvPr>
          <p:cNvSpPr txBox="1">
            <a:spLocks/>
          </p:cNvSpPr>
          <p:nvPr/>
        </p:nvSpPr>
        <p:spPr>
          <a:xfrm>
            <a:off x="3305356" y="581049"/>
            <a:ext cx="4395020" cy="369120"/>
          </a:xfrm>
          <a:prstGeom prst="rect">
            <a:avLst/>
          </a:prstGeom>
        </p:spPr>
        <p:txBody>
          <a:bodyPr vert="horz" lIns="91440" tIns="45720" rIns="91440" bIns="45720" rtlCol="0" anchor="ctr">
            <a:normAutofit fontScale="90000" lnSpcReduction="10000"/>
          </a:bodyPr>
          <a:lstStyle>
            <a:lvl1pPr algn="ctr"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2400" noProof="0">
                <a:solidFill>
                  <a:srgbClr val="00A19C"/>
                </a:solidFill>
              </a:rPr>
              <a:t>FOMAG</a:t>
            </a:r>
          </a:p>
        </p:txBody>
      </p:sp>
      <p:sp>
        <p:nvSpPr>
          <p:cNvPr id="9" name="Título 1">
            <a:extLst>
              <a:ext uri="{FF2B5EF4-FFF2-40B4-BE49-F238E27FC236}">
                <a16:creationId xmlns:a16="http://schemas.microsoft.com/office/drawing/2014/main" id="{7F9F6FF8-019C-AAED-BAB4-97035A8D154D}"/>
              </a:ext>
            </a:extLst>
          </p:cNvPr>
          <p:cNvSpPr txBox="1">
            <a:spLocks/>
          </p:cNvSpPr>
          <p:nvPr/>
        </p:nvSpPr>
        <p:spPr>
          <a:xfrm>
            <a:off x="-242257" y="-11649"/>
            <a:ext cx="4395020" cy="369120"/>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fontScale="75000" lnSpcReduction="20000"/>
          </a:bodyPr>
          <a:lstStyle>
            <a:defPPr>
              <a:defRPr lang="es-CO"/>
            </a:defPPr>
            <a:lvl1pPr algn="ctr">
              <a:lnSpc>
                <a:spcPct val="90000"/>
              </a:lnSpc>
              <a:spcBef>
                <a:spcPct val="0"/>
              </a:spcBef>
              <a:buNone/>
              <a:defRPr sz="3200" b="1">
                <a:solidFill>
                  <a:srgbClr val="00A19C"/>
                </a:solidFill>
                <a:latin typeface="+mj-lt"/>
                <a:ea typeface="+mj-ea"/>
                <a:cs typeface="+mj-cs"/>
              </a:defRPr>
            </a:lvl1pPr>
          </a:lstStyle>
          <a:p>
            <a:r>
              <a:rPr lang="es-CO" noProof="0"/>
              <a:t>INDICADORES CALL CENTER</a:t>
            </a:r>
          </a:p>
        </p:txBody>
      </p:sp>
      <p:graphicFrame>
        <p:nvGraphicFramePr>
          <p:cNvPr id="2" name="Gráfico 1">
            <a:extLst>
              <a:ext uri="{FF2B5EF4-FFF2-40B4-BE49-F238E27FC236}">
                <a16:creationId xmlns:a16="http://schemas.microsoft.com/office/drawing/2014/main" id="{9469AF27-4844-27A0-AF68-EE0ACBC87ACD}"/>
              </a:ext>
            </a:extLst>
          </p:cNvPr>
          <p:cNvGraphicFramePr>
            <a:graphicFrameLocks/>
          </p:cNvGraphicFramePr>
          <p:nvPr>
            <p:extLst>
              <p:ext uri="{D42A27DB-BD31-4B8C-83A1-F6EECF244321}">
                <p14:modId xmlns:p14="http://schemas.microsoft.com/office/powerpoint/2010/main" val="4255612200"/>
              </p:ext>
            </p:extLst>
          </p:nvPr>
        </p:nvGraphicFramePr>
        <p:xfrm>
          <a:off x="6761300" y="1327591"/>
          <a:ext cx="4035879" cy="149932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Tabla 4">
            <a:extLst>
              <a:ext uri="{FF2B5EF4-FFF2-40B4-BE49-F238E27FC236}">
                <a16:creationId xmlns:a16="http://schemas.microsoft.com/office/drawing/2014/main" id="{ACDA6073-A852-D541-95E6-DDC4DC04E69C}"/>
              </a:ext>
            </a:extLst>
          </p:cNvPr>
          <p:cNvGraphicFramePr>
            <a:graphicFrameLocks noGrp="1"/>
          </p:cNvGraphicFramePr>
          <p:nvPr>
            <p:extLst>
              <p:ext uri="{D42A27DB-BD31-4B8C-83A1-F6EECF244321}">
                <p14:modId xmlns:p14="http://schemas.microsoft.com/office/powerpoint/2010/main" val="4257814965"/>
              </p:ext>
            </p:extLst>
          </p:nvPr>
        </p:nvGraphicFramePr>
        <p:xfrm>
          <a:off x="846560" y="1327591"/>
          <a:ext cx="4656306" cy="4558510"/>
        </p:xfrm>
        <a:graphic>
          <a:graphicData uri="http://schemas.openxmlformats.org/drawingml/2006/table">
            <a:tbl>
              <a:tblPr/>
              <a:tblGrid>
                <a:gridCol w="2595890">
                  <a:extLst>
                    <a:ext uri="{9D8B030D-6E8A-4147-A177-3AD203B41FA5}">
                      <a16:colId xmlns:a16="http://schemas.microsoft.com/office/drawing/2014/main" val="1316758745"/>
                    </a:ext>
                  </a:extLst>
                </a:gridCol>
                <a:gridCol w="1606426">
                  <a:extLst>
                    <a:ext uri="{9D8B030D-6E8A-4147-A177-3AD203B41FA5}">
                      <a16:colId xmlns:a16="http://schemas.microsoft.com/office/drawing/2014/main" val="4229816547"/>
                    </a:ext>
                  </a:extLst>
                </a:gridCol>
                <a:gridCol w="453990">
                  <a:extLst>
                    <a:ext uri="{9D8B030D-6E8A-4147-A177-3AD203B41FA5}">
                      <a16:colId xmlns:a16="http://schemas.microsoft.com/office/drawing/2014/main" val="1569608458"/>
                    </a:ext>
                  </a:extLst>
                </a:gridCol>
              </a:tblGrid>
              <a:tr h="351350">
                <a:tc>
                  <a:txBody>
                    <a:bodyPr/>
                    <a:lstStyle/>
                    <a:p>
                      <a:pPr marL="0" indent="0" algn="l" fontAlgn="base">
                        <a:lnSpc>
                          <a:spcPts val="1200"/>
                        </a:lnSpc>
                        <a:buNone/>
                      </a:pPr>
                      <a:r>
                        <a:rPr lang="es-CO" sz="1000" b="1" i="0" u="none" strike="noStrike">
                          <a:solidFill>
                            <a:srgbClr val="FFFFFF"/>
                          </a:solidFill>
                          <a:effectLst/>
                          <a:latin typeface="Calibri" panose="020F0502020204030204" pitchFamily="34" charset="0"/>
                        </a:rPr>
                        <a:t>DETALLE DE AGENDAMIENTO FOMAG</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ctr">
                    <a:lnL w="9525" cap="flat" cmpd="sng" algn="ctr">
                      <a:solidFill>
                        <a:srgbClr val="000000"/>
                      </a:solidFill>
                      <a:prstDash val="solid"/>
                      <a:round/>
                      <a:headEnd type="none" w="med" len="med"/>
                      <a:tailEnd type="none" w="med" len="med"/>
                    </a:lnL>
                    <a:lnR w="12700" cap="flat" cmpd="sng" algn="ctr">
                      <a:solidFill>
                        <a:srgbClr val="80589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7A9A1"/>
                    </a:solidFill>
                  </a:tcPr>
                </a:tc>
                <a:tc>
                  <a:txBody>
                    <a:bodyPr/>
                    <a:lstStyle/>
                    <a:p>
                      <a:pPr marL="0" indent="0" algn="ctr" fontAlgn="base">
                        <a:lnSpc>
                          <a:spcPts val="1200"/>
                        </a:lnSpc>
                        <a:buNone/>
                      </a:pPr>
                      <a:r>
                        <a:rPr lang="es-CO" sz="1000" b="1" i="0" u="none" strike="noStrike">
                          <a:solidFill>
                            <a:srgbClr val="FFFFFF"/>
                          </a:solidFill>
                          <a:effectLst/>
                          <a:latin typeface="Calibri" panose="020F0502020204030204" pitchFamily="34" charset="0"/>
                        </a:rPr>
                        <a:t>TOTAL AGENDAMIENTO</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ctr">
                    <a:lnL w="12700" cap="flat" cmpd="sng" algn="ctr">
                      <a:solidFill>
                        <a:srgbClr val="80589F"/>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7A9A1"/>
                    </a:solidFill>
                  </a:tcPr>
                </a:tc>
                <a:tc>
                  <a:txBody>
                    <a:bodyPr/>
                    <a:lstStyle/>
                    <a:p>
                      <a:pPr marL="0" indent="0" algn="ctr" fontAlgn="base">
                        <a:lnSpc>
                          <a:spcPts val="1200"/>
                        </a:lnSpc>
                        <a:buNone/>
                      </a:pPr>
                      <a:r>
                        <a:rPr lang="es-CO" sz="1000" b="1" i="0" u="none" strike="noStrike">
                          <a:solidFill>
                            <a:srgbClr val="FFFFFF"/>
                          </a:solidFill>
                          <a:effectLst/>
                          <a:latin typeface="Calibri" panose="020F0502020204030204" pitchFamily="34" charset="0"/>
                        </a:rPr>
                        <a:t>%</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7A9A1"/>
                    </a:solidFill>
                  </a:tcPr>
                </a:tc>
                <a:extLst>
                  <a:ext uri="{0D108BD9-81ED-4DB2-BD59-A6C34878D82A}">
                    <a16:rowId xmlns:a16="http://schemas.microsoft.com/office/drawing/2014/main" val="3876629867"/>
                  </a:ext>
                </a:extLst>
              </a:tr>
              <a:tr h="351350">
                <a:tc>
                  <a:txBody>
                    <a:bodyPr/>
                    <a:lstStyle/>
                    <a:p>
                      <a:pPr marL="0" indent="0" algn="l" fontAlgn="base">
                        <a:lnSpc>
                          <a:spcPts val="1200"/>
                        </a:lnSpc>
                        <a:buNone/>
                      </a:pPr>
                      <a:r>
                        <a:rPr lang="es-CO" sz="1000" b="1" i="0" u="none" strike="noStrike">
                          <a:solidFill>
                            <a:srgbClr val="FFFFFF"/>
                          </a:solidFill>
                          <a:effectLst/>
                          <a:latin typeface="Calibri" panose="020F0502020204030204" pitchFamily="34" charset="0"/>
                        </a:rPr>
                        <a:t>DOLOR Y CUIDADOS PALIATIVOS </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7A9A1"/>
                    </a:solid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71</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34%</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89610876"/>
                  </a:ext>
                </a:extLst>
              </a:tr>
              <a:tr h="351350">
                <a:tc>
                  <a:txBody>
                    <a:bodyPr/>
                    <a:lstStyle/>
                    <a:p>
                      <a:pPr marL="0" indent="0" algn="l" fontAlgn="base">
                        <a:lnSpc>
                          <a:spcPts val="1200"/>
                        </a:lnSpc>
                        <a:buNone/>
                      </a:pPr>
                      <a:r>
                        <a:rPr lang="es-CO" sz="1000" b="1" i="0" u="none" strike="noStrike">
                          <a:solidFill>
                            <a:srgbClr val="FFFFFF"/>
                          </a:solidFill>
                          <a:effectLst/>
                          <a:latin typeface="Calibri" panose="020F0502020204030204" pitchFamily="34" charset="0"/>
                        </a:rPr>
                        <a:t>ONCOLOGIA </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7A9A1"/>
                    </a:solid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41</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20%</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65704134"/>
                  </a:ext>
                </a:extLst>
              </a:tr>
              <a:tr h="351350">
                <a:tc>
                  <a:txBody>
                    <a:bodyPr/>
                    <a:lstStyle/>
                    <a:p>
                      <a:pPr marL="0" indent="0" algn="l" fontAlgn="base">
                        <a:lnSpc>
                          <a:spcPts val="1200"/>
                        </a:lnSpc>
                        <a:buNone/>
                      </a:pPr>
                      <a:r>
                        <a:rPr lang="es-CO" sz="1000" b="1" i="0" u="none" strike="noStrike">
                          <a:solidFill>
                            <a:srgbClr val="FFFFFF"/>
                          </a:solidFill>
                          <a:effectLst/>
                          <a:latin typeface="Calibri" panose="020F0502020204030204" pitchFamily="34" charset="0"/>
                        </a:rPr>
                        <a:t>DERMATOLOGIA ONCOLOGICA </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7A9A1"/>
                    </a:solid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20</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10%</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08308733"/>
                  </a:ext>
                </a:extLst>
              </a:tr>
              <a:tr h="216216">
                <a:tc>
                  <a:txBody>
                    <a:bodyPr/>
                    <a:lstStyle/>
                    <a:p>
                      <a:pPr marL="0" indent="0" algn="l" fontAlgn="base">
                        <a:lnSpc>
                          <a:spcPts val="1200"/>
                        </a:lnSpc>
                        <a:buNone/>
                      </a:pPr>
                      <a:r>
                        <a:rPr lang="es-CO" sz="1000" b="1" i="0" u="none" strike="noStrike">
                          <a:solidFill>
                            <a:srgbClr val="FFFFFF"/>
                          </a:solidFill>
                          <a:effectLst/>
                          <a:latin typeface="Calibri" panose="020F0502020204030204" pitchFamily="34" charset="0"/>
                        </a:rPr>
                        <a:t>GINECOLOGIA ONCOLOGICA </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7A9A1"/>
                    </a:solid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15</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7%</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66698869"/>
                  </a:ext>
                </a:extLst>
              </a:tr>
              <a:tr h="216216">
                <a:tc>
                  <a:txBody>
                    <a:bodyPr/>
                    <a:lstStyle/>
                    <a:p>
                      <a:pPr marL="0" indent="0" algn="l" fontAlgn="base">
                        <a:lnSpc>
                          <a:spcPts val="1200"/>
                        </a:lnSpc>
                        <a:buNone/>
                      </a:pPr>
                      <a:r>
                        <a:rPr lang="es-CO" sz="1000" b="1" i="0" u="none" strike="noStrike">
                          <a:solidFill>
                            <a:srgbClr val="FFFFFF"/>
                          </a:solidFill>
                          <a:effectLst/>
                          <a:latin typeface="Calibri" panose="020F0502020204030204" pitchFamily="34" charset="0"/>
                        </a:rPr>
                        <a:t>UROLOGIA ONCOLOGICA </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7A9A1"/>
                    </a:solid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14</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7%</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1371833"/>
                  </a:ext>
                </a:extLst>
              </a:tr>
              <a:tr h="216216">
                <a:tc>
                  <a:txBody>
                    <a:bodyPr/>
                    <a:lstStyle/>
                    <a:p>
                      <a:pPr marL="0" indent="0" algn="l" fontAlgn="base">
                        <a:lnSpc>
                          <a:spcPts val="1200"/>
                        </a:lnSpc>
                        <a:buNone/>
                      </a:pPr>
                      <a:r>
                        <a:rPr lang="es-CO" sz="1000" b="1" i="0" u="none" strike="noStrike">
                          <a:solidFill>
                            <a:srgbClr val="FFFFFF"/>
                          </a:solidFill>
                          <a:effectLst/>
                          <a:latin typeface="Calibri" panose="020F0502020204030204" pitchFamily="34" charset="0"/>
                        </a:rPr>
                        <a:t>HEMATOLOGIA </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7A9A1"/>
                    </a:solid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13</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6%</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23083097"/>
                  </a:ext>
                </a:extLst>
              </a:tr>
              <a:tr h="216216">
                <a:tc>
                  <a:txBody>
                    <a:bodyPr/>
                    <a:lstStyle/>
                    <a:p>
                      <a:pPr marL="0" indent="0" algn="l" fontAlgn="base">
                        <a:lnSpc>
                          <a:spcPts val="1200"/>
                        </a:lnSpc>
                        <a:buNone/>
                      </a:pPr>
                      <a:r>
                        <a:rPr lang="es-CO" sz="1000" b="1" i="0" u="none" strike="noStrike">
                          <a:solidFill>
                            <a:srgbClr val="FFFFFF"/>
                          </a:solidFill>
                          <a:effectLst/>
                          <a:latin typeface="Calibri" panose="020F0502020204030204" pitchFamily="34" charset="0"/>
                        </a:rPr>
                        <a:t>CIRUGIA ONCOLOGICA </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7A9A1"/>
                    </a:solid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10</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5%</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2825132"/>
                  </a:ext>
                </a:extLst>
              </a:tr>
              <a:tr h="216216">
                <a:tc>
                  <a:txBody>
                    <a:bodyPr/>
                    <a:lstStyle/>
                    <a:p>
                      <a:pPr marL="0" indent="0" algn="l" fontAlgn="base">
                        <a:lnSpc>
                          <a:spcPts val="1200"/>
                        </a:lnSpc>
                        <a:buNone/>
                      </a:pPr>
                      <a:r>
                        <a:rPr lang="es-CO" sz="1000" b="1" i="0" u="none" strike="noStrike">
                          <a:solidFill>
                            <a:srgbClr val="FFFFFF"/>
                          </a:solidFill>
                          <a:effectLst/>
                          <a:latin typeface="Calibri" panose="020F0502020204030204" pitchFamily="34" charset="0"/>
                        </a:rPr>
                        <a:t>MASTOLOGIA </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7A9A1"/>
                    </a:solid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9</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4%</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9338217"/>
                  </a:ext>
                </a:extLst>
              </a:tr>
              <a:tr h="216216">
                <a:tc>
                  <a:txBody>
                    <a:bodyPr/>
                    <a:lstStyle/>
                    <a:p>
                      <a:pPr marL="0" indent="0" algn="l" fontAlgn="base">
                        <a:lnSpc>
                          <a:spcPts val="1200"/>
                        </a:lnSpc>
                        <a:buNone/>
                      </a:pPr>
                      <a:r>
                        <a:rPr lang="es-CO" sz="1000" b="1" i="0" u="none" strike="noStrike">
                          <a:solidFill>
                            <a:srgbClr val="FFFFFF"/>
                          </a:solidFill>
                          <a:effectLst/>
                          <a:latin typeface="Calibri" panose="020F0502020204030204" pitchFamily="34" charset="0"/>
                        </a:rPr>
                        <a:t>HEMATO ONCOLOGIA </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ctr">
                    <a:lnL w="12700" cap="flat" cmpd="sng" algn="ctr">
                      <a:solidFill>
                        <a:srgbClr val="80589F"/>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7A9A1"/>
                    </a:solid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3</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1%</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81500259"/>
                  </a:ext>
                </a:extLst>
              </a:tr>
              <a:tr h="216216">
                <a:tc>
                  <a:txBody>
                    <a:bodyPr/>
                    <a:lstStyle/>
                    <a:p>
                      <a:pPr marL="0" indent="0" algn="l" fontAlgn="base">
                        <a:lnSpc>
                          <a:spcPts val="1200"/>
                        </a:lnSpc>
                        <a:buNone/>
                      </a:pPr>
                      <a:r>
                        <a:rPr lang="es-CO" sz="1000" b="1" i="0" u="none" strike="noStrike">
                          <a:solidFill>
                            <a:srgbClr val="FFFFFF"/>
                          </a:solidFill>
                          <a:effectLst/>
                          <a:latin typeface="Calibri" panose="020F0502020204030204" pitchFamily="34" charset="0"/>
                        </a:rPr>
                        <a:t>NUTRICION Y DIETETICA </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ctr">
                    <a:lnL w="12700" cap="flat" cmpd="sng" algn="ctr">
                      <a:solidFill>
                        <a:srgbClr val="80589F"/>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7A9A1"/>
                    </a:solid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3</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1%</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95058299"/>
                  </a:ext>
                </a:extLst>
              </a:tr>
              <a:tr h="216216">
                <a:tc>
                  <a:txBody>
                    <a:bodyPr/>
                    <a:lstStyle/>
                    <a:p>
                      <a:pPr marL="0" indent="0" algn="l" fontAlgn="base">
                        <a:lnSpc>
                          <a:spcPts val="1200"/>
                        </a:lnSpc>
                        <a:buNone/>
                      </a:pPr>
                      <a:r>
                        <a:rPr lang="es-CO" sz="1000" b="1" i="0" u="none" strike="noStrike">
                          <a:solidFill>
                            <a:srgbClr val="FFFFFF"/>
                          </a:solidFill>
                          <a:effectLst/>
                          <a:latin typeface="Calibri" panose="020F0502020204030204" pitchFamily="34" charset="0"/>
                        </a:rPr>
                        <a:t>MEDICINA GENERAL </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ctr">
                    <a:lnL w="12700" cap="flat" cmpd="sng" algn="ctr">
                      <a:solidFill>
                        <a:srgbClr val="80589F"/>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7A9A1"/>
                    </a:solid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2</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1%</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6506650"/>
                  </a:ext>
                </a:extLst>
              </a:tr>
              <a:tr h="216216">
                <a:tc>
                  <a:txBody>
                    <a:bodyPr/>
                    <a:lstStyle/>
                    <a:p>
                      <a:pPr marL="0" indent="0" algn="l" fontAlgn="base">
                        <a:lnSpc>
                          <a:spcPts val="1200"/>
                        </a:lnSpc>
                        <a:buNone/>
                      </a:pPr>
                      <a:r>
                        <a:rPr lang="es-CO" sz="1000" b="1" i="0" u="none" strike="noStrike">
                          <a:solidFill>
                            <a:srgbClr val="FFFFFF"/>
                          </a:solidFill>
                          <a:effectLst/>
                          <a:latin typeface="Calibri" panose="020F0502020204030204" pitchFamily="34" charset="0"/>
                        </a:rPr>
                        <a:t>CIRUGIA PLASTICA </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ctr">
                    <a:lnL w="12700" cap="flat" cmpd="sng" algn="ctr">
                      <a:solidFill>
                        <a:srgbClr val="80589F"/>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7A9A1"/>
                    </a:solid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2</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1%</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09732376"/>
                  </a:ext>
                </a:extLst>
              </a:tr>
              <a:tr h="216216">
                <a:tc>
                  <a:txBody>
                    <a:bodyPr/>
                    <a:lstStyle/>
                    <a:p>
                      <a:pPr marL="0" indent="0" algn="l" fontAlgn="base">
                        <a:lnSpc>
                          <a:spcPts val="1200"/>
                        </a:lnSpc>
                        <a:buNone/>
                      </a:pPr>
                      <a:r>
                        <a:rPr lang="es-CO" sz="1000" b="1" i="0" u="none" strike="noStrike">
                          <a:solidFill>
                            <a:srgbClr val="FFFFFF"/>
                          </a:solidFill>
                          <a:effectLst/>
                          <a:latin typeface="Calibri" panose="020F0502020204030204" pitchFamily="34" charset="0"/>
                        </a:rPr>
                        <a:t>TRABAJO SOCIAL </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ctr">
                    <a:lnL w="12700" cap="flat" cmpd="sng" algn="ctr">
                      <a:solidFill>
                        <a:srgbClr val="80589F"/>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7A9A1"/>
                    </a:solid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1</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0%</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62509680"/>
                  </a:ext>
                </a:extLst>
              </a:tr>
              <a:tr h="216216">
                <a:tc>
                  <a:txBody>
                    <a:bodyPr/>
                    <a:lstStyle/>
                    <a:p>
                      <a:pPr marL="0" indent="0" algn="l" fontAlgn="base">
                        <a:lnSpc>
                          <a:spcPts val="1200"/>
                        </a:lnSpc>
                        <a:buNone/>
                      </a:pPr>
                      <a:r>
                        <a:rPr lang="es-CO" sz="1000" b="1" i="0" u="none" strike="noStrike">
                          <a:solidFill>
                            <a:srgbClr val="FFFFFF"/>
                          </a:solidFill>
                          <a:effectLst/>
                          <a:latin typeface="Calibri" panose="020F0502020204030204" pitchFamily="34" charset="0"/>
                        </a:rPr>
                        <a:t>PSICOLOGIA </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ctr">
                    <a:lnL w="12700" cap="flat" cmpd="sng" algn="ctr">
                      <a:solidFill>
                        <a:srgbClr val="80589F"/>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7A9A1"/>
                    </a:solid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1</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0%</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62410187"/>
                  </a:ext>
                </a:extLst>
              </a:tr>
              <a:tr h="216216">
                <a:tc>
                  <a:txBody>
                    <a:bodyPr/>
                    <a:lstStyle/>
                    <a:p>
                      <a:pPr marL="0" indent="0" algn="l" fontAlgn="base">
                        <a:lnSpc>
                          <a:spcPts val="1200"/>
                        </a:lnSpc>
                        <a:buNone/>
                      </a:pPr>
                      <a:r>
                        <a:rPr lang="es-CO" sz="1000" b="1" i="0" u="none" strike="noStrike">
                          <a:solidFill>
                            <a:srgbClr val="FFFFFF"/>
                          </a:solidFill>
                          <a:effectLst/>
                          <a:latin typeface="Calibri" panose="020F0502020204030204" pitchFamily="34" charset="0"/>
                        </a:rPr>
                        <a:t>ORTOPEDIA ONCOLOGICA </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7A9A1"/>
                    </a:solid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1</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0%</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24773976"/>
                  </a:ext>
                </a:extLst>
              </a:tr>
              <a:tr h="351350">
                <a:tc>
                  <a:txBody>
                    <a:bodyPr/>
                    <a:lstStyle/>
                    <a:p>
                      <a:pPr marL="0" indent="0" algn="ctr" fontAlgn="base">
                        <a:lnSpc>
                          <a:spcPts val="1200"/>
                        </a:lnSpc>
                        <a:buNone/>
                      </a:pPr>
                      <a:r>
                        <a:rPr lang="es-CO" sz="1000" b="1" i="0" u="none" strike="noStrike">
                          <a:solidFill>
                            <a:srgbClr val="FFFFFF"/>
                          </a:solidFill>
                          <a:effectLst/>
                          <a:latin typeface="Calibri" panose="020F0502020204030204" pitchFamily="34" charset="0"/>
                        </a:rPr>
                        <a:t>TOTAL</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ctr">
                    <a:lnL w="12700" cap="flat" cmpd="sng" algn="ctr">
                      <a:solidFill>
                        <a:srgbClr val="80589F"/>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7A9A1"/>
                    </a:solid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206</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100%</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38912513"/>
                  </a:ext>
                </a:extLst>
              </a:tr>
            </a:tbl>
          </a:graphicData>
        </a:graphic>
      </p:graphicFrame>
      <p:graphicFrame>
        <p:nvGraphicFramePr>
          <p:cNvPr id="7" name="Tabla 6">
            <a:extLst>
              <a:ext uri="{FF2B5EF4-FFF2-40B4-BE49-F238E27FC236}">
                <a16:creationId xmlns:a16="http://schemas.microsoft.com/office/drawing/2014/main" id="{44F293EF-B433-0C1B-AE5D-3CA3DC7E8AC0}"/>
              </a:ext>
            </a:extLst>
          </p:cNvPr>
          <p:cNvGraphicFramePr>
            <a:graphicFrameLocks noGrp="1"/>
          </p:cNvGraphicFramePr>
          <p:nvPr>
            <p:extLst>
              <p:ext uri="{D42A27DB-BD31-4B8C-83A1-F6EECF244321}">
                <p14:modId xmlns:p14="http://schemas.microsoft.com/office/powerpoint/2010/main" val="2601895244"/>
              </p:ext>
            </p:extLst>
          </p:nvPr>
        </p:nvGraphicFramePr>
        <p:xfrm>
          <a:off x="6761299" y="3782188"/>
          <a:ext cx="2832405" cy="975360"/>
        </p:xfrm>
        <a:graphic>
          <a:graphicData uri="http://schemas.openxmlformats.org/drawingml/2006/table">
            <a:tbl>
              <a:tblPr/>
              <a:tblGrid>
                <a:gridCol w="1850879">
                  <a:extLst>
                    <a:ext uri="{9D8B030D-6E8A-4147-A177-3AD203B41FA5}">
                      <a16:colId xmlns:a16="http://schemas.microsoft.com/office/drawing/2014/main" val="4269645298"/>
                    </a:ext>
                  </a:extLst>
                </a:gridCol>
                <a:gridCol w="981526">
                  <a:extLst>
                    <a:ext uri="{9D8B030D-6E8A-4147-A177-3AD203B41FA5}">
                      <a16:colId xmlns:a16="http://schemas.microsoft.com/office/drawing/2014/main" val="515082038"/>
                    </a:ext>
                  </a:extLst>
                </a:gridCol>
              </a:tblGrid>
              <a:tr h="190500">
                <a:tc>
                  <a:txBody>
                    <a:bodyPr/>
                    <a:lstStyle/>
                    <a:p>
                      <a:pPr marL="0" indent="0" algn="l" fontAlgn="base">
                        <a:lnSpc>
                          <a:spcPts val="1200"/>
                        </a:lnSpc>
                        <a:buNone/>
                      </a:pPr>
                      <a:r>
                        <a:rPr lang="es-CO" sz="1000" b="1" i="0" u="none" strike="noStrike">
                          <a:solidFill>
                            <a:srgbClr val="FFFFFF"/>
                          </a:solidFill>
                          <a:effectLst/>
                          <a:latin typeface="Calibri" panose="020F0502020204030204" pitchFamily="34" charset="0"/>
                        </a:rPr>
                        <a:t>CONTROL</a:t>
                      </a:r>
                      <a:r>
                        <a:rPr lang="en-US" sz="1000" b="0" i="0">
                          <a:solidFill>
                            <a:srgbClr val="80589F"/>
                          </a:solidFill>
                          <a:effectLst/>
                          <a:latin typeface="Calibri" panose="020F0502020204030204" pitchFamily="34" charset="0"/>
                        </a:rPr>
                        <a:t>​</a:t>
                      </a:r>
                      <a:endParaRPr lang="en-US" b="0" i="0">
                        <a:solidFill>
                          <a:srgbClr val="80589F"/>
                        </a:solidFill>
                        <a:effectLst/>
                      </a:endParaRPr>
                    </a:p>
                  </a:txBody>
                  <a:tcPr anchor="ctr">
                    <a:lnL w="12700" cap="flat" cmpd="sng" algn="ctr">
                      <a:solidFill>
                        <a:srgbClr val="80589F"/>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7A9A1"/>
                    </a:solid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148</a:t>
                      </a:r>
                      <a:r>
                        <a:rPr lang="en-US" sz="1000" b="0" i="0">
                          <a:solidFill>
                            <a:srgbClr val="80589F"/>
                          </a:solidFill>
                          <a:effectLst/>
                          <a:latin typeface="Calibri" panose="020F0502020204030204" pitchFamily="34" charset="0"/>
                        </a:rPr>
                        <a:t>​</a:t>
                      </a:r>
                      <a:endParaRPr lang="en-US" b="0" i="0">
                        <a:solidFill>
                          <a:srgbClr val="80589F"/>
                        </a:solidFill>
                        <a:effectLst/>
                      </a:endParaRPr>
                    </a:p>
                  </a:txBody>
                  <a:tcPr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5444340"/>
                  </a:ext>
                </a:extLst>
              </a:tr>
              <a:tr h="190500">
                <a:tc>
                  <a:txBody>
                    <a:bodyPr/>
                    <a:lstStyle/>
                    <a:p>
                      <a:pPr marL="0" indent="0" algn="l" fontAlgn="base">
                        <a:lnSpc>
                          <a:spcPts val="1200"/>
                        </a:lnSpc>
                        <a:buNone/>
                      </a:pPr>
                      <a:r>
                        <a:rPr lang="es-CO" sz="1000" b="1" i="0" u="none" strike="noStrike">
                          <a:solidFill>
                            <a:srgbClr val="FFFFFF"/>
                          </a:solidFill>
                          <a:effectLst/>
                          <a:latin typeface="Calibri" panose="020F0502020204030204" pitchFamily="34" charset="0"/>
                        </a:rPr>
                        <a:t>1ERA VEZ</a:t>
                      </a:r>
                      <a:r>
                        <a:rPr lang="en-US" sz="1000" b="0" i="0">
                          <a:solidFill>
                            <a:srgbClr val="80589F"/>
                          </a:solidFill>
                          <a:effectLst/>
                          <a:latin typeface="Calibri" panose="020F0502020204030204" pitchFamily="34" charset="0"/>
                        </a:rPr>
                        <a:t>​</a:t>
                      </a:r>
                      <a:endParaRPr lang="en-US" b="0" i="0">
                        <a:solidFill>
                          <a:srgbClr val="80589F"/>
                        </a:solidFill>
                        <a:effectLst/>
                      </a:endParaRPr>
                    </a:p>
                  </a:txBody>
                  <a:tcPr anchor="ctr">
                    <a:lnL w="12700" cap="flat" cmpd="sng" algn="ctr">
                      <a:solidFill>
                        <a:srgbClr val="80589F"/>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7A9A1"/>
                    </a:solid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110</a:t>
                      </a:r>
                      <a:r>
                        <a:rPr lang="en-US" sz="1000" b="0" i="0">
                          <a:solidFill>
                            <a:srgbClr val="80589F"/>
                          </a:solidFill>
                          <a:effectLst/>
                          <a:latin typeface="Calibri" panose="020F0502020204030204" pitchFamily="34" charset="0"/>
                        </a:rPr>
                        <a:t>​</a:t>
                      </a:r>
                      <a:endParaRPr lang="en-US" b="0" i="0">
                        <a:solidFill>
                          <a:srgbClr val="80589F"/>
                        </a:solidFill>
                        <a:effectLst/>
                      </a:endParaRPr>
                    </a:p>
                  </a:txBody>
                  <a:tcPr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15577090"/>
                  </a:ext>
                </a:extLst>
              </a:tr>
              <a:tr h="190500">
                <a:tc>
                  <a:txBody>
                    <a:bodyPr/>
                    <a:lstStyle/>
                    <a:p>
                      <a:pPr marL="0" indent="0" algn="l" fontAlgn="base">
                        <a:lnSpc>
                          <a:spcPts val="1200"/>
                        </a:lnSpc>
                        <a:buNone/>
                      </a:pPr>
                      <a:r>
                        <a:rPr lang="es-CO" sz="1000" b="1" i="0" u="none" strike="noStrike">
                          <a:solidFill>
                            <a:srgbClr val="FFFFFF"/>
                          </a:solidFill>
                          <a:effectLst/>
                          <a:latin typeface="Calibri" panose="020F0502020204030204" pitchFamily="34" charset="0"/>
                        </a:rPr>
                        <a:t>OTRAS ASIGNACIONES </a:t>
                      </a:r>
                      <a:r>
                        <a:rPr lang="en-US" sz="1000" b="0" i="0">
                          <a:solidFill>
                            <a:srgbClr val="80589F"/>
                          </a:solidFill>
                          <a:effectLst/>
                          <a:latin typeface="Calibri" panose="020F0502020204030204" pitchFamily="34" charset="0"/>
                        </a:rPr>
                        <a:t>​</a:t>
                      </a:r>
                      <a:endParaRPr lang="en-US" b="0" i="0">
                        <a:solidFill>
                          <a:srgbClr val="80589F"/>
                        </a:solidFill>
                        <a:effectLst/>
                      </a:endParaRPr>
                    </a:p>
                  </a:txBody>
                  <a:tcPr anchor="ctr">
                    <a:lnL w="12700" cap="flat" cmpd="sng" algn="ctr">
                      <a:solidFill>
                        <a:srgbClr val="80589F"/>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7A9A1"/>
                    </a:solid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1</a:t>
                      </a:r>
                      <a:r>
                        <a:rPr lang="en-US" sz="1000" b="0" i="0">
                          <a:solidFill>
                            <a:srgbClr val="80589F"/>
                          </a:solidFill>
                          <a:effectLst/>
                          <a:latin typeface="Calibri" panose="020F0502020204030204" pitchFamily="34" charset="0"/>
                        </a:rPr>
                        <a:t>​</a:t>
                      </a:r>
                      <a:endParaRPr lang="en-US" b="0" i="0">
                        <a:solidFill>
                          <a:srgbClr val="80589F"/>
                        </a:solidFill>
                        <a:effectLst/>
                      </a:endParaRPr>
                    </a:p>
                  </a:txBody>
                  <a:tcPr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57482802"/>
                  </a:ext>
                </a:extLst>
              </a:tr>
              <a:tr h="190500">
                <a:tc>
                  <a:txBody>
                    <a:bodyPr/>
                    <a:lstStyle/>
                    <a:p>
                      <a:pPr marL="0" indent="0" algn="l" fontAlgn="base">
                        <a:lnSpc>
                          <a:spcPts val="1200"/>
                        </a:lnSpc>
                        <a:buNone/>
                      </a:pPr>
                      <a:r>
                        <a:rPr lang="es-CO" sz="1000" b="1" i="0" u="none" strike="noStrike">
                          <a:solidFill>
                            <a:srgbClr val="FFFFFF"/>
                          </a:solidFill>
                          <a:effectLst/>
                          <a:latin typeface="Calibri" panose="020F0502020204030204" pitchFamily="34" charset="0"/>
                        </a:rPr>
                        <a:t>TOTAL</a:t>
                      </a:r>
                      <a:r>
                        <a:rPr lang="en-US" sz="1000" b="0" i="0">
                          <a:solidFill>
                            <a:srgbClr val="80589F"/>
                          </a:solidFill>
                          <a:effectLst/>
                          <a:latin typeface="Calibri" panose="020F0502020204030204" pitchFamily="34" charset="0"/>
                        </a:rPr>
                        <a:t>​</a:t>
                      </a:r>
                      <a:endParaRPr lang="en-US" b="0" i="0">
                        <a:solidFill>
                          <a:srgbClr val="80589F"/>
                        </a:solidFill>
                        <a:effectLst/>
                      </a:endParaRPr>
                    </a:p>
                  </a:txBody>
                  <a:tcPr anchor="ctr">
                    <a:lnL w="12700" cap="flat" cmpd="sng" algn="ctr">
                      <a:solidFill>
                        <a:srgbClr val="80589F"/>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7A9A1"/>
                    </a:solid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259</a:t>
                      </a:r>
                      <a:r>
                        <a:rPr lang="en-US" sz="1000" b="0" i="0">
                          <a:solidFill>
                            <a:srgbClr val="80589F"/>
                          </a:solidFill>
                          <a:effectLst/>
                          <a:latin typeface="Calibri" panose="020F0502020204030204" pitchFamily="34" charset="0"/>
                        </a:rPr>
                        <a:t>​</a:t>
                      </a:r>
                      <a:endParaRPr lang="en-US" b="0" i="0">
                        <a:solidFill>
                          <a:srgbClr val="80589F"/>
                        </a:solidFill>
                        <a:effectLst/>
                      </a:endParaRPr>
                    </a:p>
                  </a:txBody>
                  <a:tcPr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84356317"/>
                  </a:ext>
                </a:extLst>
              </a:tr>
            </a:tbl>
          </a:graphicData>
        </a:graphic>
      </p:graphicFrame>
    </p:spTree>
    <p:extLst>
      <p:ext uri="{BB962C8B-B14F-4D97-AF65-F5344CB8AC3E}">
        <p14:creationId xmlns:p14="http://schemas.microsoft.com/office/powerpoint/2010/main" val="114349193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F2E32-EEBB-6F65-581A-D827BE13518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AEE1AEA-FA51-F57C-EB08-1A36BEFBB907}"/>
              </a:ext>
            </a:extLst>
          </p:cNvPr>
          <p:cNvSpPr>
            <a:spLocks noGrp="1"/>
          </p:cNvSpPr>
          <p:nvPr>
            <p:ph type="title"/>
          </p:nvPr>
        </p:nvSpPr>
        <p:spPr>
          <a:xfrm>
            <a:off x="1261945" y="1349830"/>
            <a:ext cx="7664341" cy="2484566"/>
          </a:xfrm>
        </p:spPr>
        <p:txBody>
          <a:bodyPr>
            <a:normAutofit/>
          </a:bodyPr>
          <a:lstStyle/>
          <a:p>
            <a:r>
              <a:rPr lang="es-CO" sz="8000" b="1" noProof="0"/>
              <a:t>Familiar de Colombia</a:t>
            </a:r>
          </a:p>
        </p:txBody>
      </p:sp>
      <p:sp>
        <p:nvSpPr>
          <p:cNvPr id="3" name="Marcador de texto 2">
            <a:extLst>
              <a:ext uri="{FF2B5EF4-FFF2-40B4-BE49-F238E27FC236}">
                <a16:creationId xmlns:a16="http://schemas.microsoft.com/office/drawing/2014/main" id="{E0887B5A-9FDC-BAAD-B071-171BE6759C08}"/>
              </a:ext>
            </a:extLst>
          </p:cNvPr>
          <p:cNvSpPr>
            <a:spLocks noGrp="1"/>
          </p:cNvSpPr>
          <p:nvPr>
            <p:ph type="body" idx="1"/>
          </p:nvPr>
        </p:nvSpPr>
        <p:spPr>
          <a:xfrm>
            <a:off x="1261945" y="3694695"/>
            <a:ext cx="3700346" cy="481128"/>
          </a:xfrm>
        </p:spPr>
        <p:txBody>
          <a:bodyPr vert="horz" lIns="91440" tIns="45720" rIns="91440" bIns="45720" rtlCol="0" anchor="t">
            <a:normAutofit/>
          </a:bodyPr>
          <a:lstStyle/>
          <a:p>
            <a:r>
              <a:rPr lang="es-CO" sz="2000" b="1" noProof="0"/>
              <a:t>Julio 2026</a:t>
            </a:r>
          </a:p>
          <a:p>
            <a:endParaRPr lang="es-CO" sz="2000" b="1" noProof="0"/>
          </a:p>
        </p:txBody>
      </p:sp>
    </p:spTree>
    <p:extLst>
      <p:ext uri="{BB962C8B-B14F-4D97-AF65-F5344CB8AC3E}">
        <p14:creationId xmlns:p14="http://schemas.microsoft.com/office/powerpoint/2010/main" val="3819394771"/>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586BE-828C-C2B9-14FE-D8EA7CEA73D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3BA6132-4DB2-2CA4-90EE-F689ED6BA8C1}"/>
              </a:ext>
            </a:extLst>
          </p:cNvPr>
          <p:cNvSpPr>
            <a:spLocks noGrp="1"/>
          </p:cNvSpPr>
          <p:nvPr>
            <p:ph type="ctrTitle"/>
          </p:nvPr>
        </p:nvSpPr>
        <p:spPr>
          <a:xfrm>
            <a:off x="273120" y="26882"/>
            <a:ext cx="11645759" cy="899007"/>
          </a:xfrm>
        </p:spPr>
        <p:txBody>
          <a:bodyPr>
            <a:normAutofit/>
          </a:bodyPr>
          <a:lstStyle/>
          <a:p>
            <a:r>
              <a:rPr lang="es-CO" noProof="0"/>
              <a:t>Incidencia población Familiar de Colombia</a:t>
            </a:r>
          </a:p>
        </p:txBody>
      </p:sp>
      <p:sp>
        <p:nvSpPr>
          <p:cNvPr id="6" name="CuadroTexto 5">
            <a:extLst>
              <a:ext uri="{FF2B5EF4-FFF2-40B4-BE49-F238E27FC236}">
                <a16:creationId xmlns:a16="http://schemas.microsoft.com/office/drawing/2014/main" id="{91FD4928-1A56-B88A-22D7-3FBF6C3F5507}"/>
              </a:ext>
            </a:extLst>
          </p:cNvPr>
          <p:cNvSpPr txBox="1"/>
          <p:nvPr/>
        </p:nvSpPr>
        <p:spPr>
          <a:xfrm>
            <a:off x="444144" y="5565725"/>
            <a:ext cx="11474735" cy="646331"/>
          </a:xfrm>
          <a:prstGeom prst="rect">
            <a:avLst/>
          </a:prstGeom>
          <a:noFill/>
        </p:spPr>
        <p:txBody>
          <a:bodyPr wrap="square" rtlCol="0">
            <a:spAutoFit/>
          </a:bodyPr>
          <a:lstStyle/>
          <a:p>
            <a:r>
              <a:rPr lang="es-CO" noProof="0"/>
              <a:t>La cohorte actualmente tiene 74 paciente oncológicos, para el mes de febrero se recibieron 8 ingresos, pero ninguno es incidente, son casos con diagnostico del 2025, para el mes de Julio no tuvimos nuevos ingresos</a:t>
            </a:r>
          </a:p>
        </p:txBody>
      </p:sp>
      <p:sp>
        <p:nvSpPr>
          <p:cNvPr id="5" name="CuadroTexto 4">
            <a:extLst>
              <a:ext uri="{FF2B5EF4-FFF2-40B4-BE49-F238E27FC236}">
                <a16:creationId xmlns:a16="http://schemas.microsoft.com/office/drawing/2014/main" id="{4B40A946-82E7-6CC1-CAB3-0A9219608251}"/>
              </a:ext>
            </a:extLst>
          </p:cNvPr>
          <p:cNvSpPr txBox="1"/>
          <p:nvPr/>
        </p:nvSpPr>
        <p:spPr>
          <a:xfrm>
            <a:off x="8871046" y="1178731"/>
            <a:ext cx="2838734" cy="276999"/>
          </a:xfrm>
          <a:prstGeom prst="rect">
            <a:avLst/>
          </a:prstGeom>
          <a:noFill/>
        </p:spPr>
        <p:txBody>
          <a:bodyPr wrap="square">
            <a:spAutoFit/>
          </a:bodyPr>
          <a:lstStyle/>
          <a:p>
            <a:r>
              <a:rPr lang="es-CO" sz="1200" noProof="0"/>
              <a:t>Población Familiar de Colombia : 9.592</a:t>
            </a:r>
          </a:p>
        </p:txBody>
      </p:sp>
      <p:sp>
        <p:nvSpPr>
          <p:cNvPr id="7" name="CuadroTexto 6">
            <a:extLst>
              <a:ext uri="{FF2B5EF4-FFF2-40B4-BE49-F238E27FC236}">
                <a16:creationId xmlns:a16="http://schemas.microsoft.com/office/drawing/2014/main" id="{C1CD1807-BE5C-785E-727D-8722C225BBE6}"/>
              </a:ext>
            </a:extLst>
          </p:cNvPr>
          <p:cNvSpPr txBox="1"/>
          <p:nvPr/>
        </p:nvSpPr>
        <p:spPr>
          <a:xfrm>
            <a:off x="6935822" y="6575253"/>
            <a:ext cx="3638394" cy="276999"/>
          </a:xfrm>
          <a:prstGeom prst="rect">
            <a:avLst/>
          </a:prstGeom>
          <a:noFill/>
        </p:spPr>
        <p:txBody>
          <a:bodyPr wrap="square">
            <a:spAutoFit/>
          </a:bodyPr>
          <a:lstStyle/>
          <a:p>
            <a:r>
              <a:rPr lang="es-CO" sz="1200" b="1" noProof="0">
                <a:solidFill>
                  <a:schemeClr val="tx2"/>
                </a:solidFill>
              </a:rPr>
              <a:t>Fuente: Cohorte oncológica INOOS Julio 2026</a:t>
            </a:r>
          </a:p>
        </p:txBody>
      </p:sp>
      <p:graphicFrame>
        <p:nvGraphicFramePr>
          <p:cNvPr id="9" name="Gráfico 8">
            <a:extLst>
              <a:ext uri="{FF2B5EF4-FFF2-40B4-BE49-F238E27FC236}">
                <a16:creationId xmlns:a16="http://schemas.microsoft.com/office/drawing/2014/main" id="{3673F561-FEDB-C54B-A2BC-5A878D52AE56}"/>
              </a:ext>
            </a:extLst>
          </p:cNvPr>
          <p:cNvGraphicFramePr>
            <a:graphicFrameLocks/>
          </p:cNvGraphicFramePr>
          <p:nvPr>
            <p:extLst>
              <p:ext uri="{D42A27DB-BD31-4B8C-83A1-F6EECF244321}">
                <p14:modId xmlns:p14="http://schemas.microsoft.com/office/powerpoint/2010/main" val="388401102"/>
              </p:ext>
            </p:extLst>
          </p:nvPr>
        </p:nvGraphicFramePr>
        <p:xfrm>
          <a:off x="273120" y="1573967"/>
          <a:ext cx="11436660" cy="362856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90165518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65046-BE90-6753-3868-02951D74751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1C13F42-8940-8ED5-4DA9-36D1CEA5F6B3}"/>
              </a:ext>
            </a:extLst>
          </p:cNvPr>
          <p:cNvSpPr>
            <a:spLocks noGrp="1"/>
          </p:cNvSpPr>
          <p:nvPr>
            <p:ph type="ctrTitle"/>
          </p:nvPr>
        </p:nvSpPr>
        <p:spPr>
          <a:xfrm>
            <a:off x="273120" y="26882"/>
            <a:ext cx="11645759" cy="899007"/>
          </a:xfrm>
        </p:spPr>
        <p:txBody>
          <a:bodyPr>
            <a:normAutofit/>
          </a:bodyPr>
          <a:lstStyle/>
          <a:p>
            <a:r>
              <a:rPr lang="es-CO" noProof="0"/>
              <a:t>Historia de población Familiar de Colombia 2026</a:t>
            </a:r>
          </a:p>
        </p:txBody>
      </p:sp>
      <p:graphicFrame>
        <p:nvGraphicFramePr>
          <p:cNvPr id="4" name="Diagrama 3">
            <a:extLst>
              <a:ext uri="{FF2B5EF4-FFF2-40B4-BE49-F238E27FC236}">
                <a16:creationId xmlns:a16="http://schemas.microsoft.com/office/drawing/2014/main" id="{7910F714-42B7-D1C7-D634-6E6898D49F10}"/>
              </a:ext>
            </a:extLst>
          </p:cNvPr>
          <p:cNvGraphicFramePr/>
          <p:nvPr>
            <p:extLst>
              <p:ext uri="{D42A27DB-BD31-4B8C-83A1-F6EECF244321}">
                <p14:modId xmlns:p14="http://schemas.microsoft.com/office/powerpoint/2010/main" val="2473150494"/>
              </p:ext>
            </p:extLst>
          </p:nvPr>
        </p:nvGraphicFramePr>
        <p:xfrm>
          <a:off x="1804772" y="922943"/>
          <a:ext cx="8128000" cy="27093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CuadroTexto 4">
            <a:extLst>
              <a:ext uri="{FF2B5EF4-FFF2-40B4-BE49-F238E27FC236}">
                <a16:creationId xmlns:a16="http://schemas.microsoft.com/office/drawing/2014/main" id="{9352D581-1265-7A5D-DFAC-A024860DD6D0}"/>
              </a:ext>
            </a:extLst>
          </p:cNvPr>
          <p:cNvSpPr txBox="1"/>
          <p:nvPr/>
        </p:nvSpPr>
        <p:spPr>
          <a:xfrm>
            <a:off x="8871046" y="1178731"/>
            <a:ext cx="2838734" cy="276999"/>
          </a:xfrm>
          <a:prstGeom prst="rect">
            <a:avLst/>
          </a:prstGeom>
          <a:noFill/>
        </p:spPr>
        <p:txBody>
          <a:bodyPr wrap="square">
            <a:spAutoFit/>
          </a:bodyPr>
          <a:lstStyle/>
          <a:p>
            <a:r>
              <a:rPr lang="es-CO" sz="1200" noProof="0"/>
              <a:t>Población Familiar de Colombia : 9.592</a:t>
            </a:r>
          </a:p>
        </p:txBody>
      </p:sp>
      <p:graphicFrame>
        <p:nvGraphicFramePr>
          <p:cNvPr id="3" name="Gráfico 2">
            <a:extLst>
              <a:ext uri="{FF2B5EF4-FFF2-40B4-BE49-F238E27FC236}">
                <a16:creationId xmlns:a16="http://schemas.microsoft.com/office/drawing/2014/main" id="{48AFB881-4D47-34C6-8A55-FEC538B93F7C}"/>
              </a:ext>
            </a:extLst>
          </p:cNvPr>
          <p:cNvGraphicFramePr>
            <a:graphicFrameLocks/>
          </p:cNvGraphicFramePr>
          <p:nvPr>
            <p:extLst>
              <p:ext uri="{D42A27DB-BD31-4B8C-83A1-F6EECF244321}">
                <p14:modId xmlns:p14="http://schemas.microsoft.com/office/powerpoint/2010/main" val="206018430"/>
              </p:ext>
            </p:extLst>
          </p:nvPr>
        </p:nvGraphicFramePr>
        <p:xfrm>
          <a:off x="682387" y="2057399"/>
          <a:ext cx="11236491" cy="3388057"/>
        </p:xfrm>
        <a:graphic>
          <a:graphicData uri="http://schemas.openxmlformats.org/drawingml/2006/chart">
            <c:chart xmlns:c="http://schemas.openxmlformats.org/drawingml/2006/chart" xmlns:r="http://schemas.openxmlformats.org/officeDocument/2006/relationships" r:id="rId8"/>
          </a:graphicData>
        </a:graphic>
      </p:graphicFrame>
      <p:grpSp>
        <p:nvGrpSpPr>
          <p:cNvPr id="8" name="Grupo 7">
            <a:extLst>
              <a:ext uri="{FF2B5EF4-FFF2-40B4-BE49-F238E27FC236}">
                <a16:creationId xmlns:a16="http://schemas.microsoft.com/office/drawing/2014/main" id="{E7CE8ABE-80C2-17D9-E9E3-F9AC41C210A0}"/>
              </a:ext>
            </a:extLst>
          </p:cNvPr>
          <p:cNvGrpSpPr/>
          <p:nvPr/>
        </p:nvGrpSpPr>
        <p:grpSpPr>
          <a:xfrm>
            <a:off x="6486578" y="1443136"/>
            <a:ext cx="1538901" cy="2189141"/>
            <a:chOff x="2470911" y="520192"/>
            <a:chExt cx="1538901" cy="2189141"/>
          </a:xfrm>
        </p:grpSpPr>
        <p:sp>
          <p:nvSpPr>
            <p:cNvPr id="9" name="Rectángulo 8">
              <a:extLst>
                <a:ext uri="{FF2B5EF4-FFF2-40B4-BE49-F238E27FC236}">
                  <a16:creationId xmlns:a16="http://schemas.microsoft.com/office/drawing/2014/main" id="{F575FB25-F14A-EA39-36A7-2029505CA65A}"/>
                </a:ext>
              </a:extLst>
            </p:cNvPr>
            <p:cNvSpPr/>
            <p:nvPr/>
          </p:nvSpPr>
          <p:spPr>
            <a:xfrm>
              <a:off x="2470911" y="520192"/>
              <a:ext cx="1538901" cy="2189141"/>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s-CO" noProof="0"/>
            </a:p>
          </p:txBody>
        </p:sp>
        <p:sp>
          <p:nvSpPr>
            <p:cNvPr id="10" name="CuadroTexto 9">
              <a:extLst>
                <a:ext uri="{FF2B5EF4-FFF2-40B4-BE49-F238E27FC236}">
                  <a16:creationId xmlns:a16="http://schemas.microsoft.com/office/drawing/2014/main" id="{0CF5696C-1E99-FC98-7091-503D4D776858}"/>
                </a:ext>
              </a:extLst>
            </p:cNvPr>
            <p:cNvSpPr txBox="1"/>
            <p:nvPr/>
          </p:nvSpPr>
          <p:spPr>
            <a:xfrm>
              <a:off x="2470911" y="520192"/>
              <a:ext cx="1538901" cy="2189141"/>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50800" tIns="50800" rIns="50800" bIns="50800" numCol="1" spcCol="1270" anchor="t" anchorCtr="0">
              <a:noAutofit/>
            </a:bodyPr>
            <a:lstStyle/>
            <a:p>
              <a:pPr marL="0" lvl="0" indent="0" algn="l" defTabSz="889000">
                <a:lnSpc>
                  <a:spcPct val="90000"/>
                </a:lnSpc>
                <a:spcBef>
                  <a:spcPct val="0"/>
                </a:spcBef>
                <a:spcAft>
                  <a:spcPct val="35000"/>
                </a:spcAft>
                <a:buNone/>
              </a:pPr>
              <a:r>
                <a:rPr lang="es-CO" sz="2000" b="1" kern="1200" noProof="0"/>
                <a:t>792 x 100 mil</a:t>
              </a:r>
            </a:p>
            <a:p>
              <a:pPr marL="0" lvl="0" indent="0" algn="l" defTabSz="889000">
                <a:lnSpc>
                  <a:spcPct val="90000"/>
                </a:lnSpc>
                <a:spcBef>
                  <a:spcPct val="0"/>
                </a:spcBef>
                <a:spcAft>
                  <a:spcPct val="35000"/>
                </a:spcAft>
                <a:buNone/>
              </a:pPr>
              <a:r>
                <a:rPr lang="es-CO" sz="1200" b="0" kern="1200" noProof="0"/>
                <a:t>(77 usuarios)</a:t>
              </a:r>
              <a:endParaRPr lang="es-CO" sz="1200" b="1" kern="1200" noProof="0"/>
            </a:p>
          </p:txBody>
        </p:sp>
      </p:grpSp>
      <p:sp>
        <p:nvSpPr>
          <p:cNvPr id="6" name="CuadroTexto 5">
            <a:extLst>
              <a:ext uri="{FF2B5EF4-FFF2-40B4-BE49-F238E27FC236}">
                <a16:creationId xmlns:a16="http://schemas.microsoft.com/office/drawing/2014/main" id="{D233EEC9-4808-131D-E921-3F5886EB4519}"/>
              </a:ext>
            </a:extLst>
          </p:cNvPr>
          <p:cNvSpPr txBox="1"/>
          <p:nvPr/>
        </p:nvSpPr>
        <p:spPr>
          <a:xfrm>
            <a:off x="6935822" y="6575253"/>
            <a:ext cx="3638394" cy="276999"/>
          </a:xfrm>
          <a:prstGeom prst="rect">
            <a:avLst/>
          </a:prstGeom>
          <a:noFill/>
        </p:spPr>
        <p:txBody>
          <a:bodyPr wrap="square">
            <a:spAutoFit/>
          </a:bodyPr>
          <a:lstStyle/>
          <a:p>
            <a:r>
              <a:rPr lang="es-CO" sz="1200" b="1" noProof="0">
                <a:solidFill>
                  <a:schemeClr val="tx2"/>
                </a:solidFill>
              </a:rPr>
              <a:t>Fuente: Cohorte oncológica INOOS Julio 2026</a:t>
            </a:r>
          </a:p>
        </p:txBody>
      </p:sp>
    </p:spTree>
    <p:extLst>
      <p:ext uri="{BB962C8B-B14F-4D97-AF65-F5344CB8AC3E}">
        <p14:creationId xmlns:p14="http://schemas.microsoft.com/office/powerpoint/2010/main" val="23670381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A7B33-A306-BDD4-FAE9-0049FB7F3CD7}"/>
            </a:ext>
          </a:extLst>
        </p:cNvPr>
        <p:cNvGrpSpPr/>
        <p:nvPr/>
      </p:nvGrpSpPr>
      <p:grpSpPr>
        <a:xfrm>
          <a:off x="0" y="0"/>
          <a:ext cx="0" cy="0"/>
          <a:chOff x="0" y="0"/>
          <a:chExt cx="0" cy="0"/>
        </a:xfrm>
      </p:grpSpPr>
      <p:sp>
        <p:nvSpPr>
          <p:cNvPr id="7" name="Título 1">
            <a:extLst>
              <a:ext uri="{FF2B5EF4-FFF2-40B4-BE49-F238E27FC236}">
                <a16:creationId xmlns:a16="http://schemas.microsoft.com/office/drawing/2014/main" id="{2737FA4A-0BC2-5026-1BD9-0B3F4F66BD8D}"/>
              </a:ext>
            </a:extLst>
          </p:cNvPr>
          <p:cNvSpPr>
            <a:spLocks noGrp="1"/>
          </p:cNvSpPr>
          <p:nvPr/>
        </p:nvSpPr>
        <p:spPr>
          <a:xfrm>
            <a:off x="461735" y="0"/>
            <a:ext cx="11268529" cy="831358"/>
          </a:xfrm>
          <a:prstGeom prst="rect">
            <a:avLst/>
          </a:prstGeom>
        </p:spPr>
        <p:txBody>
          <a:bodyPr vert="horz" lIns="91440" tIns="45720" rIns="91440" bIns="45720" rtlCol="0" anchor="b">
            <a:normAutofit/>
          </a:bodyPr>
          <a:lstStyle>
            <a:lvl1pPr marL="0" indent="0" algn="ctr" defTabSz="914400" rtl="0" eaLnBrk="1" latinLnBrk="0" hangingPunct="1">
              <a:lnSpc>
                <a:spcPct val="90000"/>
              </a:lnSpc>
              <a:spcBef>
                <a:spcPct val="0"/>
              </a:spcBef>
              <a:buNone/>
              <a:defRPr lang="es-CO" sz="4400" b="1" kern="1200" dirty="0">
                <a:solidFill>
                  <a:schemeClr val="tx1"/>
                </a:solidFill>
                <a:latin typeface="+mj-lt"/>
                <a:ea typeface="+mj-ea"/>
                <a:cs typeface="+mj-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s-CO" noProof="0"/>
              <a:t>Distribución de la Cohorte Familiar de Colombia</a:t>
            </a:r>
          </a:p>
        </p:txBody>
      </p:sp>
      <p:sp>
        <p:nvSpPr>
          <p:cNvPr id="4" name="CuadroTexto 3">
            <a:extLst>
              <a:ext uri="{FF2B5EF4-FFF2-40B4-BE49-F238E27FC236}">
                <a16:creationId xmlns:a16="http://schemas.microsoft.com/office/drawing/2014/main" id="{A849680D-F5B2-9AF4-1E25-8B7248453279}"/>
              </a:ext>
            </a:extLst>
          </p:cNvPr>
          <p:cNvSpPr txBox="1"/>
          <p:nvPr/>
        </p:nvSpPr>
        <p:spPr>
          <a:xfrm>
            <a:off x="6935822" y="6575253"/>
            <a:ext cx="3638394" cy="276999"/>
          </a:xfrm>
          <a:prstGeom prst="rect">
            <a:avLst/>
          </a:prstGeom>
          <a:noFill/>
        </p:spPr>
        <p:txBody>
          <a:bodyPr wrap="square">
            <a:spAutoFit/>
          </a:bodyPr>
          <a:lstStyle/>
          <a:p>
            <a:r>
              <a:rPr lang="es-CO" sz="1200" b="1" noProof="0">
                <a:solidFill>
                  <a:schemeClr val="tx2"/>
                </a:solidFill>
              </a:rPr>
              <a:t>Fuente: Cohorte oncológica INOOS Julio 2026</a:t>
            </a:r>
          </a:p>
        </p:txBody>
      </p:sp>
      <p:graphicFrame>
        <p:nvGraphicFramePr>
          <p:cNvPr id="2" name="Gráfico 1">
            <a:extLst>
              <a:ext uri="{FF2B5EF4-FFF2-40B4-BE49-F238E27FC236}">
                <a16:creationId xmlns:a16="http://schemas.microsoft.com/office/drawing/2014/main" id="{D66B7BA8-DFE3-DE4F-B59F-980519E8211E}"/>
              </a:ext>
            </a:extLst>
          </p:cNvPr>
          <p:cNvGraphicFramePr>
            <a:graphicFrameLocks/>
          </p:cNvGraphicFramePr>
          <p:nvPr>
            <p:extLst>
              <p:ext uri="{D42A27DB-BD31-4B8C-83A1-F6EECF244321}">
                <p14:modId xmlns:p14="http://schemas.microsoft.com/office/powerpoint/2010/main" val="100415185"/>
              </p:ext>
            </p:extLst>
          </p:nvPr>
        </p:nvGraphicFramePr>
        <p:xfrm>
          <a:off x="764498" y="1109272"/>
          <a:ext cx="10762938" cy="473689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30445813"/>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DF368-BC05-3CA5-8106-4855B630402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3432CE1-2004-F337-B637-55AF92665009}"/>
              </a:ext>
            </a:extLst>
          </p:cNvPr>
          <p:cNvSpPr>
            <a:spLocks noGrp="1"/>
          </p:cNvSpPr>
          <p:nvPr>
            <p:ph type="ctrTitle"/>
          </p:nvPr>
        </p:nvSpPr>
        <p:spPr>
          <a:xfrm>
            <a:off x="273120" y="206276"/>
            <a:ext cx="11645759" cy="657324"/>
          </a:xfrm>
        </p:spPr>
        <p:txBody>
          <a:bodyPr>
            <a:noAutofit/>
          </a:bodyPr>
          <a:lstStyle/>
          <a:p>
            <a:r>
              <a:rPr lang="es-CO" noProof="0"/>
              <a:t>Porcentaje de pacientes en tratamiento 2026</a:t>
            </a:r>
          </a:p>
        </p:txBody>
      </p:sp>
      <p:sp>
        <p:nvSpPr>
          <p:cNvPr id="7" name="CuadroTexto 6">
            <a:extLst>
              <a:ext uri="{FF2B5EF4-FFF2-40B4-BE49-F238E27FC236}">
                <a16:creationId xmlns:a16="http://schemas.microsoft.com/office/drawing/2014/main" id="{1EF6E1AF-FFFB-0571-EEE4-3B001FCC186C}"/>
              </a:ext>
            </a:extLst>
          </p:cNvPr>
          <p:cNvSpPr txBox="1"/>
          <p:nvPr/>
        </p:nvSpPr>
        <p:spPr>
          <a:xfrm>
            <a:off x="1475874" y="5989403"/>
            <a:ext cx="9753599" cy="369332"/>
          </a:xfrm>
          <a:prstGeom prst="rect">
            <a:avLst/>
          </a:prstGeom>
          <a:noFill/>
        </p:spPr>
        <p:txBody>
          <a:bodyPr wrap="square">
            <a:spAutoFit/>
          </a:bodyPr>
          <a:lstStyle/>
          <a:p>
            <a:r>
              <a:rPr lang="es-CO" sz="1800" noProof="0"/>
              <a:t>* La terapia sistémica incluye Quimioterapia, Inmunoterapia, terapia hormonal y terapia dirigida</a:t>
            </a:r>
          </a:p>
        </p:txBody>
      </p:sp>
      <p:graphicFrame>
        <p:nvGraphicFramePr>
          <p:cNvPr id="9" name="Gráfico 8">
            <a:extLst>
              <a:ext uri="{FF2B5EF4-FFF2-40B4-BE49-F238E27FC236}">
                <a16:creationId xmlns:a16="http://schemas.microsoft.com/office/drawing/2014/main" id="{2A343B3A-C857-C9F4-C6E5-80957979847D}"/>
              </a:ext>
            </a:extLst>
          </p:cNvPr>
          <p:cNvGraphicFramePr/>
          <p:nvPr>
            <p:extLst>
              <p:ext uri="{D42A27DB-BD31-4B8C-83A1-F6EECF244321}">
                <p14:modId xmlns:p14="http://schemas.microsoft.com/office/powerpoint/2010/main" val="4118245240"/>
              </p:ext>
            </p:extLst>
          </p:nvPr>
        </p:nvGraphicFramePr>
        <p:xfrm>
          <a:off x="588316" y="1085866"/>
          <a:ext cx="11225632" cy="3362889"/>
        </p:xfrm>
        <a:graphic>
          <a:graphicData uri="http://schemas.openxmlformats.org/drawingml/2006/chart">
            <c:chart xmlns:c="http://schemas.openxmlformats.org/drawingml/2006/chart" xmlns:r="http://schemas.openxmlformats.org/officeDocument/2006/relationships" r:id="rId3"/>
          </a:graphicData>
        </a:graphic>
      </p:graphicFrame>
      <p:sp>
        <p:nvSpPr>
          <p:cNvPr id="8" name="CuadroTexto 7">
            <a:extLst>
              <a:ext uri="{FF2B5EF4-FFF2-40B4-BE49-F238E27FC236}">
                <a16:creationId xmlns:a16="http://schemas.microsoft.com/office/drawing/2014/main" id="{49966225-3930-759E-E2A3-B56F2ED8DAD6}"/>
              </a:ext>
            </a:extLst>
          </p:cNvPr>
          <p:cNvSpPr txBox="1"/>
          <p:nvPr/>
        </p:nvSpPr>
        <p:spPr>
          <a:xfrm>
            <a:off x="6935822" y="6575253"/>
            <a:ext cx="3638394" cy="276999"/>
          </a:xfrm>
          <a:prstGeom prst="rect">
            <a:avLst/>
          </a:prstGeom>
          <a:noFill/>
        </p:spPr>
        <p:txBody>
          <a:bodyPr wrap="square">
            <a:spAutoFit/>
          </a:bodyPr>
          <a:lstStyle/>
          <a:p>
            <a:r>
              <a:rPr lang="es-CO" sz="1200" b="1" noProof="0">
                <a:solidFill>
                  <a:schemeClr val="tx2"/>
                </a:solidFill>
              </a:rPr>
              <a:t>Fuente: Cohorte oncológica INOOS Julio 2026</a:t>
            </a:r>
          </a:p>
        </p:txBody>
      </p:sp>
      <p:pic>
        <p:nvPicPr>
          <p:cNvPr id="6" name="Imagen 5">
            <a:extLst>
              <a:ext uri="{FF2B5EF4-FFF2-40B4-BE49-F238E27FC236}">
                <a16:creationId xmlns:a16="http://schemas.microsoft.com/office/drawing/2014/main" id="{410A4C22-F4DA-6E34-CFA3-848A2BADA47D}"/>
              </a:ext>
            </a:extLst>
          </p:cNvPr>
          <p:cNvPicPr>
            <a:picLocks noChangeAspect="1"/>
          </p:cNvPicPr>
          <p:nvPr/>
        </p:nvPicPr>
        <p:blipFill>
          <a:blip r:embed="rId4"/>
          <a:stretch>
            <a:fillRect/>
          </a:stretch>
        </p:blipFill>
        <p:spPr>
          <a:xfrm>
            <a:off x="273120" y="4452394"/>
            <a:ext cx="11225632" cy="1428750"/>
          </a:xfrm>
          <a:prstGeom prst="rect">
            <a:avLst/>
          </a:prstGeom>
        </p:spPr>
      </p:pic>
    </p:spTree>
    <p:extLst>
      <p:ext uri="{BB962C8B-B14F-4D97-AF65-F5344CB8AC3E}">
        <p14:creationId xmlns:p14="http://schemas.microsoft.com/office/powerpoint/2010/main" val="166623324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F626D-8D3F-6F05-1F9D-3CE9072D73E8}"/>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C765F48D-99AB-AB03-55C0-D18D5E9C2458}"/>
              </a:ext>
            </a:extLst>
          </p:cNvPr>
          <p:cNvSpPr>
            <a:spLocks noGrp="1"/>
          </p:cNvSpPr>
          <p:nvPr>
            <p:ph type="ctrTitle"/>
          </p:nvPr>
        </p:nvSpPr>
        <p:spPr>
          <a:xfrm>
            <a:off x="273120" y="0"/>
            <a:ext cx="11645759" cy="786278"/>
          </a:xfrm>
        </p:spPr>
        <p:txBody>
          <a:bodyPr/>
          <a:lstStyle/>
          <a:p>
            <a:r>
              <a:rPr lang="es-CO" noProof="0"/>
              <a:t>Oportunidades 2025/2026</a:t>
            </a:r>
          </a:p>
        </p:txBody>
      </p:sp>
      <p:graphicFrame>
        <p:nvGraphicFramePr>
          <p:cNvPr id="9" name="Gráfico 8">
            <a:extLst>
              <a:ext uri="{FF2B5EF4-FFF2-40B4-BE49-F238E27FC236}">
                <a16:creationId xmlns:a16="http://schemas.microsoft.com/office/drawing/2014/main" id="{C9EE997A-F593-62BB-E89B-CE0879FBAE81}"/>
              </a:ext>
            </a:extLst>
          </p:cNvPr>
          <p:cNvGraphicFramePr/>
          <p:nvPr>
            <p:extLst>
              <p:ext uri="{D42A27DB-BD31-4B8C-83A1-F6EECF244321}">
                <p14:modId xmlns:p14="http://schemas.microsoft.com/office/powerpoint/2010/main" val="1146562015"/>
              </p:ext>
            </p:extLst>
          </p:nvPr>
        </p:nvGraphicFramePr>
        <p:xfrm>
          <a:off x="335999" y="927814"/>
          <a:ext cx="5760000" cy="264939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Gráfico 9">
            <a:extLst>
              <a:ext uri="{FF2B5EF4-FFF2-40B4-BE49-F238E27FC236}">
                <a16:creationId xmlns:a16="http://schemas.microsoft.com/office/drawing/2014/main" id="{41ED7201-8E37-BC24-012C-5987E7B3016D}"/>
              </a:ext>
            </a:extLst>
          </p:cNvPr>
          <p:cNvGraphicFramePr/>
          <p:nvPr>
            <p:extLst>
              <p:ext uri="{D42A27DB-BD31-4B8C-83A1-F6EECF244321}">
                <p14:modId xmlns:p14="http://schemas.microsoft.com/office/powerpoint/2010/main" val="2482214859"/>
              </p:ext>
            </p:extLst>
          </p:nvPr>
        </p:nvGraphicFramePr>
        <p:xfrm>
          <a:off x="6158879" y="927814"/>
          <a:ext cx="5760000" cy="264939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Gráfico 5">
            <a:extLst>
              <a:ext uri="{FF2B5EF4-FFF2-40B4-BE49-F238E27FC236}">
                <a16:creationId xmlns:a16="http://schemas.microsoft.com/office/drawing/2014/main" id="{4E0AE85B-1252-BDF9-8A68-D650DCB3D477}"/>
              </a:ext>
            </a:extLst>
          </p:cNvPr>
          <p:cNvGraphicFramePr/>
          <p:nvPr>
            <p:extLst>
              <p:ext uri="{D42A27DB-BD31-4B8C-83A1-F6EECF244321}">
                <p14:modId xmlns:p14="http://schemas.microsoft.com/office/powerpoint/2010/main" val="665927109"/>
              </p:ext>
            </p:extLst>
          </p:nvPr>
        </p:nvGraphicFramePr>
        <p:xfrm>
          <a:off x="335999" y="3654792"/>
          <a:ext cx="5551558" cy="27000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3" name="Gráfico 2">
            <a:extLst>
              <a:ext uri="{FF2B5EF4-FFF2-40B4-BE49-F238E27FC236}">
                <a16:creationId xmlns:a16="http://schemas.microsoft.com/office/drawing/2014/main" id="{3C6266D4-99A1-CE90-5EA0-E2EC9016929A}"/>
              </a:ext>
            </a:extLst>
          </p:cNvPr>
          <p:cNvGraphicFramePr/>
          <p:nvPr>
            <p:extLst>
              <p:ext uri="{D42A27DB-BD31-4B8C-83A1-F6EECF244321}">
                <p14:modId xmlns:p14="http://schemas.microsoft.com/office/powerpoint/2010/main" val="3378542878"/>
              </p:ext>
            </p:extLst>
          </p:nvPr>
        </p:nvGraphicFramePr>
        <p:xfrm>
          <a:off x="6367321" y="3669306"/>
          <a:ext cx="5551558" cy="2700000"/>
        </p:xfrm>
        <a:graphic>
          <a:graphicData uri="http://schemas.openxmlformats.org/drawingml/2006/chart">
            <c:chart xmlns:c="http://schemas.openxmlformats.org/drawingml/2006/chart" xmlns:r="http://schemas.openxmlformats.org/officeDocument/2006/relationships" r:id="rId6"/>
          </a:graphicData>
        </a:graphic>
      </p:graphicFrame>
      <p:sp>
        <p:nvSpPr>
          <p:cNvPr id="2" name="CuadroTexto 1">
            <a:extLst>
              <a:ext uri="{FF2B5EF4-FFF2-40B4-BE49-F238E27FC236}">
                <a16:creationId xmlns:a16="http://schemas.microsoft.com/office/drawing/2014/main" id="{1CBE3BFE-DD9A-6A23-853E-1611BFD31118}"/>
              </a:ext>
            </a:extLst>
          </p:cNvPr>
          <p:cNvSpPr txBox="1"/>
          <p:nvPr/>
        </p:nvSpPr>
        <p:spPr>
          <a:xfrm>
            <a:off x="6935822" y="6575253"/>
            <a:ext cx="3638394" cy="276999"/>
          </a:xfrm>
          <a:prstGeom prst="rect">
            <a:avLst/>
          </a:prstGeom>
          <a:noFill/>
        </p:spPr>
        <p:txBody>
          <a:bodyPr wrap="square">
            <a:spAutoFit/>
          </a:bodyPr>
          <a:lstStyle/>
          <a:p>
            <a:r>
              <a:rPr lang="es-CO" sz="1200" b="1" noProof="0">
                <a:solidFill>
                  <a:schemeClr val="tx2"/>
                </a:solidFill>
              </a:rPr>
              <a:t>Fuente: Cohorte oncológica INOOS </a:t>
            </a:r>
            <a:r>
              <a:rPr lang="es-CO" sz="1200" b="1">
                <a:solidFill>
                  <a:schemeClr val="tx2"/>
                </a:solidFill>
              </a:rPr>
              <a:t>Julio</a:t>
            </a:r>
            <a:r>
              <a:rPr lang="es-CO" sz="1200" b="1" noProof="0">
                <a:solidFill>
                  <a:schemeClr val="tx2"/>
                </a:solidFill>
              </a:rPr>
              <a:t> 2026</a:t>
            </a:r>
          </a:p>
        </p:txBody>
      </p:sp>
    </p:spTree>
    <p:extLst>
      <p:ext uri="{BB962C8B-B14F-4D97-AF65-F5344CB8AC3E}">
        <p14:creationId xmlns:p14="http://schemas.microsoft.com/office/powerpoint/2010/main" val="337556026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FAE22-6574-7A52-59A1-6CEA17FC174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F46AF39-A7B5-E132-5877-F1227F99E05D}"/>
              </a:ext>
            </a:extLst>
          </p:cNvPr>
          <p:cNvSpPr>
            <a:spLocks noGrp="1"/>
          </p:cNvSpPr>
          <p:nvPr>
            <p:ph type="ctrTitle"/>
          </p:nvPr>
        </p:nvSpPr>
        <p:spPr>
          <a:xfrm>
            <a:off x="273120" y="0"/>
            <a:ext cx="11645759" cy="786278"/>
          </a:xfrm>
        </p:spPr>
        <p:txBody>
          <a:bodyPr/>
          <a:lstStyle/>
          <a:p>
            <a:r>
              <a:rPr lang="es-CO" noProof="0"/>
              <a:t>Oportunidades inicio de tratamientos 2025/2026</a:t>
            </a:r>
          </a:p>
        </p:txBody>
      </p:sp>
      <p:graphicFrame>
        <p:nvGraphicFramePr>
          <p:cNvPr id="7" name="Gráfico 6">
            <a:extLst>
              <a:ext uri="{FF2B5EF4-FFF2-40B4-BE49-F238E27FC236}">
                <a16:creationId xmlns:a16="http://schemas.microsoft.com/office/drawing/2014/main" id="{F7DF90C3-D51B-5312-EDAF-B68D05AB2D5B}"/>
              </a:ext>
            </a:extLst>
          </p:cNvPr>
          <p:cNvGraphicFramePr/>
          <p:nvPr>
            <p:extLst>
              <p:ext uri="{D42A27DB-BD31-4B8C-83A1-F6EECF244321}">
                <p14:modId xmlns:p14="http://schemas.microsoft.com/office/powerpoint/2010/main" val="2614419801"/>
              </p:ext>
            </p:extLst>
          </p:nvPr>
        </p:nvGraphicFramePr>
        <p:xfrm>
          <a:off x="114473" y="1087582"/>
          <a:ext cx="5940000" cy="270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Gráfico 7">
            <a:extLst>
              <a:ext uri="{FF2B5EF4-FFF2-40B4-BE49-F238E27FC236}">
                <a16:creationId xmlns:a16="http://schemas.microsoft.com/office/drawing/2014/main" id="{F2F63FEF-AFE0-43C7-46D0-FCE89915E7B1}"/>
              </a:ext>
            </a:extLst>
          </p:cNvPr>
          <p:cNvGraphicFramePr/>
          <p:nvPr>
            <p:extLst>
              <p:ext uri="{D42A27DB-BD31-4B8C-83A1-F6EECF244321}">
                <p14:modId xmlns:p14="http://schemas.microsoft.com/office/powerpoint/2010/main" val="2564067090"/>
              </p:ext>
            </p:extLst>
          </p:nvPr>
        </p:nvGraphicFramePr>
        <p:xfrm>
          <a:off x="6252000" y="1087582"/>
          <a:ext cx="5940000" cy="2700000"/>
        </p:xfrm>
        <a:graphic>
          <a:graphicData uri="http://schemas.openxmlformats.org/drawingml/2006/chart">
            <c:chart xmlns:c="http://schemas.openxmlformats.org/drawingml/2006/chart" xmlns:r="http://schemas.openxmlformats.org/officeDocument/2006/relationships" r:id="rId3"/>
          </a:graphicData>
        </a:graphic>
      </p:graphicFrame>
      <p:sp>
        <p:nvSpPr>
          <p:cNvPr id="4" name="CuadroTexto 3">
            <a:extLst>
              <a:ext uri="{FF2B5EF4-FFF2-40B4-BE49-F238E27FC236}">
                <a16:creationId xmlns:a16="http://schemas.microsoft.com/office/drawing/2014/main" id="{164D34E3-15F4-BDEF-E3C7-0F2D58A08FB2}"/>
              </a:ext>
            </a:extLst>
          </p:cNvPr>
          <p:cNvSpPr txBox="1"/>
          <p:nvPr/>
        </p:nvSpPr>
        <p:spPr>
          <a:xfrm>
            <a:off x="6935822" y="6575253"/>
            <a:ext cx="3638394" cy="276999"/>
          </a:xfrm>
          <a:prstGeom prst="rect">
            <a:avLst/>
          </a:prstGeom>
          <a:noFill/>
        </p:spPr>
        <p:txBody>
          <a:bodyPr wrap="square">
            <a:spAutoFit/>
          </a:bodyPr>
          <a:lstStyle/>
          <a:p>
            <a:r>
              <a:rPr lang="es-CO" sz="1200" b="1" noProof="0">
                <a:solidFill>
                  <a:schemeClr val="tx2"/>
                </a:solidFill>
              </a:rPr>
              <a:t>Fuente: Cohorte oncológica INOOS Julio 2026</a:t>
            </a:r>
          </a:p>
        </p:txBody>
      </p:sp>
    </p:spTree>
    <p:extLst>
      <p:ext uri="{BB962C8B-B14F-4D97-AF65-F5344CB8AC3E}">
        <p14:creationId xmlns:p14="http://schemas.microsoft.com/office/powerpoint/2010/main" val="165357354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C99C1DD1-CEB1-6808-0D0D-5052367B28F7}"/>
              </a:ext>
            </a:extLst>
          </p:cNvPr>
          <p:cNvSpPr txBox="1">
            <a:spLocks/>
          </p:cNvSpPr>
          <p:nvPr/>
        </p:nvSpPr>
        <p:spPr>
          <a:xfrm>
            <a:off x="3153853" y="76014"/>
            <a:ext cx="5884294" cy="812078"/>
          </a:xfrm>
          <a:prstGeom prst="rect">
            <a:avLst/>
          </a:prstGeom>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sz="4400" b="1" kern="1200">
                <a:solidFill>
                  <a:srgbClr val="00A19C"/>
                </a:solidFill>
                <a:latin typeface="+mj-lt"/>
                <a:ea typeface="+mj-ea"/>
                <a:cs typeface="+mj-cs"/>
              </a:defRPr>
            </a:lvl1pPr>
          </a:lstStyle>
          <a:p>
            <a:r>
              <a:rPr lang="es-CO">
                <a:solidFill>
                  <a:schemeClr val="tx1"/>
                </a:solidFill>
                <a:latin typeface="Century Gothic"/>
              </a:rPr>
              <a:t>Encuestas de satisfacción</a:t>
            </a:r>
            <a:endParaRPr lang="es-ES"/>
          </a:p>
        </p:txBody>
      </p:sp>
      <p:sp>
        <p:nvSpPr>
          <p:cNvPr id="4" name="CuadroTexto 3">
            <a:extLst>
              <a:ext uri="{FF2B5EF4-FFF2-40B4-BE49-F238E27FC236}">
                <a16:creationId xmlns:a16="http://schemas.microsoft.com/office/drawing/2014/main" id="{A62757D4-4F06-7AA6-3EFE-81E608448198}"/>
              </a:ext>
            </a:extLst>
          </p:cNvPr>
          <p:cNvSpPr txBox="1"/>
          <p:nvPr/>
        </p:nvSpPr>
        <p:spPr>
          <a:xfrm>
            <a:off x="8241030" y="2890391"/>
            <a:ext cx="3676650" cy="1077218"/>
          </a:xfrm>
          <a:prstGeom prst="rect">
            <a:avLst/>
          </a:prstGeom>
          <a:noFill/>
        </p:spPr>
        <p:txBody>
          <a:bodyPr wrap="square" lIns="91440" tIns="45720" rIns="91440" bIns="45720" anchor="t">
            <a:spAutoFit/>
          </a:bodyPr>
          <a:lstStyle/>
          <a:p>
            <a:pPr algn="just"/>
            <a:r>
              <a:rPr lang="es-MX" sz="1600">
                <a:solidFill>
                  <a:schemeClr val="tx1">
                    <a:lumMod val="50000"/>
                  </a:schemeClr>
                </a:solidFill>
                <a:latin typeface="Aptos" panose="020B0004020202020204" pitchFamily="34" charset="0"/>
                <a:ea typeface="+mn-lt"/>
                <a:cs typeface="+mn-lt"/>
              </a:rPr>
              <a:t>Entre los encuestados se encuentran afiliados a Sies Salud,  Particulares, FOMAG, EPS Familiar de Colombia y </a:t>
            </a:r>
            <a:r>
              <a:rPr lang="es-MX" sz="1600" err="1">
                <a:solidFill>
                  <a:schemeClr val="tx1">
                    <a:lumMod val="50000"/>
                  </a:schemeClr>
                </a:solidFill>
                <a:latin typeface="Aptos" panose="020B0004020202020204" pitchFamily="34" charset="0"/>
                <a:ea typeface="+mn-lt"/>
                <a:cs typeface="+mn-lt"/>
              </a:rPr>
              <a:t>Botospa</a:t>
            </a:r>
            <a:r>
              <a:rPr lang="es-MX" sz="1600">
                <a:solidFill>
                  <a:schemeClr val="tx1">
                    <a:lumMod val="50000"/>
                  </a:schemeClr>
                </a:solidFill>
                <a:latin typeface="Aptos" panose="020B0004020202020204" pitchFamily="34" charset="0"/>
                <a:ea typeface="+mn-lt"/>
                <a:cs typeface="+mn-lt"/>
              </a:rPr>
              <a:t>.</a:t>
            </a:r>
          </a:p>
        </p:txBody>
      </p:sp>
      <p:graphicFrame>
        <p:nvGraphicFramePr>
          <p:cNvPr id="3" name="Gráfico 2">
            <a:extLst>
              <a:ext uri="{FF2B5EF4-FFF2-40B4-BE49-F238E27FC236}">
                <a16:creationId xmlns:a16="http://schemas.microsoft.com/office/drawing/2014/main" id="{7B212019-6220-47C1-B6C6-E922CC0BEFC9}"/>
              </a:ext>
              <a:ext uri="{147F2762-F138-4A5C-976F-8EAC2B608ADB}">
                <a16:predDERef xmlns:a16="http://schemas.microsoft.com/office/drawing/2014/main" pred="{839E2944-2599-48A5-A12C-AA06336E5D5A}"/>
              </a:ext>
            </a:extLst>
          </p:cNvPr>
          <p:cNvGraphicFramePr>
            <a:graphicFrameLocks/>
          </p:cNvGraphicFramePr>
          <p:nvPr/>
        </p:nvGraphicFramePr>
        <p:xfrm>
          <a:off x="1318836" y="1187192"/>
          <a:ext cx="6621204" cy="4832608"/>
        </p:xfrm>
        <a:graphic>
          <a:graphicData uri="http://schemas.openxmlformats.org/drawingml/2006/chart">
            <c:chart xmlns:c="http://schemas.openxmlformats.org/drawingml/2006/chart" xmlns:r="http://schemas.openxmlformats.org/officeDocument/2006/relationships" r:id="rId2"/>
          </a:graphicData>
        </a:graphic>
      </p:graphicFrame>
      <p:sp>
        <p:nvSpPr>
          <p:cNvPr id="5" name="CuadroTexto 4">
            <a:extLst>
              <a:ext uri="{FF2B5EF4-FFF2-40B4-BE49-F238E27FC236}">
                <a16:creationId xmlns:a16="http://schemas.microsoft.com/office/drawing/2014/main" id="{58563002-A456-2452-E90A-CFD1FD274B7C}"/>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SAU INOOS Julio 2026</a:t>
            </a:r>
          </a:p>
        </p:txBody>
      </p:sp>
    </p:spTree>
    <p:extLst>
      <p:ext uri="{BB962C8B-B14F-4D97-AF65-F5344CB8AC3E}">
        <p14:creationId xmlns:p14="http://schemas.microsoft.com/office/powerpoint/2010/main" val="15038748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6CA9BD77-ABE8-101E-66C0-0ED5BA07EB1C}"/>
              </a:ext>
            </a:extLst>
          </p:cNvPr>
          <p:cNvSpPr txBox="1">
            <a:spLocks/>
          </p:cNvSpPr>
          <p:nvPr/>
        </p:nvSpPr>
        <p:spPr>
          <a:xfrm>
            <a:off x="1134981" y="39217"/>
            <a:ext cx="10515600" cy="81207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400" b="1" kern="1200">
                <a:solidFill>
                  <a:srgbClr val="00A19C"/>
                </a:solidFill>
                <a:latin typeface="+mj-lt"/>
                <a:ea typeface="+mj-ea"/>
                <a:cs typeface="+mj-cs"/>
              </a:defRPr>
            </a:lvl1pPr>
          </a:lstStyle>
          <a:p>
            <a:r>
              <a:rPr lang="es-CO">
                <a:solidFill>
                  <a:schemeClr val="tx1"/>
                </a:solidFill>
                <a:latin typeface="Century Gothic"/>
              </a:rPr>
              <a:t>QSE</a:t>
            </a:r>
            <a:endParaRPr lang="es-ES"/>
          </a:p>
        </p:txBody>
      </p:sp>
      <p:graphicFrame>
        <p:nvGraphicFramePr>
          <p:cNvPr id="7" name="Gráfico 6">
            <a:extLst>
              <a:ext uri="{FF2B5EF4-FFF2-40B4-BE49-F238E27FC236}">
                <a16:creationId xmlns:a16="http://schemas.microsoft.com/office/drawing/2014/main" id="{90F1E241-6B40-422A-8586-49EEE45A179C}"/>
              </a:ext>
              <a:ext uri="{147F2762-F138-4A5C-976F-8EAC2B608ADB}">
                <a16:predDERef xmlns:a16="http://schemas.microsoft.com/office/drawing/2014/main" pred="{388F530F-CEB5-E88B-0E78-460D25427196}"/>
              </a:ext>
            </a:extLst>
          </p:cNvPr>
          <p:cNvGraphicFramePr>
            <a:graphicFrameLocks/>
          </p:cNvGraphicFramePr>
          <p:nvPr/>
        </p:nvGraphicFramePr>
        <p:xfrm>
          <a:off x="7078581" y="3835039"/>
          <a:ext cx="5048250" cy="286729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Gráfico 7">
            <a:extLst>
              <a:ext uri="{FF2B5EF4-FFF2-40B4-BE49-F238E27FC236}">
                <a16:creationId xmlns:a16="http://schemas.microsoft.com/office/drawing/2014/main" id="{00209C8D-8A12-4E06-87BD-A57D756340F4}"/>
              </a:ext>
              <a:ext uri="{147F2762-F138-4A5C-976F-8EAC2B608ADB}">
                <a16:predDERef xmlns:a16="http://schemas.microsoft.com/office/drawing/2014/main" pred="{90F1E241-6B40-422A-8586-49EEE45A179C}"/>
              </a:ext>
            </a:extLst>
          </p:cNvPr>
          <p:cNvGraphicFramePr>
            <a:graphicFrameLocks/>
          </p:cNvGraphicFramePr>
          <p:nvPr/>
        </p:nvGraphicFramePr>
        <p:xfrm>
          <a:off x="1280160" y="851295"/>
          <a:ext cx="4572000" cy="277045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Gráfico 8">
            <a:extLst>
              <a:ext uri="{FF2B5EF4-FFF2-40B4-BE49-F238E27FC236}">
                <a16:creationId xmlns:a16="http://schemas.microsoft.com/office/drawing/2014/main" id="{C6F3D0C8-8403-4275-8047-E52C558633BB}"/>
              </a:ext>
              <a:ext uri="{147F2762-F138-4A5C-976F-8EAC2B608ADB}">
                <a16:predDERef xmlns:a16="http://schemas.microsoft.com/office/drawing/2014/main" pred="{00209C8D-8A12-4E06-87BD-A57D756340F4}"/>
              </a:ext>
            </a:extLst>
          </p:cNvPr>
          <p:cNvGraphicFramePr>
            <a:graphicFrameLocks/>
          </p:cNvGraphicFramePr>
          <p:nvPr/>
        </p:nvGraphicFramePr>
        <p:xfrm>
          <a:off x="7078581" y="492011"/>
          <a:ext cx="4572000" cy="293698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Gráfico 9">
            <a:extLst>
              <a:ext uri="{FF2B5EF4-FFF2-40B4-BE49-F238E27FC236}">
                <a16:creationId xmlns:a16="http://schemas.microsoft.com/office/drawing/2014/main" id="{CA3ADA5B-2B99-4BBA-A463-B7312F81D5F0}"/>
              </a:ext>
              <a:ext uri="{147F2762-F138-4A5C-976F-8EAC2B608ADB}">
                <a16:predDERef xmlns:a16="http://schemas.microsoft.com/office/drawing/2014/main" pred="{C6F3D0C8-8403-4275-8047-E52C558633BB}"/>
              </a:ext>
            </a:extLst>
          </p:cNvPr>
          <p:cNvGraphicFramePr>
            <a:graphicFrameLocks/>
          </p:cNvGraphicFramePr>
          <p:nvPr/>
        </p:nvGraphicFramePr>
        <p:xfrm>
          <a:off x="1280160" y="3835039"/>
          <a:ext cx="4691062" cy="2776839"/>
        </p:xfrm>
        <a:graphic>
          <a:graphicData uri="http://schemas.openxmlformats.org/drawingml/2006/chart">
            <c:chart xmlns:c="http://schemas.openxmlformats.org/drawingml/2006/chart" xmlns:r="http://schemas.openxmlformats.org/officeDocument/2006/relationships" r:id="rId5"/>
          </a:graphicData>
        </a:graphic>
      </p:graphicFrame>
      <p:sp>
        <p:nvSpPr>
          <p:cNvPr id="3" name="CuadroTexto 2">
            <a:extLst>
              <a:ext uri="{FF2B5EF4-FFF2-40B4-BE49-F238E27FC236}">
                <a16:creationId xmlns:a16="http://schemas.microsoft.com/office/drawing/2014/main" id="{F7067012-FA15-08BA-258E-ED892DF60C19}"/>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SAU INOOS Julio 2026</a:t>
            </a:r>
          </a:p>
        </p:txBody>
      </p:sp>
    </p:spTree>
    <p:extLst>
      <p:ext uri="{BB962C8B-B14F-4D97-AF65-F5344CB8AC3E}">
        <p14:creationId xmlns:p14="http://schemas.microsoft.com/office/powerpoint/2010/main" val="308723955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083241F7-AB5F-16F3-DC4B-48360C6DD06A}"/>
              </a:ext>
            </a:extLst>
          </p:cNvPr>
          <p:cNvSpPr txBox="1">
            <a:spLocks/>
          </p:cNvSpPr>
          <p:nvPr/>
        </p:nvSpPr>
        <p:spPr>
          <a:xfrm>
            <a:off x="1068049" y="165719"/>
            <a:ext cx="10515600" cy="81207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400" b="1" kern="1200">
                <a:solidFill>
                  <a:srgbClr val="00A19C"/>
                </a:solidFill>
                <a:latin typeface="+mj-lt"/>
                <a:ea typeface="+mj-ea"/>
                <a:cs typeface="+mj-cs"/>
              </a:defRPr>
            </a:lvl1pPr>
          </a:lstStyle>
          <a:p>
            <a:r>
              <a:rPr lang="es-CO">
                <a:solidFill>
                  <a:schemeClr val="tx1"/>
                </a:solidFill>
                <a:latin typeface="Century Gothic"/>
              </a:rPr>
              <a:t>PQRSF</a:t>
            </a:r>
            <a:endParaRPr lang="es-ES"/>
          </a:p>
        </p:txBody>
      </p:sp>
      <p:graphicFrame>
        <p:nvGraphicFramePr>
          <p:cNvPr id="2" name="Gráfico 1">
            <a:extLst>
              <a:ext uri="{FF2B5EF4-FFF2-40B4-BE49-F238E27FC236}">
                <a16:creationId xmlns:a16="http://schemas.microsoft.com/office/drawing/2014/main" id="{D8ACD5B8-212E-4059-B856-ABE1897EA565}"/>
              </a:ext>
              <a:ext uri="{147F2762-F138-4A5C-976F-8EAC2B608ADB}">
                <a16:predDERef xmlns:a16="http://schemas.microsoft.com/office/drawing/2014/main" pred="{082661FD-B207-B054-0143-79E145C0684E}"/>
              </a:ext>
            </a:extLst>
          </p:cNvPr>
          <p:cNvGraphicFramePr>
            <a:graphicFrameLocks/>
          </p:cNvGraphicFramePr>
          <p:nvPr/>
        </p:nvGraphicFramePr>
        <p:xfrm>
          <a:off x="1068049" y="778458"/>
          <a:ext cx="6431280" cy="5301083"/>
        </p:xfrm>
        <a:graphic>
          <a:graphicData uri="http://schemas.openxmlformats.org/drawingml/2006/chart">
            <c:chart xmlns:c="http://schemas.openxmlformats.org/drawingml/2006/chart" xmlns:r="http://schemas.openxmlformats.org/officeDocument/2006/relationships" r:id="rId2"/>
          </a:graphicData>
        </a:graphic>
      </p:graphicFrame>
      <p:sp>
        <p:nvSpPr>
          <p:cNvPr id="5" name="CuadroTexto 4">
            <a:extLst>
              <a:ext uri="{FF2B5EF4-FFF2-40B4-BE49-F238E27FC236}">
                <a16:creationId xmlns:a16="http://schemas.microsoft.com/office/drawing/2014/main" id="{3F30A19F-A9DF-382A-98EA-78CA06FFD068}"/>
              </a:ext>
            </a:extLst>
          </p:cNvPr>
          <p:cNvSpPr txBox="1"/>
          <p:nvPr/>
        </p:nvSpPr>
        <p:spPr>
          <a:xfrm>
            <a:off x="8073390" y="2651506"/>
            <a:ext cx="3676650" cy="1323439"/>
          </a:xfrm>
          <a:prstGeom prst="rect">
            <a:avLst/>
          </a:prstGeom>
          <a:noFill/>
        </p:spPr>
        <p:txBody>
          <a:bodyPr wrap="square" lIns="91440" tIns="45720" rIns="91440" bIns="45720" anchor="t">
            <a:spAutoFit/>
          </a:bodyPr>
          <a:lstStyle/>
          <a:p>
            <a:pPr algn="just"/>
            <a:r>
              <a:rPr lang="es-MX" sz="1600">
                <a:solidFill>
                  <a:schemeClr val="tx1">
                    <a:lumMod val="50000"/>
                  </a:schemeClr>
                </a:solidFill>
                <a:latin typeface="Aptos" panose="020B0004020202020204" pitchFamily="34" charset="0"/>
                <a:ea typeface="+mn-lt"/>
                <a:cs typeface="+mn-lt"/>
              </a:rPr>
              <a:t>Las felicitaciones fueron recibidas a través del correo electrónico. Por su parte, la petición esta asociada a la programación de consulta médica especializada. </a:t>
            </a:r>
          </a:p>
        </p:txBody>
      </p:sp>
      <p:sp>
        <p:nvSpPr>
          <p:cNvPr id="6" name="CuadroTexto 5">
            <a:extLst>
              <a:ext uri="{FF2B5EF4-FFF2-40B4-BE49-F238E27FC236}">
                <a16:creationId xmlns:a16="http://schemas.microsoft.com/office/drawing/2014/main" id="{FB73279F-47A1-A581-0806-E97660D21476}"/>
              </a:ext>
            </a:extLst>
          </p:cNvPr>
          <p:cNvSpPr txBox="1"/>
          <p:nvPr/>
        </p:nvSpPr>
        <p:spPr>
          <a:xfrm>
            <a:off x="6935822" y="6575253"/>
            <a:ext cx="3638394" cy="276999"/>
          </a:xfrm>
          <a:prstGeom prst="rect">
            <a:avLst/>
          </a:prstGeom>
          <a:noFill/>
        </p:spPr>
        <p:txBody>
          <a:bodyPr wrap="square">
            <a:spAutoFit/>
          </a:bodyPr>
          <a:lstStyle/>
          <a:p>
            <a:r>
              <a:rPr lang="es-CO" sz="1200" b="1" i="1" noProof="0">
                <a:solidFill>
                  <a:schemeClr val="tx2"/>
                </a:solidFill>
              </a:rPr>
              <a:t>Fuente: </a:t>
            </a:r>
            <a:r>
              <a:rPr lang="es-CO" sz="1200" i="1" noProof="0">
                <a:solidFill>
                  <a:schemeClr val="tx2"/>
                </a:solidFill>
              </a:rPr>
              <a:t>SAU INOOS Julio 2026</a:t>
            </a:r>
          </a:p>
        </p:txBody>
      </p:sp>
    </p:spTree>
    <p:extLst>
      <p:ext uri="{BB962C8B-B14F-4D97-AF65-F5344CB8AC3E}">
        <p14:creationId xmlns:p14="http://schemas.microsoft.com/office/powerpoint/2010/main" val="354893398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B453F-F9EA-DFE0-4897-66AE37C5AB58}"/>
            </a:ext>
          </a:extLst>
        </p:cNvPr>
        <p:cNvGrpSpPr/>
        <p:nvPr/>
      </p:nvGrpSpPr>
      <p:grpSpPr>
        <a:xfrm>
          <a:off x="0" y="0"/>
          <a:ext cx="0" cy="0"/>
          <a:chOff x="0" y="0"/>
          <a:chExt cx="0" cy="0"/>
        </a:xfrm>
      </p:grpSpPr>
      <p:pic>
        <p:nvPicPr>
          <p:cNvPr id="10" name="Imagen 9">
            <a:extLst>
              <a:ext uri="{FF2B5EF4-FFF2-40B4-BE49-F238E27FC236}">
                <a16:creationId xmlns:a16="http://schemas.microsoft.com/office/drawing/2014/main" id="{DC2457AE-C7EC-2298-6801-6071C3C6AB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CuadroTexto 11">
            <a:extLst>
              <a:ext uri="{FF2B5EF4-FFF2-40B4-BE49-F238E27FC236}">
                <a16:creationId xmlns:a16="http://schemas.microsoft.com/office/drawing/2014/main" id="{62BD1F9E-B992-9594-3572-7926871D2B3E}"/>
              </a:ext>
            </a:extLst>
          </p:cNvPr>
          <p:cNvSpPr txBox="1"/>
          <p:nvPr/>
        </p:nvSpPr>
        <p:spPr>
          <a:xfrm>
            <a:off x="4551996" y="2961902"/>
            <a:ext cx="6359844" cy="707886"/>
          </a:xfrm>
          <a:prstGeom prst="rect">
            <a:avLst/>
          </a:prstGeom>
          <a:noFill/>
        </p:spPr>
        <p:txBody>
          <a:bodyPr wrap="square">
            <a:spAutoFit/>
          </a:bodyPr>
          <a:lstStyle/>
          <a:p>
            <a:pPr algn="ctr"/>
            <a:r>
              <a:rPr lang="es-ES" sz="2000" b="0" i="0">
                <a:solidFill>
                  <a:srgbClr val="242424"/>
                </a:solidFill>
                <a:effectLst/>
                <a:latin typeface="Lao UI" panose="020B0502040204020203" pitchFamily="34" charset="0"/>
                <a:ea typeface="Calibri" panose="020F0502020204030204" pitchFamily="34" charset="0"/>
                <a:cs typeface="Lao UI" panose="020B0502040204020203" pitchFamily="34" charset="0"/>
              </a:rPr>
              <a:t>Excelente servicio, muy queridos, trabajan con amor, muchas gracias por su excelente servicio </a:t>
            </a:r>
            <a:endParaRPr lang="es-CO" sz="3600">
              <a:latin typeface="Lao UI" panose="020B0502040204020203" pitchFamily="34" charset="0"/>
              <a:ea typeface="Calibri" panose="020F0502020204030204" pitchFamily="34" charset="0"/>
              <a:cs typeface="Lao UI" panose="020B0502040204020203" pitchFamily="34" charset="0"/>
            </a:endParaRPr>
          </a:p>
        </p:txBody>
      </p:sp>
    </p:spTree>
    <p:extLst>
      <p:ext uri="{BB962C8B-B14F-4D97-AF65-F5344CB8AC3E}">
        <p14:creationId xmlns:p14="http://schemas.microsoft.com/office/powerpoint/2010/main" val="11492977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34B6B-DC40-0E5E-E530-2CF37660C5DB}"/>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7F9F6FF8-019C-AAED-BAB4-97035A8D154D}"/>
              </a:ext>
            </a:extLst>
          </p:cNvPr>
          <p:cNvSpPr txBox="1">
            <a:spLocks/>
          </p:cNvSpPr>
          <p:nvPr/>
        </p:nvSpPr>
        <p:spPr>
          <a:xfrm>
            <a:off x="-242257" y="-11649"/>
            <a:ext cx="4395020" cy="369120"/>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fontScale="75000" lnSpcReduction="20000"/>
          </a:bodyPr>
          <a:lstStyle>
            <a:defPPr>
              <a:defRPr lang="es-CO"/>
            </a:defPPr>
            <a:lvl1pPr algn="ctr">
              <a:lnSpc>
                <a:spcPct val="90000"/>
              </a:lnSpc>
              <a:spcBef>
                <a:spcPct val="0"/>
              </a:spcBef>
              <a:buNone/>
              <a:defRPr sz="3200" b="1">
                <a:solidFill>
                  <a:srgbClr val="00A19C"/>
                </a:solidFill>
                <a:latin typeface="+mj-lt"/>
                <a:ea typeface="+mj-ea"/>
                <a:cs typeface="+mj-cs"/>
              </a:defRPr>
            </a:lvl1pPr>
          </a:lstStyle>
          <a:p>
            <a:r>
              <a:rPr lang="es-CO" noProof="0"/>
              <a:t>INDICADORES CALL CENTER</a:t>
            </a:r>
          </a:p>
        </p:txBody>
      </p:sp>
      <p:sp>
        <p:nvSpPr>
          <p:cNvPr id="2" name="Título 1">
            <a:extLst>
              <a:ext uri="{FF2B5EF4-FFF2-40B4-BE49-F238E27FC236}">
                <a16:creationId xmlns:a16="http://schemas.microsoft.com/office/drawing/2014/main" id="{451F2FDA-E2F0-575D-7C4D-C967583441F8}"/>
              </a:ext>
            </a:extLst>
          </p:cNvPr>
          <p:cNvSpPr txBox="1">
            <a:spLocks/>
          </p:cNvSpPr>
          <p:nvPr/>
        </p:nvSpPr>
        <p:spPr>
          <a:xfrm>
            <a:off x="3297587" y="554026"/>
            <a:ext cx="4395020" cy="369120"/>
          </a:xfrm>
          <a:prstGeom prst="rect">
            <a:avLst/>
          </a:prstGeom>
        </p:spPr>
        <p:txBody>
          <a:bodyPr vert="horz" lIns="91440" tIns="45720" rIns="91440" bIns="45720" rtlCol="0" anchor="ctr">
            <a:normAutofit fontScale="90000" lnSpcReduction="10000"/>
          </a:bodyPr>
          <a:lstStyle>
            <a:lvl1pPr algn="ctr"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2400" noProof="0">
                <a:solidFill>
                  <a:srgbClr val="00A19C"/>
                </a:solidFill>
              </a:rPr>
              <a:t>EPS FAMILIAR </a:t>
            </a:r>
          </a:p>
        </p:txBody>
      </p:sp>
      <p:graphicFrame>
        <p:nvGraphicFramePr>
          <p:cNvPr id="3" name="Gráfico 2">
            <a:extLst>
              <a:ext uri="{FF2B5EF4-FFF2-40B4-BE49-F238E27FC236}">
                <a16:creationId xmlns:a16="http://schemas.microsoft.com/office/drawing/2014/main" id="{31DDFC9F-FACF-46C3-E8E6-B1F4D719AE1A}"/>
              </a:ext>
            </a:extLst>
          </p:cNvPr>
          <p:cNvGraphicFramePr>
            <a:graphicFrameLocks/>
          </p:cNvGraphicFramePr>
          <p:nvPr>
            <p:extLst>
              <p:ext uri="{D42A27DB-BD31-4B8C-83A1-F6EECF244321}">
                <p14:modId xmlns:p14="http://schemas.microsoft.com/office/powerpoint/2010/main" val="4109263631"/>
              </p:ext>
            </p:extLst>
          </p:nvPr>
        </p:nvGraphicFramePr>
        <p:xfrm>
          <a:off x="6795421" y="2679336"/>
          <a:ext cx="4177500" cy="149932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Tabla 3">
            <a:extLst>
              <a:ext uri="{FF2B5EF4-FFF2-40B4-BE49-F238E27FC236}">
                <a16:creationId xmlns:a16="http://schemas.microsoft.com/office/drawing/2014/main" id="{788477AB-BD55-A517-F081-018926DB3224}"/>
              </a:ext>
            </a:extLst>
          </p:cNvPr>
          <p:cNvGraphicFramePr>
            <a:graphicFrameLocks noGrp="1"/>
          </p:cNvGraphicFramePr>
          <p:nvPr>
            <p:extLst>
              <p:ext uri="{D42A27DB-BD31-4B8C-83A1-F6EECF244321}">
                <p14:modId xmlns:p14="http://schemas.microsoft.com/office/powerpoint/2010/main" val="2237565311"/>
              </p:ext>
            </p:extLst>
          </p:nvPr>
        </p:nvGraphicFramePr>
        <p:xfrm>
          <a:off x="1456376" y="1328425"/>
          <a:ext cx="4639624" cy="4501196"/>
        </p:xfrm>
        <a:graphic>
          <a:graphicData uri="http://schemas.openxmlformats.org/drawingml/2006/table">
            <a:tbl>
              <a:tblPr/>
              <a:tblGrid>
                <a:gridCol w="2766748">
                  <a:extLst>
                    <a:ext uri="{9D8B030D-6E8A-4147-A177-3AD203B41FA5}">
                      <a16:colId xmlns:a16="http://schemas.microsoft.com/office/drawing/2014/main" val="3354473549"/>
                    </a:ext>
                  </a:extLst>
                </a:gridCol>
                <a:gridCol w="1468505">
                  <a:extLst>
                    <a:ext uri="{9D8B030D-6E8A-4147-A177-3AD203B41FA5}">
                      <a16:colId xmlns:a16="http://schemas.microsoft.com/office/drawing/2014/main" val="386603052"/>
                    </a:ext>
                  </a:extLst>
                </a:gridCol>
                <a:gridCol w="404371">
                  <a:extLst>
                    <a:ext uri="{9D8B030D-6E8A-4147-A177-3AD203B41FA5}">
                      <a16:colId xmlns:a16="http://schemas.microsoft.com/office/drawing/2014/main" val="3552395413"/>
                    </a:ext>
                  </a:extLst>
                </a:gridCol>
              </a:tblGrid>
              <a:tr h="328389">
                <a:tc>
                  <a:txBody>
                    <a:bodyPr/>
                    <a:lstStyle/>
                    <a:p>
                      <a:pPr marL="0" indent="0" algn="l" fontAlgn="base">
                        <a:lnSpc>
                          <a:spcPts val="1200"/>
                        </a:lnSpc>
                        <a:buNone/>
                      </a:pPr>
                      <a:r>
                        <a:rPr lang="es-CO" sz="1000" b="1" i="0" u="none" strike="noStrike">
                          <a:solidFill>
                            <a:srgbClr val="FFFFFF"/>
                          </a:solidFill>
                          <a:effectLst/>
                          <a:latin typeface="Calibri" panose="020F0502020204030204" pitchFamily="34" charset="0"/>
                        </a:rPr>
                        <a:t>DETALLE DE AGENDAMIENTO EPS FAMILIAR</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7A9A1"/>
                    </a:solidFill>
                  </a:tcPr>
                </a:tc>
                <a:tc>
                  <a:txBody>
                    <a:bodyPr/>
                    <a:lstStyle/>
                    <a:p>
                      <a:pPr marL="0" indent="0" algn="ctr" fontAlgn="base">
                        <a:lnSpc>
                          <a:spcPts val="1200"/>
                        </a:lnSpc>
                        <a:buNone/>
                      </a:pPr>
                      <a:r>
                        <a:rPr lang="es-CO" sz="1000" b="1" i="0" u="none" strike="noStrike">
                          <a:solidFill>
                            <a:srgbClr val="FFFFFF"/>
                          </a:solidFill>
                          <a:effectLst/>
                          <a:latin typeface="Calibri" panose="020F0502020204030204" pitchFamily="34" charset="0"/>
                        </a:rPr>
                        <a:t>TOTAL AGENDAMIENTO</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7A9A1"/>
                    </a:solidFill>
                  </a:tcPr>
                </a:tc>
                <a:tc>
                  <a:txBody>
                    <a:bodyPr/>
                    <a:lstStyle/>
                    <a:p>
                      <a:pPr marL="0" indent="0" algn="ctr" fontAlgn="base">
                        <a:lnSpc>
                          <a:spcPts val="1200"/>
                        </a:lnSpc>
                        <a:buNone/>
                      </a:pPr>
                      <a:r>
                        <a:rPr lang="es-CO" sz="1000" b="1" i="0" u="none" strike="noStrike">
                          <a:solidFill>
                            <a:srgbClr val="FFFFFF"/>
                          </a:solidFill>
                          <a:effectLst/>
                          <a:latin typeface="Calibri" panose="020F0502020204030204" pitchFamily="34" charset="0"/>
                        </a:rPr>
                        <a:t>%</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7A9A1"/>
                    </a:solidFill>
                  </a:tcPr>
                </a:tc>
                <a:extLst>
                  <a:ext uri="{0D108BD9-81ED-4DB2-BD59-A6C34878D82A}">
                    <a16:rowId xmlns:a16="http://schemas.microsoft.com/office/drawing/2014/main" val="713663410"/>
                  </a:ext>
                </a:extLst>
              </a:tr>
              <a:tr h="328389">
                <a:tc>
                  <a:txBody>
                    <a:bodyPr/>
                    <a:lstStyle/>
                    <a:p>
                      <a:pPr marL="0" indent="0" algn="l" fontAlgn="base">
                        <a:lnSpc>
                          <a:spcPts val="1200"/>
                        </a:lnSpc>
                        <a:buNone/>
                      </a:pPr>
                      <a:r>
                        <a:rPr lang="es-CO" sz="1000" b="1" i="0" u="none" strike="noStrike">
                          <a:solidFill>
                            <a:srgbClr val="FFFFFF"/>
                          </a:solidFill>
                          <a:effectLst/>
                          <a:latin typeface="Calibri" panose="020F0502020204030204" pitchFamily="34" charset="0"/>
                        </a:rPr>
                        <a:t>ONCOLOGIA </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7A9A1"/>
                    </a:solid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53</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27%</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32387255"/>
                  </a:ext>
                </a:extLst>
              </a:tr>
              <a:tr h="328389">
                <a:tc>
                  <a:txBody>
                    <a:bodyPr/>
                    <a:lstStyle/>
                    <a:p>
                      <a:pPr marL="0" indent="0" algn="l" fontAlgn="base">
                        <a:lnSpc>
                          <a:spcPts val="1200"/>
                        </a:lnSpc>
                        <a:buNone/>
                      </a:pPr>
                      <a:r>
                        <a:rPr lang="es-CO" sz="1000" b="1" i="0" u="none" strike="noStrike">
                          <a:solidFill>
                            <a:srgbClr val="FFFFFF"/>
                          </a:solidFill>
                          <a:effectLst/>
                          <a:latin typeface="Calibri" panose="020F0502020204030204" pitchFamily="34" charset="0"/>
                        </a:rPr>
                        <a:t>GINECOLOGIA ONCOLOGICA </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7A9A1"/>
                    </a:solid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33</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17%</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35792163"/>
                  </a:ext>
                </a:extLst>
              </a:tr>
              <a:tr h="328389">
                <a:tc>
                  <a:txBody>
                    <a:bodyPr/>
                    <a:lstStyle/>
                    <a:p>
                      <a:pPr marL="0" indent="0" algn="l" fontAlgn="base">
                        <a:lnSpc>
                          <a:spcPts val="1200"/>
                        </a:lnSpc>
                        <a:buNone/>
                      </a:pPr>
                      <a:r>
                        <a:rPr lang="es-CO" sz="1000" b="1" i="0" u="none" strike="noStrike">
                          <a:solidFill>
                            <a:srgbClr val="FFFFFF"/>
                          </a:solidFill>
                          <a:effectLst/>
                          <a:latin typeface="Calibri" panose="020F0502020204030204" pitchFamily="34" charset="0"/>
                        </a:rPr>
                        <a:t>DERMATOLOGIA ONCOLOGICA </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7A9A1"/>
                    </a:solid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22</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11%</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1640309"/>
                  </a:ext>
                </a:extLst>
              </a:tr>
              <a:tr h="218222">
                <a:tc>
                  <a:txBody>
                    <a:bodyPr/>
                    <a:lstStyle/>
                    <a:p>
                      <a:pPr marL="0" indent="0" algn="l" fontAlgn="base">
                        <a:lnSpc>
                          <a:spcPts val="1200"/>
                        </a:lnSpc>
                        <a:buNone/>
                      </a:pPr>
                      <a:r>
                        <a:rPr lang="es-CO" sz="1000" b="1" i="0" u="none" strike="noStrike">
                          <a:solidFill>
                            <a:srgbClr val="FFFFFF"/>
                          </a:solidFill>
                          <a:effectLst/>
                          <a:latin typeface="Calibri" panose="020F0502020204030204" pitchFamily="34" charset="0"/>
                        </a:rPr>
                        <a:t>HEMATOLOGIA </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7A9A1"/>
                    </a:solid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16</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8%</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80672684"/>
                  </a:ext>
                </a:extLst>
              </a:tr>
              <a:tr h="218222">
                <a:tc>
                  <a:txBody>
                    <a:bodyPr/>
                    <a:lstStyle/>
                    <a:p>
                      <a:pPr marL="0" indent="0" algn="l" fontAlgn="base">
                        <a:lnSpc>
                          <a:spcPts val="1200"/>
                        </a:lnSpc>
                        <a:buNone/>
                      </a:pPr>
                      <a:r>
                        <a:rPr lang="es-CO" sz="1000" b="1" i="0" u="none" strike="noStrike">
                          <a:solidFill>
                            <a:srgbClr val="FFFFFF"/>
                          </a:solidFill>
                          <a:effectLst/>
                          <a:latin typeface="Calibri" panose="020F0502020204030204" pitchFamily="34" charset="0"/>
                        </a:rPr>
                        <a:t>MASTOLOGIA </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7A9A1"/>
                    </a:solid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15</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8%</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81619320"/>
                  </a:ext>
                </a:extLst>
              </a:tr>
              <a:tr h="218222">
                <a:tc>
                  <a:txBody>
                    <a:bodyPr/>
                    <a:lstStyle/>
                    <a:p>
                      <a:pPr marL="0" indent="0" algn="l" fontAlgn="base">
                        <a:lnSpc>
                          <a:spcPts val="1200"/>
                        </a:lnSpc>
                        <a:buNone/>
                      </a:pPr>
                      <a:r>
                        <a:rPr lang="es-CO" sz="1000" b="1" i="0" u="none" strike="noStrike">
                          <a:solidFill>
                            <a:srgbClr val="FFFFFF"/>
                          </a:solidFill>
                          <a:effectLst/>
                          <a:latin typeface="Calibri" panose="020F0502020204030204" pitchFamily="34" charset="0"/>
                        </a:rPr>
                        <a:t>DOLOR Y CUIDADOS PALIATIVOS </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7A9A1"/>
                    </a:solid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12</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6%</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71071394"/>
                  </a:ext>
                </a:extLst>
              </a:tr>
              <a:tr h="218222">
                <a:tc>
                  <a:txBody>
                    <a:bodyPr/>
                    <a:lstStyle/>
                    <a:p>
                      <a:pPr marL="0" indent="0" algn="l" fontAlgn="base">
                        <a:lnSpc>
                          <a:spcPts val="1200"/>
                        </a:lnSpc>
                        <a:buNone/>
                      </a:pPr>
                      <a:r>
                        <a:rPr lang="es-CO" sz="1000" b="1" i="0" u="none" strike="noStrike">
                          <a:solidFill>
                            <a:srgbClr val="FFFFFF"/>
                          </a:solidFill>
                          <a:effectLst/>
                          <a:latin typeface="Calibri" panose="020F0502020204030204" pitchFamily="34" charset="0"/>
                        </a:rPr>
                        <a:t>HEMATO ONCOLOGIA </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7A9A1"/>
                    </a:solid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11</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6%</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16200939"/>
                  </a:ext>
                </a:extLst>
              </a:tr>
              <a:tr h="218222">
                <a:tc>
                  <a:txBody>
                    <a:bodyPr/>
                    <a:lstStyle/>
                    <a:p>
                      <a:pPr marL="0" indent="0" algn="l" fontAlgn="base">
                        <a:lnSpc>
                          <a:spcPts val="1200"/>
                        </a:lnSpc>
                        <a:buNone/>
                      </a:pPr>
                      <a:r>
                        <a:rPr lang="es-CO" sz="1000" b="1" i="0" u="none" strike="noStrike">
                          <a:solidFill>
                            <a:srgbClr val="FFFFFF"/>
                          </a:solidFill>
                          <a:effectLst/>
                          <a:latin typeface="Calibri" panose="020F0502020204030204" pitchFamily="34" charset="0"/>
                        </a:rPr>
                        <a:t>CIRUGIA ONCOLOGICA </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7A9A1"/>
                    </a:solid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10</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5%</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4510108"/>
                  </a:ext>
                </a:extLst>
              </a:tr>
              <a:tr h="218222">
                <a:tc>
                  <a:txBody>
                    <a:bodyPr/>
                    <a:lstStyle/>
                    <a:p>
                      <a:pPr marL="0" indent="0" algn="l" fontAlgn="base">
                        <a:lnSpc>
                          <a:spcPts val="1200"/>
                        </a:lnSpc>
                        <a:buNone/>
                      </a:pPr>
                      <a:r>
                        <a:rPr lang="es-CO" sz="1000" b="1" i="0" u="none" strike="noStrike">
                          <a:solidFill>
                            <a:srgbClr val="FFFFFF"/>
                          </a:solidFill>
                          <a:effectLst/>
                          <a:latin typeface="Calibri" panose="020F0502020204030204" pitchFamily="34" charset="0"/>
                        </a:rPr>
                        <a:t>NUTRICION Y DIETETICA </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ctr">
                    <a:lnL w="12700" cap="flat" cmpd="sng" algn="ctr">
                      <a:solidFill>
                        <a:srgbClr val="80589F"/>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7A9A1"/>
                    </a:solid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6</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3%</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55919435"/>
                  </a:ext>
                </a:extLst>
              </a:tr>
              <a:tr h="218222">
                <a:tc>
                  <a:txBody>
                    <a:bodyPr/>
                    <a:lstStyle/>
                    <a:p>
                      <a:pPr marL="0" indent="0" algn="l" fontAlgn="base">
                        <a:lnSpc>
                          <a:spcPts val="1200"/>
                        </a:lnSpc>
                        <a:buNone/>
                      </a:pPr>
                      <a:r>
                        <a:rPr lang="es-CO" sz="1000" b="1" i="0" u="none" strike="noStrike">
                          <a:solidFill>
                            <a:srgbClr val="FFFFFF"/>
                          </a:solidFill>
                          <a:effectLst/>
                          <a:latin typeface="Calibri" panose="020F0502020204030204" pitchFamily="34" charset="0"/>
                        </a:rPr>
                        <a:t>PSICOLOGIA </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ctr">
                    <a:lnL w="12700" cap="flat" cmpd="sng" algn="ctr">
                      <a:solidFill>
                        <a:srgbClr val="80589F"/>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7A9A1"/>
                    </a:solid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6</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3%</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76130295"/>
                  </a:ext>
                </a:extLst>
              </a:tr>
              <a:tr h="218222">
                <a:tc>
                  <a:txBody>
                    <a:bodyPr/>
                    <a:lstStyle/>
                    <a:p>
                      <a:pPr marL="0" indent="0" algn="l" fontAlgn="base">
                        <a:lnSpc>
                          <a:spcPts val="1200"/>
                        </a:lnSpc>
                        <a:buNone/>
                      </a:pPr>
                      <a:r>
                        <a:rPr lang="es-CO" sz="1000" b="1" i="0" u="none" strike="noStrike">
                          <a:solidFill>
                            <a:srgbClr val="FFFFFF"/>
                          </a:solidFill>
                          <a:effectLst/>
                          <a:latin typeface="Calibri" panose="020F0502020204030204" pitchFamily="34" charset="0"/>
                        </a:rPr>
                        <a:t>TRABAJO SOCIAL </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ctr">
                    <a:lnL w="12700" cap="flat" cmpd="sng" algn="ctr">
                      <a:solidFill>
                        <a:srgbClr val="80589F"/>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7A9A1"/>
                    </a:solid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5</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3%</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25055049"/>
                  </a:ext>
                </a:extLst>
              </a:tr>
              <a:tr h="218222">
                <a:tc>
                  <a:txBody>
                    <a:bodyPr/>
                    <a:lstStyle/>
                    <a:p>
                      <a:pPr marL="0" indent="0" algn="l" fontAlgn="base">
                        <a:lnSpc>
                          <a:spcPts val="1200"/>
                        </a:lnSpc>
                        <a:buNone/>
                      </a:pPr>
                      <a:r>
                        <a:rPr lang="es-CO" sz="1000" b="1" i="0" u="none" strike="noStrike">
                          <a:solidFill>
                            <a:srgbClr val="FFFFFF"/>
                          </a:solidFill>
                          <a:effectLst/>
                          <a:latin typeface="Calibri" panose="020F0502020204030204" pitchFamily="34" charset="0"/>
                        </a:rPr>
                        <a:t>ANESTESIOLOGIA </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ctr">
                    <a:lnL w="12700" cap="flat" cmpd="sng" algn="ctr">
                      <a:solidFill>
                        <a:srgbClr val="80589F"/>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7A9A1"/>
                    </a:solid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4</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2%</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55759126"/>
                  </a:ext>
                </a:extLst>
              </a:tr>
              <a:tr h="218222">
                <a:tc>
                  <a:txBody>
                    <a:bodyPr/>
                    <a:lstStyle/>
                    <a:p>
                      <a:pPr marL="0" indent="0" algn="l" fontAlgn="base">
                        <a:lnSpc>
                          <a:spcPts val="1200"/>
                        </a:lnSpc>
                        <a:buNone/>
                      </a:pPr>
                      <a:r>
                        <a:rPr lang="es-CO" sz="1000" b="1" i="0" u="none" strike="noStrike">
                          <a:solidFill>
                            <a:srgbClr val="FFFFFF"/>
                          </a:solidFill>
                          <a:effectLst/>
                          <a:latin typeface="Calibri" panose="020F0502020204030204" pitchFamily="34" charset="0"/>
                        </a:rPr>
                        <a:t>UROLOGIA ONCOLOGICA </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ctr">
                    <a:lnL w="12700" cap="flat" cmpd="sng" algn="ctr">
                      <a:solidFill>
                        <a:srgbClr val="80589F"/>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7A9A1"/>
                    </a:solid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3</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2%</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42769776"/>
                  </a:ext>
                </a:extLst>
              </a:tr>
              <a:tr h="218222">
                <a:tc>
                  <a:txBody>
                    <a:bodyPr/>
                    <a:lstStyle/>
                    <a:p>
                      <a:pPr marL="0" indent="0" algn="l" fontAlgn="base">
                        <a:lnSpc>
                          <a:spcPts val="1200"/>
                        </a:lnSpc>
                        <a:buNone/>
                      </a:pPr>
                      <a:r>
                        <a:rPr lang="es-CO" sz="1000" b="1" i="0" u="none" strike="noStrike">
                          <a:solidFill>
                            <a:srgbClr val="FFFFFF"/>
                          </a:solidFill>
                          <a:effectLst/>
                          <a:latin typeface="Calibri" panose="020F0502020204030204" pitchFamily="34" charset="0"/>
                        </a:rPr>
                        <a:t>MEDICINA GENERAL </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ctr">
                    <a:lnL w="12700" cap="flat" cmpd="sng" algn="ctr">
                      <a:solidFill>
                        <a:srgbClr val="80589F"/>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7A9A1"/>
                    </a:solid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3</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2%</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02197801"/>
                  </a:ext>
                </a:extLst>
              </a:tr>
              <a:tr h="218222">
                <a:tc>
                  <a:txBody>
                    <a:bodyPr/>
                    <a:lstStyle/>
                    <a:p>
                      <a:pPr marL="0" indent="0" algn="l" fontAlgn="base">
                        <a:lnSpc>
                          <a:spcPts val="1200"/>
                        </a:lnSpc>
                        <a:buNone/>
                      </a:pPr>
                      <a:r>
                        <a:rPr lang="es-CO" sz="1000" b="1" i="0" u="none" strike="noStrike">
                          <a:solidFill>
                            <a:srgbClr val="FFFFFF"/>
                          </a:solidFill>
                          <a:effectLst/>
                          <a:latin typeface="Calibri" panose="020F0502020204030204" pitchFamily="34" charset="0"/>
                        </a:rPr>
                        <a:t>ORTOPEDIA ONCOLOGICA </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ctr">
                    <a:lnL w="12700" cap="flat" cmpd="sng" algn="ctr">
                      <a:solidFill>
                        <a:srgbClr val="80589F"/>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7A9A1"/>
                    </a:solid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1</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1%</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91098133"/>
                  </a:ext>
                </a:extLst>
              </a:tr>
              <a:tr h="360663">
                <a:tc>
                  <a:txBody>
                    <a:bodyPr/>
                    <a:lstStyle/>
                    <a:p>
                      <a:pPr marL="0" indent="0" algn="l" fontAlgn="base">
                        <a:lnSpc>
                          <a:spcPts val="1200"/>
                        </a:lnSpc>
                        <a:buNone/>
                      </a:pPr>
                      <a:r>
                        <a:rPr lang="es-CO" sz="1000" b="1" i="0" u="none" strike="noStrike">
                          <a:solidFill>
                            <a:srgbClr val="FFFFFF"/>
                          </a:solidFill>
                          <a:effectLst/>
                          <a:latin typeface="Calibri" panose="020F0502020204030204" pitchFamily="34" charset="0"/>
                        </a:rPr>
                        <a:t>TOTAL</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7A9A1"/>
                    </a:solid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200</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indent="0" algn="ctr" fontAlgn="base">
                        <a:lnSpc>
                          <a:spcPts val="1200"/>
                        </a:lnSpc>
                        <a:buNone/>
                      </a:pPr>
                      <a:r>
                        <a:rPr lang="es-CO" sz="1000" b="1" i="0" u="none" strike="noStrike">
                          <a:solidFill>
                            <a:srgbClr val="80589F"/>
                          </a:solidFill>
                          <a:effectLst/>
                          <a:latin typeface="Calibri" panose="020F0502020204030204" pitchFamily="34" charset="0"/>
                        </a:rPr>
                        <a:t>100%</a:t>
                      </a:r>
                      <a:r>
                        <a:rPr lang="en-US" sz="1000" b="0" i="0">
                          <a:solidFill>
                            <a:srgbClr val="80589F"/>
                          </a:solidFill>
                          <a:effectLst/>
                          <a:latin typeface="Calibri" panose="020F0502020204030204" pitchFamily="34" charset="0"/>
                        </a:rPr>
                        <a:t>​</a:t>
                      </a:r>
                      <a:endParaRPr lang="en-US" sz="1800" b="0" i="0">
                        <a:solidFill>
                          <a:srgbClr val="80589F"/>
                        </a:solidFill>
                        <a:effectLst/>
                      </a:endParaRPr>
                    </a:p>
                  </a:txBody>
                  <a:tcPr marL="81081" marR="81081" marT="40540" marB="4054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11219366"/>
                  </a:ext>
                </a:extLst>
              </a:tr>
            </a:tbl>
          </a:graphicData>
        </a:graphic>
      </p:graphicFrame>
    </p:spTree>
    <p:extLst>
      <p:ext uri="{BB962C8B-B14F-4D97-AF65-F5344CB8AC3E}">
        <p14:creationId xmlns:p14="http://schemas.microsoft.com/office/powerpoint/2010/main" val="156362952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264544"/>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theme/theme1.xml><?xml version="1.0" encoding="utf-8"?>
<a:theme xmlns:a="http://schemas.openxmlformats.org/drawingml/2006/main" name="Tema de Office">
  <a:themeElements>
    <a:clrScheme name="Personalizado 3">
      <a:dk1>
        <a:srgbClr val="80589F"/>
      </a:dk1>
      <a:lt1>
        <a:srgbClr val="FFFFFF"/>
      </a:lt1>
      <a:dk2>
        <a:srgbClr val="80589F"/>
      </a:dk2>
      <a:lt2>
        <a:srgbClr val="FFFFFF"/>
      </a:lt2>
      <a:accent1>
        <a:srgbClr val="80589F"/>
      </a:accent1>
      <a:accent2>
        <a:srgbClr val="FFFFFF"/>
      </a:accent2>
      <a:accent3>
        <a:srgbClr val="FFFFFF"/>
      </a:accent3>
      <a:accent4>
        <a:srgbClr val="FFFFFF"/>
      </a:accent4>
      <a:accent5>
        <a:srgbClr val="FFFFFF"/>
      </a:accent5>
      <a:accent6>
        <a:srgbClr val="FFFFFF"/>
      </a:accent6>
      <a:hlink>
        <a:srgbClr val="80589F"/>
      </a:hlink>
      <a:folHlink>
        <a:srgbClr val="80589F"/>
      </a:folHlink>
    </a:clrScheme>
    <a:fontScheme name="INOOS">
      <a:majorFont>
        <a:latin typeface="Muli Ultra-Bold"/>
        <a:ea typeface=""/>
        <a:cs typeface=""/>
      </a:majorFont>
      <a:minorFont>
        <a:latin typeface="Mul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7.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8.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9.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0.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1.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5.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6.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7.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8.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9.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0.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1.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2.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3.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4.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5.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115</Slides>
  <Notes>42</Notes>
  <HiddenSlides>0</HiddenSlides>
  <ScaleCrop>false</ScaleCrop>
  <HeadingPairs>
    <vt:vector size="4" baseType="variant">
      <vt:variant>
        <vt:lpstr>Theme</vt:lpstr>
      </vt:variant>
      <vt:variant>
        <vt:i4>1</vt:i4>
      </vt:variant>
      <vt:variant>
        <vt:lpstr>Slide Titles</vt:lpstr>
      </vt:variant>
      <vt:variant>
        <vt:i4>115</vt:i4>
      </vt:variant>
    </vt:vector>
  </HeadingPairs>
  <TitlesOfParts>
    <vt:vector size="116" baseType="lpstr">
      <vt:lpstr>Tema de Office</vt:lpstr>
      <vt:lpstr>Junta Directiva Septiembre 2026</vt:lpstr>
      <vt:lpstr>Gestión Clínica</vt:lpstr>
      <vt:lpstr>Historia de población</vt:lpstr>
      <vt:lpstr>Ingreso a la cohorte  2025 - 2026</vt:lpstr>
      <vt:lpstr>Prevalencia 2026</vt:lpstr>
      <vt:lpstr>PowerPoint Presentation</vt:lpstr>
      <vt:lpstr>Distribución por Tipo de Cáncer Priorizados</vt:lpstr>
      <vt:lpstr>Distribución por Tipo de Cáncer no Priorizados</vt:lpstr>
      <vt:lpstr>Oportunidad Ingreso</vt:lpstr>
      <vt:lpstr>Porcentaje de pacientes en tratamiento 2025/2026</vt:lpstr>
      <vt:lpstr>Oportunidades 2025/2026</vt:lpstr>
      <vt:lpstr>Oportunidades inicio de tratamientos 2025/2026</vt:lpstr>
      <vt:lpstr>Cuidados Paliativos General 2026</vt:lpstr>
      <vt:lpstr>Cuidados Paliativos General 2026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Salud Total</vt:lpstr>
      <vt:lpstr>Histórico de población Salud Total</vt:lpstr>
      <vt:lpstr>Población total de Salud Total 2026 </vt:lpstr>
      <vt:lpstr>Incidencia 2025/2026 Salud Total</vt:lpstr>
      <vt:lpstr>Pirámide Poblacional</vt:lpstr>
      <vt:lpstr>Georeferenciación</vt:lpstr>
      <vt:lpstr>PowerPoint Presentation</vt:lpstr>
      <vt:lpstr>Distribución por tipo de cáncer priorizado Salud Total</vt:lpstr>
      <vt:lpstr>Distribución por tipo de cáncer NO priorizado Salud Total</vt:lpstr>
      <vt:lpstr>Oportunidad Ingreso</vt:lpstr>
      <vt:lpstr>Oportunidades 2025/2026</vt:lpstr>
      <vt:lpstr>Oportunidades inicio de tratamientos 2025/2026</vt:lpstr>
      <vt:lpstr>Porcentaje de pacientes en tratamiento 2026</vt:lpstr>
      <vt:lpstr>Clasificación según intención de tratamiento</vt:lpstr>
      <vt:lpstr>Cuidados Paliativos Salud Total-2026</vt:lpstr>
      <vt:lpstr>PowerPoint Presentation</vt:lpstr>
      <vt:lpstr>PowerPoint Presentation</vt:lpstr>
      <vt:lpstr>PowerPoint Presentation</vt:lpstr>
      <vt:lpstr>PowerPoint Presentation</vt:lpstr>
      <vt:lpstr>PowerPoint Presentation</vt:lpstr>
      <vt:lpstr>Sanitas</vt:lpstr>
      <vt:lpstr>Historia de población Sanitas</vt:lpstr>
      <vt:lpstr>Historia de población Sanitas</vt:lpstr>
      <vt:lpstr>Historia de población Sanitas</vt:lpstr>
      <vt:lpstr>PowerPoint Presentation</vt:lpstr>
      <vt:lpstr>Distribución por tipo de cáncer priorizado Sanitas</vt:lpstr>
      <vt:lpstr>Distribución por tipo de cáncer NO priorizado Sanitas</vt:lpstr>
      <vt:lpstr>Oportunidades 2025/2026</vt:lpstr>
      <vt:lpstr>Oportunidades inicio de tratamientos 2025/2026</vt:lpstr>
      <vt:lpstr>Porcentaje de pacientes en tratamiento 2026</vt:lpstr>
      <vt:lpstr>Oportunidad Ingreso</vt:lpstr>
      <vt:lpstr>Cuidados Paliativos Sanitas 2026</vt:lpstr>
      <vt:lpstr>PowerPoint Presentation</vt:lpstr>
      <vt:lpstr>PowerPoint Presentation</vt:lpstr>
      <vt:lpstr>PowerPoint Presentation</vt:lpstr>
      <vt:lpstr>PowerPoint Presentation</vt:lpstr>
      <vt:lpstr>PowerPoint Presentation</vt:lpstr>
      <vt:lpstr>Emssanar</vt:lpstr>
      <vt:lpstr>Historia de población Emssanar</vt:lpstr>
      <vt:lpstr>Historia de población Emssanar</vt:lpstr>
      <vt:lpstr>Distribución de la Cohorte Total Emssanar 2026</vt:lpstr>
      <vt:lpstr>Historia de población Emssanar 2026</vt:lpstr>
      <vt:lpstr>Distribución de la cohorte Emssanar 2026</vt:lpstr>
      <vt:lpstr>Porcentaje de pacientes en tratamiento 2026</vt:lpstr>
      <vt:lpstr>Oportunidad Ingreso</vt:lpstr>
      <vt:lpstr>Oportunidades 2025/2026</vt:lpstr>
      <vt:lpstr>Oportunidades inicio de tratamientos 2025/2026</vt:lpstr>
      <vt:lpstr>Cuidados Paliativos Emssanar 2026</vt:lpstr>
      <vt:lpstr>Cuidados Paliativos Emssanar 2026</vt:lpstr>
      <vt:lpstr>Informe hospitalario Emssanar 2026</vt:lpstr>
      <vt:lpstr>PowerPoint Presentation</vt:lpstr>
      <vt:lpstr>PowerPoint Presentation</vt:lpstr>
      <vt:lpstr>PowerPoint Presentation</vt:lpstr>
      <vt:lpstr>PowerPoint Presentation</vt:lpstr>
      <vt:lpstr>Gestión de Tutelas e Incidentes Emssanar 2026</vt:lpstr>
      <vt:lpstr>PowerPoint Presentation</vt:lpstr>
      <vt:lpstr>Represa 15 septiembre 2026</vt:lpstr>
      <vt:lpstr>Fomag</vt:lpstr>
      <vt:lpstr>Historia de población Fomag</vt:lpstr>
      <vt:lpstr>Prevalencia de población Fomag</vt:lpstr>
      <vt:lpstr>PowerPoint Presentation</vt:lpstr>
      <vt:lpstr>Porcentaje de pacientes en tratamiento 2026</vt:lpstr>
      <vt:lpstr>Oportunidades inicio de tratamientos 2025/2026</vt:lpstr>
      <vt:lpstr>PowerPoint Presentation</vt:lpstr>
      <vt:lpstr>PowerPoint Presentation</vt:lpstr>
      <vt:lpstr>PowerPoint Presentation</vt:lpstr>
      <vt:lpstr>PowerPoint Presentation</vt:lpstr>
      <vt:lpstr>PowerPoint Presentation</vt:lpstr>
      <vt:lpstr>Familiar de Colombia</vt:lpstr>
      <vt:lpstr>Incidencia población Familiar de Colombia</vt:lpstr>
      <vt:lpstr>Historia de población Familiar de Colombia 2026</vt:lpstr>
      <vt:lpstr>PowerPoint Presentation</vt:lpstr>
      <vt:lpstr>Porcentaje de pacientes en tratamiento 2026</vt:lpstr>
      <vt:lpstr>Oportunidades 2025/2026</vt:lpstr>
      <vt:lpstr>Oportunidades inicio de tratamientos 2025/2026</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Junta directiva Martes 18 de febrero 2025</dc:title>
  <dc:creator>Juan Felipe Marin Potes</dc:creator>
  <cp:revision>1</cp:revision>
  <dcterms:created xsi:type="dcterms:W3CDTF">2025-02-05T18:00:28Z</dcterms:created>
  <dcterms:modified xsi:type="dcterms:W3CDTF">2026-10-14T13:54:24Z</dcterms:modified>
</cp:coreProperties>
</file>